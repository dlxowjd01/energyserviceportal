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2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75E29-022C-4AC9-8E3F-7BD46788F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E8CE1C-4975-474C-B7E3-AD735C152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37CC36-0166-429F-99E8-B17662BB9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D3A9E2-1812-4737-8C6C-EAE9843A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10B36-4173-42B0-A2F6-A46FF0F0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82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5F6AE-CE24-47B5-849D-2B526938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71828-7D04-48F8-9DC9-B41B73EB9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87743-D396-4953-9181-08CFAFA1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DDFA4-95D0-4C99-A3C1-6059F774B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FF77B4-9394-4495-858C-A83DF293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293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07542-CD8C-49AA-B4EA-C0D6082A1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E00976-F5EC-4070-B658-6730CA24C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D90C0-FFBF-4677-8C15-5DCDBF9D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9373B-1DA0-4205-94AE-0249D2A7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AF914D-A00B-4A78-9B43-3FB4E938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35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EF539-B37E-47C1-8936-C048DC61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7FAB09-F84D-4570-8705-5B128752F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B7A287-C447-4C4A-B227-4DC004735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4E82A1-1117-4999-9092-F5C9E544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88DDFB-0BCC-4C31-81CC-29B6811CF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662203-823B-45A6-BE60-492AF60C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7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AFEFD-4228-4EA2-BA3F-6FDFFEA9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22E63C-E34F-4EBF-8375-C67AAACD3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83F1C-6200-4622-B0E4-EDB00801A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C20BC3-5DC5-49FB-BA4F-C6120A6591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8E0B93-D518-4A71-8FDF-D2CE06AF33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D329DC-6BBB-4506-9F23-92956819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F8520B-20E9-40E4-8E33-3E3597BDC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7A5B83-58BC-42E4-90E8-A62C5FD5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75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3EB9F-97D5-4334-85B3-7D69F6A9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429737-AADF-476C-A6D2-38AC81A8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6A5525-F518-4EFF-8E2B-94B486B3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96EA55-8477-4DBB-8580-E775A0444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989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9BE795-006D-4B1D-84AE-7EF3882B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87DDEF-BDE4-4091-9C45-951BD1614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085C63-1C54-4950-A9D2-B85E801E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81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932183-B64F-4EA5-92D6-FAE9B037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94B22-764B-4B1E-8626-B1BBDDECB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B4BFBA-6BD2-430A-90D6-CD810139C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804738-D752-4C7F-84D8-5031BB87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7AB2AA-9915-4558-8EA1-232662FD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EA981B-04C9-4312-BFDD-71A36A89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11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DCC8D-63BE-4F50-B438-873DBF66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488D3B-C5AF-4E76-A212-975A90597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8FF4F9-AE26-497D-9FD8-4783C0FC5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8CB1C2-4ED8-4913-9A2A-091D408C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D789AE-E4C1-4863-B4B8-ECB48E7C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EAA709-F0D5-4C36-9FFE-49574927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5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359CB-FEB4-4BAD-BEC4-41B5DCE42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A4336D-4393-4389-8336-16FB391BB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1CDD04-7BDB-4966-B589-A37C7C47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DA88D-B2BE-4F9F-B201-2DB72B179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28762-C2B9-4813-B757-3E1B41E5C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19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F66FBB-E1AC-46EC-830B-487BA9A77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5A6B17-CA63-4C40-8449-EACD17C0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E2F66-A10E-4CC0-8571-3421B543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9B691-5E57-4E61-9AA0-8C30A7EC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E13B30-954B-42B4-B04D-5D2316828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04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86A675-3E59-4958-AB66-3438E0B6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BF6E44-9655-4339-9A4D-9FFC8438F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93C9BF-A24B-48D8-AFC5-D18CF5EDE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ECCD9-CFD6-4D63-80D9-C0F627BC4D12}" type="datetimeFigureOut">
              <a:rPr lang="ko-KR" altLang="en-US" smtClean="0"/>
              <a:t>2018-07-06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0217B-233E-4C66-ACDB-BD954F84B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7CB5A0-BF0C-478E-9DD5-969769063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0FF80-20A4-464E-BB04-536B91ED52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0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EBE8186C-2D62-4AE2-9A5A-F5A552E40E41}"/>
              </a:ext>
            </a:extLst>
          </p:cNvPr>
          <p:cNvGrpSpPr/>
          <p:nvPr/>
        </p:nvGrpSpPr>
        <p:grpSpPr>
          <a:xfrm>
            <a:off x="2310882" y="688922"/>
            <a:ext cx="1782147" cy="2643253"/>
            <a:chOff x="242596" y="253482"/>
            <a:chExt cx="1782147" cy="264325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83BD5B8-6D11-46CB-916C-676ECA9B57CB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bg1"/>
                  </a:solidFill>
                </a:rPr>
                <a:t>군관리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Main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0317CA-292B-4634-B48E-9ACF0D385DC2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240065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군관리</a:t>
              </a:r>
              <a:r>
                <a:rPr lang="ko-KR" altLang="en-US" sz="1000" dirty="0"/>
                <a:t> 공통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알고리즘 업데이트 시간</a:t>
              </a:r>
              <a:endParaRPr lang="en-US" altLang="ko-KR" sz="1000" dirty="0"/>
            </a:p>
            <a:p>
              <a:r>
                <a:rPr lang="en-US" altLang="ko-KR" sz="1000" dirty="0"/>
                <a:t> - Local EMS </a:t>
              </a:r>
              <a:r>
                <a:rPr lang="ko-KR" altLang="en-US" sz="1000" dirty="0"/>
                <a:t>업데이트 시간</a:t>
              </a:r>
              <a:endParaRPr lang="en-US" altLang="ko-KR" sz="1000" dirty="0"/>
            </a:p>
            <a:p>
              <a:endParaRPr lang="en-US" altLang="ko-KR" sz="1000" dirty="0"/>
            </a:p>
            <a:p>
              <a:r>
                <a:rPr lang="ko-KR" altLang="en-US" sz="1000" dirty="0"/>
                <a:t>설정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사이트 설정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건물요금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계약전력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검침일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요금적용전력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목표전력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요금적용전력대비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그룹 설정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 err="1"/>
                <a:t>그룹명</a:t>
              </a:r>
              <a:endParaRPr lang="en-US" altLang="ko-KR" sz="1000" dirty="0"/>
            </a:p>
            <a:p>
              <a:r>
                <a:rPr lang="en-US" altLang="ko-KR" sz="1000" dirty="0"/>
                <a:t>   - </a:t>
              </a:r>
              <a:r>
                <a:rPr lang="ko-KR" altLang="en-US" sz="1000" dirty="0"/>
                <a:t>그룹 내 </a:t>
              </a:r>
              <a:r>
                <a:rPr lang="en-US" altLang="ko-KR" sz="1000" dirty="0"/>
                <a:t>Site (</a:t>
              </a:r>
              <a:r>
                <a:rPr lang="ko-KR" altLang="en-US" sz="1000" dirty="0"/>
                <a:t>리스트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688FD0-2643-443F-A6F1-B998BE25A552}"/>
              </a:ext>
            </a:extLst>
          </p:cNvPr>
          <p:cNvGrpSpPr/>
          <p:nvPr/>
        </p:nvGrpSpPr>
        <p:grpSpPr>
          <a:xfrm>
            <a:off x="373225" y="688922"/>
            <a:ext cx="1782147" cy="1258259"/>
            <a:chOff x="242596" y="253482"/>
            <a:chExt cx="1782147" cy="1258259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58297D3-B39A-4929-830E-B39CB9610888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사용자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정보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2DE01A-7CB2-47A3-A08F-D0AC67C38C21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01566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사용자 </a:t>
              </a:r>
              <a:r>
                <a:rPr lang="en-US" altLang="ko-KR" sz="1000" dirty="0"/>
                <a:t>ID</a:t>
              </a:r>
            </a:p>
            <a:p>
              <a:r>
                <a:rPr lang="en-US" altLang="ko-KR" sz="1000" dirty="0"/>
                <a:t>PW</a:t>
              </a:r>
            </a:p>
            <a:p>
              <a:r>
                <a:rPr lang="ko-KR" altLang="en-US" sz="1000" dirty="0"/>
                <a:t>건물정보</a:t>
              </a:r>
              <a:endParaRPr lang="en-US" altLang="ko-KR" sz="1000" dirty="0"/>
            </a:p>
            <a:p>
              <a:r>
                <a:rPr lang="ko-KR" altLang="en-US" sz="1000" dirty="0"/>
                <a:t>전력계약정보</a:t>
              </a:r>
              <a:endParaRPr lang="en-US" altLang="ko-KR" sz="1000" dirty="0"/>
            </a:p>
            <a:p>
              <a:r>
                <a:rPr lang="ko-KR" altLang="en-US" sz="1000" dirty="0"/>
                <a:t>담당자정보</a:t>
              </a:r>
              <a:endParaRPr lang="en-US" altLang="ko-KR" sz="1000" dirty="0"/>
            </a:p>
            <a:p>
              <a:r>
                <a:rPr lang="ko-KR" altLang="en-US" sz="1000" dirty="0"/>
                <a:t>접근권한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2EABA3-C3D0-4EAD-BE65-41F558F5B08F}"/>
              </a:ext>
            </a:extLst>
          </p:cNvPr>
          <p:cNvGrpSpPr/>
          <p:nvPr/>
        </p:nvGrpSpPr>
        <p:grpSpPr>
          <a:xfrm>
            <a:off x="4248539" y="673372"/>
            <a:ext cx="1782147" cy="1566035"/>
            <a:chOff x="242596" y="253482"/>
            <a:chExt cx="1782147" cy="156603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3705BF8-644B-40E3-9A5F-24C9B9517893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Site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정보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FF7148-79F2-48C3-80A2-41836A533900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32343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Site </a:t>
              </a:r>
              <a:r>
                <a:rPr lang="ko-KR" altLang="en-US" sz="1000" dirty="0"/>
                <a:t>정보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리스트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 - Site ID</a:t>
              </a:r>
            </a:p>
            <a:p>
              <a:r>
                <a:rPr lang="en-US" altLang="ko-KR" sz="1000" dirty="0"/>
                <a:t> - Site </a:t>
              </a:r>
              <a:r>
                <a:rPr lang="ko-KR" altLang="en-US" sz="1000" dirty="0"/>
                <a:t>명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지역 명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사용량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충전량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방전량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총수익</a:t>
              </a:r>
              <a:r>
                <a:rPr lang="en-US" altLang="ko-KR" sz="1000" dirty="0"/>
                <a:t> 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11CCB1-3023-4E07-BF30-E4355FBD46B6}"/>
              </a:ext>
            </a:extLst>
          </p:cNvPr>
          <p:cNvGrpSpPr/>
          <p:nvPr/>
        </p:nvGrpSpPr>
        <p:grpSpPr>
          <a:xfrm>
            <a:off x="6186196" y="673372"/>
            <a:ext cx="1782147" cy="1566035"/>
            <a:chOff x="242596" y="253482"/>
            <a:chExt cx="1782147" cy="156603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B723DE-3DCB-4586-BC4A-9B054633F15A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알람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정보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9AA350-16FA-4A01-AC66-7043E67390C6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32343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알람 정보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리스트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</a:t>
              </a:r>
              <a:r>
                <a:rPr lang="en-US" altLang="ko-KR" sz="1000" dirty="0"/>
                <a:t>ID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날짜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종류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메시지 내용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확인 여부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조치 여부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</a:t>
              </a:r>
              <a:r>
                <a:rPr lang="en-US" altLang="ko-KR" sz="1000" dirty="0"/>
                <a:t> Site ID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CCA96A-AB90-469C-8077-6F25CB91CA24}"/>
              </a:ext>
            </a:extLst>
          </p:cNvPr>
          <p:cNvGrpSpPr/>
          <p:nvPr/>
        </p:nvGrpSpPr>
        <p:grpSpPr>
          <a:xfrm>
            <a:off x="10061510" y="671819"/>
            <a:ext cx="1782147" cy="2489365"/>
            <a:chOff x="242596" y="253482"/>
            <a:chExt cx="1782147" cy="248936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5EC3C6D-01D4-4354-B799-FBC6F51882EB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사용량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05DE428-251F-4A55-AE6B-E8FBB7F3FFF4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224676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사용량 정보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수집시간</a:t>
              </a:r>
              <a:endParaRPr lang="en-US" altLang="ko-KR" sz="1000" dirty="0"/>
            </a:p>
            <a:p>
              <a:r>
                <a:rPr lang="en-US" altLang="ko-KR" sz="1000" dirty="0"/>
                <a:t>   (15</a:t>
              </a:r>
              <a:r>
                <a:rPr lang="ko-KR" altLang="en-US" sz="1000" dirty="0"/>
                <a:t>분 단위 시작시간</a:t>
              </a:r>
              <a:r>
                <a:rPr lang="en-US" altLang="ko-KR" sz="1000" dirty="0"/>
                <a:t>)</a:t>
              </a:r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계획사용량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현재사용량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한전사용량</a:t>
              </a:r>
              <a:endParaRPr lang="en-US" altLang="ko-KR" sz="1000" dirty="0"/>
            </a:p>
            <a:p>
              <a:r>
                <a:rPr lang="en-US" altLang="ko-KR" sz="1000" dirty="0"/>
                <a:t> - ESS </a:t>
              </a:r>
              <a:r>
                <a:rPr lang="ko-KR" altLang="en-US" sz="1000" dirty="0"/>
                <a:t>사용량</a:t>
              </a:r>
              <a:endParaRPr lang="en-US" altLang="ko-KR" sz="1000" dirty="0"/>
            </a:p>
            <a:p>
              <a:r>
                <a:rPr lang="en-US" altLang="ko-KR" sz="1000" dirty="0"/>
                <a:t> - PV </a:t>
              </a:r>
              <a:r>
                <a:rPr lang="ko-KR" altLang="en-US" sz="1000" dirty="0"/>
                <a:t>사용량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현재 전력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현재 부하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충전량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방전량</a:t>
              </a:r>
              <a:endParaRPr lang="en-US" altLang="ko-KR" sz="1000" dirty="0"/>
            </a:p>
            <a:p>
              <a:r>
                <a:rPr lang="en-US" altLang="ko-KR" sz="1000" dirty="0"/>
                <a:t> - SOC</a:t>
              </a:r>
            </a:p>
            <a:p>
              <a:r>
                <a:rPr lang="en-US" altLang="ko-KR" sz="1000" dirty="0"/>
                <a:t> - PV </a:t>
              </a:r>
              <a:r>
                <a:rPr lang="ko-KR" altLang="en-US" sz="1000" dirty="0"/>
                <a:t>발전량</a:t>
              </a:r>
              <a:endParaRPr lang="en-US" altLang="ko-KR" sz="1000" dirty="0"/>
            </a:p>
            <a:p>
              <a:r>
                <a:rPr lang="en-US" altLang="ko-KR" sz="1000" dirty="0"/>
                <a:t> - PV </a:t>
              </a:r>
              <a:r>
                <a:rPr lang="ko-KR" altLang="en-US" sz="1000" dirty="0"/>
                <a:t>온도</a:t>
              </a:r>
              <a:endParaRPr lang="en-US" altLang="ko-KR" sz="1000" dirty="0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6733DD2-5B2E-41CB-A784-0CB6E7734EF9}"/>
              </a:ext>
            </a:extLst>
          </p:cNvPr>
          <p:cNvGrpSpPr/>
          <p:nvPr/>
        </p:nvGrpSpPr>
        <p:grpSpPr>
          <a:xfrm>
            <a:off x="8123853" y="673372"/>
            <a:ext cx="1782147" cy="1566035"/>
            <a:chOff x="242596" y="253482"/>
            <a:chExt cx="1782147" cy="1566035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EB6AEDC-3C5B-43D5-8EEF-BFFFEFB83644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모니터링 부가 정보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8C4DD08-4A89-4DE2-9111-E6F5BC021808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32343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피크 전력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한전계약 전력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요금적용 전력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목표 전력</a:t>
              </a:r>
              <a:endParaRPr lang="en-US" altLang="ko-KR" sz="1000" dirty="0"/>
            </a:p>
            <a:p>
              <a:r>
                <a:rPr lang="ko-KR" altLang="en-US" sz="1000" dirty="0"/>
                <a:t> </a:t>
              </a:r>
              <a:r>
                <a:rPr lang="en-US" altLang="ko-KR" sz="1000" dirty="0"/>
                <a:t>- </a:t>
              </a:r>
              <a:r>
                <a:rPr lang="ko-KR" altLang="en-US" sz="1000" dirty="0"/>
                <a:t>피크 전력 기준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기준부하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계약용량</a:t>
              </a:r>
              <a:endParaRPr lang="en-US" altLang="ko-KR" sz="1000" dirty="0"/>
            </a:p>
            <a:p>
              <a:endParaRPr lang="en-US" altLang="ko-KR" sz="1000" dirty="0"/>
            </a:p>
            <a:p>
              <a:endParaRPr lang="en-US" altLang="ko-KR" sz="10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6CD6225-430F-4F8E-A498-0DA57A688ED3}"/>
              </a:ext>
            </a:extLst>
          </p:cNvPr>
          <p:cNvGrpSpPr/>
          <p:nvPr/>
        </p:nvGrpSpPr>
        <p:grpSpPr>
          <a:xfrm>
            <a:off x="373224" y="3799492"/>
            <a:ext cx="1782147" cy="1412147"/>
            <a:chOff x="242596" y="253482"/>
            <a:chExt cx="1782147" cy="1412147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D0D450B-78E3-4CC0-B3BA-20E8AC6EE853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예측 사용량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A32DF8-B8F8-4441-9484-E64657343AA5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16955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예측 사용량 정보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시간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계획 사용량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예측 부하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충전 계획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방전 계획</a:t>
              </a:r>
              <a:endParaRPr lang="en-US" altLang="ko-KR" sz="1000" dirty="0"/>
            </a:p>
            <a:p>
              <a:r>
                <a:rPr lang="en-US" altLang="ko-KR" sz="1000" dirty="0"/>
                <a:t> - PV </a:t>
              </a:r>
              <a:r>
                <a:rPr lang="ko-KR" altLang="en-US" sz="1000" dirty="0"/>
                <a:t>발전량 예측</a:t>
              </a:r>
              <a:endParaRPr lang="en-US" altLang="ko-KR" sz="10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2D30FCC-0AC6-43F3-9B14-40EDD3BE4BA7}"/>
              </a:ext>
            </a:extLst>
          </p:cNvPr>
          <p:cNvGrpSpPr/>
          <p:nvPr/>
        </p:nvGrpSpPr>
        <p:grpSpPr>
          <a:xfrm>
            <a:off x="2310882" y="3799492"/>
            <a:ext cx="1782147" cy="1412147"/>
            <a:chOff x="242596" y="253482"/>
            <a:chExt cx="1782147" cy="1412147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CDBB4D4-45CC-4BAC-B5AE-5C1DCE26C703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DR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실적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CB0C9F-9053-4274-922C-297342B89830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16955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감축정보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감축시간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일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시간</a:t>
              </a:r>
              <a:r>
                <a:rPr lang="en-US" altLang="ko-KR" sz="1000" dirty="0"/>
                <a:t>)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감축량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사용량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고객기준부하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목표사용량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 err="1"/>
                <a:t>이행률</a:t>
              </a:r>
              <a:endParaRPr lang="en-US" altLang="ko-KR" sz="1000" dirty="0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C0C0B6D-AA63-4D26-A9C7-06FF96473B94}"/>
              </a:ext>
            </a:extLst>
          </p:cNvPr>
          <p:cNvGrpSpPr/>
          <p:nvPr/>
        </p:nvGrpSpPr>
        <p:grpSpPr>
          <a:xfrm>
            <a:off x="4248539" y="3799492"/>
            <a:ext cx="1782147" cy="1873812"/>
            <a:chOff x="242596" y="253482"/>
            <a:chExt cx="1782147" cy="1873812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652EBCF1-5940-47E0-9E06-EB35BA82E770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장비 모니터링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7FB51C-AAFD-43CD-9694-B318E15787CC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6312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장비정보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장비 </a:t>
              </a:r>
              <a:r>
                <a:rPr lang="en-US" altLang="ko-KR" sz="1000" dirty="0"/>
                <a:t>ID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장비 명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장비 타입</a:t>
              </a:r>
              <a:endParaRPr lang="en-US" altLang="ko-KR" sz="1000" dirty="0"/>
            </a:p>
            <a:p>
              <a:r>
                <a:rPr lang="en-US" altLang="ko-KR" sz="1000" dirty="0"/>
                <a:t> - Site ID</a:t>
              </a:r>
            </a:p>
            <a:p>
              <a:r>
                <a:rPr lang="en-US" altLang="ko-KR" sz="1000" dirty="0"/>
                <a:t> - </a:t>
              </a:r>
              <a:r>
                <a:rPr lang="en-US" altLang="ko-KR" sz="1000" dirty="0" err="1"/>
                <a:t>Stie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명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상태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추가 상태정보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</a:t>
              </a:r>
              <a:r>
                <a:rPr lang="en-US" altLang="ko-KR" sz="1000" dirty="0"/>
                <a:t>ID</a:t>
              </a:r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알람 메시지 내용</a:t>
              </a:r>
              <a:endParaRPr lang="en-US" altLang="ko-KR" sz="1000" dirty="0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0A004A3-6091-4F78-B383-BEFD2F70A38F}"/>
              </a:ext>
            </a:extLst>
          </p:cNvPr>
          <p:cNvGrpSpPr/>
          <p:nvPr/>
        </p:nvGrpSpPr>
        <p:grpSpPr>
          <a:xfrm>
            <a:off x="8123853" y="3799492"/>
            <a:ext cx="1782147" cy="2489365"/>
            <a:chOff x="242596" y="253482"/>
            <a:chExt cx="1782147" cy="248936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280401B-FBA2-4F0F-BE43-DE6D0653A4D9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ESS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A50740D-C6F9-451C-8507-C90BE924C373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2246769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ESS </a:t>
              </a:r>
              <a:r>
                <a:rPr lang="ko-KR" altLang="en-US" sz="1000" dirty="0"/>
                <a:t>수익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수익 연월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연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월</a:t>
              </a:r>
              <a:r>
                <a:rPr lang="en-US" altLang="ko-KR" sz="1000" dirty="0"/>
                <a:t>)</a:t>
              </a:r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/>
                <a:t>평일 일수</a:t>
              </a:r>
              <a:r>
                <a:rPr lang="en-US" altLang="ko-KR" sz="1000" dirty="0"/>
                <a:t>(d)</a:t>
              </a:r>
              <a:endParaRPr lang="ko-KR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 err="1"/>
                <a:t>경부하충전량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 err="1"/>
                <a:t>중간부하충전량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 err="1"/>
                <a:t>최대부하방전량</a:t>
              </a:r>
              <a:endParaRPr lang="ko-KR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 err="1"/>
                <a:t>중간부하방전량</a:t>
              </a:r>
              <a:endParaRPr lang="ko-KR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/>
                <a:t>예상</a:t>
              </a:r>
              <a:r>
                <a:rPr lang="en-US" altLang="ko-KR" sz="1000" dirty="0"/>
                <a:t>)</a:t>
              </a:r>
              <a:r>
                <a:rPr lang="ko-KR" altLang="ko-KR" sz="1000" dirty="0"/>
                <a:t>할인금액</a:t>
              </a:r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/>
                <a:t>실적</a:t>
              </a:r>
              <a:r>
                <a:rPr lang="en-US" altLang="ko-KR" sz="1000" dirty="0"/>
                <a:t>)</a:t>
              </a:r>
              <a:r>
                <a:rPr lang="ko-KR" altLang="ko-KR" sz="1000" dirty="0"/>
                <a:t>할인금액</a:t>
              </a:r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/>
                <a:t>고객</a:t>
              </a:r>
              <a:r>
                <a:rPr lang="en-US" altLang="ko-KR" sz="1000" dirty="0"/>
                <a:t>)</a:t>
              </a:r>
              <a:r>
                <a:rPr lang="ko-KR" altLang="ko-KR" sz="1000" dirty="0"/>
                <a:t>정산금액</a:t>
              </a:r>
            </a:p>
            <a:p>
              <a:pPr fontAlgn="ctr"/>
              <a:r>
                <a:rPr lang="en-US" altLang="ko-KR" sz="1000" dirty="0"/>
                <a:t> - EWP)</a:t>
              </a:r>
              <a:r>
                <a:rPr lang="ko-KR" altLang="ko-KR" sz="1000" dirty="0"/>
                <a:t>정산금액</a:t>
              </a:r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ko-KR" sz="1000" dirty="0"/>
                <a:t>정산비율</a:t>
              </a:r>
              <a:endParaRPr lang="en-US" altLang="ko-KR" sz="1000" dirty="0"/>
            </a:p>
            <a:p>
              <a:pPr fontAlgn="ctr"/>
              <a:endParaRPr lang="en-US" altLang="ko-KR" sz="1000" dirty="0"/>
            </a:p>
            <a:p>
              <a:pPr fontAlgn="ctr"/>
              <a:r>
                <a:rPr lang="en-US" altLang="ko-KR" sz="1000" dirty="0"/>
                <a:t>PV </a:t>
              </a:r>
              <a:r>
                <a:rPr lang="ko-KR" altLang="en-US" sz="1000" dirty="0"/>
                <a:t>수익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미정</a:t>
              </a:r>
              <a:r>
                <a:rPr lang="en-US" altLang="ko-KR" sz="1000" dirty="0"/>
                <a:t>)</a:t>
              </a:r>
              <a:endParaRPr lang="ko-KR" altLang="ko-KR" sz="1000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07350F-694E-431C-B491-F536AA8073DC}"/>
              </a:ext>
            </a:extLst>
          </p:cNvPr>
          <p:cNvGrpSpPr/>
          <p:nvPr/>
        </p:nvGrpSpPr>
        <p:grpSpPr>
          <a:xfrm>
            <a:off x="6186196" y="3799492"/>
            <a:ext cx="1782147" cy="1873812"/>
            <a:chOff x="242596" y="253482"/>
            <a:chExt cx="1782147" cy="187381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D480ACE-C918-4099-AC8A-336E8A0E1211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</a:rPr>
                <a:t>요금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7F5CF0-F0EB-4EAA-BCB8-F99E4CC8F42E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63121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한전요금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수익 연월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연</a:t>
              </a:r>
              <a:r>
                <a:rPr lang="en-US" altLang="ko-KR" sz="1000" dirty="0"/>
                <a:t>, </a:t>
              </a:r>
              <a:r>
                <a:rPr lang="ko-KR" altLang="en-US" sz="1000" dirty="0"/>
                <a:t>월</a:t>
              </a:r>
              <a:r>
                <a:rPr lang="en-US" altLang="ko-KR" sz="1000" dirty="0"/>
                <a:t>)</a:t>
              </a:r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기본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요금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역률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사용량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전기요금합계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부가세</a:t>
              </a:r>
              <a:endParaRPr lang="en-US" altLang="ko-KR" sz="1000" dirty="0"/>
            </a:p>
            <a:p>
              <a:pPr fontAlgn="ctr"/>
              <a:r>
                <a:rPr lang="en-US" altLang="ko-KR" sz="1000" dirty="0"/>
                <a:t> - </a:t>
              </a:r>
              <a:r>
                <a:rPr lang="ko-KR" altLang="en-US" sz="1000" dirty="0"/>
                <a:t>청구금액 </a:t>
              </a:r>
              <a:endParaRPr lang="en-US" altLang="ko-KR" sz="1000" dirty="0"/>
            </a:p>
            <a:p>
              <a:pPr fontAlgn="ctr"/>
              <a:endParaRPr lang="en-US" altLang="ko-KR" sz="1000" dirty="0"/>
            </a:p>
            <a:p>
              <a:pPr fontAlgn="ctr"/>
              <a:r>
                <a:rPr lang="en-US" altLang="ko-KR" sz="1000" dirty="0"/>
                <a:t>PV </a:t>
              </a:r>
              <a:r>
                <a:rPr lang="ko-KR" altLang="en-US" sz="1000" dirty="0"/>
                <a:t>수익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미정</a:t>
              </a:r>
              <a:r>
                <a:rPr lang="en-US" altLang="ko-KR" sz="1000" dirty="0"/>
                <a:t>)</a:t>
              </a:r>
              <a:endParaRPr lang="ko-KR" altLang="ko-KR" sz="1000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833AA39-229F-4D4F-B2F2-AF253106D9D4}"/>
              </a:ext>
            </a:extLst>
          </p:cNvPr>
          <p:cNvGrpSpPr/>
          <p:nvPr/>
        </p:nvGrpSpPr>
        <p:grpSpPr>
          <a:xfrm>
            <a:off x="10061510" y="3799492"/>
            <a:ext cx="1782147" cy="2027700"/>
            <a:chOff x="242596" y="253482"/>
            <a:chExt cx="1782147" cy="202770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E5CE820-FB4F-463F-A72C-596632696E37}"/>
                </a:ext>
              </a:extLst>
            </p:cNvPr>
            <p:cNvSpPr/>
            <p:nvPr/>
          </p:nvSpPr>
          <p:spPr>
            <a:xfrm>
              <a:off x="242596" y="253482"/>
              <a:ext cx="1782147" cy="242596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DR 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7A5D59B-5C57-430D-B20D-5E5A57C3EE8E}"/>
                </a:ext>
              </a:extLst>
            </p:cNvPr>
            <p:cNvSpPr txBox="1"/>
            <p:nvPr/>
          </p:nvSpPr>
          <p:spPr>
            <a:xfrm>
              <a:off x="242596" y="496078"/>
              <a:ext cx="1782147" cy="17851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DR</a:t>
              </a:r>
              <a:r>
                <a:rPr lang="ko-KR" altLang="en-US" sz="1000" dirty="0"/>
                <a:t> 수익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감축회수</a:t>
              </a:r>
              <a:r>
                <a:rPr lang="en-US" altLang="ko-KR" sz="1000" dirty="0"/>
                <a:t>-</a:t>
              </a:r>
              <a:r>
                <a:rPr lang="ko-KR" altLang="en-US" sz="1000" dirty="0"/>
                <a:t>시간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감축이행용량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감축인정용량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감축이행율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용량정산금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감축정산금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실적</a:t>
              </a:r>
              <a:r>
                <a:rPr lang="en-US" altLang="ko-KR" sz="1000" dirty="0"/>
                <a:t>)</a:t>
              </a:r>
              <a:r>
                <a:rPr lang="ko-KR" altLang="en-US" sz="1000" dirty="0"/>
                <a:t>총정산금액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고객</a:t>
              </a:r>
              <a:r>
                <a:rPr lang="en-US" altLang="ko-KR" sz="1000" dirty="0"/>
                <a:t>)</a:t>
              </a:r>
              <a:r>
                <a:rPr lang="ko-KR" altLang="en-US" sz="1000" dirty="0"/>
                <a:t>정산금액</a:t>
              </a:r>
              <a:endParaRPr lang="en-US" altLang="ko-KR" sz="1000" dirty="0"/>
            </a:p>
            <a:p>
              <a:r>
                <a:rPr lang="en-US" altLang="ko-KR" sz="1000" dirty="0"/>
                <a:t> - EWP)</a:t>
              </a:r>
              <a:r>
                <a:rPr lang="ko-KR" altLang="en-US" sz="1000" dirty="0"/>
                <a:t>정산금액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ko-KR" altLang="en-US" sz="1000" dirty="0"/>
                <a:t>수익비율</a:t>
              </a:r>
              <a:endParaRPr lang="en-US" altLang="ko-KR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3224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444</Words>
  <Application>Microsoft Office PowerPoint</Application>
  <PresentationFormat>와이드스크린</PresentationFormat>
  <Paragraphs>128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Lein</dc:creator>
  <cp:lastModifiedBy>Kim Lein</cp:lastModifiedBy>
  <cp:revision>8</cp:revision>
  <dcterms:created xsi:type="dcterms:W3CDTF">2018-07-06T03:33:51Z</dcterms:created>
  <dcterms:modified xsi:type="dcterms:W3CDTF">2018-07-06T04:36:55Z</dcterms:modified>
</cp:coreProperties>
</file>
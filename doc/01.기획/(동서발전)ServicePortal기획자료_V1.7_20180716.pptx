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7" r:id="rId2"/>
    <p:sldId id="459" r:id="rId3"/>
    <p:sldId id="469" r:id="rId4"/>
    <p:sldId id="460" r:id="rId5"/>
    <p:sldId id="471" r:id="rId6"/>
    <p:sldId id="470" r:id="rId7"/>
    <p:sldId id="482" r:id="rId8"/>
    <p:sldId id="483" r:id="rId9"/>
    <p:sldId id="456" r:id="rId10"/>
    <p:sldId id="486" r:id="rId11"/>
    <p:sldId id="464" r:id="rId12"/>
    <p:sldId id="463" r:id="rId13"/>
    <p:sldId id="465" r:id="rId14"/>
    <p:sldId id="457" r:id="rId15"/>
    <p:sldId id="487" r:id="rId16"/>
    <p:sldId id="455" r:id="rId17"/>
    <p:sldId id="461" r:id="rId18"/>
    <p:sldId id="462" r:id="rId19"/>
    <p:sldId id="476" r:id="rId20"/>
    <p:sldId id="477" r:id="rId21"/>
    <p:sldId id="485" r:id="rId22"/>
    <p:sldId id="454" r:id="rId23"/>
    <p:sldId id="466" r:id="rId24"/>
    <p:sldId id="467" r:id="rId25"/>
    <p:sldId id="478" r:id="rId26"/>
    <p:sldId id="479" r:id="rId27"/>
    <p:sldId id="480" r:id="rId28"/>
    <p:sldId id="481" r:id="rId29"/>
    <p:sldId id="343" r:id="rId3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1" autoAdjust="0"/>
    <p:restoredTop sz="90924" autoAdjust="0"/>
  </p:normalViewPr>
  <p:slideViewPr>
    <p:cSldViewPr>
      <p:cViewPr varScale="1">
        <p:scale>
          <a:sx n="115" d="100"/>
          <a:sy n="115" d="100"/>
        </p:scale>
        <p:origin x="114" y="7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06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2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745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01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233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999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247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071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263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448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91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5287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1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8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151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4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263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940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9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gif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7971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2018.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07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099AD-FC6A-4E78-A90F-E9E3AEFC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72836"/>
            <a:ext cx="1299721" cy="2881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04664"/>
            <a:ext cx="2409825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2299896"/>
            <a:ext cx="9144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n-ea"/>
              </a:rPr>
              <a:t>EWP Services Portal</a:t>
            </a:r>
          </a:p>
          <a:p>
            <a:pPr algn="ctr"/>
            <a:r>
              <a:rPr lang="ko-KR" altLang="en-US" sz="4000" b="1" dirty="0" err="1">
                <a:solidFill>
                  <a:schemeClr val="tx2"/>
                </a:solidFill>
                <a:latin typeface="+mn-ea"/>
              </a:rPr>
              <a:t>기획案</a:t>
            </a:r>
            <a:r>
              <a:rPr lang="ko-KR" altLang="en-US" sz="4000" b="1" dirty="0">
                <a:solidFill>
                  <a:schemeClr val="tx2"/>
                </a:solidFill>
                <a:latin typeface="+mn-ea"/>
              </a:rPr>
              <a:t> 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4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492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0. Service Portal Menu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구성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3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메뉴 구조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0529" y="4048165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30905" y="4048165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</a:t>
            </a:r>
            <a:endParaRPr lang="ko-KR" altLang="en-US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381281" y="4048165"/>
            <a:ext cx="150665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에너지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537046" y="4048165"/>
            <a:ext cx="1307846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886755" y="4048165"/>
            <a:ext cx="786647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80529" y="2348880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이용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/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FAQ</a:t>
            </a: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381281" y="1628800"/>
            <a:ext cx="1690283" cy="1854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에너지 모니터링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관리 현황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ESS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충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4) PV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발전량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5) DR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실적 현황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구성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929805" y="4974030"/>
            <a:ext cx="1690283" cy="1335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설비 모니터링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Meter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PCS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BMS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cxnSp>
        <p:nvCxnSpPr>
          <p:cNvPr id="41" name="직선 화살표 연결선 40"/>
          <p:cNvCxnSpPr>
            <a:stCxn id="2" idx="0"/>
            <a:endCxn id="3" idx="2"/>
          </p:cNvCxnSpPr>
          <p:nvPr/>
        </p:nvCxnSpPr>
        <p:spPr>
          <a:xfrm flipV="1">
            <a:off x="784785" y="3501008"/>
            <a:ext cx="0" cy="547157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6431480" y="1628800"/>
            <a:ext cx="1413412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050" b="1" u="sng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iSmart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수익분석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ESS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DR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34" name="꺾인 연결선 1033"/>
          <p:cNvCxnSpPr>
            <a:cxnSpLocks/>
            <a:stCxn id="14" idx="2"/>
            <a:endCxn id="78" idx="0"/>
          </p:cNvCxnSpPr>
          <p:nvPr/>
        </p:nvCxnSpPr>
        <p:spPr>
          <a:xfrm rot="5400000">
            <a:off x="7927713" y="4615313"/>
            <a:ext cx="487515" cy="217218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7452320" y="4967680"/>
            <a:ext cx="1221082" cy="756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AutoNum type="arabicParenR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AutoNum type="arabicParenR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그룹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cxnSpLocks/>
            <a:stCxn id="11" idx="0"/>
            <a:endCxn id="25" idx="2"/>
          </p:cNvCxnSpPr>
          <p:nvPr/>
        </p:nvCxnSpPr>
        <p:spPr>
          <a:xfrm rot="5400000" flipH="1" flipV="1">
            <a:off x="2897959" y="3719701"/>
            <a:ext cx="565116" cy="918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381281" y="3791101"/>
            <a:ext cx="1562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Energy Monitoring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8068749" y="3791101"/>
            <a:ext cx="604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Setup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1399100" y="4967681"/>
            <a:ext cx="1265313" cy="863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Main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관제화면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군관리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꺾인 연결선 37"/>
          <p:cNvCxnSpPr>
            <a:cxnSpLocks/>
            <a:stCxn id="58" idx="2"/>
            <a:endCxn id="33" idx="0"/>
          </p:cNvCxnSpPr>
          <p:nvPr/>
        </p:nvCxnSpPr>
        <p:spPr>
          <a:xfrm rot="16200000" flipH="1">
            <a:off x="4449282" y="4648364"/>
            <a:ext cx="493865" cy="1574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cxnSpLocks/>
            <a:stCxn id="13" idx="0"/>
            <a:endCxn id="61" idx="2"/>
          </p:cNvCxnSpPr>
          <p:nvPr/>
        </p:nvCxnSpPr>
        <p:spPr>
          <a:xfrm rot="16200000" flipV="1">
            <a:off x="6891000" y="3748195"/>
            <a:ext cx="547157" cy="5278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3929805" y="4048165"/>
            <a:ext cx="1375352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모니터링</a:t>
            </a:r>
          </a:p>
        </p:txBody>
      </p:sp>
      <p:cxnSp>
        <p:nvCxnSpPr>
          <p:cNvPr id="93" name="꺾인 연결선 92"/>
          <p:cNvCxnSpPr>
            <a:cxnSpLocks/>
            <a:stCxn id="9" idx="2"/>
            <a:endCxn id="34" idx="0"/>
          </p:cNvCxnSpPr>
          <p:nvPr/>
        </p:nvCxnSpPr>
        <p:spPr>
          <a:xfrm rot="16200000" flipH="1">
            <a:off x="1689701" y="4625625"/>
            <a:ext cx="487516" cy="1965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1403648" y="3792338"/>
            <a:ext cx="9755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Dashboard</a:t>
            </a:r>
            <a:endParaRPr lang="ko-KR" altLang="en-US" sz="1200" dirty="0"/>
          </a:p>
        </p:txBody>
      </p:sp>
      <p:sp>
        <p:nvSpPr>
          <p:cNvPr id="118" name="직사각형 117"/>
          <p:cNvSpPr/>
          <p:nvPr/>
        </p:nvSpPr>
        <p:spPr>
          <a:xfrm>
            <a:off x="6519978" y="3791101"/>
            <a:ext cx="1324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Billing/Revenue</a:t>
            </a:r>
            <a:endParaRPr lang="ko-KR" altLang="en-US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3929805" y="3781680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Equipment</a:t>
            </a:r>
            <a:endParaRPr lang="ko-KR" altLang="en-US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5B3F7B3-8D44-4F9E-88CB-35A8C0B81819}"/>
              </a:ext>
            </a:extLst>
          </p:cNvPr>
          <p:cNvSpPr/>
          <p:nvPr/>
        </p:nvSpPr>
        <p:spPr>
          <a:xfrm>
            <a:off x="5347021" y="4048165"/>
            <a:ext cx="1148160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상황 관제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683DE9E-06BB-49B1-A51B-FA248BDA0F70}"/>
              </a:ext>
            </a:extLst>
          </p:cNvPr>
          <p:cNvSpPr/>
          <p:nvPr/>
        </p:nvSpPr>
        <p:spPr>
          <a:xfrm>
            <a:off x="5285173" y="3760399"/>
            <a:ext cx="12310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Alarm/Control</a:t>
            </a:r>
            <a:endParaRPr lang="ko-KR" altLang="en-US" sz="1200" b="1" dirty="0">
              <a:latin typeface="맑은 고딕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1C3EBA0-4E3F-4E36-9B0A-099F527E5E2F}"/>
              </a:ext>
            </a:extLst>
          </p:cNvPr>
          <p:cNvSpPr/>
          <p:nvPr/>
        </p:nvSpPr>
        <p:spPr>
          <a:xfrm>
            <a:off x="4881295" y="2135687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상황 관제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4" name="꺾인 연결선 23">
            <a:extLst>
              <a:ext uri="{FF2B5EF4-FFF2-40B4-BE49-F238E27FC236}">
                <a16:creationId xmlns:a16="http://schemas.microsoft.com/office/drawing/2014/main" id="{53198309-10F7-4FC7-BE8C-7554B21A0F8A}"/>
              </a:ext>
            </a:extLst>
          </p:cNvPr>
          <p:cNvCxnSpPr>
            <a:cxnSpLocks/>
            <a:stCxn id="40" idx="0"/>
            <a:endCxn id="51" idx="2"/>
          </p:cNvCxnSpPr>
          <p:nvPr/>
        </p:nvCxnSpPr>
        <p:spPr>
          <a:xfrm rot="16200000" flipV="1">
            <a:off x="5273151" y="3400215"/>
            <a:ext cx="760350" cy="53555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AE8D1E-3860-4535-80C9-DB5C02ED6459}"/>
              </a:ext>
            </a:extLst>
          </p:cNvPr>
          <p:cNvSpPr/>
          <p:nvPr/>
        </p:nvSpPr>
        <p:spPr>
          <a:xfrm>
            <a:off x="225512" y="5805264"/>
            <a:ext cx="8712968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1일(오늘)(기본), 1주(7일), 1개월(30일), 기간설정으로 조회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사이트 명, 사용량,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발전량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     - 기간설정 버튼 클릭하면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캘린터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UI에서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시작, 종료 날짜 선택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지역별 선택하면 해당 지역 정보로 이동 (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drop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down에서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선택)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09017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24647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3246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585495" y="1683390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3684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290793" y="1424366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53" y="1036303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2676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645840" y="1556792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611263" y="1518750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41" y="1883344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289785" y="1439717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1025252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81395"/>
              </p:ext>
            </p:extLst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89553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41254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89553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1211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89553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1211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4901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342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75120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err="1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342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000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342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000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78037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41633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93333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41633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58218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41633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58218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9559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903526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521302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75724"/>
              </p:ext>
            </p:extLst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64348"/>
              </p:ext>
            </p:extLst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9F14FDE-2F17-4B93-839A-DFB07CB57FF4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430" name="직선 연결선 429">
              <a:extLst>
                <a:ext uri="{FF2B5EF4-FFF2-40B4-BE49-F238E27FC236}">
                  <a16:creationId xmlns:a16="http://schemas.microsoft.com/office/drawing/2014/main" id="{2A21E3B2-7A10-434B-8F3A-5C0357C1FEB6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060D1106-CF68-4EB9-B550-D9EDE0A3D05E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442" name="직선 연결선 441">
              <a:extLst>
                <a:ext uri="{FF2B5EF4-FFF2-40B4-BE49-F238E27FC236}">
                  <a16:creationId xmlns:a16="http://schemas.microsoft.com/office/drawing/2014/main" id="{8ADEB3C0-F008-4695-A7D0-AED19BEAB530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C3243435-3102-4AE0-91CE-76FE4163506B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444" name="직선 연결선 443">
              <a:extLst>
                <a:ext uri="{FF2B5EF4-FFF2-40B4-BE49-F238E27FC236}">
                  <a16:creationId xmlns:a16="http://schemas.microsoft.com/office/drawing/2014/main" id="{4F60E58E-A4B3-4295-BBA8-29AB39D5A29D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77424ED5-F7AD-41C8-BA67-5A406E89AEFF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452" name="직선 연결선 451">
              <a:extLst>
                <a:ext uri="{FF2B5EF4-FFF2-40B4-BE49-F238E27FC236}">
                  <a16:creationId xmlns:a16="http://schemas.microsoft.com/office/drawing/2014/main" id="{C0AA0684-DFE4-4BFD-9AB8-A47E77CE7FBA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693C7B78-A427-4A95-9ED5-E022C84D0488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ED619EAC-8D07-4782-8E05-5E4AD401D5D9}"/>
              </a:ext>
            </a:extLst>
          </p:cNvPr>
          <p:cNvSpPr txBox="1"/>
          <p:nvPr/>
        </p:nvSpPr>
        <p:spPr>
          <a:xfrm>
            <a:off x="3748675" y="2081896"/>
            <a:ext cx="138348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solidFill>
                  <a:schemeClr val="bg1"/>
                </a:solidFill>
              </a:rPr>
              <a:t>지금은 </a:t>
            </a:r>
            <a:r>
              <a:rPr lang="ko-KR" altLang="en-US" sz="600" b="1" dirty="0">
                <a:solidFill>
                  <a:srgbClr val="FF0000"/>
                </a:solidFill>
              </a:rPr>
              <a:t>요금적용전력</a:t>
            </a:r>
            <a:r>
              <a:rPr lang="ko-KR" altLang="en-US" sz="500" b="1" dirty="0">
                <a:solidFill>
                  <a:schemeClr val="bg1"/>
                </a:solidFill>
              </a:rPr>
              <a:t> 갱신구간 입니다</a:t>
            </a:r>
            <a:r>
              <a:rPr lang="en-US" altLang="ko-KR" sz="500" b="1" dirty="0">
                <a:solidFill>
                  <a:schemeClr val="bg1"/>
                </a:solidFill>
              </a:rPr>
              <a:t>.</a:t>
            </a:r>
            <a:endParaRPr lang="ko-KR" altLang="en-US" sz="500" b="1" dirty="0">
              <a:solidFill>
                <a:schemeClr val="bg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2CBA66-CCA8-467B-AC1F-E751F9DDB938}"/>
              </a:ext>
            </a:extLst>
          </p:cNvPr>
          <p:cNvGrpSpPr/>
          <p:nvPr/>
        </p:nvGrpSpPr>
        <p:grpSpPr>
          <a:xfrm>
            <a:off x="828434" y="3793987"/>
            <a:ext cx="2230525" cy="380169"/>
            <a:chOff x="1530621" y="2825422"/>
            <a:chExt cx="7060643" cy="1737220"/>
          </a:xfrm>
        </p:grpSpPr>
        <p:sp>
          <p:nvSpPr>
            <p:cNvPr id="255" name="자유형 83">
              <a:extLst>
                <a:ext uri="{FF2B5EF4-FFF2-40B4-BE49-F238E27FC236}">
                  <a16:creationId xmlns:a16="http://schemas.microsoft.com/office/drawing/2014/main" id="{73DA1F14-7228-4625-A5BF-16FD09E3B96B}"/>
                </a:ext>
              </a:extLst>
            </p:cNvPr>
            <p:cNvSpPr/>
            <p:nvPr/>
          </p:nvSpPr>
          <p:spPr>
            <a:xfrm>
              <a:off x="1530621" y="2831921"/>
              <a:ext cx="3422156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8" name="자유형 33">
              <a:extLst>
                <a:ext uri="{FF2B5EF4-FFF2-40B4-BE49-F238E27FC236}">
                  <a16:creationId xmlns:a16="http://schemas.microsoft.com/office/drawing/2014/main" id="{87027243-78EE-4548-AFD7-0C877EC29572}"/>
                </a:ext>
              </a:extLst>
            </p:cNvPr>
            <p:cNvSpPr/>
            <p:nvPr/>
          </p:nvSpPr>
          <p:spPr>
            <a:xfrm flipH="1">
              <a:off x="4907819" y="2825422"/>
              <a:ext cx="3683445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3F07841-4877-47D6-8641-DCC529617E7B}"/>
              </a:ext>
            </a:extLst>
          </p:cNvPr>
          <p:cNvGrpSpPr/>
          <p:nvPr/>
        </p:nvGrpSpPr>
        <p:grpSpPr>
          <a:xfrm>
            <a:off x="887344" y="3062692"/>
            <a:ext cx="2268647" cy="215868"/>
            <a:chOff x="925340" y="3062692"/>
            <a:chExt cx="2268647" cy="215868"/>
          </a:xfrm>
        </p:grpSpPr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A4C89D16-588B-41A7-8391-C28C5E313976}"/>
                </a:ext>
              </a:extLst>
            </p:cNvPr>
            <p:cNvGrpSpPr/>
            <p:nvPr/>
          </p:nvGrpSpPr>
          <p:grpSpPr>
            <a:xfrm>
              <a:off x="925340" y="3100721"/>
              <a:ext cx="1683019" cy="157480"/>
              <a:chOff x="4730291" y="2929429"/>
              <a:chExt cx="1683019" cy="157480"/>
            </a:xfrm>
          </p:grpSpPr>
          <p:cxnSp>
            <p:nvCxnSpPr>
              <p:cNvPr id="498" name="직선 연결선 497">
                <a:extLst>
                  <a:ext uri="{FF2B5EF4-FFF2-40B4-BE49-F238E27FC236}">
                    <a16:creationId xmlns:a16="http://schemas.microsoft.com/office/drawing/2014/main" id="{3D00BBDD-5B83-4846-AE79-60675D6A75B4}"/>
                  </a:ext>
                </a:extLst>
              </p:cNvPr>
              <p:cNvCxnSpPr/>
              <p:nvPr/>
            </p:nvCxnSpPr>
            <p:spPr>
              <a:xfrm>
                <a:off x="4730291" y="3015425"/>
                <a:ext cx="149996" cy="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9" name="직사각형 498">
                <a:extLst>
                  <a:ext uri="{FF2B5EF4-FFF2-40B4-BE49-F238E27FC236}">
                    <a16:creationId xmlns:a16="http://schemas.microsoft.com/office/drawing/2014/main" id="{643C5AC5-7051-4A71-AA9B-7751735D58BB}"/>
                  </a:ext>
                </a:extLst>
              </p:cNvPr>
              <p:cNvSpPr/>
              <p:nvPr/>
            </p:nvSpPr>
            <p:spPr>
              <a:xfrm>
                <a:off x="4808469" y="2931990"/>
                <a:ext cx="550418" cy="1549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실제 사용량</a:t>
                </a:r>
              </a:p>
            </p:txBody>
          </p:sp>
          <p:cxnSp>
            <p:nvCxnSpPr>
              <p:cNvPr id="500" name="직선 연결선 499">
                <a:extLst>
                  <a:ext uri="{FF2B5EF4-FFF2-40B4-BE49-F238E27FC236}">
                    <a16:creationId xmlns:a16="http://schemas.microsoft.com/office/drawing/2014/main" id="{50F18DFC-D4EE-4F4D-919A-960CDBBB7F11}"/>
                  </a:ext>
                </a:extLst>
              </p:cNvPr>
              <p:cNvCxnSpPr/>
              <p:nvPr/>
            </p:nvCxnSpPr>
            <p:spPr>
              <a:xfrm>
                <a:off x="5280128" y="3009449"/>
                <a:ext cx="149996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01" name="직사각형 500">
                <a:extLst>
                  <a:ext uri="{FF2B5EF4-FFF2-40B4-BE49-F238E27FC236}">
                    <a16:creationId xmlns:a16="http://schemas.microsoft.com/office/drawing/2014/main" id="{38724598-60E3-4E65-9129-F9DD93A10F2D}"/>
                  </a:ext>
                </a:extLst>
              </p:cNvPr>
              <p:cNvSpPr/>
              <p:nvPr/>
            </p:nvSpPr>
            <p:spPr>
              <a:xfrm>
                <a:off x="5358305" y="2929429"/>
                <a:ext cx="548985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  <p:cxnSp>
            <p:nvCxnSpPr>
              <p:cNvPr id="502" name="직선 연결선 501">
                <a:extLst>
                  <a:ext uri="{FF2B5EF4-FFF2-40B4-BE49-F238E27FC236}">
                    <a16:creationId xmlns:a16="http://schemas.microsoft.com/office/drawing/2014/main" id="{63D0324A-6260-423A-94F3-F9E6EFC37BCC}"/>
                  </a:ext>
                </a:extLst>
              </p:cNvPr>
              <p:cNvCxnSpPr/>
              <p:nvPr/>
            </p:nvCxnSpPr>
            <p:spPr>
              <a:xfrm>
                <a:off x="5832767" y="3009449"/>
                <a:ext cx="149996" cy="0"/>
              </a:xfrm>
              <a:prstGeom prst="lin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D729EFFA-79C8-4355-B1F3-4AB70759F294}"/>
                  </a:ext>
                </a:extLst>
              </p:cNvPr>
              <p:cNvSpPr/>
              <p:nvPr/>
            </p:nvSpPr>
            <p:spPr>
              <a:xfrm>
                <a:off x="5927483" y="2929429"/>
                <a:ext cx="485827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796B7C5-6A3C-4463-AF69-15F13005253F}"/>
                </a:ext>
              </a:extLst>
            </p:cNvPr>
            <p:cNvGrpSpPr/>
            <p:nvPr/>
          </p:nvGrpSpPr>
          <p:grpSpPr>
            <a:xfrm>
              <a:off x="2556521" y="3062692"/>
              <a:ext cx="637466" cy="215868"/>
              <a:chOff x="7398492" y="2212271"/>
              <a:chExt cx="637466" cy="215868"/>
            </a:xfrm>
          </p:grpSpPr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E42CABCD-9F0F-4795-8D9E-CCDFC298BD9E}"/>
                  </a:ext>
                </a:extLst>
              </p:cNvPr>
              <p:cNvCxnSpPr/>
              <p:nvPr/>
            </p:nvCxnSpPr>
            <p:spPr>
              <a:xfrm>
                <a:off x="7398492" y="2327092"/>
                <a:ext cx="151200" cy="0"/>
              </a:xfrm>
              <a:prstGeom prst="line">
                <a:avLst/>
              </a:prstGeom>
              <a:ln w="9525">
                <a:solidFill>
                  <a:schemeClr val="accent3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3958BE9C-BDD9-4A74-9C02-8767A6F0E1E1}"/>
                  </a:ext>
                </a:extLst>
              </p:cNvPr>
              <p:cNvSpPr/>
              <p:nvPr/>
            </p:nvSpPr>
            <p:spPr>
              <a:xfrm>
                <a:off x="7472623" y="2212271"/>
                <a:ext cx="563335" cy="21586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예측 사용량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FF0000"/>
                  </a:solidFill>
                </a:rPr>
                <a:t>Disconnected</a:t>
              </a:r>
              <a:endParaRPr lang="ko-KR" altLang="en-US" sz="500" b="1" dirty="0">
                <a:solidFill>
                  <a:srgbClr val="FF000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1FE166B-63A6-411B-94AE-4DA877632F15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FF24D733-CBC9-4390-8129-821E5E071B32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125D3D9-1660-47D2-9801-096B8DDA9A07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51996589-E95D-4FD7-B5ED-4FDFF963DE19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03A70B62-0086-4797-B915-CB6D8A3708B6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F4810F0F-034F-43EE-905C-4EAC75B30587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E29B2F6-4042-4916-8C1F-6352B2138508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86E617ED-E703-4870-89D0-2C67B38D0AE7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80F3F1F0-64E0-4685-BF29-5D1496A9151D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37172882-BC4A-4E37-AC6C-0DB9293DE4DF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8F21C8D-4590-4803-975B-068C46C540FA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1F8E4C6-66DE-4E8C-9C93-EF923826EFFF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A0F68DA5-031B-4AEA-A7D1-61B43DBCC32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E14B7088-5B18-4A76-99D4-C14F3D9ECF50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238531F3-AEB4-458A-ACB1-2379A8B53BA3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57DE0924-8C08-4450-900F-5BF053D686F6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4AF4BDD-D519-48B5-9AF5-A06F7D84FCE1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A4C639E-88E8-4892-9E91-2F692F821AD0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A6F3947A-3F76-4715-B2ED-86332319E16F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C89496D9-5AF8-43BA-A61A-C86479A03E11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382C6A95-D1DF-405E-B4EF-6D8E6009A812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CD6EC7E1-03EB-4606-A385-59DD52C1F75E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C8461C30-7B71-4C16-A493-1FB5978FC04C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EFF6BAE8-5E98-4725-B83F-8151FE54DE58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EB78D889-0634-4942-BAC3-735EAD3CB924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8E423D75-AD80-4676-85C4-23A397FDD5F9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34100D8D-7E70-47FD-8512-0E5EC0CEDD06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  <p:sp>
        <p:nvSpPr>
          <p:cNvPr id="398" name="AutoShape 182">
            <a:extLst>
              <a:ext uri="{FF2B5EF4-FFF2-40B4-BE49-F238E27FC236}">
                <a16:creationId xmlns:a16="http://schemas.microsoft.com/office/drawing/2014/main" id="{C15C7B83-ACD5-495E-9272-4DF5FDB172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BC861656-99B6-4101-90BF-B810567D63F2}"/>
              </a:ext>
            </a:extLst>
          </p:cNvPr>
          <p:cNvCxnSpPr>
            <a:cxnSpLocks/>
          </p:cNvCxnSpPr>
          <p:nvPr/>
        </p:nvCxnSpPr>
        <p:spPr>
          <a:xfrm>
            <a:off x="6402882" y="489553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TextBox 399">
            <a:extLst>
              <a:ext uri="{FF2B5EF4-FFF2-40B4-BE49-F238E27FC236}">
                <a16:creationId xmlns:a16="http://schemas.microsoft.com/office/drawing/2014/main" id="{43D5C6AB-0F26-49A2-BFAE-4DF56EBB3BD3}"/>
              </a:ext>
            </a:extLst>
          </p:cNvPr>
          <p:cNvSpPr txBox="1"/>
          <p:nvPr/>
        </p:nvSpPr>
        <p:spPr>
          <a:xfrm>
            <a:off x="6367400" y="4741254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01F169F9-7382-41A5-90C0-26B20C1A5F54}"/>
              </a:ext>
            </a:extLst>
          </p:cNvPr>
          <p:cNvSpPr txBox="1"/>
          <p:nvPr/>
        </p:nvSpPr>
        <p:spPr>
          <a:xfrm>
            <a:off x="749444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7A57CDF1-0CDE-4E1B-9F75-9E268EF70A9A}"/>
              </a:ext>
            </a:extLst>
          </p:cNvPr>
          <p:cNvSpPr txBox="1"/>
          <p:nvPr/>
        </p:nvSpPr>
        <p:spPr>
          <a:xfrm>
            <a:off x="821843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3D7DBD73-1BA9-4C1E-8593-32A86B0A6A6B}"/>
              </a:ext>
            </a:extLst>
          </p:cNvPr>
          <p:cNvSpPr txBox="1"/>
          <p:nvPr/>
        </p:nvSpPr>
        <p:spPr>
          <a:xfrm>
            <a:off x="6632423" y="489553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1BB6C282-592F-43E7-B70F-8323F7AFF834}"/>
              </a:ext>
            </a:extLst>
          </p:cNvPr>
          <p:cNvSpPr txBox="1"/>
          <p:nvPr/>
        </p:nvSpPr>
        <p:spPr>
          <a:xfrm>
            <a:off x="6632423" y="501211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EB74080-0593-4278-84BB-7244A4B446EC}"/>
              </a:ext>
            </a:extLst>
          </p:cNvPr>
          <p:cNvSpPr txBox="1"/>
          <p:nvPr/>
        </p:nvSpPr>
        <p:spPr>
          <a:xfrm>
            <a:off x="7409660" y="489553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A18D5096-3982-4625-91F4-73DC01F9FE5F}"/>
              </a:ext>
            </a:extLst>
          </p:cNvPr>
          <p:cNvSpPr txBox="1"/>
          <p:nvPr/>
        </p:nvSpPr>
        <p:spPr>
          <a:xfrm>
            <a:off x="7409660" y="501211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341F0FF8-5503-407A-B120-95714DF4ED38}"/>
              </a:ext>
            </a:extLst>
          </p:cNvPr>
          <p:cNvSpPr txBox="1"/>
          <p:nvPr/>
        </p:nvSpPr>
        <p:spPr>
          <a:xfrm>
            <a:off x="8197832" y="494901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27194C38-17F3-406B-BA27-E36FD810C691}"/>
              </a:ext>
            </a:extLst>
          </p:cNvPr>
          <p:cNvCxnSpPr>
            <a:cxnSpLocks/>
          </p:cNvCxnSpPr>
          <p:nvPr/>
        </p:nvCxnSpPr>
        <p:spPr>
          <a:xfrm>
            <a:off x="6402882" y="532342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TextBox 413">
            <a:extLst>
              <a:ext uri="{FF2B5EF4-FFF2-40B4-BE49-F238E27FC236}">
                <a16:creationId xmlns:a16="http://schemas.microsoft.com/office/drawing/2014/main" id="{95CAC2E6-8916-48F3-83D8-8F29D9C559EA}"/>
              </a:ext>
            </a:extLst>
          </p:cNvPr>
          <p:cNvSpPr txBox="1"/>
          <p:nvPr/>
        </p:nvSpPr>
        <p:spPr>
          <a:xfrm>
            <a:off x="6367400" y="5175120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err="1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63EB8F22-31FF-40D2-8172-798C73869347}"/>
              </a:ext>
            </a:extLst>
          </p:cNvPr>
          <p:cNvSpPr txBox="1"/>
          <p:nvPr/>
        </p:nvSpPr>
        <p:spPr>
          <a:xfrm>
            <a:off x="749444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1ADC0CC0-F565-4526-BD7E-C7E9722A5E04}"/>
              </a:ext>
            </a:extLst>
          </p:cNvPr>
          <p:cNvSpPr txBox="1"/>
          <p:nvPr/>
        </p:nvSpPr>
        <p:spPr>
          <a:xfrm>
            <a:off x="821843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9C5297B5-2DC1-4BF0-80A4-F08604375356}"/>
              </a:ext>
            </a:extLst>
          </p:cNvPr>
          <p:cNvSpPr txBox="1"/>
          <p:nvPr/>
        </p:nvSpPr>
        <p:spPr>
          <a:xfrm>
            <a:off x="6632423" y="532342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0A72AC4A-4D4B-4D7D-9150-0562EB2CCD72}"/>
              </a:ext>
            </a:extLst>
          </p:cNvPr>
          <p:cNvSpPr txBox="1"/>
          <p:nvPr/>
        </p:nvSpPr>
        <p:spPr>
          <a:xfrm>
            <a:off x="6632423" y="544000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221B3C02-5FC1-4F97-872E-ADE574302908}"/>
              </a:ext>
            </a:extLst>
          </p:cNvPr>
          <p:cNvSpPr txBox="1"/>
          <p:nvPr/>
        </p:nvSpPr>
        <p:spPr>
          <a:xfrm>
            <a:off x="7409660" y="532342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527B584D-83F0-4ECF-8CB5-23FA7E004C85}"/>
              </a:ext>
            </a:extLst>
          </p:cNvPr>
          <p:cNvSpPr txBox="1"/>
          <p:nvPr/>
        </p:nvSpPr>
        <p:spPr>
          <a:xfrm>
            <a:off x="7409660" y="544000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885C9C5B-C96A-43FD-B3A9-8A6B83681426}"/>
              </a:ext>
            </a:extLst>
          </p:cNvPr>
          <p:cNvSpPr txBox="1"/>
          <p:nvPr/>
        </p:nvSpPr>
        <p:spPr>
          <a:xfrm>
            <a:off x="8197832" y="5378037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426" name="직선 연결선 425">
            <a:extLst>
              <a:ext uri="{FF2B5EF4-FFF2-40B4-BE49-F238E27FC236}">
                <a16:creationId xmlns:a16="http://schemas.microsoft.com/office/drawing/2014/main" id="{3E7F1D2C-DCB5-4442-B977-5D06CA3F3977}"/>
              </a:ext>
            </a:extLst>
          </p:cNvPr>
          <p:cNvCxnSpPr>
            <a:cxnSpLocks/>
          </p:cNvCxnSpPr>
          <p:nvPr/>
        </p:nvCxnSpPr>
        <p:spPr>
          <a:xfrm>
            <a:off x="6402882" y="5741633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3358FFAE-0C79-4B48-A61E-3F76FB66E486}"/>
              </a:ext>
            </a:extLst>
          </p:cNvPr>
          <p:cNvSpPr txBox="1"/>
          <p:nvPr/>
        </p:nvSpPr>
        <p:spPr>
          <a:xfrm>
            <a:off x="6341968" y="5593333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0B0AEE6E-EB04-40EE-B72A-1A97B6B2833F}"/>
              </a:ext>
            </a:extLst>
          </p:cNvPr>
          <p:cNvSpPr txBox="1"/>
          <p:nvPr/>
        </p:nvSpPr>
        <p:spPr>
          <a:xfrm>
            <a:off x="746901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C0561B5C-3052-4D2F-A2C8-767B876BDBED}"/>
              </a:ext>
            </a:extLst>
          </p:cNvPr>
          <p:cNvSpPr txBox="1"/>
          <p:nvPr/>
        </p:nvSpPr>
        <p:spPr>
          <a:xfrm>
            <a:off x="819300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C96818F3-7C8B-430E-8889-BB35C636F498}"/>
              </a:ext>
            </a:extLst>
          </p:cNvPr>
          <p:cNvSpPr txBox="1"/>
          <p:nvPr/>
        </p:nvSpPr>
        <p:spPr>
          <a:xfrm>
            <a:off x="6606991" y="5741633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585E574A-5B40-4E7F-815B-A5D1225A31AF}"/>
              </a:ext>
            </a:extLst>
          </p:cNvPr>
          <p:cNvSpPr txBox="1"/>
          <p:nvPr/>
        </p:nvSpPr>
        <p:spPr>
          <a:xfrm>
            <a:off x="6606991" y="5858218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14A4911-C701-4ED5-B5F3-046193BFD265}"/>
              </a:ext>
            </a:extLst>
          </p:cNvPr>
          <p:cNvSpPr txBox="1"/>
          <p:nvPr/>
        </p:nvSpPr>
        <p:spPr>
          <a:xfrm>
            <a:off x="7384228" y="5741633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917D4B34-8260-44C0-90C1-3E91A92B7AAE}"/>
              </a:ext>
            </a:extLst>
          </p:cNvPr>
          <p:cNvSpPr txBox="1"/>
          <p:nvPr/>
        </p:nvSpPr>
        <p:spPr>
          <a:xfrm>
            <a:off x="7384228" y="5858218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54767435-2E2A-4E68-A019-62ACBFE6C49A}"/>
              </a:ext>
            </a:extLst>
          </p:cNvPr>
          <p:cNvSpPr txBox="1"/>
          <p:nvPr/>
        </p:nvSpPr>
        <p:spPr>
          <a:xfrm>
            <a:off x="8172400" y="579559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FC98B89D-3D31-417E-B539-6999B4866234}"/>
              </a:ext>
            </a:extLst>
          </p:cNvPr>
          <p:cNvGrpSpPr/>
          <p:nvPr/>
        </p:nvGrpSpPr>
        <p:grpSpPr>
          <a:xfrm>
            <a:off x="887344" y="3062692"/>
            <a:ext cx="2268647" cy="215868"/>
            <a:chOff x="925340" y="3062692"/>
            <a:chExt cx="2268647" cy="215868"/>
          </a:xfrm>
        </p:grpSpPr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D26231B0-BAE2-458B-A4F0-506040CF8CAE}"/>
                </a:ext>
              </a:extLst>
            </p:cNvPr>
            <p:cNvGrpSpPr/>
            <p:nvPr/>
          </p:nvGrpSpPr>
          <p:grpSpPr>
            <a:xfrm>
              <a:off x="925340" y="3100721"/>
              <a:ext cx="1683019" cy="157480"/>
              <a:chOff x="4730291" y="2929429"/>
              <a:chExt cx="1683019" cy="157480"/>
            </a:xfrm>
          </p:grpSpPr>
          <p:cxnSp>
            <p:nvCxnSpPr>
              <p:cNvPr id="468" name="직선 연결선 467">
                <a:extLst>
                  <a:ext uri="{FF2B5EF4-FFF2-40B4-BE49-F238E27FC236}">
                    <a16:creationId xmlns:a16="http://schemas.microsoft.com/office/drawing/2014/main" id="{89025735-5357-449E-A85A-C65945E37ED4}"/>
                  </a:ext>
                </a:extLst>
              </p:cNvPr>
              <p:cNvCxnSpPr/>
              <p:nvPr/>
            </p:nvCxnSpPr>
            <p:spPr>
              <a:xfrm>
                <a:off x="4730291" y="3015425"/>
                <a:ext cx="149996" cy="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37AAC12C-45C9-4417-91BA-56756379D3DA}"/>
                  </a:ext>
                </a:extLst>
              </p:cNvPr>
              <p:cNvSpPr/>
              <p:nvPr/>
            </p:nvSpPr>
            <p:spPr>
              <a:xfrm>
                <a:off x="4808469" y="2931990"/>
                <a:ext cx="550418" cy="1549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실제 사용량</a:t>
                </a:r>
              </a:p>
            </p:txBody>
          </p:sp>
          <p:cxnSp>
            <p:nvCxnSpPr>
              <p:cNvPr id="470" name="직선 연결선 469">
                <a:extLst>
                  <a:ext uri="{FF2B5EF4-FFF2-40B4-BE49-F238E27FC236}">
                    <a16:creationId xmlns:a16="http://schemas.microsoft.com/office/drawing/2014/main" id="{97D74BDF-79DC-4EE8-AB78-A95CA6290C4E}"/>
                  </a:ext>
                </a:extLst>
              </p:cNvPr>
              <p:cNvCxnSpPr/>
              <p:nvPr/>
            </p:nvCxnSpPr>
            <p:spPr>
              <a:xfrm>
                <a:off x="5280128" y="3009449"/>
                <a:ext cx="149996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EA0CE04A-2D22-40FE-A232-5CD5C1C12DB2}"/>
                  </a:ext>
                </a:extLst>
              </p:cNvPr>
              <p:cNvSpPr/>
              <p:nvPr/>
            </p:nvSpPr>
            <p:spPr>
              <a:xfrm>
                <a:off x="5358305" y="2929429"/>
                <a:ext cx="548985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  <p:cxnSp>
            <p:nvCxnSpPr>
              <p:cNvPr id="472" name="직선 연결선 471">
                <a:extLst>
                  <a:ext uri="{FF2B5EF4-FFF2-40B4-BE49-F238E27FC236}">
                    <a16:creationId xmlns:a16="http://schemas.microsoft.com/office/drawing/2014/main" id="{B76E29A2-2C1A-4FD5-8836-2A5F2EF892AF}"/>
                  </a:ext>
                </a:extLst>
              </p:cNvPr>
              <p:cNvCxnSpPr/>
              <p:nvPr/>
            </p:nvCxnSpPr>
            <p:spPr>
              <a:xfrm>
                <a:off x="5832767" y="3009449"/>
                <a:ext cx="149996" cy="0"/>
              </a:xfrm>
              <a:prstGeom prst="lin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2124B11D-8860-43F7-9286-B7C49ABDC792}"/>
                  </a:ext>
                </a:extLst>
              </p:cNvPr>
              <p:cNvSpPr/>
              <p:nvPr/>
            </p:nvSpPr>
            <p:spPr>
              <a:xfrm>
                <a:off x="5927483" y="2929429"/>
                <a:ext cx="485827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</p:grpSp>
        <p:grpSp>
          <p:nvGrpSpPr>
            <p:cNvPr id="465" name="그룹 464">
              <a:extLst>
                <a:ext uri="{FF2B5EF4-FFF2-40B4-BE49-F238E27FC236}">
                  <a16:creationId xmlns:a16="http://schemas.microsoft.com/office/drawing/2014/main" id="{2AF0140A-488B-4AF6-8C66-03A88BEBB2B8}"/>
                </a:ext>
              </a:extLst>
            </p:cNvPr>
            <p:cNvGrpSpPr/>
            <p:nvPr/>
          </p:nvGrpSpPr>
          <p:grpSpPr>
            <a:xfrm>
              <a:off x="2556521" y="3062692"/>
              <a:ext cx="637466" cy="215868"/>
              <a:chOff x="7398492" y="2212271"/>
              <a:chExt cx="637466" cy="215868"/>
            </a:xfrm>
          </p:grpSpPr>
          <p:cxnSp>
            <p:nvCxnSpPr>
              <p:cNvPr id="466" name="직선 연결선 465">
                <a:extLst>
                  <a:ext uri="{FF2B5EF4-FFF2-40B4-BE49-F238E27FC236}">
                    <a16:creationId xmlns:a16="http://schemas.microsoft.com/office/drawing/2014/main" id="{DB669741-2DF2-4E84-948D-05435BF71297}"/>
                  </a:ext>
                </a:extLst>
              </p:cNvPr>
              <p:cNvCxnSpPr/>
              <p:nvPr/>
            </p:nvCxnSpPr>
            <p:spPr>
              <a:xfrm>
                <a:off x="7398492" y="2327092"/>
                <a:ext cx="151200" cy="0"/>
              </a:xfrm>
              <a:prstGeom prst="line">
                <a:avLst/>
              </a:prstGeom>
              <a:ln w="9525">
                <a:solidFill>
                  <a:schemeClr val="accent3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FFDB272A-E8B3-4793-8C1C-C09DB667BC42}"/>
                  </a:ext>
                </a:extLst>
              </p:cNvPr>
              <p:cNvSpPr/>
              <p:nvPr/>
            </p:nvSpPr>
            <p:spPr>
              <a:xfrm>
                <a:off x="7472623" y="2212271"/>
                <a:ext cx="563335" cy="21586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예측 사용량</a:t>
                </a:r>
              </a:p>
            </p:txBody>
          </p:sp>
        </p:grp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C1E9281-7282-4A36-827D-BDFEA3B9594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BC5AE00E-28BB-44BD-9A79-7331BE2DEB3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17009BFA-ADDF-411F-9CB3-B3884F9B5F7C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F4D27E2-C02D-4EEF-86A1-EA28CB54799D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FFA32402-08D0-44EC-8C7C-0F07887F8D4A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FA73E06D-F6FA-4814-8DC6-8663D76D017F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B861DF6-06A9-4637-A0E4-420170C33F37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207623C3-C6F6-45FF-8A23-322D9DD1B7AB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DB313785-5DCE-4547-9B95-6429396F266D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6B8E71EA-22D8-4CE3-A891-71BBBA9D52E8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928E12-8C07-47E6-86AC-FE59E9BB5932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B83FC75-7A34-4AE7-9F82-FCD3EFE68E04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99555CD2-143B-411A-AA4F-A228A0D7EB6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E0AFAF9-51BA-49D2-8CB4-F264884C0B30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007F0A3-7B83-4209-A661-11D088A1CAF5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490" name="그룹 489">
            <a:extLst>
              <a:ext uri="{FF2B5EF4-FFF2-40B4-BE49-F238E27FC236}">
                <a16:creationId xmlns:a16="http://schemas.microsoft.com/office/drawing/2014/main" id="{4848CF0F-9EEA-4460-8E2B-4110143DF008}"/>
              </a:ext>
            </a:extLst>
          </p:cNvPr>
          <p:cNvGrpSpPr/>
          <p:nvPr/>
        </p:nvGrpSpPr>
        <p:grpSpPr>
          <a:xfrm>
            <a:off x="828434" y="3793987"/>
            <a:ext cx="2230525" cy="380169"/>
            <a:chOff x="1530621" y="2825422"/>
            <a:chExt cx="7060643" cy="1737220"/>
          </a:xfrm>
        </p:grpSpPr>
        <p:sp>
          <p:nvSpPr>
            <p:cNvPr id="491" name="자유형 83">
              <a:extLst>
                <a:ext uri="{FF2B5EF4-FFF2-40B4-BE49-F238E27FC236}">
                  <a16:creationId xmlns:a16="http://schemas.microsoft.com/office/drawing/2014/main" id="{3B4FEE86-A148-4676-8CE2-5CE6A6B56172}"/>
                </a:ext>
              </a:extLst>
            </p:cNvPr>
            <p:cNvSpPr/>
            <p:nvPr/>
          </p:nvSpPr>
          <p:spPr>
            <a:xfrm>
              <a:off x="1530621" y="2831921"/>
              <a:ext cx="3422156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2" name="자유형 33">
              <a:extLst>
                <a:ext uri="{FF2B5EF4-FFF2-40B4-BE49-F238E27FC236}">
                  <a16:creationId xmlns:a16="http://schemas.microsoft.com/office/drawing/2014/main" id="{70DA349D-21C5-43BF-8D45-289BFEF65FA4}"/>
                </a:ext>
              </a:extLst>
            </p:cNvPr>
            <p:cNvSpPr/>
            <p:nvPr/>
          </p:nvSpPr>
          <p:spPr>
            <a:xfrm flipH="1">
              <a:off x="4907819" y="2825422"/>
              <a:ext cx="3683445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800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4" y="136344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120"/>
              </p:ext>
            </p:extLst>
          </p:nvPr>
        </p:nvGraphicFramePr>
        <p:xfrm>
          <a:off x="560288" y="2567939"/>
          <a:ext cx="8208912" cy="23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280368" y="292494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280368" y="386104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104904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6680968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81015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4198788" y="2567940"/>
            <a:ext cx="0" cy="21572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521301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07163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/>
                <a:t>일 </a:t>
              </a:r>
              <a:r>
                <a:rPr lang="en-US" altLang="ko-KR"/>
                <a:t>(</a:t>
              </a:r>
              <a:r>
                <a:rPr lang="ko-KR" altLang="en-US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주 </a:t>
              </a:r>
              <a:r>
                <a:rPr lang="en-US" altLang="ko-KR" dirty="0"/>
                <a:t>(</a:t>
              </a:r>
              <a:r>
                <a:rPr lang="ko-KR" altLang="en-US" dirty="0"/>
                <a:t>이번주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월 </a:t>
              </a:r>
              <a:r>
                <a:rPr lang="en-US" altLang="ko-KR" dirty="0"/>
                <a:t>(</a:t>
              </a:r>
              <a:r>
                <a:rPr lang="ko-KR" altLang="en-US" dirty="0" err="1"/>
                <a:t>이번달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68363D-F5D0-4E33-B3FA-71BA44925953}"/>
              </a:ext>
            </a:extLst>
          </p:cNvPr>
          <p:cNvGrpSpPr/>
          <p:nvPr/>
        </p:nvGrpSpPr>
        <p:grpSpPr>
          <a:xfrm>
            <a:off x="1506678" y="2825422"/>
            <a:ext cx="7084586" cy="1755929"/>
            <a:chOff x="1413934" y="2825423"/>
            <a:chExt cx="7084586" cy="1548992"/>
          </a:xfrm>
        </p:grpSpPr>
        <p:sp>
          <p:nvSpPr>
            <p:cNvPr id="11" name="자유형 10"/>
            <p:cNvSpPr/>
            <p:nvPr/>
          </p:nvSpPr>
          <p:spPr>
            <a:xfrm>
              <a:off x="1413934" y="3166369"/>
              <a:ext cx="2687266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자유형 33">
              <a:extLst>
                <a:ext uri="{FF2B5EF4-FFF2-40B4-BE49-F238E27FC236}">
                  <a16:creationId xmlns:a16="http://schemas.microsoft.com/office/drawing/2014/main" id="{F8774554-6CAF-4183-82C4-54C7E1DE8CEB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401048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977112" y="2276303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0A562D-00E6-4E12-9C05-2773B3A1E29A}"/>
              </a:ext>
            </a:extLst>
          </p:cNvPr>
          <p:cNvGrpSpPr/>
          <p:nvPr/>
        </p:nvGrpSpPr>
        <p:grpSpPr>
          <a:xfrm>
            <a:off x="5945552" y="5177653"/>
            <a:ext cx="2988332" cy="549089"/>
            <a:chOff x="4752020" y="5186415"/>
            <a:chExt cx="2988332" cy="549089"/>
          </a:xfrm>
        </p:grpSpPr>
        <p:sp>
          <p:nvSpPr>
            <p:cNvPr id="56" name="직사각형 55"/>
            <p:cNvSpPr/>
            <p:nvPr/>
          </p:nvSpPr>
          <p:spPr>
            <a:xfrm>
              <a:off x="6176879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648434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7380312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752020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225946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5964968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39CC248-C684-400C-A7BF-6D26600C0D64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7D89AD-4176-430A-B850-EA62750140D1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표시 범위 선택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EB5E91-CCDE-4570-9EB0-D55F6FE19FA9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 선택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75493FBC-C064-4680-ABBB-FE3E2438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725398"/>
              </p:ext>
            </p:extLst>
          </p:nvPr>
        </p:nvGraphicFramePr>
        <p:xfrm>
          <a:off x="558032" y="4941168"/>
          <a:ext cx="820800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오늘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DBC9A0-2D3C-44CC-A407-750ACAAB5F6F}"/>
              </a:ext>
            </a:extLst>
          </p:cNvPr>
          <p:cNvGrpSpPr/>
          <p:nvPr/>
        </p:nvGrpSpPr>
        <p:grpSpPr>
          <a:xfrm>
            <a:off x="1309112" y="5497546"/>
            <a:ext cx="859338" cy="222065"/>
            <a:chOff x="1309112" y="5497546"/>
            <a:chExt cx="859338" cy="2220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DFADD4-06F4-4ACF-929D-C4FB59A5AE3E}"/>
                </a:ext>
              </a:extLst>
            </p:cNvPr>
            <p:cNvSpPr txBox="1"/>
            <p:nvPr/>
          </p:nvSpPr>
          <p:spPr>
            <a:xfrm>
              <a:off x="1393511" y="5534945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그래프 변경하기</a:t>
              </a:r>
            </a:p>
          </p:txBody>
        </p:sp>
        <p:pic>
          <p:nvPicPr>
            <p:cNvPr id="1026" name="Picture 2" descr="ê·¸ëíì ëí ì´ë¯¸ì§ ê²ìê²°ê³¼">
              <a:extLst>
                <a:ext uri="{FF2B5EF4-FFF2-40B4-BE49-F238E27FC236}">
                  <a16:creationId xmlns:a16="http://schemas.microsoft.com/office/drawing/2014/main" id="{7BB24988-2516-4372-8A22-728F0D1D1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112" y="5497546"/>
              <a:ext cx="214956" cy="214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E85FD1-4450-4C08-B79E-35DED4B8473C}"/>
              </a:ext>
            </a:extLst>
          </p:cNvPr>
          <p:cNvGrpSpPr/>
          <p:nvPr/>
        </p:nvGrpSpPr>
        <p:grpSpPr>
          <a:xfrm>
            <a:off x="2411760" y="2102413"/>
            <a:ext cx="1044000" cy="1429663"/>
            <a:chOff x="2928135" y="6247809"/>
            <a:chExt cx="1044000" cy="1429663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2DB2F6E-6256-4575-AF07-B08509889AE8}"/>
                </a:ext>
              </a:extLst>
            </p:cNvPr>
            <p:cNvSpPr/>
            <p:nvPr/>
          </p:nvSpPr>
          <p:spPr>
            <a:xfrm>
              <a:off x="3014459" y="6247809"/>
              <a:ext cx="871352" cy="142966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81CBB5E-04E7-47E5-9ED5-DCB2E0B389C9}"/>
                </a:ext>
              </a:extLst>
            </p:cNvPr>
            <p:cNvSpPr txBox="1"/>
            <p:nvPr/>
          </p:nvSpPr>
          <p:spPr>
            <a:xfrm>
              <a:off x="2928135" y="6653829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15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86B33D9F-A80F-4AA1-BA86-DD6101F88CC6}"/>
                </a:ext>
              </a:extLst>
            </p:cNvPr>
            <p:cNvCxnSpPr/>
            <p:nvPr/>
          </p:nvCxnSpPr>
          <p:spPr>
            <a:xfrm>
              <a:off x="3126135" y="686778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482E6B0-D687-49D7-87E3-33B9463D1F34}"/>
                </a:ext>
              </a:extLst>
            </p:cNvPr>
            <p:cNvCxnSpPr/>
            <p:nvPr/>
          </p:nvCxnSpPr>
          <p:spPr>
            <a:xfrm>
              <a:off x="3126135" y="7064671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C3A104F-7E3B-40BA-BBB2-67B100748251}"/>
                </a:ext>
              </a:extLst>
            </p:cNvPr>
            <p:cNvCxnSpPr/>
            <p:nvPr/>
          </p:nvCxnSpPr>
          <p:spPr>
            <a:xfrm>
              <a:off x="3126135" y="726156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C0D1EE-E96F-411C-8E69-A35747E93792}"/>
                </a:ext>
              </a:extLst>
            </p:cNvPr>
            <p:cNvSpPr txBox="1"/>
            <p:nvPr/>
          </p:nvSpPr>
          <p:spPr>
            <a:xfrm>
              <a:off x="2928135" y="686322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시간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FED7B8-16CF-4704-AE46-BCB1A72D1A80}"/>
                </a:ext>
              </a:extLst>
            </p:cNvPr>
            <p:cNvSpPr txBox="1"/>
            <p:nvPr/>
          </p:nvSpPr>
          <p:spPr>
            <a:xfrm>
              <a:off x="2928135" y="705951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C77D6D7-0995-4F9C-AC94-1B619EEBDB74}"/>
                </a:ext>
              </a:extLst>
            </p:cNvPr>
            <p:cNvSpPr txBox="1"/>
            <p:nvPr/>
          </p:nvSpPr>
          <p:spPr>
            <a:xfrm>
              <a:off x="2928135" y="725615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주</a:t>
              </a: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6276141-D468-4E99-AC35-12DE684831C0}"/>
                </a:ext>
              </a:extLst>
            </p:cNvPr>
            <p:cNvCxnSpPr/>
            <p:nvPr/>
          </p:nvCxnSpPr>
          <p:spPr>
            <a:xfrm>
              <a:off x="3126135" y="746743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5C9829-159D-4B12-84A2-ADE22AFFC848}"/>
                </a:ext>
              </a:extLst>
            </p:cNvPr>
            <p:cNvSpPr txBox="1"/>
            <p:nvPr/>
          </p:nvSpPr>
          <p:spPr>
            <a:xfrm>
              <a:off x="2928135" y="746202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월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5B1424D-CD61-48C7-AE67-8A1767D6C429}"/>
                </a:ext>
              </a:extLst>
            </p:cNvPr>
            <p:cNvSpPr txBox="1"/>
            <p:nvPr/>
          </p:nvSpPr>
          <p:spPr>
            <a:xfrm>
              <a:off x="2928135" y="647387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5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9DA8BDCB-1019-48CB-A13A-9DD873F4389C}"/>
                </a:ext>
              </a:extLst>
            </p:cNvPr>
            <p:cNvCxnSpPr/>
            <p:nvPr/>
          </p:nvCxnSpPr>
          <p:spPr>
            <a:xfrm>
              <a:off x="3126135" y="666936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FC6D230-0C5A-4902-93EE-179C9D4ADCF2}"/>
                </a:ext>
              </a:extLst>
            </p:cNvPr>
            <p:cNvSpPr txBox="1"/>
            <p:nvPr/>
          </p:nvSpPr>
          <p:spPr>
            <a:xfrm>
              <a:off x="2928135" y="626799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00B4567-7E69-4CDC-BB6F-FE61D00D672F}"/>
                </a:ext>
              </a:extLst>
            </p:cNvPr>
            <p:cNvCxnSpPr/>
            <p:nvPr/>
          </p:nvCxnSpPr>
          <p:spPr>
            <a:xfrm>
              <a:off x="3126135" y="646348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632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39" y="1285300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949280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84345"/>
              </p:ext>
            </p:extLst>
          </p:nvPr>
        </p:nvGraphicFramePr>
        <p:xfrm>
          <a:off x="467543" y="2641523"/>
          <a:ext cx="7416928" cy="186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>
            <a:cxnSpLocks/>
          </p:cNvCxnSpPr>
          <p:nvPr/>
        </p:nvCxnSpPr>
        <p:spPr>
          <a:xfrm>
            <a:off x="1187624" y="2924944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cxnSpLocks/>
          </p:cNvCxnSpPr>
          <p:nvPr/>
        </p:nvCxnSpPr>
        <p:spPr>
          <a:xfrm>
            <a:off x="1187624" y="348423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06095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356992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3933221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>
            <a:cxnSpLocks/>
          </p:cNvCxnSpPr>
          <p:nvPr/>
        </p:nvCxnSpPr>
        <p:spPr>
          <a:xfrm>
            <a:off x="5325869" y="2641523"/>
            <a:ext cx="0" cy="18222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30308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1D73EA-2C2D-4701-9A43-CE5F887D7002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1A41F9D-1F9A-4780-B450-E9E2AE8E9681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60C7B2-7951-48D0-9A19-972293980D07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39D09C9-CD92-43CE-ADA4-C85A494E8991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B2A034C-8D9A-4C1D-8970-6DBC18290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19539"/>
              </p:ext>
            </p:extLst>
          </p:nvPr>
        </p:nvGraphicFramePr>
        <p:xfrm>
          <a:off x="467542" y="4532651"/>
          <a:ext cx="7416915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현재 부하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부하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330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390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DCC0C61-5201-4828-B665-793D1BFA7959}"/>
              </a:ext>
            </a:extLst>
          </p:cNvPr>
          <p:cNvCxnSpPr>
            <a:cxnSpLocks/>
          </p:cNvCxnSpPr>
          <p:nvPr/>
        </p:nvCxnSpPr>
        <p:spPr>
          <a:xfrm flipV="1">
            <a:off x="1456267" y="3686305"/>
            <a:ext cx="6428190" cy="5347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28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39" y="1285300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949280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3" y="2641523"/>
          <a:ext cx="7416928" cy="186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>
            <a:cxnSpLocks/>
          </p:cNvCxnSpPr>
          <p:nvPr/>
        </p:nvCxnSpPr>
        <p:spPr>
          <a:xfrm>
            <a:off x="1187624" y="2924944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cxnSpLocks/>
          </p:cNvCxnSpPr>
          <p:nvPr/>
        </p:nvCxnSpPr>
        <p:spPr>
          <a:xfrm>
            <a:off x="1187624" y="348423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06095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356992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3933221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>
            <a:cxnSpLocks/>
          </p:cNvCxnSpPr>
          <p:nvPr/>
        </p:nvCxnSpPr>
        <p:spPr>
          <a:xfrm>
            <a:off x="5325869" y="2641523"/>
            <a:ext cx="0" cy="18222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30308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1D73EA-2C2D-4701-9A43-CE5F887D7002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1A41F9D-1F9A-4780-B450-E9E2AE8E9681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60C7B2-7951-48D0-9A19-972293980D07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39D09C9-CD92-43CE-ADA4-C85A494E8991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B2A034C-8D9A-4C1D-8970-6DBC18290D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7542" y="4532651"/>
          <a:ext cx="7416915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441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현재 부하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부하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330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390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DCC0C61-5201-4828-B665-793D1BFA7959}"/>
              </a:ext>
            </a:extLst>
          </p:cNvPr>
          <p:cNvCxnSpPr>
            <a:cxnSpLocks/>
          </p:cNvCxnSpPr>
          <p:nvPr/>
        </p:nvCxnSpPr>
        <p:spPr>
          <a:xfrm flipV="1">
            <a:off x="1456267" y="3686305"/>
            <a:ext cx="6428190" cy="5347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69AFAC2-6177-4143-8B26-53BD81D4C360}"/>
              </a:ext>
            </a:extLst>
          </p:cNvPr>
          <p:cNvSpPr txBox="1"/>
          <p:nvPr/>
        </p:nvSpPr>
        <p:spPr>
          <a:xfrm>
            <a:off x="2699792" y="2924944"/>
            <a:ext cx="2651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</a:rPr>
              <a:t>지금은 </a:t>
            </a:r>
            <a:r>
              <a:rPr lang="ko-KR" altLang="en-US" sz="1200" b="1" dirty="0">
                <a:solidFill>
                  <a:srgbClr val="FF0000"/>
                </a:solidFill>
              </a:rPr>
              <a:t>요금적용전력</a:t>
            </a:r>
            <a:r>
              <a:rPr lang="ko-KR" altLang="en-US" sz="1100" b="1" dirty="0">
                <a:solidFill>
                  <a:schemeClr val="bg1"/>
                </a:solidFill>
              </a:rPr>
              <a:t> 갱신구간 입니다</a:t>
            </a:r>
            <a:r>
              <a:rPr lang="en-US" altLang="ko-KR" sz="1100" b="1" dirty="0">
                <a:solidFill>
                  <a:schemeClr val="bg1"/>
                </a:solidFill>
              </a:rPr>
              <a:t>.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56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66" y="1354627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ESS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54038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매 시간 단위로 실제 충전 및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방전량에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조회기간 동안의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충전량과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충방전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충방전량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5391" y="1860726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발전량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778852"/>
              </p:ext>
            </p:extLst>
          </p:nvPr>
        </p:nvGraphicFramePr>
        <p:xfrm>
          <a:off x="467544" y="2577566"/>
          <a:ext cx="8207985" cy="2028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0776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3995936" y="540019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충전량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96053" y="5328183"/>
            <a:ext cx="1180103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1,500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48164" y="540019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6469" y="215767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7740352" y="2605336"/>
            <a:ext cx="0" cy="17795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923928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4499992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507605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직사각형 62"/>
          <p:cNvSpPr/>
          <p:nvPr/>
        </p:nvSpPr>
        <p:spPr>
          <a:xfrm>
            <a:off x="565212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6437566" y="5381717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91512" y="5309708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244408" y="5381717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0495306-191F-480E-8765-ED0683634DBC}"/>
              </a:ext>
            </a:extLst>
          </p:cNvPr>
          <p:cNvGrpSpPr/>
          <p:nvPr/>
        </p:nvGrpSpPr>
        <p:grpSpPr>
          <a:xfrm>
            <a:off x="485190" y="5597789"/>
            <a:ext cx="862386" cy="211955"/>
            <a:chOff x="4861742" y="3907374"/>
            <a:chExt cx="862386" cy="211955"/>
          </a:xfrm>
        </p:grpSpPr>
        <p:pic>
          <p:nvPicPr>
            <p:cNvPr id="7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B0914773-4DED-4C2F-BA20-14DB74B0A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AB4F4-A23E-4144-A78F-11E9CD9C88E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C4075A-BE40-4398-A5FE-0A3C0CBD8AD2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29A1956-AE71-4BB0-A381-16E5570AA5C4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08DC5F7-0737-4488-9070-6D81DD6A19D7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7A78496-FAC4-4EF3-9419-AC1777C2ABD3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F03BF6-C889-4146-8E74-EC8F52B2C7EF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369C3C-553F-4D3C-965E-4F98B38580FE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79F430B-E5C3-4D12-AC96-959F23F509D6}"/>
              </a:ext>
            </a:extLst>
          </p:cNvPr>
          <p:cNvCxnSpPr/>
          <p:nvPr/>
        </p:nvCxnSpPr>
        <p:spPr>
          <a:xfrm>
            <a:off x="7450394" y="239269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D81F6F3-4F0D-4E83-B79E-2CD34099FEB6}"/>
              </a:ext>
            </a:extLst>
          </p:cNvPr>
          <p:cNvSpPr/>
          <p:nvPr/>
        </p:nvSpPr>
        <p:spPr>
          <a:xfrm>
            <a:off x="8026458" y="227046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1187624" y="285293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187624" y="358979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F604382-27A2-41C5-B180-4EA274D6B155}"/>
              </a:ext>
            </a:extLst>
          </p:cNvPr>
          <p:cNvCxnSpPr/>
          <p:nvPr/>
        </p:nvCxnSpPr>
        <p:spPr>
          <a:xfrm>
            <a:off x="1180851" y="3958223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7227A7-9C8E-492B-912D-1EE03F12F639}"/>
              </a:ext>
            </a:extLst>
          </p:cNvPr>
          <p:cNvCxnSpPr/>
          <p:nvPr/>
        </p:nvCxnSpPr>
        <p:spPr>
          <a:xfrm>
            <a:off x="1180851" y="322136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67EE48B-155E-4306-B792-D328580E18B1}"/>
              </a:ext>
            </a:extLst>
          </p:cNvPr>
          <p:cNvCxnSpPr/>
          <p:nvPr/>
        </p:nvCxnSpPr>
        <p:spPr>
          <a:xfrm>
            <a:off x="1180851" y="433154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4D3F0D-6FAD-4255-A3C5-ECEAEA6255D7}"/>
              </a:ext>
            </a:extLst>
          </p:cNvPr>
          <p:cNvCxnSpPr/>
          <p:nvPr/>
        </p:nvCxnSpPr>
        <p:spPr>
          <a:xfrm>
            <a:off x="6156176" y="239646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83AB37-9B3E-4FE3-A4AB-35631B3CB450}"/>
              </a:ext>
            </a:extLst>
          </p:cNvPr>
          <p:cNvSpPr/>
          <p:nvPr/>
        </p:nvSpPr>
        <p:spPr>
          <a:xfrm>
            <a:off x="6732240" y="227423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pic>
        <p:nvPicPr>
          <p:cNvPr id="9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D34ED3E-4770-4F4F-8757-68574888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CBA2141-8685-4E80-9650-988531C0BFC9}"/>
              </a:ext>
            </a:extLst>
          </p:cNvPr>
          <p:cNvSpPr/>
          <p:nvPr/>
        </p:nvSpPr>
        <p:spPr>
          <a:xfrm>
            <a:off x="1479660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38C82BE5-CC21-4491-8F7E-5945F0E828A6}"/>
              </a:ext>
            </a:extLst>
          </p:cNvPr>
          <p:cNvSpPr/>
          <p:nvPr/>
        </p:nvSpPr>
        <p:spPr>
          <a:xfrm>
            <a:off x="2538136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D454B38-5E44-4071-9F94-853894E97080}"/>
              </a:ext>
            </a:extLst>
          </p:cNvPr>
          <p:cNvSpPr/>
          <p:nvPr/>
        </p:nvSpPr>
        <p:spPr>
          <a:xfrm>
            <a:off x="1475656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395CEF4-C252-4368-A603-661B62A121D4}"/>
              </a:ext>
            </a:extLst>
          </p:cNvPr>
          <p:cNvSpPr/>
          <p:nvPr/>
        </p:nvSpPr>
        <p:spPr>
          <a:xfrm>
            <a:off x="2500863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A9F0A3-3651-48BE-8064-4BFEC3730FF6}"/>
              </a:ext>
            </a:extLst>
          </p:cNvPr>
          <p:cNvGrpSpPr/>
          <p:nvPr/>
        </p:nvGrpSpPr>
        <p:grpSpPr>
          <a:xfrm>
            <a:off x="1371161" y="2964707"/>
            <a:ext cx="7158299" cy="1167454"/>
            <a:chOff x="1397086" y="3132792"/>
            <a:chExt cx="7158299" cy="1488911"/>
          </a:xfrm>
        </p:grpSpPr>
        <p:grpSp>
          <p:nvGrpSpPr>
            <p:cNvPr id="40" name="그룹 39"/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41" name="직사각형 40"/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8" name="직사각형 57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84" name="자유형 33">
              <a:extLst>
                <a:ext uri="{FF2B5EF4-FFF2-40B4-BE49-F238E27FC236}">
                  <a16:creationId xmlns:a16="http://schemas.microsoft.com/office/drawing/2014/main" id="{B304737F-2A23-49A1-8C19-687DA2A9778C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자유형 83">
              <a:extLst>
                <a:ext uri="{FF2B5EF4-FFF2-40B4-BE49-F238E27FC236}">
                  <a16:creationId xmlns:a16="http://schemas.microsoft.com/office/drawing/2014/main" id="{705F4A6F-AA69-4984-8409-0C9BE17B9DE0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자유형 83">
              <a:extLst>
                <a:ext uri="{FF2B5EF4-FFF2-40B4-BE49-F238E27FC236}">
                  <a16:creationId xmlns:a16="http://schemas.microsoft.com/office/drawing/2014/main" id="{C2EE0CB2-4B9E-4C2E-B78D-F02946697554}"/>
                </a:ext>
              </a:extLst>
            </p:cNvPr>
            <p:cNvSpPr/>
            <p:nvPr/>
          </p:nvSpPr>
          <p:spPr>
            <a:xfrm>
              <a:off x="7308296" y="3132792"/>
              <a:ext cx="1247089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81E9C4E-C1BD-4025-AF69-B08FB5925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351696"/>
              </p:ext>
            </p:extLst>
          </p:nvPr>
        </p:nvGraphicFramePr>
        <p:xfrm>
          <a:off x="469696" y="4623904"/>
          <a:ext cx="8204609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충전량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709115B2-F320-4F32-B6AB-D49BE849A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243676"/>
              </p:ext>
            </p:extLst>
          </p:nvPr>
        </p:nvGraphicFramePr>
        <p:xfrm>
          <a:off x="469694" y="4977219"/>
          <a:ext cx="820461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1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408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8908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방전량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84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449650"/>
            <a:ext cx="8635704" cy="46403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19286"/>
            <a:ext cx="8646588" cy="57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60726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91097"/>
              </p:ext>
            </p:extLst>
          </p:nvPr>
        </p:nvGraphicFramePr>
        <p:xfrm>
          <a:off x="467544" y="2686559"/>
          <a:ext cx="8136892" cy="198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94070">
                  <a:extLst>
                    <a:ext uri="{9D8B030D-6E8A-4147-A177-3AD203B41FA5}">
                      <a16:colId xmlns:a16="http://schemas.microsoft.com/office/drawing/2014/main" val="4182005389"/>
                    </a:ext>
                  </a:extLst>
                </a:gridCol>
              </a:tblGrid>
              <a:tr h="198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1" name="직선 연결선 80"/>
          <p:cNvCxnSpPr>
            <a:cxnSpLocks/>
          </p:cNvCxnSpPr>
          <p:nvPr/>
        </p:nvCxnSpPr>
        <p:spPr>
          <a:xfrm>
            <a:off x="1187624" y="2988563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cxnSpLocks/>
          </p:cNvCxnSpPr>
          <p:nvPr/>
        </p:nvCxnSpPr>
        <p:spPr>
          <a:xfrm>
            <a:off x="1187624" y="3581405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53423" y="2235316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발전량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5" name="직선 연결선 34"/>
          <p:cNvCxnSpPr>
            <a:cxnSpLocks/>
          </p:cNvCxnSpPr>
          <p:nvPr/>
        </p:nvCxnSpPr>
        <p:spPr>
          <a:xfrm>
            <a:off x="6012160" y="2686556"/>
            <a:ext cx="0" cy="18225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4644008" y="2517716"/>
            <a:ext cx="504056" cy="0"/>
          </a:xfrm>
          <a:prstGeom prst="lin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/>
          <p:cNvSpPr/>
          <p:nvPr/>
        </p:nvSpPr>
        <p:spPr>
          <a:xfrm>
            <a:off x="5292080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437566" y="527609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누적 발전량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091512" y="5204082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244408" y="527609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FFFF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>
            <a:off x="6228184" y="25177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6804248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E819B4-336C-4B30-952E-BD57ED058A12}"/>
              </a:ext>
            </a:extLst>
          </p:cNvPr>
          <p:cNvGrpSpPr/>
          <p:nvPr/>
        </p:nvGrpSpPr>
        <p:grpSpPr>
          <a:xfrm>
            <a:off x="485190" y="5492163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19D0A24-4A6A-42FB-87E1-83B879763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59EBDA-7CCA-4A6B-A55B-0AEFEE8962DD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DEBBE3D-C285-414C-A003-48231675E429}"/>
              </a:ext>
            </a:extLst>
          </p:cNvPr>
          <p:cNvCxnSpPr/>
          <p:nvPr/>
        </p:nvCxnSpPr>
        <p:spPr>
          <a:xfrm>
            <a:off x="7740352" y="2528397"/>
            <a:ext cx="50405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04713A-7192-4B45-8B93-C03C3336FC3B}"/>
              </a:ext>
            </a:extLst>
          </p:cNvPr>
          <p:cNvSpPr/>
          <p:nvPr/>
        </p:nvSpPr>
        <p:spPr>
          <a:xfrm>
            <a:off x="8316416" y="2385850"/>
            <a:ext cx="64807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온도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45F6546-FA08-4744-9C2F-78D91BA8F7DB}"/>
              </a:ext>
            </a:extLst>
          </p:cNvPr>
          <p:cNvGrpSpPr/>
          <p:nvPr/>
        </p:nvGrpSpPr>
        <p:grpSpPr>
          <a:xfrm>
            <a:off x="3237404" y="3587931"/>
            <a:ext cx="2952328" cy="777173"/>
            <a:chOff x="3851919" y="3752569"/>
            <a:chExt cx="2952329" cy="1128442"/>
          </a:xfrm>
        </p:grpSpPr>
        <p:grpSp>
          <p:nvGrpSpPr>
            <p:cNvPr id="2" name="그룹 1"/>
            <p:cNvGrpSpPr/>
            <p:nvPr/>
          </p:nvGrpSpPr>
          <p:grpSpPr>
            <a:xfrm flipH="1">
              <a:off x="4044009" y="4509121"/>
              <a:ext cx="1823679" cy="360038"/>
              <a:chOff x="2158219" y="3645757"/>
              <a:chExt cx="1863813" cy="719347"/>
            </a:xfrm>
            <a:solidFill>
              <a:srgbClr val="FFFF00"/>
            </a:solidFill>
          </p:grpSpPr>
          <p:sp>
            <p:nvSpPr>
              <p:cNvPr id="29" name="직사각형 28"/>
              <p:cNvSpPr/>
              <p:nvPr/>
            </p:nvSpPr>
            <p:spPr>
              <a:xfrm>
                <a:off x="3950032" y="4077364"/>
                <a:ext cx="72000" cy="2877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3638317" y="3915766"/>
                <a:ext cx="72000" cy="44933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3327361" y="3807101"/>
                <a:ext cx="72000" cy="5580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3022502" y="3645757"/>
                <a:ext cx="72000" cy="71934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2158219" y="3862585"/>
                <a:ext cx="72001" cy="5025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3851919" y="3915829"/>
              <a:ext cx="2952329" cy="965182"/>
              <a:chOff x="1883023" y="2121903"/>
              <a:chExt cx="5781364" cy="1532485"/>
            </a:xfrm>
          </p:grpSpPr>
          <p:sp>
            <p:nvSpPr>
              <p:cNvPr id="82" name="자유형 81"/>
              <p:cNvSpPr/>
              <p:nvPr/>
            </p:nvSpPr>
            <p:spPr>
              <a:xfrm>
                <a:off x="1883023" y="2127634"/>
                <a:ext cx="2977010" cy="1526754"/>
              </a:xfrm>
              <a:custGeom>
                <a:avLst/>
                <a:gdLst>
                  <a:gd name="connsiteX0" fmla="*/ 0 w 4368800"/>
                  <a:gd name="connsiteY0" fmla="*/ 389467 h 414867"/>
                  <a:gd name="connsiteX1" fmla="*/ 270933 w 4368800"/>
                  <a:gd name="connsiteY1" fmla="*/ 321733 h 414867"/>
                  <a:gd name="connsiteX2" fmla="*/ 575733 w 4368800"/>
                  <a:gd name="connsiteY2" fmla="*/ 414867 h 414867"/>
                  <a:gd name="connsiteX3" fmla="*/ 880533 w 4368800"/>
                  <a:gd name="connsiteY3" fmla="*/ 355600 h 414867"/>
                  <a:gd name="connsiteX4" fmla="*/ 1134533 w 4368800"/>
                  <a:gd name="connsiteY4" fmla="*/ 203200 h 414867"/>
                  <a:gd name="connsiteX5" fmla="*/ 1456266 w 4368800"/>
                  <a:gd name="connsiteY5" fmla="*/ 313267 h 414867"/>
                  <a:gd name="connsiteX6" fmla="*/ 1727200 w 4368800"/>
                  <a:gd name="connsiteY6" fmla="*/ 254000 h 414867"/>
                  <a:gd name="connsiteX7" fmla="*/ 1998133 w 4368800"/>
                  <a:gd name="connsiteY7" fmla="*/ 135467 h 414867"/>
                  <a:gd name="connsiteX8" fmla="*/ 2353733 w 4368800"/>
                  <a:gd name="connsiteY8" fmla="*/ 287867 h 414867"/>
                  <a:gd name="connsiteX9" fmla="*/ 2607733 w 4368800"/>
                  <a:gd name="connsiteY9" fmla="*/ 169333 h 414867"/>
                  <a:gd name="connsiteX10" fmla="*/ 2946400 w 4368800"/>
                  <a:gd name="connsiteY10" fmla="*/ 211667 h 414867"/>
                  <a:gd name="connsiteX11" fmla="*/ 3234266 w 4368800"/>
                  <a:gd name="connsiteY11" fmla="*/ 203200 h 414867"/>
                  <a:gd name="connsiteX12" fmla="*/ 3505200 w 4368800"/>
                  <a:gd name="connsiteY12" fmla="*/ 0 h 414867"/>
                  <a:gd name="connsiteX13" fmla="*/ 3810000 w 4368800"/>
                  <a:gd name="connsiteY13" fmla="*/ 135467 h 414867"/>
                  <a:gd name="connsiteX14" fmla="*/ 4097866 w 4368800"/>
                  <a:gd name="connsiteY14" fmla="*/ 42333 h 414867"/>
                  <a:gd name="connsiteX15" fmla="*/ 4368800 w 4368800"/>
                  <a:gd name="connsiteY15" fmla="*/ 118533 h 414867"/>
                  <a:gd name="connsiteX0" fmla="*/ 0 w 4368800"/>
                  <a:gd name="connsiteY0" fmla="*/ 524934 h 524934"/>
                  <a:gd name="connsiteX1" fmla="*/ 270933 w 4368800"/>
                  <a:gd name="connsiteY1" fmla="*/ 321733 h 524934"/>
                  <a:gd name="connsiteX2" fmla="*/ 575733 w 4368800"/>
                  <a:gd name="connsiteY2" fmla="*/ 414867 h 524934"/>
                  <a:gd name="connsiteX3" fmla="*/ 880533 w 4368800"/>
                  <a:gd name="connsiteY3" fmla="*/ 355600 h 524934"/>
                  <a:gd name="connsiteX4" fmla="*/ 1134533 w 4368800"/>
                  <a:gd name="connsiteY4" fmla="*/ 203200 h 524934"/>
                  <a:gd name="connsiteX5" fmla="*/ 1456266 w 4368800"/>
                  <a:gd name="connsiteY5" fmla="*/ 313267 h 524934"/>
                  <a:gd name="connsiteX6" fmla="*/ 1727200 w 4368800"/>
                  <a:gd name="connsiteY6" fmla="*/ 254000 h 524934"/>
                  <a:gd name="connsiteX7" fmla="*/ 1998133 w 4368800"/>
                  <a:gd name="connsiteY7" fmla="*/ 135467 h 524934"/>
                  <a:gd name="connsiteX8" fmla="*/ 2353733 w 4368800"/>
                  <a:gd name="connsiteY8" fmla="*/ 287867 h 524934"/>
                  <a:gd name="connsiteX9" fmla="*/ 2607733 w 4368800"/>
                  <a:gd name="connsiteY9" fmla="*/ 169333 h 524934"/>
                  <a:gd name="connsiteX10" fmla="*/ 2946400 w 4368800"/>
                  <a:gd name="connsiteY10" fmla="*/ 211667 h 524934"/>
                  <a:gd name="connsiteX11" fmla="*/ 3234266 w 4368800"/>
                  <a:gd name="connsiteY11" fmla="*/ 203200 h 524934"/>
                  <a:gd name="connsiteX12" fmla="*/ 3505200 w 4368800"/>
                  <a:gd name="connsiteY12" fmla="*/ 0 h 524934"/>
                  <a:gd name="connsiteX13" fmla="*/ 3810000 w 4368800"/>
                  <a:gd name="connsiteY13" fmla="*/ 135467 h 524934"/>
                  <a:gd name="connsiteX14" fmla="*/ 4097866 w 4368800"/>
                  <a:gd name="connsiteY14" fmla="*/ 42333 h 524934"/>
                  <a:gd name="connsiteX15" fmla="*/ 4368800 w 4368800"/>
                  <a:gd name="connsiteY15" fmla="*/ 118533 h 524934"/>
                  <a:gd name="connsiteX0" fmla="*/ 0 w 4368800"/>
                  <a:gd name="connsiteY0" fmla="*/ 541867 h 541867"/>
                  <a:gd name="connsiteX1" fmla="*/ 270933 w 4368800"/>
                  <a:gd name="connsiteY1" fmla="*/ 338666 h 541867"/>
                  <a:gd name="connsiteX2" fmla="*/ 575733 w 4368800"/>
                  <a:gd name="connsiteY2" fmla="*/ 431800 h 541867"/>
                  <a:gd name="connsiteX3" fmla="*/ 880533 w 4368800"/>
                  <a:gd name="connsiteY3" fmla="*/ 372533 h 541867"/>
                  <a:gd name="connsiteX4" fmla="*/ 1134533 w 4368800"/>
                  <a:gd name="connsiteY4" fmla="*/ 220133 h 541867"/>
                  <a:gd name="connsiteX5" fmla="*/ 1456266 w 4368800"/>
                  <a:gd name="connsiteY5" fmla="*/ 330200 h 541867"/>
                  <a:gd name="connsiteX6" fmla="*/ 1727200 w 4368800"/>
                  <a:gd name="connsiteY6" fmla="*/ 270933 h 541867"/>
                  <a:gd name="connsiteX7" fmla="*/ 2048933 w 4368800"/>
                  <a:gd name="connsiteY7" fmla="*/ 0 h 541867"/>
                  <a:gd name="connsiteX8" fmla="*/ 2353733 w 4368800"/>
                  <a:gd name="connsiteY8" fmla="*/ 304800 h 541867"/>
                  <a:gd name="connsiteX9" fmla="*/ 2607733 w 4368800"/>
                  <a:gd name="connsiteY9" fmla="*/ 186266 h 541867"/>
                  <a:gd name="connsiteX10" fmla="*/ 2946400 w 4368800"/>
                  <a:gd name="connsiteY10" fmla="*/ 228600 h 541867"/>
                  <a:gd name="connsiteX11" fmla="*/ 3234266 w 4368800"/>
                  <a:gd name="connsiteY11" fmla="*/ 220133 h 541867"/>
                  <a:gd name="connsiteX12" fmla="*/ 3505200 w 4368800"/>
                  <a:gd name="connsiteY12" fmla="*/ 16933 h 541867"/>
                  <a:gd name="connsiteX13" fmla="*/ 3810000 w 4368800"/>
                  <a:gd name="connsiteY13" fmla="*/ 152400 h 541867"/>
                  <a:gd name="connsiteX14" fmla="*/ 4097866 w 4368800"/>
                  <a:gd name="connsiteY14" fmla="*/ 59266 h 541867"/>
                  <a:gd name="connsiteX15" fmla="*/ 4368800 w 4368800"/>
                  <a:gd name="connsiteY15" fmla="*/ 135466 h 541867"/>
                  <a:gd name="connsiteX0" fmla="*/ 0 w 4368800"/>
                  <a:gd name="connsiteY0" fmla="*/ 541867 h 541867"/>
                  <a:gd name="connsiteX1" fmla="*/ 270933 w 4368800"/>
                  <a:gd name="connsiteY1" fmla="*/ 338666 h 541867"/>
                  <a:gd name="connsiteX2" fmla="*/ 575733 w 4368800"/>
                  <a:gd name="connsiteY2" fmla="*/ 431800 h 541867"/>
                  <a:gd name="connsiteX3" fmla="*/ 880533 w 4368800"/>
                  <a:gd name="connsiteY3" fmla="*/ 372533 h 541867"/>
                  <a:gd name="connsiteX4" fmla="*/ 1134533 w 4368800"/>
                  <a:gd name="connsiteY4" fmla="*/ 220133 h 541867"/>
                  <a:gd name="connsiteX5" fmla="*/ 1456266 w 4368800"/>
                  <a:gd name="connsiteY5" fmla="*/ 330200 h 541867"/>
                  <a:gd name="connsiteX6" fmla="*/ 1727200 w 4368800"/>
                  <a:gd name="connsiteY6" fmla="*/ 270933 h 541867"/>
                  <a:gd name="connsiteX7" fmla="*/ 2048933 w 4368800"/>
                  <a:gd name="connsiteY7" fmla="*/ 0 h 541867"/>
                  <a:gd name="connsiteX8" fmla="*/ 2353733 w 4368800"/>
                  <a:gd name="connsiteY8" fmla="*/ 304800 h 541867"/>
                  <a:gd name="connsiteX9" fmla="*/ 2607733 w 4368800"/>
                  <a:gd name="connsiteY9" fmla="*/ 186266 h 541867"/>
                  <a:gd name="connsiteX10" fmla="*/ 2963334 w 4368800"/>
                  <a:gd name="connsiteY10" fmla="*/ 152400 h 541867"/>
                  <a:gd name="connsiteX11" fmla="*/ 3234266 w 4368800"/>
                  <a:gd name="connsiteY11" fmla="*/ 220133 h 541867"/>
                  <a:gd name="connsiteX12" fmla="*/ 3505200 w 4368800"/>
                  <a:gd name="connsiteY12" fmla="*/ 16933 h 541867"/>
                  <a:gd name="connsiteX13" fmla="*/ 3810000 w 4368800"/>
                  <a:gd name="connsiteY13" fmla="*/ 152400 h 541867"/>
                  <a:gd name="connsiteX14" fmla="*/ 4097866 w 4368800"/>
                  <a:gd name="connsiteY14" fmla="*/ 59266 h 541867"/>
                  <a:gd name="connsiteX15" fmla="*/ 4368800 w 4368800"/>
                  <a:gd name="connsiteY15" fmla="*/ 135466 h 541867"/>
                  <a:gd name="connsiteX0" fmla="*/ 0 w 4368800"/>
                  <a:gd name="connsiteY0" fmla="*/ 575734 h 575734"/>
                  <a:gd name="connsiteX1" fmla="*/ 270933 w 4368800"/>
                  <a:gd name="connsiteY1" fmla="*/ 372533 h 575734"/>
                  <a:gd name="connsiteX2" fmla="*/ 575733 w 4368800"/>
                  <a:gd name="connsiteY2" fmla="*/ 465667 h 575734"/>
                  <a:gd name="connsiteX3" fmla="*/ 880533 w 4368800"/>
                  <a:gd name="connsiteY3" fmla="*/ 406400 h 575734"/>
                  <a:gd name="connsiteX4" fmla="*/ 1134533 w 4368800"/>
                  <a:gd name="connsiteY4" fmla="*/ 254000 h 575734"/>
                  <a:gd name="connsiteX5" fmla="*/ 1456266 w 4368800"/>
                  <a:gd name="connsiteY5" fmla="*/ 364067 h 575734"/>
                  <a:gd name="connsiteX6" fmla="*/ 1727200 w 4368800"/>
                  <a:gd name="connsiteY6" fmla="*/ 304800 h 575734"/>
                  <a:gd name="connsiteX7" fmla="*/ 2048933 w 4368800"/>
                  <a:gd name="connsiteY7" fmla="*/ 33867 h 575734"/>
                  <a:gd name="connsiteX8" fmla="*/ 2353733 w 4368800"/>
                  <a:gd name="connsiteY8" fmla="*/ 338667 h 575734"/>
                  <a:gd name="connsiteX9" fmla="*/ 2607733 w 4368800"/>
                  <a:gd name="connsiteY9" fmla="*/ 220133 h 575734"/>
                  <a:gd name="connsiteX10" fmla="*/ 2963334 w 4368800"/>
                  <a:gd name="connsiteY10" fmla="*/ 186267 h 575734"/>
                  <a:gd name="connsiteX11" fmla="*/ 3234266 w 4368800"/>
                  <a:gd name="connsiteY11" fmla="*/ 254000 h 575734"/>
                  <a:gd name="connsiteX12" fmla="*/ 3505200 w 4368800"/>
                  <a:gd name="connsiteY12" fmla="*/ 0 h 575734"/>
                  <a:gd name="connsiteX13" fmla="*/ 3810000 w 4368800"/>
                  <a:gd name="connsiteY13" fmla="*/ 186267 h 575734"/>
                  <a:gd name="connsiteX14" fmla="*/ 4097866 w 4368800"/>
                  <a:gd name="connsiteY14" fmla="*/ 93133 h 575734"/>
                  <a:gd name="connsiteX15" fmla="*/ 4368800 w 4368800"/>
                  <a:gd name="connsiteY15" fmla="*/ 169333 h 57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368800" h="575734">
                    <a:moveTo>
                      <a:pt x="0" y="575734"/>
                    </a:moveTo>
                    <a:lnTo>
                      <a:pt x="270933" y="372533"/>
                    </a:lnTo>
                    <a:lnTo>
                      <a:pt x="575733" y="465667"/>
                    </a:lnTo>
                    <a:lnTo>
                      <a:pt x="880533" y="406400"/>
                    </a:lnTo>
                    <a:lnTo>
                      <a:pt x="1134533" y="254000"/>
                    </a:lnTo>
                    <a:lnTo>
                      <a:pt x="1456266" y="364067"/>
                    </a:lnTo>
                    <a:lnTo>
                      <a:pt x="1727200" y="304800"/>
                    </a:lnTo>
                    <a:lnTo>
                      <a:pt x="2048933" y="33867"/>
                    </a:lnTo>
                    <a:lnTo>
                      <a:pt x="2353733" y="338667"/>
                    </a:lnTo>
                    <a:cubicBezTo>
                      <a:pt x="2438400" y="299156"/>
                      <a:pt x="2506133" y="245533"/>
                      <a:pt x="2607733" y="220133"/>
                    </a:cubicBezTo>
                    <a:cubicBezTo>
                      <a:pt x="2709333" y="194733"/>
                      <a:pt x="2844800" y="197556"/>
                      <a:pt x="2963334" y="186267"/>
                    </a:cubicBezTo>
                    <a:lnTo>
                      <a:pt x="3234266" y="254000"/>
                    </a:lnTo>
                    <a:lnTo>
                      <a:pt x="3505200" y="0"/>
                    </a:lnTo>
                    <a:lnTo>
                      <a:pt x="3810000" y="186267"/>
                    </a:lnTo>
                    <a:lnTo>
                      <a:pt x="4097866" y="93133"/>
                    </a:lnTo>
                    <a:lnTo>
                      <a:pt x="4368800" y="169333"/>
                    </a:lnTo>
                  </a:path>
                </a:pathLst>
              </a:cu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9" name="자유형 88"/>
              <p:cNvSpPr/>
              <p:nvPr/>
            </p:nvSpPr>
            <p:spPr>
              <a:xfrm flipH="1">
                <a:off x="4815076" y="2121903"/>
                <a:ext cx="2849311" cy="1526755"/>
              </a:xfrm>
              <a:custGeom>
                <a:avLst/>
                <a:gdLst>
                  <a:gd name="connsiteX0" fmla="*/ 0 w 4368800"/>
                  <a:gd name="connsiteY0" fmla="*/ 389467 h 414867"/>
                  <a:gd name="connsiteX1" fmla="*/ 270933 w 4368800"/>
                  <a:gd name="connsiteY1" fmla="*/ 321733 h 414867"/>
                  <a:gd name="connsiteX2" fmla="*/ 575733 w 4368800"/>
                  <a:gd name="connsiteY2" fmla="*/ 414867 h 414867"/>
                  <a:gd name="connsiteX3" fmla="*/ 880533 w 4368800"/>
                  <a:gd name="connsiteY3" fmla="*/ 355600 h 414867"/>
                  <a:gd name="connsiteX4" fmla="*/ 1134533 w 4368800"/>
                  <a:gd name="connsiteY4" fmla="*/ 203200 h 414867"/>
                  <a:gd name="connsiteX5" fmla="*/ 1456266 w 4368800"/>
                  <a:gd name="connsiteY5" fmla="*/ 313267 h 414867"/>
                  <a:gd name="connsiteX6" fmla="*/ 1727200 w 4368800"/>
                  <a:gd name="connsiteY6" fmla="*/ 254000 h 414867"/>
                  <a:gd name="connsiteX7" fmla="*/ 1998133 w 4368800"/>
                  <a:gd name="connsiteY7" fmla="*/ 135467 h 414867"/>
                  <a:gd name="connsiteX8" fmla="*/ 2353733 w 4368800"/>
                  <a:gd name="connsiteY8" fmla="*/ 287867 h 414867"/>
                  <a:gd name="connsiteX9" fmla="*/ 2607733 w 4368800"/>
                  <a:gd name="connsiteY9" fmla="*/ 169333 h 414867"/>
                  <a:gd name="connsiteX10" fmla="*/ 2946400 w 4368800"/>
                  <a:gd name="connsiteY10" fmla="*/ 211667 h 414867"/>
                  <a:gd name="connsiteX11" fmla="*/ 3234266 w 4368800"/>
                  <a:gd name="connsiteY11" fmla="*/ 203200 h 414867"/>
                  <a:gd name="connsiteX12" fmla="*/ 3505200 w 4368800"/>
                  <a:gd name="connsiteY12" fmla="*/ 0 h 414867"/>
                  <a:gd name="connsiteX13" fmla="*/ 3810000 w 4368800"/>
                  <a:gd name="connsiteY13" fmla="*/ 135467 h 414867"/>
                  <a:gd name="connsiteX14" fmla="*/ 4097866 w 4368800"/>
                  <a:gd name="connsiteY14" fmla="*/ 42333 h 414867"/>
                  <a:gd name="connsiteX15" fmla="*/ 4368800 w 4368800"/>
                  <a:gd name="connsiteY15" fmla="*/ 118533 h 414867"/>
                  <a:gd name="connsiteX0" fmla="*/ 0 w 4368800"/>
                  <a:gd name="connsiteY0" fmla="*/ 524934 h 524934"/>
                  <a:gd name="connsiteX1" fmla="*/ 270933 w 4368800"/>
                  <a:gd name="connsiteY1" fmla="*/ 321733 h 524934"/>
                  <a:gd name="connsiteX2" fmla="*/ 575733 w 4368800"/>
                  <a:gd name="connsiteY2" fmla="*/ 414867 h 524934"/>
                  <a:gd name="connsiteX3" fmla="*/ 880533 w 4368800"/>
                  <a:gd name="connsiteY3" fmla="*/ 355600 h 524934"/>
                  <a:gd name="connsiteX4" fmla="*/ 1134533 w 4368800"/>
                  <a:gd name="connsiteY4" fmla="*/ 203200 h 524934"/>
                  <a:gd name="connsiteX5" fmla="*/ 1456266 w 4368800"/>
                  <a:gd name="connsiteY5" fmla="*/ 313267 h 524934"/>
                  <a:gd name="connsiteX6" fmla="*/ 1727200 w 4368800"/>
                  <a:gd name="connsiteY6" fmla="*/ 254000 h 524934"/>
                  <a:gd name="connsiteX7" fmla="*/ 1998133 w 4368800"/>
                  <a:gd name="connsiteY7" fmla="*/ 135467 h 524934"/>
                  <a:gd name="connsiteX8" fmla="*/ 2353733 w 4368800"/>
                  <a:gd name="connsiteY8" fmla="*/ 287867 h 524934"/>
                  <a:gd name="connsiteX9" fmla="*/ 2607733 w 4368800"/>
                  <a:gd name="connsiteY9" fmla="*/ 169333 h 524934"/>
                  <a:gd name="connsiteX10" fmla="*/ 2946400 w 4368800"/>
                  <a:gd name="connsiteY10" fmla="*/ 211667 h 524934"/>
                  <a:gd name="connsiteX11" fmla="*/ 3234266 w 4368800"/>
                  <a:gd name="connsiteY11" fmla="*/ 203200 h 524934"/>
                  <a:gd name="connsiteX12" fmla="*/ 3505200 w 4368800"/>
                  <a:gd name="connsiteY12" fmla="*/ 0 h 524934"/>
                  <a:gd name="connsiteX13" fmla="*/ 3810000 w 4368800"/>
                  <a:gd name="connsiteY13" fmla="*/ 135467 h 524934"/>
                  <a:gd name="connsiteX14" fmla="*/ 4097866 w 4368800"/>
                  <a:gd name="connsiteY14" fmla="*/ 42333 h 524934"/>
                  <a:gd name="connsiteX15" fmla="*/ 4368800 w 4368800"/>
                  <a:gd name="connsiteY15" fmla="*/ 118533 h 524934"/>
                  <a:gd name="connsiteX0" fmla="*/ 0 w 4368800"/>
                  <a:gd name="connsiteY0" fmla="*/ 541867 h 541867"/>
                  <a:gd name="connsiteX1" fmla="*/ 270933 w 4368800"/>
                  <a:gd name="connsiteY1" fmla="*/ 338666 h 541867"/>
                  <a:gd name="connsiteX2" fmla="*/ 575733 w 4368800"/>
                  <a:gd name="connsiteY2" fmla="*/ 431800 h 541867"/>
                  <a:gd name="connsiteX3" fmla="*/ 880533 w 4368800"/>
                  <a:gd name="connsiteY3" fmla="*/ 372533 h 541867"/>
                  <a:gd name="connsiteX4" fmla="*/ 1134533 w 4368800"/>
                  <a:gd name="connsiteY4" fmla="*/ 220133 h 541867"/>
                  <a:gd name="connsiteX5" fmla="*/ 1456266 w 4368800"/>
                  <a:gd name="connsiteY5" fmla="*/ 330200 h 541867"/>
                  <a:gd name="connsiteX6" fmla="*/ 1727200 w 4368800"/>
                  <a:gd name="connsiteY6" fmla="*/ 270933 h 541867"/>
                  <a:gd name="connsiteX7" fmla="*/ 2048933 w 4368800"/>
                  <a:gd name="connsiteY7" fmla="*/ 0 h 541867"/>
                  <a:gd name="connsiteX8" fmla="*/ 2353733 w 4368800"/>
                  <a:gd name="connsiteY8" fmla="*/ 304800 h 541867"/>
                  <a:gd name="connsiteX9" fmla="*/ 2607733 w 4368800"/>
                  <a:gd name="connsiteY9" fmla="*/ 186266 h 541867"/>
                  <a:gd name="connsiteX10" fmla="*/ 2946400 w 4368800"/>
                  <a:gd name="connsiteY10" fmla="*/ 228600 h 541867"/>
                  <a:gd name="connsiteX11" fmla="*/ 3234266 w 4368800"/>
                  <a:gd name="connsiteY11" fmla="*/ 220133 h 541867"/>
                  <a:gd name="connsiteX12" fmla="*/ 3505200 w 4368800"/>
                  <a:gd name="connsiteY12" fmla="*/ 16933 h 541867"/>
                  <a:gd name="connsiteX13" fmla="*/ 3810000 w 4368800"/>
                  <a:gd name="connsiteY13" fmla="*/ 152400 h 541867"/>
                  <a:gd name="connsiteX14" fmla="*/ 4097866 w 4368800"/>
                  <a:gd name="connsiteY14" fmla="*/ 59266 h 541867"/>
                  <a:gd name="connsiteX15" fmla="*/ 4368800 w 4368800"/>
                  <a:gd name="connsiteY15" fmla="*/ 135466 h 541867"/>
                  <a:gd name="connsiteX0" fmla="*/ 0 w 4368800"/>
                  <a:gd name="connsiteY0" fmla="*/ 541867 h 541867"/>
                  <a:gd name="connsiteX1" fmla="*/ 270933 w 4368800"/>
                  <a:gd name="connsiteY1" fmla="*/ 338666 h 541867"/>
                  <a:gd name="connsiteX2" fmla="*/ 575733 w 4368800"/>
                  <a:gd name="connsiteY2" fmla="*/ 431800 h 541867"/>
                  <a:gd name="connsiteX3" fmla="*/ 880533 w 4368800"/>
                  <a:gd name="connsiteY3" fmla="*/ 372533 h 541867"/>
                  <a:gd name="connsiteX4" fmla="*/ 1134533 w 4368800"/>
                  <a:gd name="connsiteY4" fmla="*/ 220133 h 541867"/>
                  <a:gd name="connsiteX5" fmla="*/ 1456266 w 4368800"/>
                  <a:gd name="connsiteY5" fmla="*/ 330200 h 541867"/>
                  <a:gd name="connsiteX6" fmla="*/ 1727200 w 4368800"/>
                  <a:gd name="connsiteY6" fmla="*/ 270933 h 541867"/>
                  <a:gd name="connsiteX7" fmla="*/ 2048933 w 4368800"/>
                  <a:gd name="connsiteY7" fmla="*/ 0 h 541867"/>
                  <a:gd name="connsiteX8" fmla="*/ 2353733 w 4368800"/>
                  <a:gd name="connsiteY8" fmla="*/ 304800 h 541867"/>
                  <a:gd name="connsiteX9" fmla="*/ 2607733 w 4368800"/>
                  <a:gd name="connsiteY9" fmla="*/ 186266 h 541867"/>
                  <a:gd name="connsiteX10" fmla="*/ 2963334 w 4368800"/>
                  <a:gd name="connsiteY10" fmla="*/ 152400 h 541867"/>
                  <a:gd name="connsiteX11" fmla="*/ 3234266 w 4368800"/>
                  <a:gd name="connsiteY11" fmla="*/ 220133 h 541867"/>
                  <a:gd name="connsiteX12" fmla="*/ 3505200 w 4368800"/>
                  <a:gd name="connsiteY12" fmla="*/ 16933 h 541867"/>
                  <a:gd name="connsiteX13" fmla="*/ 3810000 w 4368800"/>
                  <a:gd name="connsiteY13" fmla="*/ 152400 h 541867"/>
                  <a:gd name="connsiteX14" fmla="*/ 4097866 w 4368800"/>
                  <a:gd name="connsiteY14" fmla="*/ 59266 h 541867"/>
                  <a:gd name="connsiteX15" fmla="*/ 4368800 w 4368800"/>
                  <a:gd name="connsiteY15" fmla="*/ 135466 h 541867"/>
                  <a:gd name="connsiteX0" fmla="*/ 0 w 4368800"/>
                  <a:gd name="connsiteY0" fmla="*/ 575734 h 575734"/>
                  <a:gd name="connsiteX1" fmla="*/ 270933 w 4368800"/>
                  <a:gd name="connsiteY1" fmla="*/ 372533 h 575734"/>
                  <a:gd name="connsiteX2" fmla="*/ 575733 w 4368800"/>
                  <a:gd name="connsiteY2" fmla="*/ 465667 h 575734"/>
                  <a:gd name="connsiteX3" fmla="*/ 880533 w 4368800"/>
                  <a:gd name="connsiteY3" fmla="*/ 406400 h 575734"/>
                  <a:gd name="connsiteX4" fmla="*/ 1134533 w 4368800"/>
                  <a:gd name="connsiteY4" fmla="*/ 254000 h 575734"/>
                  <a:gd name="connsiteX5" fmla="*/ 1456266 w 4368800"/>
                  <a:gd name="connsiteY5" fmla="*/ 364067 h 575734"/>
                  <a:gd name="connsiteX6" fmla="*/ 1727200 w 4368800"/>
                  <a:gd name="connsiteY6" fmla="*/ 304800 h 575734"/>
                  <a:gd name="connsiteX7" fmla="*/ 2048933 w 4368800"/>
                  <a:gd name="connsiteY7" fmla="*/ 33867 h 575734"/>
                  <a:gd name="connsiteX8" fmla="*/ 2353733 w 4368800"/>
                  <a:gd name="connsiteY8" fmla="*/ 338667 h 575734"/>
                  <a:gd name="connsiteX9" fmla="*/ 2607733 w 4368800"/>
                  <a:gd name="connsiteY9" fmla="*/ 220133 h 575734"/>
                  <a:gd name="connsiteX10" fmla="*/ 2963334 w 4368800"/>
                  <a:gd name="connsiteY10" fmla="*/ 186267 h 575734"/>
                  <a:gd name="connsiteX11" fmla="*/ 3234266 w 4368800"/>
                  <a:gd name="connsiteY11" fmla="*/ 254000 h 575734"/>
                  <a:gd name="connsiteX12" fmla="*/ 3505200 w 4368800"/>
                  <a:gd name="connsiteY12" fmla="*/ 0 h 575734"/>
                  <a:gd name="connsiteX13" fmla="*/ 3810000 w 4368800"/>
                  <a:gd name="connsiteY13" fmla="*/ 186267 h 575734"/>
                  <a:gd name="connsiteX14" fmla="*/ 4097866 w 4368800"/>
                  <a:gd name="connsiteY14" fmla="*/ 93133 h 575734"/>
                  <a:gd name="connsiteX15" fmla="*/ 4368800 w 4368800"/>
                  <a:gd name="connsiteY15" fmla="*/ 169333 h 57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368800" h="575734">
                    <a:moveTo>
                      <a:pt x="0" y="575734"/>
                    </a:moveTo>
                    <a:lnTo>
                      <a:pt x="270933" y="372533"/>
                    </a:lnTo>
                    <a:lnTo>
                      <a:pt x="575733" y="465667"/>
                    </a:lnTo>
                    <a:lnTo>
                      <a:pt x="880533" y="406400"/>
                    </a:lnTo>
                    <a:lnTo>
                      <a:pt x="1134533" y="254000"/>
                    </a:lnTo>
                    <a:lnTo>
                      <a:pt x="1456266" y="364067"/>
                    </a:lnTo>
                    <a:lnTo>
                      <a:pt x="1727200" y="304800"/>
                    </a:lnTo>
                    <a:lnTo>
                      <a:pt x="2048933" y="33867"/>
                    </a:lnTo>
                    <a:lnTo>
                      <a:pt x="2353733" y="338667"/>
                    </a:lnTo>
                    <a:cubicBezTo>
                      <a:pt x="2438400" y="299156"/>
                      <a:pt x="2506133" y="245533"/>
                      <a:pt x="2607733" y="220133"/>
                    </a:cubicBezTo>
                    <a:cubicBezTo>
                      <a:pt x="2709333" y="194733"/>
                      <a:pt x="2844800" y="197556"/>
                      <a:pt x="2963334" y="186267"/>
                    </a:cubicBezTo>
                    <a:lnTo>
                      <a:pt x="3234266" y="254000"/>
                    </a:lnTo>
                    <a:lnTo>
                      <a:pt x="3505200" y="0"/>
                    </a:lnTo>
                    <a:lnTo>
                      <a:pt x="3810000" y="186267"/>
                    </a:lnTo>
                    <a:lnTo>
                      <a:pt x="4097866" y="93133"/>
                    </a:lnTo>
                    <a:lnTo>
                      <a:pt x="4368800" y="169333"/>
                    </a:lnTo>
                  </a:path>
                </a:pathLst>
              </a:custGeom>
              <a:ln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3517143-FCD2-4D72-9D91-BDDEAAC20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4893" y="4074246"/>
              <a:ext cx="599995" cy="126723"/>
            </a:xfrm>
            <a:prstGeom prst="line">
              <a:avLst/>
            </a:prstGeom>
            <a:ln w="127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F2850EA-4617-49D0-9D3E-F87150171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0169" y="3752569"/>
              <a:ext cx="714387" cy="321678"/>
            </a:xfrm>
            <a:prstGeom prst="line">
              <a:avLst/>
            </a:prstGeom>
            <a:ln w="127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CDBDE5F2-7F1B-4281-9FC9-613A14E65A19}"/>
                </a:ext>
              </a:extLst>
            </p:cNvPr>
            <p:cNvCxnSpPr>
              <a:cxnSpLocks/>
            </p:cNvCxnSpPr>
            <p:nvPr/>
          </p:nvCxnSpPr>
          <p:spPr>
            <a:xfrm>
              <a:off x="5246556" y="3760449"/>
              <a:ext cx="695023" cy="73443"/>
            </a:xfrm>
            <a:prstGeom prst="line">
              <a:avLst/>
            </a:prstGeom>
            <a:ln w="127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0C8BC1EB-5994-4FC7-8910-3EC78FDE4E2B}"/>
                </a:ext>
              </a:extLst>
            </p:cNvPr>
            <p:cNvCxnSpPr>
              <a:cxnSpLocks/>
            </p:cNvCxnSpPr>
            <p:nvPr/>
          </p:nvCxnSpPr>
          <p:spPr>
            <a:xfrm>
              <a:off x="5925145" y="3822813"/>
              <a:ext cx="681775" cy="781077"/>
            </a:xfrm>
            <a:prstGeom prst="line">
              <a:avLst/>
            </a:prstGeom>
            <a:ln w="127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8F9494-255C-4F8F-B5F0-47339B17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FB225A-3E86-4CA3-89FB-4C43A4BF915D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993647B-670C-4EEE-8E00-91DB07FA0770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F2B974-927F-415A-999A-D146A0C3BC8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7271982-C9A1-44EE-AAAC-9EFF7CAA0AF4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271C03-D9E5-4139-B1DA-1B7F68356E5C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BBA869C-C57C-4865-B203-A7CD5987540A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8FB071F-09C1-4770-A2F2-936B5350D926}"/>
              </a:ext>
            </a:extLst>
          </p:cNvPr>
          <p:cNvSpPr/>
          <p:nvPr/>
        </p:nvSpPr>
        <p:spPr>
          <a:xfrm>
            <a:off x="1655275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C4237A3-4010-4D74-83D3-24B84076692B}"/>
              </a:ext>
            </a:extLst>
          </p:cNvPr>
          <p:cNvSpPr/>
          <p:nvPr/>
        </p:nvSpPr>
        <p:spPr>
          <a:xfrm>
            <a:off x="2713751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982C99C-F2A1-4955-892A-DB05206E79C5}"/>
              </a:ext>
            </a:extLst>
          </p:cNvPr>
          <p:cNvSpPr/>
          <p:nvPr/>
        </p:nvSpPr>
        <p:spPr>
          <a:xfrm>
            <a:off x="1651271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DE2891-9444-4BB9-86F0-B68B54CCC4A6}"/>
              </a:ext>
            </a:extLst>
          </p:cNvPr>
          <p:cNvSpPr/>
          <p:nvPr/>
        </p:nvSpPr>
        <p:spPr>
          <a:xfrm>
            <a:off x="2676478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8A79CD12-1712-4DB2-923D-8DE951912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911082"/>
              </p:ext>
            </p:extLst>
          </p:nvPr>
        </p:nvGraphicFramePr>
        <p:xfrm>
          <a:off x="465550" y="4697067"/>
          <a:ext cx="8136877" cy="53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3661941496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951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1624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온도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17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39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6154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DR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21288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기준부하 및 목표사용량 확인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’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을 클릭하면 기준부하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(CBL)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값과 목표사용량을 보여주고 그래프 하단에 감축일자 별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실적을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특정 위치에 마우스 오버하면 시간 정보에 대한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툴팁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팝업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0080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수요반응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(DR)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19220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586856"/>
              </p:ext>
            </p:extLst>
          </p:nvPr>
        </p:nvGraphicFramePr>
        <p:xfrm>
          <a:off x="485190" y="2564905"/>
          <a:ext cx="8191248" cy="1786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6" name="직선 연결선 45"/>
          <p:cNvCxnSpPr>
            <a:cxnSpLocks/>
          </p:cNvCxnSpPr>
          <p:nvPr/>
        </p:nvCxnSpPr>
        <p:spPr>
          <a:xfrm>
            <a:off x="1187624" y="3595088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605391" y="1772816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3254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882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76256" y="1772816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256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3884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3" name="직선 연결선 52"/>
          <p:cNvCxnSpPr>
            <a:cxnSpLocks/>
          </p:cNvCxnSpPr>
          <p:nvPr/>
        </p:nvCxnSpPr>
        <p:spPr>
          <a:xfrm>
            <a:off x="1187624" y="3019024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75C866-1790-46F2-ADC7-7A15DF651C34}"/>
              </a:ext>
            </a:extLst>
          </p:cNvPr>
          <p:cNvGrpSpPr/>
          <p:nvPr/>
        </p:nvGrpSpPr>
        <p:grpSpPr>
          <a:xfrm>
            <a:off x="485190" y="5685400"/>
            <a:ext cx="862386" cy="211955"/>
            <a:chOff x="4861742" y="3907374"/>
            <a:chExt cx="862386" cy="211955"/>
          </a:xfrm>
        </p:grpSpPr>
        <p:pic>
          <p:nvPicPr>
            <p:cNvPr id="3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B689A64-1672-4ADD-8792-2FDA496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7C417C-60CC-4360-99C3-8D5BC3632E3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2A656252-0AA4-4E87-92EC-B17B61B0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57735C3-ABC2-4015-ACDC-3910D4A6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4848"/>
              </p:ext>
            </p:extLst>
          </p:nvPr>
        </p:nvGraphicFramePr>
        <p:xfrm>
          <a:off x="485190" y="5112186"/>
          <a:ext cx="819126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감축시간대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고객기준부하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계약용량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목표사용량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kW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이행률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106.25%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17:00~18:00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4,700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117.50%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CFEA8C-D46E-4688-968E-C10192D61DCA}"/>
              </a:ext>
            </a:extLst>
          </p:cNvPr>
          <p:cNvSpPr/>
          <p:nvPr/>
        </p:nvSpPr>
        <p:spPr>
          <a:xfrm>
            <a:off x="6715059" y="5517233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A12938F-6382-4B0E-9D5F-FA4A4D5F653D}"/>
              </a:ext>
            </a:extLst>
          </p:cNvPr>
          <p:cNvSpPr/>
          <p:nvPr/>
        </p:nvSpPr>
        <p:spPr>
          <a:xfrm>
            <a:off x="7369005" y="5445224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616CD3-1B36-417B-A531-C75BB8182627}"/>
              </a:ext>
            </a:extLst>
          </p:cNvPr>
          <p:cNvSpPr/>
          <p:nvPr/>
        </p:nvSpPr>
        <p:spPr>
          <a:xfrm>
            <a:off x="8335239" y="5517233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B88A33-ECBB-4769-A9F7-E6ED3D35FF4A}"/>
              </a:ext>
            </a:extLst>
          </p:cNvPr>
          <p:cNvSpPr/>
          <p:nvPr/>
        </p:nvSpPr>
        <p:spPr>
          <a:xfrm>
            <a:off x="236768" y="2098987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D776AED-977B-4761-A954-962639F35354}"/>
              </a:ext>
            </a:extLst>
          </p:cNvPr>
          <p:cNvGrpSpPr/>
          <p:nvPr/>
        </p:nvGrpSpPr>
        <p:grpSpPr>
          <a:xfrm>
            <a:off x="1259632" y="3023550"/>
            <a:ext cx="2949900" cy="937797"/>
            <a:chOff x="1413933" y="2780928"/>
            <a:chExt cx="5030275" cy="1248958"/>
          </a:xfrm>
        </p:grpSpPr>
        <p:sp>
          <p:nvSpPr>
            <p:cNvPr id="55" name="자유형 10">
              <a:extLst>
                <a:ext uri="{FF2B5EF4-FFF2-40B4-BE49-F238E27FC236}">
                  <a16:creationId xmlns:a16="http://schemas.microsoft.com/office/drawing/2014/main" id="{95FC98B7-CE3C-492E-91A3-AFB88ADADB47}"/>
                </a:ext>
              </a:extLst>
            </p:cNvPr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11">
              <a:extLst>
                <a:ext uri="{FF2B5EF4-FFF2-40B4-BE49-F238E27FC236}">
                  <a16:creationId xmlns:a16="http://schemas.microsoft.com/office/drawing/2014/main" id="{2BEDB872-23AE-4A95-AB19-F67595252D85}"/>
                </a:ext>
              </a:extLst>
            </p:cNvPr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자유형 12">
              <a:extLst>
                <a:ext uri="{FF2B5EF4-FFF2-40B4-BE49-F238E27FC236}">
                  <a16:creationId xmlns:a16="http://schemas.microsoft.com/office/drawing/2014/main" id="{B5492779-0C92-41BD-824B-77CBFCCB51B8}"/>
                </a:ext>
              </a:extLst>
            </p:cNvPr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ED0CBB2-BD14-492A-B84C-16F4FCD9C1F7}"/>
              </a:ext>
            </a:extLst>
          </p:cNvPr>
          <p:cNvCxnSpPr/>
          <p:nvPr/>
        </p:nvCxnSpPr>
        <p:spPr>
          <a:xfrm>
            <a:off x="4214376" y="2579161"/>
            <a:ext cx="0" cy="20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701B6BC-5905-415E-9197-2B96ABF62E8A}"/>
              </a:ext>
            </a:extLst>
          </p:cNvPr>
          <p:cNvGrpSpPr/>
          <p:nvPr/>
        </p:nvGrpSpPr>
        <p:grpSpPr>
          <a:xfrm>
            <a:off x="3782051" y="3020867"/>
            <a:ext cx="1430751" cy="401643"/>
            <a:chOff x="13114038" y="3867156"/>
            <a:chExt cx="1430751" cy="401643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C16BB2E-A569-48BA-B78C-D1ABDC6E8650}"/>
                </a:ext>
              </a:extLst>
            </p:cNvPr>
            <p:cNvSpPr/>
            <p:nvPr/>
          </p:nvSpPr>
          <p:spPr>
            <a:xfrm>
              <a:off x="13114038" y="4049720"/>
              <a:ext cx="720000" cy="219079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1885F96-8346-4C80-844E-6FD1057E26C2}"/>
                </a:ext>
              </a:extLst>
            </p:cNvPr>
            <p:cNvSpPr/>
            <p:nvPr/>
          </p:nvSpPr>
          <p:spPr>
            <a:xfrm>
              <a:off x="13824789" y="3867156"/>
              <a:ext cx="720000" cy="401643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7D3E0BD-4764-4075-97FC-B9ACB89CB8D7}"/>
              </a:ext>
            </a:extLst>
          </p:cNvPr>
          <p:cNvSpPr/>
          <p:nvPr/>
        </p:nvSpPr>
        <p:spPr>
          <a:xfrm>
            <a:off x="2993325" y="2241978"/>
            <a:ext cx="1088968" cy="5902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1</a:t>
            </a:r>
            <a:r>
              <a:rPr lang="ko-KR" altLang="en-US" sz="600" dirty="0">
                <a:solidFill>
                  <a:schemeClr val="tx1"/>
                </a:solidFill>
              </a:rPr>
              <a:t>월</a:t>
            </a:r>
            <a:r>
              <a:rPr lang="en-US" altLang="ko-KR" sz="600" dirty="0">
                <a:solidFill>
                  <a:schemeClr val="tx1"/>
                </a:solidFill>
              </a:rPr>
              <a:t>14</a:t>
            </a:r>
            <a:r>
              <a:rPr lang="ko-KR" altLang="en-US" sz="600" dirty="0">
                <a:solidFill>
                  <a:schemeClr val="tx1"/>
                </a:solidFill>
              </a:rPr>
              <a:t>일 목요일</a:t>
            </a:r>
            <a:r>
              <a:rPr lang="en-US" altLang="ko-KR" sz="600" dirty="0">
                <a:solidFill>
                  <a:schemeClr val="tx1"/>
                </a:solidFill>
              </a:rPr>
              <a:t>,</a:t>
            </a:r>
            <a:r>
              <a:rPr lang="ko-KR" altLang="en-US" sz="600" dirty="0">
                <a:solidFill>
                  <a:schemeClr val="tx1"/>
                </a:solidFill>
              </a:rPr>
              <a:t> </a:t>
            </a:r>
            <a:r>
              <a:rPr lang="en-US" altLang="ko-KR" sz="600" dirty="0">
                <a:solidFill>
                  <a:schemeClr val="tx1"/>
                </a:solidFill>
              </a:rPr>
              <a:t>17:42</a:t>
            </a:r>
            <a:endParaRPr lang="en-US" altLang="ko-KR" sz="600" dirty="0">
              <a:solidFill>
                <a:srgbClr val="FF0000"/>
              </a:solidFill>
            </a:endParaRPr>
          </a:p>
          <a:p>
            <a:r>
              <a:rPr lang="en-US" altLang="ko-KR" sz="600" dirty="0">
                <a:solidFill>
                  <a:srgbClr val="FF0000"/>
                </a:solidFill>
              </a:rPr>
              <a:t>- </a:t>
            </a:r>
            <a:r>
              <a:rPr lang="ko-KR" altLang="en-US" sz="600" dirty="0">
                <a:solidFill>
                  <a:srgbClr val="FF0000"/>
                </a:solidFill>
              </a:rPr>
              <a:t>기준부하</a:t>
            </a:r>
            <a:r>
              <a:rPr lang="en-US" altLang="ko-KR" sz="600" dirty="0">
                <a:solidFill>
                  <a:srgbClr val="FF0000"/>
                </a:solidFill>
              </a:rPr>
              <a:t>(CBL)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5,500kW</a:t>
            </a:r>
          </a:p>
          <a:p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ko-KR" altLang="en-US" sz="600" dirty="0">
                <a:solidFill>
                  <a:schemeClr val="accent6">
                    <a:lumMod val="75000"/>
                  </a:schemeClr>
                </a:solidFill>
              </a:rPr>
              <a:t>현재 사용량 </a:t>
            </a:r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ko-KR" sz="600" b="1" dirty="0">
                <a:solidFill>
                  <a:schemeClr val="tx1"/>
                </a:solidFill>
              </a:rPr>
              <a:t>800kW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- </a:t>
            </a:r>
            <a:r>
              <a:rPr lang="ko-KR" altLang="en-US" sz="600" dirty="0" err="1">
                <a:solidFill>
                  <a:srgbClr val="0070C0"/>
                </a:solidFill>
              </a:rPr>
              <a:t>감축량</a:t>
            </a:r>
            <a:r>
              <a:rPr lang="ko-KR" altLang="en-US" sz="600" dirty="0">
                <a:solidFill>
                  <a:srgbClr val="0070C0"/>
                </a:solidFill>
              </a:rPr>
              <a:t> </a:t>
            </a:r>
            <a:r>
              <a:rPr lang="en-US" altLang="ko-KR" sz="600" dirty="0">
                <a:solidFill>
                  <a:srgbClr val="0070C0"/>
                </a:solidFill>
              </a:rPr>
              <a:t>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4,700kW</a:t>
            </a:r>
          </a:p>
          <a:p>
            <a:r>
              <a:rPr lang="en-US" altLang="ko-KR" sz="600" dirty="0">
                <a:solidFill>
                  <a:srgbClr val="A3CFE5"/>
                </a:solidFill>
              </a:rPr>
              <a:t>- </a:t>
            </a:r>
            <a:r>
              <a:rPr lang="ko-KR" altLang="en-US" sz="600" dirty="0">
                <a:solidFill>
                  <a:srgbClr val="A3CFE5"/>
                </a:solidFill>
              </a:rPr>
              <a:t>목표사용량</a:t>
            </a:r>
            <a:r>
              <a:rPr lang="en-US" altLang="ko-KR" sz="600" dirty="0">
                <a:solidFill>
                  <a:srgbClr val="A3CFE5"/>
                </a:solidFill>
              </a:rPr>
              <a:t>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1,500kW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AFE6F5-B39E-4C7E-B5D1-C7B09686E70C}"/>
              </a:ext>
            </a:extLst>
          </p:cNvPr>
          <p:cNvGrpSpPr/>
          <p:nvPr/>
        </p:nvGrpSpPr>
        <p:grpSpPr>
          <a:xfrm>
            <a:off x="3784893" y="2820303"/>
            <a:ext cx="1433726" cy="147054"/>
            <a:chOff x="3784893" y="2295519"/>
            <a:chExt cx="1433726" cy="14705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1AE1830-F8AB-444E-93D8-E7B6005A78D0}"/>
                </a:ext>
              </a:extLst>
            </p:cNvPr>
            <p:cNvCxnSpPr/>
            <p:nvPr/>
          </p:nvCxnSpPr>
          <p:spPr>
            <a:xfrm>
              <a:off x="3784893" y="2405058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F6D9AE13-65CB-48C1-9790-F46E1CE3E60C}"/>
                </a:ext>
              </a:extLst>
            </p:cNvPr>
            <p:cNvCxnSpPr/>
            <p:nvPr/>
          </p:nvCxnSpPr>
          <p:spPr>
            <a:xfrm>
              <a:off x="4498619" y="2295519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1E5910F-DAAE-4872-9F3F-FC90EA5DA938}"/>
                </a:ext>
              </a:extLst>
            </p:cNvPr>
            <p:cNvCxnSpPr/>
            <p:nvPr/>
          </p:nvCxnSpPr>
          <p:spPr>
            <a:xfrm rot="5400000">
              <a:off x="4443826" y="2350264"/>
              <a:ext cx="108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E1CFA752-70D4-42E0-994B-22C5BCFAD330}"/>
                </a:ext>
              </a:extLst>
            </p:cNvPr>
            <p:cNvSpPr/>
            <p:nvPr/>
          </p:nvSpPr>
          <p:spPr>
            <a:xfrm>
              <a:off x="4185188" y="237057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EBBF22FE-E9F7-4C17-BAD0-FF70374CA847}"/>
              </a:ext>
            </a:extLst>
          </p:cNvPr>
          <p:cNvSpPr/>
          <p:nvPr/>
        </p:nvSpPr>
        <p:spPr>
          <a:xfrm>
            <a:off x="4185188" y="2991976"/>
            <a:ext cx="72000" cy="72000"/>
          </a:xfrm>
          <a:prstGeom prst="ellipse">
            <a:avLst/>
          </a:prstGeom>
          <a:solidFill>
            <a:srgbClr val="FF99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6D1367-2F24-48E0-BCE8-DED1DFCE2B0B}"/>
              </a:ext>
            </a:extLst>
          </p:cNvPr>
          <p:cNvSpPr txBox="1"/>
          <p:nvPr/>
        </p:nvSpPr>
        <p:spPr>
          <a:xfrm>
            <a:off x="1472556" y="5692048"/>
            <a:ext cx="1299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기준부하 및 목표사용량 확인</a:t>
            </a:r>
          </a:p>
        </p:txBody>
      </p:sp>
      <p:pic>
        <p:nvPicPr>
          <p:cNvPr id="1026" name="Picture 2" descr="standardì ëí ì´ë¯¸ì§ ê²ìê²°ê³¼">
            <a:extLst>
              <a:ext uri="{FF2B5EF4-FFF2-40B4-BE49-F238E27FC236}">
                <a16:creationId xmlns:a16="http://schemas.microsoft.com/office/drawing/2014/main" id="{999E2272-260A-4590-8D42-D19FA5CE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29" y="5701132"/>
            <a:ext cx="170228" cy="17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9ACADC7-FC69-49A9-9678-91462664E9B5}"/>
              </a:ext>
            </a:extLst>
          </p:cNvPr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6BD2137-8CAF-492D-AD29-9ACF73FF54A6}"/>
              </a:ext>
            </a:extLst>
          </p:cNvPr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318B528-EB1D-4DED-8303-7F8FC3C5026B}"/>
              </a:ext>
            </a:extLst>
          </p:cNvPr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1D395E-4E9F-4E13-8B2A-EF520FB474F9}"/>
              </a:ext>
            </a:extLst>
          </p:cNvPr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7B870A2-D045-4096-9044-C30F4DE2001E}"/>
              </a:ext>
            </a:extLst>
          </p:cNvPr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5B84184-BF59-4825-911C-87FFD2AD1BAB}"/>
              </a:ext>
            </a:extLst>
          </p:cNvPr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0D5B945-0E29-4B47-B3E1-0107BC84F969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03FCDE5-DA5A-4A6D-AB48-E4F964323201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5ADB4F8-6D4B-462E-B79D-A6A0FCCB2D22}"/>
              </a:ext>
            </a:extLst>
          </p:cNvPr>
          <p:cNvSpPr/>
          <p:nvPr/>
        </p:nvSpPr>
        <p:spPr>
          <a:xfrm>
            <a:off x="1398391" y="1907496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7F93C9-1D43-4D06-9248-FD2030901205}"/>
              </a:ext>
            </a:extLst>
          </p:cNvPr>
          <p:cNvSpPr/>
          <p:nvPr/>
        </p:nvSpPr>
        <p:spPr>
          <a:xfrm>
            <a:off x="2456867" y="1906651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D30D8C4-7328-4755-94EF-D938126D81A1}"/>
              </a:ext>
            </a:extLst>
          </p:cNvPr>
          <p:cNvSpPr/>
          <p:nvPr/>
        </p:nvSpPr>
        <p:spPr>
          <a:xfrm>
            <a:off x="1394387" y="170080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CEA7A61-06AD-4E51-9F40-EED28B953A9A}"/>
              </a:ext>
            </a:extLst>
          </p:cNvPr>
          <p:cNvSpPr/>
          <p:nvPr/>
        </p:nvSpPr>
        <p:spPr>
          <a:xfrm>
            <a:off x="2419594" y="1700808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50D53DD7-898D-4CF2-969E-3321DDD63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137562"/>
              </p:ext>
            </p:extLst>
          </p:nvPr>
        </p:nvGraphicFramePr>
        <p:xfrm>
          <a:off x="485203" y="4365104"/>
          <a:ext cx="8191253" cy="71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5035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오늘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33474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어제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지난주 사용량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43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586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5201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0226" y="6813376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75267"/>
              </p:ext>
            </p:extLst>
          </p:nvPr>
        </p:nvGraphicFramePr>
        <p:xfrm>
          <a:off x="467544" y="2495935"/>
          <a:ext cx="8208916" cy="179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3131840" y="2327092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707904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4644008" y="2327092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5220072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1187624" y="2772539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293373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79495" y="2060848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6078665" y="2327092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6654729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6A9BD-2BCC-48F5-8196-F8932209D0BC}"/>
              </a:ext>
            </a:extLst>
          </p:cNvPr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1CEDF-CA58-4107-88E2-A3DEC3C86D62}"/>
              </a:ext>
            </a:extLst>
          </p:cNvPr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C7AA25-1A17-4E81-AED4-28C59460C16A}"/>
              </a:ext>
            </a:extLst>
          </p:cNvPr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F9E22-3A1E-4379-BDCC-2BED9213D01F}"/>
              </a:ext>
            </a:extLst>
          </p:cNvPr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82BC16-6949-4A5B-A58C-014865B73C4F}"/>
              </a:ext>
            </a:extLst>
          </p:cNvPr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4320F-ABF6-44EA-B8E7-4586B629836F}"/>
              </a:ext>
            </a:extLst>
          </p:cNvPr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A05CCF6-18A5-44A6-8A1C-9E9A3BFAD2E1}"/>
              </a:ext>
            </a:extLst>
          </p:cNvPr>
          <p:cNvSpPr/>
          <p:nvPr/>
        </p:nvSpPr>
        <p:spPr>
          <a:xfrm>
            <a:off x="1479660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3AC2048-9870-46A9-A443-995996047945}"/>
              </a:ext>
            </a:extLst>
          </p:cNvPr>
          <p:cNvSpPr/>
          <p:nvPr/>
        </p:nvSpPr>
        <p:spPr>
          <a:xfrm>
            <a:off x="2538136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E811EB3-4F61-4077-8E15-25E36201B5D0}"/>
              </a:ext>
            </a:extLst>
          </p:cNvPr>
          <p:cNvSpPr/>
          <p:nvPr/>
        </p:nvSpPr>
        <p:spPr>
          <a:xfrm>
            <a:off x="1475656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0923FD-5F84-406C-B4C1-62D1B29F5E5B}"/>
              </a:ext>
            </a:extLst>
          </p:cNvPr>
          <p:cNvSpPr/>
          <p:nvPr/>
        </p:nvSpPr>
        <p:spPr>
          <a:xfrm>
            <a:off x="2500863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51D9EB-1B75-4C79-A5CE-020FA8283EDD}"/>
              </a:ext>
            </a:extLst>
          </p:cNvPr>
          <p:cNvGrpSpPr/>
          <p:nvPr/>
        </p:nvGrpSpPr>
        <p:grpSpPr>
          <a:xfrm>
            <a:off x="1354667" y="3042045"/>
            <a:ext cx="7236596" cy="912680"/>
            <a:chOff x="1354667" y="3434921"/>
            <a:chExt cx="7236596" cy="1145712"/>
          </a:xfrm>
        </p:grpSpPr>
        <p:sp>
          <p:nvSpPr>
            <p:cNvPr id="6" name="자유형 5"/>
            <p:cNvSpPr/>
            <p:nvPr/>
          </p:nvSpPr>
          <p:spPr>
            <a:xfrm>
              <a:off x="2286000" y="3993893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자유형 4"/>
            <p:cNvSpPr/>
            <p:nvPr/>
          </p:nvSpPr>
          <p:spPr>
            <a:xfrm rot="10615747">
              <a:off x="2260737" y="4041166"/>
              <a:ext cx="1757659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자유형 7"/>
            <p:cNvSpPr/>
            <p:nvPr/>
          </p:nvSpPr>
          <p:spPr>
            <a:xfrm>
              <a:off x="4023360" y="4012943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자유형 1"/>
            <p:cNvSpPr/>
            <p:nvPr/>
          </p:nvSpPr>
          <p:spPr>
            <a:xfrm>
              <a:off x="1354667" y="3996433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자유형 83">
              <a:extLst>
                <a:ext uri="{FF2B5EF4-FFF2-40B4-BE49-F238E27FC236}">
                  <a16:creationId xmlns:a16="http://schemas.microsoft.com/office/drawing/2014/main" id="{4F0148A4-F8CE-4045-A28E-219EE0666ACD}"/>
                </a:ext>
              </a:extLst>
            </p:cNvPr>
            <p:cNvSpPr/>
            <p:nvPr/>
          </p:nvSpPr>
          <p:spPr>
            <a:xfrm>
              <a:off x="1530621" y="3441420"/>
              <a:ext cx="3422156" cy="1121222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33">
              <a:extLst>
                <a:ext uri="{FF2B5EF4-FFF2-40B4-BE49-F238E27FC236}">
                  <a16:creationId xmlns:a16="http://schemas.microsoft.com/office/drawing/2014/main" id="{636C377C-D7C2-4DC9-B09A-2851731641DD}"/>
                </a:ext>
              </a:extLst>
            </p:cNvPr>
            <p:cNvSpPr/>
            <p:nvPr/>
          </p:nvSpPr>
          <p:spPr>
            <a:xfrm flipH="1">
              <a:off x="4907818" y="3434921"/>
              <a:ext cx="3683445" cy="1121222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0CAEF84-343F-4A57-AE2E-2AEA44CB72B2}"/>
              </a:ext>
            </a:extLst>
          </p:cNvPr>
          <p:cNvCxnSpPr/>
          <p:nvPr/>
        </p:nvCxnSpPr>
        <p:spPr>
          <a:xfrm>
            <a:off x="7398492" y="2327092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6063B8E-608B-4E76-87E2-8F5793B7DFD2}"/>
              </a:ext>
            </a:extLst>
          </p:cNvPr>
          <p:cNvSpPr/>
          <p:nvPr/>
        </p:nvSpPr>
        <p:spPr>
          <a:xfrm>
            <a:off x="7974556" y="2204864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9A26B62-4B86-4EF3-B743-2AF7B3E96AE5}"/>
              </a:ext>
            </a:extLst>
          </p:cNvPr>
          <p:cNvGrpSpPr/>
          <p:nvPr/>
        </p:nvGrpSpPr>
        <p:grpSpPr>
          <a:xfrm>
            <a:off x="485190" y="5220380"/>
            <a:ext cx="8335282" cy="656892"/>
            <a:chOff x="485190" y="5010937"/>
            <a:chExt cx="8335282" cy="656892"/>
          </a:xfrm>
        </p:grpSpPr>
        <p:sp>
          <p:nvSpPr>
            <p:cNvPr id="85" name="직사각형 84"/>
            <p:cNvSpPr/>
            <p:nvPr/>
          </p:nvSpPr>
          <p:spPr>
            <a:xfrm>
              <a:off x="7236296" y="5118157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710222" y="5010937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8460432" y="5118157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99792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9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260790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10%</a:t>
              </a:r>
              <a:endPara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959932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484926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9%</a:t>
              </a:r>
              <a:endPara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298007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한전 사용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892638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81%</a:t>
              </a:r>
              <a:endParaRPr lang="ko-KR" altLang="en-US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2E11A6D-4131-4854-AC12-3D5FCCF5743B}"/>
                </a:ext>
              </a:extLst>
            </p:cNvPr>
            <p:cNvGrpSpPr/>
            <p:nvPr/>
          </p:nvGrpSpPr>
          <p:grpSpPr>
            <a:xfrm>
              <a:off x="485190" y="5308182"/>
              <a:ext cx="862386" cy="211955"/>
              <a:chOff x="4861742" y="3907374"/>
              <a:chExt cx="862386" cy="211955"/>
            </a:xfrm>
          </p:grpSpPr>
          <p:pic>
            <p:nvPicPr>
              <p:cNvPr id="42" name="Picture 6" descr="ìì ë¤ì´ë¡ëì ëí ì´ë¯¸ì§ ê²ìê²°ê³¼">
                <a:extLst>
                  <a:ext uri="{FF2B5EF4-FFF2-40B4-BE49-F238E27FC236}">
                    <a16:creationId xmlns:a16="http://schemas.microsoft.com/office/drawing/2014/main" id="{A85297F3-62DD-421D-AA73-0CED84A52B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1742" y="3907374"/>
                <a:ext cx="211955" cy="211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EB52FDF-85A2-48AA-84C4-F6DE4BA1A8B8}"/>
                  </a:ext>
                </a:extLst>
              </p:cNvPr>
              <p:cNvSpPr txBox="1"/>
              <p:nvPr/>
            </p:nvSpPr>
            <p:spPr>
              <a:xfrm>
                <a:off x="4949189" y="3921018"/>
                <a:ext cx="77493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b="1" dirty="0">
                    <a:solidFill>
                      <a:schemeClr val="bg1"/>
                    </a:solidFill>
                  </a:rPr>
                  <a:t>데이터 저장하기</a:t>
                </a: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61E7813-8466-4CE6-A2C5-A70CCA8D8909}"/>
                </a:ext>
              </a:extLst>
            </p:cNvPr>
            <p:cNvSpPr/>
            <p:nvPr/>
          </p:nvSpPr>
          <p:spPr>
            <a:xfrm>
              <a:off x="5735316" y="5118157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0FDFDF2-1AB0-4230-BE1D-7BFCEE933349}"/>
                </a:ext>
              </a:extLst>
            </p:cNvPr>
            <p:cNvSpPr/>
            <p:nvPr/>
          </p:nvSpPr>
          <p:spPr>
            <a:xfrm>
              <a:off x="6209242" y="5010937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0C9B6B-DE83-4741-A1B1-46E41F8FDCA6}"/>
                </a:ext>
              </a:extLst>
            </p:cNvPr>
            <p:cNvSpPr/>
            <p:nvPr/>
          </p:nvSpPr>
          <p:spPr>
            <a:xfrm>
              <a:off x="6948264" y="5118157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419B717-19D1-455F-B781-145427433392}"/>
              </a:ext>
            </a:extLst>
          </p:cNvPr>
          <p:cNvCxnSpPr>
            <a:cxnSpLocks/>
          </p:cNvCxnSpPr>
          <p:nvPr/>
        </p:nvCxnSpPr>
        <p:spPr>
          <a:xfrm>
            <a:off x="6086219" y="2564904"/>
            <a:ext cx="0" cy="15121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38B279BE-C272-43FF-890A-8DE51A86F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325720"/>
              </p:ext>
            </p:extLst>
          </p:nvPr>
        </p:nvGraphicFramePr>
        <p:xfrm>
          <a:off x="467544" y="4306381"/>
          <a:ext cx="8208904" cy="71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실제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ESS</a:t>
                      </a:r>
                      <a:r>
                        <a:rPr lang="ko-KR" altLang="en-US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사용량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33474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PV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43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78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5201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0226" y="6813376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495935"/>
          <a:ext cx="8208916" cy="179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07797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3131840" y="2327092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707904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4644008" y="2327092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5220072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1187624" y="2772539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293373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79495" y="2060848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6078665" y="2327092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6654729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6A9BD-2BCC-48F5-8196-F8932209D0BC}"/>
              </a:ext>
            </a:extLst>
          </p:cNvPr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1CEDF-CA58-4107-88E2-A3DEC3C86D62}"/>
              </a:ext>
            </a:extLst>
          </p:cNvPr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C7AA25-1A17-4E81-AED4-28C59460C16A}"/>
              </a:ext>
            </a:extLst>
          </p:cNvPr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F9E22-3A1E-4379-BDCC-2BED9213D01F}"/>
              </a:ext>
            </a:extLst>
          </p:cNvPr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82BC16-6949-4A5B-A58C-014865B73C4F}"/>
              </a:ext>
            </a:extLst>
          </p:cNvPr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4320F-ABF6-44EA-B8E7-4586B629836F}"/>
              </a:ext>
            </a:extLst>
          </p:cNvPr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A05CCF6-18A5-44A6-8A1C-9E9A3BFAD2E1}"/>
              </a:ext>
            </a:extLst>
          </p:cNvPr>
          <p:cNvSpPr/>
          <p:nvPr/>
        </p:nvSpPr>
        <p:spPr>
          <a:xfrm>
            <a:off x="1479660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3AC2048-9870-46A9-A443-995996047945}"/>
              </a:ext>
            </a:extLst>
          </p:cNvPr>
          <p:cNvSpPr/>
          <p:nvPr/>
        </p:nvSpPr>
        <p:spPr>
          <a:xfrm>
            <a:off x="2538136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E811EB3-4F61-4077-8E15-25E36201B5D0}"/>
              </a:ext>
            </a:extLst>
          </p:cNvPr>
          <p:cNvSpPr/>
          <p:nvPr/>
        </p:nvSpPr>
        <p:spPr>
          <a:xfrm>
            <a:off x="1475656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0923FD-5F84-406C-B4C1-62D1B29F5E5B}"/>
              </a:ext>
            </a:extLst>
          </p:cNvPr>
          <p:cNvSpPr/>
          <p:nvPr/>
        </p:nvSpPr>
        <p:spPr>
          <a:xfrm>
            <a:off x="2500863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51D9EB-1B75-4C79-A5CE-020FA8283EDD}"/>
              </a:ext>
            </a:extLst>
          </p:cNvPr>
          <p:cNvGrpSpPr/>
          <p:nvPr/>
        </p:nvGrpSpPr>
        <p:grpSpPr>
          <a:xfrm>
            <a:off x="1354667" y="3042045"/>
            <a:ext cx="7236596" cy="912680"/>
            <a:chOff x="1354667" y="3434921"/>
            <a:chExt cx="7236596" cy="1145712"/>
          </a:xfrm>
        </p:grpSpPr>
        <p:sp>
          <p:nvSpPr>
            <p:cNvPr id="6" name="자유형 5"/>
            <p:cNvSpPr/>
            <p:nvPr/>
          </p:nvSpPr>
          <p:spPr>
            <a:xfrm>
              <a:off x="2286000" y="3993893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자유형 4"/>
            <p:cNvSpPr/>
            <p:nvPr/>
          </p:nvSpPr>
          <p:spPr>
            <a:xfrm rot="10615747">
              <a:off x="2260737" y="4041166"/>
              <a:ext cx="1757659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자유형 7"/>
            <p:cNvSpPr/>
            <p:nvPr/>
          </p:nvSpPr>
          <p:spPr>
            <a:xfrm>
              <a:off x="4023360" y="4012943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자유형 1"/>
            <p:cNvSpPr/>
            <p:nvPr/>
          </p:nvSpPr>
          <p:spPr>
            <a:xfrm>
              <a:off x="1354667" y="3996433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자유형 83">
              <a:extLst>
                <a:ext uri="{FF2B5EF4-FFF2-40B4-BE49-F238E27FC236}">
                  <a16:creationId xmlns:a16="http://schemas.microsoft.com/office/drawing/2014/main" id="{4F0148A4-F8CE-4045-A28E-219EE0666ACD}"/>
                </a:ext>
              </a:extLst>
            </p:cNvPr>
            <p:cNvSpPr/>
            <p:nvPr/>
          </p:nvSpPr>
          <p:spPr>
            <a:xfrm>
              <a:off x="1530621" y="3441420"/>
              <a:ext cx="3422156" cy="1121222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33">
              <a:extLst>
                <a:ext uri="{FF2B5EF4-FFF2-40B4-BE49-F238E27FC236}">
                  <a16:creationId xmlns:a16="http://schemas.microsoft.com/office/drawing/2014/main" id="{636C377C-D7C2-4DC9-B09A-2851731641DD}"/>
                </a:ext>
              </a:extLst>
            </p:cNvPr>
            <p:cNvSpPr/>
            <p:nvPr/>
          </p:nvSpPr>
          <p:spPr>
            <a:xfrm flipH="1">
              <a:off x="4907818" y="3434921"/>
              <a:ext cx="3683445" cy="1121222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0CAEF84-343F-4A57-AE2E-2AEA44CB72B2}"/>
              </a:ext>
            </a:extLst>
          </p:cNvPr>
          <p:cNvCxnSpPr/>
          <p:nvPr/>
        </p:nvCxnSpPr>
        <p:spPr>
          <a:xfrm>
            <a:off x="7398492" y="2327092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6063B8E-608B-4E76-87E2-8F5793B7DFD2}"/>
              </a:ext>
            </a:extLst>
          </p:cNvPr>
          <p:cNvSpPr/>
          <p:nvPr/>
        </p:nvSpPr>
        <p:spPr>
          <a:xfrm>
            <a:off x="7974556" y="2204864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9A26B62-4B86-4EF3-B743-2AF7B3E96AE5}"/>
              </a:ext>
            </a:extLst>
          </p:cNvPr>
          <p:cNvGrpSpPr/>
          <p:nvPr/>
        </p:nvGrpSpPr>
        <p:grpSpPr>
          <a:xfrm>
            <a:off x="485190" y="5220380"/>
            <a:ext cx="8335282" cy="656892"/>
            <a:chOff x="485190" y="5010937"/>
            <a:chExt cx="8335282" cy="656892"/>
          </a:xfrm>
        </p:grpSpPr>
        <p:sp>
          <p:nvSpPr>
            <p:cNvPr id="85" name="직사각형 84"/>
            <p:cNvSpPr/>
            <p:nvPr/>
          </p:nvSpPr>
          <p:spPr>
            <a:xfrm>
              <a:off x="7236296" y="5118157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710222" y="5010937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8460432" y="5118157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99792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9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260790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10%</a:t>
              </a:r>
              <a:endPara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959932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484926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9%</a:t>
              </a:r>
              <a:endParaRPr lang="ko-KR" altLang="en-US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298007" y="5118740"/>
              <a:ext cx="61206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한전 사용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892638" y="5118740"/>
              <a:ext cx="807154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81%</a:t>
              </a:r>
              <a:endParaRPr lang="ko-KR" altLang="en-US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2E11A6D-4131-4854-AC12-3D5FCCF5743B}"/>
                </a:ext>
              </a:extLst>
            </p:cNvPr>
            <p:cNvGrpSpPr/>
            <p:nvPr/>
          </p:nvGrpSpPr>
          <p:grpSpPr>
            <a:xfrm>
              <a:off x="485190" y="5308182"/>
              <a:ext cx="862386" cy="211955"/>
              <a:chOff x="4861742" y="3907374"/>
              <a:chExt cx="862386" cy="211955"/>
            </a:xfrm>
          </p:grpSpPr>
          <p:pic>
            <p:nvPicPr>
              <p:cNvPr id="42" name="Picture 6" descr="ìì ë¤ì´ë¡ëì ëí ì´ë¯¸ì§ ê²ìê²°ê³¼">
                <a:extLst>
                  <a:ext uri="{FF2B5EF4-FFF2-40B4-BE49-F238E27FC236}">
                    <a16:creationId xmlns:a16="http://schemas.microsoft.com/office/drawing/2014/main" id="{A85297F3-62DD-421D-AA73-0CED84A52B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1742" y="3907374"/>
                <a:ext cx="211955" cy="2119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EB52FDF-85A2-48AA-84C4-F6DE4BA1A8B8}"/>
                  </a:ext>
                </a:extLst>
              </p:cNvPr>
              <p:cNvSpPr txBox="1"/>
              <p:nvPr/>
            </p:nvSpPr>
            <p:spPr>
              <a:xfrm>
                <a:off x="4949189" y="3921018"/>
                <a:ext cx="77493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b="1" dirty="0">
                    <a:solidFill>
                      <a:schemeClr val="bg1"/>
                    </a:solidFill>
                  </a:rPr>
                  <a:t>데이터 저장하기</a:t>
                </a: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61E7813-8466-4CE6-A2C5-A70CCA8D8909}"/>
                </a:ext>
              </a:extLst>
            </p:cNvPr>
            <p:cNvSpPr/>
            <p:nvPr/>
          </p:nvSpPr>
          <p:spPr>
            <a:xfrm>
              <a:off x="5735316" y="5118157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0FDFDF2-1AB0-4230-BE1D-7BFCEE933349}"/>
                </a:ext>
              </a:extLst>
            </p:cNvPr>
            <p:cNvSpPr/>
            <p:nvPr/>
          </p:nvSpPr>
          <p:spPr>
            <a:xfrm>
              <a:off x="6209242" y="5010937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0C9B6B-DE83-4741-A1B1-46E41F8FDCA6}"/>
                </a:ext>
              </a:extLst>
            </p:cNvPr>
            <p:cNvSpPr/>
            <p:nvPr/>
          </p:nvSpPr>
          <p:spPr>
            <a:xfrm>
              <a:off x="6948264" y="5118157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419B717-19D1-455F-B781-145427433392}"/>
              </a:ext>
            </a:extLst>
          </p:cNvPr>
          <p:cNvCxnSpPr>
            <a:cxnSpLocks/>
          </p:cNvCxnSpPr>
          <p:nvPr/>
        </p:nvCxnSpPr>
        <p:spPr>
          <a:xfrm>
            <a:off x="6086219" y="2564904"/>
            <a:ext cx="0" cy="15121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38B279BE-C272-43FF-890A-8DE51A86FDA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7544" y="4306381"/>
          <a:ext cx="8208904" cy="71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034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실제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964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9646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ESS</a:t>
                      </a:r>
                      <a:r>
                        <a:rPr lang="ko-KR" altLang="en-US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사용량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33474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PV</a:t>
                      </a:r>
                      <a:r>
                        <a:rPr lang="ko-KR" altLang="en-US" sz="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434425"/>
                  </a:ext>
                </a:extLst>
              </a:tr>
            </a:tbl>
          </a:graphicData>
        </a:graphic>
      </p:graphicFrame>
      <p:pic>
        <p:nvPicPr>
          <p:cNvPr id="64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E6C7C90C-392E-4C98-A72A-2447F7654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300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11" y="1297543"/>
            <a:ext cx="8635704" cy="4210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Meter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281057"/>
              </p:ext>
            </p:extLst>
          </p:nvPr>
        </p:nvGraphicFramePr>
        <p:xfrm>
          <a:off x="755576" y="2515908"/>
          <a:ext cx="7776864" cy="112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IOE(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ESS(</a:t>
                      </a: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충방전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소내전력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DISCONNECTED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E6F799-42AB-46BB-BA51-8EF5CEAD5B56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5E55E36-DABA-4D6B-A080-59D4BBE2A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11B015-87EE-4216-8E76-FD4D2D8A4D35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2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ED0A2A96-A5A1-4587-9B6D-850D352F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FCAB2A-D64D-4344-A896-556D41F4A6D1}"/>
              </a:ext>
            </a:extLst>
          </p:cNvPr>
          <p:cNvSpPr txBox="1"/>
          <p:nvPr/>
        </p:nvSpPr>
        <p:spPr>
          <a:xfrm>
            <a:off x="7756882" y="4867791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4111441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PCS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5298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</a:t>
                      </a:r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Staus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 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CEDA02-978A-43F6-AB55-428EDA30056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FAE8784-6F18-40BF-B01A-46F90CCC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8A6DE0-F30C-4F6C-89D8-E767DF02570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1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C076B0B-C13D-4D97-B5B8-F14F0BEA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2CC25F3-C33D-4C74-B14D-81E543F114BD}"/>
              </a:ext>
            </a:extLst>
          </p:cNvPr>
          <p:cNvSpPr txBox="1"/>
          <p:nvPr/>
        </p:nvSpPr>
        <p:spPr>
          <a:xfrm>
            <a:off x="7756882" y="4867791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3063574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BMS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02811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6D4F635-0EA7-45AE-AF11-F97AF686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810E2AA-714F-44DB-9164-799BC292216D}"/>
              </a:ext>
            </a:extLst>
          </p:cNvPr>
          <p:cNvSpPr txBox="1"/>
          <p:nvPr/>
        </p:nvSpPr>
        <p:spPr>
          <a:xfrm>
            <a:off x="7756882" y="4867791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311004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4885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6F8EFCF-15F1-4417-B90B-00839301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98CED9F-C8A2-49C1-84D9-FA9F97DF5F23}"/>
              </a:ext>
            </a:extLst>
          </p:cNvPr>
          <p:cNvSpPr txBox="1"/>
          <p:nvPr/>
        </p:nvSpPr>
        <p:spPr>
          <a:xfrm>
            <a:off x="7756882" y="4867791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328726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3382E72E-3E05-4CE8-AB49-08422603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68206-8495-4919-9026-707F9731FF0B}"/>
              </a:ext>
            </a:extLst>
          </p:cNvPr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전체 장비의 모니터링 정보를 한번에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- IOE, PCS, BMS, PV</a:t>
            </a:r>
          </a:p>
        </p:txBody>
      </p:sp>
      <p:pic>
        <p:nvPicPr>
          <p:cNvPr id="3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9A5BCFC-D6C6-4047-9E46-B67185996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58673E9-5B88-4FBD-9BDA-654BEF868627}"/>
              </a:ext>
            </a:extLst>
          </p:cNvPr>
          <p:cNvSpPr txBox="1"/>
          <p:nvPr/>
        </p:nvSpPr>
        <p:spPr>
          <a:xfrm>
            <a:off x="7756882" y="4867791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상세보기</a:t>
            </a:r>
          </a:p>
        </p:txBody>
      </p:sp>
    </p:spTree>
    <p:extLst>
      <p:ext uri="{BB962C8B-B14F-4D97-AF65-F5344CB8AC3E}">
        <p14:creationId xmlns:p14="http://schemas.microsoft.com/office/powerpoint/2010/main" val="220408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4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>
                <a:solidFill>
                  <a:schemeClr val="bg1"/>
                </a:solidFill>
                <a:latin typeface="+mn-ea"/>
              </a:rPr>
              <a:t>알람 상세 정보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상황 관제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알람 정보 상세 화면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B5166E-482A-49CD-BD28-012283209512}"/>
              </a:ext>
            </a:extLst>
          </p:cNvPr>
          <p:cNvSpPr/>
          <p:nvPr/>
        </p:nvSpPr>
        <p:spPr>
          <a:xfrm>
            <a:off x="497149" y="1836335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비상 알람 현황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(2)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EC27077-4156-404D-B5F6-ABF9F43F92C3}"/>
              </a:ext>
            </a:extLst>
          </p:cNvPr>
          <p:cNvSpPr/>
          <p:nvPr/>
        </p:nvSpPr>
        <p:spPr>
          <a:xfrm>
            <a:off x="497149" y="4149080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주의 알람 현황 </a:t>
            </a:r>
            <a:r>
              <a:rPr lang="en-US" altLang="ko-KR" sz="12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(3)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787B8E4-54B5-456B-B671-78D459FDD34E}"/>
              </a:ext>
            </a:extLst>
          </p:cNvPr>
          <p:cNvCxnSpPr>
            <a:cxnSpLocks/>
          </p:cNvCxnSpPr>
          <p:nvPr/>
        </p:nvCxnSpPr>
        <p:spPr>
          <a:xfrm>
            <a:off x="582084" y="2204864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95A5FF-C2C6-4357-A3D8-6D880B13D7DA}"/>
              </a:ext>
            </a:extLst>
          </p:cNvPr>
          <p:cNvCxnSpPr>
            <a:cxnSpLocks/>
          </p:cNvCxnSpPr>
          <p:nvPr/>
        </p:nvCxnSpPr>
        <p:spPr>
          <a:xfrm>
            <a:off x="582084" y="2535029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9D59576-400F-43A9-943D-DE222A165C90}"/>
              </a:ext>
            </a:extLst>
          </p:cNvPr>
          <p:cNvCxnSpPr>
            <a:cxnSpLocks/>
          </p:cNvCxnSpPr>
          <p:nvPr/>
        </p:nvCxnSpPr>
        <p:spPr>
          <a:xfrm>
            <a:off x="582084" y="2865194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F94A58-D6D5-4B18-B258-151654CACB5B}"/>
              </a:ext>
            </a:extLst>
          </p:cNvPr>
          <p:cNvCxnSpPr>
            <a:cxnSpLocks/>
          </p:cNvCxnSpPr>
          <p:nvPr/>
        </p:nvCxnSpPr>
        <p:spPr>
          <a:xfrm>
            <a:off x="582084" y="3195359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4E4A650-F881-456A-88CF-158448301270}"/>
              </a:ext>
            </a:extLst>
          </p:cNvPr>
          <p:cNvCxnSpPr>
            <a:cxnSpLocks/>
          </p:cNvCxnSpPr>
          <p:nvPr/>
        </p:nvCxnSpPr>
        <p:spPr>
          <a:xfrm>
            <a:off x="582084" y="3525524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BD54FE4-C187-45CF-99A3-7C9E0900DB8B}"/>
              </a:ext>
            </a:extLst>
          </p:cNvPr>
          <p:cNvCxnSpPr>
            <a:cxnSpLocks/>
          </p:cNvCxnSpPr>
          <p:nvPr/>
        </p:nvCxnSpPr>
        <p:spPr>
          <a:xfrm>
            <a:off x="582084" y="3855689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629C913B-828D-40C1-B9C6-075AFA73A27F}"/>
              </a:ext>
            </a:extLst>
          </p:cNvPr>
          <p:cNvGrpSpPr/>
          <p:nvPr/>
        </p:nvGrpSpPr>
        <p:grpSpPr>
          <a:xfrm>
            <a:off x="8202054" y="2505768"/>
            <a:ext cx="866992" cy="1361347"/>
            <a:chOff x="8242960" y="2282537"/>
            <a:chExt cx="866992" cy="114370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FB4A1DF-0FC8-46D0-89F2-C30CBD8F5603}"/>
                </a:ext>
              </a:extLst>
            </p:cNvPr>
            <p:cNvSpPr/>
            <p:nvPr/>
          </p:nvSpPr>
          <p:spPr>
            <a:xfrm>
              <a:off x="8579077" y="2289300"/>
              <a:ext cx="164131" cy="1136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4" name="Picture 4" descr="ê´ë ¨ ì´ë¯¸ì§">
              <a:extLst>
                <a:ext uri="{FF2B5EF4-FFF2-40B4-BE49-F238E27FC236}">
                  <a16:creationId xmlns:a16="http://schemas.microsoft.com/office/drawing/2014/main" id="{95F420AD-D1D6-45C5-B15B-2AABC8BA7C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960" y="2282537"/>
              <a:ext cx="866992" cy="114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FE64A02-B115-4BA6-9DEB-E0F736C16E69}"/>
              </a:ext>
            </a:extLst>
          </p:cNvPr>
          <p:cNvGrpSpPr/>
          <p:nvPr/>
        </p:nvGrpSpPr>
        <p:grpSpPr>
          <a:xfrm>
            <a:off x="8213484" y="4826963"/>
            <a:ext cx="866992" cy="1361347"/>
            <a:chOff x="8242960" y="2282537"/>
            <a:chExt cx="866992" cy="1143702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E504BC5-DAF8-4AB9-98EE-19854D2BFF19}"/>
                </a:ext>
              </a:extLst>
            </p:cNvPr>
            <p:cNvSpPr/>
            <p:nvPr/>
          </p:nvSpPr>
          <p:spPr>
            <a:xfrm>
              <a:off x="8579077" y="2289300"/>
              <a:ext cx="164131" cy="1136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Picture 4" descr="ê´ë ¨ ì´ë¯¸ì§">
              <a:extLst>
                <a:ext uri="{FF2B5EF4-FFF2-40B4-BE49-F238E27FC236}">
                  <a16:creationId xmlns:a16="http://schemas.microsoft.com/office/drawing/2014/main" id="{8F933AC9-ED21-423F-BB02-15773D71C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960" y="2282537"/>
              <a:ext cx="866992" cy="114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CE90BA-FA9D-47CB-BFEB-9F78D46DA8C0}"/>
              </a:ext>
            </a:extLst>
          </p:cNvPr>
          <p:cNvGrpSpPr/>
          <p:nvPr/>
        </p:nvGrpSpPr>
        <p:grpSpPr>
          <a:xfrm>
            <a:off x="683568" y="2252345"/>
            <a:ext cx="7658709" cy="253296"/>
            <a:chOff x="657707" y="4028506"/>
            <a:chExt cx="7658709" cy="2532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235894-DDA9-4D47-8E59-A53E47E22D6B}"/>
                </a:ext>
              </a:extLst>
            </p:cNvPr>
            <p:cNvSpPr txBox="1"/>
            <p:nvPr/>
          </p:nvSpPr>
          <p:spPr>
            <a:xfrm>
              <a:off x="657707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FA71485-AEF3-405C-AF45-D95D4907456A}"/>
                </a:ext>
              </a:extLst>
            </p:cNvPr>
            <p:cNvSpPr txBox="1"/>
            <p:nvPr/>
          </p:nvSpPr>
          <p:spPr>
            <a:xfrm>
              <a:off x="1466466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</a:t>
              </a:r>
              <a:r>
                <a:rPr lang="en-US" altLang="ko-KR" sz="1000" dirty="0">
                  <a:solidFill>
                    <a:schemeClr val="bg1"/>
                  </a:solidFill>
                </a:rPr>
                <a:t>ID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E99D2A7-B3E1-4452-B41A-AF0F62B75FF1}"/>
                </a:ext>
              </a:extLst>
            </p:cNvPr>
            <p:cNvSpPr txBox="1"/>
            <p:nvPr/>
          </p:nvSpPr>
          <p:spPr>
            <a:xfrm>
              <a:off x="3177987" y="4032044"/>
              <a:ext cx="7672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타입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A1941AF-5D2D-4E06-A637-2EA704580917}"/>
                </a:ext>
              </a:extLst>
            </p:cNvPr>
            <p:cNvSpPr txBox="1"/>
            <p:nvPr/>
          </p:nvSpPr>
          <p:spPr>
            <a:xfrm>
              <a:off x="4788024" y="4032044"/>
              <a:ext cx="9323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메시지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BC1AAAD-C8E3-4F7C-A2BA-5EBB747AF94B}"/>
                </a:ext>
              </a:extLst>
            </p:cNvPr>
            <p:cNvSpPr txBox="1"/>
            <p:nvPr/>
          </p:nvSpPr>
          <p:spPr>
            <a:xfrm>
              <a:off x="6587895" y="4032044"/>
              <a:ext cx="792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 여부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C306582-5633-48CF-BE0F-4AE282C458C2}"/>
                </a:ext>
              </a:extLst>
            </p:cNvPr>
            <p:cNvSpPr txBox="1"/>
            <p:nvPr/>
          </p:nvSpPr>
          <p:spPr>
            <a:xfrm>
              <a:off x="7511632" y="4028506"/>
              <a:ext cx="804784" cy="25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조치 여부</a:t>
              </a:r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22F450D-C1D6-463A-8110-FC3A7213EDAB}"/>
              </a:ext>
            </a:extLst>
          </p:cNvPr>
          <p:cNvCxnSpPr>
            <a:cxnSpLocks/>
          </p:cNvCxnSpPr>
          <p:nvPr/>
        </p:nvCxnSpPr>
        <p:spPr>
          <a:xfrm>
            <a:off x="1365930" y="253502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70E2B0AD-1360-4186-93CF-7F0D4B36E03A}"/>
              </a:ext>
            </a:extLst>
          </p:cNvPr>
          <p:cNvCxnSpPr>
            <a:cxnSpLocks/>
          </p:cNvCxnSpPr>
          <p:nvPr/>
        </p:nvCxnSpPr>
        <p:spPr>
          <a:xfrm>
            <a:off x="2183160" y="2540392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17F68AE3-AA41-4B65-8236-246E605503AF}"/>
              </a:ext>
            </a:extLst>
          </p:cNvPr>
          <p:cNvCxnSpPr>
            <a:cxnSpLocks/>
          </p:cNvCxnSpPr>
          <p:nvPr/>
        </p:nvCxnSpPr>
        <p:spPr>
          <a:xfrm>
            <a:off x="4038468" y="252975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D5D1A00-A123-49CF-9042-24A1F0D585CE}"/>
              </a:ext>
            </a:extLst>
          </p:cNvPr>
          <p:cNvCxnSpPr>
            <a:cxnSpLocks/>
          </p:cNvCxnSpPr>
          <p:nvPr/>
        </p:nvCxnSpPr>
        <p:spPr>
          <a:xfrm>
            <a:off x="6508006" y="2543638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6FB7AF-7457-492F-838B-65B8E2A78396}"/>
              </a:ext>
            </a:extLst>
          </p:cNvPr>
          <p:cNvCxnSpPr>
            <a:cxnSpLocks/>
          </p:cNvCxnSpPr>
          <p:nvPr/>
        </p:nvCxnSpPr>
        <p:spPr>
          <a:xfrm>
            <a:off x="7484219" y="252975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D75531F-6F01-40F8-A884-0ED47C892BF1}"/>
              </a:ext>
            </a:extLst>
          </p:cNvPr>
          <p:cNvSpPr txBox="1"/>
          <p:nvPr/>
        </p:nvSpPr>
        <p:spPr>
          <a:xfrm>
            <a:off x="2293729" y="2259420"/>
            <a:ext cx="767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알람 시간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FAE5CA3-4609-4D78-809A-42B320E49F51}"/>
              </a:ext>
            </a:extLst>
          </p:cNvPr>
          <p:cNvCxnSpPr>
            <a:cxnSpLocks/>
          </p:cNvCxnSpPr>
          <p:nvPr/>
        </p:nvCxnSpPr>
        <p:spPr>
          <a:xfrm>
            <a:off x="3118096" y="2548032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1184E35-D393-47B7-99F0-7E9E5623CAC1}"/>
              </a:ext>
            </a:extLst>
          </p:cNvPr>
          <p:cNvCxnSpPr>
            <a:cxnSpLocks/>
          </p:cNvCxnSpPr>
          <p:nvPr/>
        </p:nvCxnSpPr>
        <p:spPr>
          <a:xfrm>
            <a:off x="582084" y="4514532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F2D6EB3-423B-4C44-90C9-83C24D6F71CE}"/>
              </a:ext>
            </a:extLst>
          </p:cNvPr>
          <p:cNvCxnSpPr>
            <a:cxnSpLocks/>
          </p:cNvCxnSpPr>
          <p:nvPr/>
        </p:nvCxnSpPr>
        <p:spPr>
          <a:xfrm>
            <a:off x="582084" y="4844697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FEC0834-2D1E-4A15-BBA4-930659BA6CA2}"/>
              </a:ext>
            </a:extLst>
          </p:cNvPr>
          <p:cNvCxnSpPr>
            <a:cxnSpLocks/>
          </p:cNvCxnSpPr>
          <p:nvPr/>
        </p:nvCxnSpPr>
        <p:spPr>
          <a:xfrm>
            <a:off x="582084" y="5174862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B551FAC-485F-4EE8-85F8-3EC21FEC00F9}"/>
              </a:ext>
            </a:extLst>
          </p:cNvPr>
          <p:cNvCxnSpPr>
            <a:cxnSpLocks/>
          </p:cNvCxnSpPr>
          <p:nvPr/>
        </p:nvCxnSpPr>
        <p:spPr>
          <a:xfrm>
            <a:off x="582084" y="5505027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58EC14E-BC44-4CEE-AE01-8889D587B0F2}"/>
              </a:ext>
            </a:extLst>
          </p:cNvPr>
          <p:cNvCxnSpPr>
            <a:cxnSpLocks/>
          </p:cNvCxnSpPr>
          <p:nvPr/>
        </p:nvCxnSpPr>
        <p:spPr>
          <a:xfrm>
            <a:off x="582084" y="5835192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83446C1-F3F3-46F9-9FB2-076DB0A82614}"/>
              </a:ext>
            </a:extLst>
          </p:cNvPr>
          <p:cNvCxnSpPr>
            <a:cxnSpLocks/>
          </p:cNvCxnSpPr>
          <p:nvPr/>
        </p:nvCxnSpPr>
        <p:spPr>
          <a:xfrm>
            <a:off x="582084" y="6165357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6F0C160-D7D1-45A1-99DC-745DEE4CEE7F}"/>
              </a:ext>
            </a:extLst>
          </p:cNvPr>
          <p:cNvGrpSpPr/>
          <p:nvPr/>
        </p:nvGrpSpPr>
        <p:grpSpPr>
          <a:xfrm>
            <a:off x="683568" y="4562013"/>
            <a:ext cx="7658709" cy="253296"/>
            <a:chOff x="657707" y="4028506"/>
            <a:chExt cx="7658709" cy="25329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7D44D1-FE7C-423F-8033-F6EC07D0A9AE}"/>
                </a:ext>
              </a:extLst>
            </p:cNvPr>
            <p:cNvSpPr txBox="1"/>
            <p:nvPr/>
          </p:nvSpPr>
          <p:spPr>
            <a:xfrm>
              <a:off x="657707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명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75B08CB-EB58-4511-83FF-CCD0272034F9}"/>
                </a:ext>
              </a:extLst>
            </p:cNvPr>
            <p:cNvSpPr txBox="1"/>
            <p:nvPr/>
          </p:nvSpPr>
          <p:spPr>
            <a:xfrm>
              <a:off x="1466466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</a:t>
              </a:r>
              <a:r>
                <a:rPr lang="en-US" altLang="ko-KR" sz="1000" dirty="0">
                  <a:solidFill>
                    <a:schemeClr val="bg1"/>
                  </a:solidFill>
                </a:rPr>
                <a:t>ID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3CB9C31-9EE3-4CBE-8C98-BD781E6EAAB8}"/>
                </a:ext>
              </a:extLst>
            </p:cNvPr>
            <p:cNvSpPr txBox="1"/>
            <p:nvPr/>
          </p:nvSpPr>
          <p:spPr>
            <a:xfrm>
              <a:off x="3177987" y="4032044"/>
              <a:ext cx="7672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타입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994B968-AC4A-46E8-8A99-7A32A39874C4}"/>
                </a:ext>
              </a:extLst>
            </p:cNvPr>
            <p:cNvSpPr txBox="1"/>
            <p:nvPr/>
          </p:nvSpPr>
          <p:spPr>
            <a:xfrm>
              <a:off x="4788024" y="4032044"/>
              <a:ext cx="9323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메시지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6BBE82A-2089-420E-B9C3-2EB21816B42B}"/>
                </a:ext>
              </a:extLst>
            </p:cNvPr>
            <p:cNvSpPr txBox="1"/>
            <p:nvPr/>
          </p:nvSpPr>
          <p:spPr>
            <a:xfrm>
              <a:off x="6587895" y="4032044"/>
              <a:ext cx="792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 여부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A9B56B-B120-4F3F-8926-1752F1AEFB5F}"/>
                </a:ext>
              </a:extLst>
            </p:cNvPr>
            <p:cNvSpPr txBox="1"/>
            <p:nvPr/>
          </p:nvSpPr>
          <p:spPr>
            <a:xfrm>
              <a:off x="7511632" y="4028506"/>
              <a:ext cx="804784" cy="25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조치 여부</a:t>
              </a:r>
            </a:p>
          </p:txBody>
        </p:sp>
      </p:grp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A8DF705-D159-48F3-A9BF-C9239824DC20}"/>
              </a:ext>
            </a:extLst>
          </p:cNvPr>
          <p:cNvCxnSpPr>
            <a:cxnSpLocks/>
          </p:cNvCxnSpPr>
          <p:nvPr/>
        </p:nvCxnSpPr>
        <p:spPr>
          <a:xfrm>
            <a:off x="1365930" y="484469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40F38AD-F308-41F0-8E4A-014D28298FBD}"/>
              </a:ext>
            </a:extLst>
          </p:cNvPr>
          <p:cNvCxnSpPr>
            <a:cxnSpLocks/>
          </p:cNvCxnSpPr>
          <p:nvPr/>
        </p:nvCxnSpPr>
        <p:spPr>
          <a:xfrm>
            <a:off x="2183160" y="4850060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E50FBA5-5A37-4DA5-B876-437BBBF7950A}"/>
              </a:ext>
            </a:extLst>
          </p:cNvPr>
          <p:cNvCxnSpPr>
            <a:cxnSpLocks/>
          </p:cNvCxnSpPr>
          <p:nvPr/>
        </p:nvCxnSpPr>
        <p:spPr>
          <a:xfrm>
            <a:off x="4038468" y="483942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4AEBA21-5BDE-42F2-BC8A-686CE5DDB81F}"/>
              </a:ext>
            </a:extLst>
          </p:cNvPr>
          <p:cNvCxnSpPr>
            <a:cxnSpLocks/>
          </p:cNvCxnSpPr>
          <p:nvPr/>
        </p:nvCxnSpPr>
        <p:spPr>
          <a:xfrm>
            <a:off x="6508006" y="4853306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37A024-ED21-4DA4-8F87-CF955ADD447B}"/>
              </a:ext>
            </a:extLst>
          </p:cNvPr>
          <p:cNvCxnSpPr>
            <a:cxnSpLocks/>
          </p:cNvCxnSpPr>
          <p:nvPr/>
        </p:nvCxnSpPr>
        <p:spPr>
          <a:xfrm>
            <a:off x="7484219" y="483942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7F4D6F9-E116-4A74-B9D7-6EC6C99BA8B7}"/>
              </a:ext>
            </a:extLst>
          </p:cNvPr>
          <p:cNvSpPr txBox="1"/>
          <p:nvPr/>
        </p:nvSpPr>
        <p:spPr>
          <a:xfrm>
            <a:off x="2293729" y="4569088"/>
            <a:ext cx="767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알람 시간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FED91C0-277E-4CDF-AF4C-D2B906E98766}"/>
              </a:ext>
            </a:extLst>
          </p:cNvPr>
          <p:cNvCxnSpPr>
            <a:cxnSpLocks/>
          </p:cNvCxnSpPr>
          <p:nvPr/>
        </p:nvCxnSpPr>
        <p:spPr>
          <a:xfrm>
            <a:off x="3118096" y="4857700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354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797016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695732"/>
              </p:ext>
            </p:extLst>
          </p:nvPr>
        </p:nvGraphicFramePr>
        <p:xfrm>
          <a:off x="467544" y="2135576"/>
          <a:ext cx="8208912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2203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79701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79701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1797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78029"/>
              </p:ext>
            </p:extLst>
          </p:nvPr>
        </p:nvGraphicFramePr>
        <p:xfrm>
          <a:off x="467544" y="3955032"/>
          <a:ext cx="8208912" cy="99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231A2546-319B-4FA4-87A3-BCFEE7884419}"/>
              </a:ext>
            </a:extLst>
          </p:cNvPr>
          <p:cNvGrpSpPr/>
          <p:nvPr/>
        </p:nvGrpSpPr>
        <p:grpSpPr>
          <a:xfrm>
            <a:off x="1691680" y="3053435"/>
            <a:ext cx="288032" cy="606464"/>
            <a:chOff x="1691680" y="3053435"/>
            <a:chExt cx="288032" cy="606464"/>
          </a:xfrm>
        </p:grpSpPr>
        <p:sp>
          <p:nvSpPr>
            <p:cNvPr id="45" name="직사각형 44"/>
            <p:cNvSpPr/>
            <p:nvPr/>
          </p:nvSpPr>
          <p:spPr>
            <a:xfrm>
              <a:off x="1691680" y="3454080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691680" y="3382080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691680" y="3310072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1691680" y="3202064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691680" y="3156345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691680" y="3053435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2284522" y="2878016"/>
            <a:ext cx="288032" cy="781883"/>
            <a:chOff x="1907704" y="3172371"/>
            <a:chExt cx="288032" cy="606464"/>
          </a:xfrm>
        </p:grpSpPr>
        <p:sp>
          <p:nvSpPr>
            <p:cNvPr id="69" name="직사각형 68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2877364" y="3104890"/>
            <a:ext cx="288032" cy="555009"/>
            <a:chOff x="1907704" y="3172371"/>
            <a:chExt cx="288032" cy="606464"/>
          </a:xfrm>
        </p:grpSpPr>
        <p:sp>
          <p:nvSpPr>
            <p:cNvPr id="84" name="직사각형 83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3483491" y="3240909"/>
            <a:ext cx="288032" cy="418990"/>
            <a:chOff x="1907704" y="3172371"/>
            <a:chExt cx="288032" cy="606464"/>
          </a:xfrm>
        </p:grpSpPr>
        <p:sp>
          <p:nvSpPr>
            <p:cNvPr id="92" name="직사각형 91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한전 요금 조회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0D2C55-772C-4865-BCC5-17289A20F84D}"/>
              </a:ext>
            </a:extLst>
          </p:cNvPr>
          <p:cNvGrpSpPr/>
          <p:nvPr/>
        </p:nvGrpSpPr>
        <p:grpSpPr>
          <a:xfrm>
            <a:off x="467544" y="5089253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C5035341-A4D4-4F29-858B-7EADCFE89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ADAB36-ECAF-4140-8741-0C90B4E743B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CB535F5-7C7F-41B8-A8AB-7F34FA4F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25D4E42-D244-4000-A96B-53B4EBC5EF75}"/>
              </a:ext>
            </a:extLst>
          </p:cNvPr>
          <p:cNvSpPr/>
          <p:nvPr/>
        </p:nvSpPr>
        <p:spPr>
          <a:xfrm>
            <a:off x="1475656" y="1825503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C1884F-28CC-4F05-B0F5-39D7E1DC5216}"/>
              </a:ext>
            </a:extLst>
          </p:cNvPr>
          <p:cNvSpPr txBox="1"/>
          <p:nvPr/>
        </p:nvSpPr>
        <p:spPr>
          <a:xfrm>
            <a:off x="7596336" y="5070376"/>
            <a:ext cx="1080120" cy="2308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900" dirty="0"/>
              <a:t>명세서 확인하기</a:t>
            </a:r>
          </a:p>
        </p:txBody>
      </p:sp>
    </p:spTree>
    <p:extLst>
      <p:ext uri="{BB962C8B-B14F-4D97-AF65-F5344CB8AC3E}">
        <p14:creationId xmlns:p14="http://schemas.microsoft.com/office/powerpoint/2010/main" val="157574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2849"/>
              </p:ext>
            </p:extLst>
          </p:nvPr>
        </p:nvGraphicFramePr>
        <p:xfrm>
          <a:off x="467544" y="3530888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0826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3051791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2811476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9659133-3722-4614-A46B-72BF740408F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60FE1802-FB5B-43D3-8879-97A1A195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8A80-6F83-4B73-BA64-C226045A8A9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D45A54F-D6C2-4169-8CAF-C254A6A3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2ED78B7-50CC-40D0-B69E-43478B1D1A3C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745253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구분에서 특정월을 누르면 해당월의 상세명세서가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감축 횟수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시간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회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en-US" altLang="ko-KR" sz="1050" b="1" dirty="0" err="1">
                <a:solidFill>
                  <a:srgbClr val="FF0000"/>
                </a:solidFill>
                <a:latin typeface="맑은 고딕" pitchFamily="50" charset="-127"/>
              </a:rPr>
              <a:t>hr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)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횟수를 누르면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(ex: 1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월의 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1-2)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상세 이벤트리스트가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DR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51122"/>
              </p:ext>
            </p:extLst>
          </p:nvPr>
        </p:nvGraphicFramePr>
        <p:xfrm>
          <a:off x="467544" y="3561184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35194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476792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9753"/>
              </p:ext>
            </p:extLst>
          </p:nvPr>
        </p:nvGraphicFramePr>
        <p:xfrm>
          <a:off x="467544" y="3561184"/>
          <a:ext cx="8208916" cy="1119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발전량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수익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x(SMP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+</a:t>
                      </a:r>
                    </a:p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가중치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294064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상세명세서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sample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4FA600-B69B-4E74-A48D-859E62BB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853524"/>
            <a:ext cx="4032448" cy="570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88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사이트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건물 요금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일반용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 –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고압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A: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II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FF8E21-BB16-4DB3-9B4C-F60C4682C89B}"/>
              </a:ext>
            </a:extLst>
          </p:cNvPr>
          <p:cNvSpPr/>
          <p:nvPr/>
        </p:nvSpPr>
        <p:spPr>
          <a:xfrm>
            <a:off x="7985814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계약 전력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A4B9FE1-94E3-4A0A-9D79-5ACE5B67FB7D}"/>
              </a:ext>
            </a:extLst>
          </p:cNvPr>
          <p:cNvSpPr/>
          <p:nvPr/>
        </p:nvSpPr>
        <p:spPr>
          <a:xfrm>
            <a:off x="2081158" y="2868777"/>
            <a:ext cx="5760640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2,000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918F4E-7015-471B-AF88-BCBA6AEE3B51}"/>
              </a:ext>
            </a:extLst>
          </p:cNvPr>
          <p:cNvSpPr/>
          <p:nvPr/>
        </p:nvSpPr>
        <p:spPr>
          <a:xfrm>
            <a:off x="7481758" y="2868777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6E84F43-F87D-478E-A8EB-F68ECF6B03B0}"/>
              </a:ext>
            </a:extLst>
          </p:cNvPr>
          <p:cNvSpPr/>
          <p:nvPr/>
        </p:nvSpPr>
        <p:spPr>
          <a:xfrm>
            <a:off x="713006" y="3444841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검침일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3386889-64AF-4305-A4F8-84C12910E1C0}"/>
              </a:ext>
            </a:extLst>
          </p:cNvPr>
          <p:cNvSpPr/>
          <p:nvPr/>
        </p:nvSpPr>
        <p:spPr>
          <a:xfrm>
            <a:off x="2081158" y="3444841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5CF8652-801D-42A6-A169-18765E5FC465}"/>
              </a:ext>
            </a:extLst>
          </p:cNvPr>
          <p:cNvSpPr/>
          <p:nvPr/>
        </p:nvSpPr>
        <p:spPr>
          <a:xfrm>
            <a:off x="7985814" y="3444841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7A4BF63-1DDB-4A41-B024-14FCF559C03A}"/>
              </a:ext>
            </a:extLst>
          </p:cNvPr>
          <p:cNvSpPr/>
          <p:nvPr/>
        </p:nvSpPr>
        <p:spPr>
          <a:xfrm>
            <a:off x="713006" y="40929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A8B5354-F034-4516-9EEE-DC57742549A3}"/>
              </a:ext>
            </a:extLst>
          </p:cNvPr>
          <p:cNvSpPr/>
          <p:nvPr/>
        </p:nvSpPr>
        <p:spPr>
          <a:xfrm>
            <a:off x="2081158" y="4092913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A06CBC4-04CD-43E0-9A3D-651F593CF4A8}"/>
              </a:ext>
            </a:extLst>
          </p:cNvPr>
          <p:cNvSpPr/>
          <p:nvPr/>
        </p:nvSpPr>
        <p:spPr>
          <a:xfrm>
            <a:off x="4533060" y="40929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DCBF8F-151E-4F66-A70C-4142446F54D7}"/>
              </a:ext>
            </a:extLst>
          </p:cNvPr>
          <p:cNvSpPr/>
          <p:nvPr/>
        </p:nvSpPr>
        <p:spPr>
          <a:xfrm>
            <a:off x="5033486" y="4092913"/>
            <a:ext cx="2808312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500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595BAC0-142A-4F0D-8254-7780FE3AE6FF}"/>
              </a:ext>
            </a:extLst>
          </p:cNvPr>
          <p:cNvSpPr/>
          <p:nvPr/>
        </p:nvSpPr>
        <p:spPr>
          <a:xfrm>
            <a:off x="7481759" y="409291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02A018E-4621-4A7E-B96C-7A9845F9D803}"/>
              </a:ext>
            </a:extLst>
          </p:cNvPr>
          <p:cNvSpPr/>
          <p:nvPr/>
        </p:nvSpPr>
        <p:spPr>
          <a:xfrm>
            <a:off x="713006" y="474098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55E0DF-6BAA-4355-B5BA-6F428B93378E}"/>
              </a:ext>
            </a:extLst>
          </p:cNvPr>
          <p:cNvSpPr/>
          <p:nvPr/>
        </p:nvSpPr>
        <p:spPr>
          <a:xfrm>
            <a:off x="2081158" y="4740985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450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D63DE66-E1E7-4DF1-9D78-6912FC0C97A1}"/>
              </a:ext>
            </a:extLst>
          </p:cNvPr>
          <p:cNvSpPr/>
          <p:nvPr/>
        </p:nvSpPr>
        <p:spPr>
          <a:xfrm>
            <a:off x="7481759" y="4740985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C397DA-F1DF-42B1-8B01-88F820F54564}"/>
              </a:ext>
            </a:extLst>
          </p:cNvPr>
          <p:cNvSpPr/>
          <p:nvPr/>
        </p:nvSpPr>
        <p:spPr>
          <a:xfrm>
            <a:off x="6840946" y="4753016"/>
            <a:ext cx="100085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39DF27-6424-43A4-8A4A-D401E17DDA1B}"/>
              </a:ext>
            </a:extLst>
          </p:cNvPr>
          <p:cNvSpPr/>
          <p:nvPr/>
        </p:nvSpPr>
        <p:spPr>
          <a:xfrm>
            <a:off x="4029004" y="475233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B9F6FF-0BCB-4C9E-BC50-BF680B158A63}"/>
              </a:ext>
            </a:extLst>
          </p:cNvPr>
          <p:cNvSpPr/>
          <p:nvPr/>
        </p:nvSpPr>
        <p:spPr>
          <a:xfrm>
            <a:off x="5135494" y="4758497"/>
            <a:ext cx="155417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요금적용전력대비</a:t>
            </a: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계약 및 전력관리 정보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915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관리자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416802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1784954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그룹 설정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CFF6FB5-B970-4BE6-8BD9-A115DEA3D01C}"/>
              </a:ext>
            </a:extLst>
          </p:cNvPr>
          <p:cNvGrpSpPr/>
          <p:nvPr/>
        </p:nvGrpSpPr>
        <p:grpSpPr>
          <a:xfrm>
            <a:off x="1100656" y="3228816"/>
            <a:ext cx="3538932" cy="1807807"/>
            <a:chOff x="1100657" y="3228816"/>
            <a:chExt cx="2668622" cy="180780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201AAA5-8B2A-4498-B48A-1F9E754B57BD}"/>
                </a:ext>
              </a:extLst>
            </p:cNvPr>
            <p:cNvSpPr/>
            <p:nvPr/>
          </p:nvSpPr>
          <p:spPr>
            <a:xfrm>
              <a:off x="1100657" y="3228817"/>
              <a:ext cx="23192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_Site_03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B4D8DBE-D937-4B28-BE7E-837AADD62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594282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A4B6BE7-D80F-44A0-AA7D-488F627F7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911790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328374B-6844-4028-B3D2-947953CAF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4231721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4" descr="ê´ë ¨ ì´ë¯¸ì§">
              <a:extLst>
                <a:ext uri="{FF2B5EF4-FFF2-40B4-BE49-F238E27FC236}">
                  <a16:creationId xmlns:a16="http://schemas.microsoft.com/office/drawing/2014/main" id="{B8A000E7-5C68-4462-8551-D1510FFB4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2287" y="3228816"/>
              <a:ext cx="866992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64057F-D540-4785-A241-AE81331E65D9}"/>
              </a:ext>
            </a:extLst>
          </p:cNvPr>
          <p:cNvGrpSpPr/>
          <p:nvPr/>
        </p:nvGrpSpPr>
        <p:grpSpPr>
          <a:xfrm>
            <a:off x="5092008" y="3211572"/>
            <a:ext cx="3455391" cy="1807807"/>
            <a:chOff x="5364088" y="3211572"/>
            <a:chExt cx="3183311" cy="180780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05CCA1B-38FA-4EFD-A91F-5A88756CFECF}"/>
                </a:ext>
              </a:extLst>
            </p:cNvPr>
            <p:cNvSpPr/>
            <p:nvPr/>
          </p:nvSpPr>
          <p:spPr>
            <a:xfrm>
              <a:off x="5364088" y="3211573"/>
              <a:ext cx="27665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_Site_03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Site_04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Site_05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4152C477-5A5C-418D-89C7-7A0C42B26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568339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6B47581-3BA4-4E42-9E98-53B5F69EB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882313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07FD4537-A9C6-4BCA-9E09-603357718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210454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4" descr="ê´ë ¨ ì´ë¯¸ì§">
              <a:extLst>
                <a:ext uri="{FF2B5EF4-FFF2-40B4-BE49-F238E27FC236}">
                  <a16:creationId xmlns:a16="http://schemas.microsoft.com/office/drawing/2014/main" id="{1F3A10D5-E560-4F79-B555-64445FFE48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193" y="3211572"/>
              <a:ext cx="1034206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FFBE3CC-0073-4153-B69E-5B318FFFEE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530385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4E27E93E-E555-44AC-8E20-D3379F09E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850317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6249F4-7911-4070-8A96-F156846DC6D1}"/>
              </a:ext>
            </a:extLst>
          </p:cNvPr>
          <p:cNvGrpSpPr/>
          <p:nvPr/>
        </p:nvGrpSpPr>
        <p:grpSpPr>
          <a:xfrm>
            <a:off x="4429807" y="3689271"/>
            <a:ext cx="423448" cy="828962"/>
            <a:chOff x="4437543" y="3456671"/>
            <a:chExt cx="423448" cy="828962"/>
          </a:xfrm>
        </p:grpSpPr>
        <p:pic>
          <p:nvPicPr>
            <p:cNvPr id="11" name="Picture 6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D70E30A5-4C88-4064-B4B0-27626CD07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437544" y="3456671"/>
              <a:ext cx="423447" cy="423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777BEEB3-6F29-42F8-B7D6-E46E965AF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543" y="3862185"/>
              <a:ext cx="423448" cy="423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645F8CC-AA37-47E1-87C7-C378E684D5C3}"/>
              </a:ext>
            </a:extLst>
          </p:cNvPr>
          <p:cNvSpPr/>
          <p:nvPr/>
        </p:nvSpPr>
        <p:spPr>
          <a:xfrm>
            <a:off x="4531891" y="2869844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A527DA7-C7C6-486A-8230-369C469CCCEB}"/>
              </a:ext>
            </a:extLst>
          </p:cNvPr>
          <p:cNvSpPr/>
          <p:nvPr/>
        </p:nvSpPr>
        <p:spPr>
          <a:xfrm>
            <a:off x="7689610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027173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21944</TotalTime>
  <Words>3622</Words>
  <Application>Microsoft Office PowerPoint</Application>
  <PresentationFormat>화면 슬라이드 쇼(4:3)</PresentationFormat>
  <Paragraphs>2063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1086</cp:revision>
  <cp:lastPrinted>2018-01-26T02:17:04Z</cp:lastPrinted>
  <dcterms:created xsi:type="dcterms:W3CDTF">2015-05-21T08:47:43Z</dcterms:created>
  <dcterms:modified xsi:type="dcterms:W3CDTF">2018-07-16T13:42:29Z</dcterms:modified>
</cp:coreProperties>
</file>
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48" r:id="rId1"/>
  </p:sldMasterIdLst>
  <p:notesMasterIdLst>
    <p:notesMasterId r:id="rId59"/>
  </p:notesMasterIdLst>
  <p:sldIdLst>
    <p:sldId id="330" r:id="rId2"/>
    <p:sldId id="331" r:id="rId3"/>
    <p:sldId id="315" r:id="rId4"/>
    <p:sldId id="332" r:id="rId5"/>
    <p:sldId id="333" r:id="rId6"/>
    <p:sldId id="335" r:id="rId7"/>
    <p:sldId id="336" r:id="rId8"/>
    <p:sldId id="337" r:id="rId9"/>
    <p:sldId id="334" r:id="rId10"/>
    <p:sldId id="362" r:id="rId11"/>
    <p:sldId id="363" r:id="rId12"/>
    <p:sldId id="339" r:id="rId13"/>
    <p:sldId id="364" r:id="rId14"/>
    <p:sldId id="365" r:id="rId15"/>
    <p:sldId id="340" r:id="rId16"/>
    <p:sldId id="342" r:id="rId17"/>
    <p:sldId id="366" r:id="rId18"/>
    <p:sldId id="341" r:id="rId19"/>
    <p:sldId id="367" r:id="rId20"/>
    <p:sldId id="344" r:id="rId21"/>
    <p:sldId id="345" r:id="rId22"/>
    <p:sldId id="369" r:id="rId23"/>
    <p:sldId id="346" r:id="rId24"/>
    <p:sldId id="370" r:id="rId25"/>
    <p:sldId id="371" r:id="rId26"/>
    <p:sldId id="347" r:id="rId27"/>
    <p:sldId id="349" r:id="rId28"/>
    <p:sldId id="348" r:id="rId29"/>
    <p:sldId id="372" r:id="rId30"/>
    <p:sldId id="351" r:id="rId31"/>
    <p:sldId id="350" r:id="rId32"/>
    <p:sldId id="374" r:id="rId33"/>
    <p:sldId id="379" r:id="rId34"/>
    <p:sldId id="376" r:id="rId35"/>
    <p:sldId id="377" r:id="rId36"/>
    <p:sldId id="375" r:id="rId37"/>
    <p:sldId id="355" r:id="rId38"/>
    <p:sldId id="368" r:id="rId39"/>
    <p:sldId id="380" r:id="rId40"/>
    <p:sldId id="381" r:id="rId41"/>
    <p:sldId id="356" r:id="rId42"/>
    <p:sldId id="357" r:id="rId43"/>
    <p:sldId id="385" r:id="rId44"/>
    <p:sldId id="358" r:id="rId45"/>
    <p:sldId id="384" r:id="rId46"/>
    <p:sldId id="359" r:id="rId47"/>
    <p:sldId id="389" r:id="rId48"/>
    <p:sldId id="360" r:id="rId49"/>
    <p:sldId id="390" r:id="rId50"/>
    <p:sldId id="391" r:id="rId51"/>
    <p:sldId id="343" r:id="rId52"/>
    <p:sldId id="386" r:id="rId53"/>
    <p:sldId id="388" r:id="rId54"/>
    <p:sldId id="387" r:id="rId55"/>
    <p:sldId id="361" r:id="rId56"/>
    <p:sldId id="382" r:id="rId57"/>
    <p:sldId id="338" r:id="rId58"/>
  </p:sldIdLst>
  <p:sldSz cx="9906000" cy="6858000" type="A4"/>
  <p:notesSz cx="6805613" cy="99393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63" userDrawn="1">
          <p15:clr>
            <a:srgbClr val="A4A3A4"/>
          </p15:clr>
        </p15:guide>
        <p15:guide id="2" pos="308" userDrawn="1">
          <p15:clr>
            <a:srgbClr val="A4A3A4"/>
          </p15:clr>
        </p15:guide>
        <p15:guide id="3" pos="498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6FF"/>
    <a:srgbClr val="FF6600"/>
    <a:srgbClr val="FF9933"/>
    <a:srgbClr val="CCECFF"/>
    <a:srgbClr val="0099FF"/>
    <a:srgbClr val="353760"/>
    <a:srgbClr val="FF0000"/>
    <a:srgbClr val="008080"/>
    <a:srgbClr val="66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9849" autoAdjust="0"/>
    <p:restoredTop sz="97442" autoAdjust="0"/>
  </p:normalViewPr>
  <p:slideViewPr>
    <p:cSldViewPr>
      <p:cViewPr varScale="1">
        <p:scale>
          <a:sx n="162" d="100"/>
          <a:sy n="162" d="100"/>
        </p:scale>
        <p:origin x="654" y="150"/>
      </p:cViewPr>
      <p:guideLst>
        <p:guide orient="horz" pos="663"/>
        <p:guide pos="308"/>
        <p:guide pos="49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81" d="100"/>
          <a:sy n="81" d="100"/>
        </p:scale>
        <p:origin x="2334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rgbClr val="0070C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3E0-476F-9E2A-29309113FC37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C3E0-476F-9E2A-29309113FC3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D13F-464E-8745-54076EDEFCC2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D13F-464E-8745-54076EDEFCC2}"/>
              </c:ext>
            </c:extLst>
          </c:dPt>
          <c:cat>
            <c:strRef>
              <c:f>Sheet1!$A$2:$A$5</c:f>
              <c:strCache>
                <c:ptCount val="2"/>
                <c:pt idx="0">
                  <c:v>전기요금 절감 30,746,834</c:v>
                </c:pt>
                <c:pt idx="1">
                  <c:v>전기요금 납부액 2,185,494,380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</c:v>
                </c:pt>
                <c:pt idx="1">
                  <c:v>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E0-476F-9E2A-29309113FC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85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675-43DB-84BA-101240F0E38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rgbClr val="FF660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675-43DB-84BA-101240F0E38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675-43DB-84BA-101240F0E3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685239296"/>
        <c:axId val="685240608"/>
      </c:barChart>
      <c:catAx>
        <c:axId val="68523929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85240608"/>
        <c:crosses val="autoZero"/>
        <c:auto val="1"/>
        <c:lblAlgn val="ctr"/>
        <c:lblOffset val="100"/>
        <c:noMultiLvlLbl val="0"/>
      </c:catAx>
      <c:valAx>
        <c:axId val="68524060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85239296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445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BEA7093-58B2-4FDF-8F49-8AF83CC55B51}" type="datetimeFigureOut">
              <a:rPr lang="ko-KR" altLang="en-US" smtClean="0"/>
              <a:pPr/>
              <a:t>2018-07-31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2788" y="746125"/>
            <a:ext cx="5381625" cy="37258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1038" y="4721225"/>
            <a:ext cx="5443537" cy="44719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445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884046E-A8C5-48C1-8A0A-C37BBB40AD6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726566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ko-KR" altLang="ko-KR">
              <a:latin typeface="Arial" pitchFamily="34" charset="0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머리글 개체 틀 4"/>
          <p:cNvSpPr>
            <a:spLocks noGrp="1"/>
          </p:cNvSpPr>
          <p:nvPr>
            <p:ph type="hd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994132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1987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/>
          </a:p>
        </p:txBody>
      </p:sp>
      <p:sp>
        <p:nvSpPr>
          <p:cNvPr id="41988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A23BE2C-2CF6-4163-9A53-6ABC355E8F0A}" type="slidenum">
              <a:rPr lang="en-US" altLang="ko-KR" smtClean="0"/>
              <a:pPr/>
              <a:t>2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9141560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28213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322972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58820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38177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883575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16767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01330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09736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99391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767784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017423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990343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233347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88743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845948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00882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51872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44478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546344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47954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890779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53697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51605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3175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656405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558899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07401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48533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5104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513357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967376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48828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55348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0920651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978425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241255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290056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23996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279098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458373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3949073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033438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162423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296229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43213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59523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36752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211725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83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93653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98132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516211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21547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403915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235659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 userDrawn="1"/>
        </p:nvSpPr>
        <p:spPr>
          <a:xfrm>
            <a:off x="6969224" y="6525344"/>
            <a:ext cx="225222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00" dirty="0"/>
              <a:t>Copyright 2015 INSIGHTLAB. All Right Reserved</a:t>
            </a:r>
            <a:endParaRPr lang="ko-KR" altLang="en-US" sz="800"/>
          </a:p>
        </p:txBody>
      </p:sp>
      <p:grpSp>
        <p:nvGrpSpPr>
          <p:cNvPr id="7" name="Group 4"/>
          <p:cNvGrpSpPr>
            <a:grpSpLocks/>
          </p:cNvGrpSpPr>
          <p:nvPr/>
        </p:nvGrpSpPr>
        <p:grpSpPr bwMode="auto">
          <a:xfrm>
            <a:off x="0" y="2699395"/>
            <a:ext cx="9906000" cy="1224677"/>
            <a:chOff x="2400" y="942"/>
            <a:chExt cx="4320" cy="834"/>
          </a:xfrm>
        </p:grpSpPr>
        <p:sp>
          <p:nvSpPr>
            <p:cNvPr id="13" name="Line 5"/>
            <p:cNvSpPr>
              <a:spLocks noChangeShapeType="1"/>
            </p:cNvSpPr>
            <p:nvPr/>
          </p:nvSpPr>
          <p:spPr bwMode="auto">
            <a:xfrm>
              <a:off x="2400" y="153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" name="Line 6"/>
            <p:cNvSpPr>
              <a:spLocks noChangeShapeType="1"/>
            </p:cNvSpPr>
            <p:nvPr/>
          </p:nvSpPr>
          <p:spPr bwMode="auto">
            <a:xfrm>
              <a:off x="2400" y="177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" name="Line 5"/>
            <p:cNvSpPr>
              <a:spLocks noChangeShapeType="1"/>
            </p:cNvSpPr>
            <p:nvPr/>
          </p:nvSpPr>
          <p:spPr bwMode="auto">
            <a:xfrm>
              <a:off x="2400" y="942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13271" y="3681961"/>
            <a:ext cx="237600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dist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WEBSITE STORY BOARD </a:t>
            </a:r>
          </a:p>
        </p:txBody>
      </p:sp>
      <p:sp>
        <p:nvSpPr>
          <p:cNvPr id="3" name="텍스트 개체 틀 2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394221" y="2818220"/>
            <a:ext cx="7812000" cy="615553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4000" b="0" smtClean="0"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ko-KR" altLang="en-US"/>
              <a:t>프로젝트 제목</a:t>
            </a:r>
          </a:p>
        </p:txBody>
      </p:sp>
      <p:sp>
        <p:nvSpPr>
          <p:cNvPr id="36" name="텍스트 개체 틀 2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4680096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YYYY/MM/DD</a:t>
            </a:r>
            <a:endParaRPr lang="ko-KR" altLang="en-US"/>
          </a:p>
        </p:txBody>
      </p:sp>
      <p:sp>
        <p:nvSpPr>
          <p:cNvPr id="37" name="Text Box 7"/>
          <p:cNvSpPr txBox="1">
            <a:spLocks noChangeArrowheads="1"/>
          </p:cNvSpPr>
          <p:nvPr userDrawn="1"/>
        </p:nvSpPr>
        <p:spPr bwMode="auto">
          <a:xfrm>
            <a:off x="4036380" y="3681961"/>
            <a:ext cx="636393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</a:t>
            </a:r>
            <a:r>
              <a:rPr lang="ko-KR" altLang="en-US" sz="900" b="1">
                <a:latin typeface="+mn-lt"/>
              </a:rPr>
              <a:t>작성일  </a:t>
            </a:r>
            <a:r>
              <a:rPr lang="en-US" altLang="ko-KR" sz="900" b="1">
                <a:latin typeface="+mn-lt"/>
              </a:rPr>
              <a:t>: </a:t>
            </a:r>
          </a:p>
        </p:txBody>
      </p:sp>
      <p:sp>
        <p:nvSpPr>
          <p:cNvPr id="38" name="텍스트 개체 틀 2"/>
          <p:cNvSpPr>
            <a:spLocks noGrp="1"/>
          </p:cNvSpPr>
          <p:nvPr>
            <p:ph type="body" sz="quarter" idx="12" hasCustomPrompt="1"/>
          </p:nvPr>
        </p:nvSpPr>
        <p:spPr>
          <a:xfrm>
            <a:off x="6271515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0.X</a:t>
            </a:r>
            <a:endParaRPr lang="ko-KR" altLang="en-US"/>
          </a:p>
        </p:txBody>
      </p:sp>
      <p:sp>
        <p:nvSpPr>
          <p:cNvPr id="40" name="Text Box 7"/>
          <p:cNvSpPr txBox="1">
            <a:spLocks noChangeArrowheads="1"/>
          </p:cNvSpPr>
          <p:nvPr userDrawn="1"/>
        </p:nvSpPr>
        <p:spPr bwMode="auto">
          <a:xfrm>
            <a:off x="5534397" y="3681961"/>
            <a:ext cx="718145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Version  : </a:t>
            </a:r>
          </a:p>
        </p:txBody>
      </p:sp>
      <p:pic>
        <p:nvPicPr>
          <p:cNvPr id="21" name="Picture 8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269559" y="6469286"/>
            <a:ext cx="1584176" cy="235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40892765"/>
              </p:ext>
            </p:extLst>
          </p:nvPr>
        </p:nvGraphicFramePr>
        <p:xfrm>
          <a:off x="19050" y="30163"/>
          <a:ext cx="9855736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7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54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메뉴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>
                          <a:solidFill>
                            <a:schemeClr val="bg1"/>
                          </a:solidFill>
                          <a:latin typeface="Arial" pitchFamily="34" charset="0"/>
                          <a:ea typeface="돋움" pitchFamily="50" charset="-127"/>
                          <a:cs typeface="Arial" pitchFamily="34" charset="0"/>
                        </a:rPr>
                        <a:t>화면설명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-      -</a:t>
                      </a:r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067440" y="6645875"/>
            <a:ext cx="213767" cy="138499"/>
          </a:xfrm>
          <a:prstGeom prst="rect">
            <a:avLst/>
          </a:prstGeom>
        </p:spPr>
        <p:txBody>
          <a:bodyPr wrap="none" lIns="36000" tIns="0" rIns="36000" bIns="0" anchor="ctr" anchorCtr="0">
            <a:spAutoFit/>
          </a:bodyPr>
          <a:lstStyle>
            <a:lvl1pPr algn="ctr">
              <a:defRPr sz="900" b="1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9E41B634-5682-4388-99E7-FE44DCFD254B}" type="slidenum">
              <a:rPr lang="ko-KR" altLang="en-US" smtClean="0"/>
              <a:pPr>
                <a:defRPr/>
              </a:pPr>
              <a:t>‹#›</a:t>
            </a:fld>
            <a:endParaRPr lang="ko-KR" altLang="en-US"/>
          </a:p>
        </p:txBody>
      </p:sp>
      <p:sp>
        <p:nvSpPr>
          <p:cNvPr id="20" name="텍스트 개체 틀 19"/>
          <p:cNvSpPr>
            <a:spLocks noGrp="1"/>
          </p:cNvSpPr>
          <p:nvPr>
            <p:ph type="body" sz="quarter" idx="10"/>
          </p:nvPr>
        </p:nvSpPr>
        <p:spPr>
          <a:xfrm>
            <a:off x="6023595" y="63674"/>
            <a:ext cx="2376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  <p:sp>
        <p:nvSpPr>
          <p:cNvPr id="21" name="텍스트 개체 틀 19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9"/>
          <p:cNvSpPr/>
          <p:nvPr userDrawn="1"/>
        </p:nvSpPr>
        <p:spPr>
          <a:xfrm>
            <a:off x="9728423" y="0"/>
            <a:ext cx="180000" cy="48463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8"/>
          <p:cNvSpPr/>
          <p:nvPr userDrawn="1"/>
        </p:nvSpPr>
        <p:spPr>
          <a:xfrm>
            <a:off x="9728423" y="3933056"/>
            <a:ext cx="180000" cy="29249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60526247"/>
              </p:ext>
            </p:extLst>
          </p:nvPr>
        </p:nvGraphicFramePr>
        <p:xfrm>
          <a:off x="19050" y="30163"/>
          <a:ext cx="9684000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8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65981" y="49957"/>
            <a:ext cx="3959845" cy="161583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>
              <a:defRPr sz="1050">
                <a:solidFill>
                  <a:schemeClr val="bg1"/>
                </a:solidFill>
              </a:defRPr>
            </a:lvl1pPr>
          </a:lstStyle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9264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447801"/>
            <a:ext cx="8420100" cy="4321175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defRPr sz="8800" b="0" cap="all" spc="-80" baseline="0">
                <a:solidFill>
                  <a:schemeClr val="tx1"/>
                </a:solidFill>
              </a:defRPr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228601"/>
            <a:ext cx="8420100" cy="106680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 b="0" cap="all" spc="12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1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76657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1434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763268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sz="1800" b="0" cap="all" spc="100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763268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17642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lang="en-US" sz="1800" b="0" kern="1200" cap="all" spc="100" baseline="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</a:pPr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17642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1600200"/>
            <a:ext cx="5537729" cy="448056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600200"/>
            <a:ext cx="3259006" cy="448056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751218" y="4846320"/>
            <a:ext cx="154782" cy="20116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-1" y="0"/>
            <a:ext cx="9750950" cy="48463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5715000"/>
            <a:ext cx="8832850" cy="4572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4953000"/>
            <a:ext cx="8832850" cy="762000"/>
          </a:xfrm>
          <a:prstGeom prst="rect">
            <a:avLst/>
          </a:prstGeom>
        </p:spPr>
        <p:txBody>
          <a:bodyPr anchor="t">
            <a:normAutofit/>
          </a:bodyPr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10" name="Rectangle 9"/>
          <p:cNvSpPr/>
          <p:nvPr/>
        </p:nvSpPr>
        <p:spPr>
          <a:xfrm>
            <a:off x="9751218" y="0"/>
            <a:ext cx="154782" cy="484632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1752601"/>
            <a:ext cx="8255000" cy="43735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181850" y="274639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274639"/>
            <a:ext cx="65214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237557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60" r:id="rId3"/>
    <p:sldLayoutId id="2147483951" r:id="rId4"/>
    <p:sldLayoutId id="2147483952" r:id="rId5"/>
    <p:sldLayoutId id="2147483953" r:id="rId6"/>
    <p:sldLayoutId id="2147483954" r:id="rId7"/>
    <p:sldLayoutId id="2147483955" r:id="rId8"/>
    <p:sldLayoutId id="2147483956" r:id="rId9"/>
    <p:sldLayoutId id="2147483957" r:id="rId10"/>
    <p:sldLayoutId id="2147483958" r:id="rId11"/>
    <p:sldLayoutId id="2147483959" r:id="rId12"/>
    <p:sldLayoutId id="2147483961" r:id="rId13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3600" kern="1200" cap="all" spc="-60" baseline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1" hangingPunct="1">
        <a:spcBef>
          <a:spcPct val="20000"/>
        </a:spcBef>
        <a:spcAft>
          <a:spcPts val="600"/>
        </a:spcAft>
        <a:buFont typeface="Arial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gif"/><Relationship Id="rId4" Type="http://schemas.openxmlformats.org/officeDocument/2006/relationships/image" Target="../media/image9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3.gi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25.png"/><Relationship Id="rId7" Type="http://schemas.openxmlformats.org/officeDocument/2006/relationships/image" Target="../media/image34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3.gi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47.png"/><Relationship Id="rId3" Type="http://schemas.openxmlformats.org/officeDocument/2006/relationships/image" Target="../media/image25.png"/><Relationship Id="rId7" Type="http://schemas.openxmlformats.org/officeDocument/2006/relationships/image" Target="../media/image41.png"/><Relationship Id="rId12" Type="http://schemas.openxmlformats.org/officeDocument/2006/relationships/image" Target="../media/image46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11" Type="http://schemas.openxmlformats.org/officeDocument/2006/relationships/image" Target="../media/image45.png"/><Relationship Id="rId5" Type="http://schemas.openxmlformats.org/officeDocument/2006/relationships/image" Target="../media/image19.png"/><Relationship Id="rId15" Type="http://schemas.openxmlformats.org/officeDocument/2006/relationships/image" Target="../media/image49.png"/><Relationship Id="rId10" Type="http://schemas.openxmlformats.org/officeDocument/2006/relationships/image" Target="../media/image44.png"/><Relationship Id="rId4" Type="http://schemas.openxmlformats.org/officeDocument/2006/relationships/image" Target="../media/image26.png"/><Relationship Id="rId9" Type="http://schemas.openxmlformats.org/officeDocument/2006/relationships/image" Target="../media/image43.png"/><Relationship Id="rId14" Type="http://schemas.openxmlformats.org/officeDocument/2006/relationships/image" Target="../media/image4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image" Target="../media/image25.png"/><Relationship Id="rId7" Type="http://schemas.openxmlformats.org/officeDocument/2006/relationships/image" Target="../media/image5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25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jpeg"/><Relationship Id="rId5" Type="http://schemas.openxmlformats.org/officeDocument/2006/relationships/image" Target="../media/image19.png"/><Relationship Id="rId10" Type="http://schemas.openxmlformats.org/officeDocument/2006/relationships/image" Target="../media/image50.png"/><Relationship Id="rId4" Type="http://schemas.openxmlformats.org/officeDocument/2006/relationships/image" Target="../media/image26.png"/><Relationship Id="rId9" Type="http://schemas.openxmlformats.org/officeDocument/2006/relationships/image" Target="../media/image39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9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26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.xml"/><Relationship Id="rId5" Type="http://schemas.openxmlformats.org/officeDocument/2006/relationships/chart" Target="../charts/chart1.xml"/><Relationship Id="rId4" Type="http://schemas.openxmlformats.org/officeDocument/2006/relationships/image" Target="../media/image19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9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51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Line 422">
            <a:extLst>
              <a:ext uri="{FF2B5EF4-FFF2-40B4-BE49-F238E27FC236}">
                <a16:creationId xmlns:a16="http://schemas.microsoft.com/office/drawing/2014/main" id="{22BA4FA9-8ABD-489B-86CA-7B858355A5B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976" y="2687638"/>
            <a:ext cx="9047163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 Box 423">
            <a:extLst>
              <a:ext uri="{FF2B5EF4-FFF2-40B4-BE49-F238E27FC236}">
                <a16:creationId xmlns:a16="http://schemas.microsoft.com/office/drawing/2014/main" id="{0A891955-1C33-4136-B95E-012299335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0975" y="2184402"/>
            <a:ext cx="6756400" cy="52322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ko-KR" altLang="en-US" sz="2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설계서</a:t>
            </a:r>
          </a:p>
        </p:txBody>
      </p:sp>
      <p:sp>
        <p:nvSpPr>
          <p:cNvPr id="16" name="Text Box 425">
            <a:extLst>
              <a:ext uri="{FF2B5EF4-FFF2-40B4-BE49-F238E27FC236}">
                <a16:creationId xmlns:a16="http://schemas.microsoft.com/office/drawing/2014/main" id="{DB63DBB6-FE6F-487C-B5AB-10B426DC4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3818155"/>
            <a:ext cx="2128837" cy="2746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Ver. 1.0</a:t>
            </a:r>
          </a:p>
        </p:txBody>
      </p:sp>
      <p:sp>
        <p:nvSpPr>
          <p:cNvPr id="17" name="Text Box 448">
            <a:extLst>
              <a:ext uri="{FF2B5EF4-FFF2-40B4-BE49-F238E27FC236}">
                <a16:creationId xmlns:a16="http://schemas.microsoft.com/office/drawing/2014/main" id="{D0B9ABB4-77B1-4097-BD78-549BE698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4119" y="4302851"/>
            <a:ext cx="1352550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단계명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</p:txBody>
      </p:sp>
      <p:sp>
        <p:nvSpPr>
          <p:cNvPr id="18" name="Text Box 453">
            <a:extLst>
              <a:ext uri="{FF2B5EF4-FFF2-40B4-BE49-F238E27FC236}">
                <a16:creationId xmlns:a16="http://schemas.microsoft.com/office/drawing/2014/main" id="{25373915-B57C-4199-8BAB-A203137148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4302851"/>
            <a:ext cx="1982975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 포털</a:t>
            </a:r>
            <a:endParaRPr kumimoji="0" lang="en-US" altLang="ko-KR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설계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8034A1AE-18CB-44FE-A1A0-47B6A1F5E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3934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 Box 426">
            <a:extLst>
              <a:ext uri="{FF2B5EF4-FFF2-40B4-BE49-F238E27FC236}">
                <a16:creationId xmlns:a16="http://schemas.microsoft.com/office/drawing/2014/main" id="{9CBFF8BD-645C-44E8-AC5E-1919B3715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5480" y="1376363"/>
            <a:ext cx="72214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50000"/>
              </a:spcBef>
            </a:pPr>
            <a:r>
              <a:rPr lang="ko-KR" altLang="en-US" sz="20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2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163582C6-624E-4114-B5C9-A89CDC7E19B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1456" y="6058287"/>
            <a:ext cx="1571625" cy="416715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9C64EEC2-E296-46A5-9D16-CC7E4F84C98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488" y="5978612"/>
            <a:ext cx="1537438" cy="576063"/>
          </a:xfrm>
          <a:prstGeom prst="rect">
            <a:avLst/>
          </a:prstGeom>
        </p:spPr>
      </p:pic>
      <p:pic>
        <p:nvPicPr>
          <p:cNvPr id="23" name="그림 22" descr="ëìë°ì ì ëí ì´ë¯¸ì§ ê²ìê²°ê³¼">
            <a:extLst>
              <a:ext uri="{FF2B5EF4-FFF2-40B4-BE49-F238E27FC236}">
                <a16:creationId xmlns:a16="http://schemas.microsoft.com/office/drawing/2014/main" id="{77D27B3B-2BF2-4CFA-A5C9-D3758273B7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482" y="193020"/>
            <a:ext cx="2962275" cy="3364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1F67DA71-532B-4323-91AD-23A132BEDA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283513"/>
              </p:ext>
            </p:extLst>
          </p:nvPr>
        </p:nvGraphicFramePr>
        <p:xfrm>
          <a:off x="6681192" y="3300241"/>
          <a:ext cx="2715140" cy="400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140">
                  <a:extLst>
                    <a:ext uri="{9D8B030D-6E8A-4147-A177-3AD203B41FA5}">
                      <a16:colId xmlns:a16="http://schemas.microsoft.com/office/drawing/2014/main" val="194916643"/>
                    </a:ext>
                  </a:extLst>
                </a:gridCol>
              </a:tblGrid>
              <a:tr h="374015">
                <a:tc>
                  <a:txBody>
                    <a:bodyPr/>
                    <a:lstStyle/>
                    <a:p>
                      <a:pPr algn="r" latinLnBrk="0">
                        <a:lnSpc>
                          <a:spcPct val="160000"/>
                        </a:lnSpc>
                        <a:spcAft>
                          <a:spcPts val="0"/>
                        </a:spcAft>
                      </a:pPr>
                      <a:r>
                        <a:rPr lang="ko-KR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 번호</a:t>
                      </a:r>
                      <a:r>
                        <a:rPr lang="en-US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: HK-ESP-013</a:t>
                      </a:r>
                      <a:endParaRPr lang="ko-KR" sz="1100" kern="1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8202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69631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148"/>
          <p:cNvSpPr txBox="1">
            <a:spLocks noChangeArrowheads="1"/>
          </p:cNvSpPr>
          <p:nvPr/>
        </p:nvSpPr>
        <p:spPr bwMode="auto">
          <a:xfrm>
            <a:off x="3729780" y="504109"/>
            <a:ext cx="285313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1" rIns="91424" bIns="45711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algn="ctr" latinLnBrk="0"/>
            <a:r>
              <a:rPr kumimoji="0" lang="ko-KR" altLang="en-US" sz="1400" b="1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정 이 </a:t>
            </a:r>
            <a:r>
              <a:rPr kumimoji="0" lang="ko-KR" altLang="en-US" sz="1400" b="1" u="sng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력</a:t>
            </a:r>
            <a:endParaRPr kumimoji="0" lang="ko-KR" altLang="en-US" sz="1400" b="1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 Box 289"/>
          <p:cNvSpPr txBox="1">
            <a:spLocks noChangeArrowheads="1"/>
          </p:cNvSpPr>
          <p:nvPr/>
        </p:nvSpPr>
        <p:spPr bwMode="auto">
          <a:xfrm>
            <a:off x="159492" y="5980122"/>
            <a:ext cx="55948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사유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내용이 이전 문서에 대해 최초작성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승인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 중 선택 기입</a:t>
            </a:r>
          </a:p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변경이 발생되는 위치와 변경 내용을 자세히 기록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절과 변경 내용을 기술한다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.) </a:t>
            </a:r>
          </a:p>
        </p:txBody>
      </p:sp>
      <p:graphicFrame>
        <p:nvGraphicFramePr>
          <p:cNvPr id="11" name="Group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5845078"/>
              </p:ext>
            </p:extLst>
          </p:nvPr>
        </p:nvGraphicFramePr>
        <p:xfrm>
          <a:off x="245482" y="947021"/>
          <a:ext cx="9430148" cy="4984236"/>
        </p:xfrm>
        <a:graphic>
          <a:graphicData uri="http://schemas.openxmlformats.org/drawingml/2006/table">
            <a:tbl>
              <a:tblPr/>
              <a:tblGrid>
                <a:gridCol w="878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6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4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88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5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68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90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버전</a:t>
                      </a:r>
                    </a:p>
                  </a:txBody>
                  <a:tcPr marL="99060" marR="9906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변경사유</a:t>
                      </a:r>
                      <a:r>
                        <a:rPr kumimoji="0" lang="en-US" altLang="ko-KR" sz="1100" b="1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변경내용</a:t>
                      </a:r>
                      <a:r>
                        <a:rPr kumimoji="0" lang="en-US" altLang="ko-KR" sz="11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Ver. 1.0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2018-07-17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산출물 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김진오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 1.1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2018-07-29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 사항 반영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김진오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548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70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325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99895" y="-3035"/>
            <a:ext cx="2225289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11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7698" y="6125196"/>
            <a:ext cx="1798834" cy="70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2495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3163933"/>
              </p:ext>
            </p:extLst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소개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찾기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 페이지 디자인 시안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ewpsp_scr_001 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2DD3D857-4DF8-48EC-8B37-019254BB3C1B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4598" y="276225"/>
            <a:ext cx="4876594" cy="6431287"/>
          </a:xfrm>
          <a:prstGeom prst="rect">
            <a:avLst/>
          </a:prstGeom>
        </p:spPr>
      </p:pic>
      <p:sp>
        <p:nvSpPr>
          <p:cNvPr id="226" name="타원형 설명선 225"/>
          <p:cNvSpPr/>
          <p:nvPr/>
        </p:nvSpPr>
        <p:spPr>
          <a:xfrm>
            <a:off x="2216696" y="296086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1696598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02829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24223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532681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78285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소개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소개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5306107"/>
              </p:ext>
            </p:extLst>
          </p:nvPr>
        </p:nvGraphicFramePr>
        <p:xfrm>
          <a:off x="8469313" y="276225"/>
          <a:ext cx="1404000" cy="9475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동서발전 서비스 포털 서비스 소개 페이지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서비스 소개 페이지 문구 및 디자인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소개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F56F982A-3DD3-4399-B056-CE34B662B7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93790" y="1646912"/>
            <a:ext cx="1034388" cy="563623"/>
          </a:xfrm>
          <a:prstGeom prst="rect">
            <a:avLst/>
          </a:prstGeom>
        </p:spPr>
      </p:pic>
      <p:pic>
        <p:nvPicPr>
          <p:cNvPr id="1026" name="Picture 2" descr="http://www.pmgrow.co.kr/images/img_solution06_00.jpg">
            <a:extLst>
              <a:ext uri="{FF2B5EF4-FFF2-40B4-BE49-F238E27FC236}">
                <a16:creationId xmlns:a16="http://schemas.microsoft.com/office/drawing/2014/main" id="{2FD06EF1-FF8A-4926-AE10-BE38A9BD42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1544592"/>
            <a:ext cx="4373597" cy="1884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1A117772-3614-4985-99C9-9FF8C185B3B7}"/>
              </a:ext>
            </a:extLst>
          </p:cNvPr>
          <p:cNvSpPr/>
          <p:nvPr/>
        </p:nvSpPr>
        <p:spPr>
          <a:xfrm>
            <a:off x="793825" y="1185701"/>
            <a:ext cx="45192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전력의 생산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변환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소비 등에 대한 모니터링이 가능한 통합관리 시스템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F0FEEF7-862B-445E-AA28-C620114C2F18}"/>
              </a:ext>
            </a:extLst>
          </p:cNvPr>
          <p:cNvSpPr/>
          <p:nvPr/>
        </p:nvSpPr>
        <p:spPr>
          <a:xfrm>
            <a:off x="4833286" y="2996296"/>
            <a:ext cx="432048" cy="25259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E4868A14-C9EB-4A25-819E-AC5177ECF900}"/>
              </a:ext>
            </a:extLst>
          </p:cNvPr>
          <p:cNvCxnSpPr>
            <a:cxnSpLocks/>
            <a:stCxn id="14" idx="0"/>
          </p:cNvCxnSpPr>
          <p:nvPr/>
        </p:nvCxnSpPr>
        <p:spPr>
          <a:xfrm flipV="1">
            <a:off x="5049310" y="2743706"/>
            <a:ext cx="0" cy="25259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연결선: 꺾임 27">
            <a:extLst>
              <a:ext uri="{FF2B5EF4-FFF2-40B4-BE49-F238E27FC236}">
                <a16:creationId xmlns:a16="http://schemas.microsoft.com/office/drawing/2014/main" id="{96C46539-E17D-4329-A713-0EA717D864EC}"/>
              </a:ext>
            </a:extLst>
          </p:cNvPr>
          <p:cNvCxnSpPr>
            <a:cxnSpLocks/>
            <a:stCxn id="14" idx="3"/>
            <a:endCxn id="8" idx="2"/>
          </p:cNvCxnSpPr>
          <p:nvPr/>
        </p:nvCxnSpPr>
        <p:spPr>
          <a:xfrm flipV="1">
            <a:off x="5265334" y="2210535"/>
            <a:ext cx="1145650" cy="912056"/>
          </a:xfrm>
          <a:prstGeom prst="bentConnector2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직선 화살표 연결선 224">
            <a:extLst>
              <a:ext uri="{FF2B5EF4-FFF2-40B4-BE49-F238E27FC236}">
                <a16:creationId xmlns:a16="http://schemas.microsoft.com/office/drawing/2014/main" id="{D6AFB2A1-72FE-42E2-9CF0-C29F487D9400}"/>
              </a:ext>
            </a:extLst>
          </p:cNvPr>
          <p:cNvCxnSpPr/>
          <p:nvPr/>
        </p:nvCxnSpPr>
        <p:spPr>
          <a:xfrm flipH="1">
            <a:off x="4358665" y="1916832"/>
            <a:ext cx="1535125" cy="0"/>
          </a:xfrm>
          <a:prstGeom prst="straightConnector1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C6F3F390-D5C3-451F-9C95-DA815B76962D}"/>
              </a:ext>
            </a:extLst>
          </p:cNvPr>
          <p:cNvSpPr txBox="1"/>
          <p:nvPr/>
        </p:nvSpPr>
        <p:spPr>
          <a:xfrm>
            <a:off x="875210" y="3429000"/>
            <a:ext cx="6552728" cy="4810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IoT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기기와 연계한 각각의 고객 사이트와 전체 사이트의 실시간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과거의 사용량과 미래의 예측량을 모니터링 하고 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ESS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서비스를 통한 실적 및 수익 정보를 조회할 수 있는 서비스 포털 서비스입니다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78050" y="46042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30F6D088-13C1-4FB2-99F7-66AE63AF2450}"/>
              </a:ext>
            </a:extLst>
          </p:cNvPr>
          <p:cNvCxnSpPr/>
          <p:nvPr/>
        </p:nvCxnSpPr>
        <p:spPr>
          <a:xfrm>
            <a:off x="550587" y="4005064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4" descr="ê´ì ì ëí ì´ë¯¸ì§ ê²ìê²°ê³¼">
            <a:extLst>
              <a:ext uri="{FF2B5EF4-FFF2-40B4-BE49-F238E27FC236}">
                <a16:creationId xmlns:a16="http://schemas.microsoft.com/office/drawing/2014/main" id="{9625A501-3C29-4A5B-8108-02B96BED9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108582"/>
            <a:ext cx="612000" cy="51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BE390C-F378-49FD-AEC6-8BC572150E94}"/>
              </a:ext>
            </a:extLst>
          </p:cNvPr>
          <p:cNvSpPr/>
          <p:nvPr/>
        </p:nvSpPr>
        <p:spPr>
          <a:xfrm>
            <a:off x="1712640" y="4957009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 사용량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발전량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IOE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통신상태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PCS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BMS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발전상태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알람 정보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각 장치 별 알람 정보를 확인하고 처리상태를 점검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7" name="Picture 8" descr="ììµ ê´ë¦¬ì ëí ì´ë¯¸ì§ ê²ìê²°ê³¼">
            <a:extLst>
              <a:ext uri="{FF2B5EF4-FFF2-40B4-BE49-F238E27FC236}">
                <a16:creationId xmlns:a16="http://schemas.microsoft.com/office/drawing/2014/main" id="{796FBC84-5076-4B1F-A8DA-2F68225485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929185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직사각형 67">
            <a:extLst>
              <a:ext uri="{FF2B5EF4-FFF2-40B4-BE49-F238E27FC236}">
                <a16:creationId xmlns:a16="http://schemas.microsoft.com/office/drawing/2014/main" id="{8824B4E9-4E4D-456F-A473-92FCF12C05DD}"/>
              </a:ext>
            </a:extLst>
          </p:cNvPr>
          <p:cNvSpPr/>
          <p:nvPr/>
        </p:nvSpPr>
        <p:spPr>
          <a:xfrm>
            <a:off x="1712640" y="5856444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수익정보 확인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요금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항목 별 한전 요금 상세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ESS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절감 수익 배분 청구 명세서 확인 및 출력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9" name="Picture 14" descr="íí©ì ëí ì´ë¯¸ì§ ê²ìê²°ê³¼">
            <a:extLst>
              <a:ext uri="{FF2B5EF4-FFF2-40B4-BE49-F238E27FC236}">
                <a16:creationId xmlns:a16="http://schemas.microsoft.com/office/drawing/2014/main" id="{9EE455C1-80F3-44E2-AE22-4A9ECA514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4156637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FCDE070-ED0C-4FDB-89C2-14B90F72FC3E}"/>
              </a:ext>
            </a:extLst>
          </p:cNvPr>
          <p:cNvSpPr/>
          <p:nvPr/>
        </p:nvSpPr>
        <p:spPr>
          <a:xfrm>
            <a:off x="1712640" y="4077072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현황 </a:t>
            </a:r>
            <a:r>
              <a:rPr lang="en-US" altLang="ko-KR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전체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그룹 별 현황 대시보드 화면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사이트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 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사이트 별 현황 대시보드 화면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전력관리 설정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한전계약 및 전력관리 정보를 설정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말풍선: 모서리가 둥근 사각형 71">
            <a:extLst>
              <a:ext uri="{FF2B5EF4-FFF2-40B4-BE49-F238E27FC236}">
                <a16:creationId xmlns:a16="http://schemas.microsoft.com/office/drawing/2014/main" id="{7CEF9C54-9107-497C-95C8-5A167245E890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포털 소개 내용 확정 후 업데이트 예정</a:t>
            </a:r>
          </a:p>
        </p:txBody>
      </p:sp>
    </p:spTree>
    <p:extLst>
      <p:ext uri="{BB962C8B-B14F-4D97-AF65-F5344CB8AC3E}">
        <p14:creationId xmlns:p14="http://schemas.microsoft.com/office/powerpoint/2010/main" val="27183932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그림 87">
            <a:extLst>
              <a:ext uri="{FF2B5EF4-FFF2-40B4-BE49-F238E27FC236}">
                <a16:creationId xmlns:a16="http://schemas.microsoft.com/office/drawing/2014/main" id="{9026EC95-E5E4-4CAB-8059-1B95556821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3700804"/>
            <a:ext cx="90269" cy="1134000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AA14CB7B-8D6F-43D9-853B-371AB3BC26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1761620"/>
            <a:ext cx="90269" cy="1134000"/>
          </a:xfrm>
          <a:prstGeom prst="rect">
            <a:avLst/>
          </a:prstGeom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566049"/>
              </p:ext>
            </p:extLst>
          </p:nvPr>
        </p:nvGraphicFramePr>
        <p:xfrm>
          <a:off x="8469313" y="276225"/>
          <a:ext cx="1404000" cy="2623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전문보기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이용약관 동의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체크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전문보기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체크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단계로 이동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입력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디자인 및 문구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및 활용동의 전문 확정 후 반영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035830" y="51723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6237089" y="337926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6237089" y="1442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16142" y="33396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637489" y="141750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이용약관 및 정보이용 안내에 대한 동의를 해주세요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27CEACE1-CCB2-4BA6-8256-ECC4C89E968F}"/>
              </a:ext>
            </a:extLst>
          </p:cNvPr>
          <p:cNvGrpSpPr/>
          <p:nvPr/>
        </p:nvGrpSpPr>
        <p:grpSpPr>
          <a:xfrm>
            <a:off x="920552" y="1484784"/>
            <a:ext cx="6048672" cy="1670992"/>
            <a:chOff x="920552" y="1484784"/>
            <a:chExt cx="6048672" cy="16709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584B4092-3768-4BDB-8CA4-410E983BD00F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 동서발전 서비스 포털 이용약관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2F4FCE6D-967E-432A-98EF-AC703CCAE25D}"/>
                </a:ext>
              </a:extLst>
            </p:cNvPr>
            <p:cNvSpPr/>
            <p:nvPr/>
          </p:nvSpPr>
          <p:spPr>
            <a:xfrm>
              <a:off x="1038132" y="1780918"/>
              <a:ext cx="1008112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목적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용어의 정의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7736110-361D-4A65-A205-C44EAB1F23AA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7E6643A2-D238-497C-8C92-73A6E910B4E0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6F4F868-E9A7-4A2A-97D8-56E5F48D09A0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2D568E02-E02C-4863-89D7-7C72100C4FD4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334D9E2-ED0F-45DD-A956-B2474E21C157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A728CC0A-D1ED-4387-A75E-C4D5CE867DB6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92CB7056-9975-4CFB-AA1F-8CB1157B54DA}"/>
              </a:ext>
            </a:extLst>
          </p:cNvPr>
          <p:cNvGrpSpPr/>
          <p:nvPr/>
        </p:nvGrpSpPr>
        <p:grpSpPr>
          <a:xfrm>
            <a:off x="920552" y="3428999"/>
            <a:ext cx="6048672" cy="1670992"/>
            <a:chOff x="920552" y="1484784"/>
            <a:chExt cx="6048672" cy="1670992"/>
          </a:xfrm>
        </p:grpSpPr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EDEF240-64DF-4297-A37A-A3F8736B9898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A5538D44-2F9F-4E80-81A2-E2CEBAD7FCB2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 수집</a:t>
              </a:r>
              <a:r>
                <a:rPr lang="en-US" altLang="ko-KR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제공 및 활용 동의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C2B1F7EF-CFF1-4AC4-8E23-9F2D22C55222}"/>
                </a:ext>
              </a:extLst>
            </p:cNvPr>
            <p:cNvSpPr/>
            <p:nvPr/>
          </p:nvSpPr>
          <p:spPr>
            <a:xfrm>
              <a:off x="1038132" y="1780918"/>
              <a:ext cx="1466596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1. 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수집하는 정보 항목</a:t>
              </a: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FFE1E7E-713A-4437-8E95-E960DE9FE3E1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C588D97-E1C5-4BA8-9D1D-A25CF8C55CE3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157BC539-B7E2-4ED5-9B6F-154216B155FC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직사각형 86">
                <a:extLst>
                  <a:ext uri="{FF2B5EF4-FFF2-40B4-BE49-F238E27FC236}">
                    <a16:creationId xmlns:a16="http://schemas.microsoft.com/office/drawing/2014/main" id="{4F07EE42-F116-4E3D-85D8-6711737EB763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627A9B-F5FB-41FC-BB09-45B2914D99C9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338306" y="535362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다음단계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704317" y="47506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720046" y="27954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말풍선: 모서리가 둥근 사각형 89">
            <a:extLst>
              <a:ext uri="{FF2B5EF4-FFF2-40B4-BE49-F238E27FC236}">
                <a16:creationId xmlns:a16="http://schemas.microsoft.com/office/drawing/2014/main" id="{A922D065-E5D3-4606-84FB-9EB44FFF6837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 내용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</p:spTree>
    <p:extLst>
      <p:ext uri="{BB962C8B-B14F-4D97-AF65-F5344CB8AC3E}">
        <p14:creationId xmlns:p14="http://schemas.microsoft.com/office/powerpoint/2010/main" val="20236863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직사각형 51">
            <a:extLst>
              <a:ext uri="{FF2B5EF4-FFF2-40B4-BE49-F238E27FC236}">
                <a16:creationId xmlns:a16="http://schemas.microsoft.com/office/drawing/2014/main" id="{B46A70FD-0EC8-46A7-94E5-75FBE9CC803F}"/>
              </a:ext>
            </a:extLst>
          </p:cNvPr>
          <p:cNvSpPr/>
          <p:nvPr/>
        </p:nvSpPr>
        <p:spPr>
          <a:xfrm>
            <a:off x="4508287" y="1628800"/>
            <a:ext cx="1250412" cy="424847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정보입력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가입 정보 입력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3171325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355696" y="597818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정보를 입력해 주세요</a:t>
            </a:r>
            <a:r>
              <a:rPr lang="en-US" altLang="ko-KR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658172" y="6159463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다음단계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9E0736-F174-42B2-A7DB-77FBE78D3E48}"/>
              </a:ext>
            </a:extLst>
          </p:cNvPr>
          <p:cNvSpPr/>
          <p:nvPr/>
        </p:nvSpPr>
        <p:spPr>
          <a:xfrm>
            <a:off x="606244" y="1628800"/>
            <a:ext cx="1250412" cy="424847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F4E942EA-9A7D-46F4-9B1A-7C82CF995173}"/>
              </a:ext>
            </a:extLst>
          </p:cNvPr>
          <p:cNvCxnSpPr/>
          <p:nvPr/>
        </p:nvCxnSpPr>
        <p:spPr>
          <a:xfrm>
            <a:off x="606245" y="1628800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D7E8FCB4-E719-444B-873F-5603ECD077EE}"/>
              </a:ext>
            </a:extLst>
          </p:cNvPr>
          <p:cNvCxnSpPr/>
          <p:nvPr/>
        </p:nvCxnSpPr>
        <p:spPr>
          <a:xfrm>
            <a:off x="606244" y="5877379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5280FED-DB2D-4045-8F2D-1EF1C554BEC4}"/>
              </a:ext>
            </a:extLst>
          </p:cNvPr>
          <p:cNvCxnSpPr/>
          <p:nvPr/>
        </p:nvCxnSpPr>
        <p:spPr>
          <a:xfrm>
            <a:off x="606244" y="1988840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3DAC5599-800D-42C6-9DF4-C6DCCDDE290A}"/>
              </a:ext>
            </a:extLst>
          </p:cNvPr>
          <p:cNvSpPr txBox="1"/>
          <p:nvPr/>
        </p:nvSpPr>
        <p:spPr>
          <a:xfrm>
            <a:off x="657141" y="1706356"/>
            <a:ext cx="56293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0C6FEF2-0051-444C-8F68-2BD8E16D26C3}"/>
              </a:ext>
            </a:extLst>
          </p:cNvPr>
          <p:cNvSpPr/>
          <p:nvPr/>
        </p:nvSpPr>
        <p:spPr>
          <a:xfrm>
            <a:off x="1928664" y="1690453"/>
            <a:ext cx="1943630" cy="23400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8C0B7E3-74F9-4583-9E03-E32507FB153B}"/>
              </a:ext>
            </a:extLst>
          </p:cNvPr>
          <p:cNvGrpSpPr/>
          <p:nvPr/>
        </p:nvGrpSpPr>
        <p:grpSpPr>
          <a:xfrm>
            <a:off x="3872302" y="1690454"/>
            <a:ext cx="234000" cy="234000"/>
            <a:chOff x="3872302" y="1690454"/>
            <a:chExt cx="234000" cy="234000"/>
          </a:xfrm>
        </p:grpSpPr>
        <p:sp>
          <p:nvSpPr>
            <p:cNvPr id="16" name="이등변 삼각형 15">
              <a:extLst>
                <a:ext uri="{FF2B5EF4-FFF2-40B4-BE49-F238E27FC236}">
                  <a16:creationId xmlns:a16="http://schemas.microsoft.com/office/drawing/2014/main" id="{0FDDC6FB-5DBB-481D-8C7B-6C9DE8FDC789}"/>
                </a:ext>
              </a:extLst>
            </p:cNvPr>
            <p:cNvSpPr/>
            <p:nvPr/>
          </p:nvSpPr>
          <p:spPr>
            <a:xfrm rot="10800000">
              <a:off x="3917302" y="1735454"/>
              <a:ext cx="144000" cy="144000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94D568B6-E084-42AB-AECA-90BD9CD150AC}"/>
                </a:ext>
              </a:extLst>
            </p:cNvPr>
            <p:cNvSpPr/>
            <p:nvPr/>
          </p:nvSpPr>
          <p:spPr>
            <a:xfrm>
              <a:off x="3872302" y="1690454"/>
              <a:ext cx="234000" cy="234000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9C2700C7-6230-4C17-A5AD-E1EE5431C565}"/>
              </a:ext>
            </a:extLst>
          </p:cNvPr>
          <p:cNvSpPr txBox="1"/>
          <p:nvPr/>
        </p:nvSpPr>
        <p:spPr>
          <a:xfrm>
            <a:off x="4567270" y="1706356"/>
            <a:ext cx="745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AD41249-7C96-4D8F-A0FC-F2B797C3264D}"/>
              </a:ext>
            </a:extLst>
          </p:cNvPr>
          <p:cNvSpPr/>
          <p:nvPr/>
        </p:nvSpPr>
        <p:spPr>
          <a:xfrm>
            <a:off x="5887940" y="1700984"/>
            <a:ext cx="1801364" cy="2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말풍선: 모서리가 둥근 사각형 22">
            <a:extLst>
              <a:ext uri="{FF2B5EF4-FFF2-40B4-BE49-F238E27FC236}">
                <a16:creationId xmlns:a16="http://schemas.microsoft.com/office/drawing/2014/main" id="{3DD03724-FC86-487F-BAB2-78D7EB776D39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입력정보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9919" y="15099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303828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652813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검색 입력 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자주하는 질문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(FAQ)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A3EF0CB-ECF3-488E-94C9-92ABCFF665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2493" y="1700808"/>
            <a:ext cx="6936811" cy="2592281"/>
          </a:xfrm>
          <a:prstGeom prst="rect">
            <a:avLst/>
          </a:prstGeom>
        </p:spPr>
      </p:pic>
      <p:sp>
        <p:nvSpPr>
          <p:cNvPr id="31" name="말풍선: 모서리가 둥근 사각형 30">
            <a:extLst>
              <a:ext uri="{FF2B5EF4-FFF2-40B4-BE49-F238E27FC236}">
                <a16:creationId xmlns:a16="http://schemas.microsoft.com/office/drawing/2014/main" id="{022CC2BE-B6F7-48FB-9A3A-BB2FE99E9465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FAQ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490711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9D891C3-FF7D-4DBA-A719-162EC870124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59278" y="1142140"/>
            <a:ext cx="2574042" cy="376689"/>
          </a:xfrm>
          <a:prstGeom prst="rect">
            <a:avLst/>
          </a:prstGeom>
        </p:spPr>
      </p:pic>
      <p:sp>
        <p:nvSpPr>
          <p:cNvPr id="34" name="타원형 설명선 225">
            <a:extLst>
              <a:ext uri="{FF2B5EF4-FFF2-40B4-BE49-F238E27FC236}">
                <a16:creationId xmlns:a16="http://schemas.microsoft.com/office/drawing/2014/main" id="{7E378D81-2F87-43D9-A488-5B5839C4F91C}"/>
              </a:ext>
            </a:extLst>
          </p:cNvPr>
          <p:cNvSpPr/>
          <p:nvPr/>
        </p:nvSpPr>
        <p:spPr>
          <a:xfrm>
            <a:off x="5043278" y="10784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795993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0329268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31" name="말풍선: 모서리가 둥근 사각형 30">
            <a:extLst>
              <a:ext uri="{FF2B5EF4-FFF2-40B4-BE49-F238E27FC236}">
                <a16:creationId xmlns:a16="http://schemas.microsoft.com/office/drawing/2014/main" id="{022CC2BE-B6F7-48FB-9A3A-BB2FE99E9465}"/>
              </a:ext>
            </a:extLst>
          </p:cNvPr>
          <p:cNvSpPr/>
          <p:nvPr/>
        </p:nvSpPr>
        <p:spPr>
          <a:xfrm>
            <a:off x="4583403" y="430781"/>
            <a:ext cx="17934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 정책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490711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180051B1-9A7E-4AD5-A056-2B7CA8CEEB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838" y="1346980"/>
            <a:ext cx="7193482" cy="1934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981101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054571"/>
              </p:ext>
            </p:extLst>
          </p:nvPr>
        </p:nvGraphicFramePr>
        <p:xfrm>
          <a:off x="8469313" y="276225"/>
          <a:ext cx="1404000" cy="5500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기준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갱신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갱신 시간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 검색 창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권한에 따라 접근 가능한 사이트들로 범위 제한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 사용자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로그아웃 처리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91780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지정된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마다 지정된 지역 순서대로 활성화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선택할 경우 해당 지역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지도 內 지역을 더블클릭 하면 해당 지역 지도로 변경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87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정보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되는 지역의 기본 정보를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대체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지역명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지역이 변경될 때마다 해당 지역 정보로 갱신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9657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선택된 기간으로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영역의 내용을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581274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2705327" y="135282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44" name="타원형 설명선 243"/>
          <p:cNvSpPr/>
          <p:nvPr/>
        </p:nvSpPr>
        <p:spPr>
          <a:xfrm>
            <a:off x="665687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336274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07846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7525836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3002910" y="1473572"/>
            <a:ext cx="110869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3E78D5A-1457-4C4D-AB90-47D092820DCA}"/>
              </a:ext>
            </a:extLst>
          </p:cNvPr>
          <p:cNvSpPr/>
          <p:nvPr/>
        </p:nvSpPr>
        <p:spPr>
          <a:xfrm>
            <a:off x="3028649" y="1851182"/>
            <a:ext cx="2252372" cy="2911281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13BEE4A-24AA-4E3D-A34E-EDDF2C1DC7BF}"/>
              </a:ext>
            </a:extLst>
          </p:cNvPr>
          <p:cNvSpPr/>
          <p:nvPr/>
        </p:nvSpPr>
        <p:spPr>
          <a:xfrm>
            <a:off x="5547333" y="1374817"/>
            <a:ext cx="2381538" cy="2310754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DF6E872-B4ED-43F2-B433-48F9583AC965}"/>
              </a:ext>
            </a:extLst>
          </p:cNvPr>
          <p:cNvSpPr/>
          <p:nvPr/>
        </p:nvSpPr>
        <p:spPr>
          <a:xfrm>
            <a:off x="5578100" y="3863391"/>
            <a:ext cx="2381537" cy="10057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형 설명선 225">
            <a:extLst>
              <a:ext uri="{FF2B5EF4-FFF2-40B4-BE49-F238E27FC236}">
                <a16:creationId xmlns:a16="http://schemas.microsoft.com/office/drawing/2014/main" id="{E4D40D6D-A603-4967-8EDC-C904528E0CED}"/>
              </a:ext>
            </a:extLst>
          </p:cNvPr>
          <p:cNvSpPr/>
          <p:nvPr/>
        </p:nvSpPr>
        <p:spPr>
          <a:xfrm>
            <a:off x="5339411" y="130125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타원형 설명선 225">
            <a:extLst>
              <a:ext uri="{FF2B5EF4-FFF2-40B4-BE49-F238E27FC236}">
                <a16:creationId xmlns:a16="http://schemas.microsoft.com/office/drawing/2014/main" id="{30D4BFD7-E274-495D-BD10-6E77B6E8E5D0}"/>
              </a:ext>
            </a:extLst>
          </p:cNvPr>
          <p:cNvSpPr/>
          <p:nvPr/>
        </p:nvSpPr>
        <p:spPr>
          <a:xfrm>
            <a:off x="5386038" y="37298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B236C193-A4F5-4CF8-9220-4E8CF5783F0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989E1C05-364E-43F7-B0E6-293B005A6071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74" name="그림 73">
                <a:extLst>
                  <a:ext uri="{FF2B5EF4-FFF2-40B4-BE49-F238E27FC236}">
                    <a16:creationId xmlns:a16="http://schemas.microsoft.com/office/drawing/2014/main" id="{48E492AE-0A19-4225-99AA-654D51D13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5" name="그림 74">
                <a:extLst>
                  <a:ext uri="{FF2B5EF4-FFF2-40B4-BE49-F238E27FC236}">
                    <a16:creationId xmlns:a16="http://schemas.microsoft.com/office/drawing/2014/main" id="{14D631F8-BDD9-47AD-A2FD-C59305B464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6" name="그림 75">
                <a:extLst>
                  <a:ext uri="{FF2B5EF4-FFF2-40B4-BE49-F238E27FC236}">
                    <a16:creationId xmlns:a16="http://schemas.microsoft.com/office/drawing/2014/main" id="{251A8D6A-7055-41DA-B64B-6EF6F9B4F4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7" name="그림 76">
                <a:extLst>
                  <a:ext uri="{FF2B5EF4-FFF2-40B4-BE49-F238E27FC236}">
                    <a16:creationId xmlns:a16="http://schemas.microsoft.com/office/drawing/2014/main" id="{85EC3D49-24AA-4C7A-A550-24D3C41702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F4410A98-A50A-4606-8653-1D29013445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A1114503-1DEA-4E38-89AA-ABEA77364FF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74E50882-9C76-40C2-BE9A-F591B91349E0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195EF73-C2B4-486E-84F5-EC570392CCFD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39410A0-BA58-4FAD-9CF2-955E92B21160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E72E54-2504-4936-8009-A8FE200714B1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2657228" y="190466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590679" y="191890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형 설명선 246">
            <a:extLst>
              <a:ext uri="{FF2B5EF4-FFF2-40B4-BE49-F238E27FC236}">
                <a16:creationId xmlns:a16="http://schemas.microsoft.com/office/drawing/2014/main" id="{49E9ADAA-44B9-49FC-A546-CB35741D1182}"/>
              </a:ext>
            </a:extLst>
          </p:cNvPr>
          <p:cNvSpPr/>
          <p:nvPr/>
        </p:nvSpPr>
        <p:spPr>
          <a:xfrm>
            <a:off x="417661" y="390792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말풍선: 모서리가 둥근 사각형 81">
            <a:extLst>
              <a:ext uri="{FF2B5EF4-FFF2-40B4-BE49-F238E27FC236}">
                <a16:creationId xmlns:a16="http://schemas.microsoft.com/office/drawing/2014/main" id="{91F843E4-0362-4C7B-8E2F-59E226E6FB90}"/>
              </a:ext>
            </a:extLst>
          </p:cNvPr>
          <p:cNvSpPr/>
          <p:nvPr/>
        </p:nvSpPr>
        <p:spPr>
          <a:xfrm>
            <a:off x="597993" y="5094772"/>
            <a:ext cx="2776941" cy="1015378"/>
          </a:xfrm>
          <a:prstGeom prst="wedgeRoundRectCallout">
            <a:avLst>
              <a:gd name="adj1" fmla="val -31295"/>
              <a:gd name="adj2" fmla="val -67667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지도 컨셉 변경 필요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기존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툴팁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영역을 고정 영역으로 변경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전국지도에서 지역 선택하면 해당 지역 지도로 변경</a:t>
            </a: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E0AE6D3F-7065-4DCD-A666-F61B31D9453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12528" y="1031031"/>
            <a:ext cx="3456495" cy="309737"/>
          </a:xfrm>
          <a:prstGeom prst="rect">
            <a:avLst/>
          </a:prstGeom>
        </p:spPr>
      </p:pic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12528" y="89852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3BC2971-CC68-49FF-BF78-97D91E383738}"/>
              </a:ext>
            </a:extLst>
          </p:cNvPr>
          <p:cNvSpPr txBox="1"/>
          <p:nvPr/>
        </p:nvSpPr>
        <p:spPr>
          <a:xfrm>
            <a:off x="1640633" y="1079049"/>
            <a:ext cx="363086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현재시간 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2018-07-27 17:10:05   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데이터 기준 시각 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2018-07-27 17:01:02 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4" name="그림 83">
            <a:extLst>
              <a:ext uri="{FF2B5EF4-FFF2-40B4-BE49-F238E27FC236}">
                <a16:creationId xmlns:a16="http://schemas.microsoft.com/office/drawing/2014/main" id="{86ABEFAD-F01B-47FA-8A84-C0EA6A28616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64103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3391521"/>
              </p:ext>
            </p:extLst>
          </p:nvPr>
        </p:nvGraphicFramePr>
        <p:xfrm>
          <a:off x="8469313" y="276225"/>
          <a:ext cx="1404000" cy="621331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범위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지역별을 선택하면 지도 내 선택된 지역의 전체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그룹별을 선택하면 지도 내 선택 지역과 상관없이  사용자가 편집한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그룹들을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 선택하면 그룹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위치하는 지역만 순차적으로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지역선택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기본값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전체지역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- 9, 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 항목의 선택 기준에 따라 지역선택에서 선택된 지역만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1),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 선택에 따라 앞 페이지 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업체명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행을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Main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전환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965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전국지역에서 특정 지역을 선택하면 해당 지역 지도 이미지로 변경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‘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선택하여 전국지도로 변경가능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 상태에서도 하단 지역 정보는 계속 순서대로 변경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3880237" y="1339613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785640" y="17389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4198713" y="1460356"/>
            <a:ext cx="105542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237839B-86F7-402F-94F7-2F7EC3F92843}"/>
              </a:ext>
            </a:extLst>
          </p:cNvPr>
          <p:cNvSpPr/>
          <p:nvPr/>
        </p:nvSpPr>
        <p:spPr>
          <a:xfrm>
            <a:off x="3084842" y="1827864"/>
            <a:ext cx="2147576" cy="252688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7A10855-9C99-4FE4-A5ED-B3CD64F13797}"/>
              </a:ext>
            </a:extLst>
          </p:cNvPr>
          <p:cNvGrpSpPr/>
          <p:nvPr/>
        </p:nvGrpSpPr>
        <p:grpSpPr>
          <a:xfrm>
            <a:off x="818259" y="1813181"/>
            <a:ext cx="1933591" cy="2962275"/>
            <a:chOff x="818259" y="1813181"/>
            <a:chExt cx="1933591" cy="2962275"/>
          </a:xfrm>
        </p:grpSpPr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04CF7381-F822-4BF4-B543-EFEA00F3E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18259" y="1813181"/>
              <a:ext cx="428625" cy="2962275"/>
            </a:xfrm>
            <a:prstGeom prst="rect">
              <a:avLst/>
            </a:prstGeom>
          </p:spPr>
        </p:pic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B154DC95-3492-47C8-A210-01C64CD4B62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323225" y="1813181"/>
              <a:ext cx="428625" cy="2962275"/>
            </a:xfrm>
            <a:prstGeom prst="rect">
              <a:avLst/>
            </a:prstGeom>
          </p:spPr>
        </p:pic>
        <p:pic>
          <p:nvPicPr>
            <p:cNvPr id="70" name="그림 69">
              <a:extLst>
                <a:ext uri="{FF2B5EF4-FFF2-40B4-BE49-F238E27FC236}">
                  <a16:creationId xmlns:a16="http://schemas.microsoft.com/office/drawing/2014/main" id="{19D446EC-8629-446D-A5ED-BDCBE2BDB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92332" y="1813181"/>
              <a:ext cx="428625" cy="2962275"/>
            </a:xfrm>
            <a:prstGeom prst="rect">
              <a:avLst/>
            </a:prstGeom>
          </p:spPr>
        </p:pic>
        <p:pic>
          <p:nvPicPr>
            <p:cNvPr id="71" name="그림 70">
              <a:extLst>
                <a:ext uri="{FF2B5EF4-FFF2-40B4-BE49-F238E27FC236}">
                  <a16:creationId xmlns:a16="http://schemas.microsoft.com/office/drawing/2014/main" id="{30C99989-427A-40E2-8685-A32DF9EDC2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551747" y="1813181"/>
              <a:ext cx="428625" cy="2962275"/>
            </a:xfrm>
            <a:prstGeom prst="rect">
              <a:avLst/>
            </a:prstGeom>
          </p:spPr>
        </p:pic>
        <p:pic>
          <p:nvPicPr>
            <p:cNvPr id="72" name="그림 71">
              <a:extLst>
                <a:ext uri="{FF2B5EF4-FFF2-40B4-BE49-F238E27FC236}">
                  <a16:creationId xmlns:a16="http://schemas.microsoft.com/office/drawing/2014/main" id="{31D7A58B-CB85-4090-B922-29D4FB4930E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933637" y="1813181"/>
              <a:ext cx="428625" cy="2962275"/>
            </a:xfrm>
            <a:prstGeom prst="rect">
              <a:avLst/>
            </a:prstGeom>
          </p:spPr>
        </p:pic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E4A54FC-E7F0-466D-B402-C08BCC983DA0}"/>
              </a:ext>
            </a:extLst>
          </p:cNvPr>
          <p:cNvSpPr/>
          <p:nvPr/>
        </p:nvSpPr>
        <p:spPr>
          <a:xfrm>
            <a:off x="704528" y="4069020"/>
            <a:ext cx="2016223" cy="757555"/>
          </a:xfrm>
          <a:prstGeom prst="rect">
            <a:avLst/>
          </a:prstGeom>
          <a:solidFill>
            <a:srgbClr val="353760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9F2C7FE-7DBE-48EB-BD12-616CC12CF19B}"/>
              </a:ext>
            </a:extLst>
          </p:cNvPr>
          <p:cNvSpPr txBox="1"/>
          <p:nvPr/>
        </p:nvSpPr>
        <p:spPr>
          <a:xfrm>
            <a:off x="920166" y="4118883"/>
            <a:ext cx="5764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울산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3168B930-EEBF-4734-A1AA-146487E5335C}"/>
              </a:ext>
            </a:extLst>
          </p:cNvPr>
          <p:cNvSpPr txBox="1"/>
          <p:nvPr/>
        </p:nvSpPr>
        <p:spPr>
          <a:xfrm>
            <a:off x="1640632" y="4315823"/>
            <a:ext cx="95561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A61D3A6-C046-4CC9-9EF6-003EE8310A1A}"/>
              </a:ext>
            </a:extLst>
          </p:cNvPr>
          <p:cNvSpPr txBox="1"/>
          <p:nvPr/>
        </p:nvSpPr>
        <p:spPr>
          <a:xfrm>
            <a:off x="879076" y="4365104"/>
            <a:ext cx="7615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</a:p>
          <a:p>
            <a:r>
              <a: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 </a:t>
            </a:r>
            <a:r>
              <a:rPr lang="en-US" altLang="ko-KR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solidFill>
                <a:srgbClr val="FFC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058E1A2D-79EE-4D72-9BF6-8EDC815EE70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8544" y="2327604"/>
            <a:ext cx="1747840" cy="1472307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BF51907-58C7-4B27-813D-1CD31CB72EBB}"/>
              </a:ext>
            </a:extLst>
          </p:cNvPr>
          <p:cNvSpPr txBox="1"/>
          <p:nvPr/>
        </p:nvSpPr>
        <p:spPr>
          <a:xfrm>
            <a:off x="824465" y="1941649"/>
            <a:ext cx="9311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</a:t>
            </a:r>
          </a:p>
        </p:txBody>
      </p:sp>
      <p:pic>
        <p:nvPicPr>
          <p:cNvPr id="2050" name="Picture 2" descr="rollbackì ëí ì´ë¯¸ì§ ê²ìê²°ê³¼">
            <a:extLst>
              <a:ext uri="{FF2B5EF4-FFF2-40B4-BE49-F238E27FC236}">
                <a16:creationId xmlns:a16="http://schemas.microsoft.com/office/drawing/2014/main" id="{589F0134-2E55-435B-BE93-4033D1B827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2680" y="2131208"/>
            <a:ext cx="140589" cy="140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7A0F8BAE-1462-402F-8AD0-6DFB32F8A018}"/>
              </a:ext>
            </a:extLst>
          </p:cNvPr>
          <p:cNvSpPr txBox="1"/>
          <p:nvPr/>
        </p:nvSpPr>
        <p:spPr>
          <a:xfrm>
            <a:off x="2143507" y="2117370"/>
            <a:ext cx="50232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전국지도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C980E5A-83F8-4F8A-B05A-95089D721497}"/>
              </a:ext>
            </a:extLst>
          </p:cNvPr>
          <p:cNvSpPr/>
          <p:nvPr/>
        </p:nvSpPr>
        <p:spPr>
          <a:xfrm>
            <a:off x="5025008" y="5373216"/>
            <a:ext cx="3211367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*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사용량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방전량의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단위는 다음 기준으로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9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MWh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6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kWh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그 이하는 </a:t>
            </a:r>
            <a:r>
              <a:rPr kumimoji="1" lang="en-US" altLang="ko-KR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lang="ko-KR" altLang="en-US" sz="1000" dirty="0"/>
          </a:p>
        </p:txBody>
      </p:sp>
      <p:sp>
        <p:nvSpPr>
          <p:cNvPr id="75" name="타원형 설명선 205">
            <a:extLst>
              <a:ext uri="{FF2B5EF4-FFF2-40B4-BE49-F238E27FC236}">
                <a16:creationId xmlns:a16="http://schemas.microsoft.com/office/drawing/2014/main" id="{3C584807-9CCB-4E3C-BF42-046A0900F0BE}"/>
              </a:ext>
            </a:extLst>
          </p:cNvPr>
          <p:cNvSpPr/>
          <p:nvPr/>
        </p:nvSpPr>
        <p:spPr>
          <a:xfrm>
            <a:off x="326046" y="1820745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9BBC116-BF75-4564-AD8B-E9B3EB88E76E}"/>
              </a:ext>
            </a:extLst>
          </p:cNvPr>
          <p:cNvSpPr/>
          <p:nvPr/>
        </p:nvSpPr>
        <p:spPr>
          <a:xfrm>
            <a:off x="640725" y="1869239"/>
            <a:ext cx="2147576" cy="300320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1777993-9C41-4C3F-A042-4D076BBC1F0E}"/>
              </a:ext>
            </a:extLst>
          </p:cNvPr>
          <p:cNvGrpSpPr/>
          <p:nvPr/>
        </p:nvGrpSpPr>
        <p:grpSpPr>
          <a:xfrm>
            <a:off x="1640633" y="1031031"/>
            <a:ext cx="3630860" cy="309737"/>
            <a:chOff x="1640633" y="1031031"/>
            <a:chExt cx="3630860" cy="309737"/>
          </a:xfrm>
        </p:grpSpPr>
        <p:pic>
          <p:nvPicPr>
            <p:cNvPr id="77" name="그림 76">
              <a:extLst>
                <a:ext uri="{FF2B5EF4-FFF2-40B4-BE49-F238E27FC236}">
                  <a16:creationId xmlns:a16="http://schemas.microsoft.com/office/drawing/2014/main" id="{4C27A8A0-3D8C-43A6-A85D-C2345D79322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12528" y="1031031"/>
              <a:ext cx="3456495" cy="309737"/>
            </a:xfrm>
            <a:prstGeom prst="rect">
              <a:avLst/>
            </a:prstGeom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4378AFA-D581-4F3A-9347-AC1F5A5A2DD4}"/>
                </a:ext>
              </a:extLst>
            </p:cNvPr>
            <p:cNvSpPr txBox="1"/>
            <p:nvPr/>
          </p:nvSpPr>
          <p:spPr>
            <a:xfrm>
              <a:off x="1640633" y="1079049"/>
              <a:ext cx="363086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현재시간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17:10:05   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기준 시각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17:01:02 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81" name="그림 80">
            <a:extLst>
              <a:ext uri="{FF2B5EF4-FFF2-40B4-BE49-F238E27FC236}">
                <a16:creationId xmlns:a16="http://schemas.microsoft.com/office/drawing/2014/main" id="{1B71EAE5-8A72-4D5A-9F6E-D809584003D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76167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0509337"/>
              </p:ext>
            </p:extLst>
          </p:nvPr>
        </p:nvGraphicFramePr>
        <p:xfrm>
          <a:off x="8469313" y="276225"/>
          <a:ext cx="1404000" cy="60925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항목별 순위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누적사용량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수익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표시 항목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들의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1011923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97274"/>
            <a:ext cx="4460940" cy="309737"/>
          </a:xfrm>
          <a:prstGeom prst="rect">
            <a:avLst/>
          </a:prstGeom>
        </p:spPr>
      </p:pic>
      <p:sp>
        <p:nvSpPr>
          <p:cNvPr id="43" name="타원형 설명선 205">
            <a:extLst>
              <a:ext uri="{FF2B5EF4-FFF2-40B4-BE49-F238E27FC236}">
                <a16:creationId xmlns:a16="http://schemas.microsoft.com/office/drawing/2014/main" id="{7C06766D-8343-41A3-9E93-6B0DDE867FF7}"/>
              </a:ext>
            </a:extLst>
          </p:cNvPr>
          <p:cNvSpPr/>
          <p:nvPr/>
        </p:nvSpPr>
        <p:spPr>
          <a:xfrm>
            <a:off x="5269991" y="126626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12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1B82669-7762-4EBB-90A2-B660B6F5B08C}"/>
              </a:ext>
            </a:extLst>
          </p:cNvPr>
          <p:cNvSpPr/>
          <p:nvPr/>
        </p:nvSpPr>
        <p:spPr>
          <a:xfrm>
            <a:off x="5567574" y="1387011"/>
            <a:ext cx="2361297" cy="229855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타원형 설명선 205">
            <a:extLst>
              <a:ext uri="{FF2B5EF4-FFF2-40B4-BE49-F238E27FC236}">
                <a16:creationId xmlns:a16="http://schemas.microsoft.com/office/drawing/2014/main" id="{BC8C097C-FC66-48F7-8307-8A71DEFB3B7B}"/>
              </a:ext>
            </a:extLst>
          </p:cNvPr>
          <p:cNvSpPr/>
          <p:nvPr/>
        </p:nvSpPr>
        <p:spPr>
          <a:xfrm>
            <a:off x="5269991" y="374797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13</a:t>
            </a:r>
            <a:endParaRPr lang="ko-KR" altLang="en-US" sz="900" b="1" dirty="0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D939BA9-5841-436C-8FC7-461B6CE84489}"/>
              </a:ext>
            </a:extLst>
          </p:cNvPr>
          <p:cNvSpPr/>
          <p:nvPr/>
        </p:nvSpPr>
        <p:spPr>
          <a:xfrm>
            <a:off x="5567574" y="3868721"/>
            <a:ext cx="2361297" cy="100043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말풍선: 모서리가 둥근 사각형 4">
            <a:extLst>
              <a:ext uri="{FF2B5EF4-FFF2-40B4-BE49-F238E27FC236}">
                <a16:creationId xmlns:a16="http://schemas.microsoft.com/office/drawing/2014/main" id="{1FFBB084-DDA8-476E-9432-D24AF45835A3}"/>
              </a:ext>
            </a:extLst>
          </p:cNvPr>
          <p:cNvSpPr/>
          <p:nvPr/>
        </p:nvSpPr>
        <p:spPr>
          <a:xfrm>
            <a:off x="5822877" y="5076099"/>
            <a:ext cx="2105994" cy="360040"/>
          </a:xfrm>
          <a:prstGeom prst="wedgeRoundRectCallout">
            <a:avLst>
              <a:gd name="adj1" fmla="val -36325"/>
              <a:gd name="adj2" fmla="val -102765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100%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삭제하고 총 개수만 표시</a:t>
            </a: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5ECBCE4-88B9-4C2C-A0C7-AC44A5D1E7D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C8E25C6-D89B-4D71-81D6-397C2DB04C14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8" name="그림 7">
                <a:extLst>
                  <a:ext uri="{FF2B5EF4-FFF2-40B4-BE49-F238E27FC236}">
                    <a16:creationId xmlns:a16="http://schemas.microsoft.com/office/drawing/2014/main" id="{F1E81026-D4FF-44D0-9CCB-9C9B089969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1" name="그림 10">
                <a:extLst>
                  <a:ext uri="{FF2B5EF4-FFF2-40B4-BE49-F238E27FC236}">
                    <a16:creationId xmlns:a16="http://schemas.microsoft.com/office/drawing/2014/main" id="{D7DA6732-3F7A-4B45-931A-B542C84C64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5545B36C-3833-49A1-97CA-53C10898FA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4" name="그림 13">
                <a:extLst>
                  <a:ext uri="{FF2B5EF4-FFF2-40B4-BE49-F238E27FC236}">
                    <a16:creationId xmlns:a16="http://schemas.microsoft.com/office/drawing/2014/main" id="{33EA276A-C6E9-4DCD-96F2-20A68C99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5" name="그림 14">
                <a:extLst>
                  <a:ext uri="{FF2B5EF4-FFF2-40B4-BE49-F238E27FC236}">
                    <a16:creationId xmlns:a16="http://schemas.microsoft.com/office/drawing/2014/main" id="{F22EB53C-A313-44B1-9F18-680CECE1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80E2348E-485A-4599-BA60-D55616593A3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47F54DAD-39AA-4EAB-AF08-5B33031F6C7C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D6DC17-4081-45E3-A906-5A41980B619F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BAAFFF8-A931-48AA-9F96-ABEE3F7AA879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3308B23-CDFA-448D-ADC4-64499395012C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9EC62DE0-023F-427E-91E4-62FDEDC6389C}"/>
              </a:ext>
            </a:extLst>
          </p:cNvPr>
          <p:cNvGrpSpPr/>
          <p:nvPr/>
        </p:nvGrpSpPr>
        <p:grpSpPr>
          <a:xfrm>
            <a:off x="1640633" y="1031031"/>
            <a:ext cx="3630860" cy="309737"/>
            <a:chOff x="1640633" y="1031031"/>
            <a:chExt cx="3630860" cy="309737"/>
          </a:xfrm>
        </p:grpSpPr>
        <p:pic>
          <p:nvPicPr>
            <p:cNvPr id="63" name="그림 62">
              <a:extLst>
                <a:ext uri="{FF2B5EF4-FFF2-40B4-BE49-F238E27FC236}">
                  <a16:creationId xmlns:a16="http://schemas.microsoft.com/office/drawing/2014/main" id="{9CC26175-4999-44B7-9AF0-B89C499450D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12528" y="1031031"/>
              <a:ext cx="3456495" cy="309737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69A1EF1F-B45C-4A1B-964A-89E8F40F6901}"/>
                </a:ext>
              </a:extLst>
            </p:cNvPr>
            <p:cNvSpPr txBox="1"/>
            <p:nvPr/>
          </p:nvSpPr>
          <p:spPr>
            <a:xfrm>
              <a:off x="1640633" y="1079049"/>
              <a:ext cx="363086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현재시간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17:10:05   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기준 시각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2018-07-27 17:01:02 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68" name="그림 67">
            <a:extLst>
              <a:ext uri="{FF2B5EF4-FFF2-40B4-BE49-F238E27FC236}">
                <a16:creationId xmlns:a16="http://schemas.microsoft.com/office/drawing/2014/main" id="{A044D7F7-91EC-4AA1-B926-18E746C75CE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7383" y="1535121"/>
            <a:ext cx="1015842" cy="160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15572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9684182"/>
              </p:ext>
            </p:extLst>
          </p:nvPr>
        </p:nvGraphicFramePr>
        <p:xfrm>
          <a:off x="8469313" y="276225"/>
          <a:ext cx="1404000" cy="547603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군관리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Main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이동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에너지 모니터링 메뉴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오늘의 사용량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시간대 별 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PV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DR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 구성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(DER)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IOE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통신상태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PCS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BMS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상황 관제 메뉴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정보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 요금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10525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각각의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하얀색 표시는 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보다 실제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많을 경우 흰색 영역을 표시 안함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7616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SOC(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잔량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와 배터리 이미지 상의 잔량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Sync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246515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999100"/>
              </p:ext>
            </p:extLst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5088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7563759"/>
              </p:ext>
            </p:extLst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6177727"/>
              </p:ext>
            </p:extLst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902442"/>
              </p:ext>
            </p:extLst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2583" y="249284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7128693" y="1040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261573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6339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726080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78220" y="21481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2004129" y="196502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739618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63380" y="10281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2" name="직선 연결선 271">
            <a:extLst>
              <a:ext uri="{FF2B5EF4-FFF2-40B4-BE49-F238E27FC236}">
                <a16:creationId xmlns:a16="http://schemas.microsoft.com/office/drawing/2014/main" id="{A049BDF6-FCA8-4FC7-AC08-E3ED60B3D517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DD193E44-EA39-42C9-BC1D-A3B0794E3A84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CA330CB1-35E4-4691-BEFE-1B20EBAB1747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1" name="말풍선: 모서리가 둥근 사각형 270">
            <a:extLst>
              <a:ext uri="{FF2B5EF4-FFF2-40B4-BE49-F238E27FC236}">
                <a16:creationId xmlns:a16="http://schemas.microsoft.com/office/drawing/2014/main" id="{D62DFBDC-089E-4363-8164-705C1DDED791}"/>
              </a:ext>
            </a:extLst>
          </p:cNvPr>
          <p:cNvSpPr/>
          <p:nvPr/>
        </p:nvSpPr>
        <p:spPr>
          <a:xfrm>
            <a:off x="1874124" y="2768708"/>
            <a:ext cx="2425858" cy="1466665"/>
          </a:xfrm>
          <a:prstGeom prst="wedgeRoundRectCallout">
            <a:avLst>
              <a:gd name="adj1" fmla="val -27341"/>
              <a:gd name="adj2" fmla="val -58954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배터리 잔량을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등급으로 분리하고 특정 등급 내의 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percentage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때 해당 등급의 이미지 표시가 필요함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잔량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85.5%</a:t>
            </a: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8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(80%)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이미지 적용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 개수는 디자인 산출 이미지에 따라 조정 가능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1B669B1-75AC-416B-8F13-DFF8B5E0797A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EE6B911B-0CDE-47CA-8229-8AEF711F8027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02B25750-3114-4052-970A-C7404C16E497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3BB3CC5A-2769-49AE-BECC-646F3261FAEF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02ACC4CC-2C09-4CAB-B781-AB497245EC7B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9059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569034"/>
              </p:ext>
            </p:extLst>
          </p:nvPr>
        </p:nvGraphicFramePr>
        <p:xfrm>
          <a:off x="8469397" y="262210"/>
          <a:ext cx="1404000" cy="61390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구성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(DER)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현재 기준 사용량 구성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사용량 구성 화면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현재 피크 전력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‘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요금적용전력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Main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에서만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현황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IOE,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PCS,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BMS,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별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파란색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이상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주황색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PCS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BMS :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PV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5) : IOE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6)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장치를 더블 클릭하면 해당 장치의 상세정보가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모니터링에서의 상세보기와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6573" y="2513536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2785381" y="18696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75742" y="47565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2767847" y="39222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9940" y="27767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C540B6CB-2166-4ACE-9218-43F4546CFBF1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말풍선: 모서리가 둥근 사각형 269">
            <a:extLst>
              <a:ext uri="{FF2B5EF4-FFF2-40B4-BE49-F238E27FC236}">
                <a16:creationId xmlns:a16="http://schemas.microsoft.com/office/drawing/2014/main" id="{14C82C64-E5F6-49A8-AE85-031DEE74E4F8}"/>
              </a:ext>
            </a:extLst>
          </p:cNvPr>
          <p:cNvSpPr/>
          <p:nvPr/>
        </p:nvSpPr>
        <p:spPr>
          <a:xfrm>
            <a:off x="587391" y="649028"/>
            <a:ext cx="2425858" cy="1113445"/>
          </a:xfrm>
          <a:prstGeom prst="wedgeRoundRectCallout">
            <a:avLst>
              <a:gd name="adj1" fmla="val -35570"/>
              <a:gd name="adj2" fmla="val 65576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각 정보영역의 데이터를 생성하는 장치가 존재하지 않는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</a:p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 영역에 대체 이미지가 표시되는 등의 방안이 필요함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영역 공통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F3B26DF5-3AA1-4D08-9D05-5F7697F942F4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C5EEADBD-396C-46D6-AE31-2E02D3C2476E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A803812C-D650-4070-8223-4BCE0D453D76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8AF664E3-3ED4-4B47-8E94-22C2479727C2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0A5A35F-C6A9-4586-89DE-85BBA2E38B48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65452088-BC7C-49A3-BC60-78543AC3A939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EA81D0D-55FF-4D91-9461-8A53779D5E33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324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029764"/>
              </p:ext>
            </p:extLst>
          </p:nvPr>
        </p:nvGraphicFramePr>
        <p:xfrm>
          <a:off x="8469313" y="276225"/>
          <a:ext cx="1404000" cy="5140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연간 수익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별 수익을 막대 그래프 합으로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 기간을 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년 중 어느 단위로 할 것인지 확정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 및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지정 기간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이번달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올해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 항목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 산출 기준 확인 필요</a:t>
                      </a:r>
                      <a:endParaRPr lang="en-US" altLang="ko-KR" sz="800" b="1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7FA866A-AB3E-48D4-ADFA-B2AFD3A5BEB9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588D10F-85F0-4201-99B0-19CF5E0D6C64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CECF29E-11A7-4CFF-B7F6-E48B982D6773}"/>
              </a:ext>
            </a:extLst>
          </p:cNvPr>
          <p:cNvGrpSpPr/>
          <p:nvPr/>
        </p:nvGrpSpPr>
        <p:grpSpPr>
          <a:xfrm>
            <a:off x="273944" y="1885169"/>
            <a:ext cx="1926022" cy="721431"/>
            <a:chOff x="5692418" y="1753651"/>
            <a:chExt cx="3074464" cy="721431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1F70B0EC-ED9B-4C48-95BA-0269C3184AE5}"/>
                </a:ext>
              </a:extLst>
            </p:cNvPr>
            <p:cNvSpPr/>
            <p:nvPr/>
          </p:nvSpPr>
          <p:spPr>
            <a:xfrm>
              <a:off x="5822353" y="2045047"/>
              <a:ext cx="2880000" cy="7200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5C62959-6F22-43B6-89F3-4E9015B44329}"/>
                </a:ext>
              </a:extLst>
            </p:cNvPr>
            <p:cNvSpPr/>
            <p:nvPr/>
          </p:nvSpPr>
          <p:spPr>
            <a:xfrm>
              <a:off x="5822353" y="2403074"/>
              <a:ext cx="2880000" cy="72008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E76E181-5B9A-4616-8EFE-026D8DB5FFBA}"/>
                </a:ext>
              </a:extLst>
            </p:cNvPr>
            <p:cNvSpPr txBox="1"/>
            <p:nvPr/>
          </p:nvSpPr>
          <p:spPr>
            <a:xfrm>
              <a:off x="5692418" y="1843641"/>
              <a:ext cx="112440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72634-2345-4BAD-9F25-F98752418607}"/>
                </a:ext>
              </a:extLst>
            </p:cNvPr>
            <p:cNvSpPr txBox="1"/>
            <p:nvPr/>
          </p:nvSpPr>
          <p:spPr>
            <a:xfrm>
              <a:off x="5692418" y="2201668"/>
              <a:ext cx="113490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700" b="1" dirty="0" err="1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endParaRPr lang="ko-KR" altLang="en-US" sz="7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0ED4C4-CFF4-4B73-850B-2038B3BB0C3A}"/>
                </a:ext>
              </a:extLst>
            </p:cNvPr>
            <p:cNvSpPr txBox="1"/>
            <p:nvPr/>
          </p:nvSpPr>
          <p:spPr>
            <a:xfrm>
              <a:off x="7270746" y="1753651"/>
              <a:ext cx="14961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1,350.5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BF30399-D7FF-44D9-8A80-7FD89F421F2F}"/>
                </a:ext>
              </a:extLst>
            </p:cNvPr>
            <p:cNvSpPr txBox="1"/>
            <p:nvPr/>
          </p:nvSpPr>
          <p:spPr>
            <a:xfrm>
              <a:off x="7419971" y="2115095"/>
              <a:ext cx="1346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850.5</a:t>
              </a:r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kWh</a:t>
              </a:r>
              <a:endParaRPr lang="ko-KR" altLang="en-US" sz="800" b="1" dirty="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68559AE-A8E5-4041-A997-3C2B894837ED}"/>
              </a:ext>
            </a:extLst>
          </p:cNvPr>
          <p:cNvGrpSpPr/>
          <p:nvPr/>
        </p:nvGrpSpPr>
        <p:grpSpPr>
          <a:xfrm>
            <a:off x="2219815" y="2011492"/>
            <a:ext cx="582819" cy="762997"/>
            <a:chOff x="8066098" y="1891729"/>
            <a:chExt cx="639759" cy="762997"/>
          </a:xfrm>
        </p:grpSpPr>
        <p:pic>
          <p:nvPicPr>
            <p:cNvPr id="85" name="Picture 6" descr="batteryì ëí ì´ë¯¸ì§ ê²ìê²°ê³¼">
              <a:extLst>
                <a:ext uri="{FF2B5EF4-FFF2-40B4-BE49-F238E27FC236}">
                  <a16:creationId xmlns:a16="http://schemas.microsoft.com/office/drawing/2014/main" id="{4B5514D0-D7FF-48C4-A980-B69C5FF9A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04661" y="2092093"/>
              <a:ext cx="562633" cy="5626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241CF2-1630-4E28-AFB0-D875E7DCDED3}"/>
                </a:ext>
              </a:extLst>
            </p:cNvPr>
            <p:cNvSpPr txBox="1"/>
            <p:nvPr/>
          </p:nvSpPr>
          <p:spPr>
            <a:xfrm>
              <a:off x="8087885" y="1891729"/>
              <a:ext cx="5961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</a:t>
              </a:r>
              <a:r>
                <a: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잔량</a:t>
              </a:r>
              <a:r>
                <a:rPr lang="en-US" altLang="ko-KR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6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B0F6A88-E8E0-4CA7-851C-FE4F62A6FBAE}"/>
                </a:ext>
              </a:extLst>
            </p:cNvPr>
            <p:cNvSpPr txBox="1"/>
            <p:nvPr/>
          </p:nvSpPr>
          <p:spPr>
            <a:xfrm>
              <a:off x="8066098" y="2016579"/>
              <a:ext cx="6397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85.5</a:t>
              </a:r>
              <a:r>
                <a:rPr lang="en-US" altLang="ko-KR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%</a:t>
              </a:r>
              <a:endParaRPr lang="ko-KR" altLang="en-US" sz="700" b="1" dirty="0">
                <a:solidFill>
                  <a:schemeClr val="accent5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9BE7225-41AF-42CC-A0FE-0F821D41799C}"/>
              </a:ext>
            </a:extLst>
          </p:cNvPr>
          <p:cNvSpPr/>
          <p:nvPr/>
        </p:nvSpPr>
        <p:spPr>
          <a:xfrm>
            <a:off x="1800320" y="2174451"/>
            <a:ext cx="36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503B530-C9B9-4E10-89F3-45CE8A0602A7}"/>
              </a:ext>
            </a:extLst>
          </p:cNvPr>
          <p:cNvSpPr/>
          <p:nvPr/>
        </p:nvSpPr>
        <p:spPr>
          <a:xfrm>
            <a:off x="1621313" y="2536023"/>
            <a:ext cx="540000" cy="684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4571710" y="2498451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941AC10-78F4-4AAE-A932-0CF060D383EB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05065CF1-8B50-452F-9BAC-3D16D95F577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DBDC6453-0FB5-45BF-AD70-BD86C3924018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6BB4A104-87C2-4022-97F6-726066D073DF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755EB8E2-53ED-4767-8EE1-7EE5406A5C18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BEF4ECF7-4151-401A-B57E-7DC67588D5CD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6806B26D-0E4C-452B-8F96-8A0A75CDBBE3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5584785" y="308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591954" y="457210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585578" y="172677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B34371EE-5570-4F21-AD2A-EC3AA0AE4A52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A83A6059-9D42-4F63-9DAF-8B0E15FC4551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8FA37CD4-B875-46B1-8BE7-1180883497A1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8A5DCF45-DE0D-44EF-9470-AB688E3F8B13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4FBECBF2-D3ED-4625-87B1-EBD1CCE4EF6F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6A771870-0E93-458C-8EE5-9376A2B13F00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ECE4E3A8-F0B0-4242-8E98-682ED8FE2A66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785290EB-6768-48D0-ADC8-56DFC2B9BC0F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29147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801795"/>
              </p:ext>
            </p:extLst>
          </p:nvPr>
        </p:nvGraphicFramePr>
        <p:xfrm>
          <a:off x="8469313" y="276225"/>
          <a:ext cx="1404000" cy="5769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 팝업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75FA8982-6CAC-4C63-9CB3-F9B5F4CAF5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2642004"/>
              </p:ext>
            </p:extLst>
          </p:nvPr>
        </p:nvGraphicFramePr>
        <p:xfrm>
          <a:off x="3036493" y="1837072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937C41E-B4F6-4B39-946B-624ADBD286B9}"/>
              </a:ext>
            </a:extLst>
          </p:cNvPr>
          <p:cNvCxnSpPr>
            <a:cxnSpLocks/>
          </p:cNvCxnSpPr>
          <p:nvPr/>
        </p:nvCxnSpPr>
        <p:spPr>
          <a:xfrm>
            <a:off x="5745088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C8A6AD4A-1A6B-49CE-961C-0BDBC3BF9A32}"/>
              </a:ext>
            </a:extLst>
          </p:cNvPr>
          <p:cNvCxnSpPr>
            <a:cxnSpLocks/>
          </p:cNvCxnSpPr>
          <p:nvPr/>
        </p:nvCxnSpPr>
        <p:spPr>
          <a:xfrm>
            <a:off x="2938810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6370467D-C785-4D8C-97A0-F1ADD5C4F1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505362"/>
              </p:ext>
            </p:extLst>
          </p:nvPr>
        </p:nvGraphicFramePr>
        <p:xfrm>
          <a:off x="5849513" y="1733328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303" name="Picture 3">
            <a:extLst>
              <a:ext uri="{FF2B5EF4-FFF2-40B4-BE49-F238E27FC236}">
                <a16:creationId xmlns:a16="http://schemas.microsoft.com/office/drawing/2014/main" id="{C9413466-BC46-457C-B824-0FAD107022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304" name="Picture 2">
            <a:extLst>
              <a:ext uri="{FF2B5EF4-FFF2-40B4-BE49-F238E27FC236}">
                <a16:creationId xmlns:a16="http://schemas.microsoft.com/office/drawing/2014/main" id="{B86358B6-FA3E-47A1-AD7F-0CBC18D189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05" name="직선 연결선 304">
            <a:extLst>
              <a:ext uri="{FF2B5EF4-FFF2-40B4-BE49-F238E27FC236}">
                <a16:creationId xmlns:a16="http://schemas.microsoft.com/office/drawing/2014/main" id="{2FDD9D83-4D19-4A60-AE48-D4573C0AEA85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E689BE8C-0306-4220-B7B1-8F124EBDAF1E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D964619-8031-4E19-B07D-8C4616B5C20C}"/>
              </a:ext>
            </a:extLst>
          </p:cNvPr>
          <p:cNvGrpSpPr/>
          <p:nvPr/>
        </p:nvGrpSpPr>
        <p:grpSpPr>
          <a:xfrm>
            <a:off x="184526" y="1505937"/>
            <a:ext cx="8024876" cy="260092"/>
            <a:chOff x="184526" y="1505937"/>
            <a:chExt cx="8024876" cy="260092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9B744BAA-4F17-4FDE-AA6F-AC20C526EF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D49E4D27-F5B9-4E6F-A658-A996ADA2CCC3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4AD18146-795F-48A2-B746-EC82750C53B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5A5627C0-8B3D-4E48-8F7F-2249FA7C548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D7A14DF0-22ED-4715-BD5A-64C469DD7118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aphicFrame>
        <p:nvGraphicFramePr>
          <p:cNvPr id="311" name="표 310">
            <a:extLst>
              <a:ext uri="{FF2B5EF4-FFF2-40B4-BE49-F238E27FC236}">
                <a16:creationId xmlns:a16="http://schemas.microsoft.com/office/drawing/2014/main" id="{F2BE9F78-38AD-4B6E-A553-DF12B4DDF27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13" name="직선 연결선 312">
            <a:extLst>
              <a:ext uri="{FF2B5EF4-FFF2-40B4-BE49-F238E27FC236}">
                <a16:creationId xmlns:a16="http://schemas.microsoft.com/office/drawing/2014/main" id="{39627037-57CE-42F4-8F72-786169CEF5A7}"/>
              </a:ext>
            </a:extLst>
          </p:cNvPr>
          <p:cNvCxnSpPr>
            <a:cxnSpLocks/>
          </p:cNvCxnSpPr>
          <p:nvPr/>
        </p:nvCxnSpPr>
        <p:spPr>
          <a:xfrm>
            <a:off x="3201134" y="2315023"/>
            <a:ext cx="2400905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4" name="직선 연결선 313">
            <a:extLst>
              <a:ext uri="{FF2B5EF4-FFF2-40B4-BE49-F238E27FC236}">
                <a16:creationId xmlns:a16="http://schemas.microsoft.com/office/drawing/2014/main" id="{FF2241E3-D756-474A-8DFE-699F58D3BDAF}"/>
              </a:ext>
            </a:extLst>
          </p:cNvPr>
          <p:cNvCxnSpPr>
            <a:cxnSpLocks/>
          </p:cNvCxnSpPr>
          <p:nvPr/>
        </p:nvCxnSpPr>
        <p:spPr>
          <a:xfrm>
            <a:off x="3201134" y="2776761"/>
            <a:ext cx="2400905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6" name="직선 연결선 315">
            <a:extLst>
              <a:ext uri="{FF2B5EF4-FFF2-40B4-BE49-F238E27FC236}">
                <a16:creationId xmlns:a16="http://schemas.microsoft.com/office/drawing/2014/main" id="{12B75C21-5BB1-42EA-833E-E66D08E94821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7" name="TextBox 316">
            <a:extLst>
              <a:ext uri="{FF2B5EF4-FFF2-40B4-BE49-F238E27FC236}">
                <a16:creationId xmlns:a16="http://schemas.microsoft.com/office/drawing/2014/main" id="{55E4CC6A-373C-4361-B7AF-404205323548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3F4EE2E7-BBD6-40D4-90A0-2A7AFFCF7884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9" name="표 318">
            <a:extLst>
              <a:ext uri="{FF2B5EF4-FFF2-40B4-BE49-F238E27FC236}">
                <a16:creationId xmlns:a16="http://schemas.microsoft.com/office/drawing/2014/main" id="{FF2B9A09-35DA-4406-B374-CAF26563D4C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20" name="TextBox 319">
            <a:extLst>
              <a:ext uri="{FF2B5EF4-FFF2-40B4-BE49-F238E27FC236}">
                <a16:creationId xmlns:a16="http://schemas.microsoft.com/office/drawing/2014/main" id="{07350133-97A4-45EC-AA1D-03B67CA121C8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충</a:t>
            </a:r>
            <a:r>
              <a:rPr lang="en-US" altLang="ko-KR" dirty="0"/>
              <a:t>/</a:t>
            </a:r>
            <a:r>
              <a:rPr lang="ko-KR" altLang="en-US" dirty="0" err="1"/>
              <a:t>방전량</a:t>
            </a:r>
            <a:endParaRPr lang="ko-KR" altLang="en-US" dirty="0"/>
          </a:p>
        </p:txBody>
      </p:sp>
      <p:sp>
        <p:nvSpPr>
          <p:cNvPr id="321" name="AutoShape 182">
            <a:extLst>
              <a:ext uri="{FF2B5EF4-FFF2-40B4-BE49-F238E27FC236}">
                <a16:creationId xmlns:a16="http://schemas.microsoft.com/office/drawing/2014/main" id="{66AF9E48-4990-45A6-8006-C87842F05F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4236A186-A811-4156-A183-4BE19A8DC723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4CA54214-F444-4928-A91A-5F2B393ECEA2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CFB78D4A-104B-4C27-BDED-14BB1418C067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16E097BE-7008-4100-B91D-34CFA025E609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6CAD39A4-B2FF-4148-9C53-A8ACD816998B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1AA7001D-52AA-490E-BC5E-BE9E0471CB98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DF0FAAD8-F42B-4BD3-B6BA-637D93CBF374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7A5507CD-66DD-4905-8F52-3D144542618A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5AD50B8B-078B-478B-A133-ACDB53F62A34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5BCCDE6B-A752-4A71-95A5-C207E66EA34A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43BC9EE5-DED5-46AD-9262-41114276C542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47E35248-1D14-4D7A-8D98-43E68DEFEAEE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F5F67606-D55B-4412-8B03-378F96FD7BD2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B00B7231-9434-4BE7-B11D-CB097CFF842C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2EBD8F01-E998-422E-9356-CB30DAECCF18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4D681B3E-1FC3-4BFA-B3E5-EE7E8002ADCC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CD3A40FB-9FA9-4C65-A894-09F9F133F754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2D4E36AF-F107-4D1E-9D07-3DA8B9F3819E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FA14A887-248C-4BAA-9DE8-195A2D215FDE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7007078E-EDB8-4B9E-90A5-41158B018AFE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CCC2070C-E5FB-4E61-9DF6-663FC9696D2B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78005D9B-D4DE-46E4-A44D-68C33769A094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AEEA15ED-BF39-4349-BC09-B2129DFD5337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D074875C-F525-4360-9009-C6B4F31955B1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A7EA31FF-5267-4A4E-A32F-0C2C417CCAEE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7E5F8E77-9571-47A5-B4EF-674B40D7E61C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4C7A79E9-04A9-4C4C-B0D6-6E1C7329F891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51DF9ED-0DD4-4FE0-959C-92AFF7FF7C50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F0DAB497-15B5-43A1-B98F-F4D9DD835ACD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EE48945F-51DC-4BE0-ADED-900BD7D9D784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ADD27786-64CB-48B3-8781-0B35BAAEE454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353" name="직선 연결선 352">
              <a:extLst>
                <a:ext uri="{FF2B5EF4-FFF2-40B4-BE49-F238E27FC236}">
                  <a16:creationId xmlns:a16="http://schemas.microsoft.com/office/drawing/2014/main" id="{48765069-031C-4843-BA8C-52222B3F7251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AADB48A-0131-40DA-B6D2-1EC38881B9FD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0977180A-09C5-4145-BEB9-C3F8ADD99689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356" name="직선 연결선 355">
              <a:extLst>
                <a:ext uri="{FF2B5EF4-FFF2-40B4-BE49-F238E27FC236}">
                  <a16:creationId xmlns:a16="http://schemas.microsoft.com/office/drawing/2014/main" id="{CFD9EC14-DF04-4178-99AA-D48B870E04C0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F29E143A-30CE-42FD-A136-5EF5070DE4D6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0614E279-ABFB-4B2D-BECD-DC876B48F09D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359" name="직선 연결선 358">
              <a:extLst>
                <a:ext uri="{FF2B5EF4-FFF2-40B4-BE49-F238E27FC236}">
                  <a16:creationId xmlns:a16="http://schemas.microsoft.com/office/drawing/2014/main" id="{8A9100F4-19EB-47C2-BABE-5BBDD1D4EF6C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3522D2A6-3959-475C-96EC-0A71F5C91C05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58D0446A-DEDD-46BB-9184-861C1C7E0AAE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453DF077-691F-4760-9615-E493C99B1764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CD4005FC-8D86-4A47-84D9-DFECE3881EA8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86119FE8-ADA6-43C0-9C14-B7DFE24D47E3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23C52C03-352D-4CE1-99F1-38941E7FE395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2D5C1B57-E943-45A1-B78E-98BAF3244F32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8A2BE4AA-7ECD-47F9-A201-33339614F439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0363BEAD-CD0D-49AA-B41E-2DE41D13ACB8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36D3BC9A-C7E5-4A88-B440-0A5016DA18E0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366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10CDD023-2465-4D83-93B7-41D220E69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51100BED-48B4-48DB-99E8-F6753646E571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8" name="TextBox 367">
                <a:extLst>
                  <a:ext uri="{FF2B5EF4-FFF2-40B4-BE49-F238E27FC236}">
                    <a16:creationId xmlns:a16="http://schemas.microsoft.com/office/drawing/2014/main" id="{41899839-873B-498F-A638-14A76E6F74B2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68E97839-BFEB-40A4-B8FD-DA8248A5ED5D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7AB456CF-BD76-464C-B9E7-37F09CDABC18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75" name="직선 연결선 374">
            <a:extLst>
              <a:ext uri="{FF2B5EF4-FFF2-40B4-BE49-F238E27FC236}">
                <a16:creationId xmlns:a16="http://schemas.microsoft.com/office/drawing/2014/main" id="{99AA585E-6AEF-4D90-B988-06491799E652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6" name="직사각형 375">
            <a:extLst>
              <a:ext uri="{FF2B5EF4-FFF2-40B4-BE49-F238E27FC236}">
                <a16:creationId xmlns:a16="http://schemas.microsoft.com/office/drawing/2014/main" id="{CF3A05A2-5353-4DB5-8180-604741616927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377" name="표 376">
            <a:extLst>
              <a:ext uri="{FF2B5EF4-FFF2-40B4-BE49-F238E27FC236}">
                <a16:creationId xmlns:a16="http://schemas.microsoft.com/office/drawing/2014/main" id="{C78788E2-E2DB-4797-BDBD-CF85D2510A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DA28C214-4E6D-4E6D-AFF2-06D085D9430F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8DB2CE7B-DA36-4295-8C70-9359209DB898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F0F4C649-3CFD-4A94-92FC-E9B4112835D8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E8F9DDC-E639-4232-A096-9DB6A715FDA7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E4B43F2-3687-44AC-9ADA-C52C755BCD55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1338770A-300E-4DA2-9027-79ABB20131C3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C7C6B041-74B5-4CEC-9B40-94857B45B360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1BF6D5C8-9D93-4193-82D1-F3F56AA8612B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386" name="표 385">
            <a:extLst>
              <a:ext uri="{FF2B5EF4-FFF2-40B4-BE49-F238E27FC236}">
                <a16:creationId xmlns:a16="http://schemas.microsoft.com/office/drawing/2014/main" id="{95AF5A99-73E3-4CE9-8A3E-431571397DF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79AE1FCF-DC3A-42DA-8571-3A9419EEC869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388" name="자유형 5">
              <a:extLst>
                <a:ext uri="{FF2B5EF4-FFF2-40B4-BE49-F238E27FC236}">
                  <a16:creationId xmlns:a16="http://schemas.microsoft.com/office/drawing/2014/main" id="{5F0289D6-838E-45CA-B95B-D651009E9CA9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9" name="자유형 4">
              <a:extLst>
                <a:ext uri="{FF2B5EF4-FFF2-40B4-BE49-F238E27FC236}">
                  <a16:creationId xmlns:a16="http://schemas.microsoft.com/office/drawing/2014/main" id="{9660A6A1-43A9-4735-A51C-048D2B45B0B6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0" name="자유형 7">
              <a:extLst>
                <a:ext uri="{FF2B5EF4-FFF2-40B4-BE49-F238E27FC236}">
                  <a16:creationId xmlns:a16="http://schemas.microsoft.com/office/drawing/2014/main" id="{91DE735D-2613-4A38-B0DB-631A18FF3B20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1" name="자유형 1">
              <a:extLst>
                <a:ext uri="{FF2B5EF4-FFF2-40B4-BE49-F238E27FC236}">
                  <a16:creationId xmlns:a16="http://schemas.microsoft.com/office/drawing/2014/main" id="{BD890435-BD18-47FF-93CB-3E2F6CC22099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93" name="그룹 392">
            <a:extLst>
              <a:ext uri="{FF2B5EF4-FFF2-40B4-BE49-F238E27FC236}">
                <a16:creationId xmlns:a16="http://schemas.microsoft.com/office/drawing/2014/main" id="{FAC32452-02BB-4003-A7E0-563F3CCDF1A5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444A5638-C4D0-4D69-BD82-43D25C31A5C9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C7979E3B-050B-4857-A074-A8ED72EB1B23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</a:t>
                </a:r>
                <a:endParaRPr lang="ko-KR" altLang="en-US" sz="500" b="1" dirty="0">
                  <a:solidFill>
                    <a:schemeClr val="accent3">
                      <a:lumMod val="60000"/>
                      <a:lumOff val="4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1FE83B60-9684-4B75-96C3-D764AAF51EB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6FF2190E-941A-4121-865E-3DE83A8AECC0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399" name="직사각형 398">
                <a:extLst>
                  <a:ext uri="{FF2B5EF4-FFF2-40B4-BE49-F238E27FC236}">
                    <a16:creationId xmlns:a16="http://schemas.microsoft.com/office/drawing/2014/main" id="{67D77876-1098-4F7E-9721-AAD17A521482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</a:t>
                </a:r>
                <a:endParaRPr lang="ko-KR" altLang="en-US" sz="500" b="1" dirty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3E15668C-B9B1-49FC-8480-97B2161D0867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445C6553-887E-4986-8749-E5A663D95FCC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397" name="직사각형 396">
                <a:extLst>
                  <a:ext uri="{FF2B5EF4-FFF2-40B4-BE49-F238E27FC236}">
                    <a16:creationId xmlns:a16="http://schemas.microsoft.com/office/drawing/2014/main" id="{2E1C4A2B-4661-4850-AAF6-A5C99443DD6C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</a:t>
                </a: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F44CFE06-84AE-4739-A5E0-81DB5E971389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3E0C2959-7945-407B-AD8D-46ACEE205C66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1FAF7E3B-C77B-4D13-BBB4-A48A1262F9DB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4D39852-FB42-4840-B8BD-E4C5B48AB914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C5037554-0083-4DDF-8348-E9E8598AC592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C4ECDB85-9468-468D-809A-74CFF6589D42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B08BA0C0-B88D-4230-A888-28B7F3589BB7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ED0A09A6-79CB-4416-AD18-77FB4EC97634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410" name="사각형: 둥근 모서리 409">
              <a:extLst>
                <a:ext uri="{FF2B5EF4-FFF2-40B4-BE49-F238E27FC236}">
                  <a16:creationId xmlns:a16="http://schemas.microsoft.com/office/drawing/2014/main" id="{5DD614A7-8FF5-4BED-931F-E705D7843780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1" name="말풍선: 사각형 410">
            <a:extLst>
              <a:ext uri="{FF2B5EF4-FFF2-40B4-BE49-F238E27FC236}">
                <a16:creationId xmlns:a16="http://schemas.microsoft.com/office/drawing/2014/main" id="{ACF2BF91-FBF4-4497-9A2D-01509527F542}"/>
              </a:ext>
            </a:extLst>
          </p:cNvPr>
          <p:cNvSpPr/>
          <p:nvPr/>
        </p:nvSpPr>
        <p:spPr>
          <a:xfrm>
            <a:off x="4578120" y="2513673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2" name="사각형: 둥근 모서리 411">
            <a:extLst>
              <a:ext uri="{FF2B5EF4-FFF2-40B4-BE49-F238E27FC236}">
                <a16:creationId xmlns:a16="http://schemas.microsoft.com/office/drawing/2014/main" id="{0759CBF9-4B04-4A36-80C8-3E56FB93C9B0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3" name="사각형: 둥근 모서리 412">
            <a:extLst>
              <a:ext uri="{FF2B5EF4-FFF2-40B4-BE49-F238E27FC236}">
                <a16:creationId xmlns:a16="http://schemas.microsoft.com/office/drawing/2014/main" id="{C4754BEB-47C0-45AC-997F-A176DE7FB7F2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4" name="사각형: 둥근 모서리 413">
            <a:extLst>
              <a:ext uri="{FF2B5EF4-FFF2-40B4-BE49-F238E27FC236}">
                <a16:creationId xmlns:a16="http://schemas.microsoft.com/office/drawing/2014/main" id="{1741F187-7179-42BC-B52C-2294B224FE67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5" name="사각형: 둥근 모서리 414">
            <a:extLst>
              <a:ext uri="{FF2B5EF4-FFF2-40B4-BE49-F238E27FC236}">
                <a16:creationId xmlns:a16="http://schemas.microsoft.com/office/drawing/2014/main" id="{6ED4B4B1-6854-4B15-AF56-C0E99F1D5823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6" name="사각형: 둥근 모서리 415">
            <a:extLst>
              <a:ext uri="{FF2B5EF4-FFF2-40B4-BE49-F238E27FC236}">
                <a16:creationId xmlns:a16="http://schemas.microsoft.com/office/drawing/2014/main" id="{AA403FFE-4122-496E-9DE2-FA7A021C4340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7" name="사각형: 둥근 모서리 416">
            <a:extLst>
              <a:ext uri="{FF2B5EF4-FFF2-40B4-BE49-F238E27FC236}">
                <a16:creationId xmlns:a16="http://schemas.microsoft.com/office/drawing/2014/main" id="{732DC6B3-755D-42C2-B1E2-15F424601BAB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8" name="사각형: 둥근 모서리 417">
            <a:extLst>
              <a:ext uri="{FF2B5EF4-FFF2-40B4-BE49-F238E27FC236}">
                <a16:creationId xmlns:a16="http://schemas.microsoft.com/office/drawing/2014/main" id="{29208C11-51B2-4D42-994A-C5F7AA2FD759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9" name="사각형: 둥근 모서리 418">
            <a:extLst>
              <a:ext uri="{FF2B5EF4-FFF2-40B4-BE49-F238E27FC236}">
                <a16:creationId xmlns:a16="http://schemas.microsoft.com/office/drawing/2014/main" id="{281FEFEE-122A-4D31-89EB-D59C75FDD4D7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AC0024C4-FB4D-4F8E-B56E-43B8E6F1E13F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DD2D08E5-A9F3-4488-A9FB-5E97FF04C4E1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F381FB52-FD3C-434C-A290-2FF77AE7F522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3CD2BFAD-3606-43BE-AF59-46CB854C5B5C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613665E2-76F0-475C-894D-6305BE75A2E6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9C91EE2A-EA61-47A2-9C87-036ED384C2A6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13AB4E92-517D-44B2-AD81-D6121136829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D3350140-D70F-4884-A520-748644AEB055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31EF200B-3CF8-4E1C-98ED-91FC401EEB5F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3A519547-0DDB-4500-B2D9-58E5CBF83FC0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08B4EFA-DC4C-4D80-8AFC-9824DBF1BDEE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DDCFD7AA-8874-43AB-B47A-2F8E57DFCA58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BBD66E8-DB7D-4CAA-9815-C33EEFF7FA48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C8FC9FB-2EB3-4C43-B41E-5F29D57F2A95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938A480-F462-4A20-A5F1-2AEE9A7AFBD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D3F5CA57-5E47-46DD-B370-5BC373342475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B4CF9D69-E66E-46FA-A0AA-95D9E32E1A94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A6162F-7322-4FDF-999D-ECEBAB0E3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9285299-4A4A-4DCF-8364-E7EF890A3CD5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E833D090-BE10-4DE4-87F4-1CF184324E34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B0F38BB0-CF3F-43CF-B9FD-3EE6E4A0C543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2B9D8D0A-A9BA-4698-9DCC-7C933518D7A1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CD396AC9-A042-4125-96D7-3A6807E12473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1406C38-2327-4378-86C1-18472C11D25E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D100E09-0B5A-44D6-944B-77FEE97B3CA3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8BE1A52-7A3B-42CC-A725-15CED43409AA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446" name="사각형: 둥근 모서리 445">
            <a:extLst>
              <a:ext uri="{FF2B5EF4-FFF2-40B4-BE49-F238E27FC236}">
                <a16:creationId xmlns:a16="http://schemas.microsoft.com/office/drawing/2014/main" id="{5C7858E1-2AF8-43E0-ACD3-983D4FEC84B4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7" name="사각형: 둥근 모서리 446">
            <a:extLst>
              <a:ext uri="{FF2B5EF4-FFF2-40B4-BE49-F238E27FC236}">
                <a16:creationId xmlns:a16="http://schemas.microsoft.com/office/drawing/2014/main" id="{65425591-75A2-41CC-BD48-3AE89452145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8" name="사각형: 둥근 모서리 447">
            <a:extLst>
              <a:ext uri="{FF2B5EF4-FFF2-40B4-BE49-F238E27FC236}">
                <a16:creationId xmlns:a16="http://schemas.microsoft.com/office/drawing/2014/main" id="{5633C3B0-E239-4F7A-AED1-BBE24BD53263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9" name="사각형: 둥근 모서리 448">
            <a:extLst>
              <a:ext uri="{FF2B5EF4-FFF2-40B4-BE49-F238E27FC236}">
                <a16:creationId xmlns:a16="http://schemas.microsoft.com/office/drawing/2014/main" id="{4A6CF58A-3142-4A32-AD32-4AC0E71199F6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6002517A-3BC1-41B3-B90C-1A00B0691E45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FC237B28-FB14-4D6A-A87A-1BBC3A6D95F0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B80A5F55-CEE9-47A6-A5A8-96064AFBC61E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F3372CB3-457F-4FFF-9FDF-D9D1720A8CE7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6834FAD-D3F5-44A0-8AC0-AF51161B5AD6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75F5740F-BD95-4DB7-AB9D-8C04B6542EBC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94AC2F3-30E1-489F-9823-ED05F4A07CCA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89B6A0BE-DC83-4E1F-B5DF-0097C73D9B60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수익</a:t>
              </a:r>
            </a:p>
          </p:txBody>
        </p:sp>
        <p:sp>
          <p:nvSpPr>
            <p:cNvPr id="458" name="직사각형 457">
              <a:extLst>
                <a:ext uri="{FF2B5EF4-FFF2-40B4-BE49-F238E27FC236}">
                  <a16:creationId xmlns:a16="http://schemas.microsoft.com/office/drawing/2014/main" id="{3B5700DA-C1E6-48D0-91E4-4ACA810A7AA4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459" name="그림 458">
            <a:extLst>
              <a:ext uri="{FF2B5EF4-FFF2-40B4-BE49-F238E27FC236}">
                <a16:creationId xmlns:a16="http://schemas.microsoft.com/office/drawing/2014/main" id="{060517E4-FE68-4987-9EA6-A21888D93C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46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D99997BE-93A2-4996-ADC1-7BE1DBC0B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D129DD39-D513-4E60-976E-32FEFDFA0989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6414EDAA-7DA0-4551-B071-8429CA708790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463" name="직선 연결선 462">
              <a:extLst>
                <a:ext uri="{FF2B5EF4-FFF2-40B4-BE49-F238E27FC236}">
                  <a16:creationId xmlns:a16="http://schemas.microsoft.com/office/drawing/2014/main" id="{4E438C50-280A-4E8A-8979-82BA65F2FCA9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직선 연결선 463">
              <a:extLst>
                <a:ext uri="{FF2B5EF4-FFF2-40B4-BE49-F238E27FC236}">
                  <a16:creationId xmlns:a16="http://schemas.microsoft.com/office/drawing/2014/main" id="{2F4FF69F-6D91-403A-8585-523E6F5A14D6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35E28C3F-5563-4821-A243-F99D301DFE85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8839EC80-14B3-4A07-95C9-B62F5F872953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17051889-0764-472E-BBA3-12211AA49976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직사각형 485">
                <a:extLst>
                  <a:ext uri="{FF2B5EF4-FFF2-40B4-BE49-F238E27FC236}">
                    <a16:creationId xmlns:a16="http://schemas.microsoft.com/office/drawing/2014/main" id="{C86FC7A2-319A-4B25-9EA7-E181D861A467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7" name="직사각형 486">
                <a:extLst>
                  <a:ext uri="{FF2B5EF4-FFF2-40B4-BE49-F238E27FC236}">
                    <a16:creationId xmlns:a16="http://schemas.microsoft.com/office/drawing/2014/main" id="{4C1D79D9-4668-4E6C-8775-D8749033BC27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6F83FEB5-F899-498C-83E9-E5BF9DB42513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9" name="직사각형 488">
                <a:extLst>
                  <a:ext uri="{FF2B5EF4-FFF2-40B4-BE49-F238E27FC236}">
                    <a16:creationId xmlns:a16="http://schemas.microsoft.com/office/drawing/2014/main" id="{189BE6F7-91B0-470A-A0F0-FEFFE3C53D45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0" name="직사각형 489">
                <a:extLst>
                  <a:ext uri="{FF2B5EF4-FFF2-40B4-BE49-F238E27FC236}">
                    <a16:creationId xmlns:a16="http://schemas.microsoft.com/office/drawing/2014/main" id="{9A2FAEA2-BAD3-4C50-A651-9DD92A3B5AD7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1" name="직사각형 490">
                <a:extLst>
                  <a:ext uri="{FF2B5EF4-FFF2-40B4-BE49-F238E27FC236}">
                    <a16:creationId xmlns:a16="http://schemas.microsoft.com/office/drawing/2014/main" id="{24523943-27EC-4A64-AD17-44891C08319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2" name="직사각형 491">
                <a:extLst>
                  <a:ext uri="{FF2B5EF4-FFF2-40B4-BE49-F238E27FC236}">
                    <a16:creationId xmlns:a16="http://schemas.microsoft.com/office/drawing/2014/main" id="{29095B68-5F99-46B0-96BC-A3F8EA895993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F2EEA1DA-8027-44F4-9C6D-5020FD8B7836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475" name="직사각형 474">
                <a:extLst>
                  <a:ext uri="{FF2B5EF4-FFF2-40B4-BE49-F238E27FC236}">
                    <a16:creationId xmlns:a16="http://schemas.microsoft.com/office/drawing/2014/main" id="{A353202F-C31F-4BE0-8605-EB8571781B5C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6" name="직사각형 475">
                <a:extLst>
                  <a:ext uri="{FF2B5EF4-FFF2-40B4-BE49-F238E27FC236}">
                    <a16:creationId xmlns:a16="http://schemas.microsoft.com/office/drawing/2014/main" id="{EACABA88-0725-43BA-84A5-ED0A0AA53195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B8B55730-266D-49B8-AEC8-0795FB952262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8" name="직사각형 477">
                <a:extLst>
                  <a:ext uri="{FF2B5EF4-FFF2-40B4-BE49-F238E27FC236}">
                    <a16:creationId xmlns:a16="http://schemas.microsoft.com/office/drawing/2014/main" id="{D93401C5-6627-45CD-9FB8-F3A36F2C97E9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714BFE09-26A2-448B-B896-C43C34840654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D0DFEA01-835C-4AC7-B287-DB252E30B90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1" name="직사각형 480">
                <a:extLst>
                  <a:ext uri="{FF2B5EF4-FFF2-40B4-BE49-F238E27FC236}">
                    <a16:creationId xmlns:a16="http://schemas.microsoft.com/office/drawing/2014/main" id="{03C4ECA9-3682-4285-AAB9-BBD3D029A7BE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58272A6E-C84D-4156-80DD-360DA4A879B7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5B8E3EF5-207B-412C-A3F4-005D3ABDCB17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E63B3EAB-76A1-4DD7-B0B8-273973E079E0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192018BB-ECC9-4125-BB01-CB63F12CA426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70DDEEBD-35A8-498E-A699-8B171417EB94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468" name="직선 연결선 467">
              <a:extLst>
                <a:ext uri="{FF2B5EF4-FFF2-40B4-BE49-F238E27FC236}">
                  <a16:creationId xmlns:a16="http://schemas.microsoft.com/office/drawing/2014/main" id="{B375C60D-D2C9-4EA1-8478-A2F4454CD769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직선 연결선 468">
              <a:extLst>
                <a:ext uri="{FF2B5EF4-FFF2-40B4-BE49-F238E27FC236}">
                  <a16:creationId xmlns:a16="http://schemas.microsoft.com/office/drawing/2014/main" id="{2827D82E-F4C1-491A-A7A1-44A01AC780D9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직선 연결선 469">
              <a:extLst>
                <a:ext uri="{FF2B5EF4-FFF2-40B4-BE49-F238E27FC236}">
                  <a16:creationId xmlns:a16="http://schemas.microsoft.com/office/drawing/2014/main" id="{DDA2EA01-ADFA-48C8-8C11-34473F3AE2D8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자유형 33">
              <a:extLst>
                <a:ext uri="{FF2B5EF4-FFF2-40B4-BE49-F238E27FC236}">
                  <a16:creationId xmlns:a16="http://schemas.microsoft.com/office/drawing/2014/main" id="{33744CBA-A90A-4475-8822-9A4CFB9A61BB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2" name="자유형 83">
              <a:extLst>
                <a:ext uri="{FF2B5EF4-FFF2-40B4-BE49-F238E27FC236}">
                  <a16:creationId xmlns:a16="http://schemas.microsoft.com/office/drawing/2014/main" id="{7BE8069E-3D1D-4F20-ADEC-F142A19610C2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78155BE-64E0-4ABE-A025-6C612F435CAE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365DCAA8-AFD0-4B49-B67C-7995AA76BBA8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497" name="사각형: 둥근 모서리 496">
                <a:extLst>
                  <a:ext uri="{FF2B5EF4-FFF2-40B4-BE49-F238E27FC236}">
                    <a16:creationId xmlns:a16="http://schemas.microsoft.com/office/drawing/2014/main" id="{D69D6759-0539-46C1-B609-1B93A4016E6F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58842000-52F3-46B8-B859-068E0172FA2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499" name="사각형: 둥근 모서리 498">
                <a:extLst>
                  <a:ext uri="{FF2B5EF4-FFF2-40B4-BE49-F238E27FC236}">
                    <a16:creationId xmlns:a16="http://schemas.microsoft.com/office/drawing/2014/main" id="{7061B6D8-DAF5-4124-A899-7E2A1C71D65F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0" name="TextBox 499">
                <a:extLst>
                  <a:ext uri="{FF2B5EF4-FFF2-40B4-BE49-F238E27FC236}">
                    <a16:creationId xmlns:a16="http://schemas.microsoft.com/office/drawing/2014/main" id="{9C6E0FAC-F586-47B8-BD12-83728AF51878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01" name="사각형: 둥근 모서리 500">
                <a:extLst>
                  <a:ext uri="{FF2B5EF4-FFF2-40B4-BE49-F238E27FC236}">
                    <a16:creationId xmlns:a16="http://schemas.microsoft.com/office/drawing/2014/main" id="{412EEE04-7C30-4D0F-A62B-F0121A91E1C5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2" name="TextBox 501">
                <a:extLst>
                  <a:ext uri="{FF2B5EF4-FFF2-40B4-BE49-F238E27FC236}">
                    <a16:creationId xmlns:a16="http://schemas.microsoft.com/office/drawing/2014/main" id="{5536C490-D078-4126-9DB4-0AA8273FFF06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495" name="사각형: 둥근 모서리 494">
              <a:extLst>
                <a:ext uri="{FF2B5EF4-FFF2-40B4-BE49-F238E27FC236}">
                  <a16:creationId xmlns:a16="http://schemas.microsoft.com/office/drawing/2014/main" id="{F485D149-9F2E-47EA-9263-9D3502EF4091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EE366C4-7C85-479A-9D81-1251501214EC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FFFEBFB2-3A4C-4094-95E9-35495F1B46FC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CC87D42-414F-43CB-97C5-035A8BCBC01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3D899CFA-7BC2-4A31-BB08-FC6613D35729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04B54E4-6008-4FCB-9DB8-6057A7545143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E69E55A7-3B23-4F65-9FAB-A901434962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32A07FFE-F079-4F0C-B272-2A2B7BDF32D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D6DAB584-1151-4A43-B161-105DA0C81614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7F59D9B-8589-4A33-B390-A208E83F84E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915C0A2-C2B4-49BD-8A06-3371152A388C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B2FCFC23-1BD5-4B52-84AA-A04294985A61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B688AD10-071B-4A93-9489-90A52F285F63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4A3678A-B2FE-4113-99A3-4E648634DB8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A6C432BB-699F-40B9-A443-43D86D86A4DA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D04EBAC-FA21-4606-8241-2472C69CBC6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189C07A-CE42-466B-A476-F6058C87C50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518" name="직선 연결선 517">
              <a:extLst>
                <a:ext uri="{FF2B5EF4-FFF2-40B4-BE49-F238E27FC236}">
                  <a16:creationId xmlns:a16="http://schemas.microsoft.com/office/drawing/2014/main" id="{A004500C-F589-4875-8323-01ECA0E1CA34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직사각형 518">
              <a:extLst>
                <a:ext uri="{FF2B5EF4-FFF2-40B4-BE49-F238E27FC236}">
                  <a16:creationId xmlns:a16="http://schemas.microsoft.com/office/drawing/2014/main" id="{BD569CD7-FCAF-4BE5-A2CE-676D8D61B057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520" name="직선 연결선 519">
              <a:extLst>
                <a:ext uri="{FF2B5EF4-FFF2-40B4-BE49-F238E27FC236}">
                  <a16:creationId xmlns:a16="http://schemas.microsoft.com/office/drawing/2014/main" id="{AB698FB8-5449-4D49-8BDB-BDB0B6F4ADD8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1" name="직사각형 520">
              <a:extLst>
                <a:ext uri="{FF2B5EF4-FFF2-40B4-BE49-F238E27FC236}">
                  <a16:creationId xmlns:a16="http://schemas.microsoft.com/office/drawing/2014/main" id="{67D488E1-F15F-4254-9127-BD260183D2DC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522" name="직선 연결선 521">
              <a:extLst>
                <a:ext uri="{FF2B5EF4-FFF2-40B4-BE49-F238E27FC236}">
                  <a16:creationId xmlns:a16="http://schemas.microsoft.com/office/drawing/2014/main" id="{548F94F7-0C1A-4B57-8551-1FE39B9CFB3A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2D70729C-6E46-41E2-BD1A-98A0233053B7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524" name="직선 연결선 523">
              <a:extLst>
                <a:ext uri="{FF2B5EF4-FFF2-40B4-BE49-F238E27FC236}">
                  <a16:creationId xmlns:a16="http://schemas.microsoft.com/office/drawing/2014/main" id="{18446705-4C14-4D9A-B059-327665CE1CFC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5" name="직사각형 524">
              <a:extLst>
                <a:ext uri="{FF2B5EF4-FFF2-40B4-BE49-F238E27FC236}">
                  <a16:creationId xmlns:a16="http://schemas.microsoft.com/office/drawing/2014/main" id="{ED640FCF-BE22-4185-987E-FD267B3A7794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grpSp>
        <p:nvGrpSpPr>
          <p:cNvPr id="527" name="그룹 526">
            <a:extLst>
              <a:ext uri="{FF2B5EF4-FFF2-40B4-BE49-F238E27FC236}">
                <a16:creationId xmlns:a16="http://schemas.microsoft.com/office/drawing/2014/main" id="{E4EBEDE8-5A4D-4C5F-82E3-D1386DD47074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528" name="자유형 83">
              <a:extLst>
                <a:ext uri="{FF2B5EF4-FFF2-40B4-BE49-F238E27FC236}">
                  <a16:creationId xmlns:a16="http://schemas.microsoft.com/office/drawing/2014/main" id="{63CA63B8-9E88-46A0-8BAF-EB28D7DB38F3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29" name="자유형 33">
              <a:extLst>
                <a:ext uri="{FF2B5EF4-FFF2-40B4-BE49-F238E27FC236}">
                  <a16:creationId xmlns:a16="http://schemas.microsoft.com/office/drawing/2014/main" id="{D77FFD63-625E-4CBE-856A-927C459BCEB5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2E438CA8-E6D0-4085-A605-FB56A7000767}"/>
              </a:ext>
            </a:extLst>
          </p:cNvPr>
          <p:cNvGrpSpPr/>
          <p:nvPr/>
        </p:nvGrpSpPr>
        <p:grpSpPr>
          <a:xfrm>
            <a:off x="1181749" y="3130502"/>
            <a:ext cx="1683019" cy="157480"/>
            <a:chOff x="4730291" y="2929429"/>
            <a:chExt cx="1683019" cy="157480"/>
          </a:xfrm>
        </p:grpSpPr>
        <p:cxnSp>
          <p:nvCxnSpPr>
            <p:cNvPr id="535" name="직선 연결선 534">
              <a:extLst>
                <a:ext uri="{FF2B5EF4-FFF2-40B4-BE49-F238E27FC236}">
                  <a16:creationId xmlns:a16="http://schemas.microsoft.com/office/drawing/2014/main" id="{79090AAD-6B57-44C4-BF13-E48CCCDDEEAC}"/>
                </a:ext>
              </a:extLst>
            </p:cNvPr>
            <p:cNvCxnSpPr/>
            <p:nvPr/>
          </p:nvCxnSpPr>
          <p:spPr>
            <a:xfrm>
              <a:off x="4730291" y="3015425"/>
              <a:ext cx="149996" cy="0"/>
            </a:xfrm>
            <a:prstGeom prst="lin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D4728E59-E06B-429A-9050-BE3F11E7A9AA}"/>
                </a:ext>
              </a:extLst>
            </p:cNvPr>
            <p:cNvSpPr/>
            <p:nvPr/>
          </p:nvSpPr>
          <p:spPr>
            <a:xfrm>
              <a:off x="4808469" y="2931990"/>
              <a:ext cx="550418" cy="15491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실제 사용량</a:t>
              </a:r>
            </a:p>
          </p:txBody>
        </p:sp>
        <p:cxnSp>
          <p:nvCxnSpPr>
            <p:cNvPr id="537" name="직선 연결선 536">
              <a:extLst>
                <a:ext uri="{FF2B5EF4-FFF2-40B4-BE49-F238E27FC236}">
                  <a16:creationId xmlns:a16="http://schemas.microsoft.com/office/drawing/2014/main" id="{E7242B32-8571-41ED-BEDB-F754A52E58D6}"/>
                </a:ext>
              </a:extLst>
            </p:cNvPr>
            <p:cNvCxnSpPr/>
            <p:nvPr/>
          </p:nvCxnSpPr>
          <p:spPr>
            <a:xfrm>
              <a:off x="5280128" y="3009449"/>
              <a:ext cx="149996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50491D2B-C703-47BE-9526-932FCE5B3064}"/>
                </a:ext>
              </a:extLst>
            </p:cNvPr>
            <p:cNvSpPr/>
            <p:nvPr/>
          </p:nvSpPr>
          <p:spPr>
            <a:xfrm>
              <a:off x="5358305" y="2929429"/>
              <a:ext cx="548985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  <p:cxnSp>
          <p:nvCxnSpPr>
            <p:cNvPr id="539" name="직선 연결선 538">
              <a:extLst>
                <a:ext uri="{FF2B5EF4-FFF2-40B4-BE49-F238E27FC236}">
                  <a16:creationId xmlns:a16="http://schemas.microsoft.com/office/drawing/2014/main" id="{B58361FB-2149-4591-B937-D192E2CFB372}"/>
                </a:ext>
              </a:extLst>
            </p:cNvPr>
            <p:cNvCxnSpPr/>
            <p:nvPr/>
          </p:nvCxnSpPr>
          <p:spPr>
            <a:xfrm>
              <a:off x="5832767" y="3009449"/>
              <a:ext cx="149996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D00A7E91-FD5C-4B66-9AB0-2F12C7A10BD9}"/>
                </a:ext>
              </a:extLst>
            </p:cNvPr>
            <p:cNvSpPr/>
            <p:nvPr/>
          </p:nvSpPr>
          <p:spPr>
            <a:xfrm>
              <a:off x="5927483" y="2929429"/>
              <a:ext cx="485827" cy="14808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사용량</a:t>
              </a:r>
            </a:p>
          </p:txBody>
        </p:sp>
      </p:grp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6A83722D-9D32-4626-B09F-A5AB4B62E7AC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7033D04-1EC5-4D6D-8A2B-45BBFBFA22A5}"/>
              </a:ext>
            </a:extLst>
          </p:cNvPr>
          <p:cNvGrpSpPr/>
          <p:nvPr/>
        </p:nvGrpSpPr>
        <p:grpSpPr>
          <a:xfrm>
            <a:off x="183483" y="1752577"/>
            <a:ext cx="2014293" cy="1316384"/>
            <a:chOff x="183483" y="1752577"/>
            <a:chExt cx="2014293" cy="1316384"/>
          </a:xfrm>
        </p:grpSpPr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98EC361-DC78-4BF7-97E1-24E2636F3E7B}"/>
                </a:ext>
              </a:extLst>
            </p:cNvPr>
            <p:cNvSpPr txBox="1"/>
            <p:nvPr/>
          </p:nvSpPr>
          <p:spPr>
            <a:xfrm>
              <a:off x="222795" y="2700094"/>
              <a:ext cx="1013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구성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(DER)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9" name="직사각형 288">
              <a:extLst>
                <a:ext uri="{FF2B5EF4-FFF2-40B4-BE49-F238E27FC236}">
                  <a16:creationId xmlns:a16="http://schemas.microsoft.com/office/drawing/2014/main" id="{289F2E0D-7A6F-474B-B095-574DFC53789B}"/>
                </a:ext>
              </a:extLst>
            </p:cNvPr>
            <p:cNvSpPr/>
            <p:nvPr/>
          </p:nvSpPr>
          <p:spPr>
            <a:xfrm>
              <a:off x="216470" y="1752577"/>
              <a:ext cx="1947399" cy="131638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B818D8A7-5EA9-42D6-9244-6A4A420A8508}"/>
                </a:ext>
              </a:extLst>
            </p:cNvPr>
            <p:cNvCxnSpPr/>
            <p:nvPr/>
          </p:nvCxnSpPr>
          <p:spPr>
            <a:xfrm>
              <a:off x="565329" y="2432047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8733564F-B979-469F-8AD5-73F33A0093E2}"/>
                </a:ext>
              </a:extLst>
            </p:cNvPr>
            <p:cNvSpPr txBox="1"/>
            <p:nvPr/>
          </p:nvSpPr>
          <p:spPr>
            <a:xfrm>
              <a:off x="183483" y="176788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현황</a:t>
              </a: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F212987C-830B-4CEA-AAF1-9003EEEC1850}"/>
                </a:ext>
              </a:extLst>
            </p:cNvPr>
            <p:cNvCxnSpPr/>
            <p:nvPr/>
          </p:nvCxnSpPr>
          <p:spPr>
            <a:xfrm>
              <a:off x="565329" y="2628936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A1392B1B-C389-4BFD-9BC2-A7C25FBFF3A7}"/>
                </a:ext>
              </a:extLst>
            </p:cNvPr>
            <p:cNvCxnSpPr/>
            <p:nvPr/>
          </p:nvCxnSpPr>
          <p:spPr>
            <a:xfrm>
              <a:off x="565329" y="2825825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CDA8A6C8-DC9E-4A01-AAAF-E6D8220F0881}"/>
                </a:ext>
              </a:extLst>
            </p:cNvPr>
            <p:cNvCxnSpPr/>
            <p:nvPr/>
          </p:nvCxnSpPr>
          <p:spPr>
            <a:xfrm>
              <a:off x="565329" y="1981841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직선 연결선 294">
              <a:extLst>
                <a:ext uri="{FF2B5EF4-FFF2-40B4-BE49-F238E27FC236}">
                  <a16:creationId xmlns:a16="http://schemas.microsoft.com/office/drawing/2014/main" id="{CE2406FA-D074-4CAC-80F4-620C26433CF2}"/>
                </a:ext>
              </a:extLst>
            </p:cNvPr>
            <p:cNvCxnSpPr/>
            <p:nvPr/>
          </p:nvCxnSpPr>
          <p:spPr>
            <a:xfrm>
              <a:off x="565329" y="2178730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4A06B7F-4141-4466-B90E-1809BC3BC979}"/>
                </a:ext>
              </a:extLst>
            </p:cNvPr>
            <p:cNvSpPr txBox="1"/>
            <p:nvPr/>
          </p:nvSpPr>
          <p:spPr>
            <a:xfrm>
              <a:off x="183483" y="1977285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피크 전력 현황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0A72CBED-5A6C-4DCE-BDDA-05AC19D3694E}"/>
                </a:ext>
              </a:extLst>
            </p:cNvPr>
            <p:cNvSpPr txBox="1"/>
            <p:nvPr/>
          </p:nvSpPr>
          <p:spPr>
            <a:xfrm>
              <a:off x="184405" y="2190056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충방전량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조회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2347E7F5-A73A-4802-9C43-6762090A7BDD}"/>
                </a:ext>
              </a:extLst>
            </p:cNvPr>
            <p:cNvSpPr txBox="1"/>
            <p:nvPr/>
          </p:nvSpPr>
          <p:spPr>
            <a:xfrm>
              <a:off x="183483" y="242604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발전량 조회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BF702DB8-00D1-4405-A087-1AA0A56A1421}"/>
                </a:ext>
              </a:extLst>
            </p:cNvPr>
            <p:cNvSpPr txBox="1"/>
            <p:nvPr/>
          </p:nvSpPr>
          <p:spPr>
            <a:xfrm>
              <a:off x="183483" y="262210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 조회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83DB06B7-2453-46C7-BB6C-2E8DB56015A0}"/>
                </a:ext>
              </a:extLst>
            </p:cNvPr>
            <p:cNvSpPr txBox="1"/>
            <p:nvPr/>
          </p:nvSpPr>
          <p:spPr>
            <a:xfrm>
              <a:off x="183483" y="283812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구성</a:t>
              </a:r>
            </a:p>
          </p:txBody>
        </p:sp>
      </p:grpSp>
      <p:cxnSp>
        <p:nvCxnSpPr>
          <p:cNvPr id="288" name="직선 연결선 287">
            <a:extLst>
              <a:ext uri="{FF2B5EF4-FFF2-40B4-BE49-F238E27FC236}">
                <a16:creationId xmlns:a16="http://schemas.microsoft.com/office/drawing/2014/main" id="{27F1E9CC-036A-4EA6-987E-9EFF416B58C3}"/>
              </a:ext>
            </a:extLst>
          </p:cNvPr>
          <p:cNvCxnSpPr>
            <a:cxnSpLocks/>
          </p:cNvCxnSpPr>
          <p:nvPr/>
        </p:nvCxnSpPr>
        <p:spPr>
          <a:xfrm flipV="1">
            <a:off x="3399665" y="3111662"/>
            <a:ext cx="1284355" cy="283010"/>
          </a:xfrm>
          <a:prstGeom prst="line">
            <a:avLst/>
          </a:prstGeom>
          <a:ln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Box 541">
            <a:extLst>
              <a:ext uri="{FF2B5EF4-FFF2-40B4-BE49-F238E27FC236}">
                <a16:creationId xmlns:a16="http://schemas.microsoft.com/office/drawing/2014/main" id="{A425ECFD-8815-43E9-9F81-5B7E437766A8}"/>
              </a:ext>
            </a:extLst>
          </p:cNvPr>
          <p:cNvSpPr txBox="1"/>
          <p:nvPr/>
        </p:nvSpPr>
        <p:spPr>
          <a:xfrm>
            <a:off x="3017135" y="3927225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장치 현황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2723EF62-1774-46A1-A087-AB4488C9B8AB}"/>
              </a:ext>
            </a:extLst>
          </p:cNvPr>
          <p:cNvSpPr/>
          <p:nvPr/>
        </p:nvSpPr>
        <p:spPr>
          <a:xfrm>
            <a:off x="3574542" y="3922417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2E2A41A5-2793-42C4-AB91-FBE0BE48478A}"/>
              </a:ext>
            </a:extLst>
          </p:cNvPr>
          <p:cNvSpPr/>
          <p:nvPr/>
        </p:nvSpPr>
        <p:spPr>
          <a:xfrm>
            <a:off x="3727201" y="1892114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65B1674D-2F92-4419-9064-3760365DE3F6}"/>
              </a:ext>
            </a:extLst>
          </p:cNvPr>
          <p:cNvSpPr/>
          <p:nvPr/>
        </p:nvSpPr>
        <p:spPr>
          <a:xfrm>
            <a:off x="6344923" y="1801922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6" name="직사각형 545">
            <a:extLst>
              <a:ext uri="{FF2B5EF4-FFF2-40B4-BE49-F238E27FC236}">
                <a16:creationId xmlns:a16="http://schemas.microsoft.com/office/drawing/2014/main" id="{29441AE0-2600-461A-AD6C-4B8FDEB0DEE2}"/>
              </a:ext>
            </a:extLst>
          </p:cNvPr>
          <p:cNvSpPr/>
          <p:nvPr/>
        </p:nvSpPr>
        <p:spPr>
          <a:xfrm>
            <a:off x="2141719" y="1908879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7" name="직사각형 546">
            <a:extLst>
              <a:ext uri="{FF2B5EF4-FFF2-40B4-BE49-F238E27FC236}">
                <a16:creationId xmlns:a16="http://schemas.microsoft.com/office/drawing/2014/main" id="{D0F53D82-FDD1-4F1E-9334-765BB85E8780}"/>
              </a:ext>
            </a:extLst>
          </p:cNvPr>
          <p:cNvSpPr/>
          <p:nvPr/>
        </p:nvSpPr>
        <p:spPr>
          <a:xfrm>
            <a:off x="6326562" y="3093933"/>
            <a:ext cx="725954" cy="18235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500" b="1" dirty="0">
              <a:solidFill>
                <a:schemeClr val="accent6">
                  <a:lumMod val="7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46BC89A5-8F9E-4814-AC92-5FD3D582DD6D}"/>
              </a:ext>
            </a:extLst>
          </p:cNvPr>
          <p:cNvGrpSpPr/>
          <p:nvPr/>
        </p:nvGrpSpPr>
        <p:grpSpPr>
          <a:xfrm>
            <a:off x="6076331" y="1762087"/>
            <a:ext cx="2228568" cy="848471"/>
            <a:chOff x="5986543" y="6211594"/>
            <a:chExt cx="1044000" cy="848471"/>
          </a:xfrm>
        </p:grpSpPr>
        <p:sp>
          <p:nvSpPr>
            <p:cNvPr id="280" name="직사각형 279">
              <a:extLst>
                <a:ext uri="{FF2B5EF4-FFF2-40B4-BE49-F238E27FC236}">
                  <a16:creationId xmlns:a16="http://schemas.microsoft.com/office/drawing/2014/main" id="{0B00157D-B0CA-4FB1-960D-365CD1CEB388}"/>
                </a:ext>
              </a:extLst>
            </p:cNvPr>
            <p:cNvSpPr/>
            <p:nvPr/>
          </p:nvSpPr>
          <p:spPr>
            <a:xfrm>
              <a:off x="6052050" y="6211594"/>
              <a:ext cx="912986" cy="8330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E505084C-39BB-4393-B51B-2AEBED9E65CE}"/>
                </a:ext>
              </a:extLst>
            </p:cNvPr>
            <p:cNvSpPr txBox="1"/>
            <p:nvPr/>
          </p:nvSpPr>
          <p:spPr>
            <a:xfrm>
              <a:off x="5986543" y="6226906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한전 요금 조회</a:t>
              </a:r>
            </a:p>
          </p:txBody>
        </p: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88AC4104-2408-40B5-8D38-DB181A4825A2}"/>
                </a:ext>
              </a:extLst>
            </p:cNvPr>
            <p:cNvCxnSpPr/>
            <p:nvPr/>
          </p:nvCxnSpPr>
          <p:spPr>
            <a:xfrm>
              <a:off x="6184543" y="6440859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AE1D761B-2F88-484E-A0AA-7E460DEDDFC2}"/>
                </a:ext>
              </a:extLst>
            </p:cNvPr>
            <p:cNvCxnSpPr/>
            <p:nvPr/>
          </p:nvCxnSpPr>
          <p:spPr>
            <a:xfrm>
              <a:off x="6184543" y="6637748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81B53536-057E-4D7C-BB7E-E728F67B7328}"/>
                </a:ext>
              </a:extLst>
            </p:cNvPr>
            <p:cNvCxnSpPr/>
            <p:nvPr/>
          </p:nvCxnSpPr>
          <p:spPr>
            <a:xfrm>
              <a:off x="6184543" y="6834637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902655A-1E3E-4A0C-8915-D89DD8A02679}"/>
                </a:ext>
              </a:extLst>
            </p:cNvPr>
            <p:cNvSpPr txBox="1"/>
            <p:nvPr/>
          </p:nvSpPr>
          <p:spPr>
            <a:xfrm>
              <a:off x="5986543" y="643630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58C1C21B-AD92-4C35-ADCA-39D8917C9DBF}"/>
                </a:ext>
              </a:extLst>
            </p:cNvPr>
            <p:cNvSpPr txBox="1"/>
            <p:nvPr/>
          </p:nvSpPr>
          <p:spPr>
            <a:xfrm>
              <a:off x="5986543" y="663259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BC7A0A9C-1C61-4143-B779-B17CAB5F2629}"/>
                </a:ext>
              </a:extLst>
            </p:cNvPr>
            <p:cNvSpPr txBox="1"/>
            <p:nvPr/>
          </p:nvSpPr>
          <p:spPr>
            <a:xfrm>
              <a:off x="5986543" y="682923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</p:grpSp>
      <p:sp>
        <p:nvSpPr>
          <p:cNvPr id="549" name="TextBox 548">
            <a:extLst>
              <a:ext uri="{FF2B5EF4-FFF2-40B4-BE49-F238E27FC236}">
                <a16:creationId xmlns:a16="http://schemas.microsoft.com/office/drawing/2014/main" id="{E957FA18-8467-4831-8083-E61694EB1FE6}"/>
              </a:ext>
            </a:extLst>
          </p:cNvPr>
          <p:cNvSpPr txBox="1"/>
          <p:nvPr/>
        </p:nvSpPr>
        <p:spPr>
          <a:xfrm>
            <a:off x="3248495" y="2082103"/>
            <a:ext cx="242039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지금은 </a:t>
            </a:r>
            <a:r>
              <a:rPr lang="ko-KR" altLang="en-US" sz="8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7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700" b="1" dirty="0">
                <a:solidFill>
                  <a:schemeClr val="bg1"/>
                </a:solidFill>
              </a:rPr>
              <a:t>. (08:00 ~ 12:00)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322408D-A973-45AE-B7D7-B14205A98110}"/>
              </a:ext>
            </a:extLst>
          </p:cNvPr>
          <p:cNvGrpSpPr/>
          <p:nvPr/>
        </p:nvGrpSpPr>
        <p:grpSpPr>
          <a:xfrm>
            <a:off x="2202204" y="1754184"/>
            <a:ext cx="1962507" cy="1082883"/>
            <a:chOff x="3102516" y="5709792"/>
            <a:chExt cx="1962507" cy="1082883"/>
          </a:xfrm>
        </p:grpSpPr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E06468A-333F-409F-BD34-5DB59C055284}"/>
                </a:ext>
              </a:extLst>
            </p:cNvPr>
            <p:cNvSpPr/>
            <p:nvPr/>
          </p:nvSpPr>
          <p:spPr>
            <a:xfrm>
              <a:off x="3102516" y="5709792"/>
              <a:ext cx="1962507" cy="10828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C54889D-6DC8-4115-A8F5-B28E19490486}"/>
                </a:ext>
              </a:extLst>
            </p:cNvPr>
            <p:cNvSpPr txBox="1"/>
            <p:nvPr/>
          </p:nvSpPr>
          <p:spPr>
            <a:xfrm>
              <a:off x="3273995" y="5725104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통신상태</a:t>
              </a:r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CD86CC7F-8036-4D2E-AF9C-01DAB14E6408}"/>
                </a:ext>
              </a:extLst>
            </p:cNvPr>
            <p:cNvCxnSpPr/>
            <p:nvPr/>
          </p:nvCxnSpPr>
          <p:spPr>
            <a:xfrm>
              <a:off x="3354038" y="5939057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8F2EC423-9748-46A0-91DA-B0CA10FB1F67}"/>
                </a:ext>
              </a:extLst>
            </p:cNvPr>
            <p:cNvCxnSpPr/>
            <p:nvPr/>
          </p:nvCxnSpPr>
          <p:spPr>
            <a:xfrm>
              <a:off x="3354038" y="6135946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2A8ED896-01C2-475F-89DA-D56ACC502AED}"/>
                </a:ext>
              </a:extLst>
            </p:cNvPr>
            <p:cNvCxnSpPr/>
            <p:nvPr/>
          </p:nvCxnSpPr>
          <p:spPr>
            <a:xfrm>
              <a:off x="3354038" y="6332835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4D399DDF-334F-4EDF-96E1-7234FB28D6D5}"/>
                </a:ext>
              </a:extLst>
            </p:cNvPr>
            <p:cNvSpPr txBox="1"/>
            <p:nvPr/>
          </p:nvSpPr>
          <p:spPr>
            <a:xfrm>
              <a:off x="3273995" y="59345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C0669245-B77E-4DCF-B795-05F201CF6B2B}"/>
                </a:ext>
              </a:extLst>
            </p:cNvPr>
            <p:cNvSpPr txBox="1"/>
            <p:nvPr/>
          </p:nvSpPr>
          <p:spPr>
            <a:xfrm>
              <a:off x="3273995" y="613079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21551A7-3B15-47F1-83C8-BA209224EC98}"/>
                </a:ext>
              </a:extLst>
            </p:cNvPr>
            <p:cNvSpPr txBox="1"/>
            <p:nvPr/>
          </p:nvSpPr>
          <p:spPr>
            <a:xfrm>
              <a:off x="3273995" y="632743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cxnSp>
          <p:nvCxnSpPr>
            <p:cNvPr id="296" name="직선 연결선 295">
              <a:extLst>
                <a:ext uri="{FF2B5EF4-FFF2-40B4-BE49-F238E27FC236}">
                  <a16:creationId xmlns:a16="http://schemas.microsoft.com/office/drawing/2014/main" id="{86C56984-3B4E-44EA-9B46-D292E8EA1ECF}"/>
                </a:ext>
              </a:extLst>
            </p:cNvPr>
            <p:cNvCxnSpPr/>
            <p:nvPr/>
          </p:nvCxnSpPr>
          <p:spPr>
            <a:xfrm>
              <a:off x="3351557" y="6558263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19258D7-A0A6-490C-8731-2DFB3ACF61C2}"/>
                </a:ext>
              </a:extLst>
            </p:cNvPr>
            <p:cNvSpPr txBox="1"/>
            <p:nvPr/>
          </p:nvSpPr>
          <p:spPr>
            <a:xfrm>
              <a:off x="3276437" y="65303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 현황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240023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20"/>
            <a:ext cx="8208912" cy="490564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grpSp>
        <p:nvGrpSpPr>
          <p:cNvPr id="81" name="그룹 80">
            <a:extLst>
              <a:ext uri="{FF2B5EF4-FFF2-40B4-BE49-F238E27FC236}">
                <a16:creationId xmlns:a16="http://schemas.microsoft.com/office/drawing/2014/main" id="{4A59795B-3463-4D99-9ECC-4FA0B285389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1601754B-9F48-4F81-9364-FF4E53C7010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D8207F64-C291-4C21-BE06-0579F16574C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989A223-57F0-43EA-9893-A8BA1B7A6AA6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D063DEA1-1C19-44CA-A628-FE49AE1435B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436A406E-4A14-45F6-878D-51E48190C0E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사용량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816263"/>
              </p:ext>
            </p:extLst>
          </p:nvPr>
        </p:nvGraphicFramePr>
        <p:xfrm>
          <a:off x="8469313" y="276225"/>
          <a:ext cx="1404000" cy="608793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예측량은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단위로만 확인 가능</a:t>
                      </a:r>
                      <a:endParaRPr kumimoji="1" lang="en-US" altLang="ko-KR" sz="800" b="0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 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3, 4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항목에서 지정된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일정에 따라 사용량과 예측 사용량을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8429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643370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643370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711078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710233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F4634D-DE8F-42B0-B735-5E8AB0F7ED85}"/>
              </a:ext>
            </a:extLst>
          </p:cNvPr>
          <p:cNvSpPr/>
          <p:nvPr/>
        </p:nvSpPr>
        <p:spPr>
          <a:xfrm>
            <a:off x="302238" y="1625550"/>
            <a:ext cx="87329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현황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55267"/>
              </p:ext>
            </p:extLst>
          </p:nvPr>
        </p:nvGraphicFramePr>
        <p:xfrm>
          <a:off x="306388" y="2283775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640780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576884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283776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CAB8C200-A8D4-47EA-BD6A-3934DE386149}"/>
              </a:ext>
            </a:extLst>
          </p:cNvPr>
          <p:cNvGrpSpPr/>
          <p:nvPr/>
        </p:nvGrpSpPr>
        <p:grpSpPr>
          <a:xfrm>
            <a:off x="317412" y="4748899"/>
            <a:ext cx="862386" cy="211955"/>
            <a:chOff x="4861742" y="3907374"/>
            <a:chExt cx="862386" cy="211955"/>
          </a:xfrm>
        </p:grpSpPr>
        <p:pic>
          <p:nvPicPr>
            <p:cNvPr id="4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53604D2-F5EC-41A4-A824-3472B1F77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6B6DFC4-6102-4BA3-87CD-D8C5349FB8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541258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CBC5FAF-9C6B-40DC-9F3B-CE4C473D3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0149020"/>
              </p:ext>
            </p:extLst>
          </p:nvPr>
        </p:nvGraphicFramePr>
        <p:xfrm>
          <a:off x="304132" y="5013176"/>
          <a:ext cx="7886969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2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9652141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261205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실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7" name="그룹 56">
            <a:extLst>
              <a:ext uri="{FF2B5EF4-FFF2-40B4-BE49-F238E27FC236}">
                <a16:creationId xmlns:a16="http://schemas.microsoft.com/office/drawing/2014/main" id="{5BCB447F-9DE7-4CFF-BE67-93A63D5BC6BA}"/>
              </a:ext>
            </a:extLst>
          </p:cNvPr>
          <p:cNvGrpSpPr/>
          <p:nvPr/>
        </p:nvGrpSpPr>
        <p:grpSpPr>
          <a:xfrm>
            <a:off x="1141334" y="4725144"/>
            <a:ext cx="859338" cy="222065"/>
            <a:chOff x="1309112" y="5497546"/>
            <a:chExt cx="859338" cy="222065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9159D75-C699-4BCF-8683-62B774D63ADB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59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A0DCCD3B-06CF-46B4-9970-A70380E64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11106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 사용량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110499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988271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92461F0-63AB-419F-B268-16C269F708B6}"/>
              </a:ext>
            </a:extLst>
          </p:cNvPr>
          <p:cNvSpPr txBox="1"/>
          <p:nvPr/>
        </p:nvSpPr>
        <p:spPr>
          <a:xfrm>
            <a:off x="7205161" y="474541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67019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2158083" y="1508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946071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0499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439913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44465" y="18889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64592" y="1508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647250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EFDB71-6E56-42A4-86F6-93528BBDD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556065"/>
              </p:ext>
            </p:extLst>
          </p:nvPr>
        </p:nvGraphicFramePr>
        <p:xfrm>
          <a:off x="333290" y="5799587"/>
          <a:ext cx="4114985" cy="9096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 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종료일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68" name="타원형 설명선 225">
            <a:extLst>
              <a:ext uri="{FF2B5EF4-FFF2-40B4-BE49-F238E27FC236}">
                <a16:creationId xmlns:a16="http://schemas.microsoft.com/office/drawing/2014/main" id="{71768A76-98FD-494B-8D70-0F5ABCB1716E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1392047"/>
              </p:ext>
            </p:extLst>
          </p:nvPr>
        </p:nvGraphicFramePr>
        <p:xfrm>
          <a:off x="4563952" y="6035155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4563284" y="58052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77633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사용량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6776172"/>
              </p:ext>
            </p:extLst>
          </p:nvPr>
        </p:nvGraphicFramePr>
        <p:xfrm>
          <a:off x="8469313" y="276225"/>
          <a:ext cx="1404000" cy="54307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커서를 그래프 영역에 위치 시키면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항목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 최대 칸수는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변경하기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꺾은선 그래프를 막대 그래프로 변환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(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토글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20"/>
            <a:ext cx="8208912" cy="481833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1141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772816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57461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57461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64232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64147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766584"/>
              </p:ext>
            </p:extLst>
          </p:nvPr>
        </p:nvGraphicFramePr>
        <p:xfrm>
          <a:off x="306388" y="2213607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570612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506716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213608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471090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008565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886337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 사용량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007996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882424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600027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46018" y="4762744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48" name="타원형 설명선 247"/>
          <p:cNvSpPr/>
          <p:nvPr/>
        </p:nvSpPr>
        <p:spPr>
          <a:xfrm>
            <a:off x="46018" y="224361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578492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4425851"/>
              </p:ext>
            </p:extLst>
          </p:nvPr>
        </p:nvGraphicFramePr>
        <p:xfrm>
          <a:off x="412132" y="5589064"/>
          <a:ext cx="3028699" cy="15843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3602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817491">
                  <a:extLst>
                    <a:ext uri="{9D8B030D-6E8A-4147-A177-3AD203B41FA5}">
                      <a16:colId xmlns:a16="http://schemas.microsoft.com/office/drawing/2014/main" val="8834736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284601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4403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672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2880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5840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293162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336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1440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2920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60(</a:t>
                      </a:r>
                      <a:r>
                        <a:rPr lang="ko-KR" altLang="en-US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022207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720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1460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24359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365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500751"/>
                  </a:ext>
                </a:extLst>
              </a:tr>
              <a:tr h="14403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 데이터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  <a:tr h="14403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 캡션 표시 개수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7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0841290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304132" y="544522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912459AA-AE8B-4FEC-AEF3-B04542519A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6659FA9-8EC9-41F1-A752-E369F68109F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9A47B65A-970F-42C9-B519-D2A1B28EF3C6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0E8B04F-03D8-4E86-990D-6EBDC7CB9E42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90C3FDC-419C-4E8E-8ADC-C2E5717AB828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A83F80-D727-4FA4-96B7-219905165F76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83" name="타원형 설명선 246">
            <a:extLst>
              <a:ext uri="{FF2B5EF4-FFF2-40B4-BE49-F238E27FC236}">
                <a16:creationId xmlns:a16="http://schemas.microsoft.com/office/drawing/2014/main" id="{F89A90AF-027F-42C4-A610-62FA75D40F12}"/>
              </a:ext>
            </a:extLst>
          </p:cNvPr>
          <p:cNvSpPr/>
          <p:nvPr/>
        </p:nvSpPr>
        <p:spPr>
          <a:xfrm>
            <a:off x="6901878" y="44747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05">
            <a:extLst>
              <a:ext uri="{FF2B5EF4-FFF2-40B4-BE49-F238E27FC236}">
                <a16:creationId xmlns:a16="http://schemas.microsoft.com/office/drawing/2014/main" id="{405C694A-CA60-4698-A5DA-BD0C0B872825}"/>
              </a:ext>
            </a:extLst>
          </p:cNvPr>
          <p:cNvSpPr/>
          <p:nvPr/>
        </p:nvSpPr>
        <p:spPr>
          <a:xfrm>
            <a:off x="88132" y="4546720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68" name="타원형 설명선 205">
            <a:extLst>
              <a:ext uri="{FF2B5EF4-FFF2-40B4-BE49-F238E27FC236}">
                <a16:creationId xmlns:a16="http://schemas.microsoft.com/office/drawing/2014/main" id="{3BE64E2E-16C5-4EA9-8902-0C1C66E53ADE}"/>
              </a:ext>
            </a:extLst>
          </p:cNvPr>
          <p:cNvSpPr/>
          <p:nvPr/>
        </p:nvSpPr>
        <p:spPr>
          <a:xfrm>
            <a:off x="992560" y="454971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E1B0CC61-BAC3-457A-A7AD-7BA60C63A8F9}"/>
              </a:ext>
            </a:extLst>
          </p:cNvPr>
          <p:cNvGrpSpPr/>
          <p:nvPr/>
        </p:nvGrpSpPr>
        <p:grpSpPr>
          <a:xfrm>
            <a:off x="317412" y="4642483"/>
            <a:ext cx="862386" cy="211955"/>
            <a:chOff x="4861742" y="3907374"/>
            <a:chExt cx="862386" cy="211955"/>
          </a:xfrm>
        </p:grpSpPr>
        <p:pic>
          <p:nvPicPr>
            <p:cNvPr id="8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6D9D225-6D8F-454E-B806-8C2189E9FF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DF08557-446F-4D72-AB36-4D899F2D056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D36C2EFA-1207-4D58-BF70-8E17435C30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321938"/>
              </p:ext>
            </p:extLst>
          </p:nvPr>
        </p:nvGraphicFramePr>
        <p:xfrm>
          <a:off x="304132" y="4906760"/>
          <a:ext cx="7886969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2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4148">
                  <a:extLst>
                    <a:ext uri="{9D8B030D-6E8A-4147-A177-3AD203B41FA5}">
                      <a16:colId xmlns:a16="http://schemas.microsoft.com/office/drawing/2014/main" val="152783311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261205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실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93BAFA6A-9AD3-498D-AC53-583EE9B33832}"/>
              </a:ext>
            </a:extLst>
          </p:cNvPr>
          <p:cNvGrpSpPr/>
          <p:nvPr/>
        </p:nvGrpSpPr>
        <p:grpSpPr>
          <a:xfrm>
            <a:off x="1141334" y="4618728"/>
            <a:ext cx="859338" cy="222065"/>
            <a:chOff x="1309112" y="5497546"/>
            <a:chExt cx="859338" cy="222065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7E6D0E9C-857E-4097-8396-C9901F3A6775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90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D948D2D3-DF6F-4D37-9901-83A71E743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2A3D9C6D-050A-4331-BF82-00279B06C2EA}"/>
              </a:ext>
            </a:extLst>
          </p:cNvPr>
          <p:cNvSpPr txBox="1"/>
          <p:nvPr/>
        </p:nvSpPr>
        <p:spPr>
          <a:xfrm>
            <a:off x="7205161" y="463899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71" name="말풍선: 모서리가 둥근 사각형 70">
            <a:extLst>
              <a:ext uri="{FF2B5EF4-FFF2-40B4-BE49-F238E27FC236}">
                <a16:creationId xmlns:a16="http://schemas.microsoft.com/office/drawing/2014/main" id="{CB3CF49C-C8DA-4BA0-A053-4E34F31BE0B1}"/>
              </a:ext>
            </a:extLst>
          </p:cNvPr>
          <p:cNvSpPr/>
          <p:nvPr/>
        </p:nvSpPr>
        <p:spPr>
          <a:xfrm>
            <a:off x="7598762" y="5839468"/>
            <a:ext cx="2110321" cy="640586"/>
          </a:xfrm>
          <a:prstGeom prst="wedgeRoundRectCallout">
            <a:avLst>
              <a:gd name="adj1" fmla="val -34400"/>
              <a:gd name="adj2" fmla="val -82685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축 최대 라인 수는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96 (24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시간을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 단위로 표시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24x4)</a:t>
            </a:r>
          </a:p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따라서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표는 폰트가 표 간격에 맞춰 자동으로 줄어들도록 구성해야 함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4CF083E7-EF36-49EE-9123-66B565DA67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539191"/>
              </p:ext>
            </p:extLst>
          </p:nvPr>
        </p:nvGraphicFramePr>
        <p:xfrm>
          <a:off x="4080210" y="5675652"/>
          <a:ext cx="3342028" cy="1068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3323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296131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28117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993451"/>
                  </a:ext>
                </a:extLst>
              </a:tr>
            </a:tbl>
          </a:graphicData>
        </a:graphic>
      </p:graphicFrame>
      <p:sp>
        <p:nvSpPr>
          <p:cNvPr id="93" name="타원형 설명선 225">
            <a:extLst>
              <a:ext uri="{FF2B5EF4-FFF2-40B4-BE49-F238E27FC236}">
                <a16:creationId xmlns:a16="http://schemas.microsoft.com/office/drawing/2014/main" id="{3605EA55-9401-41FA-BA3F-4396F9D2ECF6}"/>
              </a:ext>
            </a:extLst>
          </p:cNvPr>
          <p:cNvSpPr/>
          <p:nvPr/>
        </p:nvSpPr>
        <p:spPr>
          <a:xfrm>
            <a:off x="3772491" y="553567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E085BC60-127E-42BE-8FEE-68DD87C65CEE}"/>
              </a:ext>
            </a:extLst>
          </p:cNvPr>
          <p:cNvSpPr/>
          <p:nvPr/>
        </p:nvSpPr>
        <p:spPr>
          <a:xfrm>
            <a:off x="302238" y="1556792"/>
            <a:ext cx="87329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현황</a:t>
            </a:r>
          </a:p>
        </p:txBody>
      </p:sp>
    </p:spTree>
    <p:extLst>
      <p:ext uri="{BB962C8B-B14F-4D97-AF65-F5344CB8AC3E}">
        <p14:creationId xmlns:p14="http://schemas.microsoft.com/office/powerpoint/2010/main" val="57160323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827821"/>
              </p:ext>
            </p:extLst>
          </p:nvPr>
        </p:nvGraphicFramePr>
        <p:xfrm>
          <a:off x="8469313" y="276225"/>
          <a:ext cx="1404000" cy="56257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시작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종료 일정 설정하고 우측 조회 버튼 클릭하면 조회 및 갱신 진행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694628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5365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825776"/>
              </p:ext>
            </p:extLst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7106998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2614470-1527-4CEA-A2AD-54BCAAF79B08}"/>
              </a:ext>
            </a:extLst>
          </p:cNvPr>
          <p:cNvGrpSpPr/>
          <p:nvPr/>
        </p:nvGrpSpPr>
        <p:grpSpPr>
          <a:xfrm>
            <a:off x="326114" y="4365104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1CA3EEB1-AC72-48D7-A259-76A1B6014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B23ABA4-9F0D-45AD-8BA6-8B867D15B7B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4930076" y="2864840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730940F6-EB57-4C2B-9700-3C87FC85E2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910016"/>
              </p:ext>
            </p:extLst>
          </p:nvPr>
        </p:nvGraphicFramePr>
        <p:xfrm>
          <a:off x="308467" y="4657004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05553756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18273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5610749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6033224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4160912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4611967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7545392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85B1735-DF8C-464E-8808-120B70EF9690}"/>
              </a:ext>
            </a:extLst>
          </p:cNvPr>
          <p:cNvSpPr txBox="1"/>
          <p:nvPr/>
        </p:nvSpPr>
        <p:spPr>
          <a:xfrm>
            <a:off x="7116279" y="436510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57" name="말풍선: 모서리가 둥근 사각형 56">
            <a:extLst>
              <a:ext uri="{FF2B5EF4-FFF2-40B4-BE49-F238E27FC236}">
                <a16:creationId xmlns:a16="http://schemas.microsoft.com/office/drawing/2014/main" id="{0F5A3A14-97BE-408E-B268-79BCB2C6E25E}"/>
              </a:ext>
            </a:extLst>
          </p:cNvPr>
          <p:cNvSpPr/>
          <p:nvPr/>
        </p:nvSpPr>
        <p:spPr>
          <a:xfrm>
            <a:off x="137637" y="1052736"/>
            <a:ext cx="1265293" cy="440284"/>
          </a:xfrm>
          <a:prstGeom prst="wedgeRoundRectCallout">
            <a:avLst>
              <a:gd name="adj1" fmla="val -6008"/>
              <a:gd name="adj2" fmla="val 94243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2288513" y="14545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99167" y="1456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69856" y="145239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399002" y="14865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7613D8EC-439F-4B98-B065-18225BF9D6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137541"/>
              </p:ext>
            </p:extLst>
          </p:nvPr>
        </p:nvGraphicFramePr>
        <p:xfrm>
          <a:off x="333290" y="5799587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부하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7B431328-1DFE-4D07-91CF-29D69DE70FEA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CDF63407-2BCD-4D76-AD1D-C1215852DB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8472960"/>
              </p:ext>
            </p:extLst>
          </p:nvPr>
        </p:nvGraphicFramePr>
        <p:xfrm>
          <a:off x="4563952" y="6035155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4" name="타원형 설명선 225">
            <a:extLst>
              <a:ext uri="{FF2B5EF4-FFF2-40B4-BE49-F238E27FC236}">
                <a16:creationId xmlns:a16="http://schemas.microsoft.com/office/drawing/2014/main" id="{4CEDB159-A9F6-49E6-B72C-6E01C8C72E6D}"/>
              </a:ext>
            </a:extLst>
          </p:cNvPr>
          <p:cNvSpPr/>
          <p:nvPr/>
        </p:nvSpPr>
        <p:spPr>
          <a:xfrm>
            <a:off x="4563284" y="58052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85E1575-63F6-4CC0-90D3-4CCB03B9D585}"/>
              </a:ext>
            </a:extLst>
          </p:cNvPr>
          <p:cNvSpPr txBox="1"/>
          <p:nvPr/>
        </p:nvSpPr>
        <p:spPr>
          <a:xfrm>
            <a:off x="1455008" y="6347120"/>
            <a:ext cx="2993268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추가 예정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06586D8-0A22-4977-8F94-B63F1DDF3CD7}"/>
              </a:ext>
            </a:extLst>
          </p:cNvPr>
          <p:cNvSpPr txBox="1"/>
          <p:nvPr/>
        </p:nvSpPr>
        <p:spPr>
          <a:xfrm>
            <a:off x="5241032" y="6381889"/>
            <a:ext cx="3111642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수정 예정</a:t>
            </a:r>
          </a:p>
        </p:txBody>
      </p:sp>
      <p:sp>
        <p:nvSpPr>
          <p:cNvPr id="76" name="타원형 설명선 245">
            <a:extLst>
              <a:ext uri="{FF2B5EF4-FFF2-40B4-BE49-F238E27FC236}">
                <a16:creationId xmlns:a16="http://schemas.microsoft.com/office/drawing/2014/main" id="{85CEC6C2-65F0-4A29-95DD-53D7692FB632}"/>
              </a:ext>
            </a:extLst>
          </p:cNvPr>
          <p:cNvSpPr/>
          <p:nvPr/>
        </p:nvSpPr>
        <p:spPr>
          <a:xfrm>
            <a:off x="184123" y="197713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6A208E1-6E95-454E-99B7-CB04A352A39C}"/>
              </a:ext>
            </a:extLst>
          </p:cNvPr>
          <p:cNvSpPr/>
          <p:nvPr/>
        </p:nvSpPr>
        <p:spPr>
          <a:xfrm>
            <a:off x="7610473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E2EA1EA1-1F1A-4960-9EF3-0955FA1C7F9E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9ED04C50-30B8-46D1-A0E0-DC64C74E7A15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D74CD1A-740E-4A72-A133-99DF6C59D140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6FBFF27-8436-4407-9B42-3A66CFE8CD53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83B81C13-9D4A-4219-939F-AC6755B57EBF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DBEC0ABB-6711-4D24-A388-AC4ADFC47F7F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18E55B5F-8AAA-443B-8A5F-6A2C813F6595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4210768-ACED-4294-AF3B-28A9D69C0BB5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1A025EB8-402B-4559-AE45-FF5D842F95AF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6F5AF9B0-B6AD-4C96-A083-E2FEEC61460B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69629190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7604535"/>
              </p:ext>
            </p:extLst>
          </p:nvPr>
        </p:nvGraphicFramePr>
        <p:xfrm>
          <a:off x="8469313" y="276225"/>
          <a:ext cx="1404000" cy="62830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막대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단위 별 막대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개로 반영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직선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한전계약전력을 직선 그래프로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날짜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설정과 상관 없이 그래프 내에서 최고 피크 전력량 위치에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지속적으로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827755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506819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443439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전력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최고 피크 전력을 표시하고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최고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변경하여 표시</a:t>
                      </a:r>
                      <a:endParaRPr kumimoji="1"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3487849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5365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7106998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4913333" y="2912067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5610749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6033224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4160912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4611967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7545392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151813" y="4221088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246" name="타원형 설명선 245"/>
          <p:cNvSpPr/>
          <p:nvPr/>
        </p:nvSpPr>
        <p:spPr>
          <a:xfrm>
            <a:off x="6298" y="234449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655008" y="272359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810277" y="42211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3813" y="45091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3DE23093-0E31-4ACF-8DC8-32C371F2AC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072343"/>
              </p:ext>
            </p:extLst>
          </p:nvPr>
        </p:nvGraphicFramePr>
        <p:xfrm>
          <a:off x="4563952" y="6107163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7" name="타원형 설명선 225">
            <a:extLst>
              <a:ext uri="{FF2B5EF4-FFF2-40B4-BE49-F238E27FC236}">
                <a16:creationId xmlns:a16="http://schemas.microsoft.com/office/drawing/2014/main" id="{2EED2BBD-CE5E-4CF1-A6DC-E130D5932AB8}"/>
              </a:ext>
            </a:extLst>
          </p:cNvPr>
          <p:cNvSpPr/>
          <p:nvPr/>
        </p:nvSpPr>
        <p:spPr>
          <a:xfrm>
            <a:off x="4563284" y="587727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34E4F8C-C32F-4D9D-B4D6-56B8DF4D40B6}"/>
              </a:ext>
            </a:extLst>
          </p:cNvPr>
          <p:cNvSpPr/>
          <p:nvPr/>
        </p:nvSpPr>
        <p:spPr>
          <a:xfrm>
            <a:off x="7596731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3EAF87A-862D-46F8-A408-FC21CB81F706}"/>
              </a:ext>
            </a:extLst>
          </p:cNvPr>
          <p:cNvGrpSpPr/>
          <p:nvPr/>
        </p:nvGrpSpPr>
        <p:grpSpPr>
          <a:xfrm>
            <a:off x="326114" y="4365104"/>
            <a:ext cx="862386" cy="211955"/>
            <a:chOff x="4861742" y="3907374"/>
            <a:chExt cx="862386" cy="211955"/>
          </a:xfrm>
        </p:grpSpPr>
        <p:pic>
          <p:nvPicPr>
            <p:cNvPr id="7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97AE5E31-67A0-472F-AFE3-BCF5A90D3F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65C3259-B3CA-4716-B760-9622563D40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346F75E7-6E48-4BEB-B087-36C86A8784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5005042"/>
              </p:ext>
            </p:extLst>
          </p:nvPr>
        </p:nvGraphicFramePr>
        <p:xfrm>
          <a:off x="308467" y="4657004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99061325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1750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E7DE9EB2-4172-4E6A-930E-198256F97370}"/>
              </a:ext>
            </a:extLst>
          </p:cNvPr>
          <p:cNvSpPr txBox="1"/>
          <p:nvPr/>
        </p:nvSpPr>
        <p:spPr>
          <a:xfrm>
            <a:off x="7116279" y="436510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60C749D-EA82-413A-BFDB-FB0716230F67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2A4E1530-A64F-4C19-BD4C-B43563C3AADA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F23B4B31-ADC8-416B-B966-7E03DD8557C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277229C-3BAC-48AF-9041-A10DBE2D11A4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564569EE-5D20-4F33-BEC3-665A741B28E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2E10968A-382F-4CE9-A1C5-42947831AB85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90A71A39-040F-4FF3-9F95-23237E8BDF17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6DCAEB6A-B18B-43FF-B18F-B6EB52017305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A4BA94B-27A6-40F9-9832-F2C679EE81CF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D280476A-9D4B-44FA-B293-B7EB7C6B0A6F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05288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692661"/>
              </p:ext>
            </p:extLst>
          </p:nvPr>
        </p:nvGraphicFramePr>
        <p:xfrm>
          <a:off x="8469313" y="276225"/>
          <a:ext cx="1404000" cy="2216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</a:t>
                      </a:r>
                      <a:endParaRPr kumimoji="1" lang="en-US" altLang="ko-KR" sz="800" b="1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요금적용 전력 갱신구간 內에 위치할 경우 다음과 같은 문구를 표시한다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“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지금은 요금적용전력 갱신 구간입니다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시작시간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종료시간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)”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아니라 특정 기간 조회의 경우 해당 표시를 하지 않는다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sng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Site Main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에만 요금적용전력 갱신구간을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45613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74073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D414077D-420F-4382-81AA-4739B9E9B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84223"/>
              </p:ext>
            </p:extLst>
          </p:nvPr>
        </p:nvGraphicFramePr>
        <p:xfrm>
          <a:off x="308467" y="2353491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A573A36C-7C15-404A-B5F3-68BC2E063808}"/>
              </a:ext>
            </a:extLst>
          </p:cNvPr>
          <p:cNvCxnSpPr/>
          <p:nvPr/>
        </p:nvCxnSpPr>
        <p:spPr>
          <a:xfrm>
            <a:off x="7106998" y="2173184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95086C6C-3EB5-4ADD-B377-FC8695890289}"/>
              </a:ext>
            </a:extLst>
          </p:cNvPr>
          <p:cNvCxnSpPr>
            <a:cxnSpLocks/>
          </p:cNvCxnSpPr>
          <p:nvPr/>
        </p:nvCxnSpPr>
        <p:spPr>
          <a:xfrm>
            <a:off x="1028548" y="2636912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38C1271-E846-4822-847E-538D40435536}"/>
              </a:ext>
            </a:extLst>
          </p:cNvPr>
          <p:cNvCxnSpPr>
            <a:cxnSpLocks/>
          </p:cNvCxnSpPr>
          <p:nvPr/>
        </p:nvCxnSpPr>
        <p:spPr>
          <a:xfrm>
            <a:off x="1028548" y="3196198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1FA7DCD4-E666-44B3-ADE9-9BC63E7FC392}"/>
              </a:ext>
            </a:extLst>
          </p:cNvPr>
          <p:cNvCxnSpPr>
            <a:cxnSpLocks/>
          </p:cNvCxnSpPr>
          <p:nvPr/>
        </p:nvCxnSpPr>
        <p:spPr>
          <a:xfrm>
            <a:off x="5166793" y="2353491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D1373ABA-0410-4ABF-B770-0235EAA0013F}"/>
              </a:ext>
            </a:extLst>
          </p:cNvPr>
          <p:cNvSpPr/>
          <p:nvPr/>
        </p:nvSpPr>
        <p:spPr>
          <a:xfrm>
            <a:off x="4920254" y="2917631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1FEC896B-88E4-4C63-A9FA-500814C26877}"/>
              </a:ext>
            </a:extLst>
          </p:cNvPr>
          <p:cNvCxnSpPr>
            <a:cxnSpLocks/>
          </p:cNvCxnSpPr>
          <p:nvPr/>
        </p:nvCxnSpPr>
        <p:spPr>
          <a:xfrm>
            <a:off x="5610749" y="2173184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13511D5-5D9C-429B-905F-C138B97AB74E}"/>
              </a:ext>
            </a:extLst>
          </p:cNvPr>
          <p:cNvSpPr/>
          <p:nvPr/>
        </p:nvSpPr>
        <p:spPr>
          <a:xfrm>
            <a:off x="6033224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1B33EB40-7049-44A2-85E4-295D73129D06}"/>
              </a:ext>
            </a:extLst>
          </p:cNvPr>
          <p:cNvCxnSpPr>
            <a:cxnSpLocks/>
          </p:cNvCxnSpPr>
          <p:nvPr/>
        </p:nvCxnSpPr>
        <p:spPr>
          <a:xfrm>
            <a:off x="4160912" y="2173184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1DAB4E5F-DEC8-43F4-8CE5-22593B85D9BB}"/>
              </a:ext>
            </a:extLst>
          </p:cNvPr>
          <p:cNvSpPr/>
          <p:nvPr/>
        </p:nvSpPr>
        <p:spPr>
          <a:xfrm>
            <a:off x="4611967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A8DAC06-1585-4001-85B4-B2A9949048F2}"/>
              </a:ext>
            </a:extLst>
          </p:cNvPr>
          <p:cNvSpPr/>
          <p:nvPr/>
        </p:nvSpPr>
        <p:spPr>
          <a:xfrm>
            <a:off x="7545392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647C3F8-49B1-40A9-AB5C-4DF9C1D7D83F}"/>
              </a:ext>
            </a:extLst>
          </p:cNvPr>
          <p:cNvSpPr txBox="1"/>
          <p:nvPr/>
        </p:nvSpPr>
        <p:spPr>
          <a:xfrm>
            <a:off x="1367065" y="2675906"/>
            <a:ext cx="38881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</a:rPr>
              <a:t>지금은 </a:t>
            </a:r>
            <a:r>
              <a:rPr lang="ko-KR" altLang="en-US" sz="12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11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1100" b="1" dirty="0">
                <a:solidFill>
                  <a:schemeClr val="bg1"/>
                </a:solidFill>
              </a:rPr>
              <a:t>. (08:00 ~ 12:00)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93376086-4485-4099-8796-1DE1E0769DB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D8823D20-71BA-460C-8AE2-C16FA5DE237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3F4F319-13E2-48A1-9794-A4AC5040CFDB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6355E48-5008-4B0C-A94D-FCDC6B7073C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FC65248-9BFE-4A11-B5D9-33741EDF1DB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3DD86F47-3ACC-4A15-A9FB-FBC3D340F13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1222498" y="255299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671465E-C2E3-47DE-85EE-61D53DEA2B6C}"/>
              </a:ext>
            </a:extLst>
          </p:cNvPr>
          <p:cNvSpPr/>
          <p:nvPr/>
        </p:nvSpPr>
        <p:spPr>
          <a:xfrm>
            <a:off x="1568624" y="2675790"/>
            <a:ext cx="3489773" cy="307651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99C4029-7959-4D4E-B10E-518954856166}"/>
              </a:ext>
            </a:extLst>
          </p:cNvPr>
          <p:cNvSpPr/>
          <p:nvPr/>
        </p:nvSpPr>
        <p:spPr>
          <a:xfrm>
            <a:off x="7608261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7CF0BAEF-75CA-4A6E-9086-4CCEC12FF3E6}"/>
              </a:ext>
            </a:extLst>
          </p:cNvPr>
          <p:cNvGrpSpPr/>
          <p:nvPr/>
        </p:nvGrpSpPr>
        <p:grpSpPr>
          <a:xfrm>
            <a:off x="326114" y="4293096"/>
            <a:ext cx="862386" cy="211955"/>
            <a:chOff x="4861742" y="3907374"/>
            <a:chExt cx="862386" cy="211955"/>
          </a:xfrm>
        </p:grpSpPr>
        <p:pic>
          <p:nvPicPr>
            <p:cNvPr id="77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E2D255DB-D2FF-4586-870E-5A5A15334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A9F0AB9-1E23-4BE5-A691-D23509E87BC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B54004A6-E073-42B7-894A-E81EDF1400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270059"/>
              </p:ext>
            </p:extLst>
          </p:nvPr>
        </p:nvGraphicFramePr>
        <p:xfrm>
          <a:off x="308467" y="4584996"/>
          <a:ext cx="7812877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44107">
                  <a:extLst>
                    <a:ext uri="{9D8B030D-6E8A-4147-A177-3AD203B41FA5}">
                      <a16:colId xmlns:a16="http://schemas.microsoft.com/office/drawing/2014/main" val="3245935667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357679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F7D2E58D-6C29-4720-B9A1-F7F8437C0729}"/>
              </a:ext>
            </a:extLst>
          </p:cNvPr>
          <p:cNvSpPr txBox="1"/>
          <p:nvPr/>
        </p:nvSpPr>
        <p:spPr>
          <a:xfrm>
            <a:off x="7116279" y="429309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F63445-4D42-48BF-8FD2-892FD40A15A3}"/>
              </a:ext>
            </a:extLst>
          </p:cNvPr>
          <p:cNvSpPr/>
          <p:nvPr/>
        </p:nvSpPr>
        <p:spPr>
          <a:xfrm>
            <a:off x="1143793" y="2383769"/>
            <a:ext cx="4076283" cy="792088"/>
          </a:xfrm>
          <a:prstGeom prst="rect">
            <a:avLst/>
          </a:prstGeom>
          <a:solidFill>
            <a:schemeClr val="accent1">
              <a:alpha val="68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EFECF550-CCA5-4349-ADE9-3E1F82E27E86}"/>
              </a:ext>
            </a:extLst>
          </p:cNvPr>
          <p:cNvGrpSpPr/>
          <p:nvPr/>
        </p:nvGrpSpPr>
        <p:grpSpPr>
          <a:xfrm rot="10800000" flipH="1" flipV="1">
            <a:off x="1271433" y="3502312"/>
            <a:ext cx="3861556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7C0B50B9-E38B-442E-A538-197926D43B3E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65E89D2F-56BD-4A9D-82E6-ED420D9BE149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7DE6A9D-953E-4DC9-9237-81B8A1BB9CE3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2AC12CFD-B2DA-47FA-99B5-8A48B6A653D7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8AB2B1C-BDD2-4855-B9B7-E051A4FC7F1B}"/>
                </a:ext>
              </a:extLst>
            </p:cNvPr>
            <p:cNvSpPr/>
            <p:nvPr/>
          </p:nvSpPr>
          <p:spPr>
            <a:xfrm>
              <a:off x="3034940" y="3575613"/>
              <a:ext cx="72000" cy="7894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B09E859A-7A08-465F-A9EB-6ADB0D463807}"/>
                </a:ext>
              </a:extLst>
            </p:cNvPr>
            <p:cNvSpPr/>
            <p:nvPr/>
          </p:nvSpPr>
          <p:spPr>
            <a:xfrm>
              <a:off x="2732038" y="3681103"/>
              <a:ext cx="72000" cy="684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6AD59BF1-5AB6-4AEC-A2FE-78BFF2565ACB}"/>
                </a:ext>
              </a:extLst>
            </p:cNvPr>
            <p:cNvSpPr/>
            <p:nvPr/>
          </p:nvSpPr>
          <p:spPr>
            <a:xfrm>
              <a:off x="2425257" y="3807103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248D8BB3-82D1-46CA-B25B-7309E813B580}"/>
                </a:ext>
              </a:extLst>
            </p:cNvPr>
            <p:cNvSpPr/>
            <p:nvPr/>
          </p:nvSpPr>
          <p:spPr>
            <a:xfrm>
              <a:off x="2115519" y="3862587"/>
              <a:ext cx="72000" cy="5025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8F4D0AC0-C8E2-4FDB-BE47-8DF7AF05926D}"/>
                </a:ext>
              </a:extLst>
            </p:cNvPr>
            <p:cNvSpPr/>
            <p:nvPr/>
          </p:nvSpPr>
          <p:spPr>
            <a:xfrm>
              <a:off x="180660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907139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0084218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488190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900" b="1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충방전량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045378"/>
              </p:ext>
            </p:extLst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9A53836B-5B31-4494-8B63-C8A467E76D82}"/>
              </a:ext>
            </a:extLst>
          </p:cNvPr>
          <p:cNvGrpSpPr/>
          <p:nvPr/>
        </p:nvGrpSpPr>
        <p:grpSpPr>
          <a:xfrm>
            <a:off x="278972" y="4377982"/>
            <a:ext cx="892533" cy="211955"/>
            <a:chOff x="4861742" y="3907374"/>
            <a:chExt cx="862386" cy="211955"/>
          </a:xfrm>
        </p:grpSpPr>
        <p:pic>
          <p:nvPicPr>
            <p:cNvPr id="12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5C68F5C5-5635-42D1-B634-6E4756EC1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BD7D97C-F9D7-4F35-A7EC-B3B946BBCC0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58" name="표 157">
            <a:extLst>
              <a:ext uri="{FF2B5EF4-FFF2-40B4-BE49-F238E27FC236}">
                <a16:creationId xmlns:a16="http://schemas.microsoft.com/office/drawing/2014/main" id="{1B8399E2-8728-4F06-B2E4-45CC3ED21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246420"/>
              </p:ext>
            </p:extLst>
          </p:nvPr>
        </p:nvGraphicFramePr>
        <p:xfrm>
          <a:off x="263480" y="4663729"/>
          <a:ext cx="7929878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8789622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3451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9" name="표 158">
            <a:extLst>
              <a:ext uri="{FF2B5EF4-FFF2-40B4-BE49-F238E27FC236}">
                <a16:creationId xmlns:a16="http://schemas.microsoft.com/office/drawing/2014/main" id="{29BC4313-E480-428A-B094-CEBD06AB17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1060423"/>
              </p:ext>
            </p:extLst>
          </p:nvPr>
        </p:nvGraphicFramePr>
        <p:xfrm>
          <a:off x="263477" y="5200873"/>
          <a:ext cx="7929878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56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81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1960666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0026016-30C2-47EE-B9B3-420F8A8D6156}"/>
              </a:ext>
            </a:extLst>
          </p:cNvPr>
          <p:cNvSpPr txBox="1"/>
          <p:nvPr/>
        </p:nvSpPr>
        <p:spPr>
          <a:xfrm>
            <a:off x="7221242" y="438420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70197" y="141340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5713" y="140259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9387" y="14300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3321" y="19019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2674" y="143009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3" name="표 92">
            <a:extLst>
              <a:ext uri="{FF2B5EF4-FFF2-40B4-BE49-F238E27FC236}">
                <a16:creationId xmlns:a16="http://schemas.microsoft.com/office/drawing/2014/main" id="{441287E9-49A2-4367-85D8-056FB48BFA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526437"/>
              </p:ext>
            </p:extLst>
          </p:nvPr>
        </p:nvGraphicFramePr>
        <p:xfrm>
          <a:off x="327711" y="6069704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충전계획량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방전계획량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DA726816-D283-431E-9376-677CC803D7B0}"/>
              </a:ext>
            </a:extLst>
          </p:cNvPr>
          <p:cNvSpPr/>
          <p:nvPr/>
        </p:nvSpPr>
        <p:spPr>
          <a:xfrm>
            <a:off x="30886" y="605368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E4950604-4C01-4514-90D0-CF96E5AD0A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55159"/>
              </p:ext>
            </p:extLst>
          </p:nvPr>
        </p:nvGraphicFramePr>
        <p:xfrm>
          <a:off x="4599913" y="6106661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CBDC5C9C-22A8-49DD-A581-409DE0F7A52D}"/>
              </a:ext>
            </a:extLst>
          </p:cNvPr>
          <p:cNvSpPr/>
          <p:nvPr/>
        </p:nvSpPr>
        <p:spPr>
          <a:xfrm>
            <a:off x="4304928" y="607538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D98636B-F0F4-4E3B-9F2E-9DFE19C95966}"/>
              </a:ext>
            </a:extLst>
          </p:cNvPr>
          <p:cNvSpPr/>
          <p:nvPr/>
        </p:nvSpPr>
        <p:spPr>
          <a:xfrm>
            <a:off x="7676031" y="155527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65134330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748523"/>
              </p:ext>
            </p:extLst>
          </p:nvPr>
        </p:nvGraphicFramePr>
        <p:xfrm>
          <a:off x="8469313" y="276225"/>
          <a:ext cx="1404000" cy="49198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커서가 오버된 위치의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MWh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Wh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488190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b="1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충방전량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47" name="타원형 설명선 246"/>
          <p:cNvSpPr/>
          <p:nvPr/>
        </p:nvSpPr>
        <p:spPr>
          <a:xfrm>
            <a:off x="-26681" y="22098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말풍선: 사각형 97">
            <a:extLst>
              <a:ext uri="{FF2B5EF4-FFF2-40B4-BE49-F238E27FC236}">
                <a16:creationId xmlns:a16="http://schemas.microsoft.com/office/drawing/2014/main" id="{21AB208E-C0DC-44C7-9316-CA282DDBEC93}"/>
              </a:ext>
            </a:extLst>
          </p:cNvPr>
          <p:cNvSpPr/>
          <p:nvPr/>
        </p:nvSpPr>
        <p:spPr>
          <a:xfrm>
            <a:off x="1989925" y="252443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충전량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5006DF61-6556-4CE9-A446-281BF76CE1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593231"/>
              </p:ext>
            </p:extLst>
          </p:nvPr>
        </p:nvGraphicFramePr>
        <p:xfrm>
          <a:off x="2179610" y="6186362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0" name="타원형 설명선 225">
            <a:extLst>
              <a:ext uri="{FF2B5EF4-FFF2-40B4-BE49-F238E27FC236}">
                <a16:creationId xmlns:a16="http://schemas.microsoft.com/office/drawing/2014/main" id="{6304D478-628C-4053-BC05-0EB5FB81240B}"/>
              </a:ext>
            </a:extLst>
          </p:cNvPr>
          <p:cNvSpPr/>
          <p:nvPr/>
        </p:nvSpPr>
        <p:spPr>
          <a:xfrm>
            <a:off x="2178942" y="595647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DF07A4C-A248-4A6A-833E-A42473E3C711}"/>
              </a:ext>
            </a:extLst>
          </p:cNvPr>
          <p:cNvSpPr/>
          <p:nvPr/>
        </p:nvSpPr>
        <p:spPr>
          <a:xfrm>
            <a:off x="7680269" y="1555221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FA777134-FC2B-44BF-B398-76A1D6159A3F}"/>
              </a:ext>
            </a:extLst>
          </p:cNvPr>
          <p:cNvGrpSpPr/>
          <p:nvPr/>
        </p:nvGrpSpPr>
        <p:grpSpPr>
          <a:xfrm>
            <a:off x="278972" y="4377982"/>
            <a:ext cx="892533" cy="211955"/>
            <a:chOff x="4861742" y="3907374"/>
            <a:chExt cx="862386" cy="211955"/>
          </a:xfrm>
        </p:grpSpPr>
        <p:pic>
          <p:nvPicPr>
            <p:cNvPr id="10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FD134DA-4EEB-40A3-97FE-B20BB4D55D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F7F228D-3BBA-41F5-BC7D-7DA5EA560AD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17EF2325-9A61-416E-A89F-8500F304B1D0}"/>
              </a:ext>
            </a:extLst>
          </p:cNvPr>
          <p:cNvSpPr txBox="1"/>
          <p:nvPr/>
        </p:nvSpPr>
        <p:spPr>
          <a:xfrm>
            <a:off x="7221242" y="438420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26" name="타원형 설명선 225"/>
          <p:cNvSpPr/>
          <p:nvPr/>
        </p:nvSpPr>
        <p:spPr>
          <a:xfrm>
            <a:off x="98965" y="422111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553" y="458115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6937736" y="429309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3CB128E8-E18F-440B-AA3B-0C6E249E73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1374749"/>
              </p:ext>
            </p:extLst>
          </p:nvPr>
        </p:nvGraphicFramePr>
        <p:xfrm>
          <a:off x="263480" y="4663729"/>
          <a:ext cx="7929878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8789622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3451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63" name="표 162">
            <a:extLst>
              <a:ext uri="{FF2B5EF4-FFF2-40B4-BE49-F238E27FC236}">
                <a16:creationId xmlns:a16="http://schemas.microsoft.com/office/drawing/2014/main" id="{918BD941-AEAE-4B08-B011-FDBA372A7C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4551331"/>
              </p:ext>
            </p:extLst>
          </p:nvPr>
        </p:nvGraphicFramePr>
        <p:xfrm>
          <a:off x="263477" y="5200873"/>
          <a:ext cx="7929878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56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81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731">
                  <a:extLst>
                    <a:ext uri="{9D8B030D-6E8A-4147-A177-3AD203B41FA5}">
                      <a16:colId xmlns:a16="http://schemas.microsoft.com/office/drawing/2014/main" val="361960666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2087696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653187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182237"/>
              </p:ext>
            </p:extLst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5313040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596111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6897216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7473280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F54F8D8-248D-458E-86AE-11007F4CF81A}"/>
              </a:ext>
            </a:extLst>
          </p:cNvPr>
          <p:cNvGrpSpPr/>
          <p:nvPr/>
        </p:nvGrpSpPr>
        <p:grpSpPr>
          <a:xfrm>
            <a:off x="350067" y="4297165"/>
            <a:ext cx="862386" cy="211955"/>
            <a:chOff x="4861742" y="3907374"/>
            <a:chExt cx="862386" cy="211955"/>
          </a:xfrm>
        </p:grpSpPr>
        <p:pic>
          <p:nvPicPr>
            <p:cNvPr id="64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0536A97C-1361-44AF-9EEC-98970955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3237509-91B5-4C9F-B2AD-6509B83D5EE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A143D6DD-C1DF-4F95-8875-CE4FBEF1998C}"/>
              </a:ext>
            </a:extLst>
          </p:cNvPr>
          <p:cNvGrpSpPr/>
          <p:nvPr/>
        </p:nvGrpSpPr>
        <p:grpSpPr>
          <a:xfrm flipH="1">
            <a:off x="3294371" y="3640346"/>
            <a:ext cx="1823678" cy="247963"/>
            <a:chOff x="2158219" y="3645757"/>
            <a:chExt cx="1863813" cy="719347"/>
          </a:xfrm>
          <a:solidFill>
            <a:srgbClr val="FFFF00"/>
          </a:solidFill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47F28995-2B9E-4E10-A99C-1509B4B415E8}"/>
                </a:ext>
              </a:extLst>
            </p:cNvPr>
            <p:cNvSpPr/>
            <p:nvPr/>
          </p:nvSpPr>
          <p:spPr>
            <a:xfrm>
              <a:off x="3950032" y="4077364"/>
              <a:ext cx="72000" cy="2877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C180CC0-0890-483D-A6CB-5CA5DD665A98}"/>
                </a:ext>
              </a:extLst>
            </p:cNvPr>
            <p:cNvSpPr/>
            <p:nvPr/>
          </p:nvSpPr>
          <p:spPr>
            <a:xfrm>
              <a:off x="3638317" y="3915766"/>
              <a:ext cx="72000" cy="4493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DB3165D-8225-4DE8-B051-918757419FA9}"/>
                </a:ext>
              </a:extLst>
            </p:cNvPr>
            <p:cNvSpPr/>
            <p:nvPr/>
          </p:nvSpPr>
          <p:spPr>
            <a:xfrm>
              <a:off x="3327361" y="3807101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AFE7355F-03CC-4D8F-91FB-8E8F13750300}"/>
                </a:ext>
              </a:extLst>
            </p:cNvPr>
            <p:cNvSpPr/>
            <p:nvPr/>
          </p:nvSpPr>
          <p:spPr>
            <a:xfrm>
              <a:off x="3022502" y="3645757"/>
              <a:ext cx="72000" cy="71934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E32A63F8-E446-4585-9A76-2757D98D5BC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CA31526F-E3AB-4B1F-9DA9-F43842C703DE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3036BC7F-2465-4092-98F1-606433BC8C8D}"/>
                </a:ext>
              </a:extLst>
            </p:cNvPr>
            <p:cNvSpPr/>
            <p:nvPr/>
          </p:nvSpPr>
          <p:spPr>
            <a:xfrm>
              <a:off x="2158219" y="3862585"/>
              <a:ext cx="72001" cy="5025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ED814EB-9682-48A6-B5B8-27B44031F291}"/>
              </a:ext>
            </a:extLst>
          </p:cNvPr>
          <p:cNvGrpSpPr/>
          <p:nvPr/>
        </p:nvGrpSpPr>
        <p:grpSpPr>
          <a:xfrm>
            <a:off x="3102281" y="3231738"/>
            <a:ext cx="2952328" cy="664734"/>
            <a:chOff x="1883023" y="2121903"/>
            <a:chExt cx="5781364" cy="1532485"/>
          </a:xfrm>
        </p:grpSpPr>
        <p:sp>
          <p:nvSpPr>
            <p:cNvPr id="75" name="자유형 81">
              <a:extLst>
                <a:ext uri="{FF2B5EF4-FFF2-40B4-BE49-F238E27FC236}">
                  <a16:creationId xmlns:a16="http://schemas.microsoft.com/office/drawing/2014/main" id="{2B2B1DB0-30A2-4E0E-9C0D-135686916A84}"/>
                </a:ext>
              </a:extLst>
            </p:cNvPr>
            <p:cNvSpPr/>
            <p:nvPr/>
          </p:nvSpPr>
          <p:spPr>
            <a:xfrm>
              <a:off x="1883023" y="2127634"/>
              <a:ext cx="2977010" cy="1526754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6" name="자유형 88">
              <a:extLst>
                <a:ext uri="{FF2B5EF4-FFF2-40B4-BE49-F238E27FC236}">
                  <a16:creationId xmlns:a16="http://schemas.microsoft.com/office/drawing/2014/main" id="{608B70AD-1EA4-4F79-A7B4-CCFE66CE231A}"/>
                </a:ext>
              </a:extLst>
            </p:cNvPr>
            <p:cNvSpPr/>
            <p:nvPr/>
          </p:nvSpPr>
          <p:spPr>
            <a:xfrm flipH="1">
              <a:off x="4815076" y="2121903"/>
              <a:ext cx="2849311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72FBD798-4C1F-43BE-9AA5-6CE58736C2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4833196"/>
              </p:ext>
            </p:extLst>
          </p:nvPr>
        </p:nvGraphicFramePr>
        <p:xfrm>
          <a:off x="330428" y="4546857"/>
          <a:ext cx="7848875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7853225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206A42A7-13BF-4E94-9C9E-33D5D2B74FAB}"/>
              </a:ext>
            </a:extLst>
          </p:cNvPr>
          <p:cNvSpPr txBox="1"/>
          <p:nvPr/>
        </p:nvSpPr>
        <p:spPr>
          <a:xfrm>
            <a:off x="7195743" y="426326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57853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36601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16896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8453" y="17994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65541" y="14196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F41F72CD-167A-49B1-88EF-DB91E3F8D4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235721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5" name="타원형 설명선 225">
            <a:extLst>
              <a:ext uri="{FF2B5EF4-FFF2-40B4-BE49-F238E27FC236}">
                <a16:creationId xmlns:a16="http://schemas.microsoft.com/office/drawing/2014/main" id="{159DE711-A5B3-4EF6-BEF7-33836AF021D7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370153B0-86B3-4DE0-8526-2B57875868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0316774"/>
              </p:ext>
            </p:extLst>
          </p:nvPr>
        </p:nvGraphicFramePr>
        <p:xfrm>
          <a:off x="4622269" y="5947288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7D1713B3-7BEF-4CC1-8554-47B4816A67C3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F053404-505D-46E4-8702-4834928155E8}"/>
              </a:ext>
            </a:extLst>
          </p:cNvPr>
          <p:cNvSpPr/>
          <p:nvPr/>
        </p:nvSpPr>
        <p:spPr>
          <a:xfrm>
            <a:off x="7672074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18721621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2832173"/>
              </p:ext>
            </p:extLst>
          </p:nvPr>
        </p:nvGraphicFramePr>
        <p:xfrm>
          <a:off x="8469313" y="276225"/>
          <a:ext cx="1404000" cy="43589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60851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339464"/>
              </p:ext>
            </p:extLst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5313040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596111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6897216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7473280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A143D6DD-C1DF-4F95-8875-CE4FBEF1998C}"/>
              </a:ext>
            </a:extLst>
          </p:cNvPr>
          <p:cNvGrpSpPr/>
          <p:nvPr/>
        </p:nvGrpSpPr>
        <p:grpSpPr>
          <a:xfrm flipH="1">
            <a:off x="3294371" y="3640346"/>
            <a:ext cx="1823678" cy="247963"/>
            <a:chOff x="2158219" y="3645757"/>
            <a:chExt cx="1863813" cy="719347"/>
          </a:xfrm>
          <a:solidFill>
            <a:srgbClr val="FFFF00"/>
          </a:solidFill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47F28995-2B9E-4E10-A99C-1509B4B415E8}"/>
                </a:ext>
              </a:extLst>
            </p:cNvPr>
            <p:cNvSpPr/>
            <p:nvPr/>
          </p:nvSpPr>
          <p:spPr>
            <a:xfrm>
              <a:off x="3950032" y="4077364"/>
              <a:ext cx="72000" cy="2877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C180CC0-0890-483D-A6CB-5CA5DD665A98}"/>
                </a:ext>
              </a:extLst>
            </p:cNvPr>
            <p:cNvSpPr/>
            <p:nvPr/>
          </p:nvSpPr>
          <p:spPr>
            <a:xfrm>
              <a:off x="3638317" y="3915766"/>
              <a:ext cx="72000" cy="4493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DB3165D-8225-4DE8-B051-918757419FA9}"/>
                </a:ext>
              </a:extLst>
            </p:cNvPr>
            <p:cNvSpPr/>
            <p:nvPr/>
          </p:nvSpPr>
          <p:spPr>
            <a:xfrm>
              <a:off x="3327361" y="3807101"/>
              <a:ext cx="72000" cy="55800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AFE7355F-03CC-4D8F-91FB-8E8F13750300}"/>
                </a:ext>
              </a:extLst>
            </p:cNvPr>
            <p:cNvSpPr/>
            <p:nvPr/>
          </p:nvSpPr>
          <p:spPr>
            <a:xfrm>
              <a:off x="3022502" y="3645757"/>
              <a:ext cx="72000" cy="71934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E32A63F8-E446-4585-9A76-2757D98D5BC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CA31526F-E3AB-4B1F-9DA9-F43842C703DE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3036BC7F-2465-4092-98F1-606433BC8C8D}"/>
                </a:ext>
              </a:extLst>
            </p:cNvPr>
            <p:cNvSpPr/>
            <p:nvPr/>
          </p:nvSpPr>
          <p:spPr>
            <a:xfrm>
              <a:off x="2158219" y="3862585"/>
              <a:ext cx="72001" cy="5025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ED814EB-9682-48A6-B5B8-27B44031F291}"/>
              </a:ext>
            </a:extLst>
          </p:cNvPr>
          <p:cNvGrpSpPr/>
          <p:nvPr/>
        </p:nvGrpSpPr>
        <p:grpSpPr>
          <a:xfrm>
            <a:off x="3102281" y="3231738"/>
            <a:ext cx="2952328" cy="664734"/>
            <a:chOff x="1883023" y="2121903"/>
            <a:chExt cx="5781364" cy="1532485"/>
          </a:xfrm>
        </p:grpSpPr>
        <p:sp>
          <p:nvSpPr>
            <p:cNvPr id="75" name="자유형 81">
              <a:extLst>
                <a:ext uri="{FF2B5EF4-FFF2-40B4-BE49-F238E27FC236}">
                  <a16:creationId xmlns:a16="http://schemas.microsoft.com/office/drawing/2014/main" id="{2B2B1DB0-30A2-4E0E-9C0D-135686916A84}"/>
                </a:ext>
              </a:extLst>
            </p:cNvPr>
            <p:cNvSpPr/>
            <p:nvPr/>
          </p:nvSpPr>
          <p:spPr>
            <a:xfrm>
              <a:off x="1883023" y="2127634"/>
              <a:ext cx="2977010" cy="1526754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6" name="자유형 88">
              <a:extLst>
                <a:ext uri="{FF2B5EF4-FFF2-40B4-BE49-F238E27FC236}">
                  <a16:creationId xmlns:a16="http://schemas.microsoft.com/office/drawing/2014/main" id="{608B70AD-1EA4-4F79-A7B4-CCFE66CE231A}"/>
                </a:ext>
              </a:extLst>
            </p:cNvPr>
            <p:cNvSpPr/>
            <p:nvPr/>
          </p:nvSpPr>
          <p:spPr>
            <a:xfrm flipH="1">
              <a:off x="4815076" y="2121903"/>
              <a:ext cx="2849311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66" name="타원형 설명선 265"/>
          <p:cNvSpPr/>
          <p:nvPr/>
        </p:nvSpPr>
        <p:spPr>
          <a:xfrm>
            <a:off x="44413" y="219715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9D531523-4F89-43FD-808A-490D7A5A76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937921"/>
              </p:ext>
            </p:extLst>
          </p:nvPr>
        </p:nvGraphicFramePr>
        <p:xfrm>
          <a:off x="1470460" y="6097822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A135473C-02F7-43D6-BC9D-FFD712BF763F}"/>
              </a:ext>
            </a:extLst>
          </p:cNvPr>
          <p:cNvSpPr/>
          <p:nvPr/>
        </p:nvSpPr>
        <p:spPr>
          <a:xfrm>
            <a:off x="1469792" y="586793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4412B8D3-88CA-4E44-9270-127BEE305C4D}"/>
              </a:ext>
            </a:extLst>
          </p:cNvPr>
          <p:cNvSpPr/>
          <p:nvPr/>
        </p:nvSpPr>
        <p:spPr>
          <a:xfrm>
            <a:off x="7680269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714CADCE-8120-41F4-9BAF-9EF2BE690B95}"/>
              </a:ext>
            </a:extLst>
          </p:cNvPr>
          <p:cNvGrpSpPr/>
          <p:nvPr/>
        </p:nvGrpSpPr>
        <p:grpSpPr>
          <a:xfrm>
            <a:off x="350067" y="4297165"/>
            <a:ext cx="862386" cy="211955"/>
            <a:chOff x="4861742" y="3907374"/>
            <a:chExt cx="862386" cy="211955"/>
          </a:xfrm>
        </p:grpSpPr>
        <p:pic>
          <p:nvPicPr>
            <p:cNvPr id="99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DA7EC7EE-0F2A-4A11-BF55-8E3C2F60F4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DFB9D3E8-02A0-42FC-8BF9-AFFEA4731C4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0D104DEF-159A-4BB5-8D7C-8F746D6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6626843"/>
              </p:ext>
            </p:extLst>
          </p:nvPr>
        </p:nvGraphicFramePr>
        <p:xfrm>
          <a:off x="330428" y="4546857"/>
          <a:ext cx="7848875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27859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82631660-4C5F-4B68-A886-6D82EBC88BEE}"/>
              </a:ext>
            </a:extLst>
          </p:cNvPr>
          <p:cNvSpPr txBox="1"/>
          <p:nvPr/>
        </p:nvSpPr>
        <p:spPr>
          <a:xfrm>
            <a:off x="7195743" y="426326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6905707" y="4149080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00042" y="408995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4413" y="443711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59194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2"/>
            <a:ext cx="8208912" cy="401973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9588942-263D-40FC-BFC0-08F3E586D052}"/>
              </a:ext>
            </a:extLst>
          </p:cNvPr>
          <p:cNvGrpSpPr/>
          <p:nvPr/>
        </p:nvGrpSpPr>
        <p:grpSpPr>
          <a:xfrm>
            <a:off x="278100" y="4009133"/>
            <a:ext cx="862386" cy="211955"/>
            <a:chOff x="4861742" y="3907374"/>
            <a:chExt cx="862386" cy="211955"/>
          </a:xfrm>
        </p:grpSpPr>
        <p:pic>
          <p:nvPicPr>
            <p:cNvPr id="5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303A80C4-1726-4946-B2C9-AFB0384A8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C76E1C6-D0C8-4686-8383-1C27793CB40A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614878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B9981648-23E5-4008-BC0B-94E1404B2B18}"/>
              </a:ext>
            </a:extLst>
          </p:cNvPr>
          <p:cNvSpPr txBox="1"/>
          <p:nvPr/>
        </p:nvSpPr>
        <p:spPr>
          <a:xfrm>
            <a:off x="1265466" y="4015781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8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AC5EC0E2-05B8-4431-A21D-4157002CD8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024865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6897216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7473280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CE3349C9-5683-45A2-8FC3-AD92144B6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879486"/>
              </p:ext>
            </p:extLst>
          </p:nvPr>
        </p:nvGraphicFramePr>
        <p:xfrm>
          <a:off x="278113" y="4293096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559109075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16396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67" name="TextBox 66">
            <a:extLst>
              <a:ext uri="{FF2B5EF4-FFF2-40B4-BE49-F238E27FC236}">
                <a16:creationId xmlns:a16="http://schemas.microsoft.com/office/drawing/2014/main" id="{E47AF898-9415-4EAE-8FDE-58B21D29C98D}"/>
              </a:ext>
            </a:extLst>
          </p:cNvPr>
          <p:cNvSpPr txBox="1"/>
          <p:nvPr/>
        </p:nvSpPr>
        <p:spPr>
          <a:xfrm>
            <a:off x="7221250" y="40050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0834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45658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16F19235-0361-475D-B3F0-DB69F8A898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328173"/>
              </p:ext>
            </p:extLst>
          </p:nvPr>
        </p:nvGraphicFramePr>
        <p:xfrm>
          <a:off x="309595" y="5173215"/>
          <a:ext cx="4114985" cy="10781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 사용량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33582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어제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오늘의 사용량의 시간 대비 어제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(24</a:t>
                      </a:r>
                      <a:r>
                        <a:rPr lang="ko-KR" altLang="en-US" sz="8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시간전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동일 기간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지난주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오늘의 사용량의 시간 대비 일주일 전 동일 기간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602164"/>
                  </a:ext>
                </a:extLst>
              </a:tr>
            </a:tbl>
          </a:graphicData>
        </a:graphic>
      </p:graphicFrame>
      <p:sp>
        <p:nvSpPr>
          <p:cNvPr id="75" name="타원형 설명선 225">
            <a:extLst>
              <a:ext uri="{FF2B5EF4-FFF2-40B4-BE49-F238E27FC236}">
                <a16:creationId xmlns:a16="http://schemas.microsoft.com/office/drawing/2014/main" id="{D9FB0648-5B8A-4954-8014-1C39AB0F3629}"/>
              </a:ext>
            </a:extLst>
          </p:cNvPr>
          <p:cNvSpPr/>
          <p:nvPr/>
        </p:nvSpPr>
        <p:spPr>
          <a:xfrm>
            <a:off x="12770" y="51571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BDAD900A-BFE6-4539-9F6D-79C85C1BBA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492173"/>
              </p:ext>
            </p:extLst>
          </p:nvPr>
        </p:nvGraphicFramePr>
        <p:xfrm>
          <a:off x="4581797" y="5210172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2" name="타원형 설명선 225">
            <a:extLst>
              <a:ext uri="{FF2B5EF4-FFF2-40B4-BE49-F238E27FC236}">
                <a16:creationId xmlns:a16="http://schemas.microsoft.com/office/drawing/2014/main" id="{B2A5BEBE-F8DC-49C9-BF49-64033BD3BAE4}"/>
              </a:ext>
            </a:extLst>
          </p:cNvPr>
          <p:cNvSpPr/>
          <p:nvPr/>
        </p:nvSpPr>
        <p:spPr>
          <a:xfrm>
            <a:off x="4286812" y="51788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D4C0DAC-A014-4814-AE54-17B1D8B12B74}"/>
              </a:ext>
            </a:extLst>
          </p:cNvPr>
          <p:cNvSpPr txBox="1"/>
          <p:nvPr/>
        </p:nvSpPr>
        <p:spPr>
          <a:xfrm>
            <a:off x="1423872" y="5684971"/>
            <a:ext cx="2993268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추가 예정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4FE3F46-E395-40A6-B33A-DC722E8E26AF}"/>
              </a:ext>
            </a:extLst>
          </p:cNvPr>
          <p:cNvSpPr/>
          <p:nvPr/>
        </p:nvSpPr>
        <p:spPr>
          <a:xfrm>
            <a:off x="7693475" y="1567667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75468256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1933321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확인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마우스로 클릭하면 기준 부하 및 목표사용량을 확인할 수 있는 그래프 요소와 표가 추가된다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토글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형태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rgbClr val="0066FF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1"/>
            <a:ext cx="8208912" cy="401973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205695"/>
              </p:ext>
            </p:extLst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614878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6897216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7473280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78826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3650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7191" y="207026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96E75D4E-9467-4C4F-80B6-564E8DCFF2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693844"/>
              </p:ext>
            </p:extLst>
          </p:nvPr>
        </p:nvGraphicFramePr>
        <p:xfrm>
          <a:off x="983500" y="5410006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AEE2D941-2D5C-4384-8E8B-C7A038987EA5}"/>
              </a:ext>
            </a:extLst>
          </p:cNvPr>
          <p:cNvSpPr/>
          <p:nvPr/>
        </p:nvSpPr>
        <p:spPr>
          <a:xfrm>
            <a:off x="982832" y="518011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7981DB3-6609-4C7B-9AC1-B099067EA557}"/>
              </a:ext>
            </a:extLst>
          </p:cNvPr>
          <p:cNvSpPr/>
          <p:nvPr/>
        </p:nvSpPr>
        <p:spPr>
          <a:xfrm>
            <a:off x="7612554" y="1564415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3444DCD3-7DBD-4678-9F50-F80E81C8C821}"/>
              </a:ext>
            </a:extLst>
          </p:cNvPr>
          <p:cNvGrpSpPr/>
          <p:nvPr/>
        </p:nvGrpSpPr>
        <p:grpSpPr>
          <a:xfrm>
            <a:off x="278100" y="4009133"/>
            <a:ext cx="862386" cy="211955"/>
            <a:chOff x="4861742" y="3907374"/>
            <a:chExt cx="862386" cy="211955"/>
          </a:xfrm>
        </p:grpSpPr>
        <p:pic>
          <p:nvPicPr>
            <p:cNvPr id="86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900D9473-0DED-45BD-BF61-1E728CE29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3CD6283-1975-4F64-A5BA-105C26F20FC0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3F608C76-E0EB-4C26-ACE5-6E3DFA68A1C7}"/>
              </a:ext>
            </a:extLst>
          </p:cNvPr>
          <p:cNvSpPr txBox="1"/>
          <p:nvPr/>
        </p:nvSpPr>
        <p:spPr>
          <a:xfrm>
            <a:off x="1265466" y="4015781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9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38D98571-2CF5-4AB6-86F8-40CB34E363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024865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731CFF9E-CD56-4916-AF78-90C541A300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571898"/>
              </p:ext>
            </p:extLst>
          </p:nvPr>
        </p:nvGraphicFramePr>
        <p:xfrm>
          <a:off x="278113" y="4293096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8870111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317845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92" name="TextBox 91">
            <a:extLst>
              <a:ext uri="{FF2B5EF4-FFF2-40B4-BE49-F238E27FC236}">
                <a16:creationId xmlns:a16="http://schemas.microsoft.com/office/drawing/2014/main" id="{B9857C8E-7429-4325-88C5-4665CB31C48E}"/>
              </a:ext>
            </a:extLst>
          </p:cNvPr>
          <p:cNvSpPr txBox="1"/>
          <p:nvPr/>
        </p:nvSpPr>
        <p:spPr>
          <a:xfrm>
            <a:off x="7221250" y="40050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139394" y="3861072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1018539" y="386104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14116" y="414908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933244" y="38610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804021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672389"/>
              </p:ext>
            </p:extLst>
          </p:nvPr>
        </p:nvGraphicFramePr>
        <p:xfrm>
          <a:off x="8469313" y="276225"/>
          <a:ext cx="1404000" cy="616108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시간대별 기준부하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기준부하와 목표사용량 기준 범위를 표시할 영역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설정한다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항목의 정보를 표시함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(CBL),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현재시간을 기준으로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이동의 영향을 받지 않고 고정 위치에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624454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시간 대의 기준 부하를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기준을 넘어설 경우 알람 발생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시간 대의 목표사용량 범위를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목표사용량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=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기준부하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(CBL)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감축용량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다음과 같은 감축 정보를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계약용량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이행률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표는 하단 표 펼치기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접기의 영향을 받지 않음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감축시간대는 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시간이므로 표는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열까지만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존재함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실시간 자동 갱신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DR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실적현황 화면은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default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조회화면이나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실시간 자동 갱신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 선택되면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단위로 화면을 자동 갱신하는 모니터링 화면이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919621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3"/>
            <a:ext cx="8208912" cy="453607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7424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156857"/>
              </p:ext>
            </p:extLst>
          </p:nvPr>
        </p:nvGraphicFramePr>
        <p:xfrm>
          <a:off x="278100" y="2276872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307055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730991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9E138EB3-61CC-47EA-9FB4-544BC6F0C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222715"/>
              </p:ext>
            </p:extLst>
          </p:nvPr>
        </p:nvGraphicFramePr>
        <p:xfrm>
          <a:off x="278100" y="4099981"/>
          <a:ext cx="7915252" cy="3424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60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45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감축시간대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고객기준부하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이행률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16:00~17:00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106.25%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17:00~18:00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4,700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117.50%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735517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291128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E6EC6BFA-C663-4EFD-99CE-E77ADF02A19D}"/>
              </a:ext>
            </a:extLst>
          </p:cNvPr>
          <p:cNvGrpSpPr/>
          <p:nvPr/>
        </p:nvGrpSpPr>
        <p:grpSpPr>
          <a:xfrm>
            <a:off x="3601656" y="2397511"/>
            <a:ext cx="1433726" cy="136922"/>
            <a:chOff x="3784893" y="2295519"/>
            <a:chExt cx="1433726" cy="136922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30D91AE-0067-4C3F-B995-BE8E24D6A18B}"/>
                </a:ext>
              </a:extLst>
            </p:cNvPr>
            <p:cNvCxnSpPr/>
            <p:nvPr/>
          </p:nvCxnSpPr>
          <p:spPr>
            <a:xfrm>
              <a:off x="3784893" y="2405058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26D44C9D-27D0-429C-8CE0-895755DD829D}"/>
                </a:ext>
              </a:extLst>
            </p:cNvPr>
            <p:cNvCxnSpPr/>
            <p:nvPr/>
          </p:nvCxnSpPr>
          <p:spPr>
            <a:xfrm>
              <a:off x="4498619" y="2295519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98E4E0F-A653-45AB-9FF9-C6DFA0F4354A}"/>
                </a:ext>
              </a:extLst>
            </p:cNvPr>
            <p:cNvCxnSpPr/>
            <p:nvPr/>
          </p:nvCxnSpPr>
          <p:spPr>
            <a:xfrm rot="5400000">
              <a:off x="4443826" y="2350264"/>
              <a:ext cx="108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F82D103E-A527-4B67-89E0-77FADF6EBD9E}"/>
                </a:ext>
              </a:extLst>
            </p:cNvPr>
            <p:cNvSpPr/>
            <p:nvPr/>
          </p:nvSpPr>
          <p:spPr>
            <a:xfrm>
              <a:off x="4161335" y="2360441"/>
              <a:ext cx="72000" cy="72000"/>
            </a:xfrm>
            <a:prstGeom prst="ellipse">
              <a:avLst/>
            </a:prstGeom>
            <a:solidFill>
              <a:srgbClr val="FF99CC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4160912" y="2047011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4664968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 사용량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58C35C8D-60DA-42FD-B7FD-CEBEEA7BBCB9}"/>
              </a:ext>
            </a:extLst>
          </p:cNvPr>
          <p:cNvCxnSpPr/>
          <p:nvPr/>
        </p:nvCxnSpPr>
        <p:spPr>
          <a:xfrm>
            <a:off x="5457056" y="2047011"/>
            <a:ext cx="504056" cy="0"/>
          </a:xfrm>
          <a:prstGeom prst="line">
            <a:avLst/>
          </a:prstGeom>
          <a:noFill/>
          <a:ln w="19050">
            <a:solidFill>
              <a:srgbClr val="6699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C51044-92D6-42B6-AC71-52C72F6E94E2}"/>
              </a:ext>
            </a:extLst>
          </p:cNvPr>
          <p:cNvSpPr/>
          <p:nvPr/>
        </p:nvSpPr>
        <p:spPr>
          <a:xfrm>
            <a:off x="5961112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목표사용량</a:t>
            </a: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107957F2-F200-4E88-A939-B15AEBD60152}"/>
              </a:ext>
            </a:extLst>
          </p:cNvPr>
          <p:cNvCxnSpPr/>
          <p:nvPr/>
        </p:nvCxnSpPr>
        <p:spPr>
          <a:xfrm>
            <a:off x="6753200" y="2047011"/>
            <a:ext cx="504056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1A1D4FE-BA50-4908-8A7B-E924AA132EAC}"/>
              </a:ext>
            </a:extLst>
          </p:cNvPr>
          <p:cNvSpPr/>
          <p:nvPr/>
        </p:nvSpPr>
        <p:spPr>
          <a:xfrm>
            <a:off x="7257256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기준부하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(CBL)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FBCB987-45D7-4CC2-B35C-2807364A8C71}"/>
              </a:ext>
            </a:extLst>
          </p:cNvPr>
          <p:cNvSpPr/>
          <p:nvPr/>
        </p:nvSpPr>
        <p:spPr>
          <a:xfrm>
            <a:off x="5089128" y="2546259"/>
            <a:ext cx="1088968" cy="590204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</a:rPr>
              <a:t>1</a:t>
            </a:r>
            <a:r>
              <a:rPr lang="ko-KR" altLang="en-US" sz="600" dirty="0">
                <a:solidFill>
                  <a:schemeClr val="tx1"/>
                </a:solidFill>
              </a:rPr>
              <a:t>월</a:t>
            </a:r>
            <a:r>
              <a:rPr lang="en-US" altLang="ko-KR" sz="600" dirty="0">
                <a:solidFill>
                  <a:schemeClr val="tx1"/>
                </a:solidFill>
              </a:rPr>
              <a:t>14</a:t>
            </a:r>
            <a:r>
              <a:rPr lang="ko-KR" altLang="en-US" sz="600" dirty="0">
                <a:solidFill>
                  <a:schemeClr val="tx1"/>
                </a:solidFill>
              </a:rPr>
              <a:t>일 목요일</a:t>
            </a:r>
            <a:r>
              <a:rPr lang="en-US" altLang="ko-KR" sz="600" dirty="0">
                <a:solidFill>
                  <a:schemeClr val="tx1"/>
                </a:solidFill>
              </a:rPr>
              <a:t>,</a:t>
            </a:r>
            <a:r>
              <a:rPr lang="ko-KR" altLang="en-US" sz="600" dirty="0">
                <a:solidFill>
                  <a:schemeClr val="tx1"/>
                </a:solidFill>
              </a:rPr>
              <a:t> </a:t>
            </a:r>
            <a:r>
              <a:rPr lang="en-US" altLang="ko-KR" sz="600" dirty="0">
                <a:solidFill>
                  <a:schemeClr val="tx1"/>
                </a:solidFill>
              </a:rPr>
              <a:t>17:42</a:t>
            </a:r>
            <a:endParaRPr lang="en-US" altLang="ko-KR" sz="600" dirty="0">
              <a:solidFill>
                <a:srgbClr val="FF0000"/>
              </a:solidFill>
            </a:endParaRPr>
          </a:p>
          <a:p>
            <a:r>
              <a:rPr lang="en-US" altLang="ko-KR" sz="600" dirty="0">
                <a:solidFill>
                  <a:srgbClr val="FF0000"/>
                </a:solidFill>
              </a:rPr>
              <a:t>- </a:t>
            </a:r>
            <a:r>
              <a:rPr lang="ko-KR" altLang="en-US" sz="600" dirty="0">
                <a:solidFill>
                  <a:srgbClr val="FF0000"/>
                </a:solidFill>
              </a:rPr>
              <a:t>기준부하</a:t>
            </a:r>
            <a:r>
              <a:rPr lang="en-US" altLang="ko-KR" sz="600" dirty="0">
                <a:solidFill>
                  <a:srgbClr val="FF0000"/>
                </a:solidFill>
              </a:rPr>
              <a:t>(CBL)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5,500kW</a:t>
            </a:r>
          </a:p>
          <a:p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- </a:t>
            </a:r>
            <a:r>
              <a:rPr lang="ko-KR" altLang="en-US" sz="600" dirty="0">
                <a:solidFill>
                  <a:schemeClr val="accent6">
                    <a:lumMod val="75000"/>
                  </a:schemeClr>
                </a:solidFill>
              </a:rPr>
              <a:t>현재 사용량 </a:t>
            </a:r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: </a:t>
            </a:r>
            <a:r>
              <a:rPr lang="en-US" altLang="ko-KR" sz="600" b="1" dirty="0">
                <a:solidFill>
                  <a:schemeClr val="tx1"/>
                </a:solidFill>
              </a:rPr>
              <a:t>800kW</a:t>
            </a:r>
          </a:p>
          <a:p>
            <a:r>
              <a:rPr lang="en-US" altLang="ko-KR" sz="600" dirty="0">
                <a:solidFill>
                  <a:srgbClr val="0070C0"/>
                </a:solidFill>
              </a:rPr>
              <a:t>- </a:t>
            </a:r>
            <a:r>
              <a:rPr lang="ko-KR" altLang="en-US" sz="600" dirty="0" err="1">
                <a:solidFill>
                  <a:srgbClr val="0070C0"/>
                </a:solidFill>
              </a:rPr>
              <a:t>감축량</a:t>
            </a:r>
            <a:r>
              <a:rPr lang="ko-KR" altLang="en-US" sz="600" dirty="0">
                <a:solidFill>
                  <a:srgbClr val="0070C0"/>
                </a:solidFill>
              </a:rPr>
              <a:t> </a:t>
            </a:r>
            <a:r>
              <a:rPr lang="en-US" altLang="ko-KR" sz="600" dirty="0">
                <a:solidFill>
                  <a:srgbClr val="0070C0"/>
                </a:solidFill>
              </a:rPr>
              <a:t>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4,700kW</a:t>
            </a:r>
          </a:p>
          <a:p>
            <a:r>
              <a:rPr lang="en-US" altLang="ko-KR" sz="600" dirty="0">
                <a:solidFill>
                  <a:srgbClr val="A3CFE5"/>
                </a:solidFill>
              </a:rPr>
              <a:t>- </a:t>
            </a:r>
            <a:r>
              <a:rPr lang="ko-KR" altLang="en-US" sz="600" dirty="0">
                <a:solidFill>
                  <a:srgbClr val="A3CFE5"/>
                </a:solidFill>
              </a:rPr>
              <a:t>목표사용량</a:t>
            </a:r>
            <a:r>
              <a:rPr lang="en-US" altLang="ko-KR" sz="600" dirty="0">
                <a:solidFill>
                  <a:srgbClr val="A3CFE5"/>
                </a:solidFill>
              </a:rPr>
              <a:t>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1,500kW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02943C33-7FE1-47AA-B313-9EF338B083FC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0F0EFC9-4136-42F7-907B-03280F7ECBE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20BEAA34-A433-47B3-B7DE-265D38915BE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15F2BB0-B8FE-468B-8759-07AE4FA713A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6A885597-8D4C-4CFC-A59B-6596DD47C01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E831A03-8B93-4EEE-8B9A-7F574C7FACC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908402" y="231534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556685" y="24166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8495" y="393305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B36FC2D-2041-4930-A784-C3AFF4E4A95C}"/>
              </a:ext>
            </a:extLst>
          </p:cNvPr>
          <p:cNvSpPr/>
          <p:nvPr/>
        </p:nvSpPr>
        <p:spPr>
          <a:xfrm>
            <a:off x="1158864" y="4437112"/>
            <a:ext cx="1299244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E714883-77F8-4DEA-A5CD-8C67844EBA25}"/>
              </a:ext>
            </a:extLst>
          </p:cNvPr>
          <p:cNvGrpSpPr/>
          <p:nvPr/>
        </p:nvGrpSpPr>
        <p:grpSpPr>
          <a:xfrm>
            <a:off x="3605178" y="2549478"/>
            <a:ext cx="1438800" cy="1100254"/>
            <a:chOff x="3605178" y="2428839"/>
            <a:chExt cx="1438800" cy="1100254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69B0EEB3-AAF8-430A-9DA1-86083AE710D4}"/>
                </a:ext>
              </a:extLst>
            </p:cNvPr>
            <p:cNvSpPr/>
            <p:nvPr/>
          </p:nvSpPr>
          <p:spPr>
            <a:xfrm>
              <a:off x="3605178" y="2611403"/>
              <a:ext cx="720000" cy="914648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F4AF1CC-37FC-4770-81A6-BAA84F0FEA7E}"/>
                </a:ext>
              </a:extLst>
            </p:cNvPr>
            <p:cNvSpPr/>
            <p:nvPr/>
          </p:nvSpPr>
          <p:spPr>
            <a:xfrm>
              <a:off x="4323303" y="2428839"/>
              <a:ext cx="720000" cy="1100254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D2591E96-DF62-404A-9C37-E705080FC0B0}"/>
                </a:ext>
              </a:extLst>
            </p:cNvPr>
            <p:cNvCxnSpPr/>
            <p:nvPr/>
          </p:nvCxnSpPr>
          <p:spPr>
            <a:xfrm>
              <a:off x="3611855" y="2617155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970D8717-86A9-44C4-BD41-1BB8F9CF4072}"/>
                </a:ext>
              </a:extLst>
            </p:cNvPr>
            <p:cNvCxnSpPr/>
            <p:nvPr/>
          </p:nvCxnSpPr>
          <p:spPr>
            <a:xfrm>
              <a:off x="4323978" y="2433593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ADA4AFE2-5676-4FE7-8B06-30D2D993F7CE}"/>
                </a:ext>
              </a:extLst>
            </p:cNvPr>
            <p:cNvCxnSpPr/>
            <p:nvPr/>
          </p:nvCxnSpPr>
          <p:spPr>
            <a:xfrm rot="5400000">
              <a:off x="4241061" y="2522141"/>
              <a:ext cx="18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타원 75">
            <a:extLst>
              <a:ext uri="{FF2B5EF4-FFF2-40B4-BE49-F238E27FC236}">
                <a16:creationId xmlns:a16="http://schemas.microsoft.com/office/drawing/2014/main" id="{08FC866C-1B9B-4C1A-9ECD-20094FF73D0B}"/>
              </a:ext>
            </a:extLst>
          </p:cNvPr>
          <p:cNvSpPr/>
          <p:nvPr/>
        </p:nvSpPr>
        <p:spPr>
          <a:xfrm>
            <a:off x="3978098" y="2703943"/>
            <a:ext cx="72000" cy="72000"/>
          </a:xfrm>
          <a:prstGeom prst="ellipse">
            <a:avLst/>
          </a:prstGeom>
          <a:solidFill>
            <a:srgbClr val="FF99CC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4" name="타원형 설명선 243"/>
          <p:cNvSpPr/>
          <p:nvPr/>
        </p:nvSpPr>
        <p:spPr>
          <a:xfrm>
            <a:off x="4013958" y="25149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68B7CB2F-6A9C-49A4-9420-CEC4BA6017FE}"/>
              </a:ext>
            </a:extLst>
          </p:cNvPr>
          <p:cNvSpPr/>
          <p:nvPr/>
        </p:nvSpPr>
        <p:spPr>
          <a:xfrm>
            <a:off x="2967765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10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71B1F94-7A40-4805-BE00-55F18628B1F5}"/>
              </a:ext>
            </a:extLst>
          </p:cNvPr>
          <p:cNvSpPr/>
          <p:nvPr/>
        </p:nvSpPr>
        <p:spPr>
          <a:xfrm>
            <a:off x="1780736" y="1916831"/>
            <a:ext cx="1187028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시간대별 기준 부하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96C986ED-AD63-44B4-B904-2CE62A275E91}"/>
              </a:ext>
            </a:extLst>
          </p:cNvPr>
          <p:cNvSpPr/>
          <p:nvPr/>
        </p:nvSpPr>
        <p:spPr>
          <a:xfrm>
            <a:off x="3536310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14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69E573AD-A269-4165-922F-F99550D52A22}"/>
              </a:ext>
            </a:extLst>
          </p:cNvPr>
          <p:cNvSpPr/>
          <p:nvPr/>
        </p:nvSpPr>
        <p:spPr>
          <a:xfrm>
            <a:off x="3314522" y="191683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타원형 설명선 244">
            <a:extLst>
              <a:ext uri="{FF2B5EF4-FFF2-40B4-BE49-F238E27FC236}">
                <a16:creationId xmlns:a16="http://schemas.microsoft.com/office/drawing/2014/main" id="{1AAF1D52-CF54-4EA6-B93B-D2BE754712D6}"/>
              </a:ext>
            </a:extLst>
          </p:cNvPr>
          <p:cNvSpPr/>
          <p:nvPr/>
        </p:nvSpPr>
        <p:spPr>
          <a:xfrm>
            <a:off x="1568648" y="17646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51FA8BF-4130-45B2-BDF3-CCBC2E3925D0}"/>
              </a:ext>
            </a:extLst>
          </p:cNvPr>
          <p:cNvSpPr/>
          <p:nvPr/>
        </p:nvSpPr>
        <p:spPr>
          <a:xfrm>
            <a:off x="1852850" y="1880788"/>
            <a:ext cx="2092037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5BE38F8-592B-406A-AFBE-3C236FA906C2}"/>
              </a:ext>
            </a:extLst>
          </p:cNvPr>
          <p:cNvSpPr/>
          <p:nvPr/>
        </p:nvSpPr>
        <p:spPr>
          <a:xfrm>
            <a:off x="7676716" y="156987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8939A97-F19C-4E55-B499-540CB52AF3C8}"/>
              </a:ext>
            </a:extLst>
          </p:cNvPr>
          <p:cNvGrpSpPr/>
          <p:nvPr/>
        </p:nvGrpSpPr>
        <p:grpSpPr>
          <a:xfrm>
            <a:off x="278100" y="4513189"/>
            <a:ext cx="862386" cy="211955"/>
            <a:chOff x="4861742" y="3907374"/>
            <a:chExt cx="862386" cy="211955"/>
          </a:xfrm>
        </p:grpSpPr>
        <p:pic>
          <p:nvPicPr>
            <p:cNvPr id="90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2985C193-B582-464D-B476-BD9D5D351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1F96D71-8A83-4723-A3C5-6382D2FC63E7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25F6B2F9-FD3F-40DA-BE21-7691ED67280F}"/>
              </a:ext>
            </a:extLst>
          </p:cNvPr>
          <p:cNvSpPr txBox="1"/>
          <p:nvPr/>
        </p:nvSpPr>
        <p:spPr>
          <a:xfrm>
            <a:off x="1265466" y="4519837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101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34530C37-DBE9-4D3D-94B3-9661B96163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528921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E66B3A58-7377-4D74-B07E-B934221640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3357185"/>
              </p:ext>
            </p:extLst>
          </p:nvPr>
        </p:nvGraphicFramePr>
        <p:xfrm>
          <a:off x="278113" y="4797152"/>
          <a:ext cx="791526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93146">
                  <a:extLst>
                    <a:ext uri="{9D8B030D-6E8A-4147-A177-3AD203B41FA5}">
                      <a16:colId xmlns:a16="http://schemas.microsoft.com/office/drawing/2014/main" val="8805277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7555739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107" name="TextBox 106">
            <a:extLst>
              <a:ext uri="{FF2B5EF4-FFF2-40B4-BE49-F238E27FC236}">
                <a16:creationId xmlns:a16="http://schemas.microsoft.com/office/drawing/2014/main" id="{41040ED4-0F74-4DA7-B884-6C0B6F412778}"/>
              </a:ext>
            </a:extLst>
          </p:cNvPr>
          <p:cNvSpPr txBox="1"/>
          <p:nvPr/>
        </p:nvSpPr>
        <p:spPr>
          <a:xfrm>
            <a:off x="7221250" y="450912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F2DD630-5B71-4AB8-87C6-3778E7785061}"/>
              </a:ext>
            </a:extLst>
          </p:cNvPr>
          <p:cNvSpPr txBox="1"/>
          <p:nvPr/>
        </p:nvSpPr>
        <p:spPr>
          <a:xfrm>
            <a:off x="2592282" y="4512800"/>
            <a:ext cx="74659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실시간 자동 갱신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pic>
        <p:nvPicPr>
          <p:cNvPr id="1030" name="Picture 6" descr="ê´ë ¨ ì´ë¯¸ì§">
            <a:extLst>
              <a:ext uri="{FF2B5EF4-FFF2-40B4-BE49-F238E27FC236}">
                <a16:creationId xmlns:a16="http://schemas.microsoft.com/office/drawing/2014/main" id="{66E95671-65D9-4C74-BD18-12C89961C8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5680" y="4514758"/>
            <a:ext cx="180170" cy="18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" name="타원형 설명선 245">
            <a:extLst>
              <a:ext uri="{FF2B5EF4-FFF2-40B4-BE49-F238E27FC236}">
                <a16:creationId xmlns:a16="http://schemas.microsoft.com/office/drawing/2014/main" id="{CAE963D2-E57A-4782-9BEA-1D6902D499FF}"/>
              </a:ext>
            </a:extLst>
          </p:cNvPr>
          <p:cNvSpPr/>
          <p:nvPr/>
        </p:nvSpPr>
        <p:spPr>
          <a:xfrm>
            <a:off x="2423041" y="430642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45828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8391060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2530678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142ADFB-F117-45C9-B310-ECEEFD09F7B4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C66FC3D-872A-42A6-B43B-0ED4240E654F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80211FC-22EC-452E-ACBF-4E80B174DC82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C012F2F-1731-47D6-B56E-1122F6EE577D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8F08A98-018D-496D-8433-664C861F34A5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75B12FAA-B475-47B2-B4C3-9F32D716CE6F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64CF4B5-D0BE-4F75-AAC0-306BD9FD9FDF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86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BDA9FA1F-33EE-4ADB-B177-0845FED1B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968C67B-BC12-4BCF-A736-2F8E1AA8A62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DD5827D8-9BA5-48C0-BBD6-BAE467CBB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46928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90" name="TextBox 89">
            <a:extLst>
              <a:ext uri="{FF2B5EF4-FFF2-40B4-BE49-F238E27FC236}">
                <a16:creationId xmlns:a16="http://schemas.microsoft.com/office/drawing/2014/main" id="{155C0B41-5113-412A-A152-C1099181C7B6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168784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2922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295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68601" y="17686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93505" y="1446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93749AD8-4D0D-4506-B707-AB447E1A2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704422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8" name="타원형 설명선 225">
            <a:extLst>
              <a:ext uri="{FF2B5EF4-FFF2-40B4-BE49-F238E27FC236}">
                <a16:creationId xmlns:a16="http://schemas.microsoft.com/office/drawing/2014/main" id="{BDF3B240-A365-4974-870E-48B883F2DE9B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9ED491D6-3D31-4C20-AEF3-ABF51E0A7D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349644"/>
              </p:ext>
            </p:extLst>
          </p:nvPr>
        </p:nvGraphicFramePr>
        <p:xfrm>
          <a:off x="4622269" y="5947288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0" name="타원형 설명선 225">
            <a:extLst>
              <a:ext uri="{FF2B5EF4-FFF2-40B4-BE49-F238E27FC236}">
                <a16:creationId xmlns:a16="http://schemas.microsoft.com/office/drawing/2014/main" id="{229E47A8-BA85-4C5F-9865-5314BB185786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97EB0B3-8B1F-4542-A210-8D3607E87380}"/>
              </a:ext>
            </a:extLst>
          </p:cNvPr>
          <p:cNvSpPr/>
          <p:nvPr/>
        </p:nvSpPr>
        <p:spPr>
          <a:xfrm>
            <a:off x="7680268" y="156361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89660923-46DB-4470-B85A-9DFBFD3A32C9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31F45A7-7187-4FF1-97D2-0B87E001B859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AE78DDF1-041E-434A-B415-EDDABE05ED8A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D2206528-9C37-4CF8-A6AD-395D7947B067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D4B3481B-E3A1-4173-AD45-6B75908EB006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D61A09E-93CA-4F0A-BB65-E7171DD424A6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</p:spTree>
    <p:extLst>
      <p:ext uri="{BB962C8B-B14F-4D97-AF65-F5344CB8AC3E}">
        <p14:creationId xmlns:p14="http://schemas.microsoft.com/office/powerpoint/2010/main" val="251758548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2532313"/>
              </p:ext>
            </p:extLst>
          </p:nvPr>
        </p:nvGraphicFramePr>
        <p:xfrm>
          <a:off x="8469313" y="276225"/>
          <a:ext cx="1404000" cy="59892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ESS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ESS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959787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PV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PV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989373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비율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별 사용량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740129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C20E19C-7454-4EC0-9C86-5F347C7627D6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F880CC0-6B95-477F-B1C4-F0BCF8B81CE2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861E16-9296-407F-8126-97D481425A31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220AED-9C76-4FB8-8705-8B7E2CCE94F6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6EF2A03-8418-49D2-8E46-E6B944559F30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90612CA-6C8A-4FCC-A491-EB373BF1E363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47" name="타원형 설명선 246"/>
          <p:cNvSpPr/>
          <p:nvPr/>
        </p:nvSpPr>
        <p:spPr>
          <a:xfrm>
            <a:off x="2505350" y="3194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153130" y="332737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5644" y="21538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306AC4CC-ED21-420E-8AC1-00D9BD31AB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3088817"/>
              </p:ext>
            </p:extLst>
          </p:nvPr>
        </p:nvGraphicFramePr>
        <p:xfrm>
          <a:off x="983500" y="5914634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3" name="타원형 설명선 225">
            <a:extLst>
              <a:ext uri="{FF2B5EF4-FFF2-40B4-BE49-F238E27FC236}">
                <a16:creationId xmlns:a16="http://schemas.microsoft.com/office/drawing/2014/main" id="{F0E6173F-30EB-4963-AC11-3DC9C5E5A4DD}"/>
              </a:ext>
            </a:extLst>
          </p:cNvPr>
          <p:cNvSpPr/>
          <p:nvPr/>
        </p:nvSpPr>
        <p:spPr>
          <a:xfrm>
            <a:off x="982832" y="568474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73EFD49-63CE-4ADC-8DDA-257A87F647AF}"/>
              </a:ext>
            </a:extLst>
          </p:cNvPr>
          <p:cNvSpPr/>
          <p:nvPr/>
        </p:nvSpPr>
        <p:spPr>
          <a:xfrm>
            <a:off x="7680269" y="156830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5E720A7-A8D9-4120-AE3C-766177DB69A1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EFBA2DD-D07A-48CF-9F59-259D395AD6F9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E2C6EDD9-6A5C-4615-A4C7-8B3D90AE3B5A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924D93C-A60E-4E37-87A7-E882890854F2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98F372B-DC96-4B60-9E7A-2048B49DAA45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1484B81-64EE-476F-A1BD-929D66106FA6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10E88409-6C6A-4E41-BBD2-33F5B42E35EA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110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4AE17BD3-F63F-43B8-9DD8-659B8F5BE0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A1752EE-73E1-4928-A1FF-AF190484DB7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6027F6F7-EAE8-4BA0-BB24-C11F41D9B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119743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113" name="TextBox 112">
            <a:extLst>
              <a:ext uri="{FF2B5EF4-FFF2-40B4-BE49-F238E27FC236}">
                <a16:creationId xmlns:a16="http://schemas.microsoft.com/office/drawing/2014/main" id="{BDF760FE-2577-4857-B494-B791522E5E80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206" name="타원형 설명선 205"/>
          <p:cNvSpPr/>
          <p:nvPr/>
        </p:nvSpPr>
        <p:spPr>
          <a:xfrm>
            <a:off x="116575" y="393305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105" name="타원형 설명선 225">
            <a:extLst>
              <a:ext uri="{FF2B5EF4-FFF2-40B4-BE49-F238E27FC236}">
                <a16:creationId xmlns:a16="http://schemas.microsoft.com/office/drawing/2014/main" id="{CF597FC0-18BC-4464-81B7-3787C73C21D3}"/>
              </a:ext>
            </a:extLst>
          </p:cNvPr>
          <p:cNvSpPr/>
          <p:nvPr/>
        </p:nvSpPr>
        <p:spPr>
          <a:xfrm>
            <a:off x="6930926" y="393308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타원형 설명선 225">
            <a:extLst>
              <a:ext uri="{FF2B5EF4-FFF2-40B4-BE49-F238E27FC236}">
                <a16:creationId xmlns:a16="http://schemas.microsoft.com/office/drawing/2014/main" id="{E9DC1823-2444-4D88-BA9B-A43DF0887DD6}"/>
              </a:ext>
            </a:extLst>
          </p:cNvPr>
          <p:cNvSpPr/>
          <p:nvPr/>
        </p:nvSpPr>
        <p:spPr>
          <a:xfrm>
            <a:off x="-9501" y="429312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타원형 설명선 225">
            <a:extLst>
              <a:ext uri="{FF2B5EF4-FFF2-40B4-BE49-F238E27FC236}">
                <a16:creationId xmlns:a16="http://schemas.microsoft.com/office/drawing/2014/main" id="{EEF1539F-EF03-4191-BBB6-63270A904D22}"/>
              </a:ext>
            </a:extLst>
          </p:cNvPr>
          <p:cNvSpPr/>
          <p:nvPr/>
        </p:nvSpPr>
        <p:spPr>
          <a:xfrm>
            <a:off x="1136576" y="385463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08F7459-EBB7-4641-B68E-7DEA4175A9EE}"/>
              </a:ext>
            </a:extLst>
          </p:cNvPr>
          <p:cNvSpPr/>
          <p:nvPr/>
        </p:nvSpPr>
        <p:spPr>
          <a:xfrm>
            <a:off x="1434191" y="4077072"/>
            <a:ext cx="2144218" cy="22246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8043209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334811"/>
              </p:ext>
            </p:extLst>
          </p:nvPr>
        </p:nvGraphicFramePr>
        <p:xfrm>
          <a:off x="8469313" y="276225"/>
          <a:ext cx="1404000" cy="38945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공용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팝업은 공용으로 사용하나 저장되는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화면에 맞는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입력창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93" name="Picture 3">
            <a:extLst>
              <a:ext uri="{FF2B5EF4-FFF2-40B4-BE49-F238E27FC236}">
                <a16:creationId xmlns:a16="http://schemas.microsoft.com/office/drawing/2014/main" id="{5CCA265B-2CA6-43E5-A3A0-8084FE3006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6293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94" name="Picture 2">
            <a:extLst>
              <a:ext uri="{FF2B5EF4-FFF2-40B4-BE49-F238E27FC236}">
                <a16:creationId xmlns:a16="http://schemas.microsoft.com/office/drawing/2014/main" id="{710F641D-B614-4801-9FF3-85D2583C90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6A8A757A-1440-4892-A851-941A269405A2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04D4CEC-31C1-4E60-961B-F14EDA010DFF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A97BE72-B160-4CC7-82E8-3B9365326B51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AC3C8F8-F4F6-4619-9AF6-340E03149167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FAFD24E-124F-4F53-87CC-F50AF111FD21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330D7EF-5E25-4626-B885-6CC08C09BCBF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805521-250C-4F72-8970-1CF8AD15B8E5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077FA05-B2B3-4328-BEC5-AFBFF71F23E5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FC75B499-DC2F-4902-BC84-4E417C2C670B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105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383C6D06-3FBA-457B-A74A-739188424C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BC100762-514E-434A-A6C0-9F31153BBBAE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6D2BB46B-51C5-4631-ADDD-03DBF7C09653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B9E6C5F0-2ABF-42B1-9FF8-2F504AF4ED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7983076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0E134B89-D174-4554-BE11-9A13C345E03F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58294E4B-774D-4AAE-846F-C8C011A02FA6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자유형 5">
            <a:extLst>
              <a:ext uri="{FF2B5EF4-FFF2-40B4-BE49-F238E27FC236}">
                <a16:creationId xmlns:a16="http://schemas.microsoft.com/office/drawing/2014/main" id="{FF6120CE-25A3-40D5-8850-E2E7CB7A0545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자유형 4">
            <a:extLst>
              <a:ext uri="{FF2B5EF4-FFF2-40B4-BE49-F238E27FC236}">
                <a16:creationId xmlns:a16="http://schemas.microsoft.com/office/drawing/2014/main" id="{61A8A3E4-3BCC-4B59-94A3-683D9F9E6C40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8" name="자유형 7">
            <a:extLst>
              <a:ext uri="{FF2B5EF4-FFF2-40B4-BE49-F238E27FC236}">
                <a16:creationId xmlns:a16="http://schemas.microsoft.com/office/drawing/2014/main" id="{0AA3E912-EB5E-4059-A581-7A5EEAB31028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9" name="자유형 1">
            <a:extLst>
              <a:ext uri="{FF2B5EF4-FFF2-40B4-BE49-F238E27FC236}">
                <a16:creationId xmlns:a16="http://schemas.microsoft.com/office/drawing/2014/main" id="{E67988E5-2B1A-407C-B95B-A11B22A2DB70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9C6BD73-E877-4AF3-8198-1D0DDE519E60}"/>
              </a:ext>
            </a:extLst>
          </p:cNvPr>
          <p:cNvSpPr/>
          <p:nvPr/>
        </p:nvSpPr>
        <p:spPr>
          <a:xfrm>
            <a:off x="214142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rPr>
              <a:t>ESS</a:t>
            </a:r>
            <a:endParaRPr lang="ko-KR" altLang="en-US" sz="1000" b="1" dirty="0">
              <a:solidFill>
                <a:srgbClr val="92D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090B3048-1B7B-4DDE-9F87-0D0C46F2BA85}"/>
              </a:ext>
            </a:extLst>
          </p:cNvPr>
          <p:cNvSpPr/>
          <p:nvPr/>
        </p:nvSpPr>
        <p:spPr>
          <a:xfrm>
            <a:off x="2528015" y="4077072"/>
            <a:ext cx="405499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10%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E82F9AA-8DF5-494F-939C-B61E62349A37}"/>
              </a:ext>
            </a:extLst>
          </p:cNvPr>
          <p:cNvSpPr/>
          <p:nvPr/>
        </p:nvSpPr>
        <p:spPr>
          <a:xfrm>
            <a:off x="2861506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PV</a:t>
            </a:r>
            <a:endParaRPr lang="ko-KR" altLang="en-US" sz="10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8D4E657-4909-40D1-8D33-CDF9B35DC875}"/>
              </a:ext>
            </a:extLst>
          </p:cNvPr>
          <p:cNvSpPr/>
          <p:nvPr/>
        </p:nvSpPr>
        <p:spPr>
          <a:xfrm>
            <a:off x="3203213" y="4077072"/>
            <a:ext cx="415453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9%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01E0557-A5F9-49D6-842E-34BBED8465D6}"/>
              </a:ext>
            </a:extLst>
          </p:cNvPr>
          <p:cNvSpPr/>
          <p:nvPr/>
        </p:nvSpPr>
        <p:spPr>
          <a:xfrm>
            <a:off x="1352600" y="4077072"/>
            <a:ext cx="585630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한전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03013D0F-4250-4849-9A03-C127EFDB30C0}"/>
              </a:ext>
            </a:extLst>
          </p:cNvPr>
          <p:cNvSpPr/>
          <p:nvPr/>
        </p:nvSpPr>
        <p:spPr>
          <a:xfrm>
            <a:off x="1781386" y="4077072"/>
            <a:ext cx="415655" cy="180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81%</a:t>
            </a:r>
            <a:endParaRPr lang="ko-KR" altLang="en-US" sz="10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6D8B526A-367F-4067-BCE6-52D0E0B9C512}"/>
              </a:ext>
            </a:extLst>
          </p:cNvPr>
          <p:cNvGrpSpPr/>
          <p:nvPr/>
        </p:nvGrpSpPr>
        <p:grpSpPr>
          <a:xfrm>
            <a:off x="290122" y="4081141"/>
            <a:ext cx="825136" cy="211955"/>
            <a:chOff x="4861742" y="3907374"/>
            <a:chExt cx="862386" cy="211955"/>
          </a:xfrm>
        </p:grpSpPr>
        <p:pic>
          <p:nvPicPr>
            <p:cNvPr id="127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682F973-2B41-4786-9D4A-14798E293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FCB7613-1986-4E21-BC8D-27F1834A420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60C085EE-BEED-4C02-8E67-F678E8A7A063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1C227CF6-8912-4426-964F-091AC4BF02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8636152"/>
              </p:ext>
            </p:extLst>
          </p:nvPr>
        </p:nvGraphicFramePr>
        <p:xfrm>
          <a:off x="272476" y="4372840"/>
          <a:ext cx="7920892" cy="890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65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  <a:gridCol w="287373">
                  <a:extLst>
                    <a:ext uri="{9D8B030D-6E8A-4147-A177-3AD203B41FA5}">
                      <a16:colId xmlns:a16="http://schemas.microsoft.com/office/drawing/2014/main" val="929126639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YYYY-MM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003754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한전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131" name="TextBox 130">
            <a:extLst>
              <a:ext uri="{FF2B5EF4-FFF2-40B4-BE49-F238E27FC236}">
                <a16:creationId xmlns:a16="http://schemas.microsoft.com/office/drawing/2014/main" id="{2A5E75C9-9744-439A-B0E4-6ED4EC520DDB}"/>
              </a:ext>
            </a:extLst>
          </p:cNvPr>
          <p:cNvSpPr txBox="1"/>
          <p:nvPr/>
        </p:nvSpPr>
        <p:spPr>
          <a:xfrm>
            <a:off x="7221248" y="40815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DCE60-9A75-4E65-8592-35D2F49A747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1FA8902D-44E0-4486-9D75-8AE62E4C9D82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BAA5B29C-225F-44E5-8E7D-4547A126D9FD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026B33C-56F1-4D85-BF5B-41D6343499E3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8CA6D906-9483-4A98-BAB3-F5114B82237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534B00CA-E871-40A7-AF2D-F4014C13939C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4292062B-EE2C-458D-8FE8-65566754C0CB}"/>
              </a:ext>
            </a:extLst>
          </p:cNvPr>
          <p:cNvSpPr/>
          <p:nvPr/>
        </p:nvSpPr>
        <p:spPr>
          <a:xfrm>
            <a:off x="7680268" y="156361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pic>
        <p:nvPicPr>
          <p:cNvPr id="90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E7B49111-3943-408B-A9D7-A48AD667E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3901" y="2233180"/>
            <a:ext cx="3805906" cy="17867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7" name="타원형 설명선 226"/>
          <p:cNvSpPr/>
          <p:nvPr/>
        </p:nvSpPr>
        <p:spPr>
          <a:xfrm>
            <a:off x="2931993" y="342651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080998" y="343758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933104" y="36604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086078" y="36697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2117746" y="211371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5FCC5F44-4CDC-4C51-B6DE-085D398B3F5C}"/>
              </a:ext>
            </a:extLst>
          </p:cNvPr>
          <p:cNvCxnSpPr/>
          <p:nvPr/>
        </p:nvCxnSpPr>
        <p:spPr>
          <a:xfrm>
            <a:off x="4022399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B997BBCA-3A09-4B5F-9D29-464A3E5D2CE2}"/>
              </a:ext>
            </a:extLst>
          </p:cNvPr>
          <p:cNvSpPr/>
          <p:nvPr/>
        </p:nvSpPr>
        <p:spPr>
          <a:xfrm>
            <a:off x="459846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사용량</a:t>
            </a:r>
          </a:p>
        </p:txBody>
      </p:sp>
      <p:cxnSp>
        <p:nvCxnSpPr>
          <p:cNvPr id="189" name="직선 연결선 188">
            <a:extLst>
              <a:ext uri="{FF2B5EF4-FFF2-40B4-BE49-F238E27FC236}">
                <a16:creationId xmlns:a16="http://schemas.microsoft.com/office/drawing/2014/main" id="{F88A2AAF-B08C-4B72-ABDD-923807532344}"/>
              </a:ext>
            </a:extLst>
          </p:cNvPr>
          <p:cNvCxnSpPr/>
          <p:nvPr/>
        </p:nvCxnSpPr>
        <p:spPr>
          <a:xfrm>
            <a:off x="5534567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8B2108FB-08B1-4CD2-9338-60552DF5B6C7}"/>
              </a:ext>
            </a:extLst>
          </p:cNvPr>
          <p:cNvSpPr/>
          <p:nvPr/>
        </p:nvSpPr>
        <p:spPr>
          <a:xfrm>
            <a:off x="6110631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191" name="직선 연결선 190">
            <a:extLst>
              <a:ext uri="{FF2B5EF4-FFF2-40B4-BE49-F238E27FC236}">
                <a16:creationId xmlns:a16="http://schemas.microsoft.com/office/drawing/2014/main" id="{74258260-91C3-4A29-9805-94F375247829}"/>
              </a:ext>
            </a:extLst>
          </p:cNvPr>
          <p:cNvCxnSpPr/>
          <p:nvPr/>
        </p:nvCxnSpPr>
        <p:spPr>
          <a:xfrm>
            <a:off x="6969224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BC422BBC-D73A-4DD6-B9E7-A8637108FD6A}"/>
              </a:ext>
            </a:extLst>
          </p:cNvPr>
          <p:cNvSpPr/>
          <p:nvPr/>
        </p:nvSpPr>
        <p:spPr>
          <a:xfrm>
            <a:off x="754528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</p:spTree>
    <p:extLst>
      <p:ext uri="{BB962C8B-B14F-4D97-AF65-F5344CB8AC3E}">
        <p14:creationId xmlns:p14="http://schemas.microsoft.com/office/powerpoint/2010/main" val="300370014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652197"/>
              </p:ext>
            </p:extLst>
          </p:nvPr>
        </p:nvGraphicFramePr>
        <p:xfrm>
          <a:off x="8469313" y="276225"/>
          <a:ext cx="1404000" cy="51137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현황을 표시할 장치를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 가능한 장치는 다음과 같다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에서 선택된 하위 메뉴의 장치에 라디오 버튼이 활성화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조회 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현황 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라디오 버튼에서 선택된 종류의 장치 리스트를 보여주는 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 페이지에서는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IOE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*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장치는 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3) IOE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1" i="0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장치 별 현황 리스트를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모니터링과 다르게 장치 모니터링에서는 모든 장치 현황을 한 번에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상에 선택된 장치 항목의 상세정보를 보여주는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표에서 장치 항목을 더블 클릭해도 동일한 동작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5" y="755669"/>
            <a:ext cx="8198579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2022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554581"/>
              </p:ext>
            </p:extLst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28463" y="176376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1854" y="43770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5586" y="20773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53502" y="166051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421E6B4-A01F-40FB-844F-E8452D1D5BCC}"/>
              </a:ext>
            </a:extLst>
          </p:cNvPr>
          <p:cNvSpPr/>
          <p:nvPr/>
        </p:nvSpPr>
        <p:spPr>
          <a:xfrm>
            <a:off x="4329136" y="1751608"/>
            <a:ext cx="3720208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7099126" y="425186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22370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227652"/>
              </p:ext>
            </p:extLst>
          </p:nvPr>
        </p:nvGraphicFramePr>
        <p:xfrm>
          <a:off x="8469313" y="276225"/>
          <a:ext cx="1404000" cy="15803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3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 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장치의 표 컬럼은 확정 후 업데이트 예정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PV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PV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419" y="782289"/>
            <a:ext cx="8208912" cy="466293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90872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00420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99751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5A105594-51EA-453D-B27C-FB5BACB55DE5}"/>
              </a:ext>
            </a:extLst>
          </p:cNvPr>
          <p:cNvSpPr/>
          <p:nvPr/>
        </p:nvSpPr>
        <p:spPr>
          <a:xfrm>
            <a:off x="5473794" y="998776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7CF5510C-8443-4E82-8117-F93466110AD0}"/>
              </a:ext>
            </a:extLst>
          </p:cNvPr>
          <p:cNvSpPr/>
          <p:nvPr/>
        </p:nvSpPr>
        <p:spPr>
          <a:xfrm>
            <a:off x="4402602" y="99195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2A9327-879E-4D04-A25A-D3C7F302BD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7712113"/>
              </p:ext>
            </p:extLst>
          </p:nvPr>
        </p:nvGraphicFramePr>
        <p:xfrm>
          <a:off x="243249" y="1290967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</a:t>
                      </a:r>
                      <a:r>
                        <a:rPr lang="ko-KR" altLang="en-US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C/D Status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 Message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Status Time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STOP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AC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over current </a:t>
                      </a:r>
                    </a:p>
                    <a:p>
                      <a:pPr algn="ctr" latinLnBrk="1"/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R-Phase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" name="직사각형 55">
            <a:extLst>
              <a:ext uri="{FF2B5EF4-FFF2-40B4-BE49-F238E27FC236}">
                <a16:creationId xmlns:a16="http://schemas.microsoft.com/office/drawing/2014/main" id="{6238B772-12EA-429C-96EC-AFAAC3CBDFFD}"/>
              </a:ext>
            </a:extLst>
          </p:cNvPr>
          <p:cNvSpPr/>
          <p:nvPr/>
        </p:nvSpPr>
        <p:spPr>
          <a:xfrm>
            <a:off x="453173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46B6C4C-0796-4106-967D-B45ABDEF8BD4}"/>
              </a:ext>
            </a:extLst>
          </p:cNvPr>
          <p:cNvSpPr/>
          <p:nvPr/>
        </p:nvSpPr>
        <p:spPr>
          <a:xfrm>
            <a:off x="5610498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7FA6C65-477D-4EC2-8C5D-42BD31959168}"/>
              </a:ext>
            </a:extLst>
          </p:cNvPr>
          <p:cNvSpPr/>
          <p:nvPr/>
        </p:nvSpPr>
        <p:spPr>
          <a:xfrm>
            <a:off x="664148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E1C7651-D426-42B3-A708-6EE204F1E145}"/>
              </a:ext>
            </a:extLst>
          </p:cNvPr>
          <p:cNvSpPr/>
          <p:nvPr/>
        </p:nvSpPr>
        <p:spPr>
          <a:xfrm>
            <a:off x="7669915" y="234968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96AA616D-964D-41B8-8FB9-72F08F689665}"/>
              </a:ext>
            </a:extLst>
          </p:cNvPr>
          <p:cNvSpPr/>
          <p:nvPr/>
        </p:nvSpPr>
        <p:spPr>
          <a:xfrm>
            <a:off x="6513464" y="2438479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E42EBB6E-0C90-4683-998C-67BBC0749851}"/>
              </a:ext>
            </a:extLst>
          </p:cNvPr>
          <p:cNvSpPr/>
          <p:nvPr/>
        </p:nvSpPr>
        <p:spPr>
          <a:xfrm>
            <a:off x="5466574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4269F51-E8DC-4F83-A43A-EF7E40A45603}"/>
              </a:ext>
            </a:extLst>
          </p:cNvPr>
          <p:cNvSpPr/>
          <p:nvPr/>
        </p:nvSpPr>
        <p:spPr>
          <a:xfrm>
            <a:off x="4398745" y="243690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654ADD95-2F9B-44C4-AC90-633E2B290C0F}"/>
              </a:ext>
            </a:extLst>
          </p:cNvPr>
          <p:cNvSpPr/>
          <p:nvPr/>
        </p:nvSpPr>
        <p:spPr>
          <a:xfrm>
            <a:off x="7487953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8A893887-8A96-4473-9B6E-2EEA9DED79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379907"/>
              </p:ext>
            </p:extLst>
          </p:nvPr>
        </p:nvGraphicFramePr>
        <p:xfrm>
          <a:off x="243249" y="2731932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C/D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baseline="0" dirty="0" err="1">
                          <a:solidFill>
                            <a:schemeClr val="bg1"/>
                          </a:solidFill>
                        </a:rPr>
                        <a:t>Satus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Over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cell Voltage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2" name="직사각형 71">
            <a:extLst>
              <a:ext uri="{FF2B5EF4-FFF2-40B4-BE49-F238E27FC236}">
                <a16:creationId xmlns:a16="http://schemas.microsoft.com/office/drawing/2014/main" id="{5E2F0D24-7F67-43AB-9CB7-7BE2C9824CA3}"/>
              </a:ext>
            </a:extLst>
          </p:cNvPr>
          <p:cNvSpPr/>
          <p:nvPr/>
        </p:nvSpPr>
        <p:spPr>
          <a:xfrm>
            <a:off x="453173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71BAAED-BF32-412D-BCE8-3665F2A4509C}"/>
              </a:ext>
            </a:extLst>
          </p:cNvPr>
          <p:cNvSpPr/>
          <p:nvPr/>
        </p:nvSpPr>
        <p:spPr>
          <a:xfrm>
            <a:off x="5610498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6D9B7B9-16EB-4E42-9316-E06C671A3AC2}"/>
              </a:ext>
            </a:extLst>
          </p:cNvPr>
          <p:cNvSpPr/>
          <p:nvPr/>
        </p:nvSpPr>
        <p:spPr>
          <a:xfrm>
            <a:off x="664148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80ED4063-A89A-4BE9-A585-1DFDA80C826D}"/>
              </a:ext>
            </a:extLst>
          </p:cNvPr>
          <p:cNvSpPr/>
          <p:nvPr/>
        </p:nvSpPr>
        <p:spPr>
          <a:xfrm>
            <a:off x="7669915" y="386104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BF96DCB-CBCB-4DC8-A7CE-F3417E61FC5A}"/>
              </a:ext>
            </a:extLst>
          </p:cNvPr>
          <p:cNvSpPr/>
          <p:nvPr/>
        </p:nvSpPr>
        <p:spPr>
          <a:xfrm>
            <a:off x="7534296" y="3944322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C2D7716A-932B-474B-8EA5-87CF58C1BAD9}"/>
              </a:ext>
            </a:extLst>
          </p:cNvPr>
          <p:cNvSpPr/>
          <p:nvPr/>
        </p:nvSpPr>
        <p:spPr>
          <a:xfrm>
            <a:off x="5466574" y="394984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7E1996F4-6FE5-4B89-8724-DECA5B88DCED}"/>
              </a:ext>
            </a:extLst>
          </p:cNvPr>
          <p:cNvSpPr/>
          <p:nvPr/>
        </p:nvSpPr>
        <p:spPr>
          <a:xfrm>
            <a:off x="6473243" y="395653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AE780E4C-4BD8-46A7-A039-0BAA1EFDEB3B}"/>
              </a:ext>
            </a:extLst>
          </p:cNvPr>
          <p:cNvSpPr/>
          <p:nvPr/>
        </p:nvSpPr>
        <p:spPr>
          <a:xfrm>
            <a:off x="4396111" y="3948648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E1D56BC5-D1AF-4DEB-8D91-227481FAA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868137"/>
              </p:ext>
            </p:extLst>
          </p:nvPr>
        </p:nvGraphicFramePr>
        <p:xfrm>
          <a:off x="243249" y="4243295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7" name="타원형 설명선 226"/>
          <p:cNvSpPr/>
          <p:nvPr/>
        </p:nvSpPr>
        <p:spPr>
          <a:xfrm>
            <a:off x="50272" y="24650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0272" y="397124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0272" y="10638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1E62319-B855-4AE7-844A-0F13D4E9B1DA}"/>
              </a:ext>
            </a:extLst>
          </p:cNvPr>
          <p:cNvSpPr/>
          <p:nvPr/>
        </p:nvSpPr>
        <p:spPr>
          <a:xfrm>
            <a:off x="5322524" y="877613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BD14B93-BA4A-4019-AF5B-B77EBFD968F1}"/>
              </a:ext>
            </a:extLst>
          </p:cNvPr>
          <p:cNvSpPr/>
          <p:nvPr/>
        </p:nvSpPr>
        <p:spPr>
          <a:xfrm>
            <a:off x="6411632" y="2312226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28219C8-FAAC-4653-8A56-0031C363574D}"/>
              </a:ext>
            </a:extLst>
          </p:cNvPr>
          <p:cNvSpPr/>
          <p:nvPr/>
        </p:nvSpPr>
        <p:spPr>
          <a:xfrm>
            <a:off x="7427885" y="3823545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388306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3239572"/>
              </p:ext>
            </p:extLst>
          </p:nvPr>
        </p:nvGraphicFramePr>
        <p:xfrm>
          <a:off x="8469313" y="276225"/>
          <a:ext cx="1404000" cy="31374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Connected, Disconnected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386010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195050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8796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18EA793B-0B4C-42CC-B42C-EA2F444EE644}"/>
              </a:ext>
            </a:extLst>
          </p:cNvPr>
          <p:cNvGrpSpPr/>
          <p:nvPr/>
        </p:nvGrpSpPr>
        <p:grpSpPr>
          <a:xfrm>
            <a:off x="1706628" y="1973999"/>
            <a:ext cx="5191327" cy="2043838"/>
            <a:chOff x="373622" y="737091"/>
            <a:chExt cx="5191327" cy="20438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8C61B54-2B70-4D77-80B7-C508B9EFBF4B}"/>
                </a:ext>
              </a:extLst>
            </p:cNvPr>
            <p:cNvSpPr/>
            <p:nvPr/>
          </p:nvSpPr>
          <p:spPr>
            <a:xfrm>
              <a:off x="373622" y="737091"/>
              <a:ext cx="5191327" cy="204383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4E90EA2-47BC-4344-BD68-ECE1294DF95A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7D27CE02-A661-469C-AC6C-14797D295D61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B427E0C-54F5-430C-8A54-CA0B30B7B994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868AB9B-1999-4108-ACA4-5C1EB727C88A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65D2252-ED0B-4D5E-AA07-EE01F8F5A81D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EC142E8-871A-4C6E-9ABB-31A537CE3066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AB620C2E-3C2B-4E41-B044-519E74A3BFA6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58E5A5-FD98-478B-9271-A27D5035C23D}"/>
                </a:ext>
              </a:extLst>
            </p:cNvPr>
            <p:cNvSpPr txBox="1"/>
            <p:nvPr/>
          </p:nvSpPr>
          <p:spPr>
            <a:xfrm>
              <a:off x="632520" y="1782253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연결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0EA5EF7-B1C8-46F0-A8A5-FA4A1B8BBFD4}"/>
                </a:ext>
              </a:extLst>
            </p:cNvPr>
            <p:cNvSpPr txBox="1"/>
            <p:nvPr/>
          </p:nvSpPr>
          <p:spPr>
            <a:xfrm>
              <a:off x="1844824" y="1782253"/>
              <a:ext cx="99081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CONNECTED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BA40DD78-A7C2-4126-9A48-3E804A62D615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6A31D40-E7EE-47A3-9A8A-C0DE7CADDA26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1EC79CF-BF51-4CAC-9100-67084E7FDB39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72EA1F6-3183-46BF-87A5-FA6C8A4F9B6D}"/>
                </a:ext>
              </a:extLst>
            </p:cNvPr>
            <p:cNvSpPr txBox="1"/>
            <p:nvPr/>
          </p:nvSpPr>
          <p:spPr>
            <a:xfrm>
              <a:off x="4744818" y="242088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BDE8B782-5280-45D8-A9D5-5187334E4D80}"/>
                </a:ext>
              </a:extLst>
            </p:cNvPr>
            <p:cNvSpPr txBox="1"/>
            <p:nvPr/>
          </p:nvSpPr>
          <p:spPr>
            <a:xfrm>
              <a:off x="632520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0DAFC637-DCB1-4F7D-A778-FDCA44EDD72E}"/>
                </a:ext>
              </a:extLst>
            </p:cNvPr>
            <p:cNvSpPr txBox="1"/>
            <p:nvPr/>
          </p:nvSpPr>
          <p:spPr>
            <a:xfrm>
              <a:off x="1721750" y="2122602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8042484-69D6-496F-938A-A8DBCF50A0F1}"/>
                </a:ext>
              </a:extLst>
            </p:cNvPr>
            <p:cNvCxnSpPr/>
            <p:nvPr/>
          </p:nvCxnSpPr>
          <p:spPr>
            <a:xfrm>
              <a:off x="559973" y="1652653"/>
              <a:ext cx="486232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0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B4E4E39B-B2D5-4B51-9CB2-872D7C5E8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9097" y="837833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" name="Picture 4" descr="connectedì ëí ì´ë¯¸ì§ ê²ìê²°ê³¼">
              <a:extLst>
                <a:ext uri="{FF2B5EF4-FFF2-40B4-BE49-F238E27FC236}">
                  <a16:creationId xmlns:a16="http://schemas.microsoft.com/office/drawing/2014/main" id="{53329641-A609-494E-B884-6B81BA7A5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73349" y="1771355"/>
              <a:ext cx="216000" cy="21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7" name="타원형 설명선 226"/>
          <p:cNvSpPr/>
          <p:nvPr/>
        </p:nvSpPr>
        <p:spPr>
          <a:xfrm>
            <a:off x="4797923" y="20798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49526" y="28998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663205" y="244890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00577" y="204528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1753424" y="32321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0E7A54E-FDE9-4E01-B8C9-4D28753639DE}"/>
              </a:ext>
            </a:extLst>
          </p:cNvPr>
          <p:cNvSpPr/>
          <p:nvPr/>
        </p:nvSpPr>
        <p:spPr>
          <a:xfrm>
            <a:off x="7304456" y="4413062"/>
            <a:ext cx="849191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형 설명선 265">
            <a:extLst>
              <a:ext uri="{FF2B5EF4-FFF2-40B4-BE49-F238E27FC236}">
                <a16:creationId xmlns:a16="http://schemas.microsoft.com/office/drawing/2014/main" id="{32606272-0531-4317-9F2E-56CEABEC5E5F}"/>
              </a:ext>
            </a:extLst>
          </p:cNvPr>
          <p:cNvSpPr/>
          <p:nvPr/>
        </p:nvSpPr>
        <p:spPr>
          <a:xfrm>
            <a:off x="5776150" y="34777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218815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411904"/>
              </p:ext>
            </p:extLst>
          </p:nvPr>
        </p:nvGraphicFramePr>
        <p:xfrm>
          <a:off x="8469313" y="276225"/>
          <a:ext cx="1404000" cy="4519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AC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AC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역률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주파수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전력설정치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3017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운정상태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운전모드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171528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CB2AA9B-C292-43B1-A2A5-844EEE480D15}"/>
              </a:ext>
            </a:extLst>
          </p:cNvPr>
          <p:cNvGrpSpPr/>
          <p:nvPr/>
        </p:nvGrpSpPr>
        <p:grpSpPr>
          <a:xfrm>
            <a:off x="373623" y="737090"/>
            <a:ext cx="5434338" cy="4060062"/>
            <a:chOff x="373623" y="737090"/>
            <a:chExt cx="5434338" cy="4060062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3623" y="737090"/>
              <a:ext cx="5371466" cy="406006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2521" y="1802196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4825" y="180219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767401" y="270768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415473" y="270768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366.2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1607" y="1772816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664968" y="4399220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2521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0607" y="210265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074" name="Picture 2" descr="ê´ë ¨ ì´ë¯¸ì§">
              <a:extLst>
                <a:ext uri="{FF2B5EF4-FFF2-40B4-BE49-F238E27FC236}">
                  <a16:creationId xmlns:a16="http://schemas.microsoft.com/office/drawing/2014/main" id="{B3FF6F82-3471-4BF5-816D-CCD14205B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997" y="843749"/>
              <a:ext cx="470556" cy="4705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59973" y="1652653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767401" y="303504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415473" y="303504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098307" y="271140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059851" y="271140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098307" y="3038763"/>
              <a:ext cx="87590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역률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(PF)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059851" y="303876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5E7CDDD-EA85-46BB-AC97-ADE537C03221}"/>
                </a:ext>
              </a:extLst>
            </p:cNvPr>
            <p:cNvSpPr txBox="1"/>
            <p:nvPr/>
          </p:nvSpPr>
          <p:spPr>
            <a:xfrm>
              <a:off x="632520" y="2431845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3726942" y="271197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주파수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(Hz)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4932059" y="2711975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3726942" y="303933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전력설정치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4932059" y="3039335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3,486.0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DD539E1-0148-48E8-B189-5C7DD1DBEE43}"/>
                </a:ext>
              </a:extLst>
            </p:cNvPr>
            <p:cNvSpPr txBox="1"/>
            <p:nvPr/>
          </p:nvSpPr>
          <p:spPr>
            <a:xfrm>
              <a:off x="767401" y="364321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8B843C0-E0DC-46E9-8D15-AC0D754C9480}"/>
                </a:ext>
              </a:extLst>
            </p:cNvPr>
            <p:cNvSpPr txBox="1"/>
            <p:nvPr/>
          </p:nvSpPr>
          <p:spPr>
            <a:xfrm>
              <a:off x="1415473" y="364321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758.2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767401" y="397057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415473" y="397057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2098307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3059851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098307" y="3974295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059851" y="397429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2,089.0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8A93D5D-FE6B-436D-B531-CA4443DD18C0}"/>
                </a:ext>
              </a:extLst>
            </p:cNvPr>
            <p:cNvSpPr txBox="1"/>
            <p:nvPr/>
          </p:nvSpPr>
          <p:spPr>
            <a:xfrm>
              <a:off x="632520" y="3367377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8D4A8D6-9FC0-4E59-B7EB-7981A7E542A5}"/>
                </a:ext>
              </a:extLst>
            </p:cNvPr>
            <p:cNvSpPr txBox="1"/>
            <p:nvPr/>
          </p:nvSpPr>
          <p:spPr>
            <a:xfrm>
              <a:off x="3726942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운전모드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9C0A75BF-EE9F-4254-BEB2-77CE4614C37D}"/>
                </a:ext>
              </a:extLst>
            </p:cNvPr>
            <p:cNvSpPr txBox="1"/>
            <p:nvPr/>
          </p:nvSpPr>
          <p:spPr>
            <a:xfrm>
              <a:off x="4932059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Remote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3726942" y="3974867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4932059" y="397486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1,564.0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3510942" y="8208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95839" y="16943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51973" y="119677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95839" y="238078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354219" y="423687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02087" y="330440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1973" y="8208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타원형 설명선 245">
            <a:extLst>
              <a:ext uri="{FF2B5EF4-FFF2-40B4-BE49-F238E27FC236}">
                <a16:creationId xmlns:a16="http://schemas.microsoft.com/office/drawing/2014/main" id="{0179658D-26AA-4F1B-B86B-58DFEF09263F}"/>
              </a:ext>
            </a:extLst>
          </p:cNvPr>
          <p:cNvSpPr/>
          <p:nvPr/>
        </p:nvSpPr>
        <p:spPr>
          <a:xfrm>
            <a:off x="390245" y="20013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71EABF5-169B-46E4-BEEC-7EB00492866D}"/>
              </a:ext>
            </a:extLst>
          </p:cNvPr>
          <p:cNvSpPr/>
          <p:nvPr/>
        </p:nvSpPr>
        <p:spPr>
          <a:xfrm>
            <a:off x="790373" y="2706533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99BB88E-AF2E-418D-B1E0-470D28573F8A}"/>
              </a:ext>
            </a:extLst>
          </p:cNvPr>
          <p:cNvSpPr/>
          <p:nvPr/>
        </p:nvSpPr>
        <p:spPr>
          <a:xfrm>
            <a:off x="789485" y="3643894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7181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378899"/>
              </p:ext>
            </p:extLst>
          </p:nvPr>
        </p:nvGraphicFramePr>
        <p:xfrm>
          <a:off x="8469313" y="276225"/>
          <a:ext cx="1404000" cy="40325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SOC,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SOH,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DoD, C-rate,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방전상태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121433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32FEA46-A6B3-468A-8B76-6F04034CE923}"/>
              </a:ext>
            </a:extLst>
          </p:cNvPr>
          <p:cNvGrpSpPr/>
          <p:nvPr/>
        </p:nvGrpSpPr>
        <p:grpSpPr>
          <a:xfrm>
            <a:off x="378210" y="717202"/>
            <a:ext cx="5510894" cy="3556468"/>
            <a:chOff x="378210" y="717202"/>
            <a:chExt cx="5510894" cy="3556468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8210" y="717202"/>
              <a:ext cx="5371466" cy="355646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8158" y="905251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31215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4609" y="1321001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7698" y="1321001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9405" y="1321001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72511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5027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50001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7108" y="1782308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9412" y="1782308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636738" y="2881322"/>
              <a:ext cx="71586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712640" y="288132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70553" y="950840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52771" y="1321001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6274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6194" y="1752928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783580" y="386104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7108" y="2082771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5194" y="208277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64560" y="1632765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636737" y="3208682"/>
              <a:ext cx="124526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712640" y="320868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375225" y="288504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최대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435924" y="288504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90.0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375225" y="321240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435924" y="321240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4103417" y="288561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SOH(%)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5013202" y="2881321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4103417" y="3212976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5013202" y="3214089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384.0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630651" y="3534930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 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711757" y="353492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626679" y="2564904"/>
              <a:ext cx="102609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 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1588224" y="2564904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370188" y="3531207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DoD(%)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435924" y="3531206"/>
              <a:ext cx="568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4103417" y="353120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C-rate(C):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5013202" y="353120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33.0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960F2D23-2485-4348-BF7B-A773907B0DB9}"/>
                </a:ext>
              </a:extLst>
            </p:cNvPr>
            <p:cNvPicPr/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 flipH="1">
              <a:off x="1301265" y="861437"/>
              <a:ext cx="299838" cy="377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27" name="타원형 설명선 226"/>
          <p:cNvSpPr/>
          <p:nvPr/>
        </p:nvSpPr>
        <p:spPr>
          <a:xfrm>
            <a:off x="3572647" y="8056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44139" y="16617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89989" y="11611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40479" y="19904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525922" y="37112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40171" y="244233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89989" y="80310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8B899AE-AF8B-48DE-9878-65057CC4FB49}"/>
              </a:ext>
            </a:extLst>
          </p:cNvPr>
          <p:cNvSpPr/>
          <p:nvPr/>
        </p:nvSpPr>
        <p:spPr>
          <a:xfrm>
            <a:off x="690054" y="2609084"/>
            <a:ext cx="4807833" cy="1134178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299173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99833"/>
              </p:ext>
            </p:extLst>
          </p:nvPr>
        </p:nvGraphicFramePr>
        <p:xfrm>
          <a:off x="8469313" y="276225"/>
          <a:ext cx="1404000" cy="39106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온도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수평일사량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경사일사량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오늘예측발전량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오늘누적발전량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197329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2" y="737090"/>
            <a:ext cx="5191327" cy="320620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CD9C4C-AC9C-4723-9CBA-75FEECB1C4FC}"/>
              </a:ext>
            </a:extLst>
          </p:cNvPr>
          <p:cNvSpPr txBox="1"/>
          <p:nvPr/>
        </p:nvSpPr>
        <p:spPr>
          <a:xfrm>
            <a:off x="583571" y="925139"/>
            <a:ext cx="109598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PV_1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81F883C-0743-43D1-B92E-549FADD9A2E0}"/>
              </a:ext>
            </a:extLst>
          </p:cNvPr>
          <p:cNvSpPr txBox="1"/>
          <p:nvPr/>
        </p:nvSpPr>
        <p:spPr>
          <a:xfrm>
            <a:off x="2926628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명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48951A-BFEC-4C51-B821-9796DB3D393C}"/>
              </a:ext>
            </a:extLst>
          </p:cNvPr>
          <p:cNvSpPr txBox="1"/>
          <p:nvPr/>
        </p:nvSpPr>
        <p:spPr>
          <a:xfrm>
            <a:off x="4170022" y="1340889"/>
            <a:ext cx="6867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5615B77-03BE-4A16-9975-F72805336E30}"/>
              </a:ext>
            </a:extLst>
          </p:cNvPr>
          <p:cNvSpPr txBox="1"/>
          <p:nvPr/>
        </p:nvSpPr>
        <p:spPr>
          <a:xfrm>
            <a:off x="3493111" y="1340889"/>
            <a:ext cx="8929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제일화성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4FCA0C8-B872-4EBF-84A0-E133B178310A}"/>
              </a:ext>
            </a:extLst>
          </p:cNvPr>
          <p:cNvSpPr txBox="1"/>
          <p:nvPr/>
        </p:nvSpPr>
        <p:spPr>
          <a:xfrm>
            <a:off x="4744818" y="1340889"/>
            <a:ext cx="8092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10037202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530671C-3799-4874-BBA2-09D46A720BC7}"/>
              </a:ext>
            </a:extLst>
          </p:cNvPr>
          <p:cNvSpPr txBox="1"/>
          <p:nvPr/>
        </p:nvSpPr>
        <p:spPr>
          <a:xfrm>
            <a:off x="567924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01D7F8B0-E3B7-41C7-963C-9E89A54D0EC2}"/>
              </a:ext>
            </a:extLst>
          </p:cNvPr>
          <p:cNvSpPr txBox="1"/>
          <p:nvPr/>
        </p:nvSpPr>
        <p:spPr>
          <a:xfrm>
            <a:off x="114568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60001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6C66611-991B-40AF-80FC-1D0B8788B754}"/>
              </a:ext>
            </a:extLst>
          </p:cNvPr>
          <p:cNvSpPr txBox="1"/>
          <p:nvPr/>
        </p:nvSpPr>
        <p:spPr>
          <a:xfrm>
            <a:off x="632520" y="1782253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5491260-E688-4EAB-B409-1C2BE298FA42}"/>
              </a:ext>
            </a:extLst>
          </p:cNvPr>
          <p:cNvSpPr txBox="1"/>
          <p:nvPr/>
        </p:nvSpPr>
        <p:spPr>
          <a:xfrm>
            <a:off x="1844824" y="1782253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RUN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55B5E93C-E71C-4B8F-81A9-99A183EBD650}"/>
              </a:ext>
            </a:extLst>
          </p:cNvPr>
          <p:cNvSpPr txBox="1"/>
          <p:nvPr/>
        </p:nvSpPr>
        <p:spPr>
          <a:xfrm>
            <a:off x="628948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온도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C536AA3-58AA-498E-9553-ED307CCA2756}"/>
              </a:ext>
            </a:extLst>
          </p:cNvPr>
          <p:cNvSpPr txBox="1"/>
          <p:nvPr/>
        </p:nvSpPr>
        <p:spPr>
          <a:xfrm>
            <a:off x="1496616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51 </a:t>
            </a:r>
            <a:r>
              <a:rPr lang="ko-KR" altLang="en-US" sz="1000" dirty="0"/>
              <a:t>℃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C059726-7675-4821-9A8D-BFC8F530FB17}"/>
              </a:ext>
            </a:extLst>
          </p:cNvPr>
          <p:cNvSpPr/>
          <p:nvPr/>
        </p:nvSpPr>
        <p:spPr>
          <a:xfrm>
            <a:off x="3665966" y="970728"/>
            <a:ext cx="1808507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2018-06-15  2:39:01 PM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1DCFD66-F17E-4CAA-B4D1-318448A89980}"/>
              </a:ext>
            </a:extLst>
          </p:cNvPr>
          <p:cNvSpPr txBox="1"/>
          <p:nvPr/>
        </p:nvSpPr>
        <p:spPr>
          <a:xfrm>
            <a:off x="1648184" y="1340889"/>
            <a:ext cx="7937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6601379-72BE-4FCD-8CCC-36B69A872757}"/>
              </a:ext>
            </a:extLst>
          </p:cNvPr>
          <p:cNvSpPr txBox="1"/>
          <p:nvPr/>
        </p:nvSpPr>
        <p:spPr>
          <a:xfrm>
            <a:off x="235815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32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68FB77A-8865-4616-853F-93958C5302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3846" y="837554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 descr="okì ëí ì´ë¯¸ì§ ê²ìê²°ê³¼">
            <a:extLst>
              <a:ext uri="{FF2B5EF4-FFF2-40B4-BE49-F238E27FC236}">
                <a16:creationId xmlns:a16="http://schemas.microsoft.com/office/drawing/2014/main" id="{EECD6184-7F36-43FD-AA75-A2F5D98D05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606" y="1752873"/>
            <a:ext cx="226000" cy="22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7AB4AB62-D3A6-4677-9E3B-A880A640AA22}"/>
              </a:ext>
            </a:extLst>
          </p:cNvPr>
          <p:cNvSpPr txBox="1"/>
          <p:nvPr/>
        </p:nvSpPr>
        <p:spPr>
          <a:xfrm>
            <a:off x="4744818" y="3607132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37FC64FF-514E-4883-BB9A-556C7E095EEA}"/>
              </a:ext>
            </a:extLst>
          </p:cNvPr>
          <p:cNvSpPr txBox="1"/>
          <p:nvPr/>
        </p:nvSpPr>
        <p:spPr>
          <a:xfrm>
            <a:off x="632520" y="2102659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알람 메시지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CA30599-46B0-47D6-B24F-4FDADF8CD0DB}"/>
              </a:ext>
            </a:extLst>
          </p:cNvPr>
          <p:cNvSpPr txBox="1"/>
          <p:nvPr/>
        </p:nvSpPr>
        <p:spPr>
          <a:xfrm>
            <a:off x="1721750" y="2122602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6433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A3E2A98-F4A7-4ADC-8F50-EFFAAF32080B}"/>
              </a:ext>
            </a:extLst>
          </p:cNvPr>
          <p:cNvCxnSpPr/>
          <p:nvPr/>
        </p:nvCxnSpPr>
        <p:spPr>
          <a:xfrm>
            <a:off x="559973" y="1652653"/>
            <a:ext cx="48623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EFEC1D8C-C8F1-4E0A-ADC4-BE2E28410105}"/>
              </a:ext>
            </a:extLst>
          </p:cNvPr>
          <p:cNvSpPr txBox="1"/>
          <p:nvPr/>
        </p:nvSpPr>
        <p:spPr>
          <a:xfrm>
            <a:off x="2732558" y="2474900"/>
            <a:ext cx="124560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예측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DC2CB08-A1CA-4574-8F4E-34E643CF02F9}"/>
              </a:ext>
            </a:extLst>
          </p:cNvPr>
          <p:cNvSpPr txBox="1"/>
          <p:nvPr/>
        </p:nvSpPr>
        <p:spPr>
          <a:xfrm>
            <a:off x="3968650" y="2474900"/>
            <a:ext cx="7399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11EEC8C-DC74-4FD0-BB2A-C052D71D6A6B}"/>
              </a:ext>
            </a:extLst>
          </p:cNvPr>
          <p:cNvSpPr txBox="1"/>
          <p:nvPr/>
        </p:nvSpPr>
        <p:spPr>
          <a:xfrm>
            <a:off x="2735670" y="2817998"/>
            <a:ext cx="124249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누적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B707781-840B-48F8-8315-934695493569}"/>
              </a:ext>
            </a:extLst>
          </p:cNvPr>
          <p:cNvSpPr txBox="1"/>
          <p:nvPr/>
        </p:nvSpPr>
        <p:spPr>
          <a:xfrm>
            <a:off x="3971762" y="2817998"/>
            <a:ext cx="7685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580 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10E02F7-DF9B-496F-BDDD-18492DBDE81C}"/>
              </a:ext>
            </a:extLst>
          </p:cNvPr>
          <p:cNvSpPr txBox="1"/>
          <p:nvPr/>
        </p:nvSpPr>
        <p:spPr>
          <a:xfrm>
            <a:off x="637427" y="2817998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수평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7C5D5AE-30DF-4C14-9BFB-B4D7AEA16BEB}"/>
              </a:ext>
            </a:extLst>
          </p:cNvPr>
          <p:cNvSpPr txBox="1"/>
          <p:nvPr/>
        </p:nvSpPr>
        <p:spPr>
          <a:xfrm>
            <a:off x="1505096" y="2817998"/>
            <a:ext cx="76850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251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FD8E50D-CDBE-40AA-844A-4E4C65FFA052}"/>
              </a:ext>
            </a:extLst>
          </p:cNvPr>
          <p:cNvSpPr txBox="1"/>
          <p:nvPr/>
        </p:nvSpPr>
        <p:spPr>
          <a:xfrm>
            <a:off x="639245" y="3161097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경사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E47063A-ED6B-44EE-B007-EA54B6CC5A35}"/>
              </a:ext>
            </a:extLst>
          </p:cNvPr>
          <p:cNvSpPr txBox="1"/>
          <p:nvPr/>
        </p:nvSpPr>
        <p:spPr>
          <a:xfrm>
            <a:off x="1506914" y="3161097"/>
            <a:ext cx="7666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206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3522140" y="85182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01776" y="1684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428767" y="342900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11901" y="23641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1776" y="86302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5244" y="120701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01776" y="200834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B8F824D-4157-463B-B9F7-75E63BE7ACA6}"/>
              </a:ext>
            </a:extLst>
          </p:cNvPr>
          <p:cNvSpPr/>
          <p:nvPr/>
        </p:nvSpPr>
        <p:spPr>
          <a:xfrm>
            <a:off x="709216" y="2480689"/>
            <a:ext cx="4031053" cy="926626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522684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985488"/>
              </p:ext>
            </p:extLst>
          </p:nvPr>
        </p:nvGraphicFramePr>
        <p:xfrm>
          <a:off x="8469313" y="276225"/>
          <a:ext cx="1404000" cy="36750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장치 현황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입력 창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208912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468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3621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7534296" y="1856895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2415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69103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4396111" y="1861221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7DCEC264-2C3E-49DE-BD29-EB3774BE91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284942"/>
              </p:ext>
            </p:extLst>
          </p:nvPr>
        </p:nvGraphicFramePr>
        <p:xfrm>
          <a:off x="243249" y="2155868"/>
          <a:ext cx="7992888" cy="1417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8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B2190638-9B7F-4705-B06A-F0B5E1ACDD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651" y="1931275"/>
            <a:ext cx="3916535" cy="18386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45" name="타원형 설명선 226">
            <a:extLst>
              <a:ext uri="{FF2B5EF4-FFF2-40B4-BE49-F238E27FC236}">
                <a16:creationId xmlns:a16="http://schemas.microsoft.com/office/drawing/2014/main" id="{CBAFB91A-2776-4A12-9351-F4B56F4665FC}"/>
              </a:ext>
            </a:extLst>
          </p:cNvPr>
          <p:cNvSpPr/>
          <p:nvPr/>
        </p:nvSpPr>
        <p:spPr>
          <a:xfrm>
            <a:off x="2922515" y="312538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43">
            <a:extLst>
              <a:ext uri="{FF2B5EF4-FFF2-40B4-BE49-F238E27FC236}">
                <a16:creationId xmlns:a16="http://schemas.microsoft.com/office/drawing/2014/main" id="{E2E370E9-73B3-4F0E-A9BD-D1946663A517}"/>
              </a:ext>
            </a:extLst>
          </p:cNvPr>
          <p:cNvSpPr/>
          <p:nvPr/>
        </p:nvSpPr>
        <p:spPr>
          <a:xfrm>
            <a:off x="5071520" y="31364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4">
            <a:extLst>
              <a:ext uri="{FF2B5EF4-FFF2-40B4-BE49-F238E27FC236}">
                <a16:creationId xmlns:a16="http://schemas.microsoft.com/office/drawing/2014/main" id="{1FE2CDD6-18B0-403C-B414-CE568A944338}"/>
              </a:ext>
            </a:extLst>
          </p:cNvPr>
          <p:cNvSpPr/>
          <p:nvPr/>
        </p:nvSpPr>
        <p:spPr>
          <a:xfrm>
            <a:off x="2923626" y="3359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45">
            <a:extLst>
              <a:ext uri="{FF2B5EF4-FFF2-40B4-BE49-F238E27FC236}">
                <a16:creationId xmlns:a16="http://schemas.microsoft.com/office/drawing/2014/main" id="{F463CD09-EA66-4CBF-8981-3F16496A790A}"/>
              </a:ext>
            </a:extLst>
          </p:cNvPr>
          <p:cNvSpPr/>
          <p:nvPr/>
        </p:nvSpPr>
        <p:spPr>
          <a:xfrm>
            <a:off x="5076600" y="336863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25">
            <a:extLst>
              <a:ext uri="{FF2B5EF4-FFF2-40B4-BE49-F238E27FC236}">
                <a16:creationId xmlns:a16="http://schemas.microsoft.com/office/drawing/2014/main" id="{34271130-CBA6-46BA-AE21-369D09B0DF01}"/>
              </a:ext>
            </a:extLst>
          </p:cNvPr>
          <p:cNvSpPr/>
          <p:nvPr/>
        </p:nvSpPr>
        <p:spPr>
          <a:xfrm>
            <a:off x="2108268" y="18125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416022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6905881"/>
              </p:ext>
            </p:extLst>
          </p:nvPr>
        </p:nvGraphicFramePr>
        <p:xfrm>
          <a:off x="8469313" y="276225"/>
          <a:ext cx="1404000" cy="62597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우측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드랍다운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 다운 리스트에서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좌측 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SiteID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리스트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편집에서 추가된 장치 그룹을 리스트 형태로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장치를 단순 정보와 이미지로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장치명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3)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장치가 그룹 내 표시 영역보다 많을 경우 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우에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&lt; &gt;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아이콘을 생성하여 스크롤 되도록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각각의 발생 개수를 표시하고 하단에 알람 발생 장치 리스트를 출력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73023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 편집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內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 할 수 있는 편집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4"/>
            <a:ext cx="8208912" cy="481554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2639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현황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014313F-74A6-48BC-BEA3-1002DF87CBAD}"/>
              </a:ext>
            </a:extLst>
          </p:cNvPr>
          <p:cNvSpPr txBox="1"/>
          <p:nvPr/>
        </p:nvSpPr>
        <p:spPr>
          <a:xfrm>
            <a:off x="7076013" y="5157192"/>
            <a:ext cx="1079719" cy="24622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7A33635-DB1C-477E-AD4C-E6FD62D42E17}"/>
              </a:ext>
            </a:extLst>
          </p:cNvPr>
          <p:cNvSpPr/>
          <p:nvPr/>
        </p:nvSpPr>
        <p:spPr>
          <a:xfrm>
            <a:off x="454928" y="1890486"/>
            <a:ext cx="7488832" cy="1457921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D741837-C914-4EB2-9C62-C1BEF7FFACF1}"/>
              </a:ext>
            </a:extLst>
          </p:cNvPr>
          <p:cNvSpPr txBox="1"/>
          <p:nvPr/>
        </p:nvSpPr>
        <p:spPr>
          <a:xfrm>
            <a:off x="454928" y="1923026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C42CE1B-0512-4FD0-8A31-0F3208A85D11}"/>
              </a:ext>
            </a:extLst>
          </p:cNvPr>
          <p:cNvSpPr/>
          <p:nvPr/>
        </p:nvSpPr>
        <p:spPr>
          <a:xfrm>
            <a:off x="444123" y="3491482"/>
            <a:ext cx="7499637" cy="1458000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754E35-DAEF-4149-929C-3F4B06EE645B}"/>
              </a:ext>
            </a:extLst>
          </p:cNvPr>
          <p:cNvSpPr txBox="1"/>
          <p:nvPr/>
        </p:nvSpPr>
        <p:spPr>
          <a:xfrm>
            <a:off x="444123" y="3533293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_2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AF1B9C-37DB-40E7-8A4C-F877432EAD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54093" y="1885267"/>
            <a:ext cx="115247" cy="3064215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F624E43-DB55-43F1-90C0-1E55E05001F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0690" y="2242364"/>
            <a:ext cx="575548" cy="968744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BCE498AE-7B03-417E-9074-47B7E062A91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82604" y="2247337"/>
            <a:ext cx="572593" cy="963771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576C3BE-E3AE-49B7-A448-3470EEA60E4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91563" y="2242364"/>
            <a:ext cx="593132" cy="968744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C991CBAE-BC47-465F-821B-DAC69208C40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21060" y="2247337"/>
            <a:ext cx="586196" cy="963770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7E36F86-64A0-44D0-8FEE-4703E48E3E6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91564" y="3842685"/>
            <a:ext cx="593132" cy="1012989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EBF6230A-F2C2-49BA-87A4-41ADD9E5C41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43017" y="3832369"/>
            <a:ext cx="601946" cy="1027265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E9E642D9-24F2-47FA-97E6-F88EB928B155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81968" y="3842685"/>
            <a:ext cx="572590" cy="1016949"/>
          </a:xfrm>
          <a:prstGeom prst="rect">
            <a:avLst/>
          </a:prstGeom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10797AAF-100E-4AE4-A8C5-9714D3B232DA}"/>
              </a:ext>
            </a:extLst>
          </p:cNvPr>
          <p:cNvGrpSpPr/>
          <p:nvPr/>
        </p:nvGrpSpPr>
        <p:grpSpPr>
          <a:xfrm>
            <a:off x="5696398" y="1628800"/>
            <a:ext cx="2459334" cy="215444"/>
            <a:chOff x="1321055" y="1881972"/>
            <a:chExt cx="2459334" cy="215444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0FB992A-2CC6-45C3-BBFF-C27211F67FC9}"/>
                </a:ext>
              </a:extLst>
            </p:cNvPr>
            <p:cNvSpPr txBox="1"/>
            <p:nvPr/>
          </p:nvSpPr>
          <p:spPr>
            <a:xfrm>
              <a:off x="1321055" y="1881972"/>
              <a:ext cx="673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5A380CA-F55B-4A43-9D69-8C8EC7AC9661}"/>
                </a:ext>
              </a:extLst>
            </p:cNvPr>
            <p:cNvSpPr txBox="1"/>
            <p:nvPr/>
          </p:nvSpPr>
          <p:spPr>
            <a:xfrm>
              <a:off x="2564449" y="1881972"/>
              <a:ext cx="6867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63765F0-D975-4588-9583-7826CE0974A6}"/>
                </a:ext>
              </a:extLst>
            </p:cNvPr>
            <p:cNvSpPr txBox="1"/>
            <p:nvPr/>
          </p:nvSpPr>
          <p:spPr>
            <a:xfrm>
              <a:off x="1856656" y="1881972"/>
              <a:ext cx="89293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B9567AB-DD31-42F1-902D-76BEBD85D850}"/>
                </a:ext>
              </a:extLst>
            </p:cNvPr>
            <p:cNvSpPr txBox="1"/>
            <p:nvPr/>
          </p:nvSpPr>
          <p:spPr>
            <a:xfrm>
              <a:off x="3080792" y="1881972"/>
              <a:ext cx="6995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1" name="말풍선: 모서리가 둥근 사각형 50">
            <a:extLst>
              <a:ext uri="{FF2B5EF4-FFF2-40B4-BE49-F238E27FC236}">
                <a16:creationId xmlns:a16="http://schemas.microsoft.com/office/drawing/2014/main" id="{39BCF7D5-402B-47EE-AE35-5CBF9ACB3DE6}"/>
              </a:ext>
            </a:extLst>
          </p:cNvPr>
          <p:cNvSpPr/>
          <p:nvPr/>
        </p:nvSpPr>
        <p:spPr>
          <a:xfrm>
            <a:off x="643016" y="5058888"/>
            <a:ext cx="164568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ID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추가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전압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전류 등의 값은 제거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BAFFCFA-A2C3-492D-A787-03E3E962AFE4}"/>
              </a:ext>
            </a:extLst>
          </p:cNvPr>
          <p:cNvGrpSpPr/>
          <p:nvPr/>
        </p:nvGrpSpPr>
        <p:grpSpPr>
          <a:xfrm>
            <a:off x="1504069" y="1540215"/>
            <a:ext cx="1550785" cy="249549"/>
            <a:chOff x="2397055" y="5156251"/>
            <a:chExt cx="1550785" cy="249549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D5483CB7-CC12-4102-BF3E-4F25E75135EB}"/>
                </a:ext>
              </a:extLst>
            </p:cNvPr>
            <p:cNvSpPr/>
            <p:nvPr/>
          </p:nvSpPr>
          <p:spPr>
            <a:xfrm>
              <a:off x="2397055" y="5156251"/>
              <a:ext cx="1262753" cy="2495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제일화성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55274408-F201-45C2-A7FB-653C4DB0852C}"/>
                </a:ext>
              </a:extLst>
            </p:cNvPr>
            <p:cNvSpPr/>
            <p:nvPr/>
          </p:nvSpPr>
          <p:spPr>
            <a:xfrm>
              <a:off x="3659808" y="5156251"/>
              <a:ext cx="288032" cy="24954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5466793" y="14821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50849" y="171985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42464" y="17362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269086" y="137976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47E1698-449E-4AE1-A781-1980A6A27A42}"/>
              </a:ext>
            </a:extLst>
          </p:cNvPr>
          <p:cNvCxnSpPr/>
          <p:nvPr/>
        </p:nvCxnSpPr>
        <p:spPr>
          <a:xfrm>
            <a:off x="5313040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D371AC65-B9F8-48D0-B3A1-8EEF0156D66C}"/>
              </a:ext>
            </a:extLst>
          </p:cNvPr>
          <p:cNvCxnSpPr>
            <a:cxnSpLocks/>
          </p:cNvCxnSpPr>
          <p:nvPr/>
        </p:nvCxnSpPr>
        <p:spPr>
          <a:xfrm>
            <a:off x="5312564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8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4DC270B1-F3B3-4A15-A20A-03BFC989B2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4849" y="1978792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1BC5DD0-5142-4543-8780-CA40878A00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0487" y="1978943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4CABEF87-2AE6-421B-9455-B79D8E3919D5}"/>
              </a:ext>
            </a:extLst>
          </p:cNvPr>
          <p:cNvSpPr txBox="1"/>
          <p:nvPr/>
        </p:nvSpPr>
        <p:spPr>
          <a:xfrm>
            <a:off x="5877298" y="2009581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(0)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70A39D6-76BF-49E1-B72D-7B854226AF2A}"/>
              </a:ext>
            </a:extLst>
          </p:cNvPr>
          <p:cNvSpPr txBox="1"/>
          <p:nvPr/>
        </p:nvSpPr>
        <p:spPr>
          <a:xfrm>
            <a:off x="7205953" y="2006843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F509F9E-F514-4692-BE9F-14936611C9DA}"/>
              </a:ext>
            </a:extLst>
          </p:cNvPr>
          <p:cNvSpPr txBox="1"/>
          <p:nvPr/>
        </p:nvSpPr>
        <p:spPr>
          <a:xfrm>
            <a:off x="7082630" y="230986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BMS_1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A0BCC7DB-4489-4F12-B3E3-5B2520A54454}"/>
              </a:ext>
            </a:extLst>
          </p:cNvPr>
          <p:cNvCxnSpPr/>
          <p:nvPr/>
        </p:nvCxnSpPr>
        <p:spPr>
          <a:xfrm>
            <a:off x="5312564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65363BFB-1625-4F20-8FE0-24B7088DB2D9}"/>
              </a:ext>
            </a:extLst>
          </p:cNvPr>
          <p:cNvCxnSpPr/>
          <p:nvPr/>
        </p:nvCxnSpPr>
        <p:spPr>
          <a:xfrm>
            <a:off x="6678466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7B03489E-56E0-47CE-9F36-3778B7711E42}"/>
              </a:ext>
            </a:extLst>
          </p:cNvPr>
          <p:cNvCxnSpPr>
            <a:cxnSpLocks/>
          </p:cNvCxnSpPr>
          <p:nvPr/>
        </p:nvCxnSpPr>
        <p:spPr>
          <a:xfrm>
            <a:off x="6678466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0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584CA59F-1288-4545-905A-A5FCDBAC56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3759" y="3592111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6AF1F1F-A741-4CB6-A12A-FADEF646D2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9397" y="3592262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" name="TextBox 71">
            <a:extLst>
              <a:ext uri="{FF2B5EF4-FFF2-40B4-BE49-F238E27FC236}">
                <a16:creationId xmlns:a16="http://schemas.microsoft.com/office/drawing/2014/main" id="{65CC9FBA-8100-46A8-9E13-7F966EF6AA55}"/>
              </a:ext>
            </a:extLst>
          </p:cNvPr>
          <p:cNvSpPr txBox="1"/>
          <p:nvPr/>
        </p:nvSpPr>
        <p:spPr>
          <a:xfrm>
            <a:off x="5876208" y="3622900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A0D9DE2-2676-4412-AD46-54B701511313}"/>
              </a:ext>
            </a:extLst>
          </p:cNvPr>
          <p:cNvSpPr txBox="1"/>
          <p:nvPr/>
        </p:nvSpPr>
        <p:spPr>
          <a:xfrm>
            <a:off x="7204863" y="3620162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AD332C-B934-4375-9605-9E579AD07068}"/>
              </a:ext>
            </a:extLst>
          </p:cNvPr>
          <p:cNvSpPr txBox="1"/>
          <p:nvPr/>
        </p:nvSpPr>
        <p:spPr>
          <a:xfrm>
            <a:off x="7076013" y="3878653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E478706-0656-40A6-A347-7E3ABA5F56DE}"/>
              </a:ext>
            </a:extLst>
          </p:cNvPr>
          <p:cNvSpPr txBox="1"/>
          <p:nvPr/>
        </p:nvSpPr>
        <p:spPr>
          <a:xfrm>
            <a:off x="5820710" y="388025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말풍선: 모서리가 둥근 사각형 75">
            <a:extLst>
              <a:ext uri="{FF2B5EF4-FFF2-40B4-BE49-F238E27FC236}">
                <a16:creationId xmlns:a16="http://schemas.microsoft.com/office/drawing/2014/main" id="{144634E7-CFE1-4585-A6D7-4C26EC2828A1}"/>
              </a:ext>
            </a:extLst>
          </p:cNvPr>
          <p:cNvSpPr/>
          <p:nvPr/>
        </p:nvSpPr>
        <p:spPr>
          <a:xfrm>
            <a:off x="3929721" y="4942120"/>
            <a:ext cx="1907063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장치가 많아질 경우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&lt; &gt;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아이콘을 좌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우에 생성하여 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이동가능하도록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처리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7" name="타원형 설명선 243">
            <a:extLst>
              <a:ext uri="{FF2B5EF4-FFF2-40B4-BE49-F238E27FC236}">
                <a16:creationId xmlns:a16="http://schemas.microsoft.com/office/drawing/2014/main" id="{07D81748-D366-49DB-8673-099CC7324394}"/>
              </a:ext>
            </a:extLst>
          </p:cNvPr>
          <p:cNvSpPr/>
          <p:nvPr/>
        </p:nvSpPr>
        <p:spPr>
          <a:xfrm>
            <a:off x="6846408" y="49494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7582341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4452104"/>
              </p:ext>
            </p:extLst>
          </p:nvPr>
        </p:nvGraphicFramePr>
        <p:xfrm>
          <a:off x="8469313" y="276225"/>
          <a:ext cx="1404000" cy="62075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內 장치 그룹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1-2)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항목과 동일하게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장치그룹 편집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 그룹의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수정이 가능한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內 장치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內 장치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추가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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버튼을 사용하여 각 리스트 內에 포함된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삭제 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.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76972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0203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28605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196752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 그룹 현황 편집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556792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적용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F865AF4-D812-4E47-8A2C-BB70C9A7446E}"/>
              </a:ext>
            </a:extLst>
          </p:cNvPr>
          <p:cNvSpPr/>
          <p:nvPr/>
        </p:nvSpPr>
        <p:spPr>
          <a:xfrm>
            <a:off x="344488" y="170080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44E89D5-57EC-4427-A76C-DEC387D92F51}"/>
              </a:ext>
            </a:extLst>
          </p:cNvPr>
          <p:cNvSpPr/>
          <p:nvPr/>
        </p:nvSpPr>
        <p:spPr>
          <a:xfrm>
            <a:off x="1328683" y="170080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E2D75D4-0BB3-4E93-856D-B663937405D5}"/>
              </a:ext>
            </a:extLst>
          </p:cNvPr>
          <p:cNvSpPr/>
          <p:nvPr/>
        </p:nvSpPr>
        <p:spPr>
          <a:xfrm>
            <a:off x="1078388" y="2407121"/>
            <a:ext cx="1440160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그룹에 포함된 장치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7F805C03-852D-4E38-823B-7B260687800F}"/>
              </a:ext>
            </a:extLst>
          </p:cNvPr>
          <p:cNvGrpSpPr/>
          <p:nvPr/>
        </p:nvGrpSpPr>
        <p:grpSpPr>
          <a:xfrm>
            <a:off x="1088559" y="2731094"/>
            <a:ext cx="3290806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0B3E5012-7687-467A-9A40-176235875AE4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_BMS_03</a:t>
              </a: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8ABDD246-FAC3-4FD7-AED1-015D2C7A4F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1717978E-CB68-4667-B2C8-4A96593EA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56D50F60-0FF8-44E4-A909-A86EB5A7EE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6" name="Picture 4" descr="ê´ë ¨ ì´ë¯¸ì§">
              <a:extLst>
                <a:ext uri="{FF2B5EF4-FFF2-40B4-BE49-F238E27FC236}">
                  <a16:creationId xmlns:a16="http://schemas.microsoft.com/office/drawing/2014/main" id="{6F44EBD6-67AB-4639-88A7-F21429C49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6EEDE16-7A2F-439E-A0EB-09D7BA5068B2}"/>
              </a:ext>
            </a:extLst>
          </p:cNvPr>
          <p:cNvGrpSpPr/>
          <p:nvPr/>
        </p:nvGrpSpPr>
        <p:grpSpPr>
          <a:xfrm>
            <a:off x="4800064" y="2715577"/>
            <a:ext cx="3213122" cy="1626713"/>
            <a:chOff x="5364088" y="3211572"/>
            <a:chExt cx="3183311" cy="1807807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52821123-AFBB-4823-AEB1-DA07B26BB164}"/>
                </a:ext>
              </a:extLst>
            </p:cNvPr>
            <p:cNvSpPr/>
            <p:nvPr/>
          </p:nvSpPr>
          <p:spPr>
            <a:xfrm>
              <a:off x="5364088" y="3211573"/>
              <a:ext cx="27665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_BMS_02</a:t>
              </a:r>
              <a:endPara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81BACF2B-3F89-430B-9BC1-726CA834F6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590919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CE1917E2-7952-415E-B1F7-43B1DC41AA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95005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F693D65-E3B0-497B-91F7-D1286E253A6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285724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2" name="Picture 4" descr="ê´ë ¨ ì´ë¯¸ì§">
              <a:extLst>
                <a:ext uri="{FF2B5EF4-FFF2-40B4-BE49-F238E27FC236}">
                  <a16:creationId xmlns:a16="http://schemas.microsoft.com/office/drawing/2014/main" id="{6E0D5C54-9FEC-44ED-8A61-00725E4E78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13193" y="3211572"/>
              <a:ext cx="1034206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6CD9608D-1C2B-4A79-9E37-6F8B167FEC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62823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24B7912-C57E-4BAC-ADE4-FC75497AA8C6}"/>
              </a:ext>
            </a:extLst>
          </p:cNvPr>
          <p:cNvGrpSpPr/>
          <p:nvPr/>
        </p:nvGrpSpPr>
        <p:grpSpPr>
          <a:xfrm>
            <a:off x="4184292" y="3145423"/>
            <a:ext cx="393759" cy="745922"/>
            <a:chOff x="4437543" y="3456671"/>
            <a:chExt cx="423448" cy="828962"/>
          </a:xfrm>
        </p:grpSpPr>
        <p:pic>
          <p:nvPicPr>
            <p:cNvPr id="67" name="Picture 6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42F4033E-32DD-4EA0-B8B6-9FDBCAFE5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4437544" y="3456671"/>
              <a:ext cx="423447" cy="423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" name="Picture 8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D4A218E6-1CBE-4834-B8A3-5D1653EFC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543" y="3862185"/>
              <a:ext cx="423448" cy="4234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3C75D86-456C-40F9-8DD5-C0EA33A6DFA9}"/>
              </a:ext>
            </a:extLst>
          </p:cNvPr>
          <p:cNvSpPr/>
          <p:nvPr/>
        </p:nvSpPr>
        <p:spPr>
          <a:xfrm>
            <a:off x="4750796" y="2408081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내 장치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7F3C013-B344-4F51-9EF0-D4AB977EE137}"/>
              </a:ext>
            </a:extLst>
          </p:cNvPr>
          <p:cNvSpPr/>
          <p:nvPr/>
        </p:nvSpPr>
        <p:spPr>
          <a:xfrm>
            <a:off x="3548692" y="170080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4038127" y="158316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872559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576827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157598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2799240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8958" y="158565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말풍선: 모서리가 둥근 사각형 72">
            <a:extLst>
              <a:ext uri="{FF2B5EF4-FFF2-40B4-BE49-F238E27FC236}">
                <a16:creationId xmlns:a16="http://schemas.microsoft.com/office/drawing/2014/main" id="{F414FDFC-4E1D-4716-9AA1-B567A1EE790F}"/>
              </a:ext>
            </a:extLst>
          </p:cNvPr>
          <p:cNvSpPr/>
          <p:nvPr/>
        </p:nvSpPr>
        <p:spPr>
          <a:xfrm>
            <a:off x="1118058" y="4397680"/>
            <a:ext cx="2394782" cy="517793"/>
          </a:xfrm>
          <a:prstGeom prst="wedgeRoundRectCallout">
            <a:avLst>
              <a:gd name="adj1" fmla="val -32861"/>
              <a:gd name="adj2" fmla="val -75598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Description #2-2), #2-3)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항목에 대한 동작을 리스트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UI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상에 버튼 등으로 추가하는 방안 검토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649E07A-7A68-4A13-A8F7-FD79A0570A9A}"/>
              </a:ext>
            </a:extLst>
          </p:cNvPr>
          <p:cNvSpPr/>
          <p:nvPr/>
        </p:nvSpPr>
        <p:spPr>
          <a:xfrm>
            <a:off x="3790264" y="1695986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</a:t>
            </a:r>
            <a:r>
              <a:rPr lang="en-US" altLang="ko-KR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0338F2B5-647D-4895-93FF-A2F587EDA292}"/>
              </a:ext>
            </a:extLst>
          </p:cNvPr>
          <p:cNvSpPr/>
          <p:nvPr/>
        </p:nvSpPr>
        <p:spPr>
          <a:xfrm>
            <a:off x="5062491" y="1695986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</a:t>
            </a: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장치그룹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_01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5818874-825F-4255-8751-74823B8D071F}"/>
              </a:ext>
            </a:extLst>
          </p:cNvPr>
          <p:cNvSpPr/>
          <p:nvPr/>
        </p:nvSpPr>
        <p:spPr>
          <a:xfrm>
            <a:off x="7282500" y="1695986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77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D1AD4A20-5A02-4BA3-9251-D704499486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7296" y="1671491"/>
            <a:ext cx="348469" cy="3484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" name="타원형 설명선 244"/>
          <p:cNvSpPr/>
          <p:nvPr/>
        </p:nvSpPr>
        <p:spPr>
          <a:xfrm>
            <a:off x="7418797" y="15219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65">
            <a:extLst>
              <a:ext uri="{FF2B5EF4-FFF2-40B4-BE49-F238E27FC236}">
                <a16:creationId xmlns:a16="http://schemas.microsoft.com/office/drawing/2014/main" id="{93539A79-AC69-44AD-80F8-C257969835DB}"/>
              </a:ext>
            </a:extLst>
          </p:cNvPr>
          <p:cNvSpPr/>
          <p:nvPr/>
        </p:nvSpPr>
        <p:spPr>
          <a:xfrm>
            <a:off x="4025683" y="304385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629307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495946"/>
              </p:ext>
            </p:extLst>
          </p:nvPr>
        </p:nvGraphicFramePr>
        <p:xfrm>
          <a:off x="8469313" y="276225"/>
          <a:ext cx="1404000" cy="5527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內 장치 그룹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각 항목은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editable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상태이며 마우스 클릭 후 활성화되면 장치 그룹명을 편집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 그룹 삭제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1)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버튼 클릭하여 해당 장치 그룹 삭제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장치 그룹명을 선택하고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delete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키를 누르면 동일 동작 진행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추가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영역에 장치 그룹 명을 입력하고 우측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+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장치 그룹 추가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3" y="737091"/>
            <a:ext cx="4363353" cy="305195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98250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편집 팝업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AD99E74-E4F8-4B82-A2CD-9386EF543A8B}"/>
              </a:ext>
            </a:extLst>
          </p:cNvPr>
          <p:cNvGrpSpPr/>
          <p:nvPr/>
        </p:nvGrpSpPr>
        <p:grpSpPr>
          <a:xfrm>
            <a:off x="992560" y="1427641"/>
            <a:ext cx="3600400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74D6881-ECEE-4E2C-A4B3-C75BCC16014E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BBE382CB-7FB4-4349-B757-F0B375675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BF3D7605-B4DA-4590-ABFB-8CDFEA0DC6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1291EB12-1BED-4251-8B98-71D9DC6122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7" name="Picture 4" descr="ê´ë ¨ ì´ë¯¸ì§">
              <a:extLst>
                <a:ext uri="{FF2B5EF4-FFF2-40B4-BE49-F238E27FC236}">
                  <a16:creationId xmlns:a16="http://schemas.microsoft.com/office/drawing/2014/main" id="{9EE981B0-52E6-4178-8F73-2925A06E2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E60D982C-7F26-44D9-89C7-D01BD08B20FD}"/>
              </a:ext>
            </a:extLst>
          </p:cNvPr>
          <p:cNvGrpSpPr/>
          <p:nvPr/>
        </p:nvGrpSpPr>
        <p:grpSpPr>
          <a:xfrm>
            <a:off x="1222812" y="3284984"/>
            <a:ext cx="2494046" cy="323428"/>
            <a:chOff x="3791228" y="5284908"/>
            <a:chExt cx="2630919" cy="360040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78F6B5F-2DE0-46C0-804A-7FD446E3A050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AACB16A-A432-4E62-8840-DBA85B487862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4FEF60E-79CA-4C96-93CE-80B774127007}"/>
              </a:ext>
            </a:extLst>
          </p:cNvPr>
          <p:cNvSpPr/>
          <p:nvPr/>
        </p:nvSpPr>
        <p:spPr>
          <a:xfrm>
            <a:off x="606245" y="92037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1C41558-AAC1-4B9A-BC4B-167FE8B81F45}"/>
              </a:ext>
            </a:extLst>
          </p:cNvPr>
          <p:cNvSpPr/>
          <p:nvPr/>
        </p:nvSpPr>
        <p:spPr>
          <a:xfrm>
            <a:off x="1590440" y="92037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FAF4FEF-9533-470D-88B3-3E88E1FF897E}"/>
              </a:ext>
            </a:extLst>
          </p:cNvPr>
          <p:cNvSpPr/>
          <p:nvPr/>
        </p:nvSpPr>
        <p:spPr>
          <a:xfrm>
            <a:off x="3810449" y="92037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098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99016921-344E-42F9-85A9-B6B3682D2E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30" y="1554316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13C9F879-CF66-4FED-A9DC-3D61751ED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1852601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0A0CC7A3-059E-4F56-94DD-8B29BF10D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2143798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ê´ë ¨ ì´ë¯¸ì§">
            <a:extLst>
              <a:ext uri="{FF2B5EF4-FFF2-40B4-BE49-F238E27FC236}">
                <a16:creationId xmlns:a16="http://schemas.microsoft.com/office/drawing/2014/main" id="{0C7CDA59-2BCF-410E-B829-A37678CDC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9856" y="2452816"/>
            <a:ext cx="234000" cy="23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AF80840A-E91B-4EC5-A6DB-214EF0E3555A}"/>
              </a:ext>
            </a:extLst>
          </p:cNvPr>
          <p:cNvSpPr/>
          <p:nvPr/>
        </p:nvSpPr>
        <p:spPr>
          <a:xfrm>
            <a:off x="1061392" y="2445154"/>
            <a:ext cx="2451447" cy="28194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형 설명선 226">
            <a:extLst>
              <a:ext uri="{FF2B5EF4-FFF2-40B4-BE49-F238E27FC236}">
                <a16:creationId xmlns:a16="http://schemas.microsoft.com/office/drawing/2014/main" id="{EFD1149C-96CE-4EA1-9D7D-C50D63557569}"/>
              </a:ext>
            </a:extLst>
          </p:cNvPr>
          <p:cNvSpPr/>
          <p:nvPr/>
        </p:nvSpPr>
        <p:spPr>
          <a:xfrm>
            <a:off x="666903" y="12390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타원형 설명선 243">
            <a:extLst>
              <a:ext uri="{FF2B5EF4-FFF2-40B4-BE49-F238E27FC236}">
                <a16:creationId xmlns:a16="http://schemas.microsoft.com/office/drawing/2014/main" id="{D29AD12E-8E7B-4125-BDDB-6B3CDC6DCAE3}"/>
              </a:ext>
            </a:extLst>
          </p:cNvPr>
          <p:cNvSpPr/>
          <p:nvPr/>
        </p:nvSpPr>
        <p:spPr>
          <a:xfrm>
            <a:off x="758375" y="2306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타원형 설명선 244">
            <a:extLst>
              <a:ext uri="{FF2B5EF4-FFF2-40B4-BE49-F238E27FC236}">
                <a16:creationId xmlns:a16="http://schemas.microsoft.com/office/drawing/2014/main" id="{D3163BF3-701F-4E5F-8B26-8DFB1E0E8D3C}"/>
              </a:ext>
            </a:extLst>
          </p:cNvPr>
          <p:cNvSpPr/>
          <p:nvPr/>
        </p:nvSpPr>
        <p:spPr>
          <a:xfrm>
            <a:off x="3244759" y="13669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타원형 설명선 245">
            <a:extLst>
              <a:ext uri="{FF2B5EF4-FFF2-40B4-BE49-F238E27FC236}">
                <a16:creationId xmlns:a16="http://schemas.microsoft.com/office/drawing/2014/main" id="{16AF123E-CE29-42D9-ABE4-FDFECB49598D}"/>
              </a:ext>
            </a:extLst>
          </p:cNvPr>
          <p:cNvSpPr/>
          <p:nvPr/>
        </p:nvSpPr>
        <p:spPr>
          <a:xfrm>
            <a:off x="1032461" y="305112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타원형 설명선 265">
            <a:extLst>
              <a:ext uri="{FF2B5EF4-FFF2-40B4-BE49-F238E27FC236}">
                <a16:creationId xmlns:a16="http://schemas.microsoft.com/office/drawing/2014/main" id="{1BCA392B-C604-4257-AC47-327CAD17BFF6}"/>
              </a:ext>
            </a:extLst>
          </p:cNvPr>
          <p:cNvSpPr/>
          <p:nvPr/>
        </p:nvSpPr>
        <p:spPr>
          <a:xfrm>
            <a:off x="2339299" y="30607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9AD54132-DB96-47B0-83A3-FD8E738F7AF6}"/>
              </a:ext>
            </a:extLst>
          </p:cNvPr>
          <p:cNvSpPr/>
          <p:nvPr/>
        </p:nvSpPr>
        <p:spPr>
          <a:xfrm>
            <a:off x="648149" y="81237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말풍선: 모서리가 둥근 사각형 97">
            <a:extLst>
              <a:ext uri="{FF2B5EF4-FFF2-40B4-BE49-F238E27FC236}">
                <a16:creationId xmlns:a16="http://schemas.microsoft.com/office/drawing/2014/main" id="{82BB19FC-0EB4-48CE-959B-A0F859D7CF3C}"/>
              </a:ext>
            </a:extLst>
          </p:cNvPr>
          <p:cNvSpPr/>
          <p:nvPr/>
        </p:nvSpPr>
        <p:spPr>
          <a:xfrm>
            <a:off x="3742550" y="3849583"/>
            <a:ext cx="200253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임의의 구성이므로 디자인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퍼블리싱 검토 시에 범용적인 형태의 편집 창으로 구성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98459986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0988260"/>
              </p:ext>
            </p:extLst>
          </p:nvPr>
        </p:nvGraphicFramePr>
        <p:xfrm>
          <a:off x="8469313" y="276225"/>
          <a:ext cx="1404000" cy="54307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기본 제공 기간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개월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기간 직접 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 선택 후에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버튼을 클릭하면 조회 및 갱신 진행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구분 없이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알람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비상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조치여부는 편집이 가능하도록 구성된다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사용자 편집 가능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알람 현황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주의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89653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FF961FF0-B06A-4DE7-80CF-7120ED9C40E4}"/>
              </a:ext>
            </a:extLst>
          </p:cNvPr>
          <p:cNvSpPr/>
          <p:nvPr/>
        </p:nvSpPr>
        <p:spPr>
          <a:xfrm>
            <a:off x="194427" y="2795104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알람 현황 </a:t>
            </a: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(2)</a:t>
            </a:r>
            <a:endParaRPr lang="ko-KR" altLang="en-US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2B2C55A-CB3A-48E6-842E-AEC22848B775}"/>
              </a:ext>
            </a:extLst>
          </p:cNvPr>
          <p:cNvSpPr/>
          <p:nvPr/>
        </p:nvSpPr>
        <p:spPr>
          <a:xfrm>
            <a:off x="194427" y="4149080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알람 현황 </a:t>
            </a:r>
            <a:r>
              <a:rPr lang="en-US" altLang="ko-KR" sz="11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(3)</a:t>
            </a:r>
            <a:endParaRPr lang="ko-KR" altLang="en-US" sz="800" b="1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02B3EEE5-B1A0-407B-8669-F0A58C57B5F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4D1C5AF-EF0F-41CE-A5B4-C9F158E00F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47B2C708-B8C6-4801-9537-07C91D6B38B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CDF83034-1DA8-4D53-8D2B-6BB884DC515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1FC06577-1B1F-41A1-A98E-D9BA4F69C11C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EEB248A-4E2F-4604-809B-8DABFC1348C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F8F42C2-0E6E-4FC3-8743-955F5B355F21}"/>
              </a:ext>
            </a:extLst>
          </p:cNvPr>
          <p:cNvSpPr/>
          <p:nvPr/>
        </p:nvSpPr>
        <p:spPr>
          <a:xfrm>
            <a:off x="43327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E8921834-2370-409E-9FB6-957FE75767D1}"/>
              </a:ext>
            </a:extLst>
          </p:cNvPr>
          <p:cNvSpPr/>
          <p:nvPr/>
        </p:nvSpPr>
        <p:spPr>
          <a:xfrm>
            <a:off x="55955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8C0475F-767D-4968-B239-64E8DF30C9DD}"/>
              </a:ext>
            </a:extLst>
          </p:cNvPr>
          <p:cNvSpPr/>
          <p:nvPr/>
        </p:nvSpPr>
        <p:spPr>
          <a:xfrm>
            <a:off x="5883538" y="1564409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C21EEE7-E7FF-4C7B-8D0F-E42EDF56C030}"/>
              </a:ext>
            </a:extLst>
          </p:cNvPr>
          <p:cNvSpPr/>
          <p:nvPr/>
        </p:nvSpPr>
        <p:spPr>
          <a:xfrm>
            <a:off x="61329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1E5A3EDC-C4EE-473B-A522-2C43DA6F2EBE}"/>
              </a:ext>
            </a:extLst>
          </p:cNvPr>
          <p:cNvSpPr/>
          <p:nvPr/>
        </p:nvSpPr>
        <p:spPr>
          <a:xfrm>
            <a:off x="73957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EC2CE1F-95FF-44B6-B6E3-594018B8589D}"/>
              </a:ext>
            </a:extLst>
          </p:cNvPr>
          <p:cNvSpPr/>
          <p:nvPr/>
        </p:nvSpPr>
        <p:spPr>
          <a:xfrm>
            <a:off x="7714065" y="1564409"/>
            <a:ext cx="471046" cy="288033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E1D9C8AC-4A60-4C5C-99D4-2AF4F6BDEB1B}"/>
              </a:ext>
            </a:extLst>
          </p:cNvPr>
          <p:cNvSpPr/>
          <p:nvPr/>
        </p:nvSpPr>
        <p:spPr>
          <a:xfrm>
            <a:off x="1275335" y="1556792"/>
            <a:ext cx="1013369" cy="295649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F20A0837-49C6-4153-8285-1657AE73D414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알람 현황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B2133A3F-6B23-4ADF-822C-9DEA05C15891}"/>
              </a:ext>
            </a:extLst>
          </p:cNvPr>
          <p:cNvGrpSpPr/>
          <p:nvPr/>
        </p:nvGrpSpPr>
        <p:grpSpPr>
          <a:xfrm>
            <a:off x="321143" y="2009038"/>
            <a:ext cx="1476335" cy="835401"/>
            <a:chOff x="321143" y="1985652"/>
            <a:chExt cx="1476335" cy="835401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0068107-0BA8-4B00-A4BE-F7BE86D5D551}"/>
                </a:ext>
              </a:extLst>
            </p:cNvPr>
            <p:cNvSpPr/>
            <p:nvPr/>
          </p:nvSpPr>
          <p:spPr>
            <a:xfrm>
              <a:off x="321143" y="1985652"/>
              <a:ext cx="1476335" cy="835401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43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6D4155BC-04C5-4EDA-A9BC-9503EBBE3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024" y="2334704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A589BEED-C5E1-483C-A0B1-BA4604A7E73D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2014103"/>
              <a:ext cx="0" cy="7739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8BB889C-214C-48B1-A82D-487475D5D249}"/>
                </a:ext>
              </a:extLst>
            </p:cNvPr>
            <p:cNvSpPr txBox="1"/>
            <p:nvPr/>
          </p:nvSpPr>
          <p:spPr>
            <a:xfrm>
              <a:off x="349493" y="2014195"/>
              <a:ext cx="6697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IOE(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AE73F82-6355-4825-B1D8-8392DDF23AEC}"/>
                </a:ext>
              </a:extLst>
            </p:cNvPr>
            <p:cNvSpPr txBox="1"/>
            <p:nvPr/>
          </p:nvSpPr>
          <p:spPr>
            <a:xfrm>
              <a:off x="1246953" y="2147310"/>
              <a:ext cx="28803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  <a:endPara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BD4ECB9D-07BE-4F3A-ADBA-2E8F0B10BA5B}"/>
              </a:ext>
            </a:extLst>
          </p:cNvPr>
          <p:cNvSpPr/>
          <p:nvPr/>
        </p:nvSpPr>
        <p:spPr>
          <a:xfrm>
            <a:off x="1911269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88F3ADFA-5478-4FEC-A0D1-9CA66A194448}"/>
              </a:ext>
            </a:extLst>
          </p:cNvPr>
          <p:cNvCxnSpPr>
            <a:cxnSpLocks/>
          </p:cNvCxnSpPr>
          <p:nvPr/>
        </p:nvCxnSpPr>
        <p:spPr>
          <a:xfrm>
            <a:off x="2582686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7BBC897B-0CAB-4410-915C-C3721383F30F}"/>
              </a:ext>
            </a:extLst>
          </p:cNvPr>
          <p:cNvSpPr txBox="1"/>
          <p:nvPr/>
        </p:nvSpPr>
        <p:spPr>
          <a:xfrm>
            <a:off x="1939619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BE8946D3-3B14-4B48-A646-378BBCAA8167}"/>
              </a:ext>
            </a:extLst>
          </p:cNvPr>
          <p:cNvSpPr txBox="1"/>
          <p:nvPr/>
        </p:nvSpPr>
        <p:spPr>
          <a:xfrm>
            <a:off x="2837079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C7198ED-609D-4EE8-89C9-A8BC35AF844D}"/>
              </a:ext>
            </a:extLst>
          </p:cNvPr>
          <p:cNvSpPr/>
          <p:nvPr/>
        </p:nvSpPr>
        <p:spPr>
          <a:xfrm>
            <a:off x="3501395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0463B798-7A54-4B44-B941-61B3C71C1022}"/>
              </a:ext>
            </a:extLst>
          </p:cNvPr>
          <p:cNvCxnSpPr>
            <a:cxnSpLocks/>
          </p:cNvCxnSpPr>
          <p:nvPr/>
        </p:nvCxnSpPr>
        <p:spPr>
          <a:xfrm>
            <a:off x="4172812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479B1AD8-66CE-4F41-BDBD-5F7B45A0E294}"/>
              </a:ext>
            </a:extLst>
          </p:cNvPr>
          <p:cNvSpPr txBox="1"/>
          <p:nvPr/>
        </p:nvSpPr>
        <p:spPr>
          <a:xfrm>
            <a:off x="3529745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1A4A63A-64C2-42A1-AD32-64181501079B}"/>
              </a:ext>
            </a:extLst>
          </p:cNvPr>
          <p:cNvSpPr txBox="1"/>
          <p:nvPr/>
        </p:nvSpPr>
        <p:spPr>
          <a:xfrm>
            <a:off x="4427205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8403265-3DD2-4BCA-A7F0-45FE57C1B8F7}"/>
              </a:ext>
            </a:extLst>
          </p:cNvPr>
          <p:cNvSpPr/>
          <p:nvPr/>
        </p:nvSpPr>
        <p:spPr>
          <a:xfrm>
            <a:off x="5091521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5292FA36-9E84-4854-95CF-2E47DCBD183A}"/>
              </a:ext>
            </a:extLst>
          </p:cNvPr>
          <p:cNvCxnSpPr>
            <a:cxnSpLocks/>
          </p:cNvCxnSpPr>
          <p:nvPr/>
        </p:nvCxnSpPr>
        <p:spPr>
          <a:xfrm>
            <a:off x="5762938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4D706353-9122-4681-B7C8-EAE4D4DCDB74}"/>
              </a:ext>
            </a:extLst>
          </p:cNvPr>
          <p:cNvSpPr txBox="1"/>
          <p:nvPr/>
        </p:nvSpPr>
        <p:spPr>
          <a:xfrm>
            <a:off x="5119871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D3DBEB0-1C8E-4947-B574-CE965E7C2C50}"/>
              </a:ext>
            </a:extLst>
          </p:cNvPr>
          <p:cNvSpPr txBox="1"/>
          <p:nvPr/>
        </p:nvSpPr>
        <p:spPr>
          <a:xfrm>
            <a:off x="6017331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648B381A-0C63-4E52-A4F0-0D2CD0459AEA}"/>
              </a:ext>
            </a:extLst>
          </p:cNvPr>
          <p:cNvSpPr/>
          <p:nvPr/>
        </p:nvSpPr>
        <p:spPr>
          <a:xfrm>
            <a:off x="6681647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7B030C4-7907-4F6D-BF1A-604AC330E8DB}"/>
              </a:ext>
            </a:extLst>
          </p:cNvPr>
          <p:cNvCxnSpPr>
            <a:cxnSpLocks/>
          </p:cNvCxnSpPr>
          <p:nvPr/>
        </p:nvCxnSpPr>
        <p:spPr>
          <a:xfrm>
            <a:off x="7353064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017D45BF-9AB5-490C-8D0A-E4B12FE0ADD6}"/>
              </a:ext>
            </a:extLst>
          </p:cNvPr>
          <p:cNvSpPr txBox="1"/>
          <p:nvPr/>
        </p:nvSpPr>
        <p:spPr>
          <a:xfrm>
            <a:off x="6709997" y="2304507"/>
            <a:ext cx="669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1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AEFC19-0FED-4B3B-9966-635EC79D9482}"/>
              </a:ext>
            </a:extLst>
          </p:cNvPr>
          <p:cNvSpPr txBox="1"/>
          <p:nvPr/>
        </p:nvSpPr>
        <p:spPr>
          <a:xfrm>
            <a:off x="7607457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2" name="Picture 2" descr="ê´ë ¨ ì´ë¯¸ì§">
            <a:extLst>
              <a:ext uri="{FF2B5EF4-FFF2-40B4-BE49-F238E27FC236}">
                <a16:creationId xmlns:a16="http://schemas.microsoft.com/office/drawing/2014/main" id="{BE263A1A-FE65-4E5C-A129-D7A155CB12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5922" y="2324494"/>
            <a:ext cx="470556" cy="470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4" name="Picture 2">
            <a:extLst>
              <a:ext uri="{FF2B5EF4-FFF2-40B4-BE49-F238E27FC236}">
                <a16:creationId xmlns:a16="http://schemas.microsoft.com/office/drawing/2014/main" id="{FA878888-83E4-4101-80F3-2FAA503BF209}"/>
              </a:ext>
            </a:extLst>
          </p:cNvPr>
          <p:cNvPicPr/>
          <p:nvPr/>
        </p:nvPicPr>
        <p:blipFill>
          <a:blip r:embed="rId8" cstate="print"/>
          <a:srcRect/>
          <a:stretch>
            <a:fillRect/>
          </a:stretch>
        </p:blipFill>
        <p:spPr bwMode="auto">
          <a:xfrm flipH="1">
            <a:off x="3706988" y="2366537"/>
            <a:ext cx="299838" cy="377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24265E9-8B6F-4D5A-A4DC-75352347CD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3867" y="2312345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" name="그룹 13">
            <a:extLst>
              <a:ext uri="{FF2B5EF4-FFF2-40B4-BE49-F238E27FC236}">
                <a16:creationId xmlns:a16="http://schemas.microsoft.com/office/drawing/2014/main" id="{8E41B280-A5CE-44F5-B6F1-CCFDFE80D0F8}"/>
              </a:ext>
            </a:extLst>
          </p:cNvPr>
          <p:cNvGrpSpPr/>
          <p:nvPr/>
        </p:nvGrpSpPr>
        <p:grpSpPr>
          <a:xfrm>
            <a:off x="277142" y="3149457"/>
            <a:ext cx="8265127" cy="979690"/>
            <a:chOff x="277142" y="3149457"/>
            <a:chExt cx="8265127" cy="979690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802D395-F52D-4555-A630-7B80B833AA3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FE84B20-D912-46CC-B65A-2CC0FD0FA29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542F2EFD-A9DC-426D-B0B0-0C6839A7AAEA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B0BC9D7-C2BA-430A-BBA8-906795FE11E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9D658DDE-50E0-41B1-BFBB-D722E118724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92A9527-6DED-4C1E-8BA3-1CC2E8FD9842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EC5D7B87-DF81-4C4C-BB28-29ADCE252F7E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C3321668-029B-4E3B-8BBF-0485B6487D87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BDF92AE1-4C00-4EE5-80D9-8496CB510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35A7499-D871-427A-BFE9-F5533B00EAA3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20E09F-5951-46F4-8127-EE007BF9A043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300DA903-A828-4247-99CF-B3AD6119CFED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50C6183-0BCF-42FF-B08F-DF60489D516A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A83A878-BF96-47AD-84E5-848417EAD324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DA30F64-4F97-468B-82DE-A78031E001B2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68E69F53-0751-45AC-AF70-D1FDEFB70256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71AF4BA8-D643-4191-8ECD-5CB263DB5678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FFD69206-8483-46D5-84EF-10A6D85E205D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3D7CD2C6-2CF1-44B3-A42C-4B7CD13877C7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72ACAFEA-85C5-4DFD-A6EA-6C3389F6F2ED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86B672C0-3DA3-44F7-BD43-21A19CCA3DDC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B94C967-61F5-40E0-AA9C-585FD8AD21D6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099CBD1-C2D5-45A9-81FB-B7E94662ECF3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7689F8A2-8B90-463C-A9F8-00DA91D162D0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305286EA-382B-494D-A1FC-21858E17760C}"/>
              </a:ext>
            </a:extLst>
          </p:cNvPr>
          <p:cNvGrpSpPr/>
          <p:nvPr/>
        </p:nvGrpSpPr>
        <p:grpSpPr>
          <a:xfrm>
            <a:off x="277142" y="4499215"/>
            <a:ext cx="8265127" cy="979690"/>
            <a:chOff x="277142" y="3149457"/>
            <a:chExt cx="8265127" cy="979690"/>
          </a:xfrm>
        </p:grpSpPr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F9146F2B-5E01-4793-8DF3-9097C5D636F7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DAD57D93-4F79-4C78-ADE6-FC31BE483310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6B9FB14F-E45D-48CE-8367-08FBBDD4E72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D8481565-8341-437E-9555-80A0BA42521F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19F43DD8-901E-4F75-BBBC-DAAA905CDC4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402D8A46-EAFC-4765-ABC9-D17D776D5D4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7950FEBB-E40A-4F59-AF6F-46F0F3F459CA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EB9A94E9-41CB-48FA-A698-167E235E632E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05" name="Picture 4" descr="ê´ë ¨ ì´ë¯¸ì§">
                <a:extLst>
                  <a:ext uri="{FF2B5EF4-FFF2-40B4-BE49-F238E27FC236}">
                    <a16:creationId xmlns:a16="http://schemas.microsoft.com/office/drawing/2014/main" id="{0067442B-D31C-42B5-9E0B-C127B8C53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2D3E4F-6104-4B4C-9CF6-CE25A6F9F924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AE621C6-9812-4A94-A079-EF33F1C52EB7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37D23E3E-FB8E-4300-920A-6286722D3912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14A3981E-F6C0-4C93-B8E8-9B5D6CF2C80F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B77388BA-2884-4EEA-AEED-7C6E6EE1B6EA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9B560918-F701-4C11-973B-04FE8BB7FBBB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29197E9E-5A0E-4731-800C-8A5F2BCF93AE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0723A134-84E1-4B86-8533-83DD13AD54A7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9E637D8C-54A3-4933-929E-5967CA0386C8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04855690-4B11-4E8D-BF66-BB5E0BC462A6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FBF856F-91AE-4027-8832-E50A27ADFA6A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40376452-B2F4-4902-89C5-3AEA152AEE07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402014CA-BF57-48AD-8D49-0BD65E16E5D8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E1FF4831-CA58-4E37-BCDE-17AC593F957B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B27D6B58-9605-487C-ADB4-973026F68266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83D8E88-589A-49DD-B606-4FCF87EDA728}"/>
              </a:ext>
            </a:extLst>
          </p:cNvPr>
          <p:cNvGrpSpPr/>
          <p:nvPr/>
        </p:nvGrpSpPr>
        <p:grpSpPr>
          <a:xfrm>
            <a:off x="318998" y="3351344"/>
            <a:ext cx="7511272" cy="205966"/>
            <a:chOff x="304948" y="4123517"/>
            <a:chExt cx="7511272" cy="205966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08314C5-5FE8-4194-978D-8F886D824AC2}"/>
                </a:ext>
              </a:extLst>
            </p:cNvPr>
            <p:cNvSpPr txBox="1"/>
            <p:nvPr/>
          </p:nvSpPr>
          <p:spPr>
            <a:xfrm>
              <a:off x="1007459" y="412560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F400D87-5D10-419C-8AE9-F15747882735}"/>
                </a:ext>
              </a:extLst>
            </p:cNvPr>
            <p:cNvSpPr txBox="1"/>
            <p:nvPr/>
          </p:nvSpPr>
          <p:spPr>
            <a:xfrm>
              <a:off x="1720878" y="4125599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12001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4444AE5-9678-4887-AEEB-A7EE89ED80FB}"/>
                </a:ext>
              </a:extLst>
            </p:cNvPr>
            <p:cNvSpPr txBox="1"/>
            <p:nvPr/>
          </p:nvSpPr>
          <p:spPr>
            <a:xfrm>
              <a:off x="3380575" y="4125600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FALUT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C95312-C453-474A-8C81-3DED91381D49}"/>
                </a:ext>
              </a:extLst>
            </p:cNvPr>
            <p:cNvSpPr txBox="1"/>
            <p:nvPr/>
          </p:nvSpPr>
          <p:spPr>
            <a:xfrm>
              <a:off x="4653590" y="4125600"/>
              <a:ext cx="907942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7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</a:lstStyle>
            <a:p>
              <a:r>
                <a:rPr lang="en-US" altLang="ko-KR" dirty="0"/>
                <a:t>Over cell Voltage</a:t>
              </a:r>
              <a:endParaRPr lang="ko-KR" alt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0A77E269-6C98-4BDE-B56B-E2FF7AD08553}"/>
                </a:ext>
              </a:extLst>
            </p:cNvPr>
            <p:cNvSpPr txBox="1"/>
            <p:nvPr/>
          </p:nvSpPr>
          <p:spPr>
            <a:xfrm>
              <a:off x="6111616" y="4125600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발생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BC861573-1769-4EAE-9FAD-A727C7BB4AF8}"/>
                </a:ext>
              </a:extLst>
            </p:cNvPr>
            <p:cNvSpPr txBox="1"/>
            <p:nvPr/>
          </p:nvSpPr>
          <p:spPr>
            <a:xfrm>
              <a:off x="7032472" y="4123517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미조치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557AF5ED-5AA8-48C8-8D2F-2F58710CE559}"/>
                </a:ext>
              </a:extLst>
            </p:cNvPr>
            <p:cNvSpPr txBox="1"/>
            <p:nvPr/>
          </p:nvSpPr>
          <p:spPr>
            <a:xfrm>
              <a:off x="2437541" y="4127684"/>
              <a:ext cx="886245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2018.07.15 16:01:02</a:t>
              </a:r>
              <a:endParaRPr lang="ko-KR" altLang="en-US" sz="6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E1C0AEE-571F-47F8-BBB9-8F82942ED42B}"/>
                </a:ext>
              </a:extLst>
            </p:cNvPr>
            <p:cNvSpPr txBox="1"/>
            <p:nvPr/>
          </p:nvSpPr>
          <p:spPr>
            <a:xfrm>
              <a:off x="304948" y="4129427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031037" y="146009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8434" y="272951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9682" y="184867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6071" y="409435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73619" y="148763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2265777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51865"/>
              </p:ext>
            </p:extLst>
          </p:nvPr>
        </p:nvGraphicFramePr>
        <p:xfrm>
          <a:off x="8469313" y="276225"/>
          <a:ext cx="1404000" cy="48211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누적의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기본요금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전기요금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전력산업기반기금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부가세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한전 전기요금 구성요소를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역률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전기요금합계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역률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전기요금합계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25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6807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요금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159516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80735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80735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187A3FC0-D27B-41FF-B010-C51E062DB6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473204"/>
              </p:ext>
            </p:extLst>
          </p:nvPr>
        </p:nvGraphicFramePr>
        <p:xfrm>
          <a:off x="307420" y="2156800"/>
          <a:ext cx="7885940" cy="17798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원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DB69066-32AC-45F9-B844-1F9F84804F23}"/>
              </a:ext>
            </a:extLst>
          </p:cNvPr>
          <p:cNvCxnSpPr/>
          <p:nvPr/>
        </p:nvCxnSpPr>
        <p:spPr>
          <a:xfrm>
            <a:off x="1280592" y="304325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7DE02802-A0A6-40AB-96D1-E98E609E7E38}"/>
              </a:ext>
            </a:extLst>
          </p:cNvPr>
          <p:cNvCxnSpPr/>
          <p:nvPr/>
        </p:nvCxnSpPr>
        <p:spPr>
          <a:xfrm>
            <a:off x="1280592" y="2539200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C76C4459-AB26-42D5-9919-06C4B3BE2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389564"/>
              </p:ext>
            </p:extLst>
          </p:nvPr>
        </p:nvGraphicFramePr>
        <p:xfrm>
          <a:off x="307420" y="3976256"/>
          <a:ext cx="7885940" cy="997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사용요금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전기요금합계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전력산업기반기금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청구금액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843AEFFA-3B29-43D8-AD21-72D5A41FAC0C}"/>
              </a:ext>
            </a:extLst>
          </p:cNvPr>
          <p:cNvGrpSpPr/>
          <p:nvPr/>
        </p:nvGrpSpPr>
        <p:grpSpPr>
          <a:xfrm>
            <a:off x="1496616" y="3223288"/>
            <a:ext cx="288032" cy="457835"/>
            <a:chOff x="1531556" y="3127336"/>
            <a:chExt cx="288032" cy="45783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7D274B0-4EAE-4073-8439-E4E9F14E3799}"/>
                </a:ext>
              </a:extLst>
            </p:cNvPr>
            <p:cNvSpPr/>
            <p:nvPr/>
          </p:nvSpPr>
          <p:spPr>
            <a:xfrm>
              <a:off x="1531556" y="3379352"/>
              <a:ext cx="288032" cy="205819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F39A81B-A049-46FE-ABE5-20611839361C}"/>
                </a:ext>
              </a:extLst>
            </p:cNvPr>
            <p:cNvSpPr/>
            <p:nvPr/>
          </p:nvSpPr>
          <p:spPr>
            <a:xfrm>
              <a:off x="1531556" y="3307352"/>
              <a:ext cx="288032" cy="72000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45A03613-B265-49E7-A5CC-567381B01EFB}"/>
                </a:ext>
              </a:extLst>
            </p:cNvPr>
            <p:cNvSpPr/>
            <p:nvPr/>
          </p:nvSpPr>
          <p:spPr>
            <a:xfrm>
              <a:off x="1531556" y="3235344"/>
              <a:ext cx="288032" cy="72000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3746EBC-5005-4EF3-82AD-CE3AB29F3655}"/>
                </a:ext>
              </a:extLst>
            </p:cNvPr>
            <p:cNvSpPr/>
            <p:nvPr/>
          </p:nvSpPr>
          <p:spPr>
            <a:xfrm>
              <a:off x="1531556" y="3127336"/>
              <a:ext cx="288032" cy="1080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6DB5B47-63BC-421D-BCA1-B173C0D48AD2}"/>
              </a:ext>
            </a:extLst>
          </p:cNvPr>
          <p:cNvGrpSpPr/>
          <p:nvPr/>
        </p:nvGrpSpPr>
        <p:grpSpPr>
          <a:xfrm>
            <a:off x="2065907" y="3090860"/>
            <a:ext cx="288032" cy="590263"/>
            <a:chOff x="2124398" y="2994908"/>
            <a:chExt cx="288032" cy="590263"/>
          </a:xfrm>
        </p:grpSpPr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4EABE6D8-BE6E-4F92-867E-7578C9B7D897}"/>
                </a:ext>
              </a:extLst>
            </p:cNvPr>
            <p:cNvSpPr/>
            <p:nvPr/>
          </p:nvSpPr>
          <p:spPr>
            <a:xfrm>
              <a:off x="2124398" y="3319819"/>
              <a:ext cx="288032" cy="265352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1C6EEC31-3D32-4B90-A84A-44A6684DE15C}"/>
                </a:ext>
              </a:extLst>
            </p:cNvPr>
            <p:cNvSpPr/>
            <p:nvPr/>
          </p:nvSpPr>
          <p:spPr>
            <a:xfrm>
              <a:off x="2124398" y="3226993"/>
              <a:ext cx="288032" cy="92826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B26EB58A-0AF5-46C4-A519-687C2BC42182}"/>
                </a:ext>
              </a:extLst>
            </p:cNvPr>
            <p:cNvSpPr/>
            <p:nvPr/>
          </p:nvSpPr>
          <p:spPr>
            <a:xfrm>
              <a:off x="2124398" y="3134157"/>
              <a:ext cx="288032" cy="92826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066C510D-2895-442C-9EE0-636A18FB9AFC}"/>
                </a:ext>
              </a:extLst>
            </p:cNvPr>
            <p:cNvSpPr/>
            <p:nvPr/>
          </p:nvSpPr>
          <p:spPr>
            <a:xfrm>
              <a:off x="2124398" y="2994908"/>
              <a:ext cx="288032" cy="139239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53922AA6-8387-42EC-AC9D-77A8028CACC4}"/>
              </a:ext>
            </a:extLst>
          </p:cNvPr>
          <p:cNvGrpSpPr/>
          <p:nvPr/>
        </p:nvGrpSpPr>
        <p:grpSpPr>
          <a:xfrm>
            <a:off x="2635198" y="3268906"/>
            <a:ext cx="288032" cy="412217"/>
            <a:chOff x="2717240" y="3172954"/>
            <a:chExt cx="288032" cy="412217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B4C9DDC6-8976-4148-8A6D-902B71653E21}"/>
                </a:ext>
              </a:extLst>
            </p:cNvPr>
            <p:cNvSpPr/>
            <p:nvPr/>
          </p:nvSpPr>
          <p:spPr>
            <a:xfrm>
              <a:off x="2717240" y="3396815"/>
              <a:ext cx="288032" cy="188356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D20EB40-C3CE-4B61-A89D-83C708F60267}"/>
                </a:ext>
              </a:extLst>
            </p:cNvPr>
            <p:cNvSpPr/>
            <p:nvPr/>
          </p:nvSpPr>
          <p:spPr>
            <a:xfrm>
              <a:off x="2717240" y="3337696"/>
              <a:ext cx="288032" cy="6589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98EB024E-87E7-40C7-9079-F53753112848}"/>
                </a:ext>
              </a:extLst>
            </p:cNvPr>
            <p:cNvSpPr/>
            <p:nvPr/>
          </p:nvSpPr>
          <p:spPr>
            <a:xfrm>
              <a:off x="2717240" y="3271798"/>
              <a:ext cx="288032" cy="65891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248C23FF-D7B3-44C7-9AC0-B695BFA44D47}"/>
                </a:ext>
              </a:extLst>
            </p:cNvPr>
            <p:cNvSpPr/>
            <p:nvPr/>
          </p:nvSpPr>
          <p:spPr>
            <a:xfrm>
              <a:off x="2717240" y="3172954"/>
              <a:ext cx="288032" cy="9883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2C9787B3-D8CE-41C7-AC5B-C9D189C58DD6}"/>
              </a:ext>
            </a:extLst>
          </p:cNvPr>
          <p:cNvGrpSpPr/>
          <p:nvPr/>
        </p:nvGrpSpPr>
        <p:grpSpPr>
          <a:xfrm>
            <a:off x="3211262" y="3364817"/>
            <a:ext cx="288032" cy="316306"/>
            <a:chOff x="3323367" y="3268865"/>
            <a:chExt cx="288032" cy="316306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0B20D984-8171-4FA0-BA55-C5369607B0A6}"/>
                </a:ext>
              </a:extLst>
            </p:cNvPr>
            <p:cNvSpPr/>
            <p:nvPr/>
          </p:nvSpPr>
          <p:spPr>
            <a:xfrm>
              <a:off x="3323367" y="3442976"/>
              <a:ext cx="288032" cy="142195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96BE9DCE-ACAE-4A93-B198-FC5EB29D2343}"/>
                </a:ext>
              </a:extLst>
            </p:cNvPr>
            <p:cNvSpPr/>
            <p:nvPr/>
          </p:nvSpPr>
          <p:spPr>
            <a:xfrm>
              <a:off x="3323367" y="3393233"/>
              <a:ext cx="288032" cy="49743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0D7C79C-0E6E-4C9A-9A96-9971046A26BF}"/>
                </a:ext>
              </a:extLst>
            </p:cNvPr>
            <p:cNvSpPr/>
            <p:nvPr/>
          </p:nvSpPr>
          <p:spPr>
            <a:xfrm>
              <a:off x="3323367" y="3343485"/>
              <a:ext cx="288032" cy="49743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7417BF7-8A21-4D7A-94AB-DAF510F475EE}"/>
                </a:ext>
              </a:extLst>
            </p:cNvPr>
            <p:cNvSpPr/>
            <p:nvPr/>
          </p:nvSpPr>
          <p:spPr>
            <a:xfrm>
              <a:off x="3323367" y="3268865"/>
              <a:ext cx="288032" cy="7461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157772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20F794E-4C53-4A0A-95B7-4F5F07A57AAC}"/>
              </a:ext>
            </a:extLst>
          </p:cNvPr>
          <p:cNvGrpSpPr/>
          <p:nvPr/>
        </p:nvGrpSpPr>
        <p:grpSpPr>
          <a:xfrm>
            <a:off x="3306578" y="1886167"/>
            <a:ext cx="4995374" cy="253211"/>
            <a:chOff x="416536" y="5920383"/>
            <a:chExt cx="4995374" cy="253211"/>
          </a:xfrm>
        </p:grpSpPr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19ABD98-86D9-477A-9484-B6813FE213DD}"/>
                </a:ext>
              </a:extLst>
            </p:cNvPr>
            <p:cNvCxnSpPr/>
            <p:nvPr/>
          </p:nvCxnSpPr>
          <p:spPr>
            <a:xfrm>
              <a:off x="416536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248DD5B6-CD4B-48DA-A74F-B703234A794E}"/>
                </a:ext>
              </a:extLst>
            </p:cNvPr>
            <p:cNvSpPr/>
            <p:nvPr/>
          </p:nvSpPr>
          <p:spPr>
            <a:xfrm>
              <a:off x="788562" y="5920383"/>
              <a:ext cx="608104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기본요금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4E17B173-BD8D-4E63-8378-AFFE340A318E}"/>
                </a:ext>
              </a:extLst>
            </p:cNvPr>
            <p:cNvCxnSpPr/>
            <p:nvPr/>
          </p:nvCxnSpPr>
          <p:spPr>
            <a:xfrm>
              <a:off x="1496656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993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47239BB-125B-42AD-8F62-B5C2089F8FD4}"/>
                </a:ext>
              </a:extLst>
            </p:cNvPr>
            <p:cNvSpPr/>
            <p:nvPr/>
          </p:nvSpPr>
          <p:spPr>
            <a:xfrm>
              <a:off x="1856656" y="5920383"/>
              <a:ext cx="1106851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사용요금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역률 적용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F607CC83-83B5-4499-8866-055A9A8BCB0B}"/>
                </a:ext>
              </a:extLst>
            </p:cNvPr>
            <p:cNvCxnSpPr/>
            <p:nvPr/>
          </p:nvCxnSpPr>
          <p:spPr>
            <a:xfrm>
              <a:off x="3090547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00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17F68F49-FF0B-41D2-ADA0-9C53C54FB1F2}"/>
                </a:ext>
              </a:extLst>
            </p:cNvPr>
            <p:cNvSpPr/>
            <p:nvPr/>
          </p:nvSpPr>
          <p:spPr>
            <a:xfrm>
              <a:off x="3440832" y="5920383"/>
              <a:ext cx="1008112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전력산업기반기금</a:t>
              </a: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ABD8719B-03D5-4496-B5C9-D9703EE880CB}"/>
                </a:ext>
              </a:extLst>
            </p:cNvPr>
            <p:cNvCxnSpPr/>
            <p:nvPr/>
          </p:nvCxnSpPr>
          <p:spPr>
            <a:xfrm>
              <a:off x="4525204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7D159337-7D29-42B4-82D4-E936914C7E14}"/>
                </a:ext>
              </a:extLst>
            </p:cNvPr>
            <p:cNvSpPr/>
            <p:nvPr/>
          </p:nvSpPr>
          <p:spPr>
            <a:xfrm>
              <a:off x="4880992" y="5920383"/>
              <a:ext cx="530918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부가세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64B67FC2-8379-49FF-8198-8F6CA4BC21E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2A9796DD-A1A8-4160-9532-6B0348C513C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9E8C8020-268D-415C-A23A-DEE3D5FB169E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A2870B-8325-49B3-9B1A-D76632897F0D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F1E9526-3E5A-48A3-B37F-AE4759AE32DD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B3190C7A-F533-4D81-81CC-80955FB9517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DAB0C8EA-329C-4CA1-AAA6-C5B99E6BCE67}"/>
              </a:ext>
            </a:extLst>
          </p:cNvPr>
          <p:cNvSpPr/>
          <p:nvPr/>
        </p:nvSpPr>
        <p:spPr>
          <a:xfrm>
            <a:off x="7680269" y="1568073"/>
            <a:ext cx="473661" cy="304569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15930" y="496557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09942" y="38125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6834930" y="50502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6574064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28464" y="689429"/>
            <a:ext cx="8202089" cy="539075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547011"/>
              </p:ext>
            </p:extLst>
          </p:nvPr>
        </p:nvGraphicFramePr>
        <p:xfrm>
          <a:off x="8469313" y="276225"/>
          <a:ext cx="1404000" cy="320582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한국전력공사의 전기요금 명세서를 기반으로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등의 항목 표시는 차후 협의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 요금 청구서 샘플 확인 후 최종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fix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37613" y="844371"/>
            <a:ext cx="4608512" cy="488888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BB78F6E-2615-4568-B7B1-45EDA691C66A}"/>
              </a:ext>
            </a:extLst>
          </p:cNvPr>
          <p:cNvSpPr txBox="1"/>
          <p:nvPr/>
        </p:nvSpPr>
        <p:spPr>
          <a:xfrm>
            <a:off x="2360712" y="98072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한전 요금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6EAC0A-2426-45D1-A774-7B7A5494ABA3}"/>
              </a:ext>
            </a:extLst>
          </p:cNvPr>
          <p:cNvSpPr txBox="1"/>
          <p:nvPr/>
        </p:nvSpPr>
        <p:spPr>
          <a:xfrm>
            <a:off x="5780695" y="121330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54B6EE5-C0C9-4812-A53C-A3875536DD03}"/>
              </a:ext>
            </a:extLst>
          </p:cNvPr>
          <p:cNvSpPr txBox="1"/>
          <p:nvPr/>
        </p:nvSpPr>
        <p:spPr>
          <a:xfrm>
            <a:off x="2288704" y="121330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55EDA32-13D8-454E-805A-ECAE39E5E686}"/>
              </a:ext>
            </a:extLst>
          </p:cNvPr>
          <p:cNvSpPr txBox="1"/>
          <p:nvPr/>
        </p:nvSpPr>
        <p:spPr>
          <a:xfrm>
            <a:off x="4016896" y="134804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2,220,000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98F572A-6976-4F42-B97C-FFF14233091A}"/>
              </a:ext>
            </a:extLst>
          </p:cNvPr>
          <p:cNvSpPr txBox="1"/>
          <p:nvPr/>
        </p:nvSpPr>
        <p:spPr>
          <a:xfrm>
            <a:off x="2274556" y="3167288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18086E8-0478-49EE-934C-A48BAE7DFE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3271584"/>
              </p:ext>
            </p:extLst>
          </p:nvPr>
        </p:nvGraphicFramePr>
        <p:xfrm>
          <a:off x="2274556" y="3347856"/>
          <a:ext cx="2113200" cy="17373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300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전력량요금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74840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전기요금계</a:t>
                      </a:r>
                      <a:endParaRPr lang="en-US" altLang="ko-KR" sz="5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2,010,000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12694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전력기금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10,006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2746937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259011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당월요금계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706192"/>
                  </a:ext>
                </a:extLst>
              </a:tr>
              <a:tr h="1911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미납요금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2084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8D6BB6AB-54E5-41D8-92D6-FE046567C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207852"/>
              </p:ext>
            </p:extLst>
          </p:nvPr>
        </p:nvGraphicFramePr>
        <p:xfrm>
          <a:off x="2274555" y="1792196"/>
          <a:ext cx="4334629" cy="1143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82301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2952328">
                  <a:extLst>
                    <a:ext uri="{9D8B030D-6E8A-4147-A177-3AD203B41FA5}">
                      <a16:colId xmlns:a16="http://schemas.microsoft.com/office/drawing/2014/main" val="27159210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전기사용장소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울산광역시 울주군 </a:t>
                      </a:r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온산읍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원산로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10 0000 0001</a:t>
                      </a:r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2,220,000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32865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3928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고객전용지정계좌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한국전력공사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신한은행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농      협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</a:t>
                      </a:r>
                    </a:p>
                    <a:p>
                      <a:pPr algn="l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하나은행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기업은행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외환은행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    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 체 국 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씨티은행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100-100000-10-100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3EF4418A-9C94-4827-B441-BD84D2690531}"/>
              </a:ext>
            </a:extLst>
          </p:cNvPr>
          <p:cNvSpPr txBox="1"/>
          <p:nvPr/>
        </p:nvSpPr>
        <p:spPr>
          <a:xfrm>
            <a:off x="4599781" y="3166635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사항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CE8CEF-74E0-47BA-8A6B-55640E49F002}"/>
              </a:ext>
            </a:extLst>
          </p:cNvPr>
          <p:cNvSpPr txBox="1"/>
          <p:nvPr/>
        </p:nvSpPr>
        <p:spPr>
          <a:xfrm>
            <a:off x="2190062" y="2924944"/>
            <a:ext cx="398707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 계좌번호는 고객님께서 입금할 수 있는 전용 </a:t>
            </a:r>
            <a:r>
              <a:rPr lang="ko-KR" altLang="en-US" sz="5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지정계좌입니다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끝자리 원단위 입금불가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2CF4CBE-A646-431B-8CD3-09D2C5CC9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764411"/>
              </p:ext>
            </p:extLst>
          </p:nvPr>
        </p:nvGraphicFramePr>
        <p:xfrm>
          <a:off x="4599783" y="3346464"/>
          <a:ext cx="1822174" cy="1173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6234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4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계약종별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산엽용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고압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 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III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주거구분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비주거용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674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정기검침일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652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계량기번호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XXX001122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87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계량기배수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5936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계약전력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768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가구수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7B823B1F-600B-4BEF-BCB1-D3135DBCA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2348223"/>
              </p:ext>
            </p:extLst>
          </p:nvPr>
        </p:nvGraphicFramePr>
        <p:xfrm>
          <a:off x="4604920" y="4582264"/>
          <a:ext cx="1817037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7381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29656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미납내역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미납월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78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미납요금 없음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778B7CF0-758C-4B27-A4AF-7925912740ED}"/>
              </a:ext>
            </a:extLst>
          </p:cNvPr>
          <p:cNvGrpSpPr/>
          <p:nvPr/>
        </p:nvGrpSpPr>
        <p:grpSpPr>
          <a:xfrm>
            <a:off x="2162704" y="5301208"/>
            <a:ext cx="4488118" cy="323428"/>
            <a:chOff x="2162704" y="5301208"/>
            <a:chExt cx="4488118" cy="323428"/>
          </a:xfrm>
        </p:grpSpPr>
        <p:pic>
          <p:nvPicPr>
            <p:cNvPr id="1028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D28EE1C7-0566-4FE4-BFB8-A89D5615E7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0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8C6A3F2F-6A1E-4843-B992-1ABF3F994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85BFB14-1DE9-4E3A-8F33-3A06C8EFA333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E55F40E9-B79E-4D8D-813B-EDD0B2B71D73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890853" y="51932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99751" y="519258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095845" y="519258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911319" y="80366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07747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000625"/>
              </p:ext>
            </p:extLst>
          </p:nvPr>
        </p:nvGraphicFramePr>
        <p:xfrm>
          <a:off x="8469313" y="276225"/>
          <a:ext cx="1404000" cy="5552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실적할인금액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고객정산금액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평일일수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최대부하방전량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예상할인금액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정산비율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평일일수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최대부하방전량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중간부하방전량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예상할인금액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정산비율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6"/>
            <a:ext cx="8208912" cy="488986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413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5277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C3C021D3-E7C8-4579-B7EF-20FD396E35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462261"/>
              </p:ext>
            </p:extLst>
          </p:nvPr>
        </p:nvGraphicFramePr>
        <p:xfrm>
          <a:off x="287407" y="3722272"/>
          <a:ext cx="7905957" cy="14443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444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6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평일 일수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(d)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726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105" name="표 104">
            <a:extLst>
              <a:ext uri="{FF2B5EF4-FFF2-40B4-BE49-F238E27FC236}">
                <a16:creationId xmlns:a16="http://schemas.microsoft.com/office/drawing/2014/main" id="{FAD27066-A6A3-496E-AF15-D86E8E155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348557"/>
              </p:ext>
            </p:extLst>
          </p:nvPr>
        </p:nvGraphicFramePr>
        <p:xfrm>
          <a:off x="287407" y="2170282"/>
          <a:ext cx="7905957" cy="15235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6FF4D37F-52DC-433B-A04B-FB80DB63AA74}"/>
              </a:ext>
            </a:extLst>
          </p:cNvPr>
          <p:cNvCxnSpPr>
            <a:cxnSpLocks/>
          </p:cNvCxnSpPr>
          <p:nvPr/>
        </p:nvCxnSpPr>
        <p:spPr>
          <a:xfrm>
            <a:off x="1640632" y="2932297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5C5E6AD5-5BD3-41B9-8904-4227F453F8DD}"/>
              </a:ext>
            </a:extLst>
          </p:cNvPr>
          <p:cNvCxnSpPr>
            <a:cxnSpLocks/>
          </p:cNvCxnSpPr>
          <p:nvPr/>
        </p:nvCxnSpPr>
        <p:spPr>
          <a:xfrm>
            <a:off x="1640632" y="2500249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5DA4163-9BCE-49A4-B8AF-3C3F9E58DD48}"/>
              </a:ext>
            </a:extLst>
          </p:cNvPr>
          <p:cNvSpPr/>
          <p:nvPr/>
        </p:nvSpPr>
        <p:spPr>
          <a:xfrm>
            <a:off x="1824804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E118C44-B7C2-4B8D-8E53-793F5E14364D}"/>
              </a:ext>
            </a:extLst>
          </p:cNvPr>
          <p:cNvSpPr/>
          <p:nvPr/>
        </p:nvSpPr>
        <p:spPr>
          <a:xfrm>
            <a:off x="1922916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F4FB32D-BB58-46E6-828D-CD549BD31A4D}"/>
              </a:ext>
            </a:extLst>
          </p:cNvPr>
          <p:cNvSpPr/>
          <p:nvPr/>
        </p:nvSpPr>
        <p:spPr>
          <a:xfrm>
            <a:off x="232885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0720A06-D676-4961-9104-79F321DEB0A6}"/>
              </a:ext>
            </a:extLst>
          </p:cNvPr>
          <p:cNvSpPr/>
          <p:nvPr/>
        </p:nvSpPr>
        <p:spPr>
          <a:xfrm>
            <a:off x="242696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6E36CEA1-006B-43B9-AA30-540C2492A53E}"/>
              </a:ext>
            </a:extLst>
          </p:cNvPr>
          <p:cNvSpPr/>
          <p:nvPr/>
        </p:nvSpPr>
        <p:spPr>
          <a:xfrm>
            <a:off x="294380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16646BD3-2C9B-42DF-8896-F67892FD3EAC}"/>
              </a:ext>
            </a:extLst>
          </p:cNvPr>
          <p:cNvSpPr/>
          <p:nvPr/>
        </p:nvSpPr>
        <p:spPr>
          <a:xfrm>
            <a:off x="304191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C26075CF-9F3B-4836-81B3-3BB2A5B22875}"/>
              </a:ext>
            </a:extLst>
          </p:cNvPr>
          <p:cNvSpPr/>
          <p:nvPr/>
        </p:nvSpPr>
        <p:spPr>
          <a:xfrm>
            <a:off x="344785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BB539FB-4A28-407D-BC43-D5062C353F0B}"/>
              </a:ext>
            </a:extLst>
          </p:cNvPr>
          <p:cNvSpPr/>
          <p:nvPr/>
        </p:nvSpPr>
        <p:spPr>
          <a:xfrm>
            <a:off x="354596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7693824-BB91-4E77-A9DD-B5C253E3F92A}"/>
              </a:ext>
            </a:extLst>
          </p:cNvPr>
          <p:cNvSpPr/>
          <p:nvPr/>
        </p:nvSpPr>
        <p:spPr>
          <a:xfrm>
            <a:off x="399080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195291E3-C496-4256-ADA3-E802872FB40C}"/>
              </a:ext>
            </a:extLst>
          </p:cNvPr>
          <p:cNvSpPr/>
          <p:nvPr/>
        </p:nvSpPr>
        <p:spPr>
          <a:xfrm>
            <a:off x="408891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1967052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1967052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할인금액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5CE64A58-D606-49A3-8E28-4A870346C39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405B9E18-4BB7-4C66-BD7A-40CCB333A820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438952A2-303F-4398-A3B7-AFB7D449BFA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ED31C6E-691A-48EF-88FB-FA1D615BB88B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597EB79E-7849-4102-9C4C-BF16F19427E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9854B3C-6F4E-4BCF-A34F-E63A0FB24FC7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5B1AF3-1E78-4702-9BC2-8BD9013FA1A2}"/>
              </a:ext>
            </a:extLst>
          </p:cNvPr>
          <p:cNvSpPr/>
          <p:nvPr/>
        </p:nvSpPr>
        <p:spPr>
          <a:xfrm>
            <a:off x="7680942" y="1556217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59" name="타원형 설명선 226">
            <a:extLst>
              <a:ext uri="{FF2B5EF4-FFF2-40B4-BE49-F238E27FC236}">
                <a16:creationId xmlns:a16="http://schemas.microsoft.com/office/drawing/2014/main" id="{1CF07036-98F1-4A83-92D6-9D8E54943EAF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형 설명선 243">
            <a:extLst>
              <a:ext uri="{FF2B5EF4-FFF2-40B4-BE49-F238E27FC236}">
                <a16:creationId xmlns:a16="http://schemas.microsoft.com/office/drawing/2014/main" id="{958A3BB6-2964-4C12-9449-5900B102B5CA}"/>
              </a:ext>
            </a:extLst>
          </p:cNvPr>
          <p:cNvSpPr/>
          <p:nvPr/>
        </p:nvSpPr>
        <p:spPr>
          <a:xfrm>
            <a:off x="115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타원형 설명선 244">
            <a:extLst>
              <a:ext uri="{FF2B5EF4-FFF2-40B4-BE49-F238E27FC236}">
                <a16:creationId xmlns:a16="http://schemas.microsoft.com/office/drawing/2014/main" id="{2F2E6BC6-58B5-45DF-B09E-05CCCDA92D83}"/>
              </a:ext>
            </a:extLst>
          </p:cNvPr>
          <p:cNvSpPr/>
          <p:nvPr/>
        </p:nvSpPr>
        <p:spPr>
          <a:xfrm>
            <a:off x="109942" y="357301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타원형 설명선 245">
            <a:extLst>
              <a:ext uri="{FF2B5EF4-FFF2-40B4-BE49-F238E27FC236}">
                <a16:creationId xmlns:a16="http://schemas.microsoft.com/office/drawing/2014/main" id="{F2F9D815-59A1-4C6E-9395-52B8167480B9}"/>
              </a:ext>
            </a:extLst>
          </p:cNvPr>
          <p:cNvSpPr/>
          <p:nvPr/>
        </p:nvSpPr>
        <p:spPr>
          <a:xfrm>
            <a:off x="6834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타원형 설명선 225">
            <a:extLst>
              <a:ext uri="{FF2B5EF4-FFF2-40B4-BE49-F238E27FC236}">
                <a16:creationId xmlns:a16="http://schemas.microsoft.com/office/drawing/2014/main" id="{1AF4249B-60A4-4EEC-AE43-6FB09B549F23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750020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633711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233322"/>
              </p:ext>
            </p:extLst>
          </p:nvPr>
        </p:nvGraphicFramePr>
        <p:xfrm>
          <a:off x="8469313" y="276225"/>
          <a:ext cx="1404000" cy="282278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명세서를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한국동서발전의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명세서를 기반으로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구성된 화면을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PDF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등의 항목 표시는 차후 협의 필요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프린터로 인쇄하기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구성된 화면을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상에 설정 및 연결된 프린터를 통해 인쇄한다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 및 출력 화면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4"/>
            <a:ext cx="4608512" cy="610757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BB78F6E-2615-4568-B7B1-45EDA691C66A}"/>
              </a:ext>
            </a:extLst>
          </p:cNvPr>
          <p:cNvSpPr txBox="1"/>
          <p:nvPr/>
        </p:nvSpPr>
        <p:spPr>
          <a:xfrm>
            <a:off x="2360712" y="873578"/>
            <a:ext cx="4176464" cy="23083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에너지절감 솔루션 제공 전기요금 절감 수익 배분 청구서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(’18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6EAC0A-2426-45D1-A774-7B7A5494ABA3}"/>
              </a:ext>
            </a:extLst>
          </p:cNvPr>
          <p:cNvSpPr txBox="1"/>
          <p:nvPr/>
        </p:nvSpPr>
        <p:spPr>
          <a:xfrm>
            <a:off x="5780695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청구일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2018-07-20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54B6EE5-C0C9-4812-A53C-A3875536DD03}"/>
              </a:ext>
            </a:extLst>
          </p:cNvPr>
          <p:cNvSpPr txBox="1"/>
          <p:nvPr/>
        </p:nvSpPr>
        <p:spPr>
          <a:xfrm>
            <a:off x="2288704" y="1106155"/>
            <a:ext cx="828489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Site_1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55EDA32-13D8-454E-805A-ECAE39E5E686}"/>
              </a:ext>
            </a:extLst>
          </p:cNvPr>
          <p:cNvSpPr txBox="1"/>
          <p:nvPr/>
        </p:nvSpPr>
        <p:spPr>
          <a:xfrm>
            <a:off x="4016896" y="1240893"/>
            <a:ext cx="23762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이번 달 청구 금액은     </a:t>
            </a:r>
            <a:r>
              <a:rPr lang="en-US" altLang="ko-KR" sz="90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30,439,360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입니다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391B08A-A2DB-4EC6-9BE8-2FB935BFE7D3}"/>
              </a:ext>
            </a:extLst>
          </p:cNvPr>
          <p:cNvSpPr txBox="1"/>
          <p:nvPr/>
        </p:nvSpPr>
        <p:spPr>
          <a:xfrm>
            <a:off x="4880992" y="1409037"/>
            <a:ext cx="142934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수익배분기간 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2018-01-01 ~ 2018-12-31)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98F572A-6976-4F42-B97C-FFF14233091A}"/>
              </a:ext>
            </a:extLst>
          </p:cNvPr>
          <p:cNvSpPr txBox="1"/>
          <p:nvPr/>
        </p:nvSpPr>
        <p:spPr>
          <a:xfrm>
            <a:off x="2274556" y="1589865"/>
            <a:ext cx="82848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청구내역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3E54DCF-40C1-45A0-A062-BF9B53C816C3}"/>
              </a:ext>
            </a:extLst>
          </p:cNvPr>
          <p:cNvSpPr txBox="1"/>
          <p:nvPr/>
        </p:nvSpPr>
        <p:spPr>
          <a:xfrm>
            <a:off x="4627036" y="1589865"/>
            <a:ext cx="16561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ESS </a:t>
            </a:r>
            <a:r>
              <a:rPr lang="ko-KR" altLang="en-US" sz="6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충방전량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및 전력량 요금 절감내역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18086E8-0478-49EE-934C-A48BAE7DFE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1489917"/>
              </p:ext>
            </p:extLst>
          </p:nvPr>
        </p:nvGraphicFramePr>
        <p:xfrm>
          <a:off x="2274556" y="1770433"/>
          <a:ext cx="2113200" cy="1691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680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583200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절감금액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①기본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피크저감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②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전려량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계시별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3,188076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2,869,268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충전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2,227,088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2,004,379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25,311,670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22,798,503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   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30,746,834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수익배분 계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27,672,151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590192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부가가치세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2,767,215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17668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원단위절사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-6</a:t>
                      </a:r>
                      <a:endParaRPr lang="ko-KR" altLang="en-US" sz="500" b="1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56658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청구금액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23DF273D-EACE-4D01-8A7B-B500CE5206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7868031"/>
              </p:ext>
            </p:extLst>
          </p:nvPr>
        </p:nvGraphicFramePr>
        <p:xfrm>
          <a:off x="4528779" y="1770433"/>
          <a:ext cx="2088232" cy="167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58">
                  <a:extLst>
                    <a:ext uri="{9D8B030D-6E8A-4147-A177-3AD203B41FA5}">
                      <a16:colId xmlns:a16="http://schemas.microsoft.com/office/drawing/2014/main" val="3564815403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522058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81,728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4,454,176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77,515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4,395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62089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82,777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4,536,086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98259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9,847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757,234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0187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64,990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6,966,928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6142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74,837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7,724,162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110593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②</a:t>
                      </a:r>
                      <a:r>
                        <a:rPr lang="ko-KR" altLang="en-US" sz="5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전력량요금 절감금액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)(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 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충전금액</a:t>
                      </a:r>
                      <a:r>
                        <a:rPr lang="en-US" altLang="ko-KR" sz="5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5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3,188,076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105426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D2333A1D-2944-4389-8C62-10F019D03189}"/>
              </a:ext>
            </a:extLst>
          </p:cNvPr>
          <p:cNvSpPr txBox="1"/>
          <p:nvPr/>
        </p:nvSpPr>
        <p:spPr>
          <a:xfrm>
            <a:off x="2274556" y="3567188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ESS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피크저감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충전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전용 요금 할인 계산 내역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8D6BB6AB-54E5-41D8-92D6-FE046567C9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558212"/>
              </p:ext>
            </p:extLst>
          </p:nvPr>
        </p:nvGraphicFramePr>
        <p:xfrm>
          <a:off x="2274556" y="3745496"/>
          <a:ext cx="4334629" cy="670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4268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  <a:gridCol w="2592289">
                  <a:extLst>
                    <a:ext uri="{9D8B030D-6E8A-4147-A177-3AD203B41FA5}">
                      <a16:colId xmlns:a16="http://schemas.microsoft.com/office/drawing/2014/main" val="2151460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 분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계산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826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①기본 요금 절감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피크저감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피크저감 효과가 전기요금에 반영되는 시점부터 적용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③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충전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2,227,088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(81,728 kW x 0.5 x 54.5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 1)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④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ESS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전용 요금 할인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25,331,670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Min[(40,527 kW x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8,190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(((64,990 kW – 41 kW) / (21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 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 3)) x 3 x 1 x 8,190 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)] 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46" name="TextBox 45">
            <a:extLst>
              <a:ext uri="{FF2B5EF4-FFF2-40B4-BE49-F238E27FC236}">
                <a16:creationId xmlns:a16="http://schemas.microsoft.com/office/drawing/2014/main" id="{3EF4418A-9C94-4827-B441-BD84D2690531}"/>
              </a:ext>
            </a:extLst>
          </p:cNvPr>
          <p:cNvSpPr txBox="1"/>
          <p:nvPr/>
        </p:nvSpPr>
        <p:spPr>
          <a:xfrm>
            <a:off x="2274556" y="4647308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사항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CE8CEF-74E0-47BA-8A6B-55640E49F002}"/>
              </a:ext>
            </a:extLst>
          </p:cNvPr>
          <p:cNvSpPr txBox="1"/>
          <p:nvPr/>
        </p:nvSpPr>
        <p:spPr>
          <a:xfrm>
            <a:off x="2190062" y="4421523"/>
            <a:ext cx="398707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ESS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충전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전용 요금 할인은 당월 계량지침 및 고지서 기준 준용 산출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평균 사용량 계산은 소수점 첫째 자리 사사오입 적용</a:t>
            </a:r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2CF4CBE-A646-431B-8CD3-09D2C5CC9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0273769"/>
              </p:ext>
            </p:extLst>
          </p:nvPr>
        </p:nvGraphicFramePr>
        <p:xfrm>
          <a:off x="2274558" y="4827137"/>
          <a:ext cx="1822174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6234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015940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전기사용 </a:t>
                      </a:r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계약종별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1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산엽용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고압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 </a:t>
                      </a:r>
                      <a:r>
                        <a:rPr lang="ko-KR" altLang="en-US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 </a:t>
                      </a:r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III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기본요금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8,190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7B823B1F-600B-4BEF-BCB1-D3135DBCA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4278482"/>
              </p:ext>
            </p:extLst>
          </p:nvPr>
        </p:nvGraphicFramePr>
        <p:xfrm>
          <a:off x="4199630" y="4821831"/>
          <a:ext cx="2417382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7530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369852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 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구축 용량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 Battery : 3.6 MWh,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  <a:r>
                        <a:rPr lang="ko-KR" altLang="en-US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5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MW</a:t>
                      </a:r>
                      <a:endParaRPr lang="ko-KR" altLang="en-US" sz="5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할인금액 차등비율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가중치</a:t>
                      </a: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5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sp>
        <p:nvSpPr>
          <p:cNvPr id="55" name="TextBox 54">
            <a:extLst>
              <a:ext uri="{FF2B5EF4-FFF2-40B4-BE49-F238E27FC236}">
                <a16:creationId xmlns:a16="http://schemas.microsoft.com/office/drawing/2014/main" id="{CFB82BD7-DB76-482D-86E7-D30CF1EF5905}"/>
              </a:ext>
            </a:extLst>
          </p:cNvPr>
          <p:cNvSpPr txBox="1"/>
          <p:nvPr/>
        </p:nvSpPr>
        <p:spPr>
          <a:xfrm>
            <a:off x="2274556" y="5295380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절감효과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5CC979B-2ED9-4F54-9A85-83ABB8BF9E4F}"/>
              </a:ext>
            </a:extLst>
          </p:cNvPr>
          <p:cNvSpPr txBox="1"/>
          <p:nvPr/>
        </p:nvSpPr>
        <p:spPr>
          <a:xfrm>
            <a:off x="4578812" y="5295380"/>
            <a:ext cx="18863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절감효과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C9D2F77A-E7E9-4CFC-8DE0-09881D0772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140254"/>
              </p:ext>
            </p:extLst>
          </p:nvPr>
        </p:nvGraphicFramePr>
        <p:xfrm>
          <a:off x="4539062" y="5503035"/>
          <a:ext cx="2070122" cy="9317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7499">
                  <a:extLst>
                    <a:ext uri="{9D8B030D-6E8A-4147-A177-3AD203B41FA5}">
                      <a16:colId xmlns:a16="http://schemas.microsoft.com/office/drawing/2014/main" val="2143136556"/>
                    </a:ext>
                  </a:extLst>
                </a:gridCol>
                <a:gridCol w="1142623">
                  <a:extLst>
                    <a:ext uri="{9D8B030D-6E8A-4147-A177-3AD203B41FA5}">
                      <a16:colId xmlns:a16="http://schemas.microsoft.com/office/drawing/2014/main" val="3299530404"/>
                    </a:ext>
                  </a:extLst>
                </a:gridCol>
              </a:tblGrid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은행명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우리은행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729986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1005 – 802 - 498030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142833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한국동서발전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㈜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3903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납입금액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30,439,360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22420"/>
                  </a:ext>
                </a:extLst>
              </a:tr>
              <a:tr h="186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납기일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2018-06-24</a:t>
                      </a:r>
                      <a:endParaRPr lang="ko-KR" altLang="en-US" sz="5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693837"/>
                  </a:ext>
                </a:extLst>
              </a:tr>
            </a:tbl>
          </a:graphicData>
        </a:graphic>
      </p:graphicFrame>
      <p:graphicFrame>
        <p:nvGraphicFramePr>
          <p:cNvPr id="31" name="차트 30">
            <a:extLst>
              <a:ext uri="{FF2B5EF4-FFF2-40B4-BE49-F238E27FC236}">
                <a16:creationId xmlns:a16="http://schemas.microsoft.com/office/drawing/2014/main" id="{730311A7-C3A2-4939-A871-92F3A15A131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6023434"/>
              </p:ext>
            </p:extLst>
          </p:nvPr>
        </p:nvGraphicFramePr>
        <p:xfrm>
          <a:off x="2000672" y="5439396"/>
          <a:ext cx="1493025" cy="9953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0" name="차트 69">
            <a:extLst>
              <a:ext uri="{FF2B5EF4-FFF2-40B4-BE49-F238E27FC236}">
                <a16:creationId xmlns:a16="http://schemas.microsoft.com/office/drawing/2014/main" id="{E93CEA49-FD4B-496E-80F1-471A27B132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7293794"/>
              </p:ext>
            </p:extLst>
          </p:nvPr>
        </p:nvGraphicFramePr>
        <p:xfrm>
          <a:off x="3044684" y="5189255"/>
          <a:ext cx="3351414" cy="11862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36" name="TextBox 235">
            <a:extLst>
              <a:ext uri="{FF2B5EF4-FFF2-40B4-BE49-F238E27FC236}">
                <a16:creationId xmlns:a16="http://schemas.microsoft.com/office/drawing/2014/main" id="{F6A882AC-223E-45B3-8C4A-CDFA9300972D}"/>
              </a:ext>
            </a:extLst>
          </p:cNvPr>
          <p:cNvSpPr txBox="1"/>
          <p:nvPr/>
        </p:nvSpPr>
        <p:spPr>
          <a:xfrm>
            <a:off x="3669298" y="5484542"/>
            <a:ext cx="530331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3,188,076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0%</a:t>
            </a:r>
          </a:p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2,227,088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0%</a:t>
            </a:r>
          </a:p>
          <a:p>
            <a:pPr algn="ctr"/>
            <a:r>
              <a:rPr lang="ko-KR" altLang="en-US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④</a:t>
            </a:r>
            <a:endParaRPr lang="en-US" altLang="ko-KR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25,331,670</a:t>
            </a:r>
          </a:p>
          <a:p>
            <a:pPr algn="ctr"/>
            <a:r>
              <a:rPr lang="en-US" altLang="ko-KR" sz="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1%</a:t>
            </a:r>
            <a:endParaRPr lang="ko-KR" altLang="en-US" sz="5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C579568-C64D-4244-B725-42D267DD43BF}"/>
              </a:ext>
            </a:extLst>
          </p:cNvPr>
          <p:cNvSpPr txBox="1"/>
          <p:nvPr/>
        </p:nvSpPr>
        <p:spPr>
          <a:xfrm>
            <a:off x="2327165" y="6288957"/>
            <a:ext cx="183374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전기요금 </a:t>
            </a:r>
            <a:r>
              <a:rPr lang="ko-KR" altLang="en-US" sz="5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절감분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대한 전력기금 </a:t>
            </a:r>
            <a:r>
              <a:rPr lang="en-US" altLang="ko-KR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3.7% </a:t>
            </a:r>
            <a:r>
              <a:rPr lang="ko-KR" altLang="en-US" sz="5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절감 효과 </a:t>
            </a:r>
            <a:r>
              <a:rPr lang="ko-KR" altLang="en-US" sz="5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미반영</a:t>
            </a:r>
            <a:endParaRPr lang="ko-KR" altLang="en-US" sz="5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0B8ACD99-1112-4F00-859F-D88658E64FF1}"/>
              </a:ext>
            </a:extLst>
          </p:cNvPr>
          <p:cNvSpPr/>
          <p:nvPr/>
        </p:nvSpPr>
        <p:spPr>
          <a:xfrm>
            <a:off x="2274556" y="5503035"/>
            <a:ext cx="1925073" cy="931711"/>
          </a:xfrm>
          <a:prstGeom prst="round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2D69C394-EEBA-4B85-9EF3-DE709B430B3D}"/>
              </a:ext>
            </a:extLst>
          </p:cNvPr>
          <p:cNvCxnSpPr>
            <a:cxnSpLocks/>
          </p:cNvCxnSpPr>
          <p:nvPr/>
        </p:nvCxnSpPr>
        <p:spPr>
          <a:xfrm flipV="1">
            <a:off x="3095709" y="5655420"/>
            <a:ext cx="273115" cy="242551"/>
          </a:xfrm>
          <a:prstGeom prst="line">
            <a:avLst/>
          </a:prstGeom>
          <a:ln w="63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87E3DCBF-88A6-4819-940C-D2CBFAC0D5E9}"/>
              </a:ext>
            </a:extLst>
          </p:cNvPr>
          <p:cNvCxnSpPr>
            <a:cxnSpLocks/>
          </p:cNvCxnSpPr>
          <p:nvPr/>
        </p:nvCxnSpPr>
        <p:spPr>
          <a:xfrm>
            <a:off x="3095709" y="5956339"/>
            <a:ext cx="273115" cy="242551"/>
          </a:xfrm>
          <a:prstGeom prst="line">
            <a:avLst/>
          </a:prstGeom>
          <a:ln w="63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B2F8D2E0-ADA5-4EC5-8068-2393D45FCA2F}"/>
              </a:ext>
            </a:extLst>
          </p:cNvPr>
          <p:cNvCxnSpPr>
            <a:cxnSpLocks/>
          </p:cNvCxnSpPr>
          <p:nvPr/>
        </p:nvCxnSpPr>
        <p:spPr>
          <a:xfrm>
            <a:off x="3715269" y="5727583"/>
            <a:ext cx="72463" cy="109744"/>
          </a:xfrm>
          <a:prstGeom prst="line">
            <a:avLst/>
          </a:prstGeom>
          <a:ln w="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7251402E-20C1-42FA-A413-5950FFB72768}"/>
              </a:ext>
            </a:extLst>
          </p:cNvPr>
          <p:cNvCxnSpPr>
            <a:cxnSpLocks/>
          </p:cNvCxnSpPr>
          <p:nvPr/>
        </p:nvCxnSpPr>
        <p:spPr>
          <a:xfrm>
            <a:off x="3712808" y="5967870"/>
            <a:ext cx="74924" cy="94004"/>
          </a:xfrm>
          <a:prstGeom prst="line">
            <a:avLst/>
          </a:prstGeom>
          <a:ln w="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85926613-4267-4824-B38B-540F9933A74D}"/>
              </a:ext>
            </a:extLst>
          </p:cNvPr>
          <p:cNvGrpSpPr/>
          <p:nvPr/>
        </p:nvGrpSpPr>
        <p:grpSpPr>
          <a:xfrm>
            <a:off x="2193074" y="6525344"/>
            <a:ext cx="4488118" cy="323428"/>
            <a:chOff x="2162704" y="5301208"/>
            <a:chExt cx="4488118" cy="323428"/>
          </a:xfrm>
        </p:grpSpPr>
        <p:pic>
          <p:nvPicPr>
            <p:cNvPr id="8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EAD9AE6D-2E0E-4945-B864-855376934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05E723B1-6CFD-4FB4-9E01-852C21D3C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D7EC86FB-852E-4297-BC4B-3C9B1EE028B2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C4654583-48F7-49B2-B64D-2F6528902323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B5FA843-EF59-4EFE-9D2B-F5BB548FB658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943389" y="64173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245057" y="643474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131858" y="643519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925448" y="81908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2718942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248417"/>
              </p:ext>
            </p:extLst>
          </p:nvPr>
        </p:nvGraphicFramePr>
        <p:xfrm>
          <a:off x="8469313" y="276225"/>
          <a:ext cx="1404000" cy="555264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총정산금액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고객정산금액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감축횟수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감축인정용량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감축이행율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수익비율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감축횟수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감축인정용량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감축이행율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용량정산금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감축정산금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EWP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정산금액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수익비율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8898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025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3532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291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291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2039060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2039060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5A0679D4-57A6-4057-B70A-B346336A8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313604"/>
              </p:ext>
            </p:extLst>
          </p:nvPr>
        </p:nvGraphicFramePr>
        <p:xfrm>
          <a:off x="272482" y="3809359"/>
          <a:ext cx="7920878" cy="13634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횟수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ko-KR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감축인정용량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용량정산금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5EB64A5-3614-49FB-804B-FB37AAC85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092086"/>
              </p:ext>
            </p:extLst>
          </p:nvPr>
        </p:nvGraphicFramePr>
        <p:xfrm>
          <a:off x="272482" y="2236923"/>
          <a:ext cx="7920878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1341F35-4643-4FFF-B7FF-0C7ABA562912}"/>
              </a:ext>
            </a:extLst>
          </p:cNvPr>
          <p:cNvCxnSpPr/>
          <p:nvPr/>
        </p:nvCxnSpPr>
        <p:spPr>
          <a:xfrm>
            <a:off x="1303114" y="3010498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1321C349-C060-4D13-BDDF-01218664D8CD}"/>
              </a:ext>
            </a:extLst>
          </p:cNvPr>
          <p:cNvCxnSpPr/>
          <p:nvPr/>
        </p:nvCxnSpPr>
        <p:spPr>
          <a:xfrm>
            <a:off x="1303114" y="2564904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룹 1">
            <a:extLst>
              <a:ext uri="{FF2B5EF4-FFF2-40B4-BE49-F238E27FC236}">
                <a16:creationId xmlns:a16="http://schemas.microsoft.com/office/drawing/2014/main" id="{974FE334-EF98-49CA-A92C-693EB79E9705}"/>
              </a:ext>
            </a:extLst>
          </p:cNvPr>
          <p:cNvGrpSpPr/>
          <p:nvPr/>
        </p:nvGrpSpPr>
        <p:grpSpPr>
          <a:xfrm>
            <a:off x="1699094" y="2793855"/>
            <a:ext cx="2390292" cy="527108"/>
            <a:chOff x="1254498" y="2635699"/>
            <a:chExt cx="2390292" cy="347113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CE19614C-4234-458C-B4E0-14516A35AA20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58C0C0E-9A2E-42A4-8DBD-CC791E900B1E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EFF0C1AF-2E2B-4746-8A24-5235069F80DE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6158DF30-3782-4FA6-9B18-5AFDA6F91E40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F1AA584-3860-4A7F-A20E-09B6E41758B5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21BF623-7FC1-46F7-82B9-092299E66899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93A590AE-1C95-4E53-A5C2-638A7DCE2319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D33532AF-1122-4B6D-8CC7-7C95D549C255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6E4CAA77-734B-47F9-BCBB-D9321EDEEB3E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0C55AB9-6F4B-4FE6-91C9-FE7C1C44F740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7878E1A8-E47B-4303-BDBE-D9153574C0D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22E66FFF-8A3A-4BFE-8CB3-FDC27F9A44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60A8CA5-5E74-48C5-9DB5-0A2D5DDEAD5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D85D8CA3-BC51-40A6-9651-3BF06AFF7D01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EEA0171-B769-44E1-818F-0C260333DE7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CB44465B-AD92-45D5-A3E7-512C4BDB6F8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8716980-2DA9-4A24-B5F7-34A83C891CE1}"/>
              </a:ext>
            </a:extLst>
          </p:cNvPr>
          <p:cNvSpPr/>
          <p:nvPr/>
        </p:nvSpPr>
        <p:spPr>
          <a:xfrm>
            <a:off x="7683627" y="155091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74" name="타원형 설명선 226">
            <a:extLst>
              <a:ext uri="{FF2B5EF4-FFF2-40B4-BE49-F238E27FC236}">
                <a16:creationId xmlns:a16="http://schemas.microsoft.com/office/drawing/2014/main" id="{54785E2F-2D4D-484E-9ED3-1763342D3835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타원형 설명선 243">
            <a:extLst>
              <a:ext uri="{FF2B5EF4-FFF2-40B4-BE49-F238E27FC236}">
                <a16:creationId xmlns:a16="http://schemas.microsoft.com/office/drawing/2014/main" id="{F4C23757-3715-48E1-8DAE-FF0AD0F369DE}"/>
              </a:ext>
            </a:extLst>
          </p:cNvPr>
          <p:cNvSpPr/>
          <p:nvPr/>
        </p:nvSpPr>
        <p:spPr>
          <a:xfrm>
            <a:off x="115930" y="50852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형 설명선 244">
            <a:extLst>
              <a:ext uri="{FF2B5EF4-FFF2-40B4-BE49-F238E27FC236}">
                <a16:creationId xmlns:a16="http://schemas.microsoft.com/office/drawing/2014/main" id="{39182858-D5AD-4D2D-B53A-E367DBEA7C19}"/>
              </a:ext>
            </a:extLst>
          </p:cNvPr>
          <p:cNvSpPr/>
          <p:nvPr/>
        </p:nvSpPr>
        <p:spPr>
          <a:xfrm>
            <a:off x="109942" y="36450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형 설명선 245">
            <a:extLst>
              <a:ext uri="{FF2B5EF4-FFF2-40B4-BE49-F238E27FC236}">
                <a16:creationId xmlns:a16="http://schemas.microsoft.com/office/drawing/2014/main" id="{05FF4988-80C5-461D-8A36-D6BFF737FF84}"/>
              </a:ext>
            </a:extLst>
          </p:cNvPr>
          <p:cNvSpPr/>
          <p:nvPr/>
        </p:nvSpPr>
        <p:spPr>
          <a:xfrm>
            <a:off x="6834930" y="508518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25">
            <a:extLst>
              <a:ext uri="{FF2B5EF4-FFF2-40B4-BE49-F238E27FC236}">
                <a16:creationId xmlns:a16="http://schemas.microsoft.com/office/drawing/2014/main" id="{03D53C94-A5E1-41BF-87C4-3C5C67CBADBE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1390336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561703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5"/>
            <a:ext cx="4608512" cy="4883434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6C8B849-6BDA-418C-8E1E-709BEEC9E492}"/>
              </a:ext>
            </a:extLst>
          </p:cNvPr>
          <p:cNvGrpSpPr/>
          <p:nvPr/>
        </p:nvGrpSpPr>
        <p:grpSpPr>
          <a:xfrm>
            <a:off x="2162704" y="5301208"/>
            <a:ext cx="4488118" cy="323428"/>
            <a:chOff x="2162704" y="5301208"/>
            <a:chExt cx="4488118" cy="323428"/>
          </a:xfrm>
        </p:grpSpPr>
        <p:pic>
          <p:nvPicPr>
            <p:cNvPr id="54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C321C231-E3A3-46C8-AB70-A17CE59534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5435E049-087D-4E49-960C-08D514DC8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15839C1F-30C4-4AFE-BCBC-8F47661F0A41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8082294F-9183-4EFE-8B1B-48F2B67D09EE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EFEDAAF-B357-4A6B-A056-3ED337E8D9DC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1821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3631715"/>
              </p:ext>
            </p:extLst>
          </p:nvPr>
        </p:nvGraphicFramePr>
        <p:xfrm>
          <a:off x="8469313" y="276225"/>
          <a:ext cx="1404000" cy="48211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기간은 월 단위 설정만 가능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버튼을 클릭하면 조회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묶은 막대 그래프 형태로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월 별 그래프 항목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데이터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총수익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SMP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REC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66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표 표시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1)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ESS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충방전량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평일 일수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할인 및 정산 금액 등을 표로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  <a:p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그래프에 포함되지 않은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총발전량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REC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정보를 추가로 표시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표에 표시된 항목을 그대로 저장하므로 </a:t>
                      </a:r>
                      <a:r>
                        <a:rPr lang="ko-KR" altLang="en-US" sz="800" b="0" u="none" dirty="0" err="1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총발전량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SMP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REC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거래량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등이 포함된다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명세서 확인하기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버튼을 클릭하면 명세서 확인 및 출력 화면이 팝업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1" y="920973"/>
            <a:ext cx="8208912" cy="466826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05" y="84797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8782" y="1196752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61226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231524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62492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62492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22978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4736976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수익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6105128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SMP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FF56CDFC-3B94-4C7C-B074-DE46915AB355}"/>
              </a:ext>
            </a:extLst>
          </p:cNvPr>
          <p:cNvCxnSpPr/>
          <p:nvPr/>
        </p:nvCxnSpPr>
        <p:spPr>
          <a:xfrm>
            <a:off x="4160912" y="2111068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E662AB0-314D-4E09-BDDF-E02966A5EF6E}"/>
              </a:ext>
            </a:extLst>
          </p:cNvPr>
          <p:cNvCxnSpPr/>
          <p:nvPr/>
        </p:nvCxnSpPr>
        <p:spPr>
          <a:xfrm>
            <a:off x="5529064" y="2111068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9BD5E43D-104B-443D-B1F6-27B460190E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361609"/>
              </p:ext>
            </p:extLst>
          </p:nvPr>
        </p:nvGraphicFramePr>
        <p:xfrm>
          <a:off x="272482" y="2308931"/>
          <a:ext cx="7920874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8138AD86-BA64-40C8-8DDA-F5A6A43D0D17}"/>
              </a:ext>
            </a:extLst>
          </p:cNvPr>
          <p:cNvCxnSpPr/>
          <p:nvPr/>
        </p:nvCxnSpPr>
        <p:spPr>
          <a:xfrm>
            <a:off x="1303114" y="308250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9333C2C6-2396-4FB6-9DEA-3B6D517F7801}"/>
              </a:ext>
            </a:extLst>
          </p:cNvPr>
          <p:cNvCxnSpPr/>
          <p:nvPr/>
        </p:nvCxnSpPr>
        <p:spPr>
          <a:xfrm>
            <a:off x="1303114" y="2636912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B023C2E5-191F-4401-92C6-46B2622A2CBA}"/>
              </a:ext>
            </a:extLst>
          </p:cNvPr>
          <p:cNvGrpSpPr/>
          <p:nvPr/>
        </p:nvGrpSpPr>
        <p:grpSpPr>
          <a:xfrm>
            <a:off x="1770620" y="2865863"/>
            <a:ext cx="2390292" cy="527108"/>
            <a:chOff x="1254498" y="2635699"/>
            <a:chExt cx="2390292" cy="347113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EF0177D-9980-4862-8EE3-9FCFC5EE5A1C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7ED53488-58A9-4E19-9E77-B7A4E2955C19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4AC93C2C-D1E5-43B7-A8BE-D984A4CEDFE8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DE24756D-DF19-4C59-BDED-AD3D37C8E73E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E83AF217-23EB-476D-941B-AA094DDA798F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D6A3DACF-363D-45DD-92FE-D2ECEAF3DBF0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9677FDC2-9790-4A3C-81AC-5F917853628F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137273C7-B2BA-4FD2-8B6D-EE260CE782F4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C557756-0ECF-473B-9404-8CBE1043C140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17E6608E-2FB8-46BC-97F2-874DC0DF958C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D5428C4B-7325-49A8-B9F2-16638C5D33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276760"/>
              </p:ext>
            </p:extLst>
          </p:nvPr>
        </p:nvGraphicFramePr>
        <p:xfrm>
          <a:off x="272476" y="3901193"/>
          <a:ext cx="7920880" cy="1183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5121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2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발전량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28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수익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x(SMP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+</a:t>
                      </a:r>
                    </a:p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가중치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B6AB879-C521-4B65-B256-96E52086466E}"/>
              </a:ext>
            </a:extLst>
          </p:cNvPr>
          <p:cNvSpPr/>
          <p:nvPr/>
        </p:nvSpPr>
        <p:spPr>
          <a:xfrm>
            <a:off x="7517537" y="1992619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REC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수익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C4632A4-0C68-4961-B50A-7B514051EA06}"/>
              </a:ext>
            </a:extLst>
          </p:cNvPr>
          <p:cNvCxnSpPr/>
          <p:nvPr/>
        </p:nvCxnSpPr>
        <p:spPr>
          <a:xfrm>
            <a:off x="6941473" y="2114847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DADAE4B5-FA7C-4650-B211-22FAE2A62FC2}"/>
              </a:ext>
            </a:extLst>
          </p:cNvPr>
          <p:cNvSpPr/>
          <p:nvPr/>
        </p:nvSpPr>
        <p:spPr>
          <a:xfrm>
            <a:off x="1973941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EB9400A-98FF-48CE-AC46-95E197ED2C1B}"/>
              </a:ext>
            </a:extLst>
          </p:cNvPr>
          <p:cNvSpPr/>
          <p:nvPr/>
        </p:nvSpPr>
        <p:spPr>
          <a:xfrm>
            <a:off x="2518069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F2FB687-16EC-4230-9626-DE538ADB1AFF}"/>
              </a:ext>
            </a:extLst>
          </p:cNvPr>
          <p:cNvSpPr/>
          <p:nvPr/>
        </p:nvSpPr>
        <p:spPr>
          <a:xfrm>
            <a:off x="30866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E79E1FBC-8FE7-4BEF-9A4C-B5A566E8229E}"/>
              </a:ext>
            </a:extLst>
          </p:cNvPr>
          <p:cNvSpPr/>
          <p:nvPr/>
        </p:nvSpPr>
        <p:spPr>
          <a:xfrm>
            <a:off x="3619132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CFAD2F5-08D5-4862-AFED-98628E969EE5}"/>
              </a:ext>
            </a:extLst>
          </p:cNvPr>
          <p:cNvSpPr/>
          <p:nvPr/>
        </p:nvSpPr>
        <p:spPr>
          <a:xfrm>
            <a:off x="41797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CFD9424-7997-4450-A24A-93DD2A68DCB9}"/>
              </a:ext>
            </a:extLst>
          </p:cNvPr>
          <p:cNvGrpSpPr/>
          <p:nvPr/>
        </p:nvGrpSpPr>
        <p:grpSpPr>
          <a:xfrm>
            <a:off x="242160" y="1268760"/>
            <a:ext cx="8024876" cy="260092"/>
            <a:chOff x="184526" y="1505937"/>
            <a:chExt cx="8024876" cy="260092"/>
          </a:xfrm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8A774828-0E1F-40C6-B342-3A5C51D546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63AEAE6E-AE4E-4A23-B419-15C6646C54C7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FCA6BA-F75D-46B5-A73E-5BCEA687835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02C8DF0-2648-41F4-A1CE-6B5CFDB0720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8B412A3-C7D2-407C-8A69-59C324E0620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35DCB0-E1EF-4116-9F44-258818DCEA0A}"/>
              </a:ext>
            </a:extLst>
          </p:cNvPr>
          <p:cNvSpPr/>
          <p:nvPr/>
        </p:nvSpPr>
        <p:spPr>
          <a:xfrm>
            <a:off x="7688753" y="1625875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68" name="타원형 설명선 226">
            <a:extLst>
              <a:ext uri="{FF2B5EF4-FFF2-40B4-BE49-F238E27FC236}">
                <a16:creationId xmlns:a16="http://schemas.microsoft.com/office/drawing/2014/main" id="{32CC2DB9-610D-4D37-9809-E62B20A6AFEA}"/>
              </a:ext>
            </a:extLst>
          </p:cNvPr>
          <p:cNvSpPr/>
          <p:nvPr/>
        </p:nvSpPr>
        <p:spPr>
          <a:xfrm>
            <a:off x="128462" y="20027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형 설명선 243">
            <a:extLst>
              <a:ext uri="{FF2B5EF4-FFF2-40B4-BE49-F238E27FC236}">
                <a16:creationId xmlns:a16="http://schemas.microsoft.com/office/drawing/2014/main" id="{D1F85B76-89CB-4144-9F59-936C77470B0B}"/>
              </a:ext>
            </a:extLst>
          </p:cNvPr>
          <p:cNvSpPr/>
          <p:nvPr/>
        </p:nvSpPr>
        <p:spPr>
          <a:xfrm>
            <a:off x="115930" y="501317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타원형 설명선 244">
            <a:extLst>
              <a:ext uri="{FF2B5EF4-FFF2-40B4-BE49-F238E27FC236}">
                <a16:creationId xmlns:a16="http://schemas.microsoft.com/office/drawing/2014/main" id="{2CFDBB99-43C9-4543-9883-A38F8DB80250}"/>
              </a:ext>
            </a:extLst>
          </p:cNvPr>
          <p:cNvSpPr/>
          <p:nvPr/>
        </p:nvSpPr>
        <p:spPr>
          <a:xfrm>
            <a:off x="109942" y="38125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타원형 설명선 245">
            <a:extLst>
              <a:ext uri="{FF2B5EF4-FFF2-40B4-BE49-F238E27FC236}">
                <a16:creationId xmlns:a16="http://schemas.microsoft.com/office/drawing/2014/main" id="{B80F2AA6-49E2-4322-A21F-D3AC42FE9C15}"/>
              </a:ext>
            </a:extLst>
          </p:cNvPr>
          <p:cNvSpPr/>
          <p:nvPr/>
        </p:nvSpPr>
        <p:spPr>
          <a:xfrm>
            <a:off x="6834930" y="50502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5C94B5E0-6E60-41AA-8A92-3141C46E344E}"/>
              </a:ext>
            </a:extLst>
          </p:cNvPr>
          <p:cNvSpPr/>
          <p:nvPr/>
        </p:nvSpPr>
        <p:spPr>
          <a:xfrm>
            <a:off x="3450578" y="14586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784916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561703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5"/>
            <a:ext cx="4608512" cy="4883434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B4E966B-3025-4C6D-BE8B-0CEF882847B9}"/>
              </a:ext>
            </a:extLst>
          </p:cNvPr>
          <p:cNvGrpSpPr/>
          <p:nvPr/>
        </p:nvGrpSpPr>
        <p:grpSpPr>
          <a:xfrm>
            <a:off x="2162704" y="5301208"/>
            <a:ext cx="4488118" cy="323428"/>
            <a:chOff x="2162704" y="5301208"/>
            <a:chExt cx="4488118" cy="323428"/>
          </a:xfrm>
        </p:grpSpPr>
        <p:pic>
          <p:nvPicPr>
            <p:cNvPr id="2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7ACDCB8C-EECE-43EA-80CB-7DE1D6C02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F6447086-52BB-4C6A-87B3-F1058CE23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F6999647-2CEE-4125-8ECA-12D1C3503A16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EFBAAD0-CA63-43D3-828C-B1E536C13E2E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B7B0FD6-F1CD-4539-870D-9F2C346E92E4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4996198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1B1EB27-3DFA-4C9B-B6A6-A2D05EC26A8D}"/>
              </a:ext>
            </a:extLst>
          </p:cNvPr>
          <p:cNvSpPr/>
          <p:nvPr/>
        </p:nvSpPr>
        <p:spPr>
          <a:xfrm>
            <a:off x="132047" y="692284"/>
            <a:ext cx="8202089" cy="5617036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343504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777814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통합 명세서 확인 및 출력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425148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2C5C60E-7747-4016-AE8A-04E934E77802}"/>
              </a:ext>
            </a:extLst>
          </p:cNvPr>
          <p:cNvSpPr/>
          <p:nvPr/>
        </p:nvSpPr>
        <p:spPr>
          <a:xfrm>
            <a:off x="2144688" y="777815"/>
            <a:ext cx="4608512" cy="4883434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AAD329AB-F121-464D-BA89-F227BA97A70B}"/>
              </a:ext>
            </a:extLst>
          </p:cNvPr>
          <p:cNvGrpSpPr/>
          <p:nvPr/>
        </p:nvGrpSpPr>
        <p:grpSpPr>
          <a:xfrm>
            <a:off x="2162704" y="5301208"/>
            <a:ext cx="4488118" cy="323428"/>
            <a:chOff x="2162704" y="5301208"/>
            <a:chExt cx="4488118" cy="323428"/>
          </a:xfrm>
        </p:grpSpPr>
        <p:pic>
          <p:nvPicPr>
            <p:cNvPr id="27" name="Picture 4" descr="ì¸ìì ëí ì´ë¯¸ì§ ê²ìê²°ê³¼">
              <a:extLst>
                <a:ext uri="{FF2B5EF4-FFF2-40B4-BE49-F238E27FC236}">
                  <a16:creationId xmlns:a16="http://schemas.microsoft.com/office/drawing/2014/main" id="{BFDF783E-718B-43D7-843F-D530A429E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0465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6" descr="pdfì ëí ì´ë¯¸ì§ ê²ìê²°ê³¼">
              <a:extLst>
                <a:ext uri="{FF2B5EF4-FFF2-40B4-BE49-F238E27FC236}">
                  <a16:creationId xmlns:a16="http://schemas.microsoft.com/office/drawing/2014/main" id="{1E17A422-F987-43A1-A6E3-1BCF9FB338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2704" y="5336922"/>
              <a:ext cx="252000" cy="252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5EE51833-1CA9-481F-9795-90D4F9DEE1CA}"/>
                </a:ext>
              </a:extLst>
            </p:cNvPr>
            <p:cNvSpPr/>
            <p:nvPr/>
          </p:nvSpPr>
          <p:spPr>
            <a:xfrm>
              <a:off x="5490371" y="5301208"/>
              <a:ext cx="1160451" cy="323428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닫기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EDFFBB2-3534-4DA7-BFBC-6199F7BBF0BA}"/>
                </a:ext>
              </a:extLst>
            </p:cNvPr>
            <p:cNvSpPr txBox="1"/>
            <p:nvPr/>
          </p:nvSpPr>
          <p:spPr>
            <a:xfrm>
              <a:off x="2401165" y="5355200"/>
              <a:ext cx="9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PDF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저장하기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7A173E1-5984-4F7E-9814-EF15BA907159}"/>
                </a:ext>
              </a:extLst>
            </p:cNvPr>
            <p:cNvSpPr txBox="1"/>
            <p:nvPr/>
          </p:nvSpPr>
          <p:spPr>
            <a:xfrm>
              <a:off x="3633103" y="5355200"/>
              <a:ext cx="11604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프린터로 인쇄하기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3246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및 전력관리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25E1193C-C045-4DBB-A17D-488132145FCE}"/>
              </a:ext>
            </a:extLst>
          </p:cNvPr>
          <p:cNvGrpSpPr/>
          <p:nvPr/>
        </p:nvGrpSpPr>
        <p:grpSpPr>
          <a:xfrm>
            <a:off x="344488" y="1708105"/>
            <a:ext cx="7776864" cy="3737119"/>
            <a:chOff x="496982" y="1958075"/>
            <a:chExt cx="8203656" cy="416016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6FB85F2F-51DC-4017-8C5E-AD9462F439F6}"/>
                </a:ext>
              </a:extLst>
            </p:cNvPr>
            <p:cNvSpPr/>
            <p:nvPr/>
          </p:nvSpPr>
          <p:spPr>
            <a:xfrm>
              <a:off x="496982" y="1958075"/>
              <a:ext cx="8203656" cy="3559645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D76BB61B-EB69-48A3-9B16-AD0D85F99A5F}"/>
                </a:ext>
              </a:extLst>
            </p:cNvPr>
            <p:cNvSpPr/>
            <p:nvPr/>
          </p:nvSpPr>
          <p:spPr>
            <a:xfrm>
              <a:off x="713006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건물 요금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3DD3059B-7D0A-48A4-87DD-3EF5273677A1}"/>
                </a:ext>
              </a:extLst>
            </p:cNvPr>
            <p:cNvSpPr/>
            <p:nvPr/>
          </p:nvSpPr>
          <p:spPr>
            <a:xfrm>
              <a:off x="2081158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일반용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을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) –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고압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A: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선택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II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D00898D-7121-466D-9484-DE1730F427D5}"/>
                </a:ext>
              </a:extLst>
            </p:cNvPr>
            <p:cNvSpPr/>
            <p:nvPr/>
          </p:nvSpPr>
          <p:spPr>
            <a:xfrm>
              <a:off x="7985814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6921FF9B-B232-4EE2-BF1F-C19E454227F7}"/>
                </a:ext>
              </a:extLst>
            </p:cNvPr>
            <p:cNvSpPr/>
            <p:nvPr/>
          </p:nvSpPr>
          <p:spPr>
            <a:xfrm>
              <a:off x="713006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계약 전력</a:t>
              </a: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FD8C4313-1BCB-438F-97EE-7AD58E3B3AD6}"/>
                </a:ext>
              </a:extLst>
            </p:cNvPr>
            <p:cNvSpPr/>
            <p:nvPr/>
          </p:nvSpPr>
          <p:spPr>
            <a:xfrm>
              <a:off x="2081158" y="2868777"/>
              <a:ext cx="5760640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2,000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C9DB54F-6C1F-4D30-8BB5-B1F176D2C9BE}"/>
                </a:ext>
              </a:extLst>
            </p:cNvPr>
            <p:cNvSpPr/>
            <p:nvPr/>
          </p:nvSpPr>
          <p:spPr>
            <a:xfrm>
              <a:off x="7481758" y="2868777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EB1A4E56-CF77-4437-A347-8E7FFE28F8AD}"/>
                </a:ext>
              </a:extLst>
            </p:cNvPr>
            <p:cNvSpPr/>
            <p:nvPr/>
          </p:nvSpPr>
          <p:spPr>
            <a:xfrm>
              <a:off x="713006" y="3444841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검침일</a:t>
              </a: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93B68E3D-B29A-4E4D-9945-AC41D19FD8A2}"/>
                </a:ext>
              </a:extLst>
            </p:cNvPr>
            <p:cNvSpPr/>
            <p:nvPr/>
          </p:nvSpPr>
          <p:spPr>
            <a:xfrm>
              <a:off x="2081158" y="3444841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30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</a:t>
              </a: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B7672307-B364-426F-A28D-A607AD98270F}"/>
                </a:ext>
              </a:extLst>
            </p:cNvPr>
            <p:cNvSpPr/>
            <p:nvPr/>
          </p:nvSpPr>
          <p:spPr>
            <a:xfrm>
              <a:off x="7985814" y="3444841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85B7855A-7938-4DA6-A426-9AA48BFF085A}"/>
                </a:ext>
              </a:extLst>
            </p:cNvPr>
            <p:cNvSpPr/>
            <p:nvPr/>
          </p:nvSpPr>
          <p:spPr>
            <a:xfrm>
              <a:off x="713006" y="40929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 적용 전력</a:t>
              </a: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2048CCEF-E1D3-408A-A919-2F7C4FA8934A}"/>
                </a:ext>
              </a:extLst>
            </p:cNvPr>
            <p:cNvSpPr/>
            <p:nvPr/>
          </p:nvSpPr>
          <p:spPr>
            <a:xfrm>
              <a:off x="2081158" y="4092913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2018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년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05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월</a:t>
              </a:r>
            </a:p>
          </p:txBody>
        </p:sp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B09CC0CE-834F-43ED-9FB1-5EAC883D15BA}"/>
                </a:ext>
              </a:extLst>
            </p:cNvPr>
            <p:cNvSpPr/>
            <p:nvPr/>
          </p:nvSpPr>
          <p:spPr>
            <a:xfrm>
              <a:off x="4533060" y="40929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46A66324-CF64-47EC-8564-8C54DD26E7F0}"/>
                </a:ext>
              </a:extLst>
            </p:cNvPr>
            <p:cNvSpPr/>
            <p:nvPr/>
          </p:nvSpPr>
          <p:spPr>
            <a:xfrm>
              <a:off x="5033486" y="4092913"/>
              <a:ext cx="2808312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500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70C930F6-A7C9-44DC-80C7-D8DB49B87255}"/>
                </a:ext>
              </a:extLst>
            </p:cNvPr>
            <p:cNvSpPr/>
            <p:nvPr/>
          </p:nvSpPr>
          <p:spPr>
            <a:xfrm>
              <a:off x="7481759" y="409291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F2ACFC8A-5CA1-41FB-B0F0-567E3686BD53}"/>
                </a:ext>
              </a:extLst>
            </p:cNvPr>
            <p:cNvSpPr/>
            <p:nvPr/>
          </p:nvSpPr>
          <p:spPr>
            <a:xfrm>
              <a:off x="713006" y="4740985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목표 전력</a:t>
              </a: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6DB4BABA-2C24-4120-ACBD-8B44264FC38D}"/>
                </a:ext>
              </a:extLst>
            </p:cNvPr>
            <p:cNvSpPr/>
            <p:nvPr/>
          </p:nvSpPr>
          <p:spPr>
            <a:xfrm>
              <a:off x="2081158" y="4740985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450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4DA0D1B4-3322-4523-985F-4EF9BA2C2613}"/>
                </a:ext>
              </a:extLst>
            </p:cNvPr>
            <p:cNvSpPr/>
            <p:nvPr/>
          </p:nvSpPr>
          <p:spPr>
            <a:xfrm>
              <a:off x="7481759" y="4740985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%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30D1016A-13FB-4513-A8E9-706EE203BB52}"/>
                </a:ext>
              </a:extLst>
            </p:cNvPr>
            <p:cNvGrpSpPr/>
            <p:nvPr/>
          </p:nvGrpSpPr>
          <p:grpSpPr>
            <a:xfrm>
              <a:off x="3339556" y="5758198"/>
              <a:ext cx="2630919" cy="360040"/>
              <a:chOff x="3791228" y="5284908"/>
              <a:chExt cx="2630919" cy="360040"/>
            </a:xfrm>
          </p:grpSpPr>
          <p:sp>
            <p:nvSpPr>
              <p:cNvPr id="126" name="직사각형 125">
                <a:extLst>
                  <a:ext uri="{FF2B5EF4-FFF2-40B4-BE49-F238E27FC236}">
                    <a16:creationId xmlns:a16="http://schemas.microsoft.com/office/drawing/2014/main" id="{7726E8D3-148F-4164-832A-268A34EC9F35}"/>
                  </a:ext>
                </a:extLst>
              </p:cNvPr>
              <p:cNvSpPr/>
              <p:nvPr/>
            </p:nvSpPr>
            <p:spPr>
              <a:xfrm>
                <a:off x="3791228" y="5284908"/>
                <a:ext cx="1224136" cy="360040"/>
              </a:xfrm>
              <a:prstGeom prst="rect">
                <a:avLst/>
              </a:prstGeom>
              <a:solidFill>
                <a:srgbClr val="0099FF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설정</a:t>
                </a:r>
              </a:p>
            </p:txBody>
          </p:sp>
          <p:sp>
            <p:nvSpPr>
              <p:cNvPr id="127" name="직사각형 126">
                <a:extLst>
                  <a:ext uri="{FF2B5EF4-FFF2-40B4-BE49-F238E27FC236}">
                    <a16:creationId xmlns:a16="http://schemas.microsoft.com/office/drawing/2014/main" id="{3D9A0764-2FF1-44DF-A947-222307667FC1}"/>
                  </a:ext>
                </a:extLst>
              </p:cNvPr>
              <p:cNvSpPr/>
              <p:nvPr/>
            </p:nvSpPr>
            <p:spPr>
              <a:xfrm>
                <a:off x="5198011" y="5284908"/>
                <a:ext cx="1224136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취소</a:t>
                </a:r>
              </a:p>
            </p:txBody>
          </p:sp>
        </p:grp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43247140-853E-4569-B5FF-5BEC4BAF1FA2}"/>
                </a:ext>
              </a:extLst>
            </p:cNvPr>
            <p:cNvSpPr/>
            <p:nvPr/>
          </p:nvSpPr>
          <p:spPr>
            <a:xfrm>
              <a:off x="6840946" y="4753016"/>
              <a:ext cx="100085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90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AC0338E5-ACB9-4599-9164-14CBAA0BB152}"/>
                </a:ext>
              </a:extLst>
            </p:cNvPr>
            <p:cNvSpPr/>
            <p:nvPr/>
          </p:nvSpPr>
          <p:spPr>
            <a:xfrm>
              <a:off x="4029004" y="475233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F70D8862-861E-48D5-90FB-1CED54845816}"/>
                </a:ext>
              </a:extLst>
            </p:cNvPr>
            <p:cNvSpPr/>
            <p:nvPr/>
          </p:nvSpPr>
          <p:spPr>
            <a:xfrm>
              <a:off x="5135494" y="4758497"/>
              <a:ext cx="155417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요금적용전력대비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1673717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관리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CAE1C9B4-839C-4259-9692-BDAE3D5A83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345368"/>
              </p:ext>
            </p:extLst>
          </p:nvPr>
        </p:nvGraphicFramePr>
        <p:xfrm>
          <a:off x="344488" y="2011852"/>
          <a:ext cx="7776864" cy="1417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6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88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88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6534">
                  <a:extLst>
                    <a:ext uri="{9D8B030D-6E8A-4147-A177-3AD203B41FA5}">
                      <a16:colId xmlns:a16="http://schemas.microsoft.com/office/drawing/2014/main" val="3133273923"/>
                    </a:ext>
                  </a:extLst>
                </a:gridCol>
                <a:gridCol w="2405035">
                  <a:extLst>
                    <a:ext uri="{9D8B030D-6E8A-4147-A177-3AD203B41FA5}">
                      <a16:colId xmlns:a16="http://schemas.microsoft.com/office/drawing/2014/main" val="1728993893"/>
                    </a:ext>
                  </a:extLst>
                </a:gridCol>
                <a:gridCol w="2405035">
                  <a:extLst>
                    <a:ext uri="{9D8B030D-6E8A-4147-A177-3AD203B41FA5}">
                      <a16:colId xmlns:a16="http://schemas.microsoft.com/office/drawing/2014/main" val="33059229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bg1"/>
                          </a:solidFill>
                        </a:rPr>
                        <a:t>사이트 명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bg1"/>
                          </a:solidFill>
                        </a:rPr>
                        <a:t>사이트 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그룹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Local</a:t>
                      </a:r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EMS </a:t>
                      </a:r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주소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</a:rPr>
                        <a:t>등록 장치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그룹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_1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PCS_1 PCS_2 BMS_1 BMS_2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그룹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_1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PCS_3 PCS_4 BMS_3 BMS_4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E2F83205-F9F5-44DA-BD66-A7372F195E14}"/>
              </a:ext>
            </a:extLst>
          </p:cNvPr>
          <p:cNvSpPr txBox="1"/>
          <p:nvPr/>
        </p:nvSpPr>
        <p:spPr>
          <a:xfrm>
            <a:off x="7149244" y="3492686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사이트 추가하기</a:t>
            </a:r>
          </a:p>
        </p:txBody>
      </p:sp>
      <p:pic>
        <p:nvPicPr>
          <p:cNvPr id="28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B28A14A0-3A37-42A6-B62B-4FACB90343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7436" y="2344946"/>
            <a:ext cx="223916" cy="22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81CE7C41-EDA2-463A-B17C-6D90157ACD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1155" y="2628950"/>
            <a:ext cx="223916" cy="22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말풍선: 모서리가 둥근 사각형 29">
            <a:extLst>
              <a:ext uri="{FF2B5EF4-FFF2-40B4-BE49-F238E27FC236}">
                <a16:creationId xmlns:a16="http://schemas.microsoft.com/office/drawing/2014/main" id="{2023721B-059F-44F7-8C31-14835F102F6F}"/>
              </a:ext>
            </a:extLst>
          </p:cNvPr>
          <p:cNvSpPr/>
          <p:nvPr/>
        </p:nvSpPr>
        <p:spPr>
          <a:xfrm>
            <a:off x="3728864" y="1281318"/>
            <a:ext cx="2002538" cy="517793"/>
          </a:xfrm>
          <a:prstGeom prst="wedgeRoundRectCallout">
            <a:avLst>
              <a:gd name="adj1" fmla="val -32905"/>
              <a:gd name="adj2" fmla="val 77306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리스트 內 항목이 확장되면서 추가 및 편집이 가능한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UI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권장 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165978910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A9FCF855-5391-4BAF-BEC3-0614AD2EFDDA}"/>
              </a:ext>
            </a:extLst>
          </p:cNvPr>
          <p:cNvSpPr/>
          <p:nvPr/>
        </p:nvSpPr>
        <p:spPr>
          <a:xfrm>
            <a:off x="1549232" y="1772815"/>
            <a:ext cx="5371466" cy="324035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신규 </a:t>
            </a:r>
            <a:r>
              <a:rPr lang="en-US" altLang="ko-KR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Site </a:t>
            </a: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440171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51507A6-6DC2-4700-8A8B-608C9D16AA26}"/>
              </a:ext>
            </a:extLst>
          </p:cNvPr>
          <p:cNvSpPr/>
          <p:nvPr/>
        </p:nvSpPr>
        <p:spPr>
          <a:xfrm>
            <a:off x="1712640" y="2132856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명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E22907-23EF-4DC4-A448-E6C8457692DF}"/>
              </a:ext>
            </a:extLst>
          </p:cNvPr>
          <p:cNvSpPr/>
          <p:nvPr/>
        </p:nvSpPr>
        <p:spPr>
          <a:xfrm>
            <a:off x="3188653" y="2132856"/>
            <a:ext cx="355868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E9911D3-ABA6-41CD-9FB7-70E779FC86E1}"/>
              </a:ext>
            </a:extLst>
          </p:cNvPr>
          <p:cNvSpPr/>
          <p:nvPr/>
        </p:nvSpPr>
        <p:spPr>
          <a:xfrm>
            <a:off x="1712640" y="2539074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62D155-370B-419A-A2E2-419E0E082F3A}"/>
              </a:ext>
            </a:extLst>
          </p:cNvPr>
          <p:cNvSpPr/>
          <p:nvPr/>
        </p:nvSpPr>
        <p:spPr>
          <a:xfrm>
            <a:off x="3188653" y="2539074"/>
            <a:ext cx="355322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E96ABEF-6C66-493B-9806-DED10E5EA7ED}"/>
              </a:ext>
            </a:extLst>
          </p:cNvPr>
          <p:cNvSpPr/>
          <p:nvPr/>
        </p:nvSpPr>
        <p:spPr>
          <a:xfrm>
            <a:off x="1712640" y="2988941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B31CAAD-AD06-4F6C-B42F-E432DC3E13BC}"/>
              </a:ext>
            </a:extLst>
          </p:cNvPr>
          <p:cNvSpPr/>
          <p:nvPr/>
        </p:nvSpPr>
        <p:spPr>
          <a:xfrm>
            <a:off x="3188653" y="2987721"/>
            <a:ext cx="3223885" cy="3251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51ED3D6-5952-4D1C-98E2-EA986A4EF5CA}"/>
              </a:ext>
            </a:extLst>
          </p:cNvPr>
          <p:cNvSpPr/>
          <p:nvPr/>
        </p:nvSpPr>
        <p:spPr>
          <a:xfrm>
            <a:off x="6412540" y="2987721"/>
            <a:ext cx="334796" cy="32508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AD961B4-8F37-4619-8862-3C6CEB04E2E6}"/>
              </a:ext>
            </a:extLst>
          </p:cNvPr>
          <p:cNvSpPr txBox="1"/>
          <p:nvPr/>
        </p:nvSpPr>
        <p:spPr>
          <a:xfrm>
            <a:off x="6471926" y="2996952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4DF2DB9-9C51-46E6-945D-767F4F3D5024}"/>
              </a:ext>
            </a:extLst>
          </p:cNvPr>
          <p:cNvSpPr/>
          <p:nvPr/>
        </p:nvSpPr>
        <p:spPr>
          <a:xfrm>
            <a:off x="1712640" y="3411026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50" b="1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Loca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EMS </a:t>
            </a: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주소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C81B47-6BCF-4A8D-A182-81E9D7872D05}"/>
              </a:ext>
            </a:extLst>
          </p:cNvPr>
          <p:cNvSpPr/>
          <p:nvPr/>
        </p:nvSpPr>
        <p:spPr>
          <a:xfrm>
            <a:off x="3188653" y="3411026"/>
            <a:ext cx="3558684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AA1358E-BD49-433C-8380-EA312F4BC3E7}"/>
              </a:ext>
            </a:extLst>
          </p:cNvPr>
          <p:cNvSpPr/>
          <p:nvPr/>
        </p:nvSpPr>
        <p:spPr>
          <a:xfrm>
            <a:off x="1707181" y="3834868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Local EMS </a:t>
            </a:r>
            <a:r>
              <a:rPr lang="ko-KR" altLang="en-US" sz="1050" b="1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암호키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BBBEA98-E8BB-48EF-83F7-251178DC3C98}"/>
              </a:ext>
            </a:extLst>
          </p:cNvPr>
          <p:cNvSpPr/>
          <p:nvPr/>
        </p:nvSpPr>
        <p:spPr>
          <a:xfrm>
            <a:off x="3183194" y="3834868"/>
            <a:ext cx="3223885" cy="32275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2FE0130-22E3-47B5-BD0F-33E988137895}"/>
              </a:ext>
            </a:extLst>
          </p:cNvPr>
          <p:cNvSpPr/>
          <p:nvPr/>
        </p:nvSpPr>
        <p:spPr>
          <a:xfrm>
            <a:off x="6407081" y="3833648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545A729-AC69-4F7F-9373-C9003BB9D8B3}"/>
              </a:ext>
            </a:extLst>
          </p:cNvPr>
          <p:cNvSpPr txBox="1"/>
          <p:nvPr/>
        </p:nvSpPr>
        <p:spPr>
          <a:xfrm>
            <a:off x="6466467" y="3771781"/>
            <a:ext cx="21602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295946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A9FCF855-5391-4BAF-BEC3-0614AD2EFDDA}"/>
              </a:ext>
            </a:extLst>
          </p:cNvPr>
          <p:cNvSpPr/>
          <p:nvPr/>
        </p:nvSpPr>
        <p:spPr>
          <a:xfrm>
            <a:off x="1712640" y="1772817"/>
            <a:ext cx="5208058" cy="2736304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6922346"/>
              </p:ext>
            </p:extLst>
          </p:nvPr>
        </p:nvGraphicFramePr>
        <p:xfrm>
          <a:off x="8469313" y="276225"/>
          <a:ext cx="1404000" cy="20158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부하측정기기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모니터링기기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모니터링기기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‘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에너톡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디바이스 설정하기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적용 방안 확인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신규 장치 등록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186625" y="3897660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51507A6-6DC2-4700-8A8B-608C9D16AA26}"/>
              </a:ext>
            </a:extLst>
          </p:cNvPr>
          <p:cNvSpPr/>
          <p:nvPr/>
        </p:nvSpPr>
        <p:spPr>
          <a:xfrm>
            <a:off x="1887584" y="2420888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명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EE22907-23EF-4DC4-A448-E6C8457692DF}"/>
              </a:ext>
            </a:extLst>
          </p:cNvPr>
          <p:cNvSpPr/>
          <p:nvPr/>
        </p:nvSpPr>
        <p:spPr>
          <a:xfrm>
            <a:off x="2936777" y="2420888"/>
            <a:ext cx="3810560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E9911D3-ABA6-41CD-9FB7-70E779FC86E1}"/>
              </a:ext>
            </a:extLst>
          </p:cNvPr>
          <p:cNvSpPr/>
          <p:nvPr/>
        </p:nvSpPr>
        <p:spPr>
          <a:xfrm>
            <a:off x="1887584" y="2827106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62D155-370B-419A-A2E2-419E0E082F3A}"/>
              </a:ext>
            </a:extLst>
          </p:cNvPr>
          <p:cNvSpPr/>
          <p:nvPr/>
        </p:nvSpPr>
        <p:spPr>
          <a:xfrm>
            <a:off x="2936777" y="2827106"/>
            <a:ext cx="3475762" cy="32275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87C8A0-A23B-4558-A142-1EC9A028343D}"/>
              </a:ext>
            </a:extLst>
          </p:cNvPr>
          <p:cNvSpPr/>
          <p:nvPr/>
        </p:nvSpPr>
        <p:spPr>
          <a:xfrm>
            <a:off x="6412540" y="2825886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AF2764-4AFA-4249-B1D0-863F4F9A6172}"/>
              </a:ext>
            </a:extLst>
          </p:cNvPr>
          <p:cNvSpPr txBox="1"/>
          <p:nvPr/>
        </p:nvSpPr>
        <p:spPr>
          <a:xfrm>
            <a:off x="6471926" y="2762844"/>
            <a:ext cx="21602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E4278D7-28A4-4B2E-9690-AB9657D28A5C}"/>
              </a:ext>
            </a:extLst>
          </p:cNvPr>
          <p:cNvSpPr/>
          <p:nvPr/>
        </p:nvSpPr>
        <p:spPr>
          <a:xfrm>
            <a:off x="1892811" y="3243978"/>
            <a:ext cx="1331997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 타입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511C39C-3CAC-4013-97A0-60A8DF2F4296}"/>
              </a:ext>
            </a:extLst>
          </p:cNvPr>
          <p:cNvSpPr/>
          <p:nvPr/>
        </p:nvSpPr>
        <p:spPr>
          <a:xfrm>
            <a:off x="2936776" y="3243978"/>
            <a:ext cx="3480989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B6EF87-EA6E-4F5C-B1B3-9DB4681DC8D1}"/>
              </a:ext>
            </a:extLst>
          </p:cNvPr>
          <p:cNvSpPr/>
          <p:nvPr/>
        </p:nvSpPr>
        <p:spPr>
          <a:xfrm>
            <a:off x="6417767" y="3248978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92D92F3-254C-4F5F-98CD-CD819E569D5B}"/>
              </a:ext>
            </a:extLst>
          </p:cNvPr>
          <p:cNvSpPr txBox="1"/>
          <p:nvPr/>
        </p:nvSpPr>
        <p:spPr>
          <a:xfrm>
            <a:off x="6484366" y="3260104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CA39E0C-E3DF-45A7-BD5F-8CB06F477AA7}"/>
              </a:ext>
            </a:extLst>
          </p:cNvPr>
          <p:cNvSpPr/>
          <p:nvPr/>
        </p:nvSpPr>
        <p:spPr>
          <a:xfrm>
            <a:off x="1892811" y="2003526"/>
            <a:ext cx="1272225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배치 사이트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0C94030-0B57-4E93-8E10-5F0B567B5730}"/>
              </a:ext>
            </a:extLst>
          </p:cNvPr>
          <p:cNvSpPr/>
          <p:nvPr/>
        </p:nvSpPr>
        <p:spPr>
          <a:xfrm>
            <a:off x="2936776" y="2003526"/>
            <a:ext cx="3475763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7CDCFEB-3D60-40B6-88B8-17AEE1357036}"/>
              </a:ext>
            </a:extLst>
          </p:cNvPr>
          <p:cNvSpPr/>
          <p:nvPr/>
        </p:nvSpPr>
        <p:spPr>
          <a:xfrm>
            <a:off x="6411547" y="2000579"/>
            <a:ext cx="334796" cy="323974"/>
          </a:xfrm>
          <a:prstGeom prst="rect">
            <a:avLst/>
          </a:prstGeom>
          <a:noFill/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ctr">
              <a:lnSpc>
                <a:spcPct val="150000"/>
              </a:lnSpc>
            </a:pP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DDB62B1-218C-4C75-8173-E95169E1A7E7}"/>
              </a:ext>
            </a:extLst>
          </p:cNvPr>
          <p:cNvSpPr txBox="1"/>
          <p:nvPr/>
        </p:nvSpPr>
        <p:spPr>
          <a:xfrm>
            <a:off x="6478146" y="2024145"/>
            <a:ext cx="21602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▽</a:t>
            </a:r>
          </a:p>
        </p:txBody>
      </p:sp>
    </p:spTree>
    <p:extLst>
      <p:ext uri="{BB962C8B-B14F-4D97-AF65-F5344CB8AC3E}">
        <p14:creationId xmlns:p14="http://schemas.microsoft.com/office/powerpoint/2010/main" val="402213457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9690953"/>
              </p:ext>
            </p:extLst>
          </p:nvPr>
        </p:nvGraphicFramePr>
        <p:xfrm>
          <a:off x="8469313" y="276225"/>
          <a:ext cx="1404000" cy="340569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등록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그룹 편집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장치 등록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로컬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주소와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암호키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설정 부분 필요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에너톡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디바이스 설정하기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부하측정기기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모니터링기기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등의 장치를 등록하고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등록시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입력받은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파라미터로 사용하여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API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호출함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그룹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708105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71D6F2F-4D76-4573-B317-7143359A41E1}"/>
              </a:ext>
            </a:extLst>
          </p:cNvPr>
          <p:cNvGrpSpPr/>
          <p:nvPr/>
        </p:nvGrpSpPr>
        <p:grpSpPr>
          <a:xfrm>
            <a:off x="452652" y="2040076"/>
            <a:ext cx="7560534" cy="2469044"/>
            <a:chOff x="416802" y="2292713"/>
            <a:chExt cx="8130597" cy="2743910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3F865AF4-D812-4E47-8A2C-BB70C9A7446E}"/>
                </a:ext>
              </a:extLst>
            </p:cNvPr>
            <p:cNvSpPr/>
            <p:nvPr/>
          </p:nvSpPr>
          <p:spPr>
            <a:xfrm>
              <a:off x="416802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명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44E89D5-57EC-4427-A76C-DEC387D92F51}"/>
                </a:ext>
              </a:extLst>
            </p:cNvPr>
            <p:cNvSpPr/>
            <p:nvPr/>
          </p:nvSpPr>
          <p:spPr>
            <a:xfrm>
              <a:off x="1784954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 정밀 화학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BE2D75D4-0BB3-4E93-856D-B663937405D5}"/>
                </a:ext>
              </a:extLst>
            </p:cNvPr>
            <p:cNvSpPr/>
            <p:nvPr/>
          </p:nvSpPr>
          <p:spPr>
            <a:xfrm>
              <a:off x="1089718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내 사이트</a:t>
              </a:r>
            </a:p>
          </p:txBody>
        </p: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7F805C03-852D-4E38-823B-7B260687800F}"/>
                </a:ext>
              </a:extLst>
            </p:cNvPr>
            <p:cNvGrpSpPr/>
            <p:nvPr/>
          </p:nvGrpSpPr>
          <p:grpSpPr>
            <a:xfrm>
              <a:off x="1100656" y="3228816"/>
              <a:ext cx="3538932" cy="1807807"/>
              <a:chOff x="1100657" y="3228816"/>
              <a:chExt cx="2668622" cy="1807807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0B3E5012-7687-467A-9A40-176235875AE4}"/>
                  </a:ext>
                </a:extLst>
              </p:cNvPr>
              <p:cNvSpPr/>
              <p:nvPr/>
            </p:nvSpPr>
            <p:spPr>
              <a:xfrm>
                <a:off x="1100657" y="3228817"/>
                <a:ext cx="23192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  <a:endPara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8ABDD246-FAC3-4FD7-AED1-015D2C7A4F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633802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1717978E-CB68-4667-B2C8-4A96593EA3C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973891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56D50F60-0FF8-44E4-A909-A86EB5A7EE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4323930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" name="Picture 4" descr="ê´ë ¨ ì´ë¯¸ì§">
                <a:extLst>
                  <a:ext uri="{FF2B5EF4-FFF2-40B4-BE49-F238E27FC236}">
                    <a16:creationId xmlns:a16="http://schemas.microsoft.com/office/drawing/2014/main" id="{6F44EBD6-67AB-4639-88A7-F21429C49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02287" y="3228816"/>
                <a:ext cx="866992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A6EEDE16-7A2F-439E-A0EB-09D7BA5068B2}"/>
                </a:ext>
              </a:extLst>
            </p:cNvPr>
            <p:cNvGrpSpPr/>
            <p:nvPr/>
          </p:nvGrpSpPr>
          <p:grpSpPr>
            <a:xfrm>
              <a:off x="5092008" y="3211572"/>
              <a:ext cx="3455391" cy="1807807"/>
              <a:chOff x="5364088" y="3211572"/>
              <a:chExt cx="3183311" cy="1807807"/>
            </a:xfrm>
          </p:grpSpPr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52821123-AFBB-4823-AEB1-DA07B26BB164}"/>
                  </a:ext>
                </a:extLst>
              </p:cNvPr>
              <p:cNvSpPr/>
              <p:nvPr/>
            </p:nvSpPr>
            <p:spPr>
              <a:xfrm>
                <a:off x="5364088" y="3211573"/>
                <a:ext cx="27665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Site_04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Site_05</a:t>
                </a:r>
                <a:endPara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81BACF2B-3F89-430B-9BC1-726CA834F6C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590919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CE1917E2-7952-415E-B1F7-43B1DC41AA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95005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EF693D65-E3B0-497B-91F7-D1286E253A6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285724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6E0D5C54-9FEC-44ED-8A61-00725E4E7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13193" y="3211572"/>
                <a:ext cx="1034206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6CD9608D-1C2B-4A79-9E37-6F8B167FEC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62823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C24B7912-C57E-4BAC-ADE4-FC75497AA8C6}"/>
                </a:ext>
              </a:extLst>
            </p:cNvPr>
            <p:cNvGrpSpPr/>
            <p:nvPr/>
          </p:nvGrpSpPr>
          <p:grpSpPr>
            <a:xfrm>
              <a:off x="4429807" y="3689271"/>
              <a:ext cx="423448" cy="828962"/>
              <a:chOff x="4437543" y="3456671"/>
              <a:chExt cx="423448" cy="828962"/>
            </a:xfrm>
          </p:grpSpPr>
          <p:pic>
            <p:nvPicPr>
              <p:cNvPr id="67" name="Picture 6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42F4033E-32DD-4EA0-B8B6-9FDBCAFE5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4437544" y="3456671"/>
                <a:ext cx="423447" cy="42344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8" name="Picture 8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D4A218E6-1CBE-4834-B8A3-5D1653EFC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37543" y="3862185"/>
                <a:ext cx="423448" cy="4234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3C75D86-456C-40F9-8DD5-C0EA33A6DFA9}"/>
                </a:ext>
              </a:extLst>
            </p:cNvPr>
            <p:cNvSpPr/>
            <p:nvPr/>
          </p:nvSpPr>
          <p:spPr>
            <a:xfrm>
              <a:off x="5039025" y="2869844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전체 사이트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E7F3C013-B344-4F51-9EF0-D4AB977EE137}"/>
                </a:ext>
              </a:extLst>
            </p:cNvPr>
            <p:cNvSpPr/>
            <p:nvPr/>
          </p:nvSpPr>
          <p:spPr>
            <a:xfrm>
              <a:off x="7689610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1209702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569205" y="2663105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614984" y="313123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569205" y="180307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577084" y="206905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589447" y="364553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589447" y="419190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577084" y="124245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577084" y="14944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567176" y="237514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447600" y="8952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사용자 관리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3166013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27409975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필수">
  <a:themeElements>
    <a:clrScheme name="필수">
      <a:dk1>
        <a:srgbClr val="000000"/>
      </a:dk1>
      <a:lt1>
        <a:srgbClr val="FFFFFF"/>
      </a:lt1>
      <a:dk2>
        <a:srgbClr val="D1282E"/>
      </a:dk2>
      <a:lt2>
        <a:srgbClr val="C8C8B1"/>
      </a:lt2>
      <a:accent1>
        <a:srgbClr val="7A7A7A"/>
      </a:accent1>
      <a:accent2>
        <a:srgbClr val="F5C201"/>
      </a:accent2>
      <a:accent3>
        <a:srgbClr val="526DB0"/>
      </a:accent3>
      <a:accent4>
        <a:srgbClr val="989AAC"/>
      </a:accent4>
      <a:accent5>
        <a:srgbClr val="DC5924"/>
      </a:accent5>
      <a:accent6>
        <a:srgbClr val="B4B392"/>
      </a:accent6>
      <a:hlink>
        <a:srgbClr val="CC9900"/>
      </a:hlink>
      <a:folHlink>
        <a:srgbClr val="969696"/>
      </a:folHlink>
    </a:clrScheme>
    <a:fontScheme name="필수">
      <a:majorFont>
        <a:latin typeface="Arial Black"/>
        <a:ea typeface=""/>
        <a:cs typeface=""/>
        <a:font script="Jpan" typeface="ＭＳ Ｐゴシック"/>
        <a:font script="Hang" typeface="HY견고딕"/>
        <a:font script="Hans" typeface="微软雅黑"/>
        <a:font script="Hant" typeface="微軟正黑體"/>
        <a:font script="Arab" typeface="Tahoma"/>
        <a:font script="Hebr" typeface="Tahoma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필수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250000"/>
              </a:schemeClr>
            </a:gs>
            <a:gs pos="35000">
              <a:schemeClr val="phClr">
                <a:tint val="47000"/>
                <a:satMod val="275000"/>
              </a:schemeClr>
            </a:gs>
            <a:gs pos="100000">
              <a:schemeClr val="phClr">
                <a:tint val="25000"/>
                <a:satMod val="300000"/>
              </a:schemeClr>
            </a:gs>
          </a:gsLst>
          <a:lin ang="16200000" scaled="1"/>
        </a:gradFill>
        <a:solidFill>
          <a:schemeClr val="phClr">
            <a:satMod val="110000"/>
          </a:schemeClr>
        </a:solidFill>
      </a:fillStyleLst>
      <a:lnStyleLst>
        <a:ln w="12700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8575" cap="flat" cmpd="sng" algn="ctr">
          <a:solidFill>
            <a:schemeClr val="phClr"/>
          </a:solidFill>
          <a:prstDash val="solid"/>
        </a:ln>
        <a:ln w="4127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9999" dist="23000" algn="bl" rotWithShape="0">
              <a:srgbClr val="000000">
                <a:alpha val="40000"/>
              </a:srgbClr>
            </a:outerShdw>
          </a:effectLst>
        </a:effectStyle>
        <a:effectStyle>
          <a:effectLst>
            <a:outerShdw blurRad="38100" dist="19050" algn="bl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l"/>
          </a:scene3d>
          <a:sp3d prstMaterial="plastic">
            <a:bevelT w="38100" h="31750"/>
          </a:sp3d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96000"/>
              </a:schemeClr>
              <a:schemeClr val="phClr">
                <a:shade val="94000"/>
              </a:schemeClr>
            </a:duotone>
          </a:blip>
          <a:tile tx="0" ty="0" sx="100000" sy="100000" flip="none" algn="tl"/>
        </a:blipFill>
        <a:gradFill rotWithShape="1">
          <a:gsLst>
            <a:gs pos="0">
              <a:schemeClr val="phClr">
                <a:tint val="84000"/>
                <a:satMod val="110000"/>
              </a:schemeClr>
            </a:gs>
            <a:gs pos="44000">
              <a:schemeClr val="phClr">
                <a:tint val="93000"/>
                <a:satMod val="115000"/>
              </a:schemeClr>
            </a:gs>
            <a:gs pos="100000">
              <a:schemeClr val="phClr">
                <a:tint val="100000"/>
                <a:shade val="59000"/>
                <a:satMod val="120000"/>
              </a:schemeClr>
            </a:gs>
          </a:gsLst>
          <a:path path="circle">
            <a:fillToRect l="40000" t="60000" r="60000" b="4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Essential</Template>
  <TotalTime>9904</TotalTime>
  <Words>14626</Words>
  <Application>Microsoft Office PowerPoint</Application>
  <PresentationFormat>A4 용지(210x297mm)</PresentationFormat>
  <Paragraphs>6155</Paragraphs>
  <Slides>57</Slides>
  <Notes>57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57</vt:i4>
      </vt:variant>
    </vt:vector>
  </HeadingPairs>
  <TitlesOfParts>
    <vt:vector size="67" baseType="lpstr">
      <vt:lpstr>Gill Sans</vt:lpstr>
      <vt:lpstr>HY견고딕</vt:lpstr>
      <vt:lpstr>굴림</vt:lpstr>
      <vt:lpstr>돋움</vt:lpstr>
      <vt:lpstr>맑은 고딕</vt:lpstr>
      <vt:lpstr>Arial</vt:lpstr>
      <vt:lpstr>Arial Black</vt:lpstr>
      <vt:lpstr>Times New Roman</vt:lpstr>
      <vt:lpstr>Wingdings</vt:lpstr>
      <vt:lpstr>필수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inlab17</dc:creator>
  <cp:lastModifiedBy>Kim Lein</cp:lastModifiedBy>
  <cp:revision>584</cp:revision>
  <cp:lastPrinted>2013-09-25T02:48:14Z</cp:lastPrinted>
  <dcterms:created xsi:type="dcterms:W3CDTF">2013-09-25T02:46:15Z</dcterms:created>
  <dcterms:modified xsi:type="dcterms:W3CDTF">2018-07-30T17:47:20Z</dcterms:modified>
</cp:coreProperties>
</file>
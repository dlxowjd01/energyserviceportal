
<file path=[Content_Types].xml><?xml version="1.0" encoding="utf-8"?>
<Types xmlns="http://schemas.openxmlformats.org/package/2006/content-types">
  <Default Extension="png" ContentType="image/png"/>
  <Default Extension="jpeg" ContentType="image/jpeg"/>
  <Default Extension="rels" ContentType="application/vnd.openxmlformats-package.relationships+xml"/>
  <Default Extension="xml" ContentType="application/xml"/>
  <Default Extension="gif" ContentType="image/gif"/>
  <Default Extension="xlsx" ContentType="application/vnd.openxmlformats-officedocument.spreadsheetml.sheet"/>
  <Default Extension="jpg" ContentType="image/jpe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charts/chart1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charts/chart2.xml" ContentType="application/vnd.openxmlformats-officedocument.drawingml.chart+xml"/>
  <Override PartName="/ppt/charts/style2.xml" ContentType="application/vnd.ms-office.chartstyle+xml"/>
  <Override PartName="/ppt/charts/colors2.xml" ContentType="application/vnd.ms-office.chartcolorstyl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ppt/notesSlides/notesSlide50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53.xml" ContentType="application/vnd.openxmlformats-officedocument.presentationml.notesSlide+xml"/>
  <Override PartName="/ppt/notesSlides/notesSlide54.xml" ContentType="application/vnd.openxmlformats-officedocument.presentationml.notesSlide+xml"/>
  <Override PartName="/ppt/notesSlides/notesSlide55.xml" ContentType="application/vnd.openxmlformats-officedocument.presentationml.notesSlide+xml"/>
  <Override PartName="/ppt/notesSlides/notesSlide56.xml" ContentType="application/vnd.openxmlformats-officedocument.presentationml.notesSlide+xml"/>
  <Override PartName="/ppt/notesSlides/notesSlide57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howSpecialPlsOnTitleSld="0" saveSubsetFonts="1">
  <p:sldMasterIdLst>
    <p:sldMasterId id="2147483948" r:id="rId1"/>
  </p:sldMasterIdLst>
  <p:notesMasterIdLst>
    <p:notesMasterId r:id="rId59"/>
  </p:notesMasterIdLst>
  <p:sldIdLst>
    <p:sldId id="330" r:id="rId2"/>
    <p:sldId id="331" r:id="rId3"/>
    <p:sldId id="315" r:id="rId4"/>
    <p:sldId id="332" r:id="rId5"/>
    <p:sldId id="333" r:id="rId6"/>
    <p:sldId id="335" r:id="rId7"/>
    <p:sldId id="336" r:id="rId8"/>
    <p:sldId id="337" r:id="rId9"/>
    <p:sldId id="334" r:id="rId10"/>
    <p:sldId id="362" r:id="rId11"/>
    <p:sldId id="363" r:id="rId12"/>
    <p:sldId id="339" r:id="rId13"/>
    <p:sldId id="364" r:id="rId14"/>
    <p:sldId id="365" r:id="rId15"/>
    <p:sldId id="340" r:id="rId16"/>
    <p:sldId id="342" r:id="rId17"/>
    <p:sldId id="366" r:id="rId18"/>
    <p:sldId id="341" r:id="rId19"/>
    <p:sldId id="367" r:id="rId20"/>
    <p:sldId id="344" r:id="rId21"/>
    <p:sldId id="345" r:id="rId22"/>
    <p:sldId id="369" r:id="rId23"/>
    <p:sldId id="346" r:id="rId24"/>
    <p:sldId id="370" r:id="rId25"/>
    <p:sldId id="371" r:id="rId26"/>
    <p:sldId id="347" r:id="rId27"/>
    <p:sldId id="349" r:id="rId28"/>
    <p:sldId id="348" r:id="rId29"/>
    <p:sldId id="372" r:id="rId30"/>
    <p:sldId id="351" r:id="rId31"/>
    <p:sldId id="350" r:id="rId32"/>
    <p:sldId id="374" r:id="rId33"/>
    <p:sldId id="379" r:id="rId34"/>
    <p:sldId id="376" r:id="rId35"/>
    <p:sldId id="377" r:id="rId36"/>
    <p:sldId id="375" r:id="rId37"/>
    <p:sldId id="355" r:id="rId38"/>
    <p:sldId id="368" r:id="rId39"/>
    <p:sldId id="380" r:id="rId40"/>
    <p:sldId id="381" r:id="rId41"/>
    <p:sldId id="356" r:id="rId42"/>
    <p:sldId id="357" r:id="rId43"/>
    <p:sldId id="385" r:id="rId44"/>
    <p:sldId id="358" r:id="rId45"/>
    <p:sldId id="384" r:id="rId46"/>
    <p:sldId id="359" r:id="rId47"/>
    <p:sldId id="389" r:id="rId48"/>
    <p:sldId id="360" r:id="rId49"/>
    <p:sldId id="390" r:id="rId50"/>
    <p:sldId id="391" r:id="rId51"/>
    <p:sldId id="343" r:id="rId52"/>
    <p:sldId id="386" r:id="rId53"/>
    <p:sldId id="388" r:id="rId54"/>
    <p:sldId id="387" r:id="rId55"/>
    <p:sldId id="361" r:id="rId56"/>
    <p:sldId id="382" r:id="rId57"/>
    <p:sldId id="392" r:id="rId58"/>
  </p:sldIdLst>
  <p:sldSz cx="9906000" cy="6858000" type="A4"/>
  <p:notesSz cx="6805613" cy="9939338"/>
  <p:defaultTextStyle>
    <a:defPPr>
      <a:defRPr lang="ko-KR"/>
    </a:defPPr>
    <a:lvl1pPr marL="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663" userDrawn="1">
          <p15:clr>
            <a:srgbClr val="A4A3A4"/>
          </p15:clr>
        </p15:guide>
        <p15:guide id="2" pos="308" userDrawn="1">
          <p15:clr>
            <a:srgbClr val="A4A3A4"/>
          </p15:clr>
        </p15:guide>
        <p15:guide id="3" pos="4980" userDrawn="1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0066FF"/>
    <a:srgbClr val="FF6600"/>
    <a:srgbClr val="FF9933"/>
    <a:srgbClr val="CCECFF"/>
    <a:srgbClr val="0099FF"/>
    <a:srgbClr val="353760"/>
    <a:srgbClr val="FF0000"/>
    <a:srgbClr val="008080"/>
    <a:srgbClr val="6699FF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보통 스타일 2 - 강조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9731" autoAdjust="0"/>
    <p:restoredTop sz="97442" autoAdjust="0"/>
  </p:normalViewPr>
  <p:slideViewPr>
    <p:cSldViewPr>
      <p:cViewPr varScale="1">
        <p:scale>
          <a:sx n="146" d="100"/>
          <a:sy n="146" d="100"/>
        </p:scale>
        <p:origin x="132" y="486"/>
      </p:cViewPr>
      <p:guideLst>
        <p:guide orient="horz" pos="663"/>
        <p:guide pos="308"/>
        <p:guide pos="4980"/>
      </p:guideLst>
    </p:cSldViewPr>
  </p:slideViewPr>
  <p:outlineViewPr>
    <p:cViewPr>
      <p:scale>
        <a:sx n="33" d="100"/>
        <a:sy n="33" d="100"/>
      </p:scale>
      <p:origin x="0" y="0"/>
    </p:cViewPr>
  </p:outlineViewPr>
  <p:notesTextViewPr>
    <p:cViewPr>
      <p:scale>
        <a:sx n="1" d="1"/>
        <a:sy n="1" d="1"/>
      </p:scale>
      <p:origin x="0" y="0"/>
    </p:cViewPr>
  </p:notesTextViewPr>
  <p:notesViewPr>
    <p:cSldViewPr>
      <p:cViewPr varScale="1">
        <p:scale>
          <a:sx n="81" d="100"/>
          <a:sy n="81" d="100"/>
        </p:scale>
        <p:origin x="2334" y="102"/>
      </p:cViewPr>
      <p:guideLst/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9" Type="http://schemas.openxmlformats.org/officeDocument/2006/relationships/slide" Target="slides/slide38.xml"/><Relationship Id="rId21" Type="http://schemas.openxmlformats.org/officeDocument/2006/relationships/slide" Target="slides/slide20.xml"/><Relationship Id="rId34" Type="http://schemas.openxmlformats.org/officeDocument/2006/relationships/slide" Target="slides/slide33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63" Type="http://schemas.openxmlformats.org/officeDocument/2006/relationships/tableStyles" Target="tableStyles.xml"/><Relationship Id="rId7" Type="http://schemas.openxmlformats.org/officeDocument/2006/relationships/slide" Target="slides/slide6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slide" Target="slides/slide28.xml"/><Relationship Id="rId41" Type="http://schemas.openxmlformats.org/officeDocument/2006/relationships/slide" Target="slides/slide40.xml"/><Relationship Id="rId54" Type="http://schemas.openxmlformats.org/officeDocument/2006/relationships/slide" Target="slides/slide53.xml"/><Relationship Id="rId62" Type="http://schemas.openxmlformats.org/officeDocument/2006/relationships/theme" Target="theme/theme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slide" Target="slides/slide56.xml"/><Relationship Id="rId61" Type="http://schemas.openxmlformats.org/officeDocument/2006/relationships/viewProps" Target="viewProps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presProps" Target="presProp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56" Type="http://schemas.openxmlformats.org/officeDocument/2006/relationships/slide" Target="slides/slide55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slide" Target="slides/slide45.xml"/><Relationship Id="rId59" Type="http://schemas.openxmlformats.org/officeDocument/2006/relationships/notesMaster" Target="notesMasters/notesMaster1.xml"/></Relationships>
</file>

<file path=ppt/charts/_rels/chart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.xlsx"/><Relationship Id="rId2" Type="http://schemas.microsoft.com/office/2011/relationships/chartColorStyle" Target="colors1.xml"/><Relationship Id="rId1" Type="http://schemas.microsoft.com/office/2011/relationships/chartStyle" Target="style1.xml"/></Relationships>
</file>

<file path=ppt/charts/_rels/chart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.xlsx"/><Relationship Id="rId2" Type="http://schemas.microsoft.com/office/2011/relationships/chartColorStyle" Target="colors2.xml"/><Relationship Id="rId1" Type="http://schemas.microsoft.com/office/2011/relationships/chartStyle" Target="style2.xm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pie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열1</c:v>
                </c:pt>
              </c:strCache>
            </c:strRef>
          </c:tx>
          <c:dPt>
            <c:idx val="0"/>
            <c:bubble3D val="0"/>
            <c:spPr>
              <a:solidFill>
                <a:srgbClr val="0070C0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C3E0-476F-9E2A-29309113FC37}"/>
              </c:ext>
            </c:extLst>
          </c:dPt>
          <c:dPt>
            <c:idx val="1"/>
            <c:bubble3D val="0"/>
            <c:spPr>
              <a:solidFill>
                <a:schemeClr val="accent2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2-C3E0-476F-9E2A-29309113FC37}"/>
              </c:ext>
            </c:extLst>
          </c:dPt>
          <c:dPt>
            <c:idx val="2"/>
            <c:bubble3D val="0"/>
            <c:spPr>
              <a:solidFill>
                <a:schemeClr val="accent3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5-D13F-464E-8745-54076EDEFCC2}"/>
              </c:ext>
            </c:extLst>
          </c:dPt>
          <c:dPt>
            <c:idx val="3"/>
            <c:bubble3D val="0"/>
            <c:spPr>
              <a:solidFill>
                <a:schemeClr val="accent4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7-D13F-464E-8745-54076EDEFCC2}"/>
              </c:ext>
            </c:extLst>
          </c:dPt>
          <c:cat>
            <c:strRef>
              <c:f>Sheet1!$A$2:$A$5</c:f>
              <c:strCache>
                <c:ptCount val="2"/>
                <c:pt idx="0">
                  <c:v>전기요금 절감 30,746,834</c:v>
                </c:pt>
                <c:pt idx="1">
                  <c:v>전기요금 납부액 2,185,494,380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2</c:v>
                </c:pt>
                <c:pt idx="1">
                  <c:v>98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C3E0-476F-9E2A-29309113FC3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85"/>
      </c:pieChart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ko-KR"/>
    </a:p>
  </c:txPr>
  <c:externalData r:id="rId3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계열 1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cat>
            <c:strRef>
              <c:f>Sheet1!$A$2:$A$5</c:f>
              <c:strCache>
                <c:ptCount val="1"/>
                <c:pt idx="0">
                  <c:v>항목 1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80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9675-43DB-84BA-101240F0E38B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계열 2</c:v>
                </c:pt>
              </c:strCache>
            </c:strRef>
          </c:tx>
          <c:spPr>
            <a:solidFill>
              <a:srgbClr val="FF6600"/>
            </a:solidFill>
            <a:ln>
              <a:noFill/>
            </a:ln>
            <a:effectLst/>
          </c:spPr>
          <c:invertIfNegative val="0"/>
          <c:cat>
            <c:strRef>
              <c:f>Sheet1!$A$2:$A$5</c:f>
              <c:strCache>
                <c:ptCount val="1"/>
                <c:pt idx="0">
                  <c:v>항목 1</c:v>
                </c:pt>
              </c:strCache>
            </c:strRef>
          </c:cat>
          <c:val>
            <c:numRef>
              <c:f>Sheet1!$C$2:$C$5</c:f>
              <c:numCache>
                <c:formatCode>General</c:formatCode>
                <c:ptCount val="4"/>
                <c:pt idx="0">
                  <c:v>10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9675-43DB-84BA-101240F0E38B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계열 3</c:v>
                </c:pt>
              </c:strCache>
            </c:strRef>
          </c:tx>
          <c:spPr>
            <a:solidFill>
              <a:schemeClr val="accent3"/>
            </a:solidFill>
            <a:ln>
              <a:noFill/>
            </a:ln>
            <a:effectLst/>
          </c:spPr>
          <c:invertIfNegative val="0"/>
          <c:cat>
            <c:strRef>
              <c:f>Sheet1!$A$2:$A$5</c:f>
              <c:strCache>
                <c:ptCount val="1"/>
                <c:pt idx="0">
                  <c:v>항목 1</c:v>
                </c:pt>
              </c:strCache>
            </c:strRef>
          </c:cat>
          <c:val>
            <c:numRef>
              <c:f>Sheet1!$D$2:$D$5</c:f>
              <c:numCache>
                <c:formatCode>General</c:formatCode>
                <c:ptCount val="4"/>
                <c:pt idx="0">
                  <c:v>10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9675-43DB-84BA-101240F0E38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overlap val="100"/>
        <c:axId val="685239296"/>
        <c:axId val="685240608"/>
      </c:barChart>
      <c:catAx>
        <c:axId val="685239296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685240608"/>
        <c:crosses val="autoZero"/>
        <c:auto val="1"/>
        <c:lblAlgn val="ctr"/>
        <c:lblOffset val="100"/>
        <c:noMultiLvlLbl val="0"/>
      </c:catAx>
      <c:valAx>
        <c:axId val="685240608"/>
        <c:scaling>
          <c:orientation val="minMax"/>
        </c:scaling>
        <c:delete val="1"/>
        <c:axPos val="l"/>
        <c:numFmt formatCode="General" sourceLinked="1"/>
        <c:majorTickMark val="none"/>
        <c:minorTickMark val="none"/>
        <c:tickLblPos val="nextTo"/>
        <c:crossAx val="685239296"/>
        <c:crosses val="autoZero"/>
        <c:crossBetween val="between"/>
      </c:valAx>
      <c:spPr>
        <a:noFill/>
        <a:ln w="25400"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ko-KR"/>
    </a:p>
  </c:txPr>
  <c:externalData r:id="rId3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머리글 개체 틀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9575" cy="4968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ko-KR" altLang="en-US"/>
          </a:p>
        </p:txBody>
      </p:sp>
      <p:sp>
        <p:nvSpPr>
          <p:cNvPr id="3" name="날짜 개체 틀 2"/>
          <p:cNvSpPr>
            <a:spLocks noGrp="1"/>
          </p:cNvSpPr>
          <p:nvPr>
            <p:ph type="dt" idx="1"/>
          </p:nvPr>
        </p:nvSpPr>
        <p:spPr>
          <a:xfrm>
            <a:off x="3854450" y="0"/>
            <a:ext cx="2949575" cy="4968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6BEA7093-58B2-4FDF-8F49-8AF83CC55B51}" type="datetimeFigureOut">
              <a:rPr lang="ko-KR" altLang="en-US" smtClean="0"/>
              <a:pPr/>
              <a:t>2018-08-01</a:t>
            </a:fld>
            <a:endParaRPr lang="ko-KR" altLang="en-US"/>
          </a:p>
        </p:txBody>
      </p:sp>
      <p:sp>
        <p:nvSpPr>
          <p:cNvPr id="4" name="슬라이드 이미지 개체 틀 3"/>
          <p:cNvSpPr>
            <a:spLocks noGrp="1" noRot="1" noChangeAspect="1"/>
          </p:cNvSpPr>
          <p:nvPr>
            <p:ph type="sldImg" idx="2"/>
          </p:nvPr>
        </p:nvSpPr>
        <p:spPr>
          <a:xfrm>
            <a:off x="712788" y="746125"/>
            <a:ext cx="5381625" cy="3725863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ko-KR" altLang="en-US"/>
          </a:p>
        </p:txBody>
      </p:sp>
      <p:sp>
        <p:nvSpPr>
          <p:cNvPr id="5" name="슬라이드 노트 개체 틀 4"/>
          <p:cNvSpPr>
            <a:spLocks noGrp="1"/>
          </p:cNvSpPr>
          <p:nvPr>
            <p:ph type="body" sz="quarter" idx="3"/>
          </p:nvPr>
        </p:nvSpPr>
        <p:spPr>
          <a:xfrm>
            <a:off x="681038" y="4721225"/>
            <a:ext cx="5443537" cy="4471988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  <p:sp>
        <p:nvSpPr>
          <p:cNvPr id="6" name="바닥글 개체 틀 5"/>
          <p:cNvSpPr>
            <a:spLocks noGrp="1"/>
          </p:cNvSpPr>
          <p:nvPr>
            <p:ph type="ftr" sz="quarter" idx="4"/>
          </p:nvPr>
        </p:nvSpPr>
        <p:spPr>
          <a:xfrm>
            <a:off x="0" y="9440863"/>
            <a:ext cx="2949575" cy="4968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ko-KR" altLang="en-US"/>
          </a:p>
        </p:txBody>
      </p:sp>
      <p:sp>
        <p:nvSpPr>
          <p:cNvPr id="7" name="슬라이드 번호 개체 틀 6"/>
          <p:cNvSpPr>
            <a:spLocks noGrp="1"/>
          </p:cNvSpPr>
          <p:nvPr>
            <p:ph type="sldNum" sz="quarter" idx="5"/>
          </p:nvPr>
        </p:nvSpPr>
        <p:spPr>
          <a:xfrm>
            <a:off x="3854450" y="9440863"/>
            <a:ext cx="2949575" cy="4968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E884046E-A8C5-48C1-8A0A-C37BBB40AD6E}" type="slidenum">
              <a:rPr lang="ko-KR" altLang="en-US" smtClean="0"/>
              <a:pPr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372656668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0.xml"/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1.xml"/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2.xml"/><Relationship Id="rId1" Type="http://schemas.openxmlformats.org/officeDocument/2006/relationships/notesMaster" Target="../notesMasters/notesMaster1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3.xml"/><Relationship Id="rId1" Type="http://schemas.openxmlformats.org/officeDocument/2006/relationships/notesMaster" Target="../notesMasters/notesMaster1.xml"/></Relationships>
</file>

<file path=ppt/notesSlides/_rels/notesSlide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4.xml"/><Relationship Id="rId1" Type="http://schemas.openxmlformats.org/officeDocument/2006/relationships/notesMaster" Target="../notesMasters/notesMaster1.xml"/></Relationships>
</file>

<file path=ppt/notesSlides/_rels/notesSlide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5.xml"/><Relationship Id="rId1" Type="http://schemas.openxmlformats.org/officeDocument/2006/relationships/notesMaster" Target="../notesMasters/notesMaster1.xml"/></Relationships>
</file>

<file path=ppt/notesSlides/_rels/notesSlide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6.xml"/><Relationship Id="rId1" Type="http://schemas.openxmlformats.org/officeDocument/2006/relationships/notesMaster" Target="../notesMasters/notesMaster1.xml"/></Relationships>
</file>

<file path=ppt/notesSlides/_rels/notesSlide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7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8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9219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ko-KR" altLang="ko-KR">
              <a:latin typeface="Arial" pitchFamily="34" charset="0"/>
            </a:endParaRPr>
          </a:p>
        </p:txBody>
      </p:sp>
      <p:sp>
        <p:nvSpPr>
          <p:cNvPr id="4" name="바닥글 개체 틀 3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pPr>
              <a:defRPr/>
            </a:pPr>
            <a:endParaRPr lang="en-US" altLang="ko-KR"/>
          </a:p>
        </p:txBody>
      </p:sp>
      <p:sp>
        <p:nvSpPr>
          <p:cNvPr id="5" name="머리글 개체 틀 4"/>
          <p:cNvSpPr>
            <a:spLocks noGrp="1"/>
          </p:cNvSpPr>
          <p:nvPr>
            <p:ph type="hdr" sz="quarter" idx="11"/>
          </p:nvPr>
        </p:nvSpPr>
        <p:spPr/>
        <p:txBody>
          <a:bodyPr/>
          <a:lstStyle/>
          <a:p>
            <a:pPr>
              <a:defRPr/>
            </a:pPr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699413241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986" name="슬라이드 이미지 개체 틀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41987" name="슬라이드 노트 개체 틀 2"/>
          <p:cNvSpPr>
            <a:spLocks noGrp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endParaRPr lang="ko-KR" altLang="en-US"/>
          </a:p>
        </p:txBody>
      </p:sp>
      <p:sp>
        <p:nvSpPr>
          <p:cNvPr id="41988" name="슬라이드 번호 개체 틀 3"/>
          <p:cNvSpPr>
            <a:spLocks noGrp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0A23BE2C-2CF6-4163-9A53-6ABC355E8F0A}" type="slidenum">
              <a:rPr lang="en-US" altLang="ko-KR" smtClean="0"/>
              <a:pPr/>
              <a:t>2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3091415602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884046E-A8C5-48C1-8A0A-C37BBB40AD6E}" type="slidenum">
              <a:rPr lang="ko-KR" altLang="en-US" smtClean="0"/>
              <a:pPr/>
              <a:t>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342821343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884046E-A8C5-48C1-8A0A-C37BBB40AD6E}" type="slidenum">
              <a:rPr lang="ko-KR" altLang="en-US" smtClean="0"/>
              <a:pPr/>
              <a:t>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373229724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884046E-A8C5-48C1-8A0A-C37BBB40AD6E}" type="slidenum">
              <a:rPr lang="ko-KR" altLang="en-US" smtClean="0"/>
              <a:pPr/>
              <a:t>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965882095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884046E-A8C5-48C1-8A0A-C37BBB40AD6E}" type="slidenum">
              <a:rPr lang="ko-KR" altLang="en-US" smtClean="0"/>
              <a:pPr/>
              <a:t>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763817710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884046E-A8C5-48C1-8A0A-C37BBB40AD6E}" type="slidenum">
              <a:rPr lang="ko-KR" altLang="en-US" smtClean="0"/>
              <a:pPr/>
              <a:t>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888835753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884046E-A8C5-48C1-8A0A-C37BBB40AD6E}" type="slidenum">
              <a:rPr lang="ko-KR" altLang="en-US" smtClean="0"/>
              <a:pPr/>
              <a:t>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301676723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884046E-A8C5-48C1-8A0A-C37BBB40AD6E}" type="slidenum">
              <a:rPr lang="ko-KR" altLang="en-US" smtClean="0"/>
              <a:pPr/>
              <a:t>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050133064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884046E-A8C5-48C1-8A0A-C37BBB40AD6E}" type="slidenum">
              <a:rPr lang="ko-KR" altLang="en-US" smtClean="0"/>
              <a:pPr/>
              <a:t>10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150973653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884046E-A8C5-48C1-8A0A-C37BBB40AD6E}" type="slidenum">
              <a:rPr lang="ko-KR" altLang="en-US" smtClean="0"/>
              <a:pPr/>
              <a:t>11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459939167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884046E-A8C5-48C1-8A0A-C37BBB40AD6E}" type="slidenum">
              <a:rPr lang="ko-KR" altLang="en-US" smtClean="0"/>
              <a:pPr/>
              <a:t>12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207677849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884046E-A8C5-48C1-8A0A-C37BBB40AD6E}" type="slidenum">
              <a:rPr lang="ko-KR" altLang="en-US" smtClean="0"/>
              <a:pPr/>
              <a:t>13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680174232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884046E-A8C5-48C1-8A0A-C37BBB40AD6E}" type="slidenum">
              <a:rPr lang="ko-KR" altLang="en-US" smtClean="0"/>
              <a:pPr/>
              <a:t>14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659903434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884046E-A8C5-48C1-8A0A-C37BBB40AD6E}" type="slidenum">
              <a:rPr lang="ko-KR" altLang="en-US" smtClean="0"/>
              <a:pPr/>
              <a:t>15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202333479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884046E-A8C5-48C1-8A0A-C37BBB40AD6E}" type="slidenum">
              <a:rPr lang="ko-KR" altLang="en-US" smtClean="0"/>
              <a:pPr/>
              <a:t>16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260887432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884046E-A8C5-48C1-8A0A-C37BBB40AD6E}" type="slidenum">
              <a:rPr lang="ko-KR" altLang="en-US" smtClean="0"/>
              <a:pPr/>
              <a:t>17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984594848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884046E-A8C5-48C1-8A0A-C37BBB40AD6E}" type="slidenum">
              <a:rPr lang="ko-KR" altLang="en-US" smtClean="0"/>
              <a:pPr/>
              <a:t>18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950088241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884046E-A8C5-48C1-8A0A-C37BBB40AD6E}" type="slidenum">
              <a:rPr lang="ko-KR" altLang="en-US" smtClean="0"/>
              <a:pPr/>
              <a:t>19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063518725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884046E-A8C5-48C1-8A0A-C37BBB40AD6E}" type="slidenum">
              <a:rPr lang="ko-KR" altLang="en-US" smtClean="0"/>
              <a:pPr/>
              <a:t>20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675444782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884046E-A8C5-48C1-8A0A-C37BBB40AD6E}" type="slidenum">
              <a:rPr lang="ko-KR" altLang="en-US" smtClean="0"/>
              <a:pPr/>
              <a:t>21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575463449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884046E-A8C5-48C1-8A0A-C37BBB40AD6E}" type="slidenum">
              <a:rPr lang="ko-KR" altLang="en-US" smtClean="0"/>
              <a:pPr/>
              <a:t>22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44795423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884046E-A8C5-48C1-8A0A-C37BBB40AD6E}" type="slidenum">
              <a:rPr lang="ko-KR" altLang="en-US" smtClean="0"/>
              <a:pPr/>
              <a:t>23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168907792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884046E-A8C5-48C1-8A0A-C37BBB40AD6E}" type="slidenum">
              <a:rPr lang="ko-KR" altLang="en-US" smtClean="0"/>
              <a:pPr/>
              <a:t>24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171536978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884046E-A8C5-48C1-8A0A-C37BBB40AD6E}" type="slidenum">
              <a:rPr lang="ko-KR" altLang="en-US" smtClean="0"/>
              <a:pPr/>
              <a:t>25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965160500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884046E-A8C5-48C1-8A0A-C37BBB40AD6E}" type="slidenum">
              <a:rPr lang="ko-KR" altLang="en-US" smtClean="0"/>
              <a:pPr/>
              <a:t>26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85317521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884046E-A8C5-48C1-8A0A-C37BBB40AD6E}" type="slidenum">
              <a:rPr lang="ko-KR" altLang="en-US" smtClean="0"/>
              <a:pPr/>
              <a:t>27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076564057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884046E-A8C5-48C1-8A0A-C37BBB40AD6E}" type="slidenum">
              <a:rPr lang="ko-KR" altLang="en-US" smtClean="0"/>
              <a:pPr/>
              <a:t>28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315588998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884046E-A8C5-48C1-8A0A-C37BBB40AD6E}" type="slidenum">
              <a:rPr lang="ko-KR" altLang="en-US" smtClean="0"/>
              <a:pPr/>
              <a:t>29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974074012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884046E-A8C5-48C1-8A0A-C37BBB40AD6E}" type="slidenum">
              <a:rPr lang="ko-KR" altLang="en-US" smtClean="0"/>
              <a:pPr/>
              <a:t>30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894853376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884046E-A8C5-48C1-8A0A-C37BBB40AD6E}" type="slidenum">
              <a:rPr lang="ko-KR" altLang="en-US" smtClean="0"/>
              <a:pPr/>
              <a:t>31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997510472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884046E-A8C5-48C1-8A0A-C37BBB40AD6E}" type="slidenum">
              <a:rPr lang="ko-KR" altLang="en-US" smtClean="0"/>
              <a:pPr/>
              <a:t>32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375133578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884046E-A8C5-48C1-8A0A-C37BBB40AD6E}" type="slidenum">
              <a:rPr lang="ko-KR" altLang="en-US" smtClean="0"/>
              <a:pPr/>
              <a:t>33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959673767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884046E-A8C5-48C1-8A0A-C37BBB40AD6E}" type="slidenum">
              <a:rPr lang="ko-KR" altLang="en-US" smtClean="0"/>
              <a:pPr/>
              <a:t>34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714882824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884046E-A8C5-48C1-8A0A-C37BBB40AD6E}" type="slidenum">
              <a:rPr lang="ko-KR" altLang="en-US" smtClean="0"/>
              <a:pPr/>
              <a:t>35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349553480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884046E-A8C5-48C1-8A0A-C37BBB40AD6E}" type="slidenum">
              <a:rPr lang="ko-KR" altLang="en-US" smtClean="0"/>
              <a:pPr/>
              <a:t>36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909206519"/>
      </p:ext>
    </p:extLst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884046E-A8C5-48C1-8A0A-C37BBB40AD6E}" type="slidenum">
              <a:rPr lang="ko-KR" altLang="en-US" smtClean="0"/>
              <a:pPr/>
              <a:t>37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149784258"/>
      </p:ext>
    </p:extLst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884046E-A8C5-48C1-8A0A-C37BBB40AD6E}" type="slidenum">
              <a:rPr lang="ko-KR" altLang="en-US" smtClean="0"/>
              <a:pPr/>
              <a:t>38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872412553"/>
      </p:ext>
    </p:extLst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884046E-A8C5-48C1-8A0A-C37BBB40AD6E}" type="slidenum">
              <a:rPr lang="ko-KR" altLang="en-US" smtClean="0"/>
              <a:pPr/>
              <a:t>39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182900562"/>
      </p:ext>
    </p:extLst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884046E-A8C5-48C1-8A0A-C37BBB40AD6E}" type="slidenum">
              <a:rPr lang="ko-KR" altLang="en-US" smtClean="0"/>
              <a:pPr/>
              <a:t>40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822399690"/>
      </p:ext>
    </p:extLst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884046E-A8C5-48C1-8A0A-C37BBB40AD6E}" type="slidenum">
              <a:rPr lang="ko-KR" altLang="en-US" smtClean="0"/>
              <a:pPr/>
              <a:t>41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832790986"/>
      </p:ext>
    </p:extLst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884046E-A8C5-48C1-8A0A-C37BBB40AD6E}" type="slidenum">
              <a:rPr lang="ko-KR" altLang="en-US" smtClean="0"/>
              <a:pPr/>
              <a:t>42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864583737"/>
      </p:ext>
    </p:extLst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884046E-A8C5-48C1-8A0A-C37BBB40AD6E}" type="slidenum">
              <a:rPr lang="ko-KR" altLang="en-US" smtClean="0"/>
              <a:pPr/>
              <a:t>43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939490731"/>
      </p:ext>
    </p:extLst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884046E-A8C5-48C1-8A0A-C37BBB40AD6E}" type="slidenum">
              <a:rPr lang="ko-KR" altLang="en-US" smtClean="0"/>
              <a:pPr/>
              <a:t>44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690334385"/>
      </p:ext>
    </p:extLst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884046E-A8C5-48C1-8A0A-C37BBB40AD6E}" type="slidenum">
              <a:rPr lang="ko-KR" altLang="en-US" smtClean="0"/>
              <a:pPr/>
              <a:t>45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911624234"/>
      </p:ext>
    </p:extLst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884046E-A8C5-48C1-8A0A-C37BBB40AD6E}" type="slidenum">
              <a:rPr lang="ko-KR" altLang="en-US" smtClean="0"/>
              <a:pPr/>
              <a:t>46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452962292"/>
      </p:ext>
    </p:extLst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884046E-A8C5-48C1-8A0A-C37BBB40AD6E}" type="slidenum">
              <a:rPr lang="ko-KR" altLang="en-US" smtClean="0"/>
              <a:pPr/>
              <a:t>47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778432134"/>
      </p:ext>
    </p:extLst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884046E-A8C5-48C1-8A0A-C37BBB40AD6E}" type="slidenum">
              <a:rPr lang="ko-KR" altLang="en-US" smtClean="0"/>
              <a:pPr/>
              <a:t>48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285952331"/>
      </p:ext>
    </p:extLst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884046E-A8C5-48C1-8A0A-C37BBB40AD6E}" type="slidenum">
              <a:rPr lang="ko-KR" altLang="en-US" smtClean="0"/>
              <a:pPr/>
              <a:t>49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675367521"/>
      </p:ext>
    </p:extLst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884046E-A8C5-48C1-8A0A-C37BBB40AD6E}" type="slidenum">
              <a:rPr lang="ko-KR" altLang="en-US" smtClean="0"/>
              <a:pPr/>
              <a:t>50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922117252"/>
      </p:ext>
    </p:extLst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884046E-A8C5-48C1-8A0A-C37BBB40AD6E}" type="slidenum">
              <a:rPr lang="ko-KR" altLang="en-US" smtClean="0"/>
              <a:pPr/>
              <a:t>51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018836"/>
      </p:ext>
    </p:extLst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884046E-A8C5-48C1-8A0A-C37BBB40AD6E}" type="slidenum">
              <a:rPr lang="ko-KR" altLang="en-US" smtClean="0"/>
              <a:pPr/>
              <a:t>52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302936534"/>
      </p:ext>
    </p:extLst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884046E-A8C5-48C1-8A0A-C37BBB40AD6E}" type="slidenum">
              <a:rPr lang="ko-KR" altLang="en-US" smtClean="0"/>
              <a:pPr/>
              <a:t>53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974981322"/>
      </p:ext>
    </p:extLst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884046E-A8C5-48C1-8A0A-C37BBB40AD6E}" type="slidenum">
              <a:rPr lang="ko-KR" altLang="en-US" smtClean="0"/>
              <a:pPr/>
              <a:t>54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375162116"/>
      </p:ext>
    </p:extLst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884046E-A8C5-48C1-8A0A-C37BBB40AD6E}" type="slidenum">
              <a:rPr lang="ko-KR" altLang="en-US" smtClean="0"/>
              <a:pPr/>
              <a:t>55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768215479"/>
      </p:ext>
    </p:extLst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884046E-A8C5-48C1-8A0A-C37BBB40AD6E}" type="slidenum">
              <a:rPr lang="ko-KR" altLang="en-US" smtClean="0"/>
              <a:pPr/>
              <a:t>56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784039150"/>
      </p:ext>
    </p:extLst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884046E-A8C5-48C1-8A0A-C37BBB40AD6E}" type="slidenum">
              <a:rPr lang="ko-KR" altLang="en-US" smtClean="0"/>
              <a:pPr/>
              <a:t>57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627440466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/>
          <p:cNvSpPr txBox="1"/>
          <p:nvPr userDrawn="1"/>
        </p:nvSpPr>
        <p:spPr>
          <a:xfrm>
            <a:off x="6969224" y="6525344"/>
            <a:ext cx="2252220" cy="12311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800" dirty="0"/>
              <a:t>Copyright 2015 INSIGHTLAB. All Right Reserved</a:t>
            </a:r>
            <a:endParaRPr lang="ko-KR" altLang="en-US" sz="800"/>
          </a:p>
        </p:txBody>
      </p:sp>
      <p:grpSp>
        <p:nvGrpSpPr>
          <p:cNvPr id="7" name="Group 4"/>
          <p:cNvGrpSpPr>
            <a:grpSpLocks/>
          </p:cNvGrpSpPr>
          <p:nvPr/>
        </p:nvGrpSpPr>
        <p:grpSpPr bwMode="auto">
          <a:xfrm>
            <a:off x="0" y="2699395"/>
            <a:ext cx="9906000" cy="1224677"/>
            <a:chOff x="2400" y="942"/>
            <a:chExt cx="4320" cy="834"/>
          </a:xfrm>
        </p:grpSpPr>
        <p:sp>
          <p:nvSpPr>
            <p:cNvPr id="13" name="Line 5"/>
            <p:cNvSpPr>
              <a:spLocks noChangeShapeType="1"/>
            </p:cNvSpPr>
            <p:nvPr/>
          </p:nvSpPr>
          <p:spPr bwMode="auto">
            <a:xfrm>
              <a:off x="2400" y="1536"/>
              <a:ext cx="4320" cy="0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4" name="Line 6"/>
            <p:cNvSpPr>
              <a:spLocks noChangeShapeType="1"/>
            </p:cNvSpPr>
            <p:nvPr/>
          </p:nvSpPr>
          <p:spPr bwMode="auto">
            <a:xfrm>
              <a:off x="2400" y="1776"/>
              <a:ext cx="4320" cy="0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" name="Line 5"/>
            <p:cNvSpPr>
              <a:spLocks noChangeShapeType="1"/>
            </p:cNvSpPr>
            <p:nvPr/>
          </p:nvSpPr>
          <p:spPr bwMode="auto">
            <a:xfrm>
              <a:off x="2400" y="942"/>
              <a:ext cx="4320" cy="0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</p:grpSp>
      <p:sp>
        <p:nvSpPr>
          <p:cNvPr id="8" name="Text Box 7"/>
          <p:cNvSpPr txBox="1">
            <a:spLocks noChangeArrowheads="1"/>
          </p:cNvSpPr>
          <p:nvPr/>
        </p:nvSpPr>
        <p:spPr bwMode="auto">
          <a:xfrm>
            <a:off x="1413271" y="3681961"/>
            <a:ext cx="2376000" cy="1384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ctr">
            <a:spAutoFit/>
          </a:bodyPr>
          <a:lstStyle>
            <a:lvl1pPr defTabSz="808038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404813" defTabSz="808038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808038" defTabSz="808038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212850" defTabSz="808038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1617663" defTabSz="808038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074863" defTabSz="808038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532063" defTabSz="808038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2989263" defTabSz="808038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446463" defTabSz="808038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dist">
              <a:spcBef>
                <a:spcPct val="50000"/>
              </a:spcBef>
            </a:pPr>
            <a:r>
              <a:rPr lang="en-US" altLang="ko-KR" sz="900" b="1">
                <a:latin typeface="+mn-lt"/>
              </a:rPr>
              <a:t>WEBSITE STORY BOARD </a:t>
            </a:r>
          </a:p>
        </p:txBody>
      </p:sp>
      <p:sp>
        <p:nvSpPr>
          <p:cNvPr id="3" name="텍스트 개체 틀 2"/>
          <p:cNvSpPr>
            <a:spLocks noGrp="1"/>
          </p:cNvSpPr>
          <p:nvPr userDrawn="1">
            <p:ph type="body" sz="quarter" idx="10" hasCustomPrompt="1"/>
          </p:nvPr>
        </p:nvSpPr>
        <p:spPr>
          <a:xfrm>
            <a:off x="1394221" y="2818220"/>
            <a:ext cx="7812000" cy="615553"/>
          </a:xfrm>
          <a:prstGeom prst="rect">
            <a:avLst/>
          </a:prstGeom>
        </p:spPr>
        <p:txBody>
          <a:bodyPr wrap="none" lIns="0" tIns="0" rIns="0" bIns="0" anchor="t">
            <a:noAutofit/>
          </a:bodyPr>
          <a:lstStyle>
            <a:lvl1pPr marL="0" marR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 lang="ko-KR" altLang="en-US" sz="4000" b="0" smtClean="0">
                <a:latin typeface="+mj-ea"/>
                <a:ea typeface="+mj-ea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ct val="20000"/>
              </a:spcBef>
              <a:spcAft>
                <a:spcPts val="600"/>
              </a:spcAft>
              <a:buClrTx/>
              <a:buSzTx/>
              <a:buFont typeface="Arial" pitchFamily="34" charset="0"/>
              <a:buNone/>
              <a:tabLst/>
              <a:defRPr/>
            </a:pPr>
            <a:r>
              <a:rPr lang="ko-KR" altLang="en-US"/>
              <a:t>프로젝트 제목</a:t>
            </a:r>
          </a:p>
        </p:txBody>
      </p:sp>
      <p:sp>
        <p:nvSpPr>
          <p:cNvPr id="36" name="텍스트 개체 틀 2"/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4680096" y="3681961"/>
            <a:ext cx="756000" cy="138499"/>
          </a:xfrm>
          <a:prstGeom prst="rect">
            <a:avLst/>
          </a:prstGeom>
        </p:spPr>
        <p:txBody>
          <a:bodyPr wrap="none" lIns="0" tIns="0" rIns="0" bIns="0" anchor="t">
            <a:noAutofit/>
          </a:bodyPr>
          <a:lstStyle>
            <a:lvl1pPr marL="0" marR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 lang="ko-KR" altLang="en-US" sz="900" b="1" smtClean="0">
                <a:latin typeface="+mn-lt"/>
                <a:ea typeface="+mj-ea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ct val="20000"/>
              </a:spcBef>
              <a:spcAft>
                <a:spcPts val="600"/>
              </a:spcAft>
              <a:buClrTx/>
              <a:buSzTx/>
              <a:buFont typeface="Arial" pitchFamily="34" charset="0"/>
              <a:buNone/>
              <a:tabLst/>
              <a:defRPr/>
            </a:pPr>
            <a:r>
              <a:rPr lang="en-US" altLang="ko-KR"/>
              <a:t>YYYY/MM/DD</a:t>
            </a:r>
            <a:endParaRPr lang="ko-KR" altLang="en-US"/>
          </a:p>
        </p:txBody>
      </p:sp>
      <p:sp>
        <p:nvSpPr>
          <p:cNvPr id="37" name="Text Box 7"/>
          <p:cNvSpPr txBox="1">
            <a:spLocks noChangeArrowheads="1"/>
          </p:cNvSpPr>
          <p:nvPr userDrawn="1"/>
        </p:nvSpPr>
        <p:spPr bwMode="auto">
          <a:xfrm>
            <a:off x="4036380" y="3681961"/>
            <a:ext cx="636393" cy="1384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>
            <a:lvl1pPr defTabSz="808038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404813" defTabSz="808038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808038" defTabSz="808038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212850" defTabSz="808038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1617663" defTabSz="808038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074863" defTabSz="808038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532063" defTabSz="808038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2989263" defTabSz="808038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446463" defTabSz="808038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>
              <a:spcBef>
                <a:spcPct val="50000"/>
              </a:spcBef>
            </a:pPr>
            <a:r>
              <a:rPr lang="en-US" altLang="ko-KR" sz="900" b="1">
                <a:latin typeface="+mn-lt"/>
              </a:rPr>
              <a:t>|    </a:t>
            </a:r>
            <a:r>
              <a:rPr lang="ko-KR" altLang="en-US" sz="900" b="1">
                <a:latin typeface="+mn-lt"/>
              </a:rPr>
              <a:t>작성일  </a:t>
            </a:r>
            <a:r>
              <a:rPr lang="en-US" altLang="ko-KR" sz="900" b="1">
                <a:latin typeface="+mn-lt"/>
              </a:rPr>
              <a:t>: </a:t>
            </a:r>
          </a:p>
        </p:txBody>
      </p:sp>
      <p:sp>
        <p:nvSpPr>
          <p:cNvPr id="38" name="텍스트 개체 틀 2"/>
          <p:cNvSpPr>
            <a:spLocks noGrp="1"/>
          </p:cNvSpPr>
          <p:nvPr>
            <p:ph type="body" sz="quarter" idx="12" hasCustomPrompt="1"/>
          </p:nvPr>
        </p:nvSpPr>
        <p:spPr>
          <a:xfrm>
            <a:off x="6271515" y="3681961"/>
            <a:ext cx="756000" cy="138499"/>
          </a:xfrm>
          <a:prstGeom prst="rect">
            <a:avLst/>
          </a:prstGeom>
        </p:spPr>
        <p:txBody>
          <a:bodyPr wrap="none" lIns="0" tIns="0" rIns="0" bIns="0" anchor="t">
            <a:noAutofit/>
          </a:bodyPr>
          <a:lstStyle>
            <a:lvl1pPr marL="0" marR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 lang="ko-KR" altLang="en-US" sz="900" b="1" smtClean="0">
                <a:latin typeface="+mn-lt"/>
                <a:ea typeface="+mj-ea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ct val="20000"/>
              </a:spcBef>
              <a:spcAft>
                <a:spcPts val="600"/>
              </a:spcAft>
              <a:buClrTx/>
              <a:buSzTx/>
              <a:buFont typeface="Arial" pitchFamily="34" charset="0"/>
              <a:buNone/>
              <a:tabLst/>
              <a:defRPr/>
            </a:pPr>
            <a:r>
              <a:rPr lang="en-US" altLang="ko-KR"/>
              <a:t>0.X</a:t>
            </a:r>
            <a:endParaRPr lang="ko-KR" altLang="en-US"/>
          </a:p>
        </p:txBody>
      </p:sp>
      <p:sp>
        <p:nvSpPr>
          <p:cNvPr id="40" name="Text Box 7"/>
          <p:cNvSpPr txBox="1">
            <a:spLocks noChangeArrowheads="1"/>
          </p:cNvSpPr>
          <p:nvPr userDrawn="1"/>
        </p:nvSpPr>
        <p:spPr bwMode="auto">
          <a:xfrm>
            <a:off x="5534397" y="3681961"/>
            <a:ext cx="718145" cy="1384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>
            <a:lvl1pPr defTabSz="808038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404813" defTabSz="808038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808038" defTabSz="808038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212850" defTabSz="808038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1617663" defTabSz="808038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074863" defTabSz="808038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532063" defTabSz="808038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2989263" defTabSz="808038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446463" defTabSz="808038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>
              <a:spcBef>
                <a:spcPct val="50000"/>
              </a:spcBef>
            </a:pPr>
            <a:r>
              <a:rPr lang="en-US" altLang="ko-KR" sz="900" b="1">
                <a:latin typeface="+mn-lt"/>
              </a:rPr>
              <a:t>|    Version  : </a:t>
            </a:r>
          </a:p>
        </p:txBody>
      </p:sp>
      <p:pic>
        <p:nvPicPr>
          <p:cNvPr id="21" name="Picture 8"/>
          <p:cNvPicPr>
            <a:picLocks noChangeAspect="1" noChangeArrowheads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 bwMode="auto">
          <a:xfrm>
            <a:off x="5269559" y="6469286"/>
            <a:ext cx="1584176" cy="235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 및 내용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표 6"/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540892765"/>
              </p:ext>
            </p:extLst>
          </p:nvPr>
        </p:nvGraphicFramePr>
        <p:xfrm>
          <a:off x="19050" y="30163"/>
          <a:ext cx="9855736" cy="67903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5794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90546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0405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44827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4400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0">
                          <a:solidFill>
                            <a:schemeClr val="bg1"/>
                          </a:solidFill>
                          <a:latin typeface="돋움" pitchFamily="50" charset="-127"/>
                          <a:ea typeface="돋움" pitchFamily="50" charset="-127"/>
                        </a:rPr>
                        <a:t>메뉴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0">
                        <a:solidFill>
                          <a:schemeClr val="bg1"/>
                        </a:solidFill>
                        <a:latin typeface="돋움" pitchFamily="50" charset="-127"/>
                        <a:ea typeface="돋움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0">
                          <a:solidFill>
                            <a:schemeClr val="bg1"/>
                          </a:solidFill>
                          <a:latin typeface="돋움" pitchFamily="50" charset="-127"/>
                          <a:ea typeface="돋움" pitchFamily="50" charset="-127"/>
                        </a:rPr>
                        <a:t>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900" b="0">
                        <a:solidFill>
                          <a:schemeClr val="bg1"/>
                        </a:solidFill>
                        <a:latin typeface="돋움" pitchFamily="50" charset="-127"/>
                        <a:ea typeface="돋움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0" i="0">
                          <a:solidFill>
                            <a:schemeClr val="bg1"/>
                          </a:solidFill>
                          <a:latin typeface="Arial" pitchFamily="34" charset="0"/>
                          <a:ea typeface="돋움" pitchFamily="50" charset="-127"/>
                          <a:cs typeface="Arial" pitchFamily="34" charset="0"/>
                        </a:rPr>
                        <a:t>화면설명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6372000">
                <a:tc gridSpan="4">
                  <a:txBody>
                    <a:bodyPr/>
                    <a:lstStyle/>
                    <a:p>
                      <a:pPr latinLnBrk="1"/>
                      <a:endParaRPr lang="ko-KR" altLang="en-US" sz="900" b="0">
                        <a:solidFill>
                          <a:schemeClr val="bg1"/>
                        </a:solidFill>
                        <a:latin typeface="돋움" pitchFamily="50" charset="-127"/>
                        <a:ea typeface="돋움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돋움" pitchFamily="50" charset="-127"/>
                        <a:ea typeface="돋움" pitchFamily="50" charset="-127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돋움" pitchFamily="50" charset="-127"/>
                        <a:ea typeface="돋움" pitchFamily="50" charset="-127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돋움" pitchFamily="50" charset="-127"/>
                        <a:ea typeface="돋움" pitchFamily="50" charset="-127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b="0">
                        <a:solidFill>
                          <a:schemeClr val="bg1"/>
                        </a:solidFill>
                        <a:latin typeface="돋움" pitchFamily="50" charset="-127"/>
                        <a:ea typeface="돋움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80000">
                <a:tc gridSpan="4">
                  <a:txBody>
                    <a:bodyPr/>
                    <a:lstStyle/>
                    <a:p>
                      <a:pPr latinLnBrk="1"/>
                      <a:endParaRPr lang="ko-KR" altLang="en-US" sz="900" b="0">
                        <a:solidFill>
                          <a:schemeClr val="bg1"/>
                        </a:solidFill>
                        <a:latin typeface="돋움" pitchFamily="50" charset="-127"/>
                        <a:ea typeface="돋움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>
                          <a:solidFill>
                            <a:schemeClr val="bg1"/>
                          </a:solidFill>
                          <a:latin typeface="돋움" pitchFamily="50" charset="-127"/>
                          <a:ea typeface="돋움" pitchFamily="50" charset="-127"/>
                        </a:rPr>
                        <a:t>-      -</a:t>
                      </a:r>
                      <a:endParaRPr lang="ko-KR" altLang="en-US" sz="900" b="0">
                        <a:solidFill>
                          <a:schemeClr val="bg1"/>
                        </a:solidFill>
                        <a:latin typeface="돋움" pitchFamily="50" charset="-127"/>
                        <a:ea typeface="돋움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10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9067440" y="6645875"/>
            <a:ext cx="213767" cy="138499"/>
          </a:xfrm>
          <a:prstGeom prst="rect">
            <a:avLst/>
          </a:prstGeom>
        </p:spPr>
        <p:txBody>
          <a:bodyPr wrap="none" lIns="36000" tIns="0" rIns="36000" bIns="0" anchor="ctr" anchorCtr="0">
            <a:spAutoFit/>
          </a:bodyPr>
          <a:lstStyle>
            <a:lvl1pPr algn="ctr">
              <a:defRPr sz="900" b="1">
                <a:solidFill>
                  <a:schemeClr val="bg1"/>
                </a:solidFill>
                <a:latin typeface="+mn-lt"/>
              </a:defRPr>
            </a:lvl1pPr>
          </a:lstStyle>
          <a:p>
            <a:pPr>
              <a:defRPr/>
            </a:pPr>
            <a:fld id="{9E41B634-5682-4388-99E7-FE44DCFD254B}" type="slidenum">
              <a:rPr lang="ko-KR" altLang="en-US" smtClean="0"/>
              <a:pPr>
                <a:defRPr/>
              </a:pPr>
              <a:t>‹#›</a:t>
            </a:fld>
            <a:endParaRPr lang="ko-KR" altLang="en-US"/>
          </a:p>
        </p:txBody>
      </p:sp>
      <p:sp>
        <p:nvSpPr>
          <p:cNvPr id="20" name="텍스트 개체 틀 19"/>
          <p:cNvSpPr>
            <a:spLocks noGrp="1"/>
          </p:cNvSpPr>
          <p:nvPr>
            <p:ph type="body" sz="quarter" idx="10"/>
          </p:nvPr>
        </p:nvSpPr>
        <p:spPr>
          <a:xfrm>
            <a:off x="6023595" y="63674"/>
            <a:ext cx="2376000" cy="138499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>
              <a:defRPr sz="900" b="0"/>
            </a:lvl1pPr>
          </a:lstStyle>
          <a:p>
            <a:pPr lvl="0"/>
            <a:endParaRPr lang="ko-KR" altLang="en-US"/>
          </a:p>
        </p:txBody>
      </p:sp>
      <p:sp>
        <p:nvSpPr>
          <p:cNvPr id="21" name="텍스트 개체 틀 19"/>
          <p:cNvSpPr>
            <a:spLocks noGrp="1"/>
          </p:cNvSpPr>
          <p:nvPr>
            <p:ph type="body" sz="quarter" idx="11"/>
          </p:nvPr>
        </p:nvSpPr>
        <p:spPr>
          <a:xfrm>
            <a:off x="606245" y="63674"/>
            <a:ext cx="4824000" cy="138499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>
              <a:defRPr sz="900" b="0"/>
            </a:lvl1pPr>
          </a:lstStyle>
          <a:p>
            <a:pPr lvl="0"/>
            <a:endParaRPr lang="ko-KR" altLang="en-US"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제목 및 내용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9"/>
          <p:cNvSpPr/>
          <p:nvPr userDrawn="1"/>
        </p:nvSpPr>
        <p:spPr>
          <a:xfrm>
            <a:off x="9728423" y="0"/>
            <a:ext cx="180000" cy="4846320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" name="Rectangle 8"/>
          <p:cNvSpPr/>
          <p:nvPr userDrawn="1"/>
        </p:nvSpPr>
        <p:spPr>
          <a:xfrm>
            <a:off x="9728423" y="3933056"/>
            <a:ext cx="180000" cy="2924944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aphicFrame>
        <p:nvGraphicFramePr>
          <p:cNvPr id="9" name="표 8"/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2760526247"/>
              </p:ext>
            </p:extLst>
          </p:nvPr>
        </p:nvGraphicFramePr>
        <p:xfrm>
          <a:off x="19050" y="30163"/>
          <a:ext cx="9684000" cy="67903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684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>
                        <a:solidFill>
                          <a:schemeClr val="bg1"/>
                        </a:solidFill>
                        <a:latin typeface="돋움" pitchFamily="50" charset="-127"/>
                        <a:ea typeface="돋움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6372000">
                <a:tc>
                  <a:txBody>
                    <a:bodyPr/>
                    <a:lstStyle/>
                    <a:p>
                      <a:pPr latinLnBrk="1"/>
                      <a:endParaRPr lang="ko-KR" altLang="en-US" sz="900" b="0">
                        <a:solidFill>
                          <a:schemeClr val="bg1"/>
                        </a:solidFill>
                        <a:latin typeface="돋움" pitchFamily="50" charset="-127"/>
                        <a:ea typeface="돋움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latinLnBrk="1"/>
                      <a:endParaRPr lang="ko-KR" altLang="en-US" sz="900" b="0">
                        <a:solidFill>
                          <a:schemeClr val="bg1"/>
                        </a:solidFill>
                        <a:latin typeface="돋움" pitchFamily="50" charset="-127"/>
                        <a:ea typeface="돋움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3" name="텍스트 개체 틀 2"/>
          <p:cNvSpPr>
            <a:spLocks noGrp="1"/>
          </p:cNvSpPr>
          <p:nvPr>
            <p:ph type="body" sz="quarter" idx="10"/>
          </p:nvPr>
        </p:nvSpPr>
        <p:spPr>
          <a:xfrm>
            <a:off x="65981" y="49957"/>
            <a:ext cx="3959845" cy="161583"/>
          </a:xfrm>
          <a:prstGeom prst="rect">
            <a:avLst/>
          </a:prstGeom>
        </p:spPr>
        <p:txBody>
          <a:bodyPr lIns="0" tIns="0" rIns="0" bIns="0">
            <a:spAutoFit/>
          </a:bodyPr>
          <a:lstStyle>
            <a:lvl1pPr>
              <a:defRPr sz="1050">
                <a:solidFill>
                  <a:schemeClr val="bg1"/>
                </a:solidFill>
              </a:defRPr>
            </a:lvl1pPr>
          </a:lstStyle>
          <a:p>
            <a:pPr lvl="0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069264669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구역 머리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95300" y="1447801"/>
            <a:ext cx="8420100" cy="4321175"/>
          </a:xfrm>
          <a:prstGeom prst="rect">
            <a:avLst/>
          </a:prstGeom>
        </p:spPr>
        <p:txBody>
          <a:bodyPr anchor="ctr">
            <a:noAutofit/>
          </a:bodyPr>
          <a:lstStyle>
            <a:lvl1pPr algn="l">
              <a:lnSpc>
                <a:spcPct val="100000"/>
              </a:lnSpc>
              <a:defRPr sz="8800" b="0" cap="all" spc="-80" baseline="0">
                <a:solidFill>
                  <a:schemeClr val="tx1"/>
                </a:solidFill>
              </a:defRPr>
            </a:lvl1pPr>
          </a:lstStyle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95300" y="228601"/>
            <a:ext cx="8420100" cy="1066800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000" b="0" cap="all" spc="120" baseline="0">
                <a:solidFill>
                  <a:schemeClr val="tx2"/>
                </a:solidFill>
                <a:latin typeface="+mj-lt"/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>
          <a:xfrm>
            <a:off x="495300" y="6172201"/>
            <a:ext cx="3714750" cy="304800"/>
          </a:xfrm>
          <a:prstGeom prst="rect">
            <a:avLst/>
          </a:prstGeom>
        </p:spPr>
        <p:txBody>
          <a:bodyPr/>
          <a:lstStyle/>
          <a:p>
            <a:endParaRPr lang="ko-KR" altLang="en-US"/>
          </a:p>
        </p:txBody>
      </p:sp>
      <p:sp>
        <p:nvSpPr>
          <p:cNvPr id="8" name="Slide Number Placeholder 7"/>
          <p:cNvSpPr>
            <a:spLocks noGrp="1"/>
          </p:cNvSpPr>
          <p:nvPr>
            <p:ph type="sldNum" sz="quarter" idx="11"/>
          </p:nvPr>
        </p:nvSpPr>
        <p:spPr>
          <a:xfrm rot="16200000">
            <a:off x="8967814" y="5870284"/>
            <a:ext cx="1315721" cy="395552"/>
          </a:xfrm>
          <a:prstGeom prst="rect">
            <a:avLst/>
          </a:prstGeom>
        </p:spPr>
        <p:txBody>
          <a:bodyPr/>
          <a:lstStyle/>
          <a:p>
            <a:fld id="{ABFCFCC8-316A-47DE-A400-916B25617172}" type="slidenum">
              <a:rPr lang="ko-KR" altLang="en-US" smtClean="0"/>
              <a:pPr/>
              <a:t>‹#›</a:t>
            </a:fld>
            <a:endParaRPr lang="ko-KR" altLang="en-US"/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2"/>
          </p:nvPr>
        </p:nvSpPr>
        <p:spPr>
          <a:xfrm>
            <a:off x="495300" y="6492876"/>
            <a:ext cx="3714750" cy="283845"/>
          </a:xfrm>
          <a:prstGeom prst="rect">
            <a:avLst/>
          </a:prstGeom>
        </p:spPr>
        <p:txBody>
          <a:bodyPr/>
          <a:lstStyle/>
          <a:p>
            <a:endParaRPr lang="ko-KR" altLang="en-US"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콘텐츠 2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95300" y="152718"/>
            <a:ext cx="6273800" cy="1371600"/>
          </a:xfrm>
          <a:prstGeom prst="rect">
            <a:avLst/>
          </a:prstGeom>
        </p:spPr>
        <p:txBody>
          <a:bodyPr/>
          <a:lstStyle/>
          <a:p>
            <a:r>
              <a:rPr lang="ko-KR" altLang="en-US"/>
              <a:t>마스터 제목 스타일 편집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1766570" y="1574800"/>
            <a:ext cx="3566160" cy="4525963"/>
          </a:xfrm>
          <a:prstGeom prst="rect">
            <a:avLst/>
          </a:prstGeo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5514340" y="1574800"/>
            <a:ext cx="3566160" cy="4525963"/>
          </a:xfrm>
          <a:prstGeom prst="rect">
            <a:avLst/>
          </a:prstGeo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>
          <a:xfrm>
            <a:off x="495300" y="6172201"/>
            <a:ext cx="3714750" cy="304800"/>
          </a:xfrm>
          <a:prstGeom prst="rect">
            <a:avLst/>
          </a:prstGeom>
        </p:spPr>
        <p:txBody>
          <a:bodyPr/>
          <a:lstStyle/>
          <a:p>
            <a:endParaRPr lang="ko-KR" alt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>
          <a:xfrm>
            <a:off x="495300" y="6492876"/>
            <a:ext cx="3714750" cy="283845"/>
          </a:xfrm>
          <a:prstGeom prst="rect">
            <a:avLst/>
          </a:prstGeom>
        </p:spPr>
        <p:txBody>
          <a:bodyPr/>
          <a:lstStyle/>
          <a:p>
            <a:endParaRPr lang="ko-KR" alt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 rot="16200000">
            <a:off x="8967814" y="5870284"/>
            <a:ext cx="1315721" cy="395552"/>
          </a:xfrm>
          <a:prstGeom prst="rect">
            <a:avLst/>
          </a:prstGeom>
        </p:spPr>
        <p:txBody>
          <a:bodyPr/>
          <a:lstStyle/>
          <a:p>
            <a:fld id="{ABFCFCC8-316A-47DE-A400-916B25617172}" type="slidenum">
              <a:rPr lang="ko-KR" altLang="en-US" smtClean="0"/>
              <a:pPr/>
              <a:t>‹#›</a:t>
            </a:fld>
            <a:endParaRPr lang="ko-KR" altLang="en-US"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비교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95300" y="152718"/>
            <a:ext cx="6273800" cy="1371600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r>
              <a:rPr lang="ko-KR" altLang="en-US"/>
              <a:t>마스터 제목 스타일 편집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1763268" y="1572768"/>
            <a:ext cx="3566160" cy="639762"/>
          </a:xfrm>
          <a:prstGeom prst="rect">
            <a:avLst/>
          </a:prstGeom>
        </p:spPr>
        <p:txBody>
          <a:bodyPr anchor="b">
            <a:noAutofit/>
          </a:bodyPr>
          <a:lstStyle>
            <a:lvl1pPr marL="0" indent="0">
              <a:buNone/>
              <a:defRPr sz="1800" b="0" cap="all" spc="100" baseline="0">
                <a:solidFill>
                  <a:schemeClr val="tx1"/>
                </a:solid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1763268" y="2259366"/>
            <a:ext cx="3566160" cy="3840480"/>
          </a:xfrm>
          <a:prstGeom prst="rect">
            <a:avLst/>
          </a:prstGeo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517642" y="1572768"/>
            <a:ext cx="3566160" cy="639762"/>
          </a:xfrm>
          <a:prstGeom prst="rect">
            <a:avLst/>
          </a:prstGeom>
        </p:spPr>
        <p:txBody>
          <a:bodyPr anchor="b">
            <a:noAutofit/>
          </a:bodyPr>
          <a:lstStyle>
            <a:lvl1pPr marL="0" indent="0">
              <a:buNone/>
              <a:defRPr lang="en-US" sz="1800" b="0" kern="1200" cap="all" spc="100" baseline="0" dirty="0" smtClean="0">
                <a:solidFill>
                  <a:schemeClr val="tx1"/>
                </a:solidFill>
                <a:latin typeface="+mj-lt"/>
                <a:ea typeface="+mn-ea"/>
                <a:cs typeface="+mn-cs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marL="0" lvl="0" indent="0" algn="l" defTabSz="914400" rtl="0" eaLnBrk="1" latinLnBrk="0" hangingPunct="1">
              <a:spcBef>
                <a:spcPct val="20000"/>
              </a:spcBef>
              <a:buFont typeface="Arial" pitchFamily="34" charset="0"/>
              <a:buNone/>
            </a:pPr>
            <a:r>
              <a:rPr lang="ko-KR" altLang="en-US"/>
              <a:t>마스터 텍스트 스타일을 편집합니다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5517642" y="2259366"/>
            <a:ext cx="3566160" cy="3840480"/>
          </a:xfrm>
          <a:prstGeom prst="rect">
            <a:avLst/>
          </a:prstGeo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>
          <a:xfrm>
            <a:off x="495300" y="6172201"/>
            <a:ext cx="3714750" cy="304800"/>
          </a:xfrm>
          <a:prstGeom prst="rect">
            <a:avLst/>
          </a:prstGeom>
        </p:spPr>
        <p:txBody>
          <a:bodyPr/>
          <a:lstStyle/>
          <a:p>
            <a:endParaRPr lang="ko-KR" alt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>
          <a:xfrm>
            <a:off x="495300" y="6492876"/>
            <a:ext cx="3714750" cy="283845"/>
          </a:xfrm>
          <a:prstGeom prst="rect">
            <a:avLst/>
          </a:prstGeom>
        </p:spPr>
        <p:txBody>
          <a:bodyPr/>
          <a:lstStyle/>
          <a:p>
            <a:endParaRPr lang="ko-KR" alt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>
          <a:xfrm rot="16200000">
            <a:off x="8967814" y="5870284"/>
            <a:ext cx="1315721" cy="395552"/>
          </a:xfrm>
          <a:prstGeom prst="rect">
            <a:avLst/>
          </a:prstGeom>
        </p:spPr>
        <p:txBody>
          <a:bodyPr/>
          <a:lstStyle/>
          <a:p>
            <a:fld id="{ABFCFCC8-316A-47DE-A400-916B25617172}" type="slidenum">
              <a:rPr lang="ko-KR" altLang="en-US" smtClean="0"/>
              <a:pPr/>
              <a:t>‹#›</a:t>
            </a:fld>
            <a:endParaRPr lang="ko-KR" altLang="en-US"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제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95300" y="152718"/>
            <a:ext cx="6273800" cy="1371600"/>
          </a:xfrm>
          <a:prstGeom prst="rect">
            <a:avLst/>
          </a:prstGeom>
        </p:spPr>
        <p:txBody>
          <a:bodyPr/>
          <a:lstStyle/>
          <a:p>
            <a:r>
              <a:rPr lang="ko-KR" altLang="en-US"/>
              <a:t>마스터 제목 스타일 편집</a:t>
            </a:r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>
          <a:xfrm>
            <a:off x="495300" y="6172201"/>
            <a:ext cx="3714750" cy="304800"/>
          </a:xfrm>
          <a:prstGeom prst="rect">
            <a:avLst/>
          </a:prstGeom>
        </p:spPr>
        <p:txBody>
          <a:bodyPr/>
          <a:lstStyle/>
          <a:p>
            <a:endParaRPr lang="ko-KR" alt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>
          <a:xfrm>
            <a:off x="495300" y="6492876"/>
            <a:ext cx="3714750" cy="283845"/>
          </a:xfrm>
          <a:prstGeom prst="rect">
            <a:avLst/>
          </a:prstGeom>
        </p:spPr>
        <p:txBody>
          <a:bodyPr/>
          <a:lstStyle/>
          <a:p>
            <a:endParaRPr lang="ko-KR" alt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>
          <a:xfrm rot="16200000">
            <a:off x="8967814" y="5870284"/>
            <a:ext cx="1315721" cy="395552"/>
          </a:xfrm>
          <a:prstGeom prst="rect">
            <a:avLst/>
          </a:prstGeom>
        </p:spPr>
        <p:txBody>
          <a:bodyPr/>
          <a:lstStyle/>
          <a:p>
            <a:fld id="{ABFCFCC8-316A-47DE-A400-916B25617172}" type="slidenum">
              <a:rPr lang="ko-KR" altLang="en-US" smtClean="0"/>
              <a:pPr/>
              <a:t>‹#›</a:t>
            </a:fld>
            <a:endParaRPr lang="ko-KR" altLang="en-US"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>
          <a:xfrm>
            <a:off x="495300" y="6172201"/>
            <a:ext cx="3714750" cy="304800"/>
          </a:xfrm>
          <a:prstGeom prst="rect">
            <a:avLst/>
          </a:prstGeom>
        </p:spPr>
        <p:txBody>
          <a:bodyPr/>
          <a:lstStyle/>
          <a:p>
            <a:endParaRPr lang="ko-KR" alt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>
          <a:xfrm>
            <a:off x="495300" y="6492876"/>
            <a:ext cx="3714750" cy="283845"/>
          </a:xfrm>
          <a:prstGeom prst="rect">
            <a:avLst/>
          </a:prstGeom>
        </p:spPr>
        <p:txBody>
          <a:bodyPr/>
          <a:lstStyle/>
          <a:p>
            <a:endParaRPr lang="ko-KR" alt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>
          <a:xfrm rot="16200000">
            <a:off x="8967814" y="5870284"/>
            <a:ext cx="1315721" cy="395552"/>
          </a:xfrm>
          <a:prstGeom prst="rect">
            <a:avLst/>
          </a:prstGeom>
        </p:spPr>
        <p:txBody>
          <a:bodyPr/>
          <a:lstStyle/>
          <a:p>
            <a:fld id="{ABFCFCC8-316A-47DE-A400-916B25617172}" type="slidenum">
              <a:rPr lang="ko-KR" altLang="en-US" smtClean="0"/>
              <a:pPr/>
              <a:t>‹#›</a:t>
            </a:fld>
            <a:endParaRPr lang="ko-KR" altLang="en-US"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캡션 있는 콘텐츠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872971" y="1600200"/>
            <a:ext cx="5537729" cy="4480560"/>
          </a:xfrm>
          <a:prstGeom prst="rect">
            <a:avLst/>
          </a:prstGeo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95300" y="1600200"/>
            <a:ext cx="3259006" cy="4480560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6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>
          <a:xfrm>
            <a:off x="495300" y="6172201"/>
            <a:ext cx="3714750" cy="304800"/>
          </a:xfrm>
          <a:prstGeom prst="rect">
            <a:avLst/>
          </a:prstGeom>
        </p:spPr>
        <p:txBody>
          <a:bodyPr/>
          <a:lstStyle/>
          <a:p>
            <a:endParaRPr lang="ko-KR" alt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>
          <a:xfrm>
            <a:off x="495300" y="6492876"/>
            <a:ext cx="3714750" cy="283845"/>
          </a:xfrm>
          <a:prstGeom prst="rect">
            <a:avLst/>
          </a:prstGeom>
        </p:spPr>
        <p:txBody>
          <a:bodyPr/>
          <a:lstStyle/>
          <a:p>
            <a:endParaRPr lang="ko-KR" alt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 rot="16200000">
            <a:off x="8967814" y="5870284"/>
            <a:ext cx="1315721" cy="395552"/>
          </a:xfrm>
          <a:prstGeom prst="rect">
            <a:avLst/>
          </a:prstGeom>
        </p:spPr>
        <p:txBody>
          <a:bodyPr/>
          <a:lstStyle/>
          <a:p>
            <a:fld id="{ABFCFCC8-316A-47DE-A400-916B25617172}" type="slidenum">
              <a:rPr lang="ko-KR" altLang="en-US" smtClean="0"/>
              <a:pPr/>
              <a:t>‹#›</a:t>
            </a:fld>
            <a:endParaRPr lang="ko-KR" altLang="en-US"/>
          </a:p>
        </p:txBody>
      </p:sp>
      <p:sp>
        <p:nvSpPr>
          <p:cNvPr id="8" name="Title 7"/>
          <p:cNvSpPr>
            <a:spLocks noGrp="1"/>
          </p:cNvSpPr>
          <p:nvPr>
            <p:ph type="title"/>
          </p:nvPr>
        </p:nvSpPr>
        <p:spPr>
          <a:xfrm>
            <a:off x="495300" y="152718"/>
            <a:ext cx="6273800" cy="1371600"/>
          </a:xfrm>
          <a:prstGeom prst="rect">
            <a:avLst/>
          </a:prstGeom>
        </p:spPr>
        <p:txBody>
          <a:bodyPr/>
          <a:lstStyle/>
          <a:p>
            <a:r>
              <a:rPr lang="ko-KR" altLang="en-US"/>
              <a:t>마스터 제목 스타일 편집</a:t>
            </a:r>
            <a:endParaRPr lang="en-US"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picTx" preserve="1">
  <p:cSld name="캡션 있는 그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/>
          <p:cNvSpPr/>
          <p:nvPr/>
        </p:nvSpPr>
        <p:spPr>
          <a:xfrm>
            <a:off x="9751218" y="4846320"/>
            <a:ext cx="154782" cy="2011680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-1" y="0"/>
            <a:ext cx="9750950" cy="484632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ko-KR" altLang="en-US"/>
              <a:t>그림을 추가하려면 아이콘을 클릭하십시오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95300" y="5715000"/>
            <a:ext cx="8832850" cy="45720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>
          <a:xfrm>
            <a:off x="495300" y="6172201"/>
            <a:ext cx="3714750" cy="304800"/>
          </a:xfrm>
          <a:prstGeom prst="rect">
            <a:avLst/>
          </a:prstGeom>
        </p:spPr>
        <p:txBody>
          <a:bodyPr/>
          <a:lstStyle/>
          <a:p>
            <a:endParaRPr lang="ko-KR" alt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>
          <a:xfrm>
            <a:off x="495300" y="6492876"/>
            <a:ext cx="3714750" cy="283845"/>
          </a:xfrm>
          <a:prstGeom prst="rect">
            <a:avLst/>
          </a:prstGeom>
        </p:spPr>
        <p:txBody>
          <a:bodyPr/>
          <a:lstStyle/>
          <a:p>
            <a:endParaRPr lang="ko-KR" alt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 rot="16200000">
            <a:off x="8967814" y="5870284"/>
            <a:ext cx="1315721" cy="395552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ABFCFCC8-316A-47DE-A400-916B25617172}" type="slidenum">
              <a:rPr lang="ko-KR" altLang="en-US" smtClean="0"/>
              <a:pPr/>
              <a:t>‹#›</a:t>
            </a:fld>
            <a:endParaRPr lang="ko-KR" altLang="en-US"/>
          </a:p>
        </p:txBody>
      </p:sp>
      <p:sp>
        <p:nvSpPr>
          <p:cNvPr id="8" name="Title 7"/>
          <p:cNvSpPr>
            <a:spLocks noGrp="1"/>
          </p:cNvSpPr>
          <p:nvPr>
            <p:ph type="title"/>
          </p:nvPr>
        </p:nvSpPr>
        <p:spPr>
          <a:xfrm>
            <a:off x="495300" y="4953000"/>
            <a:ext cx="8832850" cy="762000"/>
          </a:xfrm>
          <a:prstGeom prst="rect">
            <a:avLst/>
          </a:prstGeom>
        </p:spPr>
        <p:txBody>
          <a:bodyPr anchor="t">
            <a:normAutofit/>
          </a:bodyPr>
          <a:lstStyle>
            <a:lvl1pPr>
              <a:defRPr sz="3200"/>
            </a:lvl1pPr>
          </a:lstStyle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10" name="Rectangle 9"/>
          <p:cNvSpPr/>
          <p:nvPr/>
        </p:nvSpPr>
        <p:spPr>
          <a:xfrm>
            <a:off x="9751218" y="0"/>
            <a:ext cx="154782" cy="484632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제목 및 세로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95300" y="152718"/>
            <a:ext cx="6273800" cy="1371600"/>
          </a:xfrm>
          <a:prstGeom prst="rect">
            <a:avLst/>
          </a:prstGeom>
        </p:spPr>
        <p:txBody>
          <a:bodyPr/>
          <a:lstStyle/>
          <a:p>
            <a:r>
              <a:rPr lang="ko-KR" altLang="en-US"/>
              <a:t>마스터 제목 스타일 편집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95300" y="1752601"/>
            <a:ext cx="8255000" cy="4373563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495300" y="6172201"/>
            <a:ext cx="3714750" cy="304800"/>
          </a:xfrm>
          <a:prstGeom prst="rect">
            <a:avLst/>
          </a:prstGeom>
        </p:spPr>
        <p:txBody>
          <a:bodyPr/>
          <a:lstStyle/>
          <a:p>
            <a:endParaRPr lang="ko-KR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495300" y="6492876"/>
            <a:ext cx="3714750" cy="283845"/>
          </a:xfrm>
          <a:prstGeom prst="rect">
            <a:avLst/>
          </a:prstGeom>
        </p:spPr>
        <p:txBody>
          <a:bodyPr/>
          <a:lstStyle/>
          <a:p>
            <a:endParaRPr lang="ko-KR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 rot="16200000">
            <a:off x="8967814" y="5870284"/>
            <a:ext cx="1315721" cy="395552"/>
          </a:xfrm>
          <a:prstGeom prst="rect">
            <a:avLst/>
          </a:prstGeom>
        </p:spPr>
        <p:txBody>
          <a:bodyPr/>
          <a:lstStyle/>
          <a:p>
            <a:fld id="{ABFCFCC8-316A-47DE-A400-916B25617172}" type="slidenum">
              <a:rPr lang="ko-KR" altLang="en-US" smtClean="0"/>
              <a:pPr/>
              <a:t>‹#›</a:t>
            </a:fld>
            <a:endParaRPr lang="ko-KR" altLang="en-US"/>
          </a:p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세로 제목 및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7181850" y="274639"/>
            <a:ext cx="2228850" cy="5851525"/>
          </a:xfrm>
          <a:prstGeom prst="rect">
            <a:avLst/>
          </a:prstGeom>
        </p:spPr>
        <p:txBody>
          <a:bodyPr vert="eaVert"/>
          <a:lstStyle/>
          <a:p>
            <a:r>
              <a:rPr lang="ko-KR" altLang="en-US"/>
              <a:t>마스터 제목 스타일 편집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95300" y="274639"/>
            <a:ext cx="6521450" cy="5851525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495300" y="6172201"/>
            <a:ext cx="3714750" cy="304800"/>
          </a:xfrm>
          <a:prstGeom prst="rect">
            <a:avLst/>
          </a:prstGeom>
        </p:spPr>
        <p:txBody>
          <a:bodyPr/>
          <a:lstStyle/>
          <a:p>
            <a:endParaRPr lang="ko-KR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495300" y="6492876"/>
            <a:ext cx="3714750" cy="283845"/>
          </a:xfrm>
          <a:prstGeom prst="rect">
            <a:avLst/>
          </a:prstGeom>
        </p:spPr>
        <p:txBody>
          <a:bodyPr/>
          <a:lstStyle/>
          <a:p>
            <a:endParaRPr lang="ko-KR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 rot="16200000">
            <a:off x="8967814" y="5870284"/>
            <a:ext cx="1315721" cy="395552"/>
          </a:xfrm>
          <a:prstGeom prst="rect">
            <a:avLst/>
          </a:prstGeom>
        </p:spPr>
        <p:txBody>
          <a:bodyPr/>
          <a:lstStyle/>
          <a:p>
            <a:fld id="{ABFCFCC8-316A-47DE-A400-916B25617172}" type="slidenum">
              <a:rPr lang="ko-KR" altLang="en-US" smtClean="0"/>
              <a:pPr/>
              <a:t>‹#›</a:t>
            </a:fld>
            <a:endParaRPr lang="ko-KR" altLang="en-US"/>
          </a:p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>
  <p:cSld name="1_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823755760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 bg1="lt1" tx1="dk1" bg2="lt2" tx2="dk2" accent1="accent1" accent2="accent2" accent3="accent3" accent4="accent4" accent5="accent5" accent6="accent6" hlink="hlink" folHlink="folHlink"/>
  <p:sldLayoutIdLst>
    <p:sldLayoutId id="2147483949" r:id="rId1"/>
    <p:sldLayoutId id="2147483950" r:id="rId2"/>
    <p:sldLayoutId id="2147483960" r:id="rId3"/>
    <p:sldLayoutId id="2147483951" r:id="rId4"/>
    <p:sldLayoutId id="2147483952" r:id="rId5"/>
    <p:sldLayoutId id="2147483953" r:id="rId6"/>
    <p:sldLayoutId id="2147483954" r:id="rId7"/>
    <p:sldLayoutId id="2147483955" r:id="rId8"/>
    <p:sldLayoutId id="2147483956" r:id="rId9"/>
    <p:sldLayoutId id="2147483957" r:id="rId10"/>
    <p:sldLayoutId id="2147483958" r:id="rId11"/>
    <p:sldLayoutId id="2147483959" r:id="rId12"/>
    <p:sldLayoutId id="2147483961" r:id="rId13"/>
  </p:sldLayoutIdLst>
  <p:hf hdr="0" ftr="0" dt="0"/>
  <p:txStyles>
    <p:titleStyle>
      <a:lvl1pPr algn="l" defTabSz="914400" rtl="0" eaLnBrk="1" latinLnBrk="1" hangingPunct="1">
        <a:spcBef>
          <a:spcPct val="0"/>
        </a:spcBef>
        <a:buNone/>
        <a:defRPr sz="3600" kern="1200" cap="all" spc="-60" baseline="0">
          <a:solidFill>
            <a:schemeClr val="tx2"/>
          </a:solidFill>
          <a:latin typeface="+mj-lt"/>
          <a:ea typeface="+mj-ea"/>
          <a:cs typeface="+mj-cs"/>
        </a:defRPr>
      </a:lvl1pPr>
    </p:titleStyle>
    <p:bodyStyle>
      <a:lvl1pPr marL="0" indent="0" algn="l" defTabSz="914400" rtl="0" eaLnBrk="1" latinLnBrk="1" hangingPunct="1">
        <a:spcBef>
          <a:spcPct val="20000"/>
        </a:spcBef>
        <a:spcAft>
          <a:spcPts val="600"/>
        </a:spcAft>
        <a:buFont typeface="Arial" pitchFamily="34" charset="0"/>
        <a:buNone/>
        <a:defRPr sz="2000" b="1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indent="-182880" algn="l" defTabSz="914400" rtl="0" eaLnBrk="1" latinLnBrk="1" hangingPunct="1">
        <a:spcBef>
          <a:spcPct val="20000"/>
        </a:spcBef>
        <a:buClr>
          <a:schemeClr val="tx2"/>
        </a:buClr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1" hangingPunct="1">
        <a:spcBef>
          <a:spcPct val="20000"/>
        </a:spcBef>
        <a:buClr>
          <a:schemeClr val="tx2"/>
        </a:buClr>
        <a:buFont typeface="Arial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1" hangingPunct="1">
        <a:spcBef>
          <a:spcPct val="20000"/>
        </a:spcBef>
        <a:buClr>
          <a:schemeClr val="tx2"/>
        </a:buClr>
        <a:buFont typeface="Arial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1" hangingPunct="1">
        <a:spcBef>
          <a:spcPct val="20000"/>
        </a:spcBef>
        <a:buClr>
          <a:schemeClr val="tx2"/>
        </a:buClr>
        <a:buFont typeface="Arial" pitchFamily="34" charset="0"/>
        <a:buChar char="•"/>
        <a:defRPr sz="1800" kern="1200" baseline="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1" hangingPunct="1">
        <a:spcBef>
          <a:spcPct val="20000"/>
        </a:spcBef>
        <a:buClr>
          <a:schemeClr val="tx2"/>
        </a:buClr>
        <a:buFont typeface="Arial" pitchFamily="34" charset="0"/>
        <a:buChar char="•"/>
        <a:defRPr sz="16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1" hangingPunct="1">
        <a:spcBef>
          <a:spcPct val="20000"/>
        </a:spcBef>
        <a:buClr>
          <a:schemeClr val="tx2"/>
        </a:buClr>
        <a:buFont typeface="Arial" pitchFamily="34" charset="0"/>
        <a:buChar char="•"/>
        <a:defRPr sz="16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1" hangingPunct="1">
        <a:spcBef>
          <a:spcPct val="20000"/>
        </a:spcBef>
        <a:buClr>
          <a:schemeClr val="tx2"/>
        </a:buClr>
        <a:buFont typeface="Arial" pitchFamily="34" charset="0"/>
        <a:buChar char="•"/>
        <a:defRPr sz="16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1" hangingPunct="1">
        <a:spcBef>
          <a:spcPct val="20000"/>
        </a:spcBef>
        <a:buClr>
          <a:schemeClr val="tx2"/>
        </a:buClr>
        <a:buFont typeface="Arial" pitchFamily="34" charset="0"/>
        <a:buChar char="•"/>
        <a:defRPr sz="16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3.xml"/><Relationship Id="rId5" Type="http://schemas.openxmlformats.org/officeDocument/2006/relationships/image" Target="../media/image5.jpeg"/><Relationship Id="rId4" Type="http://schemas.openxmlformats.org/officeDocument/2006/relationships/image" Target="../media/image4.jpeg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jpe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8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jp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7" Type="http://schemas.openxmlformats.org/officeDocument/2006/relationships/image" Target="../media/image12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1.png"/><Relationship Id="rId5" Type="http://schemas.openxmlformats.org/officeDocument/2006/relationships/image" Target="../media/image10.gif"/><Relationship Id="rId4" Type="http://schemas.openxmlformats.org/officeDocument/2006/relationships/image" Target="../media/image9.jpeg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7" Type="http://schemas.openxmlformats.org/officeDocument/2006/relationships/image" Target="../media/image18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7.png"/><Relationship Id="rId5" Type="http://schemas.openxmlformats.org/officeDocument/2006/relationships/image" Target="../media/image16.png"/><Relationship Id="rId4" Type="http://schemas.openxmlformats.org/officeDocument/2006/relationships/image" Target="../media/image15.png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8" Type="http://schemas.openxmlformats.org/officeDocument/2006/relationships/image" Target="../media/image25.png"/><Relationship Id="rId3" Type="http://schemas.openxmlformats.org/officeDocument/2006/relationships/image" Target="../media/image20.png"/><Relationship Id="rId7" Type="http://schemas.openxmlformats.org/officeDocument/2006/relationships/image" Target="../media/image24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3.png"/><Relationship Id="rId5" Type="http://schemas.openxmlformats.org/officeDocument/2006/relationships/image" Target="../media/image22.png"/><Relationship Id="rId4" Type="http://schemas.openxmlformats.org/officeDocument/2006/relationships/image" Target="../media/image21.png"/></Relationships>
</file>

<file path=ppt/slides/_rels/slide10.xml.rels><?xml version="1.0" encoding="UTF-8" standalone="yes"?>
<Relationships xmlns="http://schemas.openxmlformats.org/package/2006/relationships"><Relationship Id="rId8" Type="http://schemas.openxmlformats.org/officeDocument/2006/relationships/image" Target="../media/image26.png"/><Relationship Id="rId3" Type="http://schemas.openxmlformats.org/officeDocument/2006/relationships/image" Target="../media/image20.png"/><Relationship Id="rId7" Type="http://schemas.openxmlformats.org/officeDocument/2006/relationships/image" Target="../media/image24.pn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3.png"/><Relationship Id="rId5" Type="http://schemas.openxmlformats.org/officeDocument/2006/relationships/image" Target="../media/image22.png"/><Relationship Id="rId4" Type="http://schemas.openxmlformats.org/officeDocument/2006/relationships/image" Target="../media/image21.png"/><Relationship Id="rId9" Type="http://schemas.openxmlformats.org/officeDocument/2006/relationships/image" Target="../media/image27.png"/></Relationships>
</file>

<file path=ppt/slides/_rels/slide11.xml.rels><?xml version="1.0" encoding="UTF-8" standalone="yes"?>
<Relationships xmlns="http://schemas.openxmlformats.org/package/2006/relationships"><Relationship Id="rId8" Type="http://schemas.openxmlformats.org/officeDocument/2006/relationships/image" Target="../media/image25.png"/><Relationship Id="rId3" Type="http://schemas.openxmlformats.org/officeDocument/2006/relationships/image" Target="../media/image20.png"/><Relationship Id="rId7" Type="http://schemas.openxmlformats.org/officeDocument/2006/relationships/image" Target="../media/image24.pn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3.png"/><Relationship Id="rId5" Type="http://schemas.openxmlformats.org/officeDocument/2006/relationships/image" Target="../media/image22.png"/><Relationship Id="rId4" Type="http://schemas.openxmlformats.org/officeDocument/2006/relationships/image" Target="../media/image21.png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7" Type="http://schemas.openxmlformats.org/officeDocument/2006/relationships/image" Target="../media/image22.pn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1.png"/><Relationship Id="rId5" Type="http://schemas.openxmlformats.org/officeDocument/2006/relationships/image" Target="../media/image30.png"/><Relationship Id="rId4" Type="http://schemas.openxmlformats.org/officeDocument/2006/relationships/image" Target="../media/image29.png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7" Type="http://schemas.openxmlformats.org/officeDocument/2006/relationships/image" Target="../media/image22.pn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1.png"/><Relationship Id="rId5" Type="http://schemas.openxmlformats.org/officeDocument/2006/relationships/image" Target="../media/image30.png"/><Relationship Id="rId4" Type="http://schemas.openxmlformats.org/officeDocument/2006/relationships/image" Target="../media/image29.png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7" Type="http://schemas.openxmlformats.org/officeDocument/2006/relationships/image" Target="../media/image22.pn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1.png"/><Relationship Id="rId5" Type="http://schemas.openxmlformats.org/officeDocument/2006/relationships/image" Target="../media/image30.png"/><Relationship Id="rId4" Type="http://schemas.openxmlformats.org/officeDocument/2006/relationships/image" Target="../media/image29.png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7" Type="http://schemas.openxmlformats.org/officeDocument/2006/relationships/image" Target="../media/image22.pn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1.png"/><Relationship Id="rId5" Type="http://schemas.openxmlformats.org/officeDocument/2006/relationships/image" Target="../media/image30.png"/><Relationship Id="rId4" Type="http://schemas.openxmlformats.org/officeDocument/2006/relationships/image" Target="../media/image29.png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7" Type="http://schemas.openxmlformats.org/officeDocument/2006/relationships/image" Target="../media/image33.png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2.png"/><Relationship Id="rId5" Type="http://schemas.openxmlformats.org/officeDocument/2006/relationships/image" Target="../media/image22.png"/><Relationship Id="rId4" Type="http://schemas.openxmlformats.org/officeDocument/2006/relationships/image" Target="../media/image29.png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7" Type="http://schemas.openxmlformats.org/officeDocument/2006/relationships/image" Target="../media/image33.pn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2.png"/><Relationship Id="rId5" Type="http://schemas.openxmlformats.org/officeDocument/2006/relationships/image" Target="../media/image22.png"/><Relationship Id="rId4" Type="http://schemas.openxmlformats.org/officeDocument/2006/relationships/image" Target="../media/image29.png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2.png"/><Relationship Id="rId5" Type="http://schemas.openxmlformats.org/officeDocument/2006/relationships/image" Target="../media/image32.png"/><Relationship Id="rId4" Type="http://schemas.openxmlformats.org/officeDocument/2006/relationships/image" Target="../media/image29.png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2.png"/><Relationship Id="rId5" Type="http://schemas.openxmlformats.org/officeDocument/2006/relationships/image" Target="../media/image22.png"/><Relationship Id="rId4" Type="http://schemas.openxmlformats.org/officeDocument/2006/relationships/image" Target="../media/image29.png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2.png"/><Relationship Id="rId5" Type="http://schemas.openxmlformats.org/officeDocument/2006/relationships/image" Target="../media/image22.png"/><Relationship Id="rId4" Type="http://schemas.openxmlformats.org/officeDocument/2006/relationships/image" Target="../media/image29.png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2.png"/><Relationship Id="rId5" Type="http://schemas.openxmlformats.org/officeDocument/2006/relationships/image" Target="../media/image22.png"/><Relationship Id="rId4" Type="http://schemas.openxmlformats.org/officeDocument/2006/relationships/image" Target="../media/image29.png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2.png"/><Relationship Id="rId5" Type="http://schemas.openxmlformats.org/officeDocument/2006/relationships/image" Target="../media/image22.png"/><Relationship Id="rId4" Type="http://schemas.openxmlformats.org/officeDocument/2006/relationships/image" Target="../media/image29.png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2.png"/><Relationship Id="rId5" Type="http://schemas.openxmlformats.org/officeDocument/2006/relationships/image" Target="../media/image22.png"/><Relationship Id="rId4" Type="http://schemas.openxmlformats.org/officeDocument/2006/relationships/image" Target="../media/image29.png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2.png"/><Relationship Id="rId5" Type="http://schemas.openxmlformats.org/officeDocument/2006/relationships/image" Target="../media/image22.png"/><Relationship Id="rId4" Type="http://schemas.openxmlformats.org/officeDocument/2006/relationships/image" Target="../media/image29.png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7" Type="http://schemas.openxmlformats.org/officeDocument/2006/relationships/image" Target="../media/image34.png"/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2.png"/><Relationship Id="rId5" Type="http://schemas.openxmlformats.org/officeDocument/2006/relationships/image" Target="../media/image22.png"/><Relationship Id="rId4" Type="http://schemas.openxmlformats.org/officeDocument/2006/relationships/image" Target="../media/image29.png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7" Type="http://schemas.openxmlformats.org/officeDocument/2006/relationships/image" Target="../media/image34.png"/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2.png"/><Relationship Id="rId5" Type="http://schemas.openxmlformats.org/officeDocument/2006/relationships/image" Target="../media/image22.png"/><Relationship Id="rId4" Type="http://schemas.openxmlformats.org/officeDocument/2006/relationships/image" Target="../media/image29.png"/></Relationships>
</file>

<file path=ppt/slides/_rels/slide27.xml.rels><?xml version="1.0" encoding="UTF-8" standalone="yes"?>
<Relationships xmlns="http://schemas.openxmlformats.org/package/2006/relationships"><Relationship Id="rId8" Type="http://schemas.openxmlformats.org/officeDocument/2006/relationships/image" Target="../media/image35.png"/><Relationship Id="rId3" Type="http://schemas.openxmlformats.org/officeDocument/2006/relationships/image" Target="../media/image28.png"/><Relationship Id="rId7" Type="http://schemas.openxmlformats.org/officeDocument/2006/relationships/image" Target="../media/image34.png"/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2.png"/><Relationship Id="rId5" Type="http://schemas.openxmlformats.org/officeDocument/2006/relationships/image" Target="../media/image22.png"/><Relationship Id="rId4" Type="http://schemas.openxmlformats.org/officeDocument/2006/relationships/image" Target="../media/image29.png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2.png"/><Relationship Id="rId5" Type="http://schemas.openxmlformats.org/officeDocument/2006/relationships/image" Target="../media/image22.png"/><Relationship Id="rId4" Type="http://schemas.openxmlformats.org/officeDocument/2006/relationships/image" Target="../media/image29.png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2.png"/><Relationship Id="rId5" Type="http://schemas.openxmlformats.org/officeDocument/2006/relationships/image" Target="../media/image22.png"/><Relationship Id="rId4" Type="http://schemas.openxmlformats.org/officeDocument/2006/relationships/image" Target="../media/image29.png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7" Type="http://schemas.openxmlformats.org/officeDocument/2006/relationships/image" Target="../media/image36.gif"/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2.png"/><Relationship Id="rId5" Type="http://schemas.openxmlformats.org/officeDocument/2006/relationships/image" Target="../media/image22.png"/><Relationship Id="rId4" Type="http://schemas.openxmlformats.org/officeDocument/2006/relationships/image" Target="../media/image29.png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2.png"/><Relationship Id="rId5" Type="http://schemas.openxmlformats.org/officeDocument/2006/relationships/image" Target="../media/image22.png"/><Relationship Id="rId4" Type="http://schemas.openxmlformats.org/officeDocument/2006/relationships/image" Target="../media/image29.png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2.xml"/></Relationships>
</file>

<file path=ppt/slides/_rels/slide33.xml.rels><?xml version="1.0" encoding="UTF-8" standalone="yes"?>
<Relationships xmlns="http://schemas.openxmlformats.org/package/2006/relationships"><Relationship Id="rId8" Type="http://schemas.openxmlformats.org/officeDocument/2006/relationships/image" Target="../media/image38.png"/><Relationship Id="rId3" Type="http://schemas.openxmlformats.org/officeDocument/2006/relationships/image" Target="../media/image28.png"/><Relationship Id="rId7" Type="http://schemas.openxmlformats.org/officeDocument/2006/relationships/image" Target="../media/image37.jpeg"/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2.png"/><Relationship Id="rId5" Type="http://schemas.openxmlformats.org/officeDocument/2006/relationships/image" Target="../media/image22.png"/><Relationship Id="rId4" Type="http://schemas.openxmlformats.org/officeDocument/2006/relationships/image" Target="../media/image29.png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.png"/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40.png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.png"/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41.png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png"/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9.png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7" Type="http://schemas.openxmlformats.org/officeDocument/2006/relationships/image" Target="../media/image36.gif"/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2.png"/><Relationship Id="rId5" Type="http://schemas.openxmlformats.org/officeDocument/2006/relationships/image" Target="../media/image22.png"/><Relationship Id="rId4" Type="http://schemas.openxmlformats.org/officeDocument/2006/relationships/image" Target="../media/image29.png"/></Relationships>
</file>

<file path=ppt/slides/_rels/slide38.xml.rels><?xml version="1.0" encoding="UTF-8" standalone="yes"?>
<Relationships xmlns="http://schemas.openxmlformats.org/package/2006/relationships"><Relationship Id="rId8" Type="http://schemas.openxmlformats.org/officeDocument/2006/relationships/image" Target="../media/image45.png"/><Relationship Id="rId13" Type="http://schemas.openxmlformats.org/officeDocument/2006/relationships/image" Target="../media/image50.png"/><Relationship Id="rId3" Type="http://schemas.openxmlformats.org/officeDocument/2006/relationships/image" Target="../media/image28.png"/><Relationship Id="rId7" Type="http://schemas.openxmlformats.org/officeDocument/2006/relationships/image" Target="../media/image44.png"/><Relationship Id="rId12" Type="http://schemas.openxmlformats.org/officeDocument/2006/relationships/image" Target="../media/image49.png"/><Relationship Id="rId2" Type="http://schemas.openxmlformats.org/officeDocument/2006/relationships/notesSlide" Target="../notesSlides/notesSlide38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3.png"/><Relationship Id="rId11" Type="http://schemas.openxmlformats.org/officeDocument/2006/relationships/image" Target="../media/image48.png"/><Relationship Id="rId5" Type="http://schemas.openxmlformats.org/officeDocument/2006/relationships/image" Target="../media/image22.png"/><Relationship Id="rId15" Type="http://schemas.openxmlformats.org/officeDocument/2006/relationships/image" Target="../media/image52.png"/><Relationship Id="rId10" Type="http://schemas.openxmlformats.org/officeDocument/2006/relationships/image" Target="../media/image47.png"/><Relationship Id="rId4" Type="http://schemas.openxmlformats.org/officeDocument/2006/relationships/image" Target="../media/image29.png"/><Relationship Id="rId9" Type="http://schemas.openxmlformats.org/officeDocument/2006/relationships/image" Target="../media/image46.png"/><Relationship Id="rId14" Type="http://schemas.openxmlformats.org/officeDocument/2006/relationships/image" Target="../media/image51.png"/></Relationships>
</file>

<file path=ppt/slides/_rels/slide39.xml.rels><?xml version="1.0" encoding="UTF-8" standalone="yes"?>
<Relationships xmlns="http://schemas.openxmlformats.org/package/2006/relationships"><Relationship Id="rId8" Type="http://schemas.openxmlformats.org/officeDocument/2006/relationships/image" Target="../media/image55.png"/><Relationship Id="rId3" Type="http://schemas.openxmlformats.org/officeDocument/2006/relationships/image" Target="../media/image28.png"/><Relationship Id="rId7" Type="http://schemas.openxmlformats.org/officeDocument/2006/relationships/image" Target="../media/image54.png"/><Relationship Id="rId2" Type="http://schemas.openxmlformats.org/officeDocument/2006/relationships/notesSlide" Target="../notesSlides/notesSlide39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3.png"/><Relationship Id="rId5" Type="http://schemas.openxmlformats.org/officeDocument/2006/relationships/image" Target="../media/image22.png"/><Relationship Id="rId4" Type="http://schemas.openxmlformats.org/officeDocument/2006/relationships/image" Target="../media/image29.png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.png"/><Relationship Id="rId2" Type="http://schemas.openxmlformats.org/officeDocument/2006/relationships/notesSlide" Target="../notesSlides/notesSlide40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57.png"/><Relationship Id="rId4" Type="http://schemas.openxmlformats.org/officeDocument/2006/relationships/image" Target="../media/image56.png"/></Relationships>
</file>

<file path=ppt/slides/_rels/slide41.xml.rels><?xml version="1.0" encoding="UTF-8" standalone="yes"?>
<Relationships xmlns="http://schemas.openxmlformats.org/package/2006/relationships"><Relationship Id="rId8" Type="http://schemas.openxmlformats.org/officeDocument/2006/relationships/image" Target="../media/image41.png"/><Relationship Id="rId3" Type="http://schemas.openxmlformats.org/officeDocument/2006/relationships/image" Target="../media/image28.png"/><Relationship Id="rId7" Type="http://schemas.openxmlformats.org/officeDocument/2006/relationships/image" Target="../media/image40.png"/><Relationship Id="rId2" Type="http://schemas.openxmlformats.org/officeDocument/2006/relationships/notesSlide" Target="../notesSlides/notesSlide41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7.jpeg"/><Relationship Id="rId5" Type="http://schemas.openxmlformats.org/officeDocument/2006/relationships/image" Target="../media/image22.png"/><Relationship Id="rId10" Type="http://schemas.openxmlformats.org/officeDocument/2006/relationships/image" Target="../media/image53.png"/><Relationship Id="rId4" Type="http://schemas.openxmlformats.org/officeDocument/2006/relationships/image" Target="../media/image29.png"/><Relationship Id="rId9" Type="http://schemas.openxmlformats.org/officeDocument/2006/relationships/image" Target="../media/image42.png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42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2.png"/><Relationship Id="rId5" Type="http://schemas.openxmlformats.org/officeDocument/2006/relationships/image" Target="../media/image32.png"/><Relationship Id="rId4" Type="http://schemas.openxmlformats.org/officeDocument/2006/relationships/image" Target="../media/image29.png"/></Relationships>
</file>

<file path=ppt/slides/_rels/slide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png"/><Relationship Id="rId2" Type="http://schemas.openxmlformats.org/officeDocument/2006/relationships/notesSlide" Target="../notesSlides/notesSlide43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9.png"/><Relationship Id="rId5" Type="http://schemas.openxmlformats.org/officeDocument/2006/relationships/image" Target="../media/image58.png"/><Relationship Id="rId4" Type="http://schemas.openxmlformats.org/officeDocument/2006/relationships/image" Target="../media/image22.png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44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2.png"/><Relationship Id="rId5" Type="http://schemas.openxmlformats.org/officeDocument/2006/relationships/image" Target="../media/image32.png"/><Relationship Id="rId4" Type="http://schemas.openxmlformats.org/officeDocument/2006/relationships/image" Target="../media/image29.png"/></Relationships>
</file>

<file path=ppt/slides/_rels/slide45.xml.rels><?xml version="1.0" encoding="UTF-8" standalone="yes"?>
<Relationships xmlns="http://schemas.openxmlformats.org/package/2006/relationships"><Relationship Id="rId8" Type="http://schemas.openxmlformats.org/officeDocument/2006/relationships/image" Target="../media/image59.png"/><Relationship Id="rId3" Type="http://schemas.openxmlformats.org/officeDocument/2006/relationships/image" Target="../media/image29.png"/><Relationship Id="rId7" Type="http://schemas.openxmlformats.org/officeDocument/2006/relationships/image" Target="../media/image58.png"/><Relationship Id="rId2" Type="http://schemas.openxmlformats.org/officeDocument/2006/relationships/notesSlide" Target="../notesSlides/notesSlide45.xml"/><Relationship Id="rId1" Type="http://schemas.openxmlformats.org/officeDocument/2006/relationships/slideLayout" Target="../slideLayouts/slideLayout2.xml"/><Relationship Id="rId6" Type="http://schemas.openxmlformats.org/officeDocument/2006/relationships/chart" Target="../charts/chart2.xml"/><Relationship Id="rId5" Type="http://schemas.openxmlformats.org/officeDocument/2006/relationships/chart" Target="../charts/chart1.xml"/><Relationship Id="rId4" Type="http://schemas.openxmlformats.org/officeDocument/2006/relationships/image" Target="../media/image22.png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46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2.png"/><Relationship Id="rId5" Type="http://schemas.openxmlformats.org/officeDocument/2006/relationships/image" Target="../media/image32.png"/><Relationship Id="rId4" Type="http://schemas.openxmlformats.org/officeDocument/2006/relationships/image" Target="../media/image29.png"/></Relationships>
</file>

<file path=ppt/slides/_rels/slide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png"/><Relationship Id="rId2" Type="http://schemas.openxmlformats.org/officeDocument/2006/relationships/notesSlide" Target="../notesSlides/notesSlide47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9.png"/><Relationship Id="rId5" Type="http://schemas.openxmlformats.org/officeDocument/2006/relationships/image" Target="../media/image58.png"/><Relationship Id="rId4" Type="http://schemas.openxmlformats.org/officeDocument/2006/relationships/image" Target="../media/image22.png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48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2.png"/><Relationship Id="rId5" Type="http://schemas.openxmlformats.org/officeDocument/2006/relationships/image" Target="../media/image32.png"/><Relationship Id="rId4" Type="http://schemas.openxmlformats.org/officeDocument/2006/relationships/image" Target="../media/image29.png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png"/><Relationship Id="rId2" Type="http://schemas.openxmlformats.org/officeDocument/2006/relationships/notesSlide" Target="../notesSlides/notesSlide49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9.png"/><Relationship Id="rId5" Type="http://schemas.openxmlformats.org/officeDocument/2006/relationships/image" Target="../media/image58.png"/><Relationship Id="rId4" Type="http://schemas.openxmlformats.org/officeDocument/2006/relationships/image" Target="../media/image22.png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png"/><Relationship Id="rId2" Type="http://schemas.openxmlformats.org/officeDocument/2006/relationships/notesSlide" Target="../notesSlides/notesSlide50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9.png"/><Relationship Id="rId5" Type="http://schemas.openxmlformats.org/officeDocument/2006/relationships/image" Target="../media/image58.png"/><Relationship Id="rId4" Type="http://schemas.openxmlformats.org/officeDocument/2006/relationships/image" Target="../media/image22.png"/></Relationships>
</file>

<file path=ppt/slides/_rels/slide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51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22.png"/><Relationship Id="rId4" Type="http://schemas.openxmlformats.org/officeDocument/2006/relationships/image" Target="../media/image29.png"/></Relationships>
</file>

<file path=ppt/slides/_rels/slide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52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5.png"/><Relationship Id="rId5" Type="http://schemas.openxmlformats.org/officeDocument/2006/relationships/image" Target="../media/image22.png"/><Relationship Id="rId4" Type="http://schemas.openxmlformats.org/officeDocument/2006/relationships/image" Target="../media/image29.png"/></Relationships>
</file>

<file path=ppt/slides/_rels/slide5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3.xml"/><Relationship Id="rId1" Type="http://schemas.openxmlformats.org/officeDocument/2006/relationships/slideLayout" Target="../slideLayouts/slideLayout2.xml"/></Relationships>
</file>

<file path=ppt/slides/_rels/slide5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4.xml"/><Relationship Id="rId1" Type="http://schemas.openxmlformats.org/officeDocument/2006/relationships/slideLayout" Target="../slideLayouts/slideLayout2.xml"/></Relationships>
</file>

<file path=ppt/slides/_rels/slide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7" Type="http://schemas.openxmlformats.org/officeDocument/2006/relationships/image" Target="../media/image54.png"/><Relationship Id="rId2" Type="http://schemas.openxmlformats.org/officeDocument/2006/relationships/notesSlide" Target="../notesSlides/notesSlide55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3.png"/><Relationship Id="rId5" Type="http://schemas.openxmlformats.org/officeDocument/2006/relationships/image" Target="../media/image22.png"/><Relationship Id="rId4" Type="http://schemas.openxmlformats.org/officeDocument/2006/relationships/image" Target="../media/image29.png"/></Relationships>
</file>

<file path=ppt/slides/_rels/slide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7" Type="http://schemas.openxmlformats.org/officeDocument/2006/relationships/image" Target="../media/image60.png"/><Relationship Id="rId2" Type="http://schemas.openxmlformats.org/officeDocument/2006/relationships/notesSlide" Target="../notesSlides/notesSlide56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3.png"/><Relationship Id="rId5" Type="http://schemas.openxmlformats.org/officeDocument/2006/relationships/image" Target="../media/image22.png"/><Relationship Id="rId4" Type="http://schemas.openxmlformats.org/officeDocument/2006/relationships/image" Target="../media/image29.png"/></Relationships>
</file>

<file path=ppt/slides/_rels/slide5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7.xml"/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Line 422">
            <a:extLst>
              <a:ext uri="{FF2B5EF4-FFF2-40B4-BE49-F238E27FC236}">
                <a16:creationId xmlns:a16="http://schemas.microsoft.com/office/drawing/2014/main" id="{22BA4FA9-8ABD-489B-86CA-7B858355A5B1}"/>
              </a:ext>
            </a:extLst>
          </p:cNvPr>
          <p:cNvSpPr>
            <a:spLocks noChangeShapeType="1"/>
          </p:cNvSpPr>
          <p:nvPr/>
        </p:nvSpPr>
        <p:spPr bwMode="auto">
          <a:xfrm>
            <a:off x="434976" y="2687638"/>
            <a:ext cx="9047163" cy="0"/>
          </a:xfrm>
          <a:prstGeom prst="line">
            <a:avLst/>
          </a:prstGeom>
          <a:noFill/>
          <a:ln w="3175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5" name="Text Box 423">
            <a:extLst>
              <a:ext uri="{FF2B5EF4-FFF2-40B4-BE49-F238E27FC236}">
                <a16:creationId xmlns:a16="http://schemas.microsoft.com/office/drawing/2014/main" id="{0A891955-1C33-4136-B95E-012299335F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20975" y="2184402"/>
            <a:ext cx="6756400" cy="523220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r" latinLnBrk="0">
              <a:spcBef>
                <a:spcPct val="50000"/>
              </a:spcBef>
            </a:pPr>
            <a:r>
              <a:rPr lang="ko-KR" altLang="en-US" sz="2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화면 설계서</a:t>
            </a:r>
          </a:p>
        </p:txBody>
      </p:sp>
      <p:sp>
        <p:nvSpPr>
          <p:cNvPr id="16" name="Text Box 425">
            <a:extLst>
              <a:ext uri="{FF2B5EF4-FFF2-40B4-BE49-F238E27FC236}">
                <a16:creationId xmlns:a16="http://schemas.microsoft.com/office/drawing/2014/main" id="{DB63DBB6-FE6F-487C-B5AB-10B426DC4D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80944" y="3818155"/>
            <a:ext cx="2128837" cy="274637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r" latinLnBrk="0">
              <a:spcBef>
                <a:spcPct val="50000"/>
              </a:spcBef>
            </a:pPr>
            <a:r>
              <a:rPr lang="en-US" altLang="ko-KR" sz="12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Ver. 1.1</a:t>
            </a:r>
          </a:p>
        </p:txBody>
      </p:sp>
      <p:sp>
        <p:nvSpPr>
          <p:cNvPr id="17" name="Text Box 448">
            <a:extLst>
              <a:ext uri="{FF2B5EF4-FFF2-40B4-BE49-F238E27FC236}">
                <a16:creationId xmlns:a16="http://schemas.microsoft.com/office/drawing/2014/main" id="{D0B9ABB4-77B1-4097-BD78-549BE6983CB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14119" y="4302851"/>
            <a:ext cx="1352550" cy="566309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r" eaLnBrk="0" latinLnBrk="0" hangingPunct="0">
              <a:spcBef>
                <a:spcPct val="20000"/>
              </a:spcBef>
            </a:pPr>
            <a:r>
              <a:rPr kumimoji="0" lang="ko-KR" altLang="en-US" sz="14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시스템명</a:t>
            </a:r>
            <a:r>
              <a:rPr kumimoji="0" lang="en-US" altLang="ko-KR" sz="14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:</a:t>
            </a:r>
          </a:p>
          <a:p>
            <a:pPr algn="r" eaLnBrk="0" latinLnBrk="0" hangingPunct="0">
              <a:spcBef>
                <a:spcPct val="20000"/>
              </a:spcBef>
            </a:pPr>
            <a:r>
              <a:rPr kumimoji="0" lang="ko-KR" altLang="en-US" sz="14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단계명</a:t>
            </a:r>
            <a:r>
              <a:rPr kumimoji="0" lang="en-US" altLang="ko-KR" sz="14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:</a:t>
            </a:r>
          </a:p>
        </p:txBody>
      </p:sp>
      <p:sp>
        <p:nvSpPr>
          <p:cNvPr id="18" name="Text Box 453">
            <a:extLst>
              <a:ext uri="{FF2B5EF4-FFF2-40B4-BE49-F238E27FC236}">
                <a16:creationId xmlns:a16="http://schemas.microsoft.com/office/drawing/2014/main" id="{25373915-B57C-4199-8BAB-A2031371485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80944" y="4302851"/>
            <a:ext cx="1982975" cy="566309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eaLnBrk="0" latinLnBrk="0" hangingPunct="0">
              <a:spcBef>
                <a:spcPct val="20000"/>
              </a:spcBef>
            </a:pPr>
            <a:r>
              <a:rPr kumimoji="0" lang="ko-KR" altLang="en-US" sz="14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시스템 포털</a:t>
            </a:r>
            <a:endParaRPr kumimoji="0" lang="en-US" altLang="ko-KR" sz="14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 eaLnBrk="0" latinLnBrk="0" hangingPunct="0">
              <a:spcBef>
                <a:spcPct val="20000"/>
              </a:spcBef>
            </a:pPr>
            <a:r>
              <a:rPr kumimoji="0" lang="ko-KR" altLang="en-US" sz="14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설계</a:t>
            </a:r>
          </a:p>
        </p:txBody>
      </p:sp>
      <p:sp>
        <p:nvSpPr>
          <p:cNvPr id="19" name="Rectangle 4">
            <a:extLst>
              <a:ext uri="{FF2B5EF4-FFF2-40B4-BE49-F238E27FC236}">
                <a16:creationId xmlns:a16="http://schemas.microsoft.com/office/drawing/2014/main" id="{8034A1AE-18CB-44FE-A1A0-47B6A1F5E8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43934"/>
            <a:ext cx="184731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0" name="Text Box 426">
            <a:extLst>
              <a:ext uri="{FF2B5EF4-FFF2-40B4-BE49-F238E27FC236}">
                <a16:creationId xmlns:a16="http://schemas.microsoft.com/office/drawing/2014/main" id="{9CBFF8BD-645C-44E8-AC5E-1919B3715C6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85480" y="1376363"/>
            <a:ext cx="7221406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1000">
                <a:solidFill>
                  <a:schemeClr val="tx1"/>
                </a:solidFill>
                <a:latin typeface="Arial" pitchFamily="34" charset="0"/>
                <a:ea typeface="굴림" pitchFamily="50" charset="-127"/>
              </a:defRPr>
            </a:lvl1pPr>
            <a:lvl2pPr marL="742950" indent="-285750" eaLnBrk="0" hangingPunct="0">
              <a:defRPr kumimoji="1" sz="1000">
                <a:solidFill>
                  <a:schemeClr val="tx1"/>
                </a:solidFill>
                <a:latin typeface="Arial" pitchFamily="34" charset="0"/>
                <a:ea typeface="굴림" pitchFamily="50" charset="-127"/>
              </a:defRPr>
            </a:lvl2pPr>
            <a:lvl3pPr marL="1143000" indent="-228600" eaLnBrk="0" hangingPunct="0">
              <a:defRPr kumimoji="1" sz="1000">
                <a:solidFill>
                  <a:schemeClr val="tx1"/>
                </a:solidFill>
                <a:latin typeface="Arial" pitchFamily="34" charset="0"/>
                <a:ea typeface="굴림" pitchFamily="50" charset="-127"/>
              </a:defRPr>
            </a:lvl3pPr>
            <a:lvl4pPr marL="1600200" indent="-228600" eaLnBrk="0" hangingPunct="0">
              <a:defRPr kumimoji="1" sz="1000">
                <a:solidFill>
                  <a:schemeClr val="tx1"/>
                </a:solidFill>
                <a:latin typeface="Arial" pitchFamily="34" charset="0"/>
                <a:ea typeface="굴림" pitchFamily="50" charset="-127"/>
              </a:defRPr>
            </a:lvl4pPr>
            <a:lvl5pPr marL="2057400" indent="-228600" eaLnBrk="0" hangingPunct="0">
              <a:defRPr kumimoji="1" sz="1000">
                <a:solidFill>
                  <a:schemeClr val="tx1"/>
                </a:solidFill>
                <a:latin typeface="Arial" pitchFamily="34" charset="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000">
                <a:solidFill>
                  <a:schemeClr val="tx1"/>
                </a:solidFill>
                <a:latin typeface="Arial" pitchFamily="34" charset="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000">
                <a:solidFill>
                  <a:schemeClr val="tx1"/>
                </a:solidFill>
                <a:latin typeface="Arial" pitchFamily="34" charset="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000">
                <a:solidFill>
                  <a:schemeClr val="tx1"/>
                </a:solidFill>
                <a:latin typeface="Arial" pitchFamily="34" charset="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000">
                <a:solidFill>
                  <a:schemeClr val="tx1"/>
                </a:solidFill>
                <a:latin typeface="Arial" pitchFamily="34" charset="0"/>
                <a:ea typeface="굴림" pitchFamily="50" charset="-127"/>
              </a:defRPr>
            </a:lvl9pPr>
          </a:lstStyle>
          <a:p>
            <a:pPr algn="r" eaLnBrk="1" latinLnBrk="0" hangingPunct="1">
              <a:spcBef>
                <a:spcPct val="50000"/>
              </a:spcBef>
            </a:pPr>
            <a:r>
              <a:rPr lang="ko-KR" altLang="en-US" sz="2000" b="1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한국동서발전</a:t>
            </a:r>
            <a:r>
              <a:rPr lang="ko-KR" altLang="en-US" sz="2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서비스 포털 개발</a:t>
            </a:r>
          </a:p>
        </p:txBody>
      </p:sp>
      <p:pic>
        <p:nvPicPr>
          <p:cNvPr id="21" name="그림 20">
            <a:extLst>
              <a:ext uri="{FF2B5EF4-FFF2-40B4-BE49-F238E27FC236}">
                <a16:creationId xmlns:a16="http://schemas.microsoft.com/office/drawing/2014/main" id="{163582C6-624E-4114-B5C9-A89CDC7E19B5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891456" y="6058287"/>
            <a:ext cx="1571625" cy="416715"/>
          </a:xfrm>
          <a:prstGeom prst="rect">
            <a:avLst/>
          </a:prstGeom>
        </p:spPr>
      </p:pic>
      <p:pic>
        <p:nvPicPr>
          <p:cNvPr id="22" name="그림 21">
            <a:extLst>
              <a:ext uri="{FF2B5EF4-FFF2-40B4-BE49-F238E27FC236}">
                <a16:creationId xmlns:a16="http://schemas.microsoft.com/office/drawing/2014/main" id="{9C64EEC2-E296-46A5-9D16-CC7E4F84C983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44488" y="5978612"/>
            <a:ext cx="1537438" cy="576063"/>
          </a:xfrm>
          <a:prstGeom prst="rect">
            <a:avLst/>
          </a:prstGeom>
        </p:spPr>
      </p:pic>
      <p:pic>
        <p:nvPicPr>
          <p:cNvPr id="23" name="그림 22" descr="ëìë°ì ì ëí ì´ë¯¸ì§ ê²ìê²°ê³¼">
            <a:extLst>
              <a:ext uri="{FF2B5EF4-FFF2-40B4-BE49-F238E27FC236}">
                <a16:creationId xmlns:a16="http://schemas.microsoft.com/office/drawing/2014/main" id="{77D27B3B-2BF2-4CFA-A5C9-D3758273B75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9482" y="193020"/>
            <a:ext cx="2962275" cy="33649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aphicFrame>
        <p:nvGraphicFramePr>
          <p:cNvPr id="24" name="표 23">
            <a:extLst>
              <a:ext uri="{FF2B5EF4-FFF2-40B4-BE49-F238E27FC236}">
                <a16:creationId xmlns:a16="http://schemas.microsoft.com/office/drawing/2014/main" id="{1F67DA71-532B-4323-91AD-23A132BEDA1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02283513"/>
              </p:ext>
            </p:extLst>
          </p:nvPr>
        </p:nvGraphicFramePr>
        <p:xfrm>
          <a:off x="6681192" y="3300241"/>
          <a:ext cx="2715140" cy="4000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715140">
                  <a:extLst>
                    <a:ext uri="{9D8B030D-6E8A-4147-A177-3AD203B41FA5}">
                      <a16:colId xmlns:a16="http://schemas.microsoft.com/office/drawing/2014/main" val="194916643"/>
                    </a:ext>
                  </a:extLst>
                </a:gridCol>
              </a:tblGrid>
              <a:tr h="374015">
                <a:tc>
                  <a:txBody>
                    <a:bodyPr/>
                    <a:lstStyle/>
                    <a:p>
                      <a:pPr algn="r" latinLnBrk="0">
                        <a:lnSpc>
                          <a:spcPct val="160000"/>
                        </a:lnSpc>
                        <a:spcAft>
                          <a:spcPts val="0"/>
                        </a:spcAft>
                      </a:pPr>
                      <a:r>
                        <a:rPr lang="ko-KR" sz="1900" kern="100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문서 번호</a:t>
                      </a:r>
                      <a:r>
                        <a:rPr lang="en-US" sz="1900" kern="100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: HK-ESP-013</a:t>
                      </a:r>
                      <a:endParaRPr lang="ko-KR" sz="1100" kern="1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4820200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566963182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ext Box 148"/>
          <p:cNvSpPr txBox="1">
            <a:spLocks noChangeArrowheads="1"/>
          </p:cNvSpPr>
          <p:nvPr/>
        </p:nvSpPr>
        <p:spPr bwMode="auto">
          <a:xfrm>
            <a:off x="3729780" y="504109"/>
            <a:ext cx="285313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4" tIns="45711" rIns="91424" bIns="45711">
            <a:spAutoFit/>
          </a:bodyPr>
          <a:lstStyle>
            <a:lvl1pPr eaLnBrk="0" hangingPunct="0">
              <a:defRPr kumimoji="1" sz="1000">
                <a:solidFill>
                  <a:schemeClr val="tx1"/>
                </a:solidFill>
                <a:latin typeface="Arial" charset="0"/>
                <a:ea typeface="굴림" charset="-127"/>
              </a:defRPr>
            </a:lvl1pPr>
            <a:lvl2pPr marL="742950" indent="-285750" eaLnBrk="0" hangingPunct="0">
              <a:defRPr kumimoji="1" sz="1000">
                <a:solidFill>
                  <a:schemeClr val="tx1"/>
                </a:solidFill>
                <a:latin typeface="Arial" charset="0"/>
                <a:ea typeface="굴림" charset="-127"/>
              </a:defRPr>
            </a:lvl2pPr>
            <a:lvl3pPr marL="1143000" indent="-228600" eaLnBrk="0" hangingPunct="0">
              <a:defRPr kumimoji="1" sz="1000">
                <a:solidFill>
                  <a:schemeClr val="tx1"/>
                </a:solidFill>
                <a:latin typeface="Arial" charset="0"/>
                <a:ea typeface="굴림" charset="-127"/>
              </a:defRPr>
            </a:lvl3pPr>
            <a:lvl4pPr marL="1600200" indent="-228600" eaLnBrk="0" hangingPunct="0">
              <a:defRPr kumimoji="1" sz="1000">
                <a:solidFill>
                  <a:schemeClr val="tx1"/>
                </a:solidFill>
                <a:latin typeface="Arial" charset="0"/>
                <a:ea typeface="굴림" charset="-127"/>
              </a:defRPr>
            </a:lvl4pPr>
            <a:lvl5pPr marL="2057400" indent="-228600" eaLnBrk="0" hangingPunct="0">
              <a:defRPr kumimoji="1" sz="1000">
                <a:solidFill>
                  <a:schemeClr val="tx1"/>
                </a:solidFill>
                <a:latin typeface="Arial" charset="0"/>
                <a:ea typeface="굴림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000">
                <a:solidFill>
                  <a:schemeClr val="tx1"/>
                </a:solidFill>
                <a:latin typeface="Arial" charset="0"/>
                <a:ea typeface="굴림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000">
                <a:solidFill>
                  <a:schemeClr val="tx1"/>
                </a:solidFill>
                <a:latin typeface="Arial" charset="0"/>
                <a:ea typeface="굴림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000">
                <a:solidFill>
                  <a:schemeClr val="tx1"/>
                </a:solidFill>
                <a:latin typeface="Arial" charset="0"/>
                <a:ea typeface="굴림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000">
                <a:solidFill>
                  <a:schemeClr val="tx1"/>
                </a:solidFill>
                <a:latin typeface="Arial" charset="0"/>
                <a:ea typeface="굴림" charset="-127"/>
              </a:defRPr>
            </a:lvl9pPr>
          </a:lstStyle>
          <a:p>
            <a:pPr algn="ctr" latinLnBrk="0"/>
            <a:r>
              <a:rPr kumimoji="0" lang="ko-KR" altLang="en-US" sz="1400" b="1" u="sng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개 정 이 </a:t>
            </a:r>
            <a:r>
              <a:rPr kumimoji="0" lang="ko-KR" altLang="en-US" sz="1400" b="1" u="sng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력</a:t>
            </a:r>
            <a:endParaRPr kumimoji="0" lang="ko-KR" altLang="en-US" sz="1400" b="1" u="sng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" name="Text Box 289"/>
          <p:cNvSpPr txBox="1">
            <a:spLocks noChangeArrowheads="1"/>
          </p:cNvSpPr>
          <p:nvPr/>
        </p:nvSpPr>
        <p:spPr bwMode="auto">
          <a:xfrm>
            <a:off x="159492" y="5980122"/>
            <a:ext cx="559480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1000">
                <a:solidFill>
                  <a:schemeClr val="tx1"/>
                </a:solidFill>
                <a:latin typeface="Arial" charset="0"/>
                <a:ea typeface="굴림" charset="-127"/>
              </a:defRPr>
            </a:lvl1pPr>
            <a:lvl2pPr marL="742950" indent="-285750" eaLnBrk="0" hangingPunct="0">
              <a:defRPr kumimoji="1" sz="1000">
                <a:solidFill>
                  <a:schemeClr val="tx1"/>
                </a:solidFill>
                <a:latin typeface="Arial" charset="0"/>
                <a:ea typeface="굴림" charset="-127"/>
              </a:defRPr>
            </a:lvl2pPr>
            <a:lvl3pPr marL="1143000" indent="-228600" eaLnBrk="0" hangingPunct="0">
              <a:defRPr kumimoji="1" sz="1000">
                <a:solidFill>
                  <a:schemeClr val="tx1"/>
                </a:solidFill>
                <a:latin typeface="Arial" charset="0"/>
                <a:ea typeface="굴림" charset="-127"/>
              </a:defRPr>
            </a:lvl3pPr>
            <a:lvl4pPr marL="1600200" indent="-228600" eaLnBrk="0" hangingPunct="0">
              <a:defRPr kumimoji="1" sz="1000">
                <a:solidFill>
                  <a:schemeClr val="tx1"/>
                </a:solidFill>
                <a:latin typeface="Arial" charset="0"/>
                <a:ea typeface="굴림" charset="-127"/>
              </a:defRPr>
            </a:lvl4pPr>
            <a:lvl5pPr marL="2057400" indent="-228600" eaLnBrk="0" hangingPunct="0">
              <a:defRPr kumimoji="1" sz="1000">
                <a:solidFill>
                  <a:schemeClr val="tx1"/>
                </a:solidFill>
                <a:latin typeface="Arial" charset="0"/>
                <a:ea typeface="굴림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000">
                <a:solidFill>
                  <a:schemeClr val="tx1"/>
                </a:solidFill>
                <a:latin typeface="Arial" charset="0"/>
                <a:ea typeface="굴림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000">
                <a:solidFill>
                  <a:schemeClr val="tx1"/>
                </a:solidFill>
                <a:latin typeface="Arial" charset="0"/>
                <a:ea typeface="굴림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000">
                <a:solidFill>
                  <a:schemeClr val="tx1"/>
                </a:solidFill>
                <a:latin typeface="Arial" charset="0"/>
                <a:ea typeface="굴림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000">
                <a:solidFill>
                  <a:schemeClr val="tx1"/>
                </a:solidFill>
                <a:latin typeface="Arial" charset="0"/>
                <a:ea typeface="굴림" charset="-127"/>
              </a:defRPr>
            </a:lvl9pPr>
          </a:lstStyle>
          <a:p>
            <a:pPr eaLnBrk="1" latinLnBrk="0" hangingPunct="1"/>
            <a:r>
              <a:rPr lang="en-US" altLang="ko-KR" baseline="30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변경 사유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: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변경 내용이 이전 문서에 대해 최초작성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/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승인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/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추가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/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수정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/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삭제 중 선택 기입</a:t>
            </a:r>
          </a:p>
          <a:p>
            <a:pPr eaLnBrk="1" latinLnBrk="0" hangingPunct="1"/>
            <a:r>
              <a:rPr lang="en-US" altLang="ko-KR" baseline="30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변경 내용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: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변경이 발생되는 위치와 변경 내용을 자세히 기록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장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.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절과 변경 내용을 기술한다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.) </a:t>
            </a:r>
          </a:p>
        </p:txBody>
      </p:sp>
      <p:graphicFrame>
        <p:nvGraphicFramePr>
          <p:cNvPr id="11" name="Group 13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57008744"/>
              </p:ext>
            </p:extLst>
          </p:nvPr>
        </p:nvGraphicFramePr>
        <p:xfrm>
          <a:off x="245482" y="947021"/>
          <a:ext cx="9430148" cy="4984236"/>
        </p:xfrm>
        <a:graphic>
          <a:graphicData uri="http://schemas.openxmlformats.org/drawingml/2006/table">
            <a:tbl>
              <a:tblPr/>
              <a:tblGrid>
                <a:gridCol w="87814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6631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5449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57889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81542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83687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9902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버전</a:t>
                      </a:r>
                    </a:p>
                  </a:txBody>
                  <a:tcPr marL="99060" marR="9906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변경일</a:t>
                      </a:r>
                    </a:p>
                  </a:txBody>
                  <a:tcPr marL="99060" marR="9906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1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변경사유</a:t>
                      </a:r>
                      <a:r>
                        <a:rPr kumimoji="0" lang="en-US" altLang="ko-KR" sz="1100" b="1" i="0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99060" marR="9906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변경내용</a:t>
                      </a:r>
                      <a:r>
                        <a:rPr kumimoji="0" lang="en-US" altLang="ko-KR" sz="1100" b="1" i="0" u="none" strike="noStrike" cap="none" normalizeH="0" baseline="3000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99060" marR="9906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1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작성자</a:t>
                      </a:r>
                    </a:p>
                  </a:txBody>
                  <a:tcPr marL="99060" marR="9906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1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승인자</a:t>
                      </a:r>
                    </a:p>
                  </a:txBody>
                  <a:tcPr marL="99060" marR="9906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7713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Ver. 1.0</a:t>
                      </a:r>
                    </a:p>
                  </a:txBody>
                  <a:tcPr marL="99060" marR="9906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2018-07-17</a:t>
                      </a:r>
                    </a:p>
                  </a:txBody>
                  <a:tcPr marL="99060" marR="9906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최초작성</a:t>
                      </a: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산출물 최초작성</a:t>
                      </a: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1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김진오</a:t>
                      </a:r>
                      <a:endParaRPr kumimoji="1" lang="en-US" altLang="ko-KR" sz="11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1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7771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Ver 1.1</a:t>
                      </a: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2018-08-01</a:t>
                      </a: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수정</a:t>
                      </a: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수정 사항 반영</a:t>
                      </a: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1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김진오</a:t>
                      </a:r>
                      <a:endParaRPr kumimoji="1" lang="ko-KR" altLang="en-US" sz="11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7771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7771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15484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17058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53255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7771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7771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7771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7771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7771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</a:tbl>
          </a:graphicData>
        </a:graphic>
      </p:graphicFrame>
      <p:sp>
        <p:nvSpPr>
          <p:cNvPr id="3" name="TextBox 2"/>
          <p:cNvSpPr txBox="1"/>
          <p:nvPr/>
        </p:nvSpPr>
        <p:spPr>
          <a:xfrm>
            <a:off x="99895" y="-3035"/>
            <a:ext cx="2225289" cy="261610"/>
          </a:xfrm>
          <a:prstGeom prst="rect">
            <a:avLst/>
          </a:prstGeom>
          <a:solidFill>
            <a:schemeClr val="bg1"/>
          </a:solidFill>
        </p:spPr>
        <p:txBody>
          <a:bodyPr wrap="none" rtlCol="0">
            <a:spAutoFit/>
          </a:bodyPr>
          <a:lstStyle/>
          <a:p>
            <a:r>
              <a:rPr lang="ko-KR" altLang="en-US" sz="1100" b="1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한국동서발전</a:t>
            </a:r>
            <a:r>
              <a:rPr lang="ko-KR" altLang="en-US" sz="11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서비스 포털 개발</a:t>
            </a:r>
            <a:endParaRPr lang="ko-KR" altLang="en-US" sz="11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5" name="그림 4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937698" y="6125196"/>
            <a:ext cx="1798834" cy="70611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08249501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9104309" y="6645875"/>
            <a:ext cx="140029" cy="138499"/>
          </a:xfrm>
        </p:spPr>
        <p:txBody>
          <a:bodyPr/>
          <a:lstStyle/>
          <a:p>
            <a:pPr>
              <a:defRPr/>
            </a:pPr>
            <a:fld id="{9E41B634-5682-4388-99E7-FE44DCFD254B}" type="slidenum">
              <a:rPr lang="ko-KR" altLang="en-US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>
                <a:defRPr/>
              </a:pPr>
              <a:t>3</a:t>
            </a:fld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텍스트 개체 틀 8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서비스 이용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&gt;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서비스 시작 페이지</a:t>
            </a:r>
          </a:p>
        </p:txBody>
      </p:sp>
      <p:sp>
        <p:nvSpPr>
          <p:cNvPr id="10" name="텍스트 개체 틀 9"/>
          <p:cNvSpPr>
            <a:spLocks noGrp="1"/>
          </p:cNvSpPr>
          <p:nvPr>
            <p:ph type="body" sz="quarter" idx="10"/>
          </p:nvPr>
        </p:nvSpPr>
        <p:spPr>
          <a:xfrm>
            <a:off x="6023595" y="44624"/>
            <a:ext cx="1233661" cy="196974"/>
          </a:xfrm>
        </p:spPr>
        <p:txBody>
          <a:bodyPr/>
          <a:lstStyle/>
          <a:p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서비스 시작 페이지</a:t>
            </a:r>
          </a:p>
        </p:txBody>
      </p:sp>
      <p:graphicFrame>
        <p:nvGraphicFramePr>
          <p:cNvPr id="102" name="Group 15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37564225"/>
              </p:ext>
            </p:extLst>
          </p:nvPr>
        </p:nvGraphicFramePr>
        <p:xfrm>
          <a:off x="8469313" y="276225"/>
          <a:ext cx="1404000" cy="3009600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3002"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Description</a:t>
                      </a: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로그인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아이디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비밀번호 입력 후 로그인 진행하고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군관리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Main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으로 이동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2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서비스 소개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서비스 소개 페이지로 이동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3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ID/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비밀번호 찾기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ID/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비밀번호 찾기 화면으로 이동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4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서비스 가입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서비스 가입 화면으로 이동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5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FAQ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자주하는 질문 화면으로 이동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8304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*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시작 페이지 디자인 시안 확정 후 변경 예정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78" name="TextBox 77"/>
          <p:cNvSpPr txBox="1"/>
          <p:nvPr/>
        </p:nvSpPr>
        <p:spPr>
          <a:xfrm>
            <a:off x="7121707" y="21349"/>
            <a:ext cx="567597" cy="2308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화면</a:t>
            </a:r>
            <a:r>
              <a:rPr lang="en-US" altLang="ko-KR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ID</a:t>
            </a:r>
            <a:endParaRPr lang="ko-KR" altLang="en-US" sz="9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7689304" y="43659"/>
            <a:ext cx="792088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itchFamily="50" charset="-127"/>
                <a:ea typeface="맑은 고딕" pitchFamily="50" charset="-127"/>
              </a:rPr>
              <a:t>ewpsp_scr_001 </a:t>
            </a:r>
            <a:endParaRPr lang="ko-KR" altLang="en-US" sz="700" dirty="0">
              <a:latin typeface="맑은 고딕" pitchFamily="50" charset="-127"/>
              <a:ea typeface="맑은 고딕" pitchFamily="50" charset="-127"/>
            </a:endParaRPr>
          </a:p>
        </p:txBody>
      </p:sp>
      <p:pic>
        <p:nvPicPr>
          <p:cNvPr id="80" name="그림 79">
            <a:extLst>
              <a:ext uri="{FF2B5EF4-FFF2-40B4-BE49-F238E27FC236}">
                <a16:creationId xmlns:a16="http://schemas.microsoft.com/office/drawing/2014/main" id="{2DD3D857-4DF8-48EC-8B37-019254BB3C1B}"/>
              </a:ext>
            </a:extLst>
          </p:cNvPr>
          <p:cNvPicPr/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804598" y="276225"/>
            <a:ext cx="4876594" cy="6431287"/>
          </a:xfrm>
          <a:prstGeom prst="rect">
            <a:avLst/>
          </a:prstGeom>
        </p:spPr>
      </p:pic>
      <p:sp>
        <p:nvSpPr>
          <p:cNvPr id="226" name="타원형 설명선 225"/>
          <p:cNvSpPr/>
          <p:nvPr/>
        </p:nvSpPr>
        <p:spPr>
          <a:xfrm>
            <a:off x="2216696" y="2960866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27" name="타원형 설명선 226"/>
          <p:cNvSpPr/>
          <p:nvPr/>
        </p:nvSpPr>
        <p:spPr>
          <a:xfrm>
            <a:off x="1696598" y="3475159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4" name="타원형 설명선 243"/>
          <p:cNvSpPr/>
          <p:nvPr/>
        </p:nvSpPr>
        <p:spPr>
          <a:xfrm>
            <a:off x="3028293" y="3475159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5" name="타원형 설명선 244"/>
          <p:cNvSpPr/>
          <p:nvPr/>
        </p:nvSpPr>
        <p:spPr>
          <a:xfrm>
            <a:off x="2242233" y="3475159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6" name="타원형 설명선 245"/>
          <p:cNvSpPr/>
          <p:nvPr/>
        </p:nvSpPr>
        <p:spPr>
          <a:xfrm>
            <a:off x="3532681" y="3475159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097828564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9104309" y="6645875"/>
            <a:ext cx="140029" cy="138499"/>
          </a:xfrm>
        </p:spPr>
        <p:txBody>
          <a:bodyPr/>
          <a:lstStyle/>
          <a:p>
            <a:pPr>
              <a:defRPr/>
            </a:pPr>
            <a:fld id="{9E41B634-5682-4388-99E7-FE44DCFD254B}" type="slidenum">
              <a:rPr lang="ko-KR" altLang="en-US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>
                <a:defRPr/>
              </a:pPr>
              <a:t>4</a:t>
            </a:fld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텍스트 개체 틀 8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서비스 이용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&gt;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서비스 시작 페이지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&gt;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서비스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소개</a:t>
            </a:r>
          </a:p>
        </p:txBody>
      </p:sp>
      <p:sp>
        <p:nvSpPr>
          <p:cNvPr id="10" name="텍스트 개체 틀 9"/>
          <p:cNvSpPr>
            <a:spLocks noGrp="1"/>
          </p:cNvSpPr>
          <p:nvPr>
            <p:ph type="body" sz="quarter" idx="10"/>
          </p:nvPr>
        </p:nvSpPr>
        <p:spPr>
          <a:xfrm>
            <a:off x="6023595" y="44624"/>
            <a:ext cx="1233661" cy="196974"/>
          </a:xfrm>
        </p:spPr>
        <p:txBody>
          <a:bodyPr/>
          <a:lstStyle/>
          <a:p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서비스 소개</a:t>
            </a:r>
          </a:p>
        </p:txBody>
      </p:sp>
      <p:graphicFrame>
        <p:nvGraphicFramePr>
          <p:cNvPr id="102" name="Group 15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85306107"/>
              </p:ext>
            </p:extLst>
          </p:nvPr>
        </p:nvGraphicFramePr>
        <p:xfrm>
          <a:off x="8469313" y="276225"/>
          <a:ext cx="1404000" cy="947520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3002"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Description</a:t>
                      </a: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동서발전 서비스 포털 서비스 소개 페이지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8304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*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차후 서비스 소개 페이지 문구 및 디자인 변경 예정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78" name="TextBox 77"/>
          <p:cNvSpPr txBox="1"/>
          <p:nvPr/>
        </p:nvSpPr>
        <p:spPr>
          <a:xfrm>
            <a:off x="7121707" y="21349"/>
            <a:ext cx="567597" cy="2308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화면</a:t>
            </a:r>
            <a:r>
              <a:rPr lang="en-US" altLang="ko-KR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ID</a:t>
            </a:r>
            <a:endParaRPr lang="ko-KR" altLang="en-US" sz="9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7689304" y="43659"/>
            <a:ext cx="792088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itchFamily="50" charset="-127"/>
                <a:ea typeface="맑은 고딕" pitchFamily="50" charset="-127"/>
              </a:rPr>
              <a:t>ewpsp_scr_002</a:t>
            </a:r>
            <a:endParaRPr lang="ko-KR" altLang="en-US" sz="700" dirty="0"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3" name="직선 연결선 2">
            <a:extLst>
              <a:ext uri="{FF2B5EF4-FFF2-40B4-BE49-F238E27FC236}">
                <a16:creationId xmlns:a16="http://schemas.microsoft.com/office/drawing/2014/main" id="{199166D1-9A1B-4AB1-92D1-E1A827A965D2}"/>
              </a:ext>
            </a:extLst>
          </p:cNvPr>
          <p:cNvCxnSpPr/>
          <p:nvPr/>
        </p:nvCxnSpPr>
        <p:spPr>
          <a:xfrm>
            <a:off x="606245" y="980728"/>
            <a:ext cx="7227075" cy="0"/>
          </a:xfrm>
          <a:prstGeom prst="line">
            <a:avLst/>
          </a:prstGeom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D41319DB-F596-4B53-B2D4-630ECFE1571C}"/>
              </a:ext>
            </a:extLst>
          </p:cNvPr>
          <p:cNvCxnSpPr/>
          <p:nvPr/>
        </p:nvCxnSpPr>
        <p:spPr>
          <a:xfrm>
            <a:off x="606244" y="948924"/>
            <a:ext cx="2880000" cy="0"/>
          </a:xfrm>
          <a:prstGeom prst="line">
            <a:avLst/>
          </a:prstGeom>
          <a:ln w="63500">
            <a:solidFill>
              <a:srgbClr val="00B05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TextBox 6">
            <a:extLst>
              <a:ext uri="{FF2B5EF4-FFF2-40B4-BE49-F238E27FC236}">
                <a16:creationId xmlns:a16="http://schemas.microsoft.com/office/drawing/2014/main" id="{5BB058A8-3775-45DA-A9F4-37F4CB6D6AC8}"/>
              </a:ext>
            </a:extLst>
          </p:cNvPr>
          <p:cNvSpPr txBox="1"/>
          <p:nvPr/>
        </p:nvSpPr>
        <p:spPr>
          <a:xfrm>
            <a:off x="550587" y="620688"/>
            <a:ext cx="297860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14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한국 동서발전 서비스 포털 소개</a:t>
            </a:r>
          </a:p>
        </p:txBody>
      </p:sp>
      <p:pic>
        <p:nvPicPr>
          <p:cNvPr id="8" name="그림 7">
            <a:extLst>
              <a:ext uri="{FF2B5EF4-FFF2-40B4-BE49-F238E27FC236}">
                <a16:creationId xmlns:a16="http://schemas.microsoft.com/office/drawing/2014/main" id="{F56F982A-3DD3-4399-B056-CE34B662B73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893790" y="1646912"/>
            <a:ext cx="1034388" cy="563623"/>
          </a:xfrm>
          <a:prstGeom prst="rect">
            <a:avLst/>
          </a:prstGeom>
        </p:spPr>
      </p:pic>
      <p:pic>
        <p:nvPicPr>
          <p:cNvPr id="1026" name="Picture 2" descr="http://www.pmgrow.co.kr/images/img_solution06_00.jpg">
            <a:extLst>
              <a:ext uri="{FF2B5EF4-FFF2-40B4-BE49-F238E27FC236}">
                <a16:creationId xmlns:a16="http://schemas.microsoft.com/office/drawing/2014/main" id="{2FD06EF1-FF8A-4926-AE10-BE38A9BD424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59059" y="1544592"/>
            <a:ext cx="4373597" cy="188439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1" name="직사각형 10">
            <a:extLst>
              <a:ext uri="{FF2B5EF4-FFF2-40B4-BE49-F238E27FC236}">
                <a16:creationId xmlns:a16="http://schemas.microsoft.com/office/drawing/2014/main" id="{1A117772-3614-4985-99C9-9FF8C185B3B7}"/>
              </a:ext>
            </a:extLst>
          </p:cNvPr>
          <p:cNvSpPr/>
          <p:nvPr/>
        </p:nvSpPr>
        <p:spPr>
          <a:xfrm>
            <a:off x="793825" y="1185701"/>
            <a:ext cx="4519215" cy="25391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ko-KR" altLang="en-US" sz="1050" b="1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전력의 생산</a:t>
            </a:r>
            <a:r>
              <a:rPr lang="en-US" altLang="ko-KR" sz="1050" b="1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/</a:t>
            </a:r>
            <a:r>
              <a:rPr lang="ko-KR" altLang="en-US" sz="1050" b="1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변환</a:t>
            </a:r>
            <a:r>
              <a:rPr lang="en-US" altLang="ko-KR" sz="1050" b="1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/</a:t>
            </a:r>
            <a:r>
              <a:rPr lang="ko-KR" altLang="en-US" sz="1050" b="1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소비 등에 대한 모니터링이 가능한 통합관리 시스템</a:t>
            </a:r>
            <a:endParaRPr lang="ko-KR" altLang="en-US" sz="1050" b="1" i="0" dirty="0">
              <a:solidFill>
                <a:schemeClr val="tx1">
                  <a:lumMod val="65000"/>
                  <a:lumOff val="35000"/>
                </a:schemeClr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CF0FEEF7-862B-445E-AA28-C620114C2F18}"/>
              </a:ext>
            </a:extLst>
          </p:cNvPr>
          <p:cNvSpPr/>
          <p:nvPr/>
        </p:nvSpPr>
        <p:spPr>
          <a:xfrm>
            <a:off x="4833286" y="2996296"/>
            <a:ext cx="432048" cy="252590"/>
          </a:xfrm>
          <a:prstGeom prst="round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IOE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16" name="직선 화살표 연결선 15">
            <a:extLst>
              <a:ext uri="{FF2B5EF4-FFF2-40B4-BE49-F238E27FC236}">
                <a16:creationId xmlns:a16="http://schemas.microsoft.com/office/drawing/2014/main" id="{E4868A14-C9EB-4A25-819E-AC5177ECF900}"/>
              </a:ext>
            </a:extLst>
          </p:cNvPr>
          <p:cNvCxnSpPr>
            <a:cxnSpLocks/>
            <a:stCxn id="14" idx="0"/>
          </p:cNvCxnSpPr>
          <p:nvPr/>
        </p:nvCxnSpPr>
        <p:spPr>
          <a:xfrm flipV="1">
            <a:off x="5049310" y="2743706"/>
            <a:ext cx="0" cy="252590"/>
          </a:xfrm>
          <a:prstGeom prst="straightConnector1">
            <a:avLst/>
          </a:prstGeom>
          <a:ln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연결선: 꺾임 27">
            <a:extLst>
              <a:ext uri="{FF2B5EF4-FFF2-40B4-BE49-F238E27FC236}">
                <a16:creationId xmlns:a16="http://schemas.microsoft.com/office/drawing/2014/main" id="{96C46539-E17D-4329-A713-0EA717D864EC}"/>
              </a:ext>
            </a:extLst>
          </p:cNvPr>
          <p:cNvCxnSpPr>
            <a:cxnSpLocks/>
            <a:stCxn id="14" idx="3"/>
            <a:endCxn id="8" idx="2"/>
          </p:cNvCxnSpPr>
          <p:nvPr/>
        </p:nvCxnSpPr>
        <p:spPr>
          <a:xfrm flipV="1">
            <a:off x="5265334" y="2210535"/>
            <a:ext cx="1145650" cy="912056"/>
          </a:xfrm>
          <a:prstGeom prst="bentConnector2">
            <a:avLst/>
          </a:prstGeom>
          <a:ln w="50800"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5" name="직선 화살표 연결선 224">
            <a:extLst>
              <a:ext uri="{FF2B5EF4-FFF2-40B4-BE49-F238E27FC236}">
                <a16:creationId xmlns:a16="http://schemas.microsoft.com/office/drawing/2014/main" id="{D6AFB2A1-72FE-42E2-9CF0-C29F487D9400}"/>
              </a:ext>
            </a:extLst>
          </p:cNvPr>
          <p:cNvCxnSpPr/>
          <p:nvPr/>
        </p:nvCxnSpPr>
        <p:spPr>
          <a:xfrm flipH="1">
            <a:off x="4358665" y="1916832"/>
            <a:ext cx="1535125" cy="0"/>
          </a:xfrm>
          <a:prstGeom prst="straightConnector1">
            <a:avLst/>
          </a:prstGeom>
          <a:ln w="50800"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9" name="TextBox 228">
            <a:extLst>
              <a:ext uri="{FF2B5EF4-FFF2-40B4-BE49-F238E27FC236}">
                <a16:creationId xmlns:a16="http://schemas.microsoft.com/office/drawing/2014/main" id="{C6F3F390-D5C3-451F-9C95-DA815B76962D}"/>
              </a:ext>
            </a:extLst>
          </p:cNvPr>
          <p:cNvSpPr txBox="1"/>
          <p:nvPr/>
        </p:nvSpPr>
        <p:spPr>
          <a:xfrm>
            <a:off x="875210" y="3429000"/>
            <a:ext cx="6552728" cy="4810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IoT </a:t>
            </a:r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기기와 연계한 각각의 고객 사이트와 전체 사이트의 실시간</a:t>
            </a:r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, </a:t>
            </a:r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과거의 사용량과 미래의 예측량을 모니터링 하고 충</a:t>
            </a:r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/</a:t>
            </a:r>
            <a:r>
              <a:rPr lang="ko-KR" altLang="en-US" sz="900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방전량</a:t>
            </a:r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, ESS </a:t>
            </a:r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서비스를 통한 실적 및 수익 정보를 조회할 수 있는 서비스 포털 서비스입니다</a:t>
            </a:r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.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3" name="타원형 설명선 225">
            <a:extLst>
              <a:ext uri="{FF2B5EF4-FFF2-40B4-BE49-F238E27FC236}">
                <a16:creationId xmlns:a16="http://schemas.microsoft.com/office/drawing/2014/main" id="{93402A8C-F86A-4207-9226-F02BE6AB6E19}"/>
              </a:ext>
            </a:extLst>
          </p:cNvPr>
          <p:cNvSpPr/>
          <p:nvPr/>
        </p:nvSpPr>
        <p:spPr>
          <a:xfrm>
            <a:off x="378050" y="460425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64" name="직선 연결선 63">
            <a:extLst>
              <a:ext uri="{FF2B5EF4-FFF2-40B4-BE49-F238E27FC236}">
                <a16:creationId xmlns:a16="http://schemas.microsoft.com/office/drawing/2014/main" id="{30F6D088-13C1-4FB2-99F7-66AE63AF2450}"/>
              </a:ext>
            </a:extLst>
          </p:cNvPr>
          <p:cNvCxnSpPr/>
          <p:nvPr/>
        </p:nvCxnSpPr>
        <p:spPr>
          <a:xfrm>
            <a:off x="550587" y="4005064"/>
            <a:ext cx="7227075" cy="0"/>
          </a:xfrm>
          <a:prstGeom prst="line">
            <a:avLst/>
          </a:prstGeom>
          <a:ln w="635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65" name="Picture 4" descr="ê´ì ì ëí ì´ë¯¸ì§ ê²ìê²°ê³¼">
            <a:extLst>
              <a:ext uri="{FF2B5EF4-FFF2-40B4-BE49-F238E27FC236}">
                <a16:creationId xmlns:a16="http://schemas.microsoft.com/office/drawing/2014/main" id="{9625A501-3C29-4A5B-8108-02B96BED946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59059" y="5108582"/>
            <a:ext cx="612000" cy="510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66" name="직사각형 65">
            <a:extLst>
              <a:ext uri="{FF2B5EF4-FFF2-40B4-BE49-F238E27FC236}">
                <a16:creationId xmlns:a16="http://schemas.microsoft.com/office/drawing/2014/main" id="{09BE390C-F378-49FD-AEC6-8BC572150E94}"/>
              </a:ext>
            </a:extLst>
          </p:cNvPr>
          <p:cNvSpPr/>
          <p:nvPr/>
        </p:nvSpPr>
        <p:spPr>
          <a:xfrm>
            <a:off x="1712640" y="4957009"/>
            <a:ext cx="5976664" cy="74090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800" b="1" i="0" dirty="0">
                <a:solidFill>
                  <a:schemeClr val="tx1">
                    <a:lumMod val="65000"/>
                    <a:lumOff val="35000"/>
                  </a:schemeClr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모니터링</a:t>
            </a:r>
            <a:endParaRPr lang="en-US" altLang="ko-KR" sz="800" b="1" i="0" dirty="0">
              <a:solidFill>
                <a:schemeClr val="tx1">
                  <a:lumMod val="65000"/>
                  <a:lumOff val="35000"/>
                </a:schemeClr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 marL="171450" indent="-171450">
              <a:lnSpc>
                <a:spcPct val="150000"/>
              </a:lnSpc>
              <a:buFont typeface="Wingdings" panose="05000000000000000000" pitchFamily="2" charset="2"/>
              <a:buChar char="ü"/>
            </a:pPr>
            <a:r>
              <a:rPr lang="ko-KR" altLang="en-US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에너지 모니터링 </a:t>
            </a:r>
            <a:r>
              <a:rPr lang="en-US" altLang="ko-KR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– </a:t>
            </a:r>
            <a:r>
              <a:rPr lang="ko-KR" altLang="en-US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전력 사용량 현황</a:t>
            </a:r>
            <a:r>
              <a:rPr lang="en-US" altLang="ko-KR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, </a:t>
            </a:r>
            <a:r>
              <a:rPr lang="ko-KR" altLang="en-US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피크 전력 현황</a:t>
            </a:r>
            <a:r>
              <a:rPr lang="en-US" altLang="ko-KR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, </a:t>
            </a:r>
            <a:r>
              <a:rPr lang="ko-KR" altLang="en-US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충</a:t>
            </a:r>
            <a:r>
              <a:rPr lang="en-US" altLang="ko-KR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/</a:t>
            </a:r>
            <a:r>
              <a:rPr lang="ko-KR" altLang="en-US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방전 현황</a:t>
            </a:r>
            <a:r>
              <a:rPr lang="en-US" altLang="ko-KR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, PV</a:t>
            </a:r>
            <a:r>
              <a:rPr lang="ko-KR" altLang="en-US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발전량 현황</a:t>
            </a:r>
            <a:r>
              <a:rPr lang="en-US" altLang="ko-KR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, DR</a:t>
            </a:r>
            <a:r>
              <a:rPr lang="ko-KR" altLang="en-US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실적 현황</a:t>
            </a:r>
            <a:r>
              <a:rPr lang="en-US" altLang="ko-KR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, </a:t>
            </a:r>
            <a:r>
              <a:rPr lang="ko-KR" altLang="en-US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사용량 구성</a:t>
            </a:r>
            <a:r>
              <a:rPr lang="en-US" altLang="ko-KR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(DER)</a:t>
            </a:r>
          </a:p>
          <a:p>
            <a:pPr marL="171450" indent="-171450">
              <a:lnSpc>
                <a:spcPct val="150000"/>
              </a:lnSpc>
              <a:buFont typeface="Wingdings" panose="05000000000000000000" pitchFamily="2" charset="2"/>
              <a:buChar char="ü"/>
            </a:pPr>
            <a:r>
              <a:rPr lang="ko-KR" altLang="en-US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장치</a:t>
            </a:r>
            <a:r>
              <a:rPr lang="en-US" altLang="ko-KR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ko-KR" altLang="en-US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모니터링 </a:t>
            </a:r>
            <a:r>
              <a:rPr lang="en-US" altLang="ko-KR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– IOE </a:t>
            </a:r>
            <a:r>
              <a:rPr lang="ko-KR" altLang="en-US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통신상태</a:t>
            </a:r>
            <a:r>
              <a:rPr lang="en-US" altLang="ko-KR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, PCS</a:t>
            </a:r>
            <a:r>
              <a:rPr lang="ko-KR" altLang="en-US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운전상태</a:t>
            </a:r>
            <a:r>
              <a:rPr lang="en-US" altLang="ko-KR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, BMS </a:t>
            </a:r>
            <a:r>
              <a:rPr lang="ko-KR" altLang="en-US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운전상태</a:t>
            </a:r>
            <a:r>
              <a:rPr lang="en-US" altLang="ko-KR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, PV </a:t>
            </a:r>
            <a:r>
              <a:rPr lang="ko-KR" altLang="en-US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발전상태</a:t>
            </a:r>
            <a:r>
              <a:rPr lang="en-US" altLang="ko-KR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</a:p>
          <a:p>
            <a:pPr marL="171450" indent="-171450">
              <a:lnSpc>
                <a:spcPct val="150000"/>
              </a:lnSpc>
              <a:buFont typeface="Wingdings" panose="05000000000000000000" pitchFamily="2" charset="2"/>
              <a:buChar char="ü"/>
            </a:pPr>
            <a:r>
              <a:rPr lang="ko-KR" altLang="en-US" sz="700" i="0" dirty="0">
                <a:solidFill>
                  <a:schemeClr val="tx1">
                    <a:lumMod val="65000"/>
                    <a:lumOff val="35000"/>
                  </a:schemeClr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알람 정보 확인 </a:t>
            </a:r>
            <a:r>
              <a:rPr lang="en-US" altLang="ko-KR" sz="700" i="0" dirty="0">
                <a:solidFill>
                  <a:schemeClr val="tx1">
                    <a:lumMod val="65000"/>
                    <a:lumOff val="35000"/>
                  </a:schemeClr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– </a:t>
            </a:r>
            <a:r>
              <a:rPr lang="ko-KR" altLang="en-US" sz="700" i="0" dirty="0">
                <a:solidFill>
                  <a:schemeClr val="tx1">
                    <a:lumMod val="65000"/>
                    <a:lumOff val="35000"/>
                  </a:schemeClr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각 장치 별 알람 정보를 확인하고 처리상태를 점검</a:t>
            </a:r>
            <a:endParaRPr lang="en-US" altLang="ko-KR" sz="700" i="0" dirty="0">
              <a:solidFill>
                <a:schemeClr val="tx1">
                  <a:lumMod val="65000"/>
                  <a:lumOff val="35000"/>
                </a:schemeClr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67" name="Picture 8" descr="ììµ ê´ë¦¬ì ëí ì´ë¯¸ì§ ê²ìê²°ê³¼">
            <a:extLst>
              <a:ext uri="{FF2B5EF4-FFF2-40B4-BE49-F238E27FC236}">
                <a16:creationId xmlns:a16="http://schemas.microsoft.com/office/drawing/2014/main" id="{796FBC84-5076-4B1F-A8DA-2F682254850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59059" y="5929185"/>
            <a:ext cx="612000" cy="612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68" name="직사각형 67">
            <a:extLst>
              <a:ext uri="{FF2B5EF4-FFF2-40B4-BE49-F238E27FC236}">
                <a16:creationId xmlns:a16="http://schemas.microsoft.com/office/drawing/2014/main" id="{8824B4E9-4E4D-456F-A473-92FCF12C05DD}"/>
              </a:ext>
            </a:extLst>
          </p:cNvPr>
          <p:cNvSpPr/>
          <p:nvPr/>
        </p:nvSpPr>
        <p:spPr>
          <a:xfrm>
            <a:off x="1712640" y="5856444"/>
            <a:ext cx="5976664" cy="74090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8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수익정보 확인</a:t>
            </a:r>
            <a:endParaRPr lang="en-US" altLang="ko-KR" sz="800" b="1" i="0" dirty="0">
              <a:solidFill>
                <a:schemeClr val="tx1">
                  <a:lumMod val="65000"/>
                  <a:lumOff val="35000"/>
                </a:schemeClr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 marL="171450" indent="-171450">
              <a:lnSpc>
                <a:spcPct val="150000"/>
              </a:lnSpc>
              <a:buFont typeface="Wingdings" panose="05000000000000000000" pitchFamily="2" charset="2"/>
              <a:buChar char="ü"/>
            </a:pPr>
            <a:r>
              <a:rPr lang="ko-KR" altLang="en-US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요금 조회 </a:t>
            </a:r>
            <a:r>
              <a:rPr lang="en-US" altLang="ko-KR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– </a:t>
            </a:r>
            <a:r>
              <a:rPr lang="ko-KR" altLang="en-US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각 항목 별 한전 요금 상세 조회</a:t>
            </a:r>
            <a:endParaRPr lang="en-US" altLang="ko-KR" sz="700" dirty="0">
              <a:solidFill>
                <a:schemeClr val="tx1">
                  <a:lumMod val="65000"/>
                  <a:lumOff val="3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 marL="171450" indent="-171450">
              <a:lnSpc>
                <a:spcPct val="150000"/>
              </a:lnSpc>
              <a:buFont typeface="Wingdings" panose="05000000000000000000" pitchFamily="2" charset="2"/>
              <a:buChar char="ü"/>
            </a:pPr>
            <a:r>
              <a:rPr lang="ko-KR" altLang="en-US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수익 조회 </a:t>
            </a:r>
            <a:r>
              <a:rPr lang="en-US" altLang="ko-KR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– ESS </a:t>
            </a:r>
            <a:r>
              <a:rPr lang="ko-KR" altLang="en-US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수익 조회</a:t>
            </a:r>
            <a:r>
              <a:rPr lang="en-US" altLang="ko-KR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, DR </a:t>
            </a:r>
            <a:r>
              <a:rPr lang="ko-KR" altLang="en-US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수익 조회</a:t>
            </a:r>
            <a:r>
              <a:rPr lang="en-US" altLang="ko-KR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, PV </a:t>
            </a:r>
            <a:r>
              <a:rPr lang="ko-KR" altLang="en-US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수익 조회</a:t>
            </a:r>
            <a:endParaRPr lang="en-US" altLang="ko-KR" sz="700" dirty="0">
              <a:solidFill>
                <a:schemeClr val="tx1">
                  <a:lumMod val="65000"/>
                  <a:lumOff val="3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 marL="171450" indent="-171450">
              <a:lnSpc>
                <a:spcPct val="150000"/>
              </a:lnSpc>
              <a:buFont typeface="Wingdings" panose="05000000000000000000" pitchFamily="2" charset="2"/>
              <a:buChar char="ü"/>
            </a:pPr>
            <a:r>
              <a:rPr lang="ko-KR" altLang="en-US" sz="700" i="0" dirty="0">
                <a:solidFill>
                  <a:schemeClr val="tx1">
                    <a:lumMod val="65000"/>
                    <a:lumOff val="35000"/>
                  </a:schemeClr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명세서 확인 </a:t>
            </a:r>
            <a:r>
              <a:rPr lang="en-US" altLang="ko-KR" sz="700" i="0" dirty="0">
                <a:solidFill>
                  <a:schemeClr val="tx1">
                    <a:lumMod val="65000"/>
                    <a:lumOff val="35000"/>
                  </a:schemeClr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– </a:t>
            </a:r>
            <a:r>
              <a:rPr lang="ko-KR" altLang="en-US" sz="700" i="0" dirty="0">
                <a:solidFill>
                  <a:schemeClr val="tx1">
                    <a:lumMod val="65000"/>
                    <a:lumOff val="35000"/>
                  </a:schemeClr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에너지 절감 수익 배분 청구 명세서 확인 및 출력</a:t>
            </a:r>
            <a:endParaRPr lang="en-US" altLang="ko-KR" sz="700" i="0" dirty="0">
              <a:solidFill>
                <a:schemeClr val="tx1">
                  <a:lumMod val="65000"/>
                  <a:lumOff val="35000"/>
                </a:schemeClr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69" name="Picture 14" descr="íí©ì ëí ì´ë¯¸ì§ ê²ìê²°ê³¼">
            <a:extLst>
              <a:ext uri="{FF2B5EF4-FFF2-40B4-BE49-F238E27FC236}">
                <a16:creationId xmlns:a16="http://schemas.microsoft.com/office/drawing/2014/main" id="{9EE455C1-80F3-44E2-AE22-4A9ECA514F7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59059" y="4156637"/>
            <a:ext cx="612000" cy="612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0" name="직사각형 69">
            <a:extLst>
              <a:ext uri="{FF2B5EF4-FFF2-40B4-BE49-F238E27FC236}">
                <a16:creationId xmlns:a16="http://schemas.microsoft.com/office/drawing/2014/main" id="{8FCDE070-ED0C-4FDB-89C2-14B90F72FC3E}"/>
              </a:ext>
            </a:extLst>
          </p:cNvPr>
          <p:cNvSpPr/>
          <p:nvPr/>
        </p:nvSpPr>
        <p:spPr>
          <a:xfrm>
            <a:off x="1712640" y="4077072"/>
            <a:ext cx="5976664" cy="74090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800" b="1" i="0" dirty="0">
                <a:solidFill>
                  <a:schemeClr val="tx1">
                    <a:lumMod val="65000"/>
                    <a:lumOff val="35000"/>
                  </a:schemeClr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에너지 현황 </a:t>
            </a:r>
            <a:r>
              <a:rPr lang="en-US" altLang="ko-KR" sz="800" b="1" i="0" dirty="0">
                <a:solidFill>
                  <a:schemeClr val="tx1">
                    <a:lumMod val="65000"/>
                    <a:lumOff val="35000"/>
                  </a:schemeClr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lang="ko-KR" altLang="en-US" sz="800" b="1" i="0" dirty="0">
                <a:solidFill>
                  <a:schemeClr val="tx1">
                    <a:lumMod val="65000"/>
                    <a:lumOff val="35000"/>
                  </a:schemeClr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대시보드</a:t>
            </a:r>
            <a:r>
              <a:rPr lang="en-US" altLang="ko-KR" sz="8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en-US" altLang="ko-KR" sz="800" b="1" i="0" dirty="0">
              <a:solidFill>
                <a:schemeClr val="tx1">
                  <a:lumMod val="65000"/>
                  <a:lumOff val="35000"/>
                </a:schemeClr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 marL="171450" indent="-171450">
              <a:lnSpc>
                <a:spcPct val="150000"/>
              </a:lnSpc>
              <a:buFont typeface="Wingdings" panose="05000000000000000000" pitchFamily="2" charset="2"/>
              <a:buChar char="ü"/>
            </a:pPr>
            <a:r>
              <a:rPr lang="ko-KR" altLang="en-US" sz="7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Main– </a:t>
            </a:r>
            <a:r>
              <a:rPr lang="ko-KR" altLang="en-US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고객사 전체</a:t>
            </a:r>
            <a:r>
              <a:rPr lang="en-US" altLang="ko-KR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, </a:t>
            </a:r>
            <a:r>
              <a:rPr lang="ko-KR" altLang="en-US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고객사 그룹 별 현황 대시보드 화면</a:t>
            </a:r>
            <a:endParaRPr lang="en-US" altLang="ko-KR" sz="700" dirty="0">
              <a:solidFill>
                <a:schemeClr val="tx1">
                  <a:lumMod val="65000"/>
                  <a:lumOff val="3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 marL="171450" indent="-171450">
              <a:lnSpc>
                <a:spcPct val="150000"/>
              </a:lnSpc>
              <a:buFont typeface="Wingdings" panose="05000000000000000000" pitchFamily="2" charset="2"/>
              <a:buChar char="ü"/>
            </a:pPr>
            <a:r>
              <a:rPr lang="ko-KR" altLang="en-US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사이트 </a:t>
            </a:r>
            <a:r>
              <a:rPr lang="en-US" altLang="ko-KR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Main – </a:t>
            </a:r>
            <a:r>
              <a:rPr lang="ko-KR" altLang="en-US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각 사이트 별 현황 대시보드 화면</a:t>
            </a:r>
            <a:r>
              <a:rPr lang="en-US" altLang="ko-KR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</a:p>
          <a:p>
            <a:pPr marL="171450" indent="-171450">
              <a:lnSpc>
                <a:spcPct val="150000"/>
              </a:lnSpc>
              <a:buFont typeface="Wingdings" panose="05000000000000000000" pitchFamily="2" charset="2"/>
              <a:buChar char="ü"/>
            </a:pPr>
            <a:r>
              <a:rPr lang="ko-KR" altLang="en-US" sz="700" i="0" dirty="0">
                <a:solidFill>
                  <a:schemeClr val="tx1">
                    <a:lumMod val="65000"/>
                    <a:lumOff val="35000"/>
                  </a:schemeClr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전력관리 설정 </a:t>
            </a:r>
            <a:r>
              <a:rPr lang="en-US" altLang="ko-KR" sz="700" i="0" dirty="0">
                <a:solidFill>
                  <a:schemeClr val="tx1">
                    <a:lumMod val="65000"/>
                    <a:lumOff val="35000"/>
                  </a:schemeClr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– </a:t>
            </a:r>
            <a:r>
              <a:rPr lang="ko-KR" altLang="en-US" sz="700" i="0" dirty="0">
                <a:solidFill>
                  <a:schemeClr val="tx1">
                    <a:lumMod val="65000"/>
                    <a:lumOff val="35000"/>
                  </a:schemeClr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한전계약 및 전력관리 정보를 설정</a:t>
            </a:r>
            <a:endParaRPr lang="en-US" altLang="ko-KR" sz="700" i="0" dirty="0">
              <a:solidFill>
                <a:schemeClr val="tx1">
                  <a:lumMod val="65000"/>
                  <a:lumOff val="35000"/>
                </a:schemeClr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2" name="말풍선: 모서리가 둥근 사각형 71">
            <a:extLst>
              <a:ext uri="{FF2B5EF4-FFF2-40B4-BE49-F238E27FC236}">
                <a16:creationId xmlns:a16="http://schemas.microsoft.com/office/drawing/2014/main" id="{7CEF9C54-9107-497C-95C8-5A167245E890}"/>
              </a:ext>
            </a:extLst>
          </p:cNvPr>
          <p:cNvSpPr/>
          <p:nvPr/>
        </p:nvSpPr>
        <p:spPr>
          <a:xfrm>
            <a:off x="4583403" y="430781"/>
            <a:ext cx="1515308" cy="448699"/>
          </a:xfrm>
          <a:prstGeom prst="wedgeRoundRectCallout">
            <a:avLst>
              <a:gd name="adj1" fmla="val -48643"/>
              <a:gd name="adj2" fmla="val 138067"/>
              <a:gd name="adj3" fmla="val 16667"/>
            </a:avLst>
          </a:prstGeom>
          <a:solidFill>
            <a:schemeClr val="tx1">
              <a:lumMod val="75000"/>
              <a:lumOff val="25000"/>
            </a:schemeClr>
          </a:solidFill>
          <a:ln w="6350">
            <a:solidFill>
              <a:schemeClr val="accent1">
                <a:shade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서비스 포털 소개 내용 확정 후 업데이트 예정</a:t>
            </a:r>
          </a:p>
        </p:txBody>
      </p:sp>
    </p:spTree>
    <p:extLst>
      <p:ext uri="{BB962C8B-B14F-4D97-AF65-F5344CB8AC3E}">
        <p14:creationId xmlns:p14="http://schemas.microsoft.com/office/powerpoint/2010/main" val="2718393279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8" name="그림 87">
            <a:extLst>
              <a:ext uri="{FF2B5EF4-FFF2-40B4-BE49-F238E27FC236}">
                <a16:creationId xmlns:a16="http://schemas.microsoft.com/office/drawing/2014/main" id="{9026EC95-E5E4-4CAB-8059-1B95556821A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839915" y="3700804"/>
            <a:ext cx="90269" cy="1134000"/>
          </a:xfrm>
          <a:prstGeom prst="rect">
            <a:avLst/>
          </a:prstGeom>
        </p:spPr>
      </p:pic>
      <p:pic>
        <p:nvPicPr>
          <p:cNvPr id="21" name="그림 20">
            <a:extLst>
              <a:ext uri="{FF2B5EF4-FFF2-40B4-BE49-F238E27FC236}">
                <a16:creationId xmlns:a16="http://schemas.microsoft.com/office/drawing/2014/main" id="{AA14CB7B-8D6F-43D9-853B-371AB3BC260C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839915" y="1761620"/>
            <a:ext cx="90269" cy="1134000"/>
          </a:xfrm>
          <a:prstGeom prst="rect">
            <a:avLst/>
          </a:prstGeom>
        </p:spPr>
      </p:pic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9104309" y="6645875"/>
            <a:ext cx="140029" cy="138499"/>
          </a:xfrm>
        </p:spPr>
        <p:txBody>
          <a:bodyPr/>
          <a:lstStyle/>
          <a:p>
            <a:pPr>
              <a:defRPr/>
            </a:pPr>
            <a:fld id="{9E41B634-5682-4388-99E7-FE44DCFD254B}" type="slidenum">
              <a:rPr lang="ko-KR" altLang="en-US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>
                <a:defRPr/>
              </a:pPr>
              <a:t>5</a:t>
            </a:fld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텍스트 개체 틀 8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서비스 이용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&gt;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서비스 시작 페이지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&gt;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서비스 가입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&gt;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이용약관 및 동의</a:t>
            </a:r>
          </a:p>
        </p:txBody>
      </p:sp>
      <p:sp>
        <p:nvSpPr>
          <p:cNvPr id="10" name="텍스트 개체 틀 9"/>
          <p:cNvSpPr>
            <a:spLocks noGrp="1"/>
          </p:cNvSpPr>
          <p:nvPr>
            <p:ph type="body" sz="quarter" idx="10"/>
          </p:nvPr>
        </p:nvSpPr>
        <p:spPr>
          <a:xfrm>
            <a:off x="6023595" y="44624"/>
            <a:ext cx="1233661" cy="196974"/>
          </a:xfrm>
        </p:spPr>
        <p:txBody>
          <a:bodyPr/>
          <a:lstStyle/>
          <a:p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이용약관 및 동의</a:t>
            </a:r>
          </a:p>
        </p:txBody>
      </p:sp>
      <p:graphicFrame>
        <p:nvGraphicFramePr>
          <p:cNvPr id="102" name="Group 15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31566049"/>
              </p:ext>
            </p:extLst>
          </p:nvPr>
        </p:nvGraphicFramePr>
        <p:xfrm>
          <a:off x="8469313" y="276225"/>
          <a:ext cx="1404000" cy="2623104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3002"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Description</a:t>
                      </a: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이용약관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2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이용약관 전문보기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(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팝업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)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3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이용약관 동의 </a:t>
                      </a: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체크</a:t>
                      </a: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4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정보수집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제공 및 활용 동의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5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정보수집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제공 및 활용 동의 전문보기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(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팝업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)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6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정보수집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제공 및 활용 동의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(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체크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)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474281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7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다음 단계로 이동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(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정보 입력 페이지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)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6245427"/>
                  </a:ext>
                </a:extLst>
              </a:tr>
              <a:tr h="38304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*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디자인 및 문구 확정 후 변경 예정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*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이용약관 및 활용동의 전문 확정 후 반영 예정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78" name="TextBox 77"/>
          <p:cNvSpPr txBox="1"/>
          <p:nvPr/>
        </p:nvSpPr>
        <p:spPr>
          <a:xfrm>
            <a:off x="7121707" y="21349"/>
            <a:ext cx="567597" cy="2308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화면</a:t>
            </a:r>
            <a:r>
              <a:rPr lang="en-US" altLang="ko-KR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ID</a:t>
            </a:r>
            <a:endParaRPr lang="ko-KR" altLang="en-US" sz="9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7689304" y="43659"/>
            <a:ext cx="792088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itchFamily="50" charset="-127"/>
                <a:ea typeface="맑은 고딕" pitchFamily="50" charset="-127"/>
              </a:rPr>
              <a:t>ewpsp_scr_003</a:t>
            </a:r>
            <a:endParaRPr lang="ko-KR" altLang="en-US" sz="70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26" name="타원형 설명선 225"/>
          <p:cNvSpPr/>
          <p:nvPr/>
        </p:nvSpPr>
        <p:spPr>
          <a:xfrm>
            <a:off x="3035830" y="5172349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7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5" name="타원형 설명선 244"/>
          <p:cNvSpPr/>
          <p:nvPr/>
        </p:nvSpPr>
        <p:spPr>
          <a:xfrm>
            <a:off x="6237089" y="3379263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7" name="타원형 설명선 246"/>
          <p:cNvSpPr/>
          <p:nvPr/>
        </p:nvSpPr>
        <p:spPr>
          <a:xfrm>
            <a:off x="6237089" y="1442425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66" name="타원형 설명선 265"/>
          <p:cNvSpPr/>
          <p:nvPr/>
        </p:nvSpPr>
        <p:spPr>
          <a:xfrm>
            <a:off x="616142" y="3339604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3" name="직선 연결선 2">
            <a:extLst>
              <a:ext uri="{FF2B5EF4-FFF2-40B4-BE49-F238E27FC236}">
                <a16:creationId xmlns:a16="http://schemas.microsoft.com/office/drawing/2014/main" id="{199166D1-9A1B-4AB1-92D1-E1A827A965D2}"/>
              </a:ext>
            </a:extLst>
          </p:cNvPr>
          <p:cNvCxnSpPr/>
          <p:nvPr/>
        </p:nvCxnSpPr>
        <p:spPr>
          <a:xfrm>
            <a:off x="606245" y="980728"/>
            <a:ext cx="7227075" cy="0"/>
          </a:xfrm>
          <a:prstGeom prst="line">
            <a:avLst/>
          </a:prstGeom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D41319DB-F596-4B53-B2D4-630ECFE1571C}"/>
              </a:ext>
            </a:extLst>
          </p:cNvPr>
          <p:cNvCxnSpPr/>
          <p:nvPr/>
        </p:nvCxnSpPr>
        <p:spPr>
          <a:xfrm>
            <a:off x="606244" y="948924"/>
            <a:ext cx="2880000" cy="0"/>
          </a:xfrm>
          <a:prstGeom prst="line">
            <a:avLst/>
          </a:prstGeom>
          <a:ln w="63500">
            <a:solidFill>
              <a:srgbClr val="00B05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TextBox 6">
            <a:extLst>
              <a:ext uri="{FF2B5EF4-FFF2-40B4-BE49-F238E27FC236}">
                <a16:creationId xmlns:a16="http://schemas.microsoft.com/office/drawing/2014/main" id="{5BB058A8-3775-45DA-A9F4-37F4CB6D6AC8}"/>
              </a:ext>
            </a:extLst>
          </p:cNvPr>
          <p:cNvSpPr txBox="1"/>
          <p:nvPr/>
        </p:nvSpPr>
        <p:spPr>
          <a:xfrm>
            <a:off x="550587" y="620688"/>
            <a:ext cx="297860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14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한국 동서발전 서비스 포털 가입</a:t>
            </a:r>
          </a:p>
        </p:txBody>
      </p:sp>
      <p:sp>
        <p:nvSpPr>
          <p:cNvPr id="63" name="타원형 설명선 225">
            <a:extLst>
              <a:ext uri="{FF2B5EF4-FFF2-40B4-BE49-F238E27FC236}">
                <a16:creationId xmlns:a16="http://schemas.microsoft.com/office/drawing/2014/main" id="{93402A8C-F86A-4207-9226-F02BE6AB6E19}"/>
              </a:ext>
            </a:extLst>
          </p:cNvPr>
          <p:cNvSpPr/>
          <p:nvPr/>
        </p:nvSpPr>
        <p:spPr>
          <a:xfrm>
            <a:off x="637489" y="1417501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C97A7BF9-6C8D-411D-9A20-B17D033E8638}"/>
              </a:ext>
            </a:extLst>
          </p:cNvPr>
          <p:cNvSpPr/>
          <p:nvPr/>
        </p:nvSpPr>
        <p:spPr>
          <a:xfrm>
            <a:off x="793825" y="1185701"/>
            <a:ext cx="5023271" cy="25391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ko-KR" altLang="en-US" sz="1050" b="1" i="0" dirty="0">
                <a:solidFill>
                  <a:schemeClr val="tx1">
                    <a:lumMod val="65000"/>
                    <a:lumOff val="35000"/>
                  </a:schemeClr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한국 동서발전 서비스 포털 이용약관 및 정보이용 안내에 대한 동의를 해주세요</a:t>
            </a:r>
            <a:r>
              <a:rPr lang="en-US" altLang="ko-KR" sz="1050" b="1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.</a:t>
            </a:r>
            <a:endParaRPr lang="ko-KR" altLang="en-US" sz="1050" b="1" i="0" dirty="0">
              <a:solidFill>
                <a:schemeClr val="tx1">
                  <a:lumMod val="65000"/>
                  <a:lumOff val="35000"/>
                </a:schemeClr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8" name="그룹 17">
            <a:extLst>
              <a:ext uri="{FF2B5EF4-FFF2-40B4-BE49-F238E27FC236}">
                <a16:creationId xmlns:a16="http://schemas.microsoft.com/office/drawing/2014/main" id="{27CEACE1-CCB2-4BA6-8256-ECC4C89E968F}"/>
              </a:ext>
            </a:extLst>
          </p:cNvPr>
          <p:cNvGrpSpPr/>
          <p:nvPr/>
        </p:nvGrpSpPr>
        <p:grpSpPr>
          <a:xfrm>
            <a:off x="920552" y="1484784"/>
            <a:ext cx="6048672" cy="1670992"/>
            <a:chOff x="920552" y="1484784"/>
            <a:chExt cx="6048672" cy="1670992"/>
          </a:xfrm>
        </p:grpSpPr>
        <p:sp>
          <p:nvSpPr>
            <p:cNvPr id="38" name="직사각형 37">
              <a:extLst>
                <a:ext uri="{FF2B5EF4-FFF2-40B4-BE49-F238E27FC236}">
                  <a16:creationId xmlns:a16="http://schemas.microsoft.com/office/drawing/2014/main" id="{584B4092-3768-4BDB-8CA4-410E983BD00F}"/>
                </a:ext>
              </a:extLst>
            </p:cNvPr>
            <p:cNvSpPr/>
            <p:nvPr/>
          </p:nvSpPr>
          <p:spPr>
            <a:xfrm>
              <a:off x="920552" y="1484784"/>
              <a:ext cx="5976664" cy="25321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ko-KR" altLang="en-US" sz="800" b="1" i="0" dirty="0"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latin typeface="맑은 고딕" panose="020B0503020000020004" pitchFamily="50" charset="-127"/>
                  <a:ea typeface="맑은 고딕" panose="020B0503020000020004" pitchFamily="50" charset="-127"/>
                </a:rPr>
                <a:t>한국 동서발전 서비스 포털 이용약관</a:t>
              </a:r>
              <a:endParaRPr lang="en-US" altLang="ko-KR" sz="700" i="0" dirty="0">
                <a:solidFill>
                  <a:schemeClr val="tx1">
                    <a:lumMod val="65000"/>
                    <a:lumOff val="35000"/>
                  </a:schemeClr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9" name="직사각형 38">
              <a:extLst>
                <a:ext uri="{FF2B5EF4-FFF2-40B4-BE49-F238E27FC236}">
                  <a16:creationId xmlns:a16="http://schemas.microsoft.com/office/drawing/2014/main" id="{2F4FCE6D-967E-432A-98EF-AC703CCAE25D}"/>
                </a:ext>
              </a:extLst>
            </p:cNvPr>
            <p:cNvSpPr/>
            <p:nvPr/>
          </p:nvSpPr>
          <p:spPr>
            <a:xfrm>
              <a:off x="1038132" y="1780918"/>
              <a:ext cx="1008112" cy="104099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ko-KR" altLang="en-US" sz="7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제</a:t>
              </a:r>
              <a:r>
                <a:rPr lang="en-US" altLang="ko-KR" sz="7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</a:t>
              </a:r>
              <a:r>
                <a:rPr lang="ko-KR" altLang="en-US" sz="7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조 </a:t>
              </a:r>
              <a:r>
                <a:rPr lang="en-US" altLang="ko-KR" sz="7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(</a:t>
              </a:r>
              <a:r>
                <a:rPr lang="ko-KR" altLang="en-US" sz="7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목적</a:t>
              </a:r>
              <a:r>
                <a:rPr lang="en-US" altLang="ko-KR" sz="7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)</a:t>
              </a:r>
            </a:p>
            <a:p>
              <a:pPr>
                <a:lnSpc>
                  <a:spcPct val="150000"/>
                </a:lnSpc>
              </a:pPr>
              <a:r>
                <a:rPr lang="en-US" altLang="ko-KR" sz="7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…</a:t>
              </a:r>
            </a:p>
            <a:p>
              <a:pPr>
                <a:lnSpc>
                  <a:spcPct val="150000"/>
                </a:lnSpc>
              </a:pPr>
              <a:r>
                <a:rPr lang="en-US" altLang="ko-KR" sz="7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...</a:t>
              </a:r>
            </a:p>
            <a:p>
              <a:pPr>
                <a:lnSpc>
                  <a:spcPct val="150000"/>
                </a:lnSpc>
              </a:pPr>
              <a:r>
                <a:rPr lang="en-US" altLang="ko-KR" sz="7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…</a:t>
              </a:r>
            </a:p>
            <a:p>
              <a:pPr>
                <a:lnSpc>
                  <a:spcPct val="150000"/>
                </a:lnSpc>
              </a:pPr>
              <a:endParaRPr lang="en-US" altLang="ko-KR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7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제</a:t>
              </a:r>
              <a:r>
                <a:rPr lang="en-US" altLang="ko-KR" sz="7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</a:t>
              </a:r>
              <a:r>
                <a:rPr lang="ko-KR" altLang="en-US" sz="7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조 </a:t>
              </a:r>
              <a:r>
                <a:rPr lang="en-US" altLang="ko-KR" sz="7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(</a:t>
              </a:r>
              <a:r>
                <a:rPr lang="ko-KR" altLang="en-US" sz="7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용어의 정의</a:t>
              </a:r>
              <a:r>
                <a:rPr lang="en-US" altLang="ko-KR" sz="7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)</a:t>
              </a:r>
            </a:p>
          </p:txBody>
        </p:sp>
        <p:sp>
          <p:nvSpPr>
            <p:cNvPr id="4" name="TextBox 3">
              <a:extLst>
                <a:ext uri="{FF2B5EF4-FFF2-40B4-BE49-F238E27FC236}">
                  <a16:creationId xmlns:a16="http://schemas.microsoft.com/office/drawing/2014/main" id="{27736110-361D-4A65-A205-C44EAB1F23AA}"/>
                </a:ext>
              </a:extLst>
            </p:cNvPr>
            <p:cNvSpPr txBox="1"/>
            <p:nvPr/>
          </p:nvSpPr>
          <p:spPr>
            <a:xfrm>
              <a:off x="6545215" y="1633501"/>
              <a:ext cx="360340" cy="92333"/>
            </a:xfrm>
            <a:prstGeom prst="rect">
              <a:avLst/>
            </a:prstGeom>
            <a:noFill/>
            <a:ln w="6350">
              <a:solidFill>
                <a:schemeClr val="bg1">
                  <a:lumMod val="65000"/>
                </a:schemeClr>
              </a:solidFill>
            </a:ln>
          </p:spPr>
          <p:txBody>
            <a:bodyPr wrap="square" lIns="0" tIns="0" rIns="0" bIns="0" rtlCol="0" anchor="ctr">
              <a:spAutoFit/>
            </a:bodyPr>
            <a:lstStyle/>
            <a:p>
              <a:pPr algn="ctr"/>
              <a:r>
                <a:rPr lang="ko-KR" altLang="en-US" sz="6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전문보기</a:t>
              </a:r>
            </a:p>
          </p:txBody>
        </p:sp>
        <p:grpSp>
          <p:nvGrpSpPr>
            <p:cNvPr id="17" name="그룹 16">
              <a:extLst>
                <a:ext uri="{FF2B5EF4-FFF2-40B4-BE49-F238E27FC236}">
                  <a16:creationId xmlns:a16="http://schemas.microsoft.com/office/drawing/2014/main" id="{7E6643A2-D238-497C-8C92-73A6E910B4E0}"/>
                </a:ext>
              </a:extLst>
            </p:cNvPr>
            <p:cNvGrpSpPr/>
            <p:nvPr/>
          </p:nvGrpSpPr>
          <p:grpSpPr>
            <a:xfrm>
              <a:off x="5968669" y="2940058"/>
              <a:ext cx="216000" cy="215444"/>
              <a:chOff x="5900481" y="2979446"/>
              <a:chExt cx="216000" cy="215444"/>
            </a:xfrm>
          </p:grpSpPr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26F4F868-E9A7-4A2A-97D8-56E5F48D09A0}"/>
                  </a:ext>
                </a:extLst>
              </p:cNvPr>
              <p:cNvSpPr txBox="1"/>
              <p:nvPr/>
            </p:nvSpPr>
            <p:spPr>
              <a:xfrm>
                <a:off x="5900481" y="2979446"/>
                <a:ext cx="216000" cy="21544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285750" indent="-285750">
                  <a:buFont typeface="Wingdings" panose="05000000000000000000" pitchFamily="2" charset="2"/>
                  <a:buChar char="ü"/>
                </a:pPr>
                <a:r>
                  <a:rPr lang="en-US" altLang="ko-KR" sz="8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endPara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3" name="직사각형 12">
                <a:extLst>
                  <a:ext uri="{FF2B5EF4-FFF2-40B4-BE49-F238E27FC236}">
                    <a16:creationId xmlns:a16="http://schemas.microsoft.com/office/drawing/2014/main" id="{2D568E02-E02C-4863-89D7-7C72100C4FD4}"/>
                  </a:ext>
                </a:extLst>
              </p:cNvPr>
              <p:cNvSpPr/>
              <p:nvPr/>
            </p:nvSpPr>
            <p:spPr>
              <a:xfrm>
                <a:off x="5969595" y="3014960"/>
                <a:ext cx="108000" cy="108000"/>
              </a:xfrm>
              <a:prstGeom prst="rect">
                <a:avLst/>
              </a:prstGeom>
              <a:noFill/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6334D9E2-ED0F-45DD-A956-B2474E21C157}"/>
                </a:ext>
              </a:extLst>
            </p:cNvPr>
            <p:cNvSpPr txBox="1"/>
            <p:nvPr/>
          </p:nvSpPr>
          <p:spPr>
            <a:xfrm>
              <a:off x="6105128" y="2924944"/>
              <a:ext cx="864096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900" b="1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동의합니다</a:t>
              </a:r>
              <a:r>
                <a:rPr lang="en-US" altLang="ko-KR" sz="900" b="1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.</a:t>
              </a:r>
              <a:endParaRPr lang="ko-KR" altLang="en-US" sz="900" b="1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  <p:sp>
          <p:nvSpPr>
            <p:cNvPr id="2" name="직사각형 1">
              <a:extLst>
                <a:ext uri="{FF2B5EF4-FFF2-40B4-BE49-F238E27FC236}">
                  <a16:creationId xmlns:a16="http://schemas.microsoft.com/office/drawing/2014/main" id="{A728CC0A-D1ED-4387-A75E-C4D5CE867DB6}"/>
                </a:ext>
              </a:extLst>
            </p:cNvPr>
            <p:cNvSpPr/>
            <p:nvPr/>
          </p:nvSpPr>
          <p:spPr>
            <a:xfrm>
              <a:off x="956015" y="1761506"/>
              <a:ext cx="5976664" cy="1132683"/>
            </a:xfrm>
            <a:prstGeom prst="rect">
              <a:avLst/>
            </a:prstGeom>
            <a:noFill/>
            <a:ln w="6350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77" name="그룹 76">
            <a:extLst>
              <a:ext uri="{FF2B5EF4-FFF2-40B4-BE49-F238E27FC236}">
                <a16:creationId xmlns:a16="http://schemas.microsoft.com/office/drawing/2014/main" id="{92CB7056-9975-4CFB-AA1F-8CB1157B54DA}"/>
              </a:ext>
            </a:extLst>
          </p:cNvPr>
          <p:cNvGrpSpPr/>
          <p:nvPr/>
        </p:nvGrpSpPr>
        <p:grpSpPr>
          <a:xfrm>
            <a:off x="920552" y="3428999"/>
            <a:ext cx="6048672" cy="1670992"/>
            <a:chOff x="920552" y="1484784"/>
            <a:chExt cx="6048672" cy="1670992"/>
          </a:xfrm>
        </p:grpSpPr>
        <p:sp>
          <p:nvSpPr>
            <p:cNvPr id="80" name="직사각형 79">
              <a:extLst>
                <a:ext uri="{FF2B5EF4-FFF2-40B4-BE49-F238E27FC236}">
                  <a16:creationId xmlns:a16="http://schemas.microsoft.com/office/drawing/2014/main" id="{CEDEF240-64DF-4297-A37A-A3F8736B9898}"/>
                </a:ext>
              </a:extLst>
            </p:cNvPr>
            <p:cNvSpPr/>
            <p:nvPr/>
          </p:nvSpPr>
          <p:spPr>
            <a:xfrm>
              <a:off x="956015" y="1761506"/>
              <a:ext cx="5976664" cy="1132683"/>
            </a:xfrm>
            <a:prstGeom prst="rect">
              <a:avLst/>
            </a:prstGeom>
            <a:noFill/>
            <a:ln w="6350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1" name="직사각형 80">
              <a:extLst>
                <a:ext uri="{FF2B5EF4-FFF2-40B4-BE49-F238E27FC236}">
                  <a16:creationId xmlns:a16="http://schemas.microsoft.com/office/drawing/2014/main" id="{A5538D44-2F9F-4E80-81A2-E2CEBAD7FCB2}"/>
                </a:ext>
              </a:extLst>
            </p:cNvPr>
            <p:cNvSpPr/>
            <p:nvPr/>
          </p:nvSpPr>
          <p:spPr>
            <a:xfrm>
              <a:off x="920552" y="1484784"/>
              <a:ext cx="5976664" cy="25321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ko-KR" altLang="en-US" sz="800" b="1" i="0" dirty="0"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latin typeface="맑은 고딕" panose="020B0503020000020004" pitchFamily="50" charset="-127"/>
                  <a:ea typeface="맑은 고딕" panose="020B0503020000020004" pitchFamily="50" charset="-127"/>
                </a:rPr>
                <a:t>정보 수집</a:t>
              </a:r>
              <a:r>
                <a:rPr lang="en-US" altLang="ko-KR" sz="800" b="1" i="0" dirty="0"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latin typeface="맑은 고딕" panose="020B0503020000020004" pitchFamily="50" charset="-127"/>
                  <a:ea typeface="맑은 고딕" panose="020B0503020000020004" pitchFamily="50" charset="-127"/>
                </a:rPr>
                <a:t>, </a:t>
              </a:r>
              <a:r>
                <a:rPr lang="ko-KR" altLang="en-US" sz="800" b="1" i="0" dirty="0"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latin typeface="맑은 고딕" panose="020B0503020000020004" pitchFamily="50" charset="-127"/>
                  <a:ea typeface="맑은 고딕" panose="020B0503020000020004" pitchFamily="50" charset="-127"/>
                </a:rPr>
                <a:t>제공 및 활용 동의</a:t>
              </a:r>
              <a:endParaRPr lang="en-US" altLang="ko-KR" sz="700" i="0" dirty="0">
                <a:solidFill>
                  <a:schemeClr val="tx1">
                    <a:lumMod val="65000"/>
                    <a:lumOff val="35000"/>
                  </a:schemeClr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82" name="직사각형 81">
              <a:extLst>
                <a:ext uri="{FF2B5EF4-FFF2-40B4-BE49-F238E27FC236}">
                  <a16:creationId xmlns:a16="http://schemas.microsoft.com/office/drawing/2014/main" id="{C2B1F7EF-CFF1-4AC4-8E23-9F2D22C55222}"/>
                </a:ext>
              </a:extLst>
            </p:cNvPr>
            <p:cNvSpPr/>
            <p:nvPr/>
          </p:nvSpPr>
          <p:spPr>
            <a:xfrm>
              <a:off x="1038132" y="1780918"/>
              <a:ext cx="1466596" cy="104099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en-US" altLang="ko-KR" sz="7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…</a:t>
              </a:r>
            </a:p>
            <a:p>
              <a:pPr>
                <a:lnSpc>
                  <a:spcPct val="150000"/>
                </a:lnSpc>
              </a:pPr>
              <a:r>
                <a:rPr lang="en-US" altLang="ko-KR" sz="7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1. </a:t>
              </a:r>
              <a:r>
                <a:rPr lang="ko-KR" altLang="en-US" sz="7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수집하는 정보 항목</a:t>
              </a:r>
              <a:endParaRPr lang="en-US" altLang="ko-KR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>
                <a:lnSpc>
                  <a:spcPct val="150000"/>
                </a:lnSpc>
              </a:pPr>
              <a:r>
                <a:rPr lang="en-US" altLang="ko-KR" sz="7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...</a:t>
              </a:r>
            </a:p>
            <a:p>
              <a:pPr>
                <a:lnSpc>
                  <a:spcPct val="150000"/>
                </a:lnSpc>
              </a:pPr>
              <a:r>
                <a:rPr lang="en-US" altLang="ko-KR" sz="7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…</a:t>
              </a:r>
            </a:p>
            <a:p>
              <a:pPr>
                <a:lnSpc>
                  <a:spcPct val="150000"/>
                </a:lnSpc>
              </a:pPr>
              <a:r>
                <a:rPr lang="en-US" altLang="ko-KR" sz="7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…</a:t>
              </a:r>
            </a:p>
            <a:p>
              <a:pPr>
                <a:lnSpc>
                  <a:spcPct val="150000"/>
                </a:lnSpc>
              </a:pPr>
              <a:r>
                <a:rPr lang="en-US" altLang="ko-KR" sz="7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…</a:t>
              </a:r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BFFE1E7E-713A-4437-8E95-E960DE9FE3E1}"/>
                </a:ext>
              </a:extLst>
            </p:cNvPr>
            <p:cNvSpPr txBox="1"/>
            <p:nvPr/>
          </p:nvSpPr>
          <p:spPr>
            <a:xfrm>
              <a:off x="6545215" y="1633501"/>
              <a:ext cx="360340" cy="92333"/>
            </a:xfrm>
            <a:prstGeom prst="rect">
              <a:avLst/>
            </a:prstGeom>
            <a:noFill/>
            <a:ln w="6350">
              <a:solidFill>
                <a:schemeClr val="bg1">
                  <a:lumMod val="65000"/>
                </a:schemeClr>
              </a:solidFill>
            </a:ln>
          </p:spPr>
          <p:txBody>
            <a:bodyPr wrap="square" lIns="0" tIns="0" rIns="0" bIns="0" rtlCol="0" anchor="ctr">
              <a:spAutoFit/>
            </a:bodyPr>
            <a:lstStyle/>
            <a:p>
              <a:pPr algn="ctr"/>
              <a:r>
                <a:rPr lang="ko-KR" altLang="en-US" sz="6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전문보기</a:t>
              </a:r>
            </a:p>
          </p:txBody>
        </p:sp>
        <p:grpSp>
          <p:nvGrpSpPr>
            <p:cNvPr id="84" name="그룹 83">
              <a:extLst>
                <a:ext uri="{FF2B5EF4-FFF2-40B4-BE49-F238E27FC236}">
                  <a16:creationId xmlns:a16="http://schemas.microsoft.com/office/drawing/2014/main" id="{1C588D97-E1C5-4BA8-9D1D-A25CF8C55CE3}"/>
                </a:ext>
              </a:extLst>
            </p:cNvPr>
            <p:cNvGrpSpPr/>
            <p:nvPr/>
          </p:nvGrpSpPr>
          <p:grpSpPr>
            <a:xfrm>
              <a:off x="5968669" y="2940058"/>
              <a:ext cx="216000" cy="215444"/>
              <a:chOff x="5900481" y="2979446"/>
              <a:chExt cx="216000" cy="215444"/>
            </a:xfrm>
          </p:grpSpPr>
          <p:sp>
            <p:nvSpPr>
              <p:cNvPr id="86" name="TextBox 85">
                <a:extLst>
                  <a:ext uri="{FF2B5EF4-FFF2-40B4-BE49-F238E27FC236}">
                    <a16:creationId xmlns:a16="http://schemas.microsoft.com/office/drawing/2014/main" id="{157BC539-B7E2-4ED5-9B6F-154216B155FC}"/>
                  </a:ext>
                </a:extLst>
              </p:cNvPr>
              <p:cNvSpPr txBox="1"/>
              <p:nvPr/>
            </p:nvSpPr>
            <p:spPr>
              <a:xfrm>
                <a:off x="5900481" y="2979446"/>
                <a:ext cx="216000" cy="21544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285750" indent="-285750">
                  <a:buFont typeface="Wingdings" panose="05000000000000000000" pitchFamily="2" charset="2"/>
                  <a:buChar char="ü"/>
                </a:pPr>
                <a:r>
                  <a:rPr lang="en-US" altLang="ko-KR" sz="8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endPara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87" name="직사각형 86">
                <a:extLst>
                  <a:ext uri="{FF2B5EF4-FFF2-40B4-BE49-F238E27FC236}">
                    <a16:creationId xmlns:a16="http://schemas.microsoft.com/office/drawing/2014/main" id="{4F07EE42-F116-4E3D-85D8-6711737EB763}"/>
                  </a:ext>
                </a:extLst>
              </p:cNvPr>
              <p:cNvSpPr/>
              <p:nvPr/>
            </p:nvSpPr>
            <p:spPr>
              <a:xfrm>
                <a:off x="5969595" y="3014960"/>
                <a:ext cx="108000" cy="108000"/>
              </a:xfrm>
              <a:prstGeom prst="rect">
                <a:avLst/>
              </a:prstGeom>
              <a:noFill/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FF627A9B-F5FB-41FC-BB09-45B2914D99C9}"/>
                </a:ext>
              </a:extLst>
            </p:cNvPr>
            <p:cNvSpPr txBox="1"/>
            <p:nvPr/>
          </p:nvSpPr>
          <p:spPr>
            <a:xfrm>
              <a:off x="6105128" y="2924944"/>
              <a:ext cx="864096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900" b="1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동의합니다</a:t>
              </a:r>
              <a:r>
                <a:rPr lang="en-US" altLang="ko-KR" sz="900" b="1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.</a:t>
              </a:r>
              <a:endParaRPr lang="ko-KR" altLang="en-US" sz="900" b="1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</p:grpSp>
      <p:sp>
        <p:nvSpPr>
          <p:cNvPr id="89" name="TextBox 88">
            <a:extLst>
              <a:ext uri="{FF2B5EF4-FFF2-40B4-BE49-F238E27FC236}">
                <a16:creationId xmlns:a16="http://schemas.microsoft.com/office/drawing/2014/main" id="{345A7FE9-9077-4BF5-879B-9E2EEFF21365}"/>
              </a:ext>
            </a:extLst>
          </p:cNvPr>
          <p:cNvSpPr txBox="1"/>
          <p:nvPr/>
        </p:nvSpPr>
        <p:spPr>
          <a:xfrm>
            <a:off x="3338306" y="5353626"/>
            <a:ext cx="963897" cy="316807"/>
          </a:xfrm>
          <a:prstGeom prst="rect">
            <a:avLst/>
          </a:prstGeom>
          <a:solidFill>
            <a:schemeClr val="accent3">
              <a:lumMod val="75000"/>
            </a:schemeClr>
          </a:solidFill>
          <a:ln w="6350">
            <a:solidFill>
              <a:schemeClr val="bg1">
                <a:lumMod val="65000"/>
              </a:schemeClr>
            </a:solidFill>
          </a:ln>
        </p:spPr>
        <p:txBody>
          <a:bodyPr wrap="square" lIns="0" tIns="0" rIns="0" bIns="0" rtlCol="0" anchor="ctr">
            <a:noAutofit/>
          </a:bodyPr>
          <a:lstStyle/>
          <a:p>
            <a:pPr algn="ctr"/>
            <a:r>
              <a:rPr lang="ko-KR" altLang="en-US" sz="1100" b="1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다음단계</a:t>
            </a:r>
            <a:endParaRPr lang="ko-KR" altLang="en-US" sz="11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6" name="타원형 설명선 245"/>
          <p:cNvSpPr/>
          <p:nvPr/>
        </p:nvSpPr>
        <p:spPr>
          <a:xfrm>
            <a:off x="5704317" y="4750626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6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8" name="타원형 설명선 247"/>
          <p:cNvSpPr/>
          <p:nvPr/>
        </p:nvSpPr>
        <p:spPr>
          <a:xfrm>
            <a:off x="5720046" y="2795486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0" name="말풍선: 모서리가 둥근 사각형 89">
            <a:extLst>
              <a:ext uri="{FF2B5EF4-FFF2-40B4-BE49-F238E27FC236}">
                <a16:creationId xmlns:a16="http://schemas.microsoft.com/office/drawing/2014/main" id="{A922D065-E5D3-4606-84FB-9EB44FFF6837}"/>
              </a:ext>
            </a:extLst>
          </p:cNvPr>
          <p:cNvSpPr/>
          <p:nvPr/>
        </p:nvSpPr>
        <p:spPr>
          <a:xfrm>
            <a:off x="4583403" y="430781"/>
            <a:ext cx="1515308" cy="448699"/>
          </a:xfrm>
          <a:prstGeom prst="wedgeRoundRectCallout">
            <a:avLst>
              <a:gd name="adj1" fmla="val -48643"/>
              <a:gd name="adj2" fmla="val 138067"/>
              <a:gd name="adj3" fmla="val 16667"/>
            </a:avLst>
          </a:prstGeom>
          <a:solidFill>
            <a:schemeClr val="tx1">
              <a:lumMod val="75000"/>
              <a:lumOff val="25000"/>
            </a:schemeClr>
          </a:solidFill>
          <a:ln w="6350">
            <a:solidFill>
              <a:schemeClr val="accent1">
                <a:shade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이용약관 및 동의 내용 확정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후 업데이트 예정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E864089-9A0D-4DBE-83BB-8DA675B5AFE5}"/>
              </a:ext>
            </a:extLst>
          </p:cNvPr>
          <p:cNvSpPr txBox="1"/>
          <p:nvPr/>
        </p:nvSpPr>
        <p:spPr>
          <a:xfrm>
            <a:off x="4499810" y="2971800"/>
            <a:ext cx="65" cy="2769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endParaRPr lang="ko-KR" altLang="en-US" dirty="0"/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82F39AFB-83B1-45F1-8984-6115B32DD3D2}"/>
              </a:ext>
            </a:extLst>
          </p:cNvPr>
          <p:cNvSpPr/>
          <p:nvPr/>
        </p:nvSpPr>
        <p:spPr>
          <a:xfrm>
            <a:off x="4531730" y="1776647"/>
            <a:ext cx="673646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en-US" altLang="ko-KR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IOE</a:t>
            </a:r>
            <a:endParaRPr lang="ko-KR" altLang="en-US" sz="8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FFCA1FB2-AD49-4BE2-84E7-0ED4A344FBCF}"/>
              </a:ext>
            </a:extLst>
          </p:cNvPr>
          <p:cNvSpPr/>
          <p:nvPr/>
        </p:nvSpPr>
        <p:spPr>
          <a:xfrm>
            <a:off x="5610498" y="1776647"/>
            <a:ext cx="673646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en-US" altLang="ko-KR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PCS</a:t>
            </a:r>
            <a:endParaRPr lang="ko-KR" altLang="en-US" sz="8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8" name="타원 47">
            <a:extLst>
              <a:ext uri="{FF2B5EF4-FFF2-40B4-BE49-F238E27FC236}">
                <a16:creationId xmlns:a16="http://schemas.microsoft.com/office/drawing/2014/main" id="{D904D3F0-B98D-47E7-8BAC-F0CFF7E508B1}"/>
              </a:ext>
            </a:extLst>
          </p:cNvPr>
          <p:cNvSpPr/>
          <p:nvPr/>
        </p:nvSpPr>
        <p:spPr>
          <a:xfrm>
            <a:off x="4400101" y="1865074"/>
            <a:ext cx="131472" cy="122712"/>
          </a:xfrm>
          <a:prstGeom prst="ellipse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9" name="타원 48">
            <a:extLst>
              <a:ext uri="{FF2B5EF4-FFF2-40B4-BE49-F238E27FC236}">
                <a16:creationId xmlns:a16="http://schemas.microsoft.com/office/drawing/2014/main" id="{54D10CF7-CC80-4BCF-A350-6276303768D6}"/>
              </a:ext>
            </a:extLst>
          </p:cNvPr>
          <p:cNvSpPr/>
          <p:nvPr/>
        </p:nvSpPr>
        <p:spPr>
          <a:xfrm>
            <a:off x="5466574" y="1865074"/>
            <a:ext cx="131472" cy="122712"/>
          </a:xfrm>
          <a:prstGeom prst="ellipse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023686365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" name="직사각형 51">
            <a:extLst>
              <a:ext uri="{FF2B5EF4-FFF2-40B4-BE49-F238E27FC236}">
                <a16:creationId xmlns:a16="http://schemas.microsoft.com/office/drawing/2014/main" id="{B46A70FD-0EC8-46A7-94E5-75FBE9CC803F}"/>
              </a:ext>
            </a:extLst>
          </p:cNvPr>
          <p:cNvSpPr/>
          <p:nvPr/>
        </p:nvSpPr>
        <p:spPr>
          <a:xfrm>
            <a:off x="4352873" y="1988840"/>
            <a:ext cx="1250412" cy="3888431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9104309" y="6645875"/>
            <a:ext cx="140029" cy="138499"/>
          </a:xfrm>
        </p:spPr>
        <p:txBody>
          <a:bodyPr/>
          <a:lstStyle/>
          <a:p>
            <a:pPr>
              <a:defRPr/>
            </a:pPr>
            <a:fld id="{9E41B634-5682-4388-99E7-FE44DCFD254B}" type="slidenum">
              <a:rPr lang="ko-KR" altLang="en-US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>
                <a:defRPr/>
              </a:pPr>
              <a:t>6</a:t>
            </a:fld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텍스트 개체 틀 8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서비스 이용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&gt;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서비스 시작 페이지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&gt;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서비스 가입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&gt;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정보입력</a:t>
            </a:r>
          </a:p>
        </p:txBody>
      </p:sp>
      <p:sp>
        <p:nvSpPr>
          <p:cNvPr id="10" name="텍스트 개체 틀 9"/>
          <p:cNvSpPr>
            <a:spLocks noGrp="1"/>
          </p:cNvSpPr>
          <p:nvPr>
            <p:ph type="body" sz="quarter" idx="10"/>
          </p:nvPr>
        </p:nvSpPr>
        <p:spPr>
          <a:xfrm>
            <a:off x="6023595" y="44624"/>
            <a:ext cx="1233661" cy="196974"/>
          </a:xfrm>
        </p:spPr>
        <p:txBody>
          <a:bodyPr/>
          <a:lstStyle/>
          <a:p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가입 정보 입력</a:t>
            </a:r>
          </a:p>
        </p:txBody>
      </p:sp>
      <p:graphicFrame>
        <p:nvGraphicFramePr>
          <p:cNvPr id="102" name="Group 15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95570731"/>
              </p:ext>
            </p:extLst>
          </p:nvPr>
        </p:nvGraphicFramePr>
        <p:xfrm>
          <a:off x="8469313" y="276225"/>
          <a:ext cx="1404000" cy="2164416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3002"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Description</a:t>
                      </a: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가입 정보 입력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서비스 가입이 필요한 정보 수집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2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아이디 중복확인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중복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ID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여부 확인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3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완료</a:t>
                      </a:r>
                      <a:endParaRPr lang="en-US" altLang="ko-KR" sz="800" b="1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가입 완료 처리 후 서비스시작 페이지로 이동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8304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*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서비스 가입 시 필요한 수집 정보 확인 후 업데이트 예정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*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가입 시에 추가 인증이 필요한지 여부 확인 필요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78" name="TextBox 77"/>
          <p:cNvSpPr txBox="1"/>
          <p:nvPr/>
        </p:nvSpPr>
        <p:spPr>
          <a:xfrm>
            <a:off x="7121707" y="21349"/>
            <a:ext cx="567597" cy="2308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화면</a:t>
            </a:r>
            <a:r>
              <a:rPr lang="en-US" altLang="ko-KR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ID</a:t>
            </a:r>
            <a:endParaRPr lang="ko-KR" altLang="en-US" sz="9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7689304" y="43659"/>
            <a:ext cx="792088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itchFamily="50" charset="-127"/>
                <a:ea typeface="맑은 고딕" pitchFamily="50" charset="-127"/>
              </a:rPr>
              <a:t>ewpsp_scr_004</a:t>
            </a:r>
            <a:endParaRPr lang="ko-KR" altLang="en-US" sz="70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26" name="타원형 설명선 225"/>
          <p:cNvSpPr/>
          <p:nvPr/>
        </p:nvSpPr>
        <p:spPr>
          <a:xfrm>
            <a:off x="3355696" y="5978186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3" name="직선 연결선 2">
            <a:extLst>
              <a:ext uri="{FF2B5EF4-FFF2-40B4-BE49-F238E27FC236}">
                <a16:creationId xmlns:a16="http://schemas.microsoft.com/office/drawing/2014/main" id="{199166D1-9A1B-4AB1-92D1-E1A827A965D2}"/>
              </a:ext>
            </a:extLst>
          </p:cNvPr>
          <p:cNvCxnSpPr/>
          <p:nvPr/>
        </p:nvCxnSpPr>
        <p:spPr>
          <a:xfrm>
            <a:off x="606245" y="980728"/>
            <a:ext cx="7227075" cy="0"/>
          </a:xfrm>
          <a:prstGeom prst="line">
            <a:avLst/>
          </a:prstGeom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D41319DB-F596-4B53-B2D4-630ECFE1571C}"/>
              </a:ext>
            </a:extLst>
          </p:cNvPr>
          <p:cNvCxnSpPr/>
          <p:nvPr/>
        </p:nvCxnSpPr>
        <p:spPr>
          <a:xfrm>
            <a:off x="606244" y="948924"/>
            <a:ext cx="2880000" cy="0"/>
          </a:xfrm>
          <a:prstGeom prst="line">
            <a:avLst/>
          </a:prstGeom>
          <a:ln w="63500">
            <a:solidFill>
              <a:srgbClr val="00B05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TextBox 6">
            <a:extLst>
              <a:ext uri="{FF2B5EF4-FFF2-40B4-BE49-F238E27FC236}">
                <a16:creationId xmlns:a16="http://schemas.microsoft.com/office/drawing/2014/main" id="{5BB058A8-3775-45DA-A9F4-37F4CB6D6AC8}"/>
              </a:ext>
            </a:extLst>
          </p:cNvPr>
          <p:cNvSpPr txBox="1"/>
          <p:nvPr/>
        </p:nvSpPr>
        <p:spPr>
          <a:xfrm>
            <a:off x="550587" y="620688"/>
            <a:ext cx="297860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14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한국 동서발전 서비스 포털 가입</a:t>
            </a: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C97A7BF9-6C8D-411D-9A20-B17D033E8638}"/>
              </a:ext>
            </a:extLst>
          </p:cNvPr>
          <p:cNvSpPr/>
          <p:nvPr/>
        </p:nvSpPr>
        <p:spPr>
          <a:xfrm>
            <a:off x="793825" y="1185701"/>
            <a:ext cx="5023271" cy="25391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ko-KR" altLang="en-US" sz="1050" b="1" i="0" dirty="0">
                <a:solidFill>
                  <a:schemeClr val="tx1">
                    <a:lumMod val="65000"/>
                    <a:lumOff val="35000"/>
                  </a:schemeClr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정보를 입력해 주세요</a:t>
            </a:r>
            <a:r>
              <a:rPr lang="en-US" altLang="ko-KR" sz="1050" b="1" i="0" dirty="0">
                <a:solidFill>
                  <a:schemeClr val="tx1">
                    <a:lumMod val="65000"/>
                    <a:lumOff val="35000"/>
                  </a:schemeClr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.</a:t>
            </a:r>
            <a:endParaRPr lang="ko-KR" altLang="en-US" sz="1050" b="1" i="0" dirty="0">
              <a:solidFill>
                <a:schemeClr val="tx1">
                  <a:lumMod val="65000"/>
                  <a:lumOff val="35000"/>
                </a:schemeClr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9" name="TextBox 88">
            <a:extLst>
              <a:ext uri="{FF2B5EF4-FFF2-40B4-BE49-F238E27FC236}">
                <a16:creationId xmlns:a16="http://schemas.microsoft.com/office/drawing/2014/main" id="{345A7FE9-9077-4BF5-879B-9E2EEFF21365}"/>
              </a:ext>
            </a:extLst>
          </p:cNvPr>
          <p:cNvSpPr txBox="1"/>
          <p:nvPr/>
        </p:nvSpPr>
        <p:spPr>
          <a:xfrm>
            <a:off x="3658172" y="6159463"/>
            <a:ext cx="963897" cy="316807"/>
          </a:xfrm>
          <a:prstGeom prst="rect">
            <a:avLst/>
          </a:prstGeom>
          <a:solidFill>
            <a:schemeClr val="accent3">
              <a:lumMod val="75000"/>
            </a:schemeClr>
          </a:solidFill>
          <a:ln w="6350">
            <a:solidFill>
              <a:schemeClr val="bg1">
                <a:lumMod val="65000"/>
              </a:schemeClr>
            </a:solidFill>
          </a:ln>
        </p:spPr>
        <p:txBody>
          <a:bodyPr wrap="square" lIns="0" tIns="0" rIns="0" bIns="0" rtlCol="0" anchor="ctr">
            <a:noAutofit/>
          </a:bodyPr>
          <a:lstStyle/>
          <a:p>
            <a:pPr algn="ctr"/>
            <a:r>
              <a:rPr lang="ko-KR" altLang="en-US" sz="11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완료</a:t>
            </a: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649E0736-F174-42B2-A7DB-77FBE78D3E48}"/>
              </a:ext>
            </a:extLst>
          </p:cNvPr>
          <p:cNvSpPr/>
          <p:nvPr/>
        </p:nvSpPr>
        <p:spPr>
          <a:xfrm>
            <a:off x="606244" y="1628800"/>
            <a:ext cx="1250412" cy="4248471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42" name="직선 연결선 41">
            <a:extLst>
              <a:ext uri="{FF2B5EF4-FFF2-40B4-BE49-F238E27FC236}">
                <a16:creationId xmlns:a16="http://schemas.microsoft.com/office/drawing/2014/main" id="{F4E942EA-9A7D-46F4-9B1A-7C82CF995173}"/>
              </a:ext>
            </a:extLst>
          </p:cNvPr>
          <p:cNvCxnSpPr/>
          <p:nvPr/>
        </p:nvCxnSpPr>
        <p:spPr>
          <a:xfrm>
            <a:off x="606245" y="1628800"/>
            <a:ext cx="7227075" cy="0"/>
          </a:xfrm>
          <a:prstGeom prst="line">
            <a:avLst/>
          </a:prstGeom>
          <a:ln w="635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D7E8FCB4-E719-444B-873F-5603ECD077EE}"/>
              </a:ext>
            </a:extLst>
          </p:cNvPr>
          <p:cNvCxnSpPr/>
          <p:nvPr/>
        </p:nvCxnSpPr>
        <p:spPr>
          <a:xfrm>
            <a:off x="606244" y="5877379"/>
            <a:ext cx="7227075" cy="0"/>
          </a:xfrm>
          <a:prstGeom prst="line">
            <a:avLst/>
          </a:prstGeom>
          <a:ln w="635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" name="그룹 3">
            <a:extLst>
              <a:ext uri="{FF2B5EF4-FFF2-40B4-BE49-F238E27FC236}">
                <a16:creationId xmlns:a16="http://schemas.microsoft.com/office/drawing/2014/main" id="{8F6511C5-037B-4F5D-B56F-FBF90CC6D314}"/>
              </a:ext>
            </a:extLst>
          </p:cNvPr>
          <p:cNvGrpSpPr/>
          <p:nvPr/>
        </p:nvGrpSpPr>
        <p:grpSpPr>
          <a:xfrm>
            <a:off x="606244" y="1690453"/>
            <a:ext cx="7227075" cy="298387"/>
            <a:chOff x="606244" y="1690453"/>
            <a:chExt cx="7227075" cy="298387"/>
          </a:xfrm>
        </p:grpSpPr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A5280FED-DB2D-4045-8F2D-1EF1C554BEC4}"/>
                </a:ext>
              </a:extLst>
            </p:cNvPr>
            <p:cNvCxnSpPr/>
            <p:nvPr/>
          </p:nvCxnSpPr>
          <p:spPr>
            <a:xfrm>
              <a:off x="606244" y="1988840"/>
              <a:ext cx="7227075" cy="0"/>
            </a:xfrm>
            <a:prstGeom prst="line">
              <a:avLst/>
            </a:prstGeom>
            <a:ln w="0">
              <a:solidFill>
                <a:schemeClr val="accent3">
                  <a:lumMod val="20000"/>
                  <a:lumOff val="8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3DAC5599-800D-42C6-9DF4-C6DCCDDE290A}"/>
                </a:ext>
              </a:extLst>
            </p:cNvPr>
            <p:cNvSpPr txBox="1"/>
            <p:nvPr/>
          </p:nvSpPr>
          <p:spPr>
            <a:xfrm>
              <a:off x="657140" y="1706356"/>
              <a:ext cx="790945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b="1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*  </a:t>
              </a:r>
              <a:r>
                <a:rPr lang="ko-KR" altLang="en-US" sz="9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아이디</a:t>
              </a:r>
            </a:p>
          </p:txBody>
        </p:sp>
        <p:sp>
          <p:nvSpPr>
            <p:cNvPr id="14" name="직사각형 13">
              <a:extLst>
                <a:ext uri="{FF2B5EF4-FFF2-40B4-BE49-F238E27FC236}">
                  <a16:creationId xmlns:a16="http://schemas.microsoft.com/office/drawing/2014/main" id="{10C6FEF2-0051-444C-8F68-2BD8E16D26C3}"/>
                </a:ext>
              </a:extLst>
            </p:cNvPr>
            <p:cNvSpPr/>
            <p:nvPr/>
          </p:nvSpPr>
          <p:spPr>
            <a:xfrm>
              <a:off x="1928664" y="1690453"/>
              <a:ext cx="2171638" cy="234000"/>
            </a:xfrm>
            <a:prstGeom prst="rect">
              <a:avLst/>
            </a:prstGeom>
            <a:noFill/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23" name="말풍선: 모서리가 둥근 사각형 22">
            <a:extLst>
              <a:ext uri="{FF2B5EF4-FFF2-40B4-BE49-F238E27FC236}">
                <a16:creationId xmlns:a16="http://schemas.microsoft.com/office/drawing/2014/main" id="{3DD03724-FC86-487F-BAB2-78D7EB776D39}"/>
              </a:ext>
            </a:extLst>
          </p:cNvPr>
          <p:cNvSpPr/>
          <p:nvPr/>
        </p:nvSpPr>
        <p:spPr>
          <a:xfrm>
            <a:off x="4583403" y="430781"/>
            <a:ext cx="1515308" cy="448699"/>
          </a:xfrm>
          <a:prstGeom prst="wedgeRoundRectCallout">
            <a:avLst>
              <a:gd name="adj1" fmla="val -48643"/>
              <a:gd name="adj2" fmla="val 138067"/>
              <a:gd name="adj3" fmla="val 16667"/>
            </a:avLst>
          </a:prstGeom>
          <a:solidFill>
            <a:schemeClr val="tx1">
              <a:lumMod val="75000"/>
              <a:lumOff val="25000"/>
            </a:schemeClr>
          </a:solidFill>
          <a:ln w="6350">
            <a:solidFill>
              <a:schemeClr val="accent1">
                <a:shade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고객 입력정보 확정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후 업데이트 예정</a:t>
            </a:r>
          </a:p>
        </p:txBody>
      </p:sp>
      <p:sp>
        <p:nvSpPr>
          <p:cNvPr id="63" name="타원형 설명선 225">
            <a:extLst>
              <a:ext uri="{FF2B5EF4-FFF2-40B4-BE49-F238E27FC236}">
                <a16:creationId xmlns:a16="http://schemas.microsoft.com/office/drawing/2014/main" id="{93402A8C-F86A-4207-9226-F02BE6AB6E19}"/>
              </a:ext>
            </a:extLst>
          </p:cNvPr>
          <p:cNvSpPr/>
          <p:nvPr/>
        </p:nvSpPr>
        <p:spPr>
          <a:xfrm>
            <a:off x="296553" y="1439617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672300C0-F260-46FD-9B66-B683FC932471}"/>
              </a:ext>
            </a:extLst>
          </p:cNvPr>
          <p:cNvGrpSpPr/>
          <p:nvPr/>
        </p:nvGrpSpPr>
        <p:grpSpPr>
          <a:xfrm>
            <a:off x="602201" y="2088824"/>
            <a:ext cx="7227075" cy="298387"/>
            <a:chOff x="602201" y="2088824"/>
            <a:chExt cx="7227075" cy="298387"/>
          </a:xfrm>
        </p:grpSpPr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B414CAAA-7C36-442A-A721-123442A81E75}"/>
                </a:ext>
              </a:extLst>
            </p:cNvPr>
            <p:cNvCxnSpPr/>
            <p:nvPr/>
          </p:nvCxnSpPr>
          <p:spPr>
            <a:xfrm>
              <a:off x="602201" y="2387211"/>
              <a:ext cx="7227075" cy="0"/>
            </a:xfrm>
            <a:prstGeom prst="line">
              <a:avLst/>
            </a:prstGeom>
            <a:ln w="0">
              <a:solidFill>
                <a:schemeClr val="accent3">
                  <a:lumMod val="20000"/>
                  <a:lumOff val="8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EB71C03D-4E37-4C3F-902D-755B6CC2B0FE}"/>
                </a:ext>
              </a:extLst>
            </p:cNvPr>
            <p:cNvSpPr txBox="1"/>
            <p:nvPr/>
          </p:nvSpPr>
          <p:spPr>
            <a:xfrm>
              <a:off x="653097" y="2104727"/>
              <a:ext cx="77151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000" b="1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*</a:t>
              </a:r>
              <a:r>
                <a:rPr lang="en-US" altLang="ko-KR" sz="9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ko-KR" altLang="en-US" sz="9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비밀번호</a:t>
              </a:r>
            </a:p>
          </p:txBody>
        </p:sp>
        <p:sp>
          <p:nvSpPr>
            <p:cNvPr id="40" name="직사각형 39">
              <a:extLst>
                <a:ext uri="{FF2B5EF4-FFF2-40B4-BE49-F238E27FC236}">
                  <a16:creationId xmlns:a16="http://schemas.microsoft.com/office/drawing/2014/main" id="{905D478F-7903-48DB-8747-94E17545D252}"/>
                </a:ext>
              </a:extLst>
            </p:cNvPr>
            <p:cNvSpPr/>
            <p:nvPr/>
          </p:nvSpPr>
          <p:spPr>
            <a:xfrm>
              <a:off x="1924620" y="2088824"/>
              <a:ext cx="2181681" cy="234000"/>
            </a:xfrm>
            <a:prstGeom prst="rect">
              <a:avLst/>
            </a:prstGeom>
            <a:noFill/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25E06DCA-52F5-4ECF-B391-638207EFBAFD}"/>
                </a:ext>
              </a:extLst>
            </p:cNvPr>
            <p:cNvSpPr txBox="1"/>
            <p:nvPr/>
          </p:nvSpPr>
          <p:spPr>
            <a:xfrm>
              <a:off x="4407812" y="2104727"/>
              <a:ext cx="1037845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b="1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* </a:t>
              </a:r>
              <a:r>
                <a:rPr lang="ko-KR" altLang="en-US" sz="9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비밀번호 확인</a:t>
              </a:r>
            </a:p>
          </p:txBody>
        </p:sp>
        <p:sp>
          <p:nvSpPr>
            <p:cNvPr id="48" name="직사각형 47">
              <a:extLst>
                <a:ext uri="{FF2B5EF4-FFF2-40B4-BE49-F238E27FC236}">
                  <a16:creationId xmlns:a16="http://schemas.microsoft.com/office/drawing/2014/main" id="{7B81768F-7165-4EE3-9E31-294DDF33104B}"/>
                </a:ext>
              </a:extLst>
            </p:cNvPr>
            <p:cNvSpPr/>
            <p:nvPr/>
          </p:nvSpPr>
          <p:spPr>
            <a:xfrm>
              <a:off x="5682287" y="2099355"/>
              <a:ext cx="2002974" cy="234000"/>
            </a:xfrm>
            <a:prstGeom prst="rect">
              <a:avLst/>
            </a:prstGeom>
            <a:noFill/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49" name="그룹 48">
            <a:extLst>
              <a:ext uri="{FF2B5EF4-FFF2-40B4-BE49-F238E27FC236}">
                <a16:creationId xmlns:a16="http://schemas.microsoft.com/office/drawing/2014/main" id="{E9615558-0073-424B-9E95-1E9DB7A6A232}"/>
              </a:ext>
            </a:extLst>
          </p:cNvPr>
          <p:cNvGrpSpPr/>
          <p:nvPr/>
        </p:nvGrpSpPr>
        <p:grpSpPr>
          <a:xfrm>
            <a:off x="602201" y="2488018"/>
            <a:ext cx="7227075" cy="298387"/>
            <a:chOff x="602201" y="2088824"/>
            <a:chExt cx="7227075" cy="298387"/>
          </a:xfrm>
        </p:grpSpPr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883F1609-9902-4AA8-8F12-93F20D2CB44B}"/>
                </a:ext>
              </a:extLst>
            </p:cNvPr>
            <p:cNvCxnSpPr/>
            <p:nvPr/>
          </p:nvCxnSpPr>
          <p:spPr>
            <a:xfrm>
              <a:off x="602201" y="2387211"/>
              <a:ext cx="7227075" cy="0"/>
            </a:xfrm>
            <a:prstGeom prst="line">
              <a:avLst/>
            </a:prstGeom>
            <a:ln w="0">
              <a:solidFill>
                <a:schemeClr val="accent3">
                  <a:lumMod val="20000"/>
                  <a:lumOff val="8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391AAEF3-15ED-445E-A352-C485CB5B55B9}"/>
                </a:ext>
              </a:extLst>
            </p:cNvPr>
            <p:cNvSpPr txBox="1"/>
            <p:nvPr/>
          </p:nvSpPr>
          <p:spPr>
            <a:xfrm>
              <a:off x="653097" y="2104727"/>
              <a:ext cx="833748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000" b="1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*</a:t>
              </a:r>
              <a:r>
                <a:rPr lang="en-US" altLang="ko-KR" sz="9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ko-KR" altLang="en-US" sz="9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고객사 명</a:t>
              </a:r>
            </a:p>
          </p:txBody>
        </p:sp>
        <p:sp>
          <p:nvSpPr>
            <p:cNvPr id="55" name="직사각형 54">
              <a:extLst>
                <a:ext uri="{FF2B5EF4-FFF2-40B4-BE49-F238E27FC236}">
                  <a16:creationId xmlns:a16="http://schemas.microsoft.com/office/drawing/2014/main" id="{D41986B5-5C50-41E0-A41F-EA0663A6057C}"/>
                </a:ext>
              </a:extLst>
            </p:cNvPr>
            <p:cNvSpPr/>
            <p:nvPr/>
          </p:nvSpPr>
          <p:spPr>
            <a:xfrm>
              <a:off x="1924620" y="2088824"/>
              <a:ext cx="2181681" cy="234000"/>
            </a:xfrm>
            <a:prstGeom prst="rect">
              <a:avLst/>
            </a:prstGeom>
            <a:noFill/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2811DC65-1C4A-4DB3-BAE0-2490C25DAC01}"/>
                </a:ext>
              </a:extLst>
            </p:cNvPr>
            <p:cNvSpPr txBox="1"/>
            <p:nvPr/>
          </p:nvSpPr>
          <p:spPr>
            <a:xfrm>
              <a:off x="4407812" y="2104727"/>
              <a:ext cx="1037845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b="1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* </a:t>
              </a:r>
              <a:r>
                <a:rPr lang="ko-KR" altLang="en-US" sz="9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고객사 유형</a:t>
              </a:r>
            </a:p>
          </p:txBody>
        </p:sp>
        <p:sp>
          <p:nvSpPr>
            <p:cNvPr id="57" name="직사각형 56">
              <a:extLst>
                <a:ext uri="{FF2B5EF4-FFF2-40B4-BE49-F238E27FC236}">
                  <a16:creationId xmlns:a16="http://schemas.microsoft.com/office/drawing/2014/main" id="{7BA08D12-959B-45B9-A6D2-1CF894AF93B9}"/>
                </a:ext>
              </a:extLst>
            </p:cNvPr>
            <p:cNvSpPr/>
            <p:nvPr/>
          </p:nvSpPr>
          <p:spPr>
            <a:xfrm>
              <a:off x="5682287" y="2099355"/>
              <a:ext cx="1768974" cy="234000"/>
            </a:xfrm>
            <a:prstGeom prst="rect">
              <a:avLst/>
            </a:prstGeom>
            <a:noFill/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58" name="TextBox 57">
            <a:extLst>
              <a:ext uri="{FF2B5EF4-FFF2-40B4-BE49-F238E27FC236}">
                <a16:creationId xmlns:a16="http://schemas.microsoft.com/office/drawing/2014/main" id="{4A1CE5AE-C72C-4D4C-B2E1-F3532C01E258}"/>
              </a:ext>
            </a:extLst>
          </p:cNvPr>
          <p:cNvSpPr txBox="1"/>
          <p:nvPr/>
        </p:nvSpPr>
        <p:spPr>
          <a:xfrm>
            <a:off x="4172311" y="1691198"/>
            <a:ext cx="780690" cy="233255"/>
          </a:xfrm>
          <a:prstGeom prst="rect">
            <a:avLst/>
          </a:prstGeom>
          <a:solidFill>
            <a:srgbClr val="00B050"/>
          </a:solidFill>
          <a:ln w="6350">
            <a:solidFill>
              <a:schemeClr val="bg1">
                <a:lumMod val="65000"/>
              </a:schemeClr>
            </a:solidFill>
          </a:ln>
        </p:spPr>
        <p:txBody>
          <a:bodyPr wrap="square" lIns="0" tIns="0" rIns="0" bIns="0" rtlCol="0" anchor="ctr">
            <a:noAutofit/>
          </a:bodyPr>
          <a:lstStyle/>
          <a:p>
            <a:pPr algn="ctr"/>
            <a:r>
              <a:rPr lang="ko-KR" altLang="en-US" sz="1000" b="1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중복확인</a:t>
            </a:r>
            <a:endParaRPr lang="ko-KR" altLang="en-US" sz="10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59" name="그룹 58">
            <a:extLst>
              <a:ext uri="{FF2B5EF4-FFF2-40B4-BE49-F238E27FC236}">
                <a16:creationId xmlns:a16="http://schemas.microsoft.com/office/drawing/2014/main" id="{4B5F9886-B419-49CB-8B32-4DEB4284921A}"/>
              </a:ext>
            </a:extLst>
          </p:cNvPr>
          <p:cNvGrpSpPr/>
          <p:nvPr/>
        </p:nvGrpSpPr>
        <p:grpSpPr>
          <a:xfrm>
            <a:off x="7451261" y="2498549"/>
            <a:ext cx="234000" cy="234887"/>
            <a:chOff x="3872302" y="1689567"/>
            <a:chExt cx="234000" cy="234887"/>
          </a:xfrm>
        </p:grpSpPr>
        <p:sp>
          <p:nvSpPr>
            <p:cNvPr id="60" name="이등변 삼각형 59">
              <a:extLst>
                <a:ext uri="{FF2B5EF4-FFF2-40B4-BE49-F238E27FC236}">
                  <a16:creationId xmlns:a16="http://schemas.microsoft.com/office/drawing/2014/main" id="{57E3B70F-2659-4FF2-AD0F-1443D1BC433F}"/>
                </a:ext>
              </a:extLst>
            </p:cNvPr>
            <p:cNvSpPr/>
            <p:nvPr/>
          </p:nvSpPr>
          <p:spPr>
            <a:xfrm rot="10800000">
              <a:off x="3917302" y="1735454"/>
              <a:ext cx="144000" cy="144000"/>
            </a:xfrm>
            <a:prstGeom prst="triangl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1" name="직사각형 60">
              <a:extLst>
                <a:ext uri="{FF2B5EF4-FFF2-40B4-BE49-F238E27FC236}">
                  <a16:creationId xmlns:a16="http://schemas.microsoft.com/office/drawing/2014/main" id="{3AEE7EC0-9BC8-40A4-897A-833758A4E364}"/>
                </a:ext>
              </a:extLst>
            </p:cNvPr>
            <p:cNvSpPr/>
            <p:nvPr/>
          </p:nvSpPr>
          <p:spPr>
            <a:xfrm>
              <a:off x="3872302" y="1689567"/>
              <a:ext cx="234000" cy="234887"/>
            </a:xfrm>
            <a:prstGeom prst="rect">
              <a:avLst/>
            </a:prstGeom>
            <a:noFill/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62" name="그룹 61">
            <a:extLst>
              <a:ext uri="{FF2B5EF4-FFF2-40B4-BE49-F238E27FC236}">
                <a16:creationId xmlns:a16="http://schemas.microsoft.com/office/drawing/2014/main" id="{EC30BF17-BD90-43A0-BDA5-BBF7E41D8FCC}"/>
              </a:ext>
            </a:extLst>
          </p:cNvPr>
          <p:cNvGrpSpPr/>
          <p:nvPr/>
        </p:nvGrpSpPr>
        <p:grpSpPr>
          <a:xfrm>
            <a:off x="602201" y="2898363"/>
            <a:ext cx="7227075" cy="298387"/>
            <a:chOff x="602201" y="2088824"/>
            <a:chExt cx="7227075" cy="298387"/>
          </a:xfrm>
        </p:grpSpPr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C6E032BE-4188-4C0F-BC36-5F9CA36B62F1}"/>
                </a:ext>
              </a:extLst>
            </p:cNvPr>
            <p:cNvCxnSpPr/>
            <p:nvPr/>
          </p:nvCxnSpPr>
          <p:spPr>
            <a:xfrm>
              <a:off x="602201" y="2387211"/>
              <a:ext cx="7227075" cy="0"/>
            </a:xfrm>
            <a:prstGeom prst="line">
              <a:avLst/>
            </a:prstGeom>
            <a:ln w="0">
              <a:solidFill>
                <a:schemeClr val="accent3">
                  <a:lumMod val="20000"/>
                  <a:lumOff val="8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26E2C186-C49F-4934-9F66-92BCF6C0A748}"/>
                </a:ext>
              </a:extLst>
            </p:cNvPr>
            <p:cNvSpPr txBox="1"/>
            <p:nvPr/>
          </p:nvSpPr>
          <p:spPr>
            <a:xfrm>
              <a:off x="653097" y="2104727"/>
              <a:ext cx="77151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000" b="1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*</a:t>
              </a:r>
              <a:r>
                <a:rPr lang="en-US" altLang="ko-KR" sz="9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ko-KR" altLang="en-US" sz="9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지역</a:t>
              </a:r>
            </a:p>
          </p:txBody>
        </p:sp>
        <p:sp>
          <p:nvSpPr>
            <p:cNvPr id="66" name="직사각형 65">
              <a:extLst>
                <a:ext uri="{FF2B5EF4-FFF2-40B4-BE49-F238E27FC236}">
                  <a16:creationId xmlns:a16="http://schemas.microsoft.com/office/drawing/2014/main" id="{2FF78B2E-E34A-4848-A0BA-378462F9CBC6}"/>
                </a:ext>
              </a:extLst>
            </p:cNvPr>
            <p:cNvSpPr/>
            <p:nvPr/>
          </p:nvSpPr>
          <p:spPr>
            <a:xfrm>
              <a:off x="1924620" y="2088824"/>
              <a:ext cx="2181681" cy="234000"/>
            </a:xfrm>
            <a:prstGeom prst="rect">
              <a:avLst/>
            </a:prstGeom>
            <a:noFill/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F5646ECA-0B19-406C-9139-E076682891BC}"/>
                </a:ext>
              </a:extLst>
            </p:cNvPr>
            <p:cNvSpPr txBox="1"/>
            <p:nvPr/>
          </p:nvSpPr>
          <p:spPr>
            <a:xfrm>
              <a:off x="4407812" y="2104727"/>
              <a:ext cx="1037845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b="1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* </a:t>
              </a:r>
              <a:r>
                <a:rPr lang="ko-KR" altLang="en-US" sz="9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연락처</a:t>
              </a:r>
            </a:p>
          </p:txBody>
        </p:sp>
        <p:sp>
          <p:nvSpPr>
            <p:cNvPr id="68" name="직사각형 67">
              <a:extLst>
                <a:ext uri="{FF2B5EF4-FFF2-40B4-BE49-F238E27FC236}">
                  <a16:creationId xmlns:a16="http://schemas.microsoft.com/office/drawing/2014/main" id="{29B44DED-402B-48D5-A4A4-A9EE1DB2091B}"/>
                </a:ext>
              </a:extLst>
            </p:cNvPr>
            <p:cNvSpPr/>
            <p:nvPr/>
          </p:nvSpPr>
          <p:spPr>
            <a:xfrm>
              <a:off x="5682287" y="2099355"/>
              <a:ext cx="2002974" cy="234000"/>
            </a:xfrm>
            <a:prstGeom prst="rect">
              <a:avLst/>
            </a:prstGeom>
            <a:noFill/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69" name="그룹 68">
            <a:extLst>
              <a:ext uri="{FF2B5EF4-FFF2-40B4-BE49-F238E27FC236}">
                <a16:creationId xmlns:a16="http://schemas.microsoft.com/office/drawing/2014/main" id="{20E197F7-B0AC-4E18-9457-9425EFC3277C}"/>
              </a:ext>
            </a:extLst>
          </p:cNvPr>
          <p:cNvGrpSpPr/>
          <p:nvPr/>
        </p:nvGrpSpPr>
        <p:grpSpPr>
          <a:xfrm>
            <a:off x="3866302" y="2899148"/>
            <a:ext cx="234000" cy="234887"/>
            <a:chOff x="3872302" y="1689567"/>
            <a:chExt cx="234000" cy="234887"/>
          </a:xfrm>
        </p:grpSpPr>
        <p:sp>
          <p:nvSpPr>
            <p:cNvPr id="70" name="이등변 삼각형 69">
              <a:extLst>
                <a:ext uri="{FF2B5EF4-FFF2-40B4-BE49-F238E27FC236}">
                  <a16:creationId xmlns:a16="http://schemas.microsoft.com/office/drawing/2014/main" id="{53B9E62B-ED29-44F0-926D-440D3835F8DD}"/>
                </a:ext>
              </a:extLst>
            </p:cNvPr>
            <p:cNvSpPr/>
            <p:nvPr/>
          </p:nvSpPr>
          <p:spPr>
            <a:xfrm rot="10800000">
              <a:off x="3917302" y="1735454"/>
              <a:ext cx="144000" cy="144000"/>
            </a:xfrm>
            <a:prstGeom prst="triangl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1" name="직사각형 70">
              <a:extLst>
                <a:ext uri="{FF2B5EF4-FFF2-40B4-BE49-F238E27FC236}">
                  <a16:creationId xmlns:a16="http://schemas.microsoft.com/office/drawing/2014/main" id="{D8BE7629-8887-49DB-BCC3-F3AD40D57A34}"/>
                </a:ext>
              </a:extLst>
            </p:cNvPr>
            <p:cNvSpPr/>
            <p:nvPr/>
          </p:nvSpPr>
          <p:spPr>
            <a:xfrm>
              <a:off x="3872302" y="1689567"/>
              <a:ext cx="234000" cy="234887"/>
            </a:xfrm>
            <a:prstGeom prst="rect">
              <a:avLst/>
            </a:prstGeom>
            <a:noFill/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72" name="타원형 설명선 225">
            <a:extLst>
              <a:ext uri="{FF2B5EF4-FFF2-40B4-BE49-F238E27FC236}">
                <a16:creationId xmlns:a16="http://schemas.microsoft.com/office/drawing/2014/main" id="{F5809D1D-119D-4F9E-9402-7B512533BD53}"/>
              </a:ext>
            </a:extLst>
          </p:cNvPr>
          <p:cNvSpPr/>
          <p:nvPr/>
        </p:nvSpPr>
        <p:spPr>
          <a:xfrm>
            <a:off x="3884924" y="1518066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73" name="그룹 72">
            <a:extLst>
              <a:ext uri="{FF2B5EF4-FFF2-40B4-BE49-F238E27FC236}">
                <a16:creationId xmlns:a16="http://schemas.microsoft.com/office/drawing/2014/main" id="{BF4DA4E5-4F20-48C1-8F41-C9422C5E8A85}"/>
              </a:ext>
            </a:extLst>
          </p:cNvPr>
          <p:cNvGrpSpPr/>
          <p:nvPr/>
        </p:nvGrpSpPr>
        <p:grpSpPr>
          <a:xfrm>
            <a:off x="602201" y="3305509"/>
            <a:ext cx="7227075" cy="298387"/>
            <a:chOff x="602201" y="2088824"/>
            <a:chExt cx="7227075" cy="298387"/>
          </a:xfrm>
        </p:grpSpPr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96DA8E73-BD39-4EC1-BEC4-95D7FDEF32B8}"/>
                </a:ext>
              </a:extLst>
            </p:cNvPr>
            <p:cNvCxnSpPr/>
            <p:nvPr/>
          </p:nvCxnSpPr>
          <p:spPr>
            <a:xfrm>
              <a:off x="602201" y="2387211"/>
              <a:ext cx="7227075" cy="0"/>
            </a:xfrm>
            <a:prstGeom prst="line">
              <a:avLst/>
            </a:prstGeom>
            <a:ln w="0">
              <a:solidFill>
                <a:schemeClr val="accent3">
                  <a:lumMod val="20000"/>
                  <a:lumOff val="8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BD55F438-9AC9-49B3-B573-0348FFD4CFA5}"/>
                </a:ext>
              </a:extLst>
            </p:cNvPr>
            <p:cNvSpPr txBox="1"/>
            <p:nvPr/>
          </p:nvSpPr>
          <p:spPr>
            <a:xfrm>
              <a:off x="653097" y="2104727"/>
              <a:ext cx="77151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000" b="1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*</a:t>
              </a:r>
              <a:r>
                <a:rPr lang="en-US" altLang="ko-KR" sz="9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ko-KR" altLang="en-US" sz="9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연락처</a:t>
              </a:r>
            </a:p>
          </p:txBody>
        </p:sp>
        <p:sp>
          <p:nvSpPr>
            <p:cNvPr id="76" name="직사각형 75">
              <a:extLst>
                <a:ext uri="{FF2B5EF4-FFF2-40B4-BE49-F238E27FC236}">
                  <a16:creationId xmlns:a16="http://schemas.microsoft.com/office/drawing/2014/main" id="{C707D7CC-16AB-463B-AEB6-2354B09CE6EA}"/>
                </a:ext>
              </a:extLst>
            </p:cNvPr>
            <p:cNvSpPr/>
            <p:nvPr/>
          </p:nvSpPr>
          <p:spPr>
            <a:xfrm>
              <a:off x="1924620" y="2088824"/>
              <a:ext cx="2181681" cy="234000"/>
            </a:xfrm>
            <a:prstGeom prst="rect">
              <a:avLst/>
            </a:prstGeom>
            <a:noFill/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5862B799-324C-4A03-9DDB-D1F7354DE880}"/>
                </a:ext>
              </a:extLst>
            </p:cNvPr>
            <p:cNvSpPr txBox="1"/>
            <p:nvPr/>
          </p:nvSpPr>
          <p:spPr>
            <a:xfrm>
              <a:off x="4407812" y="2104727"/>
              <a:ext cx="1037845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b="1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* </a:t>
              </a:r>
              <a:r>
                <a:rPr lang="ko-KR" altLang="en-US" sz="9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이메일</a:t>
              </a:r>
            </a:p>
          </p:txBody>
        </p:sp>
        <p:sp>
          <p:nvSpPr>
            <p:cNvPr id="80" name="직사각형 79">
              <a:extLst>
                <a:ext uri="{FF2B5EF4-FFF2-40B4-BE49-F238E27FC236}">
                  <a16:creationId xmlns:a16="http://schemas.microsoft.com/office/drawing/2014/main" id="{C6E67651-72CF-4854-B5E8-5F308E5A112C}"/>
                </a:ext>
              </a:extLst>
            </p:cNvPr>
            <p:cNvSpPr/>
            <p:nvPr/>
          </p:nvSpPr>
          <p:spPr>
            <a:xfrm>
              <a:off x="5682287" y="2099355"/>
              <a:ext cx="2002974" cy="234000"/>
            </a:xfrm>
            <a:prstGeom prst="rect">
              <a:avLst/>
            </a:prstGeom>
            <a:noFill/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1293038281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9104309" y="6645875"/>
            <a:ext cx="140029" cy="138499"/>
          </a:xfrm>
        </p:spPr>
        <p:txBody>
          <a:bodyPr/>
          <a:lstStyle/>
          <a:p>
            <a:pPr>
              <a:defRPr/>
            </a:pPr>
            <a:fld id="{9E41B634-5682-4388-99E7-FE44DCFD254B}" type="slidenum">
              <a:rPr lang="ko-KR" altLang="en-US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>
                <a:defRPr/>
              </a:pPr>
              <a:t>7</a:t>
            </a:fld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텍스트 개체 틀 8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서비스 이용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&gt;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서비스 시작 페이지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&gt; FAQ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" name="텍스트 개체 틀 9"/>
          <p:cNvSpPr>
            <a:spLocks noGrp="1"/>
          </p:cNvSpPr>
          <p:nvPr>
            <p:ph type="body" sz="quarter" idx="10"/>
          </p:nvPr>
        </p:nvSpPr>
        <p:spPr>
          <a:xfrm>
            <a:off x="6023595" y="44624"/>
            <a:ext cx="1233661" cy="196974"/>
          </a:xfrm>
        </p:spPr>
        <p:txBody>
          <a:bodyPr/>
          <a:lstStyle/>
          <a:p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FAQ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02" name="Group 15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82075628"/>
              </p:ext>
            </p:extLst>
          </p:nvPr>
        </p:nvGraphicFramePr>
        <p:xfrm>
          <a:off x="8469313" y="276225"/>
          <a:ext cx="1404000" cy="3911808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3002"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Description</a:t>
                      </a: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FAQ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검색 입력 창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키워드로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FAQ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내용을 검색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2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질문 영역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FAQ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질문 표시 영역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3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답변 영역</a:t>
                      </a:r>
                      <a:endParaRPr lang="en-US" altLang="ko-KR" sz="800" b="1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1) FAQ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답변 표시 영역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2)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질문 영역을 클릭하면 하단에 답변 영역이 확장되어 확인이 가능하도록 구성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4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이전화면으로 이동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클릭하면 서비스 시작 페이지로 이동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5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게시판 편집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1)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일반 사용자에게는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FAQ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게시판 처럼 보이나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super admin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으로 로그인 시에는 편집이 가능한 일반 게시판으로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2)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편집 버튼을 클릭하면 화면 내에 추가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/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수정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/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삭제 등의 편집 기능 활성화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8304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* FAQ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내용 확정 후에 업데이트 예정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78" name="TextBox 77"/>
          <p:cNvSpPr txBox="1"/>
          <p:nvPr/>
        </p:nvSpPr>
        <p:spPr>
          <a:xfrm>
            <a:off x="7121707" y="21349"/>
            <a:ext cx="567597" cy="2308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화면</a:t>
            </a:r>
            <a:r>
              <a:rPr lang="en-US" altLang="ko-KR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ID</a:t>
            </a:r>
            <a:endParaRPr lang="ko-KR" altLang="en-US" sz="9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7689304" y="43659"/>
            <a:ext cx="792088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itchFamily="50" charset="-127"/>
                <a:ea typeface="맑은 고딕" pitchFamily="50" charset="-127"/>
              </a:rPr>
              <a:t>ewpsp_scr_005</a:t>
            </a:r>
            <a:endParaRPr lang="ko-KR" altLang="en-US" sz="700" dirty="0"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3" name="직선 연결선 2">
            <a:extLst>
              <a:ext uri="{FF2B5EF4-FFF2-40B4-BE49-F238E27FC236}">
                <a16:creationId xmlns:a16="http://schemas.microsoft.com/office/drawing/2014/main" id="{199166D1-9A1B-4AB1-92D1-E1A827A965D2}"/>
              </a:ext>
            </a:extLst>
          </p:cNvPr>
          <p:cNvCxnSpPr/>
          <p:nvPr/>
        </p:nvCxnSpPr>
        <p:spPr>
          <a:xfrm>
            <a:off x="606245" y="980728"/>
            <a:ext cx="7227075" cy="0"/>
          </a:xfrm>
          <a:prstGeom prst="line">
            <a:avLst/>
          </a:prstGeom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D41319DB-F596-4B53-B2D4-630ECFE1571C}"/>
              </a:ext>
            </a:extLst>
          </p:cNvPr>
          <p:cNvCxnSpPr/>
          <p:nvPr/>
        </p:nvCxnSpPr>
        <p:spPr>
          <a:xfrm>
            <a:off x="606244" y="948924"/>
            <a:ext cx="2880000" cy="0"/>
          </a:xfrm>
          <a:prstGeom prst="line">
            <a:avLst/>
          </a:prstGeom>
          <a:ln w="63500">
            <a:solidFill>
              <a:srgbClr val="00B05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TextBox 6">
            <a:extLst>
              <a:ext uri="{FF2B5EF4-FFF2-40B4-BE49-F238E27FC236}">
                <a16:creationId xmlns:a16="http://schemas.microsoft.com/office/drawing/2014/main" id="{5BB058A8-3775-45DA-A9F4-37F4CB6D6AC8}"/>
              </a:ext>
            </a:extLst>
          </p:cNvPr>
          <p:cNvSpPr txBox="1"/>
          <p:nvPr/>
        </p:nvSpPr>
        <p:spPr>
          <a:xfrm>
            <a:off x="550587" y="620688"/>
            <a:ext cx="297860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14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자주하는 질문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5BB4D861-9803-41FA-88A5-A86F56B7F9AF}"/>
              </a:ext>
            </a:extLst>
          </p:cNvPr>
          <p:cNvSpPr txBox="1"/>
          <p:nvPr/>
        </p:nvSpPr>
        <p:spPr>
          <a:xfrm>
            <a:off x="3738950" y="6424561"/>
            <a:ext cx="963897" cy="316807"/>
          </a:xfrm>
          <a:prstGeom prst="rect">
            <a:avLst/>
          </a:prstGeom>
          <a:solidFill>
            <a:schemeClr val="accent3">
              <a:lumMod val="75000"/>
            </a:schemeClr>
          </a:solidFill>
          <a:ln w="6350">
            <a:solidFill>
              <a:schemeClr val="bg1">
                <a:lumMod val="65000"/>
              </a:schemeClr>
            </a:solidFill>
          </a:ln>
        </p:spPr>
        <p:txBody>
          <a:bodyPr wrap="square" lIns="0" tIns="0" rIns="0" bIns="0" rtlCol="0" anchor="ctr">
            <a:noAutofit/>
          </a:bodyPr>
          <a:lstStyle/>
          <a:p>
            <a:pPr algn="ctr"/>
            <a:r>
              <a:rPr lang="ko-KR" altLang="en-US" sz="11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이전화면</a:t>
            </a:r>
          </a:p>
        </p:txBody>
      </p:sp>
      <p:pic>
        <p:nvPicPr>
          <p:cNvPr id="12" name="그림 11">
            <a:extLst>
              <a:ext uri="{FF2B5EF4-FFF2-40B4-BE49-F238E27FC236}">
                <a16:creationId xmlns:a16="http://schemas.microsoft.com/office/drawing/2014/main" id="{69D891C3-FF7D-4DBA-A719-162EC8701243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259278" y="1142140"/>
            <a:ext cx="2574042" cy="376689"/>
          </a:xfrm>
          <a:prstGeom prst="rect">
            <a:avLst/>
          </a:prstGeom>
        </p:spPr>
      </p:pic>
      <p:sp>
        <p:nvSpPr>
          <p:cNvPr id="34" name="타원형 설명선 225">
            <a:extLst>
              <a:ext uri="{FF2B5EF4-FFF2-40B4-BE49-F238E27FC236}">
                <a16:creationId xmlns:a16="http://schemas.microsoft.com/office/drawing/2014/main" id="{7E378D81-2F87-43D9-A488-5B5839C4F91C}"/>
              </a:ext>
            </a:extLst>
          </p:cNvPr>
          <p:cNvSpPr/>
          <p:nvPr/>
        </p:nvSpPr>
        <p:spPr>
          <a:xfrm>
            <a:off x="5043278" y="1078493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C4552E50-8556-4B84-80E9-2D9CF0F5AF10}"/>
              </a:ext>
            </a:extLst>
          </p:cNvPr>
          <p:cNvCxnSpPr/>
          <p:nvPr/>
        </p:nvCxnSpPr>
        <p:spPr>
          <a:xfrm>
            <a:off x="606244" y="1988840"/>
            <a:ext cx="7227075" cy="0"/>
          </a:xfrm>
          <a:prstGeom prst="line">
            <a:avLst/>
          </a:prstGeom>
          <a:ln w="0">
            <a:solidFill>
              <a:schemeClr val="accent3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extBox 1">
            <a:extLst>
              <a:ext uri="{FF2B5EF4-FFF2-40B4-BE49-F238E27FC236}">
                <a16:creationId xmlns:a16="http://schemas.microsoft.com/office/drawing/2014/main" id="{D2031A9B-29A9-47A4-B080-A024A50C2167}"/>
              </a:ext>
            </a:extLst>
          </p:cNvPr>
          <p:cNvSpPr txBox="1"/>
          <p:nvPr/>
        </p:nvSpPr>
        <p:spPr>
          <a:xfrm>
            <a:off x="920552" y="1628800"/>
            <a:ext cx="6624736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첫번째 질문입니다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?</a:t>
            </a:r>
            <a:endParaRPr lang="ko-KR" altLang="en-US" sz="10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026" name="Picture 2" descr="qì ëí ì´ë¯¸ì§ ê²ìê²°ê³¼">
            <a:extLst>
              <a:ext uri="{FF2B5EF4-FFF2-40B4-BE49-F238E27FC236}">
                <a16:creationId xmlns:a16="http://schemas.microsoft.com/office/drawing/2014/main" id="{E66FC904-CBA7-4524-A97D-95091360D5A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4435" y="1601234"/>
            <a:ext cx="283096" cy="28309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28" name="Picture 4" descr="aì ëí ì´ë¯¸ì§ ê²ìê²°ê³¼">
            <a:extLst>
              <a:ext uri="{FF2B5EF4-FFF2-40B4-BE49-F238E27FC236}">
                <a16:creationId xmlns:a16="http://schemas.microsoft.com/office/drawing/2014/main" id="{8D3B7B82-DF3D-4F6E-8EE6-EC601FFF42B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81454" y="2097687"/>
            <a:ext cx="283096" cy="28309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30" name="Picture 6" descr="aì ëí ì´ë¯¸ì§ ê²ìê²°ê³¼">
            <a:extLst>
              <a:ext uri="{FF2B5EF4-FFF2-40B4-BE49-F238E27FC236}">
                <a16:creationId xmlns:a16="http://schemas.microsoft.com/office/drawing/2014/main" id="{31B817CA-57CC-41DC-ADF3-A06956B2A28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57531" y="351567"/>
            <a:ext cx="608855" cy="60885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03CE03B6-1E16-4007-84C0-A30727BBE6CF}"/>
              </a:ext>
            </a:extLst>
          </p:cNvPr>
          <p:cNvCxnSpPr/>
          <p:nvPr/>
        </p:nvCxnSpPr>
        <p:spPr>
          <a:xfrm>
            <a:off x="606244" y="5345650"/>
            <a:ext cx="7227075" cy="0"/>
          </a:xfrm>
          <a:prstGeom prst="line">
            <a:avLst/>
          </a:prstGeom>
          <a:ln w="0">
            <a:solidFill>
              <a:schemeClr val="accent3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5" name="그룹 14">
            <a:extLst>
              <a:ext uri="{FF2B5EF4-FFF2-40B4-BE49-F238E27FC236}">
                <a16:creationId xmlns:a16="http://schemas.microsoft.com/office/drawing/2014/main" id="{47BEDB6B-6CD4-48A2-AFF2-76089D098702}"/>
              </a:ext>
            </a:extLst>
          </p:cNvPr>
          <p:cNvGrpSpPr/>
          <p:nvPr/>
        </p:nvGrpSpPr>
        <p:grpSpPr>
          <a:xfrm>
            <a:off x="704528" y="2062584"/>
            <a:ext cx="180000" cy="180000"/>
            <a:chOff x="-447600" y="1988840"/>
            <a:chExt cx="360040" cy="360040"/>
          </a:xfrm>
        </p:grpSpPr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A3ACFB8D-C771-4FFA-95B0-0856B49C0E98}"/>
                </a:ext>
              </a:extLst>
            </p:cNvPr>
            <p:cNvCxnSpPr>
              <a:cxnSpLocks/>
            </p:cNvCxnSpPr>
            <p:nvPr/>
          </p:nvCxnSpPr>
          <p:spPr>
            <a:xfrm>
              <a:off x="-447600" y="1988840"/>
              <a:ext cx="0" cy="3600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CD0F166B-6444-411B-A8C7-83523397659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-447600" y="2348880"/>
              <a:ext cx="36004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8" name="TextBox 27">
            <a:extLst>
              <a:ext uri="{FF2B5EF4-FFF2-40B4-BE49-F238E27FC236}">
                <a16:creationId xmlns:a16="http://schemas.microsoft.com/office/drawing/2014/main" id="{D2E4D258-1DD4-4B6B-96AE-72F50DA623C9}"/>
              </a:ext>
            </a:extLst>
          </p:cNvPr>
          <p:cNvSpPr txBox="1"/>
          <p:nvPr/>
        </p:nvSpPr>
        <p:spPr>
          <a:xfrm>
            <a:off x="1280592" y="2116814"/>
            <a:ext cx="6264696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답변입니다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.</a:t>
            </a:r>
            <a:endParaRPr lang="ko-KR" altLang="en-US" sz="10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01A94CC9-1AE1-4570-AE87-AB97D1E435D4}"/>
              </a:ext>
            </a:extLst>
          </p:cNvPr>
          <p:cNvSpPr/>
          <p:nvPr/>
        </p:nvSpPr>
        <p:spPr>
          <a:xfrm>
            <a:off x="1352600" y="2420888"/>
            <a:ext cx="6192688" cy="1245110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30765B70-490F-40EB-B260-09921C8B349C}"/>
              </a:ext>
            </a:extLst>
          </p:cNvPr>
          <p:cNvSpPr txBox="1"/>
          <p:nvPr/>
        </p:nvSpPr>
        <p:spPr>
          <a:xfrm>
            <a:off x="3316435" y="2904943"/>
            <a:ext cx="1800200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12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답변 이미지</a:t>
            </a:r>
          </a:p>
        </p:txBody>
      </p:sp>
      <p:cxnSp>
        <p:nvCxnSpPr>
          <p:cNvPr id="33" name="직선 연결선 32">
            <a:extLst>
              <a:ext uri="{FF2B5EF4-FFF2-40B4-BE49-F238E27FC236}">
                <a16:creationId xmlns:a16="http://schemas.microsoft.com/office/drawing/2014/main" id="{7759F362-AEF4-4679-91D9-FFCB2A041B57}"/>
              </a:ext>
            </a:extLst>
          </p:cNvPr>
          <p:cNvCxnSpPr/>
          <p:nvPr/>
        </p:nvCxnSpPr>
        <p:spPr>
          <a:xfrm>
            <a:off x="606244" y="5822228"/>
            <a:ext cx="7227075" cy="0"/>
          </a:xfrm>
          <a:prstGeom prst="line">
            <a:avLst/>
          </a:prstGeom>
          <a:ln w="0">
            <a:solidFill>
              <a:schemeClr val="accent3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TextBox 34">
            <a:extLst>
              <a:ext uri="{FF2B5EF4-FFF2-40B4-BE49-F238E27FC236}">
                <a16:creationId xmlns:a16="http://schemas.microsoft.com/office/drawing/2014/main" id="{947E38EF-8542-4CD2-BBC6-97D685CB9F0B}"/>
              </a:ext>
            </a:extLst>
          </p:cNvPr>
          <p:cNvSpPr txBox="1"/>
          <p:nvPr/>
        </p:nvSpPr>
        <p:spPr>
          <a:xfrm>
            <a:off x="920552" y="5462188"/>
            <a:ext cx="6624736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두번째 질문입니다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?</a:t>
            </a:r>
            <a:endParaRPr lang="ko-KR" altLang="en-US" sz="10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36" name="Picture 2" descr="qì ëí ì´ë¯¸ì§ ê²ìê²°ê³¼">
            <a:extLst>
              <a:ext uri="{FF2B5EF4-FFF2-40B4-BE49-F238E27FC236}">
                <a16:creationId xmlns:a16="http://schemas.microsoft.com/office/drawing/2014/main" id="{F3FC7EA6-246B-4241-9568-F399B9519BC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4435" y="5434622"/>
            <a:ext cx="283096" cy="28309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cxnSp>
        <p:nvCxnSpPr>
          <p:cNvPr id="37" name="직선 연결선 36">
            <a:extLst>
              <a:ext uri="{FF2B5EF4-FFF2-40B4-BE49-F238E27FC236}">
                <a16:creationId xmlns:a16="http://schemas.microsoft.com/office/drawing/2014/main" id="{86AD9BE8-502E-4AEC-909D-884F41F50E81}"/>
              </a:ext>
            </a:extLst>
          </p:cNvPr>
          <p:cNvCxnSpPr/>
          <p:nvPr/>
        </p:nvCxnSpPr>
        <p:spPr>
          <a:xfrm>
            <a:off x="606244" y="6308127"/>
            <a:ext cx="7227075" cy="0"/>
          </a:xfrm>
          <a:prstGeom prst="line">
            <a:avLst/>
          </a:prstGeom>
          <a:ln w="0">
            <a:solidFill>
              <a:schemeClr val="accent3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" name="TextBox 37">
            <a:extLst>
              <a:ext uri="{FF2B5EF4-FFF2-40B4-BE49-F238E27FC236}">
                <a16:creationId xmlns:a16="http://schemas.microsoft.com/office/drawing/2014/main" id="{D454FA01-6469-4B77-B603-A483C412F6C1}"/>
              </a:ext>
            </a:extLst>
          </p:cNvPr>
          <p:cNvSpPr txBox="1"/>
          <p:nvPr/>
        </p:nvSpPr>
        <p:spPr>
          <a:xfrm>
            <a:off x="920552" y="5949280"/>
            <a:ext cx="6624736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세번째 질문입니다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?</a:t>
            </a:r>
            <a:endParaRPr lang="ko-KR" altLang="en-US" sz="10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39" name="Picture 2" descr="qì ëí ì´ë¯¸ì§ ê²ìê²°ê³¼">
            <a:extLst>
              <a:ext uri="{FF2B5EF4-FFF2-40B4-BE49-F238E27FC236}">
                <a16:creationId xmlns:a16="http://schemas.microsoft.com/office/drawing/2014/main" id="{11C9229B-ACB4-44EA-A7F9-C523CF33909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4435" y="5921714"/>
            <a:ext cx="283096" cy="28309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0" name="TextBox 39">
            <a:extLst>
              <a:ext uri="{FF2B5EF4-FFF2-40B4-BE49-F238E27FC236}">
                <a16:creationId xmlns:a16="http://schemas.microsoft.com/office/drawing/2014/main" id="{0E722AF0-824D-4FCE-93B1-B74FBB43C48F}"/>
              </a:ext>
            </a:extLst>
          </p:cNvPr>
          <p:cNvSpPr txBox="1"/>
          <p:nvPr/>
        </p:nvSpPr>
        <p:spPr>
          <a:xfrm>
            <a:off x="1280592" y="3691100"/>
            <a:ext cx="6264696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추가 답변 내용</a:t>
            </a: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7EAD1B79-5EF1-4540-B98B-7A2F01205586}"/>
              </a:ext>
            </a:extLst>
          </p:cNvPr>
          <p:cNvSpPr/>
          <p:nvPr/>
        </p:nvSpPr>
        <p:spPr>
          <a:xfrm>
            <a:off x="1352600" y="3995174"/>
            <a:ext cx="6192688" cy="1245110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41684279-0554-4437-A2D8-9C3EA969DDDE}"/>
              </a:ext>
            </a:extLst>
          </p:cNvPr>
          <p:cNvSpPr txBox="1"/>
          <p:nvPr/>
        </p:nvSpPr>
        <p:spPr>
          <a:xfrm>
            <a:off x="3332820" y="4376607"/>
            <a:ext cx="1800200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12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추가 이미지</a:t>
            </a:r>
          </a:p>
        </p:txBody>
      </p:sp>
      <p:sp>
        <p:nvSpPr>
          <p:cNvPr id="43" name="타원형 설명선 225">
            <a:extLst>
              <a:ext uri="{FF2B5EF4-FFF2-40B4-BE49-F238E27FC236}">
                <a16:creationId xmlns:a16="http://schemas.microsoft.com/office/drawing/2014/main" id="{48814C85-BFF5-4365-8321-4A4F960DE8E9}"/>
              </a:ext>
            </a:extLst>
          </p:cNvPr>
          <p:cNvSpPr/>
          <p:nvPr/>
        </p:nvSpPr>
        <p:spPr>
          <a:xfrm>
            <a:off x="278555" y="1598842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4" name="타원형 설명선 225">
            <a:extLst>
              <a:ext uri="{FF2B5EF4-FFF2-40B4-BE49-F238E27FC236}">
                <a16:creationId xmlns:a16="http://schemas.microsoft.com/office/drawing/2014/main" id="{E9405DD0-A84F-4268-A04D-E58FBAC5340F}"/>
              </a:ext>
            </a:extLst>
          </p:cNvPr>
          <p:cNvSpPr/>
          <p:nvPr/>
        </p:nvSpPr>
        <p:spPr>
          <a:xfrm>
            <a:off x="806526" y="1918155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5" name="타원형 설명선 225">
            <a:extLst>
              <a:ext uri="{FF2B5EF4-FFF2-40B4-BE49-F238E27FC236}">
                <a16:creationId xmlns:a16="http://schemas.microsoft.com/office/drawing/2014/main" id="{D698B553-85DD-4F48-89EA-9EF0C8111950}"/>
              </a:ext>
            </a:extLst>
          </p:cNvPr>
          <p:cNvSpPr/>
          <p:nvPr/>
        </p:nvSpPr>
        <p:spPr>
          <a:xfrm>
            <a:off x="3421191" y="6308127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032" name="Picture 8" descr="editì ëí ì´ë¯¸ì§ ê²ìê²°ê³¼">
            <a:extLst>
              <a:ext uri="{FF2B5EF4-FFF2-40B4-BE49-F238E27FC236}">
                <a16:creationId xmlns:a16="http://schemas.microsoft.com/office/drawing/2014/main" id="{B8DB78C8-803F-463A-ABE3-28553C52573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414270" y="6338456"/>
            <a:ext cx="406526" cy="40652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6" name="타원형 설명선 225">
            <a:extLst>
              <a:ext uri="{FF2B5EF4-FFF2-40B4-BE49-F238E27FC236}">
                <a16:creationId xmlns:a16="http://schemas.microsoft.com/office/drawing/2014/main" id="{9FE2BE0B-6668-46F8-8267-3862F38F6D2B}"/>
              </a:ext>
            </a:extLst>
          </p:cNvPr>
          <p:cNvSpPr/>
          <p:nvPr/>
        </p:nvSpPr>
        <p:spPr>
          <a:xfrm>
            <a:off x="7113264" y="6243656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779599345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9104309" y="6645875"/>
            <a:ext cx="140029" cy="138499"/>
          </a:xfrm>
        </p:spPr>
        <p:txBody>
          <a:bodyPr/>
          <a:lstStyle/>
          <a:p>
            <a:pPr>
              <a:defRPr/>
            </a:pPr>
            <a:fld id="{9E41B634-5682-4388-99E7-FE44DCFD254B}" type="slidenum">
              <a:rPr lang="ko-KR" altLang="en-US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>
                <a:defRPr/>
              </a:pPr>
              <a:t>8</a:t>
            </a:fld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텍스트 개체 틀 8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서비스 이용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&gt;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서비스 시작 페이지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&gt;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아이디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/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비밀번호 찾기</a:t>
            </a:r>
          </a:p>
        </p:txBody>
      </p:sp>
      <p:sp>
        <p:nvSpPr>
          <p:cNvPr id="10" name="텍스트 개체 틀 9"/>
          <p:cNvSpPr>
            <a:spLocks noGrp="1"/>
          </p:cNvSpPr>
          <p:nvPr>
            <p:ph type="body" sz="quarter" idx="10"/>
          </p:nvPr>
        </p:nvSpPr>
        <p:spPr>
          <a:xfrm>
            <a:off x="6023595" y="44624"/>
            <a:ext cx="1233661" cy="196974"/>
          </a:xfrm>
        </p:spPr>
        <p:txBody>
          <a:bodyPr/>
          <a:lstStyle/>
          <a:p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아이디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/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비밀번호 찾기</a:t>
            </a:r>
          </a:p>
        </p:txBody>
      </p:sp>
      <p:graphicFrame>
        <p:nvGraphicFramePr>
          <p:cNvPr id="102" name="Group 15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17136722"/>
              </p:ext>
            </p:extLst>
          </p:nvPr>
        </p:nvGraphicFramePr>
        <p:xfrm>
          <a:off x="8469313" y="276225"/>
          <a:ext cx="1404000" cy="2257344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3002"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Description</a:t>
                      </a: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2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3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4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5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6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474281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7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6245427"/>
                  </a:ext>
                </a:extLst>
              </a:tr>
              <a:tr h="38304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*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아이디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/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비밀번호 찾기 정책 확정 후 업데이트 예정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예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전화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이메일 인증 등을 사용할지의 여부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78" name="TextBox 77"/>
          <p:cNvSpPr txBox="1"/>
          <p:nvPr/>
        </p:nvSpPr>
        <p:spPr>
          <a:xfrm>
            <a:off x="7121707" y="21349"/>
            <a:ext cx="567597" cy="2308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화면</a:t>
            </a:r>
            <a:r>
              <a:rPr lang="en-US" altLang="ko-KR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ID</a:t>
            </a:r>
            <a:endParaRPr lang="ko-KR" altLang="en-US" sz="9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7689304" y="43659"/>
            <a:ext cx="792088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itchFamily="50" charset="-127"/>
                <a:ea typeface="맑은 고딕" pitchFamily="50" charset="-127"/>
              </a:rPr>
              <a:t>ewpsp_scr_006</a:t>
            </a:r>
            <a:endParaRPr lang="ko-KR" altLang="en-US" sz="700" dirty="0"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3" name="직선 연결선 2">
            <a:extLst>
              <a:ext uri="{FF2B5EF4-FFF2-40B4-BE49-F238E27FC236}">
                <a16:creationId xmlns:a16="http://schemas.microsoft.com/office/drawing/2014/main" id="{199166D1-9A1B-4AB1-92D1-E1A827A965D2}"/>
              </a:ext>
            </a:extLst>
          </p:cNvPr>
          <p:cNvCxnSpPr/>
          <p:nvPr/>
        </p:nvCxnSpPr>
        <p:spPr>
          <a:xfrm>
            <a:off x="606245" y="980728"/>
            <a:ext cx="7227075" cy="0"/>
          </a:xfrm>
          <a:prstGeom prst="line">
            <a:avLst/>
          </a:prstGeom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D41319DB-F596-4B53-B2D4-630ECFE1571C}"/>
              </a:ext>
            </a:extLst>
          </p:cNvPr>
          <p:cNvCxnSpPr/>
          <p:nvPr/>
        </p:nvCxnSpPr>
        <p:spPr>
          <a:xfrm>
            <a:off x="606244" y="948924"/>
            <a:ext cx="2880000" cy="0"/>
          </a:xfrm>
          <a:prstGeom prst="line">
            <a:avLst/>
          </a:prstGeom>
          <a:ln w="63500">
            <a:solidFill>
              <a:srgbClr val="00B05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TextBox 6">
            <a:extLst>
              <a:ext uri="{FF2B5EF4-FFF2-40B4-BE49-F238E27FC236}">
                <a16:creationId xmlns:a16="http://schemas.microsoft.com/office/drawing/2014/main" id="{5BB058A8-3775-45DA-A9F4-37F4CB6D6AC8}"/>
              </a:ext>
            </a:extLst>
          </p:cNvPr>
          <p:cNvSpPr txBox="1"/>
          <p:nvPr/>
        </p:nvSpPr>
        <p:spPr>
          <a:xfrm>
            <a:off x="550587" y="620688"/>
            <a:ext cx="297860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14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아이디</a:t>
            </a:r>
            <a:r>
              <a:rPr lang="en-US" altLang="ko-KR" sz="14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/</a:t>
            </a:r>
            <a:r>
              <a:rPr lang="ko-KR" altLang="en-US" sz="14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비밀번호 찾기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5BB4D861-9803-41FA-88A5-A86F56B7F9AF}"/>
              </a:ext>
            </a:extLst>
          </p:cNvPr>
          <p:cNvSpPr txBox="1"/>
          <p:nvPr/>
        </p:nvSpPr>
        <p:spPr>
          <a:xfrm>
            <a:off x="3738950" y="4907116"/>
            <a:ext cx="963897" cy="316807"/>
          </a:xfrm>
          <a:prstGeom prst="rect">
            <a:avLst/>
          </a:prstGeom>
          <a:solidFill>
            <a:schemeClr val="accent3">
              <a:lumMod val="75000"/>
            </a:schemeClr>
          </a:solidFill>
          <a:ln w="6350">
            <a:solidFill>
              <a:schemeClr val="bg1">
                <a:lumMod val="65000"/>
              </a:schemeClr>
            </a:solidFill>
          </a:ln>
        </p:spPr>
        <p:txBody>
          <a:bodyPr wrap="square" lIns="0" tIns="0" rIns="0" bIns="0" rtlCol="0" anchor="ctr">
            <a:noAutofit/>
          </a:bodyPr>
          <a:lstStyle/>
          <a:p>
            <a:pPr algn="ctr"/>
            <a:r>
              <a:rPr lang="ko-KR" altLang="en-US" sz="11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이전화면</a:t>
            </a:r>
          </a:p>
        </p:txBody>
      </p:sp>
      <p:pic>
        <p:nvPicPr>
          <p:cNvPr id="8" name="그림 7">
            <a:extLst>
              <a:ext uri="{FF2B5EF4-FFF2-40B4-BE49-F238E27FC236}">
                <a16:creationId xmlns:a16="http://schemas.microsoft.com/office/drawing/2014/main" id="{180051B1-9A7E-4AD5-A056-2B7CA8CEEB2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39838" y="1346980"/>
            <a:ext cx="7193482" cy="193438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29811018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9104309" y="6645875"/>
            <a:ext cx="140029" cy="138499"/>
          </a:xfrm>
        </p:spPr>
        <p:txBody>
          <a:bodyPr/>
          <a:lstStyle/>
          <a:p>
            <a:pPr>
              <a:defRPr/>
            </a:pPr>
            <a:fld id="{9E41B634-5682-4388-99E7-FE44DCFD254B}" type="slidenum">
              <a:rPr lang="ko-KR" altLang="en-US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>
                <a:defRPr/>
              </a:pPr>
              <a:t>9</a:t>
            </a:fld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텍스트 개체 틀 8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 (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대시보드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" name="텍스트 개체 틀 9"/>
          <p:cNvSpPr>
            <a:spLocks noGrp="1"/>
          </p:cNvSpPr>
          <p:nvPr>
            <p:ph type="body" sz="quarter" idx="10"/>
          </p:nvPr>
        </p:nvSpPr>
        <p:spPr>
          <a:xfrm>
            <a:off x="6023595" y="44624"/>
            <a:ext cx="1233661" cy="196974"/>
          </a:xfrm>
        </p:spPr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02" name="Group 15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74054571"/>
              </p:ext>
            </p:extLst>
          </p:nvPr>
        </p:nvGraphicFramePr>
        <p:xfrm>
          <a:off x="8469313" y="276225"/>
          <a:ext cx="1404000" cy="5500416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3002"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Description</a:t>
                      </a: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시간표시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1)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현재시간 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2)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데이터 기준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(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갱신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시간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 *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갱신 시간 협의 필요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2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사이트 검색 창</a:t>
                      </a:r>
                      <a:endParaRPr lang="en-US" altLang="ko-KR" sz="800" b="1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현재 권한에 따라 접근 가능한 사이트들로 범위 제한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3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설정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설정 페이지로 이동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4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로그인 사용자 표시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5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로그아웃 처리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8917808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6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전국지도 표시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1)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지정된 시간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(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현재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5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초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)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마다 지정된 지역 순서대로 활성화 변경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2)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지역 선택할 경우 해당 지역 활성화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3</a:t>
                      </a:r>
                      <a:r>
                        <a:rPr kumimoji="1" lang="en-US" altLang="ko-KR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) </a:t>
                      </a: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지도 內 지역을 더블클릭 하면 해당 지역 지도로 변경 </a:t>
                      </a:r>
                      <a:r>
                        <a:rPr kumimoji="1" lang="en-US" altLang="ko-KR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(</a:t>
                      </a: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다음 페이지 참고</a:t>
                      </a:r>
                      <a:r>
                        <a:rPr kumimoji="1" lang="en-US" altLang="ko-KR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)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98771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7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지역 정보 표시</a:t>
                      </a:r>
                      <a:endParaRPr kumimoji="1" lang="en-US" altLang="ko-KR" sz="8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1) </a:t>
                      </a: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전국지도에서 활성화 되는 지역의 기본 정보를 표시</a:t>
                      </a:r>
                      <a:endParaRPr kumimoji="1" lang="en-US" altLang="ko-KR" sz="8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 - </a:t>
                      </a: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기존 </a:t>
                      </a:r>
                      <a:r>
                        <a:rPr kumimoji="1" lang="ko-KR" altLang="en-US" sz="8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툴팁</a:t>
                      </a: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대체</a:t>
                      </a:r>
                      <a:endParaRPr kumimoji="1" lang="en-US" altLang="ko-KR" sz="8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 - </a:t>
                      </a:r>
                      <a:r>
                        <a:rPr kumimoji="1" lang="ko-KR" altLang="en-US" sz="8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지역명</a:t>
                      </a:r>
                      <a:r>
                        <a:rPr kumimoji="1" lang="en-US" altLang="ko-KR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알람정보</a:t>
                      </a:r>
                      <a:r>
                        <a:rPr kumimoji="1" lang="en-US" altLang="ko-KR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(</a:t>
                      </a: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비상</a:t>
                      </a:r>
                      <a:r>
                        <a:rPr kumimoji="1" lang="en-US" altLang="ko-KR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주의</a:t>
                      </a:r>
                      <a:r>
                        <a:rPr kumimoji="1" lang="en-US" altLang="ko-KR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), </a:t>
                      </a: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사용량</a:t>
                      </a:r>
                      <a:r>
                        <a:rPr kumimoji="1" lang="en-US" altLang="ko-KR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충</a:t>
                      </a:r>
                      <a:r>
                        <a:rPr kumimoji="1" lang="en-US" altLang="ko-KR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/</a:t>
                      </a:r>
                      <a:r>
                        <a:rPr kumimoji="1" lang="ko-KR" altLang="en-US" sz="8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방전량</a:t>
                      </a:r>
                      <a:endParaRPr kumimoji="1" lang="en-US" altLang="ko-KR" sz="8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2) </a:t>
                      </a: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전국지도에서 활성화 지역이 변경될 때마다 해당 지역 정보로 갱신</a:t>
                      </a:r>
                      <a:endParaRPr kumimoji="1" lang="en-US" altLang="ko-KR" sz="8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9965716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8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기간 선택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1)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오늘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/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이번주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/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이번달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2)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선택된 기간으로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※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표시 영역의 내용을 갱신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45812748"/>
                  </a:ext>
                </a:extLst>
              </a:tr>
            </a:tbl>
          </a:graphicData>
        </a:graphic>
      </p:graphicFrame>
      <p:sp>
        <p:nvSpPr>
          <p:cNvPr id="78" name="TextBox 77"/>
          <p:cNvSpPr txBox="1"/>
          <p:nvPr/>
        </p:nvSpPr>
        <p:spPr>
          <a:xfrm>
            <a:off x="7121707" y="21349"/>
            <a:ext cx="567597" cy="2308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화면</a:t>
            </a:r>
            <a:r>
              <a:rPr lang="en-US" altLang="ko-KR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ID</a:t>
            </a:r>
            <a:endParaRPr lang="ko-KR" altLang="en-US" sz="9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7689304" y="43659"/>
            <a:ext cx="792088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itchFamily="50" charset="-127"/>
                <a:ea typeface="맑은 고딕" pitchFamily="50" charset="-127"/>
              </a:rPr>
              <a:t>ewpsp_scr_007</a:t>
            </a:r>
            <a:endParaRPr lang="ko-KR" altLang="en-US" sz="700" dirty="0">
              <a:latin typeface="맑은 고딕" pitchFamily="50" charset="-127"/>
              <a:ea typeface="맑은 고딕" pitchFamily="50" charset="-127"/>
            </a:endParaRPr>
          </a:p>
        </p:txBody>
      </p:sp>
      <p:grpSp>
        <p:nvGrpSpPr>
          <p:cNvPr id="12" name="그룹 11">
            <a:extLst>
              <a:ext uri="{FF2B5EF4-FFF2-40B4-BE49-F238E27FC236}">
                <a16:creationId xmlns:a16="http://schemas.microsoft.com/office/drawing/2014/main" id="{C1AF3AF8-8C1D-4516-98E1-E8822A7583F5}"/>
              </a:ext>
            </a:extLst>
          </p:cNvPr>
          <p:cNvGrpSpPr/>
          <p:nvPr/>
        </p:nvGrpSpPr>
        <p:grpSpPr>
          <a:xfrm>
            <a:off x="272480" y="980728"/>
            <a:ext cx="7920992" cy="4296969"/>
            <a:chOff x="272480" y="500183"/>
            <a:chExt cx="7920992" cy="4296969"/>
          </a:xfrm>
        </p:grpSpPr>
        <p:pic>
          <p:nvPicPr>
            <p:cNvPr id="36" name="Picture 2">
              <a:extLst>
                <a:ext uri="{FF2B5EF4-FFF2-40B4-BE49-F238E27FC236}">
                  <a16:creationId xmlns:a16="http://schemas.microsoft.com/office/drawing/2014/main" id="{A36E8EBB-5423-48B8-B4ED-8CD2AAAA871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2480" y="500183"/>
              <a:ext cx="7920992" cy="4296969"/>
            </a:xfrm>
            <a:prstGeom prst="rect">
              <a:avLst/>
            </a:prstGeom>
            <a:noFill/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2" name="그룹 1">
              <a:extLst>
                <a:ext uri="{FF2B5EF4-FFF2-40B4-BE49-F238E27FC236}">
                  <a16:creationId xmlns:a16="http://schemas.microsoft.com/office/drawing/2014/main" id="{A2AA3629-CCC1-4473-91B0-BE2B778E93F5}"/>
                </a:ext>
              </a:extLst>
            </p:cNvPr>
            <p:cNvGrpSpPr/>
            <p:nvPr/>
          </p:nvGrpSpPr>
          <p:grpSpPr>
            <a:xfrm>
              <a:off x="4877436" y="1389766"/>
              <a:ext cx="458838" cy="2484435"/>
              <a:chOff x="4877436" y="1389766"/>
              <a:chExt cx="458838" cy="2484435"/>
            </a:xfrm>
          </p:grpSpPr>
          <p:sp>
            <p:nvSpPr>
              <p:cNvPr id="38" name="직사각형 37">
                <a:extLst>
                  <a:ext uri="{FF2B5EF4-FFF2-40B4-BE49-F238E27FC236}">
                    <a16:creationId xmlns:a16="http://schemas.microsoft.com/office/drawing/2014/main" id="{CB70427A-064D-4603-A9D3-D9A3BE7E4F3D}"/>
                  </a:ext>
                </a:extLst>
              </p:cNvPr>
              <p:cNvSpPr/>
              <p:nvPr/>
            </p:nvSpPr>
            <p:spPr>
              <a:xfrm>
                <a:off x="4877436" y="1389902"/>
                <a:ext cx="412550" cy="225091"/>
              </a:xfrm>
              <a:prstGeom prst="rect">
                <a:avLst/>
              </a:prstGeom>
              <a:solidFill>
                <a:srgbClr val="24254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600"/>
              </a:p>
            </p:txBody>
          </p:sp>
          <p:pic>
            <p:nvPicPr>
              <p:cNvPr id="39" name="Picture 4" descr="ìíì ëí ì´ë¯¸ì§ ê²ìê²°ê³¼">
                <a:extLst>
                  <a:ext uri="{FF2B5EF4-FFF2-40B4-BE49-F238E27FC236}">
                    <a16:creationId xmlns:a16="http://schemas.microsoft.com/office/drawing/2014/main" id="{D340CB54-3716-4BCF-8DAE-32FB036B0C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888943" y="1405940"/>
                <a:ext cx="144000" cy="144000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073E0106-8F4B-4806-8391-0C88FB0CDD25}"/>
                  </a:ext>
                </a:extLst>
              </p:cNvPr>
              <p:cNvSpPr txBox="1"/>
              <p:nvPr/>
            </p:nvSpPr>
            <p:spPr>
              <a:xfrm>
                <a:off x="4976234" y="1389766"/>
                <a:ext cx="360040" cy="1692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ko-KR" altLang="en-US" sz="500" dirty="0">
                    <a:solidFill>
                      <a:schemeClr val="bg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수익</a:t>
                </a:r>
              </a:p>
            </p:txBody>
          </p:sp>
          <p:sp>
            <p:nvSpPr>
              <p:cNvPr id="41" name="직사각형 40">
                <a:extLst>
                  <a:ext uri="{FF2B5EF4-FFF2-40B4-BE49-F238E27FC236}">
                    <a16:creationId xmlns:a16="http://schemas.microsoft.com/office/drawing/2014/main" id="{4A3AA5AA-F5F5-4ABA-A3F7-5C757F48E618}"/>
                  </a:ext>
                </a:extLst>
              </p:cNvPr>
              <p:cNvSpPr/>
              <p:nvPr/>
            </p:nvSpPr>
            <p:spPr>
              <a:xfrm>
                <a:off x="4975476" y="2989001"/>
                <a:ext cx="279418" cy="216024"/>
              </a:xfrm>
              <a:prstGeom prst="rect">
                <a:avLst/>
              </a:prstGeom>
              <a:solidFill>
                <a:srgbClr val="46476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600"/>
              </a:p>
            </p:txBody>
          </p:sp>
          <p:sp>
            <p:nvSpPr>
              <p:cNvPr id="42" name="직사각형 41">
                <a:extLst>
                  <a:ext uri="{FF2B5EF4-FFF2-40B4-BE49-F238E27FC236}">
                    <a16:creationId xmlns:a16="http://schemas.microsoft.com/office/drawing/2014/main" id="{1A420276-4270-46CF-9510-E8E111EF693D}"/>
                  </a:ext>
                </a:extLst>
              </p:cNvPr>
              <p:cNvSpPr/>
              <p:nvPr/>
            </p:nvSpPr>
            <p:spPr>
              <a:xfrm>
                <a:off x="4961420" y="1755598"/>
                <a:ext cx="279418" cy="216024"/>
              </a:xfrm>
              <a:prstGeom prst="rect">
                <a:avLst/>
              </a:prstGeom>
              <a:solidFill>
                <a:srgbClr val="3D3E5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600"/>
              </a:p>
            </p:txBody>
          </p:sp>
          <p:sp>
            <p:nvSpPr>
              <p:cNvPr id="44" name="직사각형 43">
                <a:extLst>
                  <a:ext uri="{FF2B5EF4-FFF2-40B4-BE49-F238E27FC236}">
                    <a16:creationId xmlns:a16="http://schemas.microsoft.com/office/drawing/2014/main" id="{BEA64215-2A7C-49CA-BF5C-24C601084FA4}"/>
                  </a:ext>
                </a:extLst>
              </p:cNvPr>
              <p:cNvSpPr/>
              <p:nvPr/>
            </p:nvSpPr>
            <p:spPr>
              <a:xfrm>
                <a:off x="4953000" y="2364782"/>
                <a:ext cx="279418" cy="216024"/>
              </a:xfrm>
              <a:prstGeom prst="rect">
                <a:avLst/>
              </a:prstGeom>
              <a:solidFill>
                <a:srgbClr val="42416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600"/>
              </a:p>
            </p:txBody>
          </p:sp>
          <p:sp>
            <p:nvSpPr>
              <p:cNvPr id="46" name="직사각형 45">
                <a:extLst>
                  <a:ext uri="{FF2B5EF4-FFF2-40B4-BE49-F238E27FC236}">
                    <a16:creationId xmlns:a16="http://schemas.microsoft.com/office/drawing/2014/main" id="{6C8DD17E-E432-405E-B65A-97555DD96EFE}"/>
                  </a:ext>
                </a:extLst>
              </p:cNvPr>
              <p:cNvSpPr/>
              <p:nvPr/>
            </p:nvSpPr>
            <p:spPr>
              <a:xfrm>
                <a:off x="4889606" y="3658177"/>
                <a:ext cx="279418" cy="216024"/>
              </a:xfrm>
              <a:prstGeom prst="rect">
                <a:avLst/>
              </a:prstGeom>
              <a:solidFill>
                <a:srgbClr val="4A4A6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600"/>
              </a:p>
            </p:txBody>
          </p:sp>
          <p:sp>
            <p:nvSpPr>
              <p:cNvPr id="47" name="직사각형 46">
                <a:extLst>
                  <a:ext uri="{FF2B5EF4-FFF2-40B4-BE49-F238E27FC236}">
                    <a16:creationId xmlns:a16="http://schemas.microsoft.com/office/drawing/2014/main" id="{39DAC7FA-66DB-469A-8F66-FB805DC3394E}"/>
                  </a:ext>
                </a:extLst>
              </p:cNvPr>
              <p:cNvSpPr/>
              <p:nvPr/>
            </p:nvSpPr>
            <p:spPr>
              <a:xfrm>
                <a:off x="5001603" y="2037110"/>
                <a:ext cx="279418" cy="216024"/>
              </a:xfrm>
              <a:prstGeom prst="rect">
                <a:avLst/>
              </a:prstGeom>
              <a:solidFill>
                <a:srgbClr val="2A2A4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600"/>
              </a:p>
            </p:txBody>
          </p:sp>
          <p:sp>
            <p:nvSpPr>
              <p:cNvPr id="48" name="직사각형 47">
                <a:extLst>
                  <a:ext uri="{FF2B5EF4-FFF2-40B4-BE49-F238E27FC236}">
                    <a16:creationId xmlns:a16="http://schemas.microsoft.com/office/drawing/2014/main" id="{0E202544-409B-4736-84CF-B23EDED52B59}"/>
                  </a:ext>
                </a:extLst>
              </p:cNvPr>
              <p:cNvSpPr/>
              <p:nvPr/>
            </p:nvSpPr>
            <p:spPr>
              <a:xfrm>
                <a:off x="5033622" y="2652814"/>
                <a:ext cx="279418" cy="216024"/>
              </a:xfrm>
              <a:prstGeom prst="rect">
                <a:avLst/>
              </a:prstGeom>
              <a:solidFill>
                <a:srgbClr val="2F2F5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600"/>
              </a:p>
            </p:txBody>
          </p:sp>
          <p:sp>
            <p:nvSpPr>
              <p:cNvPr id="49" name="직사각형 48">
                <a:extLst>
                  <a:ext uri="{FF2B5EF4-FFF2-40B4-BE49-F238E27FC236}">
                    <a16:creationId xmlns:a16="http://schemas.microsoft.com/office/drawing/2014/main" id="{32BD0D8D-54AC-4520-9831-BD239D7500A9}"/>
                  </a:ext>
                </a:extLst>
              </p:cNvPr>
              <p:cNvSpPr/>
              <p:nvPr/>
            </p:nvSpPr>
            <p:spPr>
              <a:xfrm>
                <a:off x="5027986" y="3319366"/>
                <a:ext cx="279418" cy="216024"/>
              </a:xfrm>
              <a:prstGeom prst="rect">
                <a:avLst/>
              </a:prstGeom>
              <a:solidFill>
                <a:srgbClr val="33335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600"/>
              </a:p>
            </p:txBody>
          </p:sp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AD45D3FD-00D5-416C-89A5-E19D9640B170}"/>
                  </a:ext>
                </a:extLst>
              </p:cNvPr>
              <p:cNvSpPr txBox="1"/>
              <p:nvPr/>
            </p:nvSpPr>
            <p:spPr>
              <a:xfrm>
                <a:off x="4880992" y="2368658"/>
                <a:ext cx="402474" cy="1692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500" dirty="0">
                    <a:solidFill>
                      <a:schemeClr val="bg1"/>
                    </a:solidFill>
                  </a:rPr>
                  <a:t>200</a:t>
                </a:r>
                <a:endParaRPr lang="ko-KR" altLang="en-US" sz="500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52" name="TextBox 51">
                <a:extLst>
                  <a:ext uri="{FF2B5EF4-FFF2-40B4-BE49-F238E27FC236}">
                    <a16:creationId xmlns:a16="http://schemas.microsoft.com/office/drawing/2014/main" id="{365EF6AB-CFF1-415E-ADE8-5E11748F372C}"/>
                  </a:ext>
                </a:extLst>
              </p:cNvPr>
              <p:cNvSpPr txBox="1"/>
              <p:nvPr/>
            </p:nvSpPr>
            <p:spPr>
              <a:xfrm>
                <a:off x="4882062" y="1736719"/>
                <a:ext cx="402474" cy="1692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500" dirty="0">
                    <a:solidFill>
                      <a:schemeClr val="bg1"/>
                    </a:solidFill>
                  </a:rPr>
                  <a:t>200</a:t>
                </a:r>
                <a:endParaRPr lang="ko-KR" altLang="en-US" sz="500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59DDFDF3-517B-4ED5-8711-46DF9AAB27F2}"/>
                  </a:ext>
                </a:extLst>
              </p:cNvPr>
              <p:cNvSpPr txBox="1"/>
              <p:nvPr/>
            </p:nvSpPr>
            <p:spPr>
              <a:xfrm>
                <a:off x="4882062" y="3005483"/>
                <a:ext cx="402474" cy="1692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500" dirty="0">
                    <a:solidFill>
                      <a:schemeClr val="bg1"/>
                    </a:solidFill>
                  </a:rPr>
                  <a:t>200</a:t>
                </a:r>
                <a:endParaRPr lang="ko-KR" altLang="en-US" sz="500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55" name="TextBox 54">
                <a:extLst>
                  <a:ext uri="{FF2B5EF4-FFF2-40B4-BE49-F238E27FC236}">
                    <a16:creationId xmlns:a16="http://schemas.microsoft.com/office/drawing/2014/main" id="{940D7EBA-542C-4A57-B43A-EC5F4636CC97}"/>
                  </a:ext>
                </a:extLst>
              </p:cNvPr>
              <p:cNvSpPr txBox="1"/>
              <p:nvPr/>
            </p:nvSpPr>
            <p:spPr>
              <a:xfrm>
                <a:off x="4880992" y="3644575"/>
                <a:ext cx="402474" cy="1692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500" dirty="0">
                    <a:solidFill>
                      <a:schemeClr val="bg1"/>
                    </a:solidFill>
                  </a:rPr>
                  <a:t>200</a:t>
                </a:r>
                <a:endParaRPr lang="ko-KR" altLang="en-US" sz="500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56" name="TextBox 55">
                <a:extLst>
                  <a:ext uri="{FF2B5EF4-FFF2-40B4-BE49-F238E27FC236}">
                    <a16:creationId xmlns:a16="http://schemas.microsoft.com/office/drawing/2014/main" id="{F578119F-598C-4187-A445-34EFBC8184F9}"/>
                  </a:ext>
                </a:extLst>
              </p:cNvPr>
              <p:cNvSpPr txBox="1"/>
              <p:nvPr/>
            </p:nvSpPr>
            <p:spPr>
              <a:xfrm>
                <a:off x="4882062" y="2049688"/>
                <a:ext cx="402474" cy="1692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500" dirty="0">
                    <a:solidFill>
                      <a:schemeClr val="bg1"/>
                    </a:solidFill>
                  </a:rPr>
                  <a:t>200</a:t>
                </a:r>
                <a:endParaRPr lang="ko-KR" altLang="en-US" sz="500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E8C51EF9-EF5E-4045-A0F7-3332C5E622B8}"/>
                  </a:ext>
                </a:extLst>
              </p:cNvPr>
              <p:cNvSpPr txBox="1"/>
              <p:nvPr/>
            </p:nvSpPr>
            <p:spPr>
              <a:xfrm>
                <a:off x="4887698" y="2689275"/>
                <a:ext cx="402474" cy="1692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500" dirty="0">
                    <a:solidFill>
                      <a:schemeClr val="bg1"/>
                    </a:solidFill>
                  </a:rPr>
                  <a:t>200</a:t>
                </a:r>
                <a:endParaRPr lang="ko-KR" altLang="en-US" sz="500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10126C8B-B290-4BA6-8AC5-A13C0259CEF3}"/>
                  </a:ext>
                </a:extLst>
              </p:cNvPr>
              <p:cNvSpPr txBox="1"/>
              <p:nvPr/>
            </p:nvSpPr>
            <p:spPr>
              <a:xfrm>
                <a:off x="4882062" y="3324739"/>
                <a:ext cx="402474" cy="1692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500" dirty="0">
                    <a:solidFill>
                      <a:schemeClr val="bg1"/>
                    </a:solidFill>
                  </a:rPr>
                  <a:t>200</a:t>
                </a:r>
                <a:endParaRPr lang="ko-KR" altLang="en-US" sz="500" dirty="0">
                  <a:solidFill>
                    <a:schemeClr val="bg1"/>
                  </a:solidFill>
                </a:endParaRPr>
              </a:p>
            </p:txBody>
          </p:sp>
        </p:grpSp>
        <p:grpSp>
          <p:nvGrpSpPr>
            <p:cNvPr id="59" name="그룹 58">
              <a:extLst>
                <a:ext uri="{FF2B5EF4-FFF2-40B4-BE49-F238E27FC236}">
                  <a16:creationId xmlns:a16="http://schemas.microsoft.com/office/drawing/2014/main" id="{DE088F12-D2F9-45FC-814D-451ABCB33103}"/>
                </a:ext>
              </a:extLst>
            </p:cNvPr>
            <p:cNvGrpSpPr/>
            <p:nvPr/>
          </p:nvGrpSpPr>
          <p:grpSpPr>
            <a:xfrm>
              <a:off x="7449736" y="944379"/>
              <a:ext cx="479135" cy="228668"/>
              <a:chOff x="8316416" y="1400132"/>
              <a:chExt cx="479135" cy="228668"/>
            </a:xfrm>
          </p:grpSpPr>
          <p:sp>
            <p:nvSpPr>
              <p:cNvPr id="60" name="직사각형 59">
                <a:extLst>
                  <a:ext uri="{FF2B5EF4-FFF2-40B4-BE49-F238E27FC236}">
                    <a16:creationId xmlns:a16="http://schemas.microsoft.com/office/drawing/2014/main" id="{C618DF97-87FE-4291-A3CF-20CC3641736B}"/>
                  </a:ext>
                </a:extLst>
              </p:cNvPr>
              <p:cNvSpPr/>
              <p:nvPr/>
            </p:nvSpPr>
            <p:spPr>
              <a:xfrm>
                <a:off x="8342424" y="1410764"/>
                <a:ext cx="360040" cy="218036"/>
              </a:xfrm>
              <a:prstGeom prst="rect">
                <a:avLst/>
              </a:prstGeom>
              <a:solidFill>
                <a:srgbClr val="3A3A5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pic>
            <p:nvPicPr>
              <p:cNvPr id="61" name="Picture 4" descr="ìíì ëí ì´ë¯¸ì§ ê²ìê²°ê³¼">
                <a:extLst>
                  <a:ext uri="{FF2B5EF4-FFF2-40B4-BE49-F238E27FC236}">
                    <a16:creationId xmlns:a16="http://schemas.microsoft.com/office/drawing/2014/main" id="{5B210003-2083-4317-AD46-9DE623DE92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316416" y="1400132"/>
                <a:ext cx="185936" cy="185936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64" name="TextBox 63">
                <a:extLst>
                  <a:ext uri="{FF2B5EF4-FFF2-40B4-BE49-F238E27FC236}">
                    <a16:creationId xmlns:a16="http://schemas.microsoft.com/office/drawing/2014/main" id="{621C0E80-974F-4F89-9ED2-9DCD224E92B0}"/>
                  </a:ext>
                </a:extLst>
              </p:cNvPr>
              <p:cNvSpPr txBox="1"/>
              <p:nvPr/>
            </p:nvSpPr>
            <p:spPr>
              <a:xfrm>
                <a:off x="8435511" y="1400132"/>
                <a:ext cx="360040" cy="18466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ko-KR" altLang="en-US" sz="600" dirty="0">
                    <a:solidFill>
                      <a:schemeClr val="bg1"/>
                    </a:solidFill>
                  </a:rPr>
                  <a:t>수익</a:t>
                </a:r>
              </a:p>
            </p:txBody>
          </p:sp>
        </p:grpSp>
        <p:pic>
          <p:nvPicPr>
            <p:cNvPr id="65" name="Picture 2" descr="ì¤ì ì ëí ì´ë¯¸ì§ ê²ìê²°ê³¼">
              <a:extLst>
                <a:ext uri="{FF2B5EF4-FFF2-40B4-BE49-F238E27FC236}">
                  <a16:creationId xmlns:a16="http://schemas.microsoft.com/office/drawing/2014/main" id="{D370F3A3-3D6B-4700-81D3-9237DC52512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909390" y="607227"/>
              <a:ext cx="180000" cy="1800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206" name="타원형 설명선 205"/>
          <p:cNvSpPr/>
          <p:nvPr/>
        </p:nvSpPr>
        <p:spPr>
          <a:xfrm>
            <a:off x="2705327" y="1352829"/>
            <a:ext cx="216000" cy="216000"/>
          </a:xfrm>
          <a:prstGeom prst="wedgeEllipseCallout">
            <a:avLst>
              <a:gd name="adj1" fmla="val 74230"/>
              <a:gd name="adj2" fmla="val 21822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/>
              <a:t>8</a:t>
            </a:r>
            <a:endParaRPr lang="ko-KR" altLang="en-US" sz="900" b="1" dirty="0"/>
          </a:p>
        </p:txBody>
      </p:sp>
      <p:sp>
        <p:nvSpPr>
          <p:cNvPr id="244" name="타원형 설명선 243"/>
          <p:cNvSpPr/>
          <p:nvPr/>
        </p:nvSpPr>
        <p:spPr>
          <a:xfrm>
            <a:off x="6656873" y="898527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5" name="타원형 설명선 244"/>
          <p:cNvSpPr/>
          <p:nvPr/>
        </p:nvSpPr>
        <p:spPr>
          <a:xfrm>
            <a:off x="5336274" y="898527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6" name="타원형 설명선 245"/>
          <p:cNvSpPr/>
          <p:nvPr/>
        </p:nvSpPr>
        <p:spPr>
          <a:xfrm>
            <a:off x="7078463" y="898527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66" name="타원형 설명선 265"/>
          <p:cNvSpPr/>
          <p:nvPr/>
        </p:nvSpPr>
        <p:spPr>
          <a:xfrm>
            <a:off x="7525836" y="898527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3" name="그림 2">
            <a:extLst>
              <a:ext uri="{FF2B5EF4-FFF2-40B4-BE49-F238E27FC236}">
                <a16:creationId xmlns:a16="http://schemas.microsoft.com/office/drawing/2014/main" id="{AFF35173-D7A7-4298-851A-524832D5FB6B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26758" y="4967960"/>
            <a:ext cx="4460940" cy="309737"/>
          </a:xfrm>
          <a:prstGeom prst="rect">
            <a:avLst/>
          </a:prstGeom>
        </p:spPr>
      </p:pic>
      <p:sp>
        <p:nvSpPr>
          <p:cNvPr id="4" name="직사각형 3">
            <a:extLst>
              <a:ext uri="{FF2B5EF4-FFF2-40B4-BE49-F238E27FC236}">
                <a16:creationId xmlns:a16="http://schemas.microsoft.com/office/drawing/2014/main" id="{DEA9CD51-5FDD-4692-AB9C-852145C267AD}"/>
              </a:ext>
            </a:extLst>
          </p:cNvPr>
          <p:cNvSpPr/>
          <p:nvPr/>
        </p:nvSpPr>
        <p:spPr>
          <a:xfrm>
            <a:off x="3002910" y="1473572"/>
            <a:ext cx="1108691" cy="254169"/>
          </a:xfrm>
          <a:prstGeom prst="rect">
            <a:avLst/>
          </a:prstGeom>
          <a:noFill/>
          <a:ln w="127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C3E78D5A-1457-4C4D-AB90-47D092820DCA}"/>
              </a:ext>
            </a:extLst>
          </p:cNvPr>
          <p:cNvSpPr/>
          <p:nvPr/>
        </p:nvSpPr>
        <p:spPr>
          <a:xfrm>
            <a:off x="3028649" y="1851182"/>
            <a:ext cx="2252372" cy="2911281"/>
          </a:xfrm>
          <a:prstGeom prst="rect">
            <a:avLst/>
          </a:prstGeom>
          <a:noFill/>
          <a:ln w="127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C13BEE4A-24AA-4E3D-A34E-EDDF2C1DC7BF}"/>
              </a:ext>
            </a:extLst>
          </p:cNvPr>
          <p:cNvSpPr/>
          <p:nvPr/>
        </p:nvSpPr>
        <p:spPr>
          <a:xfrm>
            <a:off x="5547333" y="1374817"/>
            <a:ext cx="2381538" cy="2310754"/>
          </a:xfrm>
          <a:prstGeom prst="rect">
            <a:avLst/>
          </a:prstGeom>
          <a:noFill/>
          <a:ln w="127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0DF6E872-B4ED-43F2-B433-48F9583AC965}"/>
              </a:ext>
            </a:extLst>
          </p:cNvPr>
          <p:cNvSpPr/>
          <p:nvPr/>
        </p:nvSpPr>
        <p:spPr>
          <a:xfrm>
            <a:off x="5578100" y="3863391"/>
            <a:ext cx="2381537" cy="1005769"/>
          </a:xfrm>
          <a:prstGeom prst="rect">
            <a:avLst/>
          </a:prstGeom>
          <a:noFill/>
          <a:ln w="127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2" name="타원형 설명선 225">
            <a:extLst>
              <a:ext uri="{FF2B5EF4-FFF2-40B4-BE49-F238E27FC236}">
                <a16:creationId xmlns:a16="http://schemas.microsoft.com/office/drawing/2014/main" id="{E4D40D6D-A603-4967-8EDC-C904528E0CED}"/>
              </a:ext>
            </a:extLst>
          </p:cNvPr>
          <p:cNvSpPr/>
          <p:nvPr/>
        </p:nvSpPr>
        <p:spPr>
          <a:xfrm>
            <a:off x="5339411" y="1301257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※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6" name="타원형 설명선 225">
            <a:extLst>
              <a:ext uri="{FF2B5EF4-FFF2-40B4-BE49-F238E27FC236}">
                <a16:creationId xmlns:a16="http://schemas.microsoft.com/office/drawing/2014/main" id="{30D4BFD7-E274-495D-BD10-6E77B6E8E5D0}"/>
              </a:ext>
            </a:extLst>
          </p:cNvPr>
          <p:cNvSpPr/>
          <p:nvPr/>
        </p:nvSpPr>
        <p:spPr>
          <a:xfrm>
            <a:off x="5386038" y="3729861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※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67" name="그룹 66">
            <a:extLst>
              <a:ext uri="{FF2B5EF4-FFF2-40B4-BE49-F238E27FC236}">
                <a16:creationId xmlns:a16="http://schemas.microsoft.com/office/drawing/2014/main" id="{B236C193-A4F5-4CF8-9220-4E8CF5783F04}"/>
              </a:ext>
            </a:extLst>
          </p:cNvPr>
          <p:cNvGrpSpPr/>
          <p:nvPr/>
        </p:nvGrpSpPr>
        <p:grpSpPr>
          <a:xfrm>
            <a:off x="704528" y="1813181"/>
            <a:ext cx="2047322" cy="3013394"/>
            <a:chOff x="704528" y="1813181"/>
            <a:chExt cx="2047322" cy="3013394"/>
          </a:xfrm>
        </p:grpSpPr>
        <p:grpSp>
          <p:nvGrpSpPr>
            <p:cNvPr id="68" name="그룹 67">
              <a:extLst>
                <a:ext uri="{FF2B5EF4-FFF2-40B4-BE49-F238E27FC236}">
                  <a16:creationId xmlns:a16="http://schemas.microsoft.com/office/drawing/2014/main" id="{989E1C05-364E-43F7-B0E6-293B005A6071}"/>
                </a:ext>
              </a:extLst>
            </p:cNvPr>
            <p:cNvGrpSpPr/>
            <p:nvPr/>
          </p:nvGrpSpPr>
          <p:grpSpPr>
            <a:xfrm>
              <a:off x="818259" y="1813181"/>
              <a:ext cx="1933591" cy="2962275"/>
              <a:chOff x="818259" y="1813181"/>
              <a:chExt cx="1933591" cy="2962275"/>
            </a:xfrm>
          </p:grpSpPr>
          <p:pic>
            <p:nvPicPr>
              <p:cNvPr id="74" name="그림 73">
                <a:extLst>
                  <a:ext uri="{FF2B5EF4-FFF2-40B4-BE49-F238E27FC236}">
                    <a16:creationId xmlns:a16="http://schemas.microsoft.com/office/drawing/2014/main" id="{48E492AE-0A19-4225-99AA-654D51D13B3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818259" y="1813181"/>
                <a:ext cx="428625" cy="2962275"/>
              </a:xfrm>
              <a:prstGeom prst="rect">
                <a:avLst/>
              </a:prstGeom>
            </p:spPr>
          </p:pic>
          <p:pic>
            <p:nvPicPr>
              <p:cNvPr id="75" name="그림 74">
                <a:extLst>
                  <a:ext uri="{FF2B5EF4-FFF2-40B4-BE49-F238E27FC236}">
                    <a16:creationId xmlns:a16="http://schemas.microsoft.com/office/drawing/2014/main" id="{14D631F8-BDD9-47AD-A2FD-C59305B4645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2323225" y="1813181"/>
                <a:ext cx="428625" cy="2962275"/>
              </a:xfrm>
              <a:prstGeom prst="rect">
                <a:avLst/>
              </a:prstGeom>
            </p:spPr>
          </p:pic>
          <p:pic>
            <p:nvPicPr>
              <p:cNvPr id="76" name="그림 75">
                <a:extLst>
                  <a:ext uri="{FF2B5EF4-FFF2-40B4-BE49-F238E27FC236}">
                    <a16:creationId xmlns:a16="http://schemas.microsoft.com/office/drawing/2014/main" id="{251A8D6A-7055-41DA-B64B-6EF6F9B4F4D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1192332" y="1813181"/>
                <a:ext cx="428625" cy="2962275"/>
              </a:xfrm>
              <a:prstGeom prst="rect">
                <a:avLst/>
              </a:prstGeom>
            </p:spPr>
          </p:pic>
          <p:pic>
            <p:nvPicPr>
              <p:cNvPr id="77" name="그림 76">
                <a:extLst>
                  <a:ext uri="{FF2B5EF4-FFF2-40B4-BE49-F238E27FC236}">
                    <a16:creationId xmlns:a16="http://schemas.microsoft.com/office/drawing/2014/main" id="{85EC3D49-24AA-4C7A-A550-24D3C41702D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1551747" y="1813181"/>
                <a:ext cx="428625" cy="2962275"/>
              </a:xfrm>
              <a:prstGeom prst="rect">
                <a:avLst/>
              </a:prstGeom>
            </p:spPr>
          </p:pic>
          <p:pic>
            <p:nvPicPr>
              <p:cNvPr id="80" name="그림 79">
                <a:extLst>
                  <a:ext uri="{FF2B5EF4-FFF2-40B4-BE49-F238E27FC236}">
                    <a16:creationId xmlns:a16="http://schemas.microsoft.com/office/drawing/2014/main" id="{F4410A98-A50A-4606-8653-1D290134458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1933637" y="1813181"/>
                <a:ext cx="428625" cy="2962275"/>
              </a:xfrm>
              <a:prstGeom prst="rect">
                <a:avLst/>
              </a:prstGeom>
            </p:spPr>
          </p:pic>
        </p:grpSp>
        <p:pic>
          <p:nvPicPr>
            <p:cNvPr id="69" name="그림 68">
              <a:extLst>
                <a:ext uri="{FF2B5EF4-FFF2-40B4-BE49-F238E27FC236}">
                  <a16:creationId xmlns:a16="http://schemas.microsoft.com/office/drawing/2014/main" id="{A1114503-1DEA-4E38-89AA-ABEA77364FFC}"/>
                </a:ext>
              </a:extLst>
            </p:cNvPr>
            <p:cNvPicPr>
              <a:picLocks noChangeAspect="1"/>
            </p:cNvPicPr>
            <p:nvPr/>
          </p:nvPicPr>
          <p:blipFill>
            <a:blip r:embed="rId8"/>
            <a:stretch>
              <a:fillRect/>
            </a:stretch>
          </p:blipFill>
          <p:spPr>
            <a:xfrm>
              <a:off x="984609" y="1818557"/>
              <a:ext cx="1512168" cy="2223068"/>
            </a:xfrm>
            <a:prstGeom prst="rect">
              <a:avLst/>
            </a:prstGeom>
          </p:spPr>
        </p:pic>
        <p:sp>
          <p:nvSpPr>
            <p:cNvPr id="70" name="직사각형 69">
              <a:extLst>
                <a:ext uri="{FF2B5EF4-FFF2-40B4-BE49-F238E27FC236}">
                  <a16:creationId xmlns:a16="http://schemas.microsoft.com/office/drawing/2014/main" id="{74E50882-9C76-40C2-BE9A-F591B91349E0}"/>
                </a:ext>
              </a:extLst>
            </p:cNvPr>
            <p:cNvSpPr/>
            <p:nvPr/>
          </p:nvSpPr>
          <p:spPr>
            <a:xfrm>
              <a:off x="704528" y="4069020"/>
              <a:ext cx="2016223" cy="757555"/>
            </a:xfrm>
            <a:prstGeom prst="rect">
              <a:avLst/>
            </a:prstGeom>
            <a:solidFill>
              <a:srgbClr val="353760"/>
            </a:solidFill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9195EF73-C2B4-486E-84F5-EC570392CCFD}"/>
                </a:ext>
              </a:extLst>
            </p:cNvPr>
            <p:cNvSpPr txBox="1"/>
            <p:nvPr/>
          </p:nvSpPr>
          <p:spPr>
            <a:xfrm>
              <a:off x="920166" y="4118883"/>
              <a:ext cx="57645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10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울산</a:t>
              </a:r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D39410A0-BA58-4FAD-9CF2-955E92B21160}"/>
                </a:ext>
              </a:extLst>
            </p:cNvPr>
            <p:cNvSpPr txBox="1"/>
            <p:nvPr/>
          </p:nvSpPr>
          <p:spPr>
            <a:xfrm>
              <a:off x="1640632" y="4315823"/>
              <a:ext cx="955618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사용량  </a:t>
              </a:r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10MWh</a:t>
              </a:r>
            </a:p>
            <a:p>
              <a:r>
                <a:rPr lang="ko-KR" altLang="en-US" sz="800" b="1" dirty="0" err="1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충전량</a:t>
              </a:r>
              <a:r>
                <a:rPr lang="ko-KR" altLang="en-US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 </a:t>
              </a:r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10MWh</a:t>
              </a:r>
            </a:p>
            <a:p>
              <a:r>
                <a:rPr lang="ko-KR" altLang="en-US" sz="800" b="1" dirty="0" err="1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방전량</a:t>
              </a:r>
              <a:r>
                <a:rPr lang="ko-KR" altLang="en-US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 </a:t>
              </a:r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10MWh</a:t>
              </a:r>
              <a:endParaRPr lang="ko-KR" altLang="en-US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73" name="TextBox 72">
              <a:extLst>
                <a:ext uri="{FF2B5EF4-FFF2-40B4-BE49-F238E27FC236}">
                  <a16:creationId xmlns:a16="http://schemas.microsoft.com/office/drawing/2014/main" id="{40E72E54-2504-4936-8009-A8FE200714B1}"/>
                </a:ext>
              </a:extLst>
            </p:cNvPr>
            <p:cNvSpPr txBox="1"/>
            <p:nvPr/>
          </p:nvSpPr>
          <p:spPr>
            <a:xfrm>
              <a:off x="879076" y="4365104"/>
              <a:ext cx="761556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900" b="1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비상  </a:t>
              </a:r>
              <a:r>
                <a:rPr lang="en-US" altLang="ko-KR" sz="900" b="1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0</a:t>
              </a:r>
            </a:p>
            <a:p>
              <a:r>
                <a:rPr lang="ko-KR" altLang="en-US" sz="900" b="1" dirty="0">
                  <a:solidFill>
                    <a:srgbClr val="FFC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주의  </a:t>
              </a:r>
              <a:r>
                <a:rPr lang="en-US" altLang="ko-KR" sz="900" b="1" dirty="0">
                  <a:solidFill>
                    <a:srgbClr val="FFC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</a:t>
              </a:r>
              <a:endParaRPr lang="ko-KR" altLang="en-US" sz="900" b="1" dirty="0">
                <a:solidFill>
                  <a:srgbClr val="FFC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226" name="타원형 설명선 225"/>
          <p:cNvSpPr/>
          <p:nvPr/>
        </p:nvSpPr>
        <p:spPr>
          <a:xfrm>
            <a:off x="2657228" y="1904669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※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7" name="타원형 설명선 246"/>
          <p:cNvSpPr/>
          <p:nvPr/>
        </p:nvSpPr>
        <p:spPr>
          <a:xfrm>
            <a:off x="590679" y="1918903"/>
            <a:ext cx="216000" cy="206364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6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1" name="타원형 설명선 246">
            <a:extLst>
              <a:ext uri="{FF2B5EF4-FFF2-40B4-BE49-F238E27FC236}">
                <a16:creationId xmlns:a16="http://schemas.microsoft.com/office/drawing/2014/main" id="{49E9ADAA-44B9-49FC-A546-CB35741D1182}"/>
              </a:ext>
            </a:extLst>
          </p:cNvPr>
          <p:cNvSpPr/>
          <p:nvPr/>
        </p:nvSpPr>
        <p:spPr>
          <a:xfrm>
            <a:off x="417661" y="3907923"/>
            <a:ext cx="216000" cy="206364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7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83" name="그림 82">
            <a:extLst>
              <a:ext uri="{FF2B5EF4-FFF2-40B4-BE49-F238E27FC236}">
                <a16:creationId xmlns:a16="http://schemas.microsoft.com/office/drawing/2014/main" id="{E0AE6D3F-7065-4DCD-A666-F61B31D94535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712528" y="1031031"/>
            <a:ext cx="3456495" cy="309737"/>
          </a:xfrm>
          <a:prstGeom prst="rect">
            <a:avLst/>
          </a:prstGeom>
        </p:spPr>
      </p:pic>
      <p:sp>
        <p:nvSpPr>
          <p:cNvPr id="63" name="타원형 설명선 225">
            <a:extLst>
              <a:ext uri="{FF2B5EF4-FFF2-40B4-BE49-F238E27FC236}">
                <a16:creationId xmlns:a16="http://schemas.microsoft.com/office/drawing/2014/main" id="{93402A8C-F86A-4207-9226-F02BE6AB6E19}"/>
              </a:ext>
            </a:extLst>
          </p:cNvPr>
          <p:cNvSpPr/>
          <p:nvPr/>
        </p:nvSpPr>
        <p:spPr>
          <a:xfrm>
            <a:off x="1712528" y="898527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93BC2971-CC68-49FF-BF78-97D91E383738}"/>
              </a:ext>
            </a:extLst>
          </p:cNvPr>
          <p:cNvSpPr txBox="1"/>
          <p:nvPr/>
        </p:nvSpPr>
        <p:spPr>
          <a:xfrm>
            <a:off x="1640633" y="1079049"/>
            <a:ext cx="3630860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현재시간 </a:t>
            </a:r>
            <a:r>
              <a:rPr lang="en-US" altLang="ko-KR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: 2018-07-27 17:10:05   </a:t>
            </a:r>
            <a:r>
              <a:rPr lang="ko-KR" altLang="en-US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데이터 기준 시각 </a:t>
            </a:r>
            <a:r>
              <a:rPr lang="en-US" altLang="ko-KR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: 2018-07-27 17:01:02 </a:t>
            </a:r>
            <a:endParaRPr lang="ko-KR" altLang="en-US" sz="700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84" name="그림 83">
            <a:extLst>
              <a:ext uri="{FF2B5EF4-FFF2-40B4-BE49-F238E27FC236}">
                <a16:creationId xmlns:a16="http://schemas.microsoft.com/office/drawing/2014/main" id="{86ABEFAD-F01B-47FA-8A84-C0EA6A286164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307383" y="1535121"/>
            <a:ext cx="1015842" cy="16051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9641031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9104309" y="6645875"/>
            <a:ext cx="140029" cy="138499"/>
          </a:xfrm>
        </p:spPr>
        <p:txBody>
          <a:bodyPr/>
          <a:lstStyle/>
          <a:p>
            <a:pPr>
              <a:defRPr/>
            </a:pPr>
            <a:fld id="{9E41B634-5682-4388-99E7-FE44DCFD254B}" type="slidenum">
              <a:rPr lang="ko-KR" altLang="en-US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>
                <a:defRPr/>
              </a:pPr>
              <a:t>10</a:t>
            </a:fld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텍스트 개체 틀 8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 (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대시보드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" name="텍스트 개체 틀 9"/>
          <p:cNvSpPr>
            <a:spLocks noGrp="1"/>
          </p:cNvSpPr>
          <p:nvPr>
            <p:ph type="body" sz="quarter" idx="10"/>
          </p:nvPr>
        </p:nvSpPr>
        <p:spPr>
          <a:xfrm>
            <a:off x="6023595" y="44624"/>
            <a:ext cx="1233661" cy="196974"/>
          </a:xfrm>
        </p:spPr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02" name="Group 15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93391521"/>
              </p:ext>
            </p:extLst>
          </p:nvPr>
        </p:nvGraphicFramePr>
        <p:xfrm>
          <a:off x="8469313" y="276225"/>
          <a:ext cx="1404000" cy="6213312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3002"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Description</a:t>
                      </a: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9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범위 선택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1)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지역별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/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그룹별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지역별을 선택하면 지도 내 선택된 지역의 전체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Site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를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list up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함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.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그룹별을 선택하면 지도 내 선택 지역과 상관없이  사용자가 편집한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Site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그룹들을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list up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함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.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그룹별 선택하면 그룹 내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Site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가 위치하는 지역만 순차적으로 활성화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2)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지역선택 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기본값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: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전체지역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- 9, 10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번 항목의 선택 기준에 따라 지역선택에서 선택된 지역만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* 1),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2)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항목 선택에 따라 앞 페이지 의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※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표시 영역을 갱신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8249951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10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기간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범위 선택 조건에 맞는 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Site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리스트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업체명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: Site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명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사용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: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기간 내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Site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총 사용량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충전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: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기간 내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Site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총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충전량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방전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: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기간 내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Site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총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방전량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수익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: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기간 내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Site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총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수익량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*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마우스로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Site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행을 선택하면 해당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Site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의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Site Main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화면으로 전환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0965129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11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지역 지도</a:t>
                      </a:r>
                      <a:endParaRPr kumimoji="1" lang="en-US" altLang="ko-KR" sz="8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1) </a:t>
                      </a: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전국지역에서 특정 지역을 선택하면 해당 지역 지도 이미지로 변경</a:t>
                      </a:r>
                      <a:endParaRPr kumimoji="1" lang="en-US" altLang="ko-KR" sz="8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2) ‘</a:t>
                      </a: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전국지도</a:t>
                      </a:r>
                      <a:r>
                        <a:rPr kumimoji="1" lang="en-US" altLang="ko-KR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’</a:t>
                      </a: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를 선택하여 전국지도로 변경가능</a:t>
                      </a:r>
                      <a:endParaRPr kumimoji="1" lang="en-US" altLang="ko-KR" sz="8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3) </a:t>
                      </a: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지역 지도 상태에서도 하단 지역 정보는 계속 순서대로 변경</a:t>
                      </a:r>
                      <a:endParaRPr kumimoji="1" lang="en-US" altLang="ko-KR" sz="8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3538777"/>
                  </a:ext>
                </a:extLst>
              </a:tr>
            </a:tbl>
          </a:graphicData>
        </a:graphic>
      </p:graphicFrame>
      <p:sp>
        <p:nvSpPr>
          <p:cNvPr id="78" name="TextBox 77"/>
          <p:cNvSpPr txBox="1"/>
          <p:nvPr/>
        </p:nvSpPr>
        <p:spPr>
          <a:xfrm>
            <a:off x="7121707" y="21349"/>
            <a:ext cx="567597" cy="2308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화면</a:t>
            </a:r>
            <a:r>
              <a:rPr lang="en-US" altLang="ko-KR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ID</a:t>
            </a:r>
            <a:endParaRPr lang="ko-KR" altLang="en-US" sz="9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7689304" y="43659"/>
            <a:ext cx="792088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itchFamily="50" charset="-127"/>
                <a:ea typeface="맑은 고딕" pitchFamily="50" charset="-127"/>
              </a:rPr>
              <a:t>ewpsp_scr_007</a:t>
            </a:r>
            <a:endParaRPr lang="ko-KR" altLang="en-US" sz="700" dirty="0">
              <a:latin typeface="맑은 고딕" pitchFamily="50" charset="-127"/>
              <a:ea typeface="맑은 고딕" pitchFamily="50" charset="-127"/>
            </a:endParaRPr>
          </a:p>
        </p:txBody>
      </p:sp>
      <p:grpSp>
        <p:nvGrpSpPr>
          <p:cNvPr id="12" name="그룹 11">
            <a:extLst>
              <a:ext uri="{FF2B5EF4-FFF2-40B4-BE49-F238E27FC236}">
                <a16:creationId xmlns:a16="http://schemas.microsoft.com/office/drawing/2014/main" id="{C1AF3AF8-8C1D-4516-98E1-E8822A7583F5}"/>
              </a:ext>
            </a:extLst>
          </p:cNvPr>
          <p:cNvGrpSpPr/>
          <p:nvPr/>
        </p:nvGrpSpPr>
        <p:grpSpPr>
          <a:xfrm>
            <a:off x="272480" y="980728"/>
            <a:ext cx="7920992" cy="4296969"/>
            <a:chOff x="272480" y="500183"/>
            <a:chExt cx="7920992" cy="4296969"/>
          </a:xfrm>
        </p:grpSpPr>
        <p:pic>
          <p:nvPicPr>
            <p:cNvPr id="36" name="Picture 2">
              <a:extLst>
                <a:ext uri="{FF2B5EF4-FFF2-40B4-BE49-F238E27FC236}">
                  <a16:creationId xmlns:a16="http://schemas.microsoft.com/office/drawing/2014/main" id="{A36E8EBB-5423-48B8-B4ED-8CD2AAAA871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2480" y="500183"/>
              <a:ext cx="7920992" cy="4296969"/>
            </a:xfrm>
            <a:prstGeom prst="rect">
              <a:avLst/>
            </a:prstGeom>
            <a:noFill/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2" name="그룹 1">
              <a:extLst>
                <a:ext uri="{FF2B5EF4-FFF2-40B4-BE49-F238E27FC236}">
                  <a16:creationId xmlns:a16="http://schemas.microsoft.com/office/drawing/2014/main" id="{A2AA3629-CCC1-4473-91B0-BE2B778E93F5}"/>
                </a:ext>
              </a:extLst>
            </p:cNvPr>
            <p:cNvGrpSpPr/>
            <p:nvPr/>
          </p:nvGrpSpPr>
          <p:grpSpPr>
            <a:xfrm>
              <a:off x="4877436" y="1389766"/>
              <a:ext cx="458838" cy="2484435"/>
              <a:chOff x="4877436" y="1389766"/>
              <a:chExt cx="458838" cy="2484435"/>
            </a:xfrm>
          </p:grpSpPr>
          <p:sp>
            <p:nvSpPr>
              <p:cNvPr id="38" name="직사각형 37">
                <a:extLst>
                  <a:ext uri="{FF2B5EF4-FFF2-40B4-BE49-F238E27FC236}">
                    <a16:creationId xmlns:a16="http://schemas.microsoft.com/office/drawing/2014/main" id="{CB70427A-064D-4603-A9D3-D9A3BE7E4F3D}"/>
                  </a:ext>
                </a:extLst>
              </p:cNvPr>
              <p:cNvSpPr/>
              <p:nvPr/>
            </p:nvSpPr>
            <p:spPr>
              <a:xfrm>
                <a:off x="4877436" y="1389902"/>
                <a:ext cx="412550" cy="225091"/>
              </a:xfrm>
              <a:prstGeom prst="rect">
                <a:avLst/>
              </a:prstGeom>
              <a:solidFill>
                <a:srgbClr val="24254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600"/>
              </a:p>
            </p:txBody>
          </p:sp>
          <p:pic>
            <p:nvPicPr>
              <p:cNvPr id="39" name="Picture 4" descr="ìíì ëí ì´ë¯¸ì§ ê²ìê²°ê³¼">
                <a:extLst>
                  <a:ext uri="{FF2B5EF4-FFF2-40B4-BE49-F238E27FC236}">
                    <a16:creationId xmlns:a16="http://schemas.microsoft.com/office/drawing/2014/main" id="{D340CB54-3716-4BCF-8DAE-32FB036B0C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888943" y="1405940"/>
                <a:ext cx="144000" cy="144000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073E0106-8F4B-4806-8391-0C88FB0CDD25}"/>
                  </a:ext>
                </a:extLst>
              </p:cNvPr>
              <p:cNvSpPr txBox="1"/>
              <p:nvPr/>
            </p:nvSpPr>
            <p:spPr>
              <a:xfrm>
                <a:off x="4976234" y="1389766"/>
                <a:ext cx="360040" cy="1692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ko-KR" altLang="en-US" sz="500" dirty="0">
                    <a:solidFill>
                      <a:schemeClr val="bg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수익</a:t>
                </a:r>
              </a:p>
            </p:txBody>
          </p:sp>
          <p:sp>
            <p:nvSpPr>
              <p:cNvPr id="41" name="직사각형 40">
                <a:extLst>
                  <a:ext uri="{FF2B5EF4-FFF2-40B4-BE49-F238E27FC236}">
                    <a16:creationId xmlns:a16="http://schemas.microsoft.com/office/drawing/2014/main" id="{4A3AA5AA-F5F5-4ABA-A3F7-5C757F48E618}"/>
                  </a:ext>
                </a:extLst>
              </p:cNvPr>
              <p:cNvSpPr/>
              <p:nvPr/>
            </p:nvSpPr>
            <p:spPr>
              <a:xfrm>
                <a:off x="4975476" y="2989001"/>
                <a:ext cx="279418" cy="216024"/>
              </a:xfrm>
              <a:prstGeom prst="rect">
                <a:avLst/>
              </a:prstGeom>
              <a:solidFill>
                <a:srgbClr val="46476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600"/>
              </a:p>
            </p:txBody>
          </p:sp>
          <p:sp>
            <p:nvSpPr>
              <p:cNvPr id="42" name="직사각형 41">
                <a:extLst>
                  <a:ext uri="{FF2B5EF4-FFF2-40B4-BE49-F238E27FC236}">
                    <a16:creationId xmlns:a16="http://schemas.microsoft.com/office/drawing/2014/main" id="{1A420276-4270-46CF-9510-E8E111EF693D}"/>
                  </a:ext>
                </a:extLst>
              </p:cNvPr>
              <p:cNvSpPr/>
              <p:nvPr/>
            </p:nvSpPr>
            <p:spPr>
              <a:xfrm>
                <a:off x="4961420" y="1755598"/>
                <a:ext cx="279418" cy="216024"/>
              </a:xfrm>
              <a:prstGeom prst="rect">
                <a:avLst/>
              </a:prstGeom>
              <a:solidFill>
                <a:srgbClr val="3D3E5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600"/>
              </a:p>
            </p:txBody>
          </p:sp>
          <p:sp>
            <p:nvSpPr>
              <p:cNvPr id="44" name="직사각형 43">
                <a:extLst>
                  <a:ext uri="{FF2B5EF4-FFF2-40B4-BE49-F238E27FC236}">
                    <a16:creationId xmlns:a16="http://schemas.microsoft.com/office/drawing/2014/main" id="{BEA64215-2A7C-49CA-BF5C-24C601084FA4}"/>
                  </a:ext>
                </a:extLst>
              </p:cNvPr>
              <p:cNvSpPr/>
              <p:nvPr/>
            </p:nvSpPr>
            <p:spPr>
              <a:xfrm>
                <a:off x="4953000" y="2364782"/>
                <a:ext cx="279418" cy="216024"/>
              </a:xfrm>
              <a:prstGeom prst="rect">
                <a:avLst/>
              </a:prstGeom>
              <a:solidFill>
                <a:srgbClr val="42416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600"/>
              </a:p>
            </p:txBody>
          </p:sp>
          <p:sp>
            <p:nvSpPr>
              <p:cNvPr id="46" name="직사각형 45">
                <a:extLst>
                  <a:ext uri="{FF2B5EF4-FFF2-40B4-BE49-F238E27FC236}">
                    <a16:creationId xmlns:a16="http://schemas.microsoft.com/office/drawing/2014/main" id="{6C8DD17E-E432-405E-B65A-97555DD96EFE}"/>
                  </a:ext>
                </a:extLst>
              </p:cNvPr>
              <p:cNvSpPr/>
              <p:nvPr/>
            </p:nvSpPr>
            <p:spPr>
              <a:xfrm>
                <a:off x="4889606" y="3658177"/>
                <a:ext cx="279418" cy="216024"/>
              </a:xfrm>
              <a:prstGeom prst="rect">
                <a:avLst/>
              </a:prstGeom>
              <a:solidFill>
                <a:srgbClr val="4A4A6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600"/>
              </a:p>
            </p:txBody>
          </p:sp>
          <p:sp>
            <p:nvSpPr>
              <p:cNvPr id="47" name="직사각형 46">
                <a:extLst>
                  <a:ext uri="{FF2B5EF4-FFF2-40B4-BE49-F238E27FC236}">
                    <a16:creationId xmlns:a16="http://schemas.microsoft.com/office/drawing/2014/main" id="{39DAC7FA-66DB-469A-8F66-FB805DC3394E}"/>
                  </a:ext>
                </a:extLst>
              </p:cNvPr>
              <p:cNvSpPr/>
              <p:nvPr/>
            </p:nvSpPr>
            <p:spPr>
              <a:xfrm>
                <a:off x="5001603" y="2037110"/>
                <a:ext cx="279418" cy="216024"/>
              </a:xfrm>
              <a:prstGeom prst="rect">
                <a:avLst/>
              </a:prstGeom>
              <a:solidFill>
                <a:srgbClr val="2A2A4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600"/>
              </a:p>
            </p:txBody>
          </p:sp>
          <p:sp>
            <p:nvSpPr>
              <p:cNvPr id="48" name="직사각형 47">
                <a:extLst>
                  <a:ext uri="{FF2B5EF4-FFF2-40B4-BE49-F238E27FC236}">
                    <a16:creationId xmlns:a16="http://schemas.microsoft.com/office/drawing/2014/main" id="{0E202544-409B-4736-84CF-B23EDED52B59}"/>
                  </a:ext>
                </a:extLst>
              </p:cNvPr>
              <p:cNvSpPr/>
              <p:nvPr/>
            </p:nvSpPr>
            <p:spPr>
              <a:xfrm>
                <a:off x="5033622" y="2652814"/>
                <a:ext cx="279418" cy="216024"/>
              </a:xfrm>
              <a:prstGeom prst="rect">
                <a:avLst/>
              </a:prstGeom>
              <a:solidFill>
                <a:srgbClr val="2F2F5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600"/>
              </a:p>
            </p:txBody>
          </p:sp>
          <p:sp>
            <p:nvSpPr>
              <p:cNvPr id="49" name="직사각형 48">
                <a:extLst>
                  <a:ext uri="{FF2B5EF4-FFF2-40B4-BE49-F238E27FC236}">
                    <a16:creationId xmlns:a16="http://schemas.microsoft.com/office/drawing/2014/main" id="{32BD0D8D-54AC-4520-9831-BD239D7500A9}"/>
                  </a:ext>
                </a:extLst>
              </p:cNvPr>
              <p:cNvSpPr/>
              <p:nvPr/>
            </p:nvSpPr>
            <p:spPr>
              <a:xfrm>
                <a:off x="5027986" y="3319366"/>
                <a:ext cx="279418" cy="216024"/>
              </a:xfrm>
              <a:prstGeom prst="rect">
                <a:avLst/>
              </a:prstGeom>
              <a:solidFill>
                <a:srgbClr val="33335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600"/>
              </a:p>
            </p:txBody>
          </p:sp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AD45D3FD-00D5-416C-89A5-E19D9640B170}"/>
                  </a:ext>
                </a:extLst>
              </p:cNvPr>
              <p:cNvSpPr txBox="1"/>
              <p:nvPr/>
            </p:nvSpPr>
            <p:spPr>
              <a:xfrm>
                <a:off x="4880992" y="2368658"/>
                <a:ext cx="402474" cy="1692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500" dirty="0">
                    <a:solidFill>
                      <a:schemeClr val="bg1"/>
                    </a:solidFill>
                  </a:rPr>
                  <a:t>200</a:t>
                </a:r>
                <a:endParaRPr lang="ko-KR" altLang="en-US" sz="500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52" name="TextBox 51">
                <a:extLst>
                  <a:ext uri="{FF2B5EF4-FFF2-40B4-BE49-F238E27FC236}">
                    <a16:creationId xmlns:a16="http://schemas.microsoft.com/office/drawing/2014/main" id="{365EF6AB-CFF1-415E-ADE8-5E11748F372C}"/>
                  </a:ext>
                </a:extLst>
              </p:cNvPr>
              <p:cNvSpPr txBox="1"/>
              <p:nvPr/>
            </p:nvSpPr>
            <p:spPr>
              <a:xfrm>
                <a:off x="4882062" y="1736719"/>
                <a:ext cx="402474" cy="1692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500" dirty="0">
                    <a:solidFill>
                      <a:schemeClr val="bg1"/>
                    </a:solidFill>
                  </a:rPr>
                  <a:t>200</a:t>
                </a:r>
                <a:endParaRPr lang="ko-KR" altLang="en-US" sz="500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59DDFDF3-517B-4ED5-8711-46DF9AAB27F2}"/>
                  </a:ext>
                </a:extLst>
              </p:cNvPr>
              <p:cNvSpPr txBox="1"/>
              <p:nvPr/>
            </p:nvSpPr>
            <p:spPr>
              <a:xfrm>
                <a:off x="4882062" y="3005483"/>
                <a:ext cx="402474" cy="1692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500" dirty="0">
                    <a:solidFill>
                      <a:schemeClr val="bg1"/>
                    </a:solidFill>
                  </a:rPr>
                  <a:t>200</a:t>
                </a:r>
                <a:endParaRPr lang="ko-KR" altLang="en-US" sz="500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55" name="TextBox 54">
                <a:extLst>
                  <a:ext uri="{FF2B5EF4-FFF2-40B4-BE49-F238E27FC236}">
                    <a16:creationId xmlns:a16="http://schemas.microsoft.com/office/drawing/2014/main" id="{940D7EBA-542C-4A57-B43A-EC5F4636CC97}"/>
                  </a:ext>
                </a:extLst>
              </p:cNvPr>
              <p:cNvSpPr txBox="1"/>
              <p:nvPr/>
            </p:nvSpPr>
            <p:spPr>
              <a:xfrm>
                <a:off x="4880992" y="3644575"/>
                <a:ext cx="402474" cy="1692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500" dirty="0">
                    <a:solidFill>
                      <a:schemeClr val="bg1"/>
                    </a:solidFill>
                  </a:rPr>
                  <a:t>200</a:t>
                </a:r>
                <a:endParaRPr lang="ko-KR" altLang="en-US" sz="500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56" name="TextBox 55">
                <a:extLst>
                  <a:ext uri="{FF2B5EF4-FFF2-40B4-BE49-F238E27FC236}">
                    <a16:creationId xmlns:a16="http://schemas.microsoft.com/office/drawing/2014/main" id="{F578119F-598C-4187-A445-34EFBC8184F9}"/>
                  </a:ext>
                </a:extLst>
              </p:cNvPr>
              <p:cNvSpPr txBox="1"/>
              <p:nvPr/>
            </p:nvSpPr>
            <p:spPr>
              <a:xfrm>
                <a:off x="4882062" y="2049688"/>
                <a:ext cx="402474" cy="1692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500" dirty="0">
                    <a:solidFill>
                      <a:schemeClr val="bg1"/>
                    </a:solidFill>
                  </a:rPr>
                  <a:t>200</a:t>
                </a:r>
                <a:endParaRPr lang="ko-KR" altLang="en-US" sz="500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E8C51EF9-EF5E-4045-A0F7-3332C5E622B8}"/>
                  </a:ext>
                </a:extLst>
              </p:cNvPr>
              <p:cNvSpPr txBox="1"/>
              <p:nvPr/>
            </p:nvSpPr>
            <p:spPr>
              <a:xfrm>
                <a:off x="4887698" y="2689275"/>
                <a:ext cx="402474" cy="1692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500" dirty="0">
                    <a:solidFill>
                      <a:schemeClr val="bg1"/>
                    </a:solidFill>
                  </a:rPr>
                  <a:t>200</a:t>
                </a:r>
                <a:endParaRPr lang="ko-KR" altLang="en-US" sz="500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10126C8B-B290-4BA6-8AC5-A13C0259CEF3}"/>
                  </a:ext>
                </a:extLst>
              </p:cNvPr>
              <p:cNvSpPr txBox="1"/>
              <p:nvPr/>
            </p:nvSpPr>
            <p:spPr>
              <a:xfrm>
                <a:off x="4882062" y="3324739"/>
                <a:ext cx="402474" cy="1692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500" dirty="0">
                    <a:solidFill>
                      <a:schemeClr val="bg1"/>
                    </a:solidFill>
                  </a:rPr>
                  <a:t>200</a:t>
                </a:r>
                <a:endParaRPr lang="ko-KR" altLang="en-US" sz="500" dirty="0">
                  <a:solidFill>
                    <a:schemeClr val="bg1"/>
                  </a:solidFill>
                </a:endParaRPr>
              </a:p>
            </p:txBody>
          </p:sp>
        </p:grpSp>
        <p:grpSp>
          <p:nvGrpSpPr>
            <p:cNvPr id="59" name="그룹 58">
              <a:extLst>
                <a:ext uri="{FF2B5EF4-FFF2-40B4-BE49-F238E27FC236}">
                  <a16:creationId xmlns:a16="http://schemas.microsoft.com/office/drawing/2014/main" id="{DE088F12-D2F9-45FC-814D-451ABCB33103}"/>
                </a:ext>
              </a:extLst>
            </p:cNvPr>
            <p:cNvGrpSpPr/>
            <p:nvPr/>
          </p:nvGrpSpPr>
          <p:grpSpPr>
            <a:xfrm>
              <a:off x="7449736" y="944379"/>
              <a:ext cx="479135" cy="228668"/>
              <a:chOff x="8316416" y="1400132"/>
              <a:chExt cx="479135" cy="228668"/>
            </a:xfrm>
          </p:grpSpPr>
          <p:sp>
            <p:nvSpPr>
              <p:cNvPr id="60" name="직사각형 59">
                <a:extLst>
                  <a:ext uri="{FF2B5EF4-FFF2-40B4-BE49-F238E27FC236}">
                    <a16:creationId xmlns:a16="http://schemas.microsoft.com/office/drawing/2014/main" id="{C618DF97-87FE-4291-A3CF-20CC3641736B}"/>
                  </a:ext>
                </a:extLst>
              </p:cNvPr>
              <p:cNvSpPr/>
              <p:nvPr/>
            </p:nvSpPr>
            <p:spPr>
              <a:xfrm>
                <a:off x="8342424" y="1410764"/>
                <a:ext cx="360040" cy="218036"/>
              </a:xfrm>
              <a:prstGeom prst="rect">
                <a:avLst/>
              </a:prstGeom>
              <a:solidFill>
                <a:srgbClr val="3A3A5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pic>
            <p:nvPicPr>
              <p:cNvPr id="61" name="Picture 4" descr="ìíì ëí ì´ë¯¸ì§ ê²ìê²°ê³¼">
                <a:extLst>
                  <a:ext uri="{FF2B5EF4-FFF2-40B4-BE49-F238E27FC236}">
                    <a16:creationId xmlns:a16="http://schemas.microsoft.com/office/drawing/2014/main" id="{5B210003-2083-4317-AD46-9DE623DE92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316416" y="1400132"/>
                <a:ext cx="185936" cy="185936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64" name="TextBox 63">
                <a:extLst>
                  <a:ext uri="{FF2B5EF4-FFF2-40B4-BE49-F238E27FC236}">
                    <a16:creationId xmlns:a16="http://schemas.microsoft.com/office/drawing/2014/main" id="{621C0E80-974F-4F89-9ED2-9DCD224E92B0}"/>
                  </a:ext>
                </a:extLst>
              </p:cNvPr>
              <p:cNvSpPr txBox="1"/>
              <p:nvPr/>
            </p:nvSpPr>
            <p:spPr>
              <a:xfrm>
                <a:off x="8435511" y="1400132"/>
                <a:ext cx="360040" cy="18466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ko-KR" altLang="en-US" sz="600" dirty="0">
                    <a:solidFill>
                      <a:schemeClr val="bg1"/>
                    </a:solidFill>
                  </a:rPr>
                  <a:t>수익</a:t>
                </a:r>
              </a:p>
            </p:txBody>
          </p:sp>
        </p:grpSp>
        <p:pic>
          <p:nvPicPr>
            <p:cNvPr id="65" name="Picture 2" descr="ì¤ì ì ëí ì´ë¯¸ì§ ê²ìê²°ê³¼">
              <a:extLst>
                <a:ext uri="{FF2B5EF4-FFF2-40B4-BE49-F238E27FC236}">
                  <a16:creationId xmlns:a16="http://schemas.microsoft.com/office/drawing/2014/main" id="{D370F3A3-3D6B-4700-81D3-9237DC52512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909390" y="607227"/>
              <a:ext cx="180000" cy="1800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206" name="타원형 설명선 205"/>
          <p:cNvSpPr/>
          <p:nvPr/>
        </p:nvSpPr>
        <p:spPr>
          <a:xfrm>
            <a:off x="3880237" y="1339613"/>
            <a:ext cx="226515" cy="216000"/>
          </a:xfrm>
          <a:prstGeom prst="wedgeEllipseCallout">
            <a:avLst>
              <a:gd name="adj1" fmla="val 74230"/>
              <a:gd name="adj2" fmla="val 21822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/>
              <a:t>9</a:t>
            </a:r>
            <a:endParaRPr lang="ko-KR" altLang="en-US" sz="900" b="1" dirty="0"/>
          </a:p>
        </p:txBody>
      </p:sp>
      <p:sp>
        <p:nvSpPr>
          <p:cNvPr id="226" name="타원형 설명선 225"/>
          <p:cNvSpPr/>
          <p:nvPr/>
        </p:nvSpPr>
        <p:spPr>
          <a:xfrm>
            <a:off x="2785640" y="1738949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10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3" name="그림 2">
            <a:extLst>
              <a:ext uri="{FF2B5EF4-FFF2-40B4-BE49-F238E27FC236}">
                <a16:creationId xmlns:a16="http://schemas.microsoft.com/office/drawing/2014/main" id="{AFF35173-D7A7-4298-851A-524832D5FB6B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26758" y="4967960"/>
            <a:ext cx="4460940" cy="309737"/>
          </a:xfrm>
          <a:prstGeom prst="rect">
            <a:avLst/>
          </a:prstGeom>
        </p:spPr>
      </p:pic>
      <p:sp>
        <p:nvSpPr>
          <p:cNvPr id="4" name="직사각형 3">
            <a:extLst>
              <a:ext uri="{FF2B5EF4-FFF2-40B4-BE49-F238E27FC236}">
                <a16:creationId xmlns:a16="http://schemas.microsoft.com/office/drawing/2014/main" id="{DEA9CD51-5FDD-4692-AB9C-852145C267AD}"/>
              </a:ext>
            </a:extLst>
          </p:cNvPr>
          <p:cNvSpPr/>
          <p:nvPr/>
        </p:nvSpPr>
        <p:spPr>
          <a:xfrm>
            <a:off x="4198713" y="1460356"/>
            <a:ext cx="1055421" cy="254169"/>
          </a:xfrm>
          <a:prstGeom prst="rect">
            <a:avLst/>
          </a:prstGeom>
          <a:noFill/>
          <a:ln w="127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A237839B-86F7-402F-94F7-2F7EC3F92843}"/>
              </a:ext>
            </a:extLst>
          </p:cNvPr>
          <p:cNvSpPr/>
          <p:nvPr/>
        </p:nvSpPr>
        <p:spPr>
          <a:xfrm>
            <a:off x="3084842" y="1827864"/>
            <a:ext cx="2147576" cy="2526882"/>
          </a:xfrm>
          <a:prstGeom prst="rect">
            <a:avLst/>
          </a:prstGeom>
          <a:noFill/>
          <a:ln w="127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45" name="그룹 44">
            <a:extLst>
              <a:ext uri="{FF2B5EF4-FFF2-40B4-BE49-F238E27FC236}">
                <a16:creationId xmlns:a16="http://schemas.microsoft.com/office/drawing/2014/main" id="{E7A10855-9C99-4FE4-A5ED-B3CD64F13797}"/>
              </a:ext>
            </a:extLst>
          </p:cNvPr>
          <p:cNvGrpSpPr/>
          <p:nvPr/>
        </p:nvGrpSpPr>
        <p:grpSpPr>
          <a:xfrm>
            <a:off x="818259" y="1813181"/>
            <a:ext cx="1933591" cy="2962275"/>
            <a:chOff x="818259" y="1813181"/>
            <a:chExt cx="1933591" cy="2962275"/>
          </a:xfrm>
        </p:grpSpPr>
        <p:pic>
          <p:nvPicPr>
            <p:cNvPr id="68" name="그림 67">
              <a:extLst>
                <a:ext uri="{FF2B5EF4-FFF2-40B4-BE49-F238E27FC236}">
                  <a16:creationId xmlns:a16="http://schemas.microsoft.com/office/drawing/2014/main" id="{04CF7381-F822-4BF4-B543-EFEA00F3E2C4}"/>
                </a:ext>
              </a:extLst>
            </p:cNvPr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>
              <a:off x="818259" y="1813181"/>
              <a:ext cx="428625" cy="2962275"/>
            </a:xfrm>
            <a:prstGeom prst="rect">
              <a:avLst/>
            </a:prstGeom>
          </p:spPr>
        </p:pic>
        <p:pic>
          <p:nvPicPr>
            <p:cNvPr id="69" name="그림 68">
              <a:extLst>
                <a:ext uri="{FF2B5EF4-FFF2-40B4-BE49-F238E27FC236}">
                  <a16:creationId xmlns:a16="http://schemas.microsoft.com/office/drawing/2014/main" id="{B154DC95-3492-47C8-A210-01C64CD4B622}"/>
                </a:ext>
              </a:extLst>
            </p:cNvPr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>
              <a:off x="2323225" y="1813181"/>
              <a:ext cx="428625" cy="2962275"/>
            </a:xfrm>
            <a:prstGeom prst="rect">
              <a:avLst/>
            </a:prstGeom>
          </p:spPr>
        </p:pic>
        <p:pic>
          <p:nvPicPr>
            <p:cNvPr id="70" name="그림 69">
              <a:extLst>
                <a:ext uri="{FF2B5EF4-FFF2-40B4-BE49-F238E27FC236}">
                  <a16:creationId xmlns:a16="http://schemas.microsoft.com/office/drawing/2014/main" id="{19D446EC-8629-446D-A5ED-BDCBE2BDBFC1}"/>
                </a:ext>
              </a:extLst>
            </p:cNvPr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>
              <a:off x="1192332" y="1813181"/>
              <a:ext cx="428625" cy="2962275"/>
            </a:xfrm>
            <a:prstGeom prst="rect">
              <a:avLst/>
            </a:prstGeom>
          </p:spPr>
        </p:pic>
        <p:pic>
          <p:nvPicPr>
            <p:cNvPr id="71" name="그림 70">
              <a:extLst>
                <a:ext uri="{FF2B5EF4-FFF2-40B4-BE49-F238E27FC236}">
                  <a16:creationId xmlns:a16="http://schemas.microsoft.com/office/drawing/2014/main" id="{30C99989-427A-40E2-8685-A32DF9EDC2AE}"/>
                </a:ext>
              </a:extLst>
            </p:cNvPr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>
              <a:off x="1551747" y="1813181"/>
              <a:ext cx="428625" cy="2962275"/>
            </a:xfrm>
            <a:prstGeom prst="rect">
              <a:avLst/>
            </a:prstGeom>
          </p:spPr>
        </p:pic>
        <p:pic>
          <p:nvPicPr>
            <p:cNvPr id="72" name="그림 71">
              <a:extLst>
                <a:ext uri="{FF2B5EF4-FFF2-40B4-BE49-F238E27FC236}">
                  <a16:creationId xmlns:a16="http://schemas.microsoft.com/office/drawing/2014/main" id="{31D7A58B-CB85-4090-B922-29D4FB4930EF}"/>
                </a:ext>
              </a:extLst>
            </p:cNvPr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>
              <a:off x="1933637" y="1813181"/>
              <a:ext cx="428625" cy="2962275"/>
            </a:xfrm>
            <a:prstGeom prst="rect">
              <a:avLst/>
            </a:prstGeom>
          </p:spPr>
        </p:pic>
      </p:grp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4E4A54FC-E7F0-466D-B402-C08BCC983DA0}"/>
              </a:ext>
            </a:extLst>
          </p:cNvPr>
          <p:cNvSpPr/>
          <p:nvPr/>
        </p:nvSpPr>
        <p:spPr>
          <a:xfrm>
            <a:off x="704528" y="4069020"/>
            <a:ext cx="2016223" cy="757555"/>
          </a:xfrm>
          <a:prstGeom prst="rect">
            <a:avLst/>
          </a:prstGeom>
          <a:solidFill>
            <a:srgbClr val="353760"/>
          </a:solidFill>
          <a:ln w="1270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2" name="TextBox 61">
            <a:extLst>
              <a:ext uri="{FF2B5EF4-FFF2-40B4-BE49-F238E27FC236}">
                <a16:creationId xmlns:a16="http://schemas.microsoft.com/office/drawing/2014/main" id="{79F2C7FE-7DBE-48EB-BD12-616CC12CF19B}"/>
              </a:ext>
            </a:extLst>
          </p:cNvPr>
          <p:cNvSpPr txBox="1"/>
          <p:nvPr/>
        </p:nvSpPr>
        <p:spPr>
          <a:xfrm>
            <a:off x="920166" y="4118883"/>
            <a:ext cx="57645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울산</a:t>
            </a:r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id="{3168B930-EEBF-4734-A1AA-146487E5335C}"/>
              </a:ext>
            </a:extLst>
          </p:cNvPr>
          <p:cNvSpPr txBox="1"/>
          <p:nvPr/>
        </p:nvSpPr>
        <p:spPr>
          <a:xfrm>
            <a:off x="1640632" y="4315823"/>
            <a:ext cx="95561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사용량  </a:t>
            </a:r>
            <a:r>
              <a:rPr lang="en-US" altLang="ko-KR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10MWh</a:t>
            </a:r>
          </a:p>
          <a:p>
            <a:r>
              <a:rPr lang="ko-KR" altLang="en-US" sz="800" b="1" dirty="0" err="1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충전량</a:t>
            </a:r>
            <a:r>
              <a:rPr lang="ko-KR" altLang="en-US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 </a:t>
            </a:r>
            <a:r>
              <a:rPr lang="en-US" altLang="ko-KR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10MWh</a:t>
            </a:r>
          </a:p>
          <a:p>
            <a:r>
              <a:rPr lang="ko-KR" altLang="en-US" sz="800" b="1" dirty="0" err="1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방전량</a:t>
            </a:r>
            <a:r>
              <a:rPr lang="ko-KR" altLang="en-US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 </a:t>
            </a:r>
            <a:r>
              <a:rPr lang="en-US" altLang="ko-KR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10MWh</a:t>
            </a:r>
            <a:endParaRPr lang="ko-KR" altLang="en-US" sz="8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6" name="TextBox 65">
            <a:extLst>
              <a:ext uri="{FF2B5EF4-FFF2-40B4-BE49-F238E27FC236}">
                <a16:creationId xmlns:a16="http://schemas.microsoft.com/office/drawing/2014/main" id="{BA61D3A6-C046-4CC9-9EF6-003EE8310A1A}"/>
              </a:ext>
            </a:extLst>
          </p:cNvPr>
          <p:cNvSpPr txBox="1"/>
          <p:nvPr/>
        </p:nvSpPr>
        <p:spPr>
          <a:xfrm>
            <a:off x="879076" y="4365104"/>
            <a:ext cx="76155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9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비상  </a:t>
            </a:r>
            <a:r>
              <a:rPr lang="en-US" altLang="ko-KR" sz="9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0</a:t>
            </a:r>
          </a:p>
          <a:p>
            <a:r>
              <a:rPr lang="ko-KR" altLang="en-US" sz="900" b="1" dirty="0">
                <a:solidFill>
                  <a:srgbClr val="FFC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주의  </a:t>
            </a:r>
            <a:r>
              <a:rPr lang="en-US" altLang="ko-KR" sz="900" b="1" dirty="0">
                <a:solidFill>
                  <a:srgbClr val="FFC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900" b="1" dirty="0">
              <a:solidFill>
                <a:srgbClr val="FFC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73" name="그림 72">
            <a:extLst>
              <a:ext uri="{FF2B5EF4-FFF2-40B4-BE49-F238E27FC236}">
                <a16:creationId xmlns:a16="http://schemas.microsoft.com/office/drawing/2014/main" id="{058E1A2D-79EE-4D72-9BF6-8EDC815EE701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48544" y="2327604"/>
            <a:ext cx="1747840" cy="1472307"/>
          </a:xfrm>
          <a:prstGeom prst="rect">
            <a:avLst/>
          </a:prstGeom>
        </p:spPr>
      </p:pic>
      <p:sp>
        <p:nvSpPr>
          <p:cNvPr id="5" name="TextBox 4">
            <a:extLst>
              <a:ext uri="{FF2B5EF4-FFF2-40B4-BE49-F238E27FC236}">
                <a16:creationId xmlns:a16="http://schemas.microsoft.com/office/drawing/2014/main" id="{6BF51907-58C7-4B27-813D-1CD31CB72EBB}"/>
              </a:ext>
            </a:extLst>
          </p:cNvPr>
          <p:cNvSpPr txBox="1"/>
          <p:nvPr/>
        </p:nvSpPr>
        <p:spPr>
          <a:xfrm>
            <a:off x="824465" y="1941649"/>
            <a:ext cx="931131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4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서울</a:t>
            </a:r>
          </a:p>
        </p:txBody>
      </p:sp>
      <p:pic>
        <p:nvPicPr>
          <p:cNvPr id="2050" name="Picture 2" descr="rollbackì ëí ì´ë¯¸ì§ ê²ìê²°ê³¼">
            <a:extLst>
              <a:ext uri="{FF2B5EF4-FFF2-40B4-BE49-F238E27FC236}">
                <a16:creationId xmlns:a16="http://schemas.microsoft.com/office/drawing/2014/main" id="{589F0134-2E55-435B-BE93-4033D1B8279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072680" y="2131208"/>
            <a:ext cx="140589" cy="14058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4" name="TextBox 73">
            <a:extLst>
              <a:ext uri="{FF2B5EF4-FFF2-40B4-BE49-F238E27FC236}">
                <a16:creationId xmlns:a16="http://schemas.microsoft.com/office/drawing/2014/main" id="{7A0F8BAE-1462-402F-8AD0-6DFB32F8A018}"/>
              </a:ext>
            </a:extLst>
          </p:cNvPr>
          <p:cNvSpPr txBox="1"/>
          <p:nvPr/>
        </p:nvSpPr>
        <p:spPr>
          <a:xfrm>
            <a:off x="2143507" y="2117370"/>
            <a:ext cx="502323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6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전국지도</a:t>
            </a: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7C980E5A-83F8-4F8A-B05A-95089D721497}"/>
              </a:ext>
            </a:extLst>
          </p:cNvPr>
          <p:cNvSpPr/>
          <p:nvPr/>
        </p:nvSpPr>
        <p:spPr>
          <a:xfrm>
            <a:off x="5025008" y="5373216"/>
            <a:ext cx="3211367" cy="80021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 eaLnBrk="0" fontAlgn="base" hangingPunct="0">
              <a:spcBef>
                <a:spcPct val="20000"/>
              </a:spcBef>
              <a:spcAft>
                <a:spcPct val="0"/>
              </a:spcAft>
            </a:pPr>
            <a:r>
              <a:rPr kumimoji="1" lang="en-US" altLang="ko-KR" sz="1000" dirty="0">
                <a:solidFill>
                  <a:srgbClr val="0066F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  <a:sym typeface="Gill Sans"/>
              </a:rPr>
              <a:t>* </a:t>
            </a:r>
            <a:r>
              <a:rPr kumimoji="1" lang="ko-KR" altLang="en-US" sz="1000" dirty="0">
                <a:solidFill>
                  <a:srgbClr val="0066F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  <a:sym typeface="Gill Sans"/>
              </a:rPr>
              <a:t>사용량</a:t>
            </a:r>
            <a:r>
              <a:rPr kumimoji="1" lang="en-US" altLang="ko-KR" sz="1000" dirty="0">
                <a:solidFill>
                  <a:srgbClr val="0066F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  <a:sym typeface="Gill Sans"/>
              </a:rPr>
              <a:t>, </a:t>
            </a:r>
            <a:r>
              <a:rPr kumimoji="1" lang="ko-KR" altLang="en-US" sz="1000" dirty="0">
                <a:solidFill>
                  <a:srgbClr val="0066F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  <a:sym typeface="Gill Sans"/>
              </a:rPr>
              <a:t>충</a:t>
            </a:r>
            <a:r>
              <a:rPr kumimoji="1" lang="en-US" altLang="ko-KR" sz="1000" dirty="0">
                <a:solidFill>
                  <a:srgbClr val="0066F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  <a:sym typeface="Gill Sans"/>
              </a:rPr>
              <a:t>/</a:t>
            </a:r>
            <a:r>
              <a:rPr kumimoji="1" lang="ko-KR" altLang="en-US" sz="1000" dirty="0" err="1">
                <a:solidFill>
                  <a:srgbClr val="0066F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  <a:sym typeface="Gill Sans"/>
              </a:rPr>
              <a:t>방전량의</a:t>
            </a:r>
            <a:r>
              <a:rPr kumimoji="1" lang="ko-KR" altLang="en-US" sz="1000" dirty="0">
                <a:solidFill>
                  <a:srgbClr val="0066F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  <a:sym typeface="Gill Sans"/>
              </a:rPr>
              <a:t> 단위는 다음 기준으로 표시</a:t>
            </a:r>
            <a:endParaRPr kumimoji="1" lang="en-US" altLang="ko-KR" sz="1000" dirty="0">
              <a:solidFill>
                <a:srgbClr val="0066FF"/>
              </a:solidFill>
              <a:latin typeface="맑은 고딕" panose="020B0503020000020004" pitchFamily="50" charset="-127"/>
              <a:ea typeface="맑은 고딕" panose="020B0503020000020004" pitchFamily="50" charset="-127"/>
              <a:cs typeface="Arial" pitchFamily="34" charset="0"/>
              <a:sym typeface="Gill Sans"/>
            </a:endParaRPr>
          </a:p>
          <a:p>
            <a:pPr lvl="0" eaLnBrk="0" fontAlgn="base" hangingPunct="0">
              <a:spcBef>
                <a:spcPct val="20000"/>
              </a:spcBef>
              <a:spcAft>
                <a:spcPct val="0"/>
              </a:spcAft>
            </a:pPr>
            <a:r>
              <a:rPr kumimoji="1" lang="en-US" altLang="ko-KR" sz="1000" dirty="0">
                <a:solidFill>
                  <a:srgbClr val="0066F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  <a:sym typeface="Gill Sans"/>
              </a:rPr>
              <a:t> - </a:t>
            </a:r>
            <a:r>
              <a:rPr kumimoji="1" lang="ko-KR" altLang="en-US" sz="1000" dirty="0">
                <a:solidFill>
                  <a:srgbClr val="0066F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  <a:sym typeface="Gill Sans"/>
              </a:rPr>
              <a:t>와트 기준 </a:t>
            </a:r>
            <a:r>
              <a:rPr kumimoji="1" lang="en-US" altLang="ko-KR" sz="1000" dirty="0">
                <a:solidFill>
                  <a:srgbClr val="0066F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  <a:sym typeface="Gill Sans"/>
              </a:rPr>
              <a:t>9</a:t>
            </a:r>
            <a:r>
              <a:rPr kumimoji="1" lang="ko-KR" altLang="en-US" sz="1000" dirty="0">
                <a:solidFill>
                  <a:srgbClr val="0066F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  <a:sym typeface="Gill Sans"/>
              </a:rPr>
              <a:t>자리 이상이면 </a:t>
            </a:r>
            <a:r>
              <a:rPr kumimoji="1" lang="en-US" altLang="ko-KR" sz="1000" dirty="0">
                <a:solidFill>
                  <a:srgbClr val="0066F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  <a:sym typeface="Gill Sans"/>
              </a:rPr>
              <a:t>MWh</a:t>
            </a:r>
            <a:r>
              <a:rPr kumimoji="1" lang="ko-KR" altLang="en-US" sz="1000" dirty="0">
                <a:solidFill>
                  <a:srgbClr val="0066F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  <a:sym typeface="Gill Sans"/>
              </a:rPr>
              <a:t>로 표시</a:t>
            </a:r>
            <a:endParaRPr kumimoji="1" lang="en-US" altLang="ko-KR" sz="1000" dirty="0">
              <a:solidFill>
                <a:srgbClr val="0066FF"/>
              </a:solidFill>
              <a:latin typeface="맑은 고딕" panose="020B0503020000020004" pitchFamily="50" charset="-127"/>
              <a:ea typeface="맑은 고딕" panose="020B0503020000020004" pitchFamily="50" charset="-127"/>
              <a:cs typeface="Arial" pitchFamily="34" charset="0"/>
              <a:sym typeface="Gill Sans"/>
            </a:endParaRPr>
          </a:p>
          <a:p>
            <a:pPr lvl="0" eaLnBrk="0" fontAlgn="base" hangingPunct="0">
              <a:spcBef>
                <a:spcPct val="20000"/>
              </a:spcBef>
              <a:spcAft>
                <a:spcPct val="0"/>
              </a:spcAft>
            </a:pPr>
            <a:r>
              <a:rPr kumimoji="1" lang="en-US" altLang="ko-KR" sz="1000" dirty="0">
                <a:solidFill>
                  <a:srgbClr val="0066F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  <a:sym typeface="Gill Sans"/>
              </a:rPr>
              <a:t> - </a:t>
            </a:r>
            <a:r>
              <a:rPr kumimoji="1" lang="ko-KR" altLang="en-US" sz="1000" dirty="0">
                <a:solidFill>
                  <a:srgbClr val="0066F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  <a:sym typeface="Gill Sans"/>
              </a:rPr>
              <a:t>와트 기준 </a:t>
            </a:r>
            <a:r>
              <a:rPr kumimoji="1" lang="en-US" altLang="ko-KR" sz="1000" dirty="0">
                <a:solidFill>
                  <a:srgbClr val="0066F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  <a:sym typeface="Gill Sans"/>
              </a:rPr>
              <a:t>6</a:t>
            </a:r>
            <a:r>
              <a:rPr kumimoji="1" lang="ko-KR" altLang="en-US" sz="1000" dirty="0">
                <a:solidFill>
                  <a:srgbClr val="0066F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  <a:sym typeface="Gill Sans"/>
              </a:rPr>
              <a:t>자리 이상이면 </a:t>
            </a:r>
            <a:r>
              <a:rPr kumimoji="1" lang="en-US" altLang="ko-KR" sz="1000" dirty="0">
                <a:solidFill>
                  <a:srgbClr val="0066F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  <a:sym typeface="Gill Sans"/>
              </a:rPr>
              <a:t>kWh</a:t>
            </a:r>
            <a:r>
              <a:rPr kumimoji="1" lang="ko-KR" altLang="en-US" sz="1000" dirty="0">
                <a:solidFill>
                  <a:srgbClr val="0066F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  <a:sym typeface="Gill Sans"/>
              </a:rPr>
              <a:t>로 표시</a:t>
            </a:r>
            <a:endParaRPr kumimoji="1" lang="en-US" altLang="ko-KR" sz="1000" dirty="0">
              <a:solidFill>
                <a:srgbClr val="0066FF"/>
              </a:solidFill>
              <a:latin typeface="맑은 고딕" panose="020B0503020000020004" pitchFamily="50" charset="-127"/>
              <a:ea typeface="맑은 고딕" panose="020B0503020000020004" pitchFamily="50" charset="-127"/>
              <a:cs typeface="Arial" pitchFamily="34" charset="0"/>
              <a:sym typeface="Gill Sans"/>
            </a:endParaRPr>
          </a:p>
          <a:p>
            <a:pPr lvl="0" eaLnBrk="0" fontAlgn="base" hangingPunct="0">
              <a:spcBef>
                <a:spcPct val="20000"/>
              </a:spcBef>
              <a:spcAft>
                <a:spcPct val="0"/>
              </a:spcAft>
            </a:pPr>
            <a:r>
              <a:rPr kumimoji="1" lang="en-US" altLang="ko-KR" sz="1000" dirty="0">
                <a:solidFill>
                  <a:srgbClr val="0066F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  <a:sym typeface="Gill Sans"/>
              </a:rPr>
              <a:t> - </a:t>
            </a:r>
            <a:r>
              <a:rPr kumimoji="1" lang="ko-KR" altLang="en-US" sz="1000" dirty="0">
                <a:solidFill>
                  <a:srgbClr val="0066F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  <a:sym typeface="Gill Sans"/>
              </a:rPr>
              <a:t>그 이하는 </a:t>
            </a:r>
            <a:r>
              <a:rPr kumimoji="1" lang="en-US" altLang="ko-KR" sz="1000" dirty="0" err="1">
                <a:solidFill>
                  <a:srgbClr val="0066F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  <a:sym typeface="Gill Sans"/>
              </a:rPr>
              <a:t>Wh</a:t>
            </a:r>
            <a:r>
              <a:rPr kumimoji="1" lang="ko-KR" altLang="en-US" sz="1000" dirty="0">
                <a:solidFill>
                  <a:srgbClr val="0066F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  <a:sym typeface="Gill Sans"/>
              </a:rPr>
              <a:t>로 표시</a:t>
            </a:r>
            <a:endParaRPr lang="ko-KR" altLang="en-US" sz="1000" dirty="0"/>
          </a:p>
        </p:txBody>
      </p:sp>
      <p:sp>
        <p:nvSpPr>
          <p:cNvPr id="75" name="타원형 설명선 205">
            <a:extLst>
              <a:ext uri="{FF2B5EF4-FFF2-40B4-BE49-F238E27FC236}">
                <a16:creationId xmlns:a16="http://schemas.microsoft.com/office/drawing/2014/main" id="{3C584807-9CCB-4E3C-BF42-046A0900F0BE}"/>
              </a:ext>
            </a:extLst>
          </p:cNvPr>
          <p:cNvSpPr/>
          <p:nvPr/>
        </p:nvSpPr>
        <p:spPr>
          <a:xfrm>
            <a:off x="326046" y="1820745"/>
            <a:ext cx="226515" cy="216000"/>
          </a:xfrm>
          <a:prstGeom prst="wedgeEllipseCallout">
            <a:avLst>
              <a:gd name="adj1" fmla="val 74230"/>
              <a:gd name="adj2" fmla="val 21822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/>
              <a:t>11</a:t>
            </a:r>
            <a:endParaRPr lang="ko-KR" altLang="en-US" sz="900" b="1" dirty="0"/>
          </a:p>
        </p:txBody>
      </p:sp>
      <p:sp>
        <p:nvSpPr>
          <p:cNvPr id="76" name="직사각형 75">
            <a:extLst>
              <a:ext uri="{FF2B5EF4-FFF2-40B4-BE49-F238E27FC236}">
                <a16:creationId xmlns:a16="http://schemas.microsoft.com/office/drawing/2014/main" id="{29BBC116-BF75-4564-AD8B-E9B3EB88E76E}"/>
              </a:ext>
            </a:extLst>
          </p:cNvPr>
          <p:cNvSpPr/>
          <p:nvPr/>
        </p:nvSpPr>
        <p:spPr>
          <a:xfrm>
            <a:off x="640725" y="1869239"/>
            <a:ext cx="2147576" cy="3003202"/>
          </a:xfrm>
          <a:prstGeom prst="rect">
            <a:avLst/>
          </a:prstGeom>
          <a:noFill/>
          <a:ln w="127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8" name="그룹 7">
            <a:extLst>
              <a:ext uri="{FF2B5EF4-FFF2-40B4-BE49-F238E27FC236}">
                <a16:creationId xmlns:a16="http://schemas.microsoft.com/office/drawing/2014/main" id="{91777993-9C41-4C3F-A042-4D076BBC1F0E}"/>
              </a:ext>
            </a:extLst>
          </p:cNvPr>
          <p:cNvGrpSpPr/>
          <p:nvPr/>
        </p:nvGrpSpPr>
        <p:grpSpPr>
          <a:xfrm>
            <a:off x="1640633" y="1031031"/>
            <a:ext cx="3630860" cy="309737"/>
            <a:chOff x="1640633" y="1031031"/>
            <a:chExt cx="3630860" cy="309737"/>
          </a:xfrm>
        </p:grpSpPr>
        <p:pic>
          <p:nvPicPr>
            <p:cNvPr id="77" name="그림 76">
              <a:extLst>
                <a:ext uri="{FF2B5EF4-FFF2-40B4-BE49-F238E27FC236}">
                  <a16:creationId xmlns:a16="http://schemas.microsoft.com/office/drawing/2014/main" id="{4C27A8A0-3D8C-43A6-A85D-C2345D793224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1712528" y="1031031"/>
              <a:ext cx="3456495" cy="309737"/>
            </a:xfrm>
            <a:prstGeom prst="rect">
              <a:avLst/>
            </a:prstGeom>
          </p:spPr>
        </p:pic>
        <p:sp>
          <p:nvSpPr>
            <p:cNvPr id="80" name="TextBox 79">
              <a:extLst>
                <a:ext uri="{FF2B5EF4-FFF2-40B4-BE49-F238E27FC236}">
                  <a16:creationId xmlns:a16="http://schemas.microsoft.com/office/drawing/2014/main" id="{C4378AFA-D581-4F3A-9347-AC1F5A5A2DD4}"/>
                </a:ext>
              </a:extLst>
            </p:cNvPr>
            <p:cNvSpPr txBox="1"/>
            <p:nvPr/>
          </p:nvSpPr>
          <p:spPr>
            <a:xfrm>
              <a:off x="1640633" y="1079049"/>
              <a:ext cx="3630860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현재시간 </a:t>
              </a:r>
              <a:r>
                <a:rPr lang="en-US" altLang="ko-KR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: 2018-07-27 17:10:05   </a:t>
              </a:r>
              <a:r>
                <a:rPr lang="ko-KR" altLang="en-US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데이터 기준 시각 </a:t>
              </a:r>
              <a:r>
                <a:rPr lang="en-US" altLang="ko-KR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: 2018-07-27 17:01:02 </a:t>
              </a:r>
              <a:endParaRPr lang="ko-KR" altLang="en-US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pic>
        <p:nvPicPr>
          <p:cNvPr id="81" name="그림 80">
            <a:extLst>
              <a:ext uri="{FF2B5EF4-FFF2-40B4-BE49-F238E27FC236}">
                <a16:creationId xmlns:a16="http://schemas.microsoft.com/office/drawing/2014/main" id="{1B71EAE5-8A72-4D5A-9F6E-D809584003DA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307383" y="1535121"/>
            <a:ext cx="1015842" cy="16051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97616747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9104309" y="6645875"/>
            <a:ext cx="140029" cy="138499"/>
          </a:xfrm>
        </p:spPr>
        <p:txBody>
          <a:bodyPr/>
          <a:lstStyle/>
          <a:p>
            <a:pPr>
              <a:defRPr/>
            </a:pPr>
            <a:fld id="{9E41B634-5682-4388-99E7-FE44DCFD254B}" type="slidenum">
              <a:rPr lang="ko-KR" altLang="en-US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>
                <a:defRPr/>
              </a:pPr>
              <a:t>11</a:t>
            </a:fld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텍스트 개체 틀 8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 (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대시보드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" name="텍스트 개체 틀 9"/>
          <p:cNvSpPr>
            <a:spLocks noGrp="1"/>
          </p:cNvSpPr>
          <p:nvPr>
            <p:ph type="body" sz="quarter" idx="10"/>
          </p:nvPr>
        </p:nvSpPr>
        <p:spPr>
          <a:xfrm>
            <a:off x="6023595" y="44624"/>
            <a:ext cx="1233661" cy="196974"/>
          </a:xfrm>
        </p:spPr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02" name="Group 15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20509337"/>
              </p:ext>
            </p:extLst>
          </p:nvPr>
        </p:nvGraphicFramePr>
        <p:xfrm>
          <a:off x="8469313" y="276225"/>
          <a:ext cx="1404000" cy="6092544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3002"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Description</a:t>
                      </a: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12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기간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범위 선택 조건에 맞는 총 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Site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의 항목별 순위 표시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1)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사용량 순위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기간 내 각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Site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총 누적사용량 순위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누적사용량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예상사용량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2)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충전량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순위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기간 내 각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Site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의 총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누적충전량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순위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누적충전량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예상충전량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3)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방전량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순위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기간 내 각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Site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의 총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누적방전량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순위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누적방전량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예상방전량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4)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수익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기간내 각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Site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의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총 수익 순위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수익 표시 항목 협의 필요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8249951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13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기간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범위 선택 조건에 맞는 총 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Site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들의 알람 정보 표시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금일 발생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: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Site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전체의 금일 발생된 알람 총 개수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금일 미확인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: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Site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전체의 금일 발생된 알람 중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미확인된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항목의 총 개수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비상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/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주의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 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Site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전체의 총 알람 중 비상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주의 각각의 개수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최근 한달간 비율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최근 한달간 알람을 다음과 같이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 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Wingdings" panose="05000000000000000000" pitchFamily="2" charset="2"/>
                        </a:rPr>
                        <a:t>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총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알람개수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 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Wingdings" panose="05000000000000000000" pitchFamily="2" charset="2"/>
                        </a:rPr>
                        <a:t>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비상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알람개수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%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 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Wingdings" panose="05000000000000000000" pitchFamily="2" charset="2"/>
                        </a:rPr>
                        <a:t>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주의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알람개수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%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3538777"/>
                  </a:ext>
                </a:extLst>
              </a:tr>
            </a:tbl>
          </a:graphicData>
        </a:graphic>
      </p:graphicFrame>
      <p:sp>
        <p:nvSpPr>
          <p:cNvPr id="78" name="TextBox 77"/>
          <p:cNvSpPr txBox="1"/>
          <p:nvPr/>
        </p:nvSpPr>
        <p:spPr>
          <a:xfrm>
            <a:off x="7121707" y="21349"/>
            <a:ext cx="567597" cy="2308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화면</a:t>
            </a:r>
            <a:r>
              <a:rPr lang="en-US" altLang="ko-KR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ID</a:t>
            </a:r>
            <a:endParaRPr lang="ko-KR" altLang="en-US" sz="9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7689304" y="43659"/>
            <a:ext cx="792088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itchFamily="50" charset="-127"/>
                <a:ea typeface="맑은 고딕" pitchFamily="50" charset="-127"/>
              </a:rPr>
              <a:t>ewpsp_scr_007</a:t>
            </a:r>
            <a:endParaRPr lang="ko-KR" altLang="en-US" sz="700" dirty="0">
              <a:latin typeface="맑은 고딕" pitchFamily="50" charset="-127"/>
              <a:ea typeface="맑은 고딕" pitchFamily="50" charset="-127"/>
            </a:endParaRPr>
          </a:p>
        </p:txBody>
      </p:sp>
      <p:grpSp>
        <p:nvGrpSpPr>
          <p:cNvPr id="12" name="그룹 11">
            <a:extLst>
              <a:ext uri="{FF2B5EF4-FFF2-40B4-BE49-F238E27FC236}">
                <a16:creationId xmlns:a16="http://schemas.microsoft.com/office/drawing/2014/main" id="{C1AF3AF8-8C1D-4516-98E1-E8822A7583F5}"/>
              </a:ext>
            </a:extLst>
          </p:cNvPr>
          <p:cNvGrpSpPr/>
          <p:nvPr/>
        </p:nvGrpSpPr>
        <p:grpSpPr>
          <a:xfrm>
            <a:off x="272480" y="1011923"/>
            <a:ext cx="7920992" cy="4296969"/>
            <a:chOff x="272480" y="500183"/>
            <a:chExt cx="7920992" cy="4296969"/>
          </a:xfrm>
        </p:grpSpPr>
        <p:pic>
          <p:nvPicPr>
            <p:cNvPr id="36" name="Picture 2">
              <a:extLst>
                <a:ext uri="{FF2B5EF4-FFF2-40B4-BE49-F238E27FC236}">
                  <a16:creationId xmlns:a16="http://schemas.microsoft.com/office/drawing/2014/main" id="{A36E8EBB-5423-48B8-B4ED-8CD2AAAA871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2480" y="500183"/>
              <a:ext cx="7920992" cy="4296969"/>
            </a:xfrm>
            <a:prstGeom prst="rect">
              <a:avLst/>
            </a:prstGeom>
            <a:noFill/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2" name="그룹 1">
              <a:extLst>
                <a:ext uri="{FF2B5EF4-FFF2-40B4-BE49-F238E27FC236}">
                  <a16:creationId xmlns:a16="http://schemas.microsoft.com/office/drawing/2014/main" id="{A2AA3629-CCC1-4473-91B0-BE2B778E93F5}"/>
                </a:ext>
              </a:extLst>
            </p:cNvPr>
            <p:cNvGrpSpPr/>
            <p:nvPr/>
          </p:nvGrpSpPr>
          <p:grpSpPr>
            <a:xfrm>
              <a:off x="4877436" y="1389766"/>
              <a:ext cx="458838" cy="2484435"/>
              <a:chOff x="4877436" y="1389766"/>
              <a:chExt cx="458838" cy="2484435"/>
            </a:xfrm>
          </p:grpSpPr>
          <p:sp>
            <p:nvSpPr>
              <p:cNvPr id="38" name="직사각형 37">
                <a:extLst>
                  <a:ext uri="{FF2B5EF4-FFF2-40B4-BE49-F238E27FC236}">
                    <a16:creationId xmlns:a16="http://schemas.microsoft.com/office/drawing/2014/main" id="{CB70427A-064D-4603-A9D3-D9A3BE7E4F3D}"/>
                  </a:ext>
                </a:extLst>
              </p:cNvPr>
              <p:cNvSpPr/>
              <p:nvPr/>
            </p:nvSpPr>
            <p:spPr>
              <a:xfrm>
                <a:off x="4877436" y="1389902"/>
                <a:ext cx="412550" cy="225091"/>
              </a:xfrm>
              <a:prstGeom prst="rect">
                <a:avLst/>
              </a:prstGeom>
              <a:solidFill>
                <a:srgbClr val="24254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600"/>
              </a:p>
            </p:txBody>
          </p:sp>
          <p:pic>
            <p:nvPicPr>
              <p:cNvPr id="39" name="Picture 4" descr="ìíì ëí ì´ë¯¸ì§ ê²ìê²°ê³¼">
                <a:extLst>
                  <a:ext uri="{FF2B5EF4-FFF2-40B4-BE49-F238E27FC236}">
                    <a16:creationId xmlns:a16="http://schemas.microsoft.com/office/drawing/2014/main" id="{D340CB54-3716-4BCF-8DAE-32FB036B0C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888943" y="1405940"/>
                <a:ext cx="144000" cy="144000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073E0106-8F4B-4806-8391-0C88FB0CDD25}"/>
                  </a:ext>
                </a:extLst>
              </p:cNvPr>
              <p:cNvSpPr txBox="1"/>
              <p:nvPr/>
            </p:nvSpPr>
            <p:spPr>
              <a:xfrm>
                <a:off x="4976234" y="1389766"/>
                <a:ext cx="360040" cy="1692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ko-KR" altLang="en-US" sz="500" dirty="0">
                    <a:solidFill>
                      <a:schemeClr val="bg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수익</a:t>
                </a:r>
              </a:p>
            </p:txBody>
          </p:sp>
          <p:sp>
            <p:nvSpPr>
              <p:cNvPr id="41" name="직사각형 40">
                <a:extLst>
                  <a:ext uri="{FF2B5EF4-FFF2-40B4-BE49-F238E27FC236}">
                    <a16:creationId xmlns:a16="http://schemas.microsoft.com/office/drawing/2014/main" id="{4A3AA5AA-F5F5-4ABA-A3F7-5C757F48E618}"/>
                  </a:ext>
                </a:extLst>
              </p:cNvPr>
              <p:cNvSpPr/>
              <p:nvPr/>
            </p:nvSpPr>
            <p:spPr>
              <a:xfrm>
                <a:off x="4975476" y="2989001"/>
                <a:ext cx="279418" cy="216024"/>
              </a:xfrm>
              <a:prstGeom prst="rect">
                <a:avLst/>
              </a:prstGeom>
              <a:solidFill>
                <a:srgbClr val="46476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600"/>
              </a:p>
            </p:txBody>
          </p:sp>
          <p:sp>
            <p:nvSpPr>
              <p:cNvPr id="42" name="직사각형 41">
                <a:extLst>
                  <a:ext uri="{FF2B5EF4-FFF2-40B4-BE49-F238E27FC236}">
                    <a16:creationId xmlns:a16="http://schemas.microsoft.com/office/drawing/2014/main" id="{1A420276-4270-46CF-9510-E8E111EF693D}"/>
                  </a:ext>
                </a:extLst>
              </p:cNvPr>
              <p:cNvSpPr/>
              <p:nvPr/>
            </p:nvSpPr>
            <p:spPr>
              <a:xfrm>
                <a:off x="4961420" y="1755598"/>
                <a:ext cx="279418" cy="216024"/>
              </a:xfrm>
              <a:prstGeom prst="rect">
                <a:avLst/>
              </a:prstGeom>
              <a:solidFill>
                <a:srgbClr val="3D3E5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600"/>
              </a:p>
            </p:txBody>
          </p:sp>
          <p:sp>
            <p:nvSpPr>
              <p:cNvPr id="44" name="직사각형 43">
                <a:extLst>
                  <a:ext uri="{FF2B5EF4-FFF2-40B4-BE49-F238E27FC236}">
                    <a16:creationId xmlns:a16="http://schemas.microsoft.com/office/drawing/2014/main" id="{BEA64215-2A7C-49CA-BF5C-24C601084FA4}"/>
                  </a:ext>
                </a:extLst>
              </p:cNvPr>
              <p:cNvSpPr/>
              <p:nvPr/>
            </p:nvSpPr>
            <p:spPr>
              <a:xfrm>
                <a:off x="4953000" y="2364782"/>
                <a:ext cx="279418" cy="216024"/>
              </a:xfrm>
              <a:prstGeom prst="rect">
                <a:avLst/>
              </a:prstGeom>
              <a:solidFill>
                <a:srgbClr val="42416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600"/>
              </a:p>
            </p:txBody>
          </p:sp>
          <p:sp>
            <p:nvSpPr>
              <p:cNvPr id="46" name="직사각형 45">
                <a:extLst>
                  <a:ext uri="{FF2B5EF4-FFF2-40B4-BE49-F238E27FC236}">
                    <a16:creationId xmlns:a16="http://schemas.microsoft.com/office/drawing/2014/main" id="{6C8DD17E-E432-405E-B65A-97555DD96EFE}"/>
                  </a:ext>
                </a:extLst>
              </p:cNvPr>
              <p:cNvSpPr/>
              <p:nvPr/>
            </p:nvSpPr>
            <p:spPr>
              <a:xfrm>
                <a:off x="4889606" y="3658177"/>
                <a:ext cx="279418" cy="216024"/>
              </a:xfrm>
              <a:prstGeom prst="rect">
                <a:avLst/>
              </a:prstGeom>
              <a:solidFill>
                <a:srgbClr val="4A4A6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600"/>
              </a:p>
            </p:txBody>
          </p:sp>
          <p:sp>
            <p:nvSpPr>
              <p:cNvPr id="47" name="직사각형 46">
                <a:extLst>
                  <a:ext uri="{FF2B5EF4-FFF2-40B4-BE49-F238E27FC236}">
                    <a16:creationId xmlns:a16="http://schemas.microsoft.com/office/drawing/2014/main" id="{39DAC7FA-66DB-469A-8F66-FB805DC3394E}"/>
                  </a:ext>
                </a:extLst>
              </p:cNvPr>
              <p:cNvSpPr/>
              <p:nvPr/>
            </p:nvSpPr>
            <p:spPr>
              <a:xfrm>
                <a:off x="5001603" y="2037110"/>
                <a:ext cx="279418" cy="216024"/>
              </a:xfrm>
              <a:prstGeom prst="rect">
                <a:avLst/>
              </a:prstGeom>
              <a:solidFill>
                <a:srgbClr val="2A2A4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600"/>
              </a:p>
            </p:txBody>
          </p:sp>
          <p:sp>
            <p:nvSpPr>
              <p:cNvPr id="48" name="직사각형 47">
                <a:extLst>
                  <a:ext uri="{FF2B5EF4-FFF2-40B4-BE49-F238E27FC236}">
                    <a16:creationId xmlns:a16="http://schemas.microsoft.com/office/drawing/2014/main" id="{0E202544-409B-4736-84CF-B23EDED52B59}"/>
                  </a:ext>
                </a:extLst>
              </p:cNvPr>
              <p:cNvSpPr/>
              <p:nvPr/>
            </p:nvSpPr>
            <p:spPr>
              <a:xfrm>
                <a:off x="5033622" y="2652814"/>
                <a:ext cx="279418" cy="216024"/>
              </a:xfrm>
              <a:prstGeom prst="rect">
                <a:avLst/>
              </a:prstGeom>
              <a:solidFill>
                <a:srgbClr val="2F2F5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600"/>
              </a:p>
            </p:txBody>
          </p:sp>
          <p:sp>
            <p:nvSpPr>
              <p:cNvPr id="49" name="직사각형 48">
                <a:extLst>
                  <a:ext uri="{FF2B5EF4-FFF2-40B4-BE49-F238E27FC236}">
                    <a16:creationId xmlns:a16="http://schemas.microsoft.com/office/drawing/2014/main" id="{32BD0D8D-54AC-4520-9831-BD239D7500A9}"/>
                  </a:ext>
                </a:extLst>
              </p:cNvPr>
              <p:cNvSpPr/>
              <p:nvPr/>
            </p:nvSpPr>
            <p:spPr>
              <a:xfrm>
                <a:off x="5027986" y="3319366"/>
                <a:ext cx="279418" cy="216024"/>
              </a:xfrm>
              <a:prstGeom prst="rect">
                <a:avLst/>
              </a:prstGeom>
              <a:solidFill>
                <a:srgbClr val="33335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600"/>
              </a:p>
            </p:txBody>
          </p:sp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AD45D3FD-00D5-416C-89A5-E19D9640B170}"/>
                  </a:ext>
                </a:extLst>
              </p:cNvPr>
              <p:cNvSpPr txBox="1"/>
              <p:nvPr/>
            </p:nvSpPr>
            <p:spPr>
              <a:xfrm>
                <a:off x="4880992" y="2368658"/>
                <a:ext cx="402474" cy="1692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500" dirty="0">
                    <a:solidFill>
                      <a:schemeClr val="bg1"/>
                    </a:solidFill>
                  </a:rPr>
                  <a:t>200</a:t>
                </a:r>
                <a:endParaRPr lang="ko-KR" altLang="en-US" sz="500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52" name="TextBox 51">
                <a:extLst>
                  <a:ext uri="{FF2B5EF4-FFF2-40B4-BE49-F238E27FC236}">
                    <a16:creationId xmlns:a16="http://schemas.microsoft.com/office/drawing/2014/main" id="{365EF6AB-CFF1-415E-ADE8-5E11748F372C}"/>
                  </a:ext>
                </a:extLst>
              </p:cNvPr>
              <p:cNvSpPr txBox="1"/>
              <p:nvPr/>
            </p:nvSpPr>
            <p:spPr>
              <a:xfrm>
                <a:off x="4882062" y="1736719"/>
                <a:ext cx="402474" cy="1692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500" dirty="0">
                    <a:solidFill>
                      <a:schemeClr val="bg1"/>
                    </a:solidFill>
                  </a:rPr>
                  <a:t>200</a:t>
                </a:r>
                <a:endParaRPr lang="ko-KR" altLang="en-US" sz="500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59DDFDF3-517B-4ED5-8711-46DF9AAB27F2}"/>
                  </a:ext>
                </a:extLst>
              </p:cNvPr>
              <p:cNvSpPr txBox="1"/>
              <p:nvPr/>
            </p:nvSpPr>
            <p:spPr>
              <a:xfrm>
                <a:off x="4882062" y="3005483"/>
                <a:ext cx="402474" cy="1692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500" dirty="0">
                    <a:solidFill>
                      <a:schemeClr val="bg1"/>
                    </a:solidFill>
                  </a:rPr>
                  <a:t>200</a:t>
                </a:r>
                <a:endParaRPr lang="ko-KR" altLang="en-US" sz="500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55" name="TextBox 54">
                <a:extLst>
                  <a:ext uri="{FF2B5EF4-FFF2-40B4-BE49-F238E27FC236}">
                    <a16:creationId xmlns:a16="http://schemas.microsoft.com/office/drawing/2014/main" id="{940D7EBA-542C-4A57-B43A-EC5F4636CC97}"/>
                  </a:ext>
                </a:extLst>
              </p:cNvPr>
              <p:cNvSpPr txBox="1"/>
              <p:nvPr/>
            </p:nvSpPr>
            <p:spPr>
              <a:xfrm>
                <a:off x="4880992" y="3644575"/>
                <a:ext cx="402474" cy="1692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500" dirty="0">
                    <a:solidFill>
                      <a:schemeClr val="bg1"/>
                    </a:solidFill>
                  </a:rPr>
                  <a:t>200</a:t>
                </a:r>
                <a:endParaRPr lang="ko-KR" altLang="en-US" sz="500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56" name="TextBox 55">
                <a:extLst>
                  <a:ext uri="{FF2B5EF4-FFF2-40B4-BE49-F238E27FC236}">
                    <a16:creationId xmlns:a16="http://schemas.microsoft.com/office/drawing/2014/main" id="{F578119F-598C-4187-A445-34EFBC8184F9}"/>
                  </a:ext>
                </a:extLst>
              </p:cNvPr>
              <p:cNvSpPr txBox="1"/>
              <p:nvPr/>
            </p:nvSpPr>
            <p:spPr>
              <a:xfrm>
                <a:off x="4882062" y="2049688"/>
                <a:ext cx="402474" cy="1692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500" dirty="0">
                    <a:solidFill>
                      <a:schemeClr val="bg1"/>
                    </a:solidFill>
                  </a:rPr>
                  <a:t>200</a:t>
                </a:r>
                <a:endParaRPr lang="ko-KR" altLang="en-US" sz="500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E8C51EF9-EF5E-4045-A0F7-3332C5E622B8}"/>
                  </a:ext>
                </a:extLst>
              </p:cNvPr>
              <p:cNvSpPr txBox="1"/>
              <p:nvPr/>
            </p:nvSpPr>
            <p:spPr>
              <a:xfrm>
                <a:off x="4887698" y="2689275"/>
                <a:ext cx="402474" cy="1692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500" dirty="0">
                    <a:solidFill>
                      <a:schemeClr val="bg1"/>
                    </a:solidFill>
                  </a:rPr>
                  <a:t>200</a:t>
                </a:r>
                <a:endParaRPr lang="ko-KR" altLang="en-US" sz="500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10126C8B-B290-4BA6-8AC5-A13C0259CEF3}"/>
                  </a:ext>
                </a:extLst>
              </p:cNvPr>
              <p:cNvSpPr txBox="1"/>
              <p:nvPr/>
            </p:nvSpPr>
            <p:spPr>
              <a:xfrm>
                <a:off x="4882062" y="3324739"/>
                <a:ext cx="402474" cy="1692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500" dirty="0">
                    <a:solidFill>
                      <a:schemeClr val="bg1"/>
                    </a:solidFill>
                  </a:rPr>
                  <a:t>200</a:t>
                </a:r>
                <a:endParaRPr lang="ko-KR" altLang="en-US" sz="500" dirty="0">
                  <a:solidFill>
                    <a:schemeClr val="bg1"/>
                  </a:solidFill>
                </a:endParaRPr>
              </a:p>
            </p:txBody>
          </p:sp>
        </p:grpSp>
        <p:grpSp>
          <p:nvGrpSpPr>
            <p:cNvPr id="59" name="그룹 58">
              <a:extLst>
                <a:ext uri="{FF2B5EF4-FFF2-40B4-BE49-F238E27FC236}">
                  <a16:creationId xmlns:a16="http://schemas.microsoft.com/office/drawing/2014/main" id="{DE088F12-D2F9-45FC-814D-451ABCB33103}"/>
                </a:ext>
              </a:extLst>
            </p:cNvPr>
            <p:cNvGrpSpPr/>
            <p:nvPr/>
          </p:nvGrpSpPr>
          <p:grpSpPr>
            <a:xfrm>
              <a:off x="7449736" y="944379"/>
              <a:ext cx="479135" cy="228668"/>
              <a:chOff x="8316416" y="1400132"/>
              <a:chExt cx="479135" cy="228668"/>
            </a:xfrm>
          </p:grpSpPr>
          <p:sp>
            <p:nvSpPr>
              <p:cNvPr id="60" name="직사각형 59">
                <a:extLst>
                  <a:ext uri="{FF2B5EF4-FFF2-40B4-BE49-F238E27FC236}">
                    <a16:creationId xmlns:a16="http://schemas.microsoft.com/office/drawing/2014/main" id="{C618DF97-87FE-4291-A3CF-20CC3641736B}"/>
                  </a:ext>
                </a:extLst>
              </p:cNvPr>
              <p:cNvSpPr/>
              <p:nvPr/>
            </p:nvSpPr>
            <p:spPr>
              <a:xfrm>
                <a:off x="8342424" y="1410764"/>
                <a:ext cx="360040" cy="218036"/>
              </a:xfrm>
              <a:prstGeom prst="rect">
                <a:avLst/>
              </a:prstGeom>
              <a:solidFill>
                <a:srgbClr val="3A3A5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pic>
            <p:nvPicPr>
              <p:cNvPr id="61" name="Picture 4" descr="ìíì ëí ì´ë¯¸ì§ ê²ìê²°ê³¼">
                <a:extLst>
                  <a:ext uri="{FF2B5EF4-FFF2-40B4-BE49-F238E27FC236}">
                    <a16:creationId xmlns:a16="http://schemas.microsoft.com/office/drawing/2014/main" id="{5B210003-2083-4317-AD46-9DE623DE92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316416" y="1400132"/>
                <a:ext cx="185936" cy="185936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64" name="TextBox 63">
                <a:extLst>
                  <a:ext uri="{FF2B5EF4-FFF2-40B4-BE49-F238E27FC236}">
                    <a16:creationId xmlns:a16="http://schemas.microsoft.com/office/drawing/2014/main" id="{621C0E80-974F-4F89-9ED2-9DCD224E92B0}"/>
                  </a:ext>
                </a:extLst>
              </p:cNvPr>
              <p:cNvSpPr txBox="1"/>
              <p:nvPr/>
            </p:nvSpPr>
            <p:spPr>
              <a:xfrm>
                <a:off x="8435511" y="1400132"/>
                <a:ext cx="360040" cy="18466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ko-KR" altLang="en-US" sz="600" dirty="0">
                    <a:solidFill>
                      <a:schemeClr val="bg1"/>
                    </a:solidFill>
                  </a:rPr>
                  <a:t>수익</a:t>
                </a:r>
              </a:p>
            </p:txBody>
          </p:sp>
        </p:grpSp>
        <p:pic>
          <p:nvPicPr>
            <p:cNvPr id="65" name="Picture 2" descr="ì¤ì ì ëí ì´ë¯¸ì§ ê²ìê²°ê³¼">
              <a:extLst>
                <a:ext uri="{FF2B5EF4-FFF2-40B4-BE49-F238E27FC236}">
                  <a16:creationId xmlns:a16="http://schemas.microsoft.com/office/drawing/2014/main" id="{D370F3A3-3D6B-4700-81D3-9237DC52512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909390" y="607227"/>
              <a:ext cx="180000" cy="1800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pic>
        <p:nvPicPr>
          <p:cNvPr id="3" name="그림 2">
            <a:extLst>
              <a:ext uri="{FF2B5EF4-FFF2-40B4-BE49-F238E27FC236}">
                <a16:creationId xmlns:a16="http://schemas.microsoft.com/office/drawing/2014/main" id="{AFF35173-D7A7-4298-851A-524832D5FB6B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26758" y="4997274"/>
            <a:ext cx="4460940" cy="309737"/>
          </a:xfrm>
          <a:prstGeom prst="rect">
            <a:avLst/>
          </a:prstGeom>
        </p:spPr>
      </p:pic>
      <p:sp>
        <p:nvSpPr>
          <p:cNvPr id="43" name="타원형 설명선 205">
            <a:extLst>
              <a:ext uri="{FF2B5EF4-FFF2-40B4-BE49-F238E27FC236}">
                <a16:creationId xmlns:a16="http://schemas.microsoft.com/office/drawing/2014/main" id="{7C06766D-8343-41A3-9E93-6B0DDE867FF7}"/>
              </a:ext>
            </a:extLst>
          </p:cNvPr>
          <p:cNvSpPr/>
          <p:nvPr/>
        </p:nvSpPr>
        <p:spPr>
          <a:xfrm>
            <a:off x="5269991" y="1266268"/>
            <a:ext cx="205622" cy="216000"/>
          </a:xfrm>
          <a:prstGeom prst="wedgeEllipseCallout">
            <a:avLst>
              <a:gd name="adj1" fmla="val 74230"/>
              <a:gd name="adj2" fmla="val 21822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/>
              <a:t>12</a:t>
            </a:r>
            <a:endParaRPr lang="ko-KR" altLang="en-US" sz="900" b="1" dirty="0"/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41B82669-7762-4EBB-90A2-B660B6F5B08C}"/>
              </a:ext>
            </a:extLst>
          </p:cNvPr>
          <p:cNvSpPr/>
          <p:nvPr/>
        </p:nvSpPr>
        <p:spPr>
          <a:xfrm>
            <a:off x="5567574" y="1387011"/>
            <a:ext cx="2361297" cy="2298559"/>
          </a:xfrm>
          <a:prstGeom prst="rect">
            <a:avLst/>
          </a:prstGeom>
          <a:noFill/>
          <a:ln w="127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0" name="타원형 설명선 205">
            <a:extLst>
              <a:ext uri="{FF2B5EF4-FFF2-40B4-BE49-F238E27FC236}">
                <a16:creationId xmlns:a16="http://schemas.microsoft.com/office/drawing/2014/main" id="{BC8C097C-FC66-48F7-8307-8A71DEFB3B7B}"/>
              </a:ext>
            </a:extLst>
          </p:cNvPr>
          <p:cNvSpPr/>
          <p:nvPr/>
        </p:nvSpPr>
        <p:spPr>
          <a:xfrm>
            <a:off x="5269991" y="3747978"/>
            <a:ext cx="205622" cy="216000"/>
          </a:xfrm>
          <a:prstGeom prst="wedgeEllipseCallout">
            <a:avLst>
              <a:gd name="adj1" fmla="val 74230"/>
              <a:gd name="adj2" fmla="val 21822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/>
              <a:t>13</a:t>
            </a:r>
            <a:endParaRPr lang="ko-KR" altLang="en-US" sz="900" b="1" dirty="0"/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AD939BA9-5841-436C-8FC7-461B6CE84489}"/>
              </a:ext>
            </a:extLst>
          </p:cNvPr>
          <p:cNvSpPr/>
          <p:nvPr/>
        </p:nvSpPr>
        <p:spPr>
          <a:xfrm>
            <a:off x="5567574" y="3868721"/>
            <a:ext cx="2361297" cy="1000439"/>
          </a:xfrm>
          <a:prstGeom prst="rect">
            <a:avLst/>
          </a:prstGeom>
          <a:noFill/>
          <a:ln w="127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1" name="그룹 20">
            <a:extLst>
              <a:ext uri="{FF2B5EF4-FFF2-40B4-BE49-F238E27FC236}">
                <a16:creationId xmlns:a16="http://schemas.microsoft.com/office/drawing/2014/main" id="{65ECBCE4-88B9-4C2C-A0C7-AC44A5D1E7D4}"/>
              </a:ext>
            </a:extLst>
          </p:cNvPr>
          <p:cNvGrpSpPr/>
          <p:nvPr/>
        </p:nvGrpSpPr>
        <p:grpSpPr>
          <a:xfrm>
            <a:off x="704528" y="1813181"/>
            <a:ext cx="2047322" cy="3013394"/>
            <a:chOff x="704528" y="1813181"/>
            <a:chExt cx="2047322" cy="3013394"/>
          </a:xfrm>
        </p:grpSpPr>
        <p:grpSp>
          <p:nvGrpSpPr>
            <p:cNvPr id="16" name="그룹 15">
              <a:extLst>
                <a:ext uri="{FF2B5EF4-FFF2-40B4-BE49-F238E27FC236}">
                  <a16:creationId xmlns:a16="http://schemas.microsoft.com/office/drawing/2014/main" id="{9C8E25C6-D89B-4D71-81D6-397C2DB04C14}"/>
                </a:ext>
              </a:extLst>
            </p:cNvPr>
            <p:cNvGrpSpPr/>
            <p:nvPr/>
          </p:nvGrpSpPr>
          <p:grpSpPr>
            <a:xfrm>
              <a:off x="818259" y="1813181"/>
              <a:ext cx="1933591" cy="2962275"/>
              <a:chOff x="818259" y="1813181"/>
              <a:chExt cx="1933591" cy="2962275"/>
            </a:xfrm>
          </p:grpSpPr>
          <p:pic>
            <p:nvPicPr>
              <p:cNvPr id="8" name="그림 7">
                <a:extLst>
                  <a:ext uri="{FF2B5EF4-FFF2-40B4-BE49-F238E27FC236}">
                    <a16:creationId xmlns:a16="http://schemas.microsoft.com/office/drawing/2014/main" id="{F1E81026-D4FF-44D0-9CCB-9C9B0899699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818259" y="1813181"/>
                <a:ext cx="428625" cy="2962275"/>
              </a:xfrm>
              <a:prstGeom prst="rect">
                <a:avLst/>
              </a:prstGeom>
            </p:spPr>
          </p:pic>
          <p:pic>
            <p:nvPicPr>
              <p:cNvPr id="11" name="그림 10">
                <a:extLst>
                  <a:ext uri="{FF2B5EF4-FFF2-40B4-BE49-F238E27FC236}">
                    <a16:creationId xmlns:a16="http://schemas.microsoft.com/office/drawing/2014/main" id="{D7DA6732-3F7A-4B45-931A-B542C84C646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2323225" y="1813181"/>
                <a:ext cx="428625" cy="2962275"/>
              </a:xfrm>
              <a:prstGeom prst="rect">
                <a:avLst/>
              </a:prstGeom>
            </p:spPr>
          </p:pic>
          <p:pic>
            <p:nvPicPr>
              <p:cNvPr id="13" name="그림 12">
                <a:extLst>
                  <a:ext uri="{FF2B5EF4-FFF2-40B4-BE49-F238E27FC236}">
                    <a16:creationId xmlns:a16="http://schemas.microsoft.com/office/drawing/2014/main" id="{5545B36C-3833-49A1-97CA-53C10898FA1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1192332" y="1813181"/>
                <a:ext cx="428625" cy="2962275"/>
              </a:xfrm>
              <a:prstGeom prst="rect">
                <a:avLst/>
              </a:prstGeom>
            </p:spPr>
          </p:pic>
          <p:pic>
            <p:nvPicPr>
              <p:cNvPr id="14" name="그림 13">
                <a:extLst>
                  <a:ext uri="{FF2B5EF4-FFF2-40B4-BE49-F238E27FC236}">
                    <a16:creationId xmlns:a16="http://schemas.microsoft.com/office/drawing/2014/main" id="{33EA276A-C6E9-4DCD-96F2-20A68C99D24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1551747" y="1813181"/>
                <a:ext cx="428625" cy="2962275"/>
              </a:xfrm>
              <a:prstGeom prst="rect">
                <a:avLst/>
              </a:prstGeom>
            </p:spPr>
          </p:pic>
          <p:pic>
            <p:nvPicPr>
              <p:cNvPr id="15" name="그림 14">
                <a:extLst>
                  <a:ext uri="{FF2B5EF4-FFF2-40B4-BE49-F238E27FC236}">
                    <a16:creationId xmlns:a16="http://schemas.microsoft.com/office/drawing/2014/main" id="{F22EB53C-A313-44B1-9F18-680CECE1B0D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1933637" y="1813181"/>
                <a:ext cx="428625" cy="2962275"/>
              </a:xfrm>
              <a:prstGeom prst="rect">
                <a:avLst/>
              </a:prstGeom>
            </p:spPr>
          </p:pic>
        </p:grpSp>
        <p:pic>
          <p:nvPicPr>
            <p:cNvPr id="4" name="그림 3">
              <a:extLst>
                <a:ext uri="{FF2B5EF4-FFF2-40B4-BE49-F238E27FC236}">
                  <a16:creationId xmlns:a16="http://schemas.microsoft.com/office/drawing/2014/main" id="{80E2348E-485A-4599-BA60-D55616593A3D}"/>
                </a:ext>
              </a:extLst>
            </p:cNvPr>
            <p:cNvPicPr>
              <a:picLocks noChangeAspect="1"/>
            </p:cNvPicPr>
            <p:nvPr/>
          </p:nvPicPr>
          <p:blipFill>
            <a:blip r:embed="rId8"/>
            <a:stretch>
              <a:fillRect/>
            </a:stretch>
          </p:blipFill>
          <p:spPr>
            <a:xfrm>
              <a:off x="984609" y="1818557"/>
              <a:ext cx="1512168" cy="2223068"/>
            </a:xfrm>
            <a:prstGeom prst="rect">
              <a:avLst/>
            </a:prstGeom>
          </p:spPr>
        </p:pic>
        <p:sp>
          <p:nvSpPr>
            <p:cNvPr id="17" name="직사각형 16">
              <a:extLst>
                <a:ext uri="{FF2B5EF4-FFF2-40B4-BE49-F238E27FC236}">
                  <a16:creationId xmlns:a16="http://schemas.microsoft.com/office/drawing/2014/main" id="{47F54DAD-39AA-4EAB-AF08-5B33031F6C7C}"/>
                </a:ext>
              </a:extLst>
            </p:cNvPr>
            <p:cNvSpPr/>
            <p:nvPr/>
          </p:nvSpPr>
          <p:spPr>
            <a:xfrm>
              <a:off x="704528" y="4069020"/>
              <a:ext cx="2016223" cy="757555"/>
            </a:xfrm>
            <a:prstGeom prst="rect">
              <a:avLst/>
            </a:prstGeom>
            <a:solidFill>
              <a:srgbClr val="353760"/>
            </a:solidFill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A9D6DC17-4081-45E3-A906-5A41980B619F}"/>
                </a:ext>
              </a:extLst>
            </p:cNvPr>
            <p:cNvSpPr txBox="1"/>
            <p:nvPr/>
          </p:nvSpPr>
          <p:spPr>
            <a:xfrm>
              <a:off x="920166" y="4118883"/>
              <a:ext cx="57645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10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울산</a:t>
              </a: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CBAAFFF8-A931-48AA-9F96-ABEE3F7AA879}"/>
                </a:ext>
              </a:extLst>
            </p:cNvPr>
            <p:cNvSpPr txBox="1"/>
            <p:nvPr/>
          </p:nvSpPr>
          <p:spPr>
            <a:xfrm>
              <a:off x="1640632" y="4315823"/>
              <a:ext cx="955618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사용량  </a:t>
              </a:r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10MWh</a:t>
              </a:r>
            </a:p>
            <a:p>
              <a:r>
                <a:rPr lang="ko-KR" altLang="en-US" sz="800" b="1" dirty="0" err="1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충전량</a:t>
              </a:r>
              <a:r>
                <a:rPr lang="ko-KR" altLang="en-US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 </a:t>
              </a:r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10MWh</a:t>
              </a:r>
            </a:p>
            <a:p>
              <a:r>
                <a:rPr lang="ko-KR" altLang="en-US" sz="800" b="1" dirty="0" err="1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방전량</a:t>
              </a:r>
              <a:r>
                <a:rPr lang="ko-KR" altLang="en-US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 </a:t>
              </a:r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10MWh</a:t>
              </a:r>
              <a:endParaRPr lang="ko-KR" altLang="en-US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A3308B23-CDFA-448D-ADC4-64499395012C}"/>
                </a:ext>
              </a:extLst>
            </p:cNvPr>
            <p:cNvSpPr txBox="1"/>
            <p:nvPr/>
          </p:nvSpPr>
          <p:spPr>
            <a:xfrm>
              <a:off x="879076" y="4365104"/>
              <a:ext cx="761556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900" b="1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비상  </a:t>
              </a:r>
              <a:r>
                <a:rPr lang="en-US" altLang="ko-KR" sz="900" b="1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0</a:t>
              </a:r>
            </a:p>
            <a:p>
              <a:r>
                <a:rPr lang="ko-KR" altLang="en-US" sz="900" b="1" dirty="0">
                  <a:solidFill>
                    <a:srgbClr val="FFC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주의  </a:t>
              </a:r>
              <a:r>
                <a:rPr lang="en-US" altLang="ko-KR" sz="900" b="1" dirty="0">
                  <a:solidFill>
                    <a:srgbClr val="FFC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</a:t>
              </a:r>
              <a:endParaRPr lang="ko-KR" altLang="en-US" sz="900" b="1" dirty="0">
                <a:solidFill>
                  <a:srgbClr val="FFC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62" name="그룹 61">
            <a:extLst>
              <a:ext uri="{FF2B5EF4-FFF2-40B4-BE49-F238E27FC236}">
                <a16:creationId xmlns:a16="http://schemas.microsoft.com/office/drawing/2014/main" id="{9EC62DE0-023F-427E-91E4-62FDEDC6389C}"/>
              </a:ext>
            </a:extLst>
          </p:cNvPr>
          <p:cNvGrpSpPr/>
          <p:nvPr/>
        </p:nvGrpSpPr>
        <p:grpSpPr>
          <a:xfrm>
            <a:off x="1640633" y="1031031"/>
            <a:ext cx="3630860" cy="309737"/>
            <a:chOff x="1640633" y="1031031"/>
            <a:chExt cx="3630860" cy="309737"/>
          </a:xfrm>
        </p:grpSpPr>
        <p:pic>
          <p:nvPicPr>
            <p:cNvPr id="63" name="그림 62">
              <a:extLst>
                <a:ext uri="{FF2B5EF4-FFF2-40B4-BE49-F238E27FC236}">
                  <a16:creationId xmlns:a16="http://schemas.microsoft.com/office/drawing/2014/main" id="{9CC26175-4999-44B7-9AF0-B89C499450D1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1712528" y="1031031"/>
              <a:ext cx="3456495" cy="309737"/>
            </a:xfrm>
            <a:prstGeom prst="rect">
              <a:avLst/>
            </a:prstGeom>
          </p:spPr>
        </p:pic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69A1EF1F-B45C-4A1B-964A-89E8F40F6901}"/>
                </a:ext>
              </a:extLst>
            </p:cNvPr>
            <p:cNvSpPr txBox="1"/>
            <p:nvPr/>
          </p:nvSpPr>
          <p:spPr>
            <a:xfrm>
              <a:off x="1640633" y="1079049"/>
              <a:ext cx="3630860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현재시간 </a:t>
              </a:r>
              <a:r>
                <a:rPr lang="en-US" altLang="ko-KR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: 2018-07-27 17:10:05   </a:t>
              </a:r>
              <a:r>
                <a:rPr lang="ko-KR" altLang="en-US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데이터 기준 시각 </a:t>
              </a:r>
              <a:r>
                <a:rPr lang="en-US" altLang="ko-KR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: 2018-07-27 17:01:02 </a:t>
              </a:r>
              <a:endParaRPr lang="ko-KR" altLang="en-US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pic>
        <p:nvPicPr>
          <p:cNvPr id="68" name="그림 67">
            <a:extLst>
              <a:ext uri="{FF2B5EF4-FFF2-40B4-BE49-F238E27FC236}">
                <a16:creationId xmlns:a16="http://schemas.microsoft.com/office/drawing/2014/main" id="{A044D7F7-91EC-4AA1-B926-18E746C75CE4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307383" y="1535121"/>
            <a:ext cx="1015842" cy="16051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31557242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9104309" y="6645875"/>
            <a:ext cx="140029" cy="138499"/>
          </a:xfrm>
        </p:spPr>
        <p:txBody>
          <a:bodyPr/>
          <a:lstStyle/>
          <a:p>
            <a:pPr>
              <a:defRPr/>
            </a:pPr>
            <a:fld id="{9E41B634-5682-4388-99E7-FE44DCFD254B}" type="slidenum">
              <a:rPr lang="ko-KR" altLang="en-US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>
                <a:defRPr/>
              </a:pPr>
              <a:t>12</a:t>
            </a:fld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텍스트 개체 틀 8"/>
          <p:cNvSpPr>
            <a:spLocks noGrp="1"/>
          </p:cNvSpPr>
          <p:nvPr>
            <p:ph type="body" sz="quarter" idx="11"/>
          </p:nvPr>
        </p:nvSpPr>
        <p:spPr>
          <a:xfrm>
            <a:off x="606245" y="63674"/>
            <a:ext cx="4824000" cy="138499"/>
          </a:xfrm>
        </p:spPr>
        <p:txBody>
          <a:bodyPr/>
          <a:lstStyle/>
          <a:p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Site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 (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대시보드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" name="텍스트 개체 틀 9"/>
          <p:cNvSpPr>
            <a:spLocks noGrp="1"/>
          </p:cNvSpPr>
          <p:nvPr>
            <p:ph type="body" sz="quarter" idx="10"/>
          </p:nvPr>
        </p:nvSpPr>
        <p:spPr>
          <a:xfrm>
            <a:off x="6023595" y="44624"/>
            <a:ext cx="1233661" cy="196974"/>
          </a:xfrm>
        </p:spPr>
        <p:txBody>
          <a:bodyPr/>
          <a:lstStyle/>
          <a:p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Site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02" name="Group 15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79684182"/>
              </p:ext>
            </p:extLst>
          </p:nvPr>
        </p:nvGraphicFramePr>
        <p:xfrm>
          <a:off x="8469313" y="276225"/>
          <a:ext cx="1404000" cy="5476032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3002"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Description</a:t>
                      </a: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Site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명 표시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2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군관리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Main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화면으로 이동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3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에너지 모니터링 메뉴</a:t>
                      </a:r>
                      <a:endParaRPr lang="en-US" altLang="ko-KR" sz="800" b="1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오늘의 사용량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피크 전력 현황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시간대 별 발전량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PV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발전량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DR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실적 현황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사용량 구성 </a:t>
                      </a: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(DER)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4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장치 모니터링 메뉴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- IOE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통신상태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- PCS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운전상태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- BMS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운전상태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- PV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운전상태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5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상황 관제 메뉴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알람 정보 페이지로 이동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6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요금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/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수익 메뉴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한전 요금 조회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- ESS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수익 조회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- DR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수익 조회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- PV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수익 조회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2105255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7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Site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의 오늘의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충전량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오늘의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방전량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각각의 총량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하얀색 표시는 예상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충전량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예상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방전량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예상 충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/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방전량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보다 실제 충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/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방전량이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많을 경우 흰색 영역을 표시 안함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.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3761634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8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SOC(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충전상태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)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잔량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표시된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%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와 배터리 이미지 상의 잔량 표시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Sync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필요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02465152"/>
                  </a:ext>
                </a:extLst>
              </a:tr>
            </a:tbl>
          </a:graphicData>
        </a:graphic>
      </p:graphicFrame>
      <p:sp>
        <p:nvSpPr>
          <p:cNvPr id="78" name="TextBox 77"/>
          <p:cNvSpPr txBox="1"/>
          <p:nvPr/>
        </p:nvSpPr>
        <p:spPr>
          <a:xfrm>
            <a:off x="7121707" y="21349"/>
            <a:ext cx="567597" cy="2308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화면</a:t>
            </a:r>
            <a:r>
              <a:rPr lang="en-US" altLang="ko-KR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ID</a:t>
            </a:r>
            <a:endParaRPr lang="ko-KR" altLang="en-US" sz="9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7689304" y="43659"/>
            <a:ext cx="792088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itchFamily="50" charset="-127"/>
                <a:ea typeface="맑은 고딕" pitchFamily="50" charset="-127"/>
              </a:rPr>
              <a:t>ewpsp_scr_008</a:t>
            </a:r>
            <a:endParaRPr lang="ko-KR" altLang="en-US" sz="700" dirty="0">
              <a:latin typeface="맑은 고딕" pitchFamily="50" charset="-127"/>
              <a:ea typeface="맑은 고딕" pitchFamily="50" charset="-127"/>
            </a:endParaRPr>
          </a:p>
        </p:txBody>
      </p:sp>
      <p:pic>
        <p:nvPicPr>
          <p:cNvPr id="18" name="Picture 3">
            <a:extLst>
              <a:ext uri="{FF2B5EF4-FFF2-40B4-BE49-F238E27FC236}">
                <a16:creationId xmlns:a16="http://schemas.microsoft.com/office/drawing/2014/main" id="{B2102104-3315-402E-ABC9-586FEDDAFB4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1531" y="796962"/>
            <a:ext cx="8266177" cy="5440349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  <a:extLst/>
        </p:spPr>
      </p:pic>
      <p:pic>
        <p:nvPicPr>
          <p:cNvPr id="19" name="Picture 2">
            <a:extLst>
              <a:ext uri="{FF2B5EF4-FFF2-40B4-BE49-F238E27FC236}">
                <a16:creationId xmlns:a16="http://schemas.microsoft.com/office/drawing/2014/main" id="{7083A858-D713-4603-B3CA-23A59234A10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1532" y="804375"/>
            <a:ext cx="8266176" cy="3512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20" name="직선 연결선 19">
            <a:extLst>
              <a:ext uri="{FF2B5EF4-FFF2-40B4-BE49-F238E27FC236}">
                <a16:creationId xmlns:a16="http://schemas.microsoft.com/office/drawing/2014/main" id="{0B5F9E53-BCF9-403F-96B8-C987A9420ECC}"/>
              </a:ext>
            </a:extLst>
          </p:cNvPr>
          <p:cNvCxnSpPr>
            <a:cxnSpLocks/>
          </p:cNvCxnSpPr>
          <p:nvPr/>
        </p:nvCxnSpPr>
        <p:spPr>
          <a:xfrm>
            <a:off x="117727" y="1143681"/>
            <a:ext cx="8187172" cy="0"/>
          </a:xfrm>
          <a:prstGeom prst="line">
            <a:avLst/>
          </a:prstGeom>
          <a:ln w="9525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A3EF9983-9B49-4C32-AAFF-105A132508A6}"/>
              </a:ext>
            </a:extLst>
          </p:cNvPr>
          <p:cNvSpPr/>
          <p:nvPr/>
        </p:nvSpPr>
        <p:spPr>
          <a:xfrm>
            <a:off x="180991" y="1557880"/>
            <a:ext cx="8020800" cy="4465954"/>
          </a:xfrm>
          <a:prstGeom prst="rect">
            <a:avLst/>
          </a:prstGeom>
          <a:solidFill>
            <a:srgbClr val="262645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EB8D0FE6-4CB9-4D6F-BC08-26944210B2E4}"/>
              </a:ext>
            </a:extLst>
          </p:cNvPr>
          <p:cNvSpPr/>
          <p:nvPr/>
        </p:nvSpPr>
        <p:spPr>
          <a:xfrm>
            <a:off x="184526" y="1505937"/>
            <a:ext cx="2005200" cy="248247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700" dirty="0"/>
              <a:t>에너지 모니터링</a:t>
            </a: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2891854C-647F-409D-8CAB-1B57ED9960C5}"/>
              </a:ext>
            </a:extLst>
          </p:cNvPr>
          <p:cNvSpPr/>
          <p:nvPr/>
        </p:nvSpPr>
        <p:spPr>
          <a:xfrm>
            <a:off x="2191085" y="1505937"/>
            <a:ext cx="2005200" cy="248247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700" dirty="0"/>
              <a:t>장치 모니터링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A8CD744A-AA50-4B4D-A06A-93198D13D7C1}"/>
              </a:ext>
            </a:extLst>
          </p:cNvPr>
          <p:cNvSpPr/>
          <p:nvPr/>
        </p:nvSpPr>
        <p:spPr>
          <a:xfrm>
            <a:off x="4197644" y="1505937"/>
            <a:ext cx="2005200" cy="248247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700" dirty="0"/>
              <a:t>상황</a:t>
            </a:r>
            <a:r>
              <a:rPr lang="en-US" altLang="ko-KR" sz="700" dirty="0"/>
              <a:t> </a:t>
            </a:r>
            <a:r>
              <a:rPr lang="ko-KR" altLang="en-US" sz="700" dirty="0"/>
              <a:t>관제</a:t>
            </a: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A0E4D09A-7B7B-4663-9DAE-528F8916C0F1}"/>
              </a:ext>
            </a:extLst>
          </p:cNvPr>
          <p:cNvSpPr/>
          <p:nvPr/>
        </p:nvSpPr>
        <p:spPr>
          <a:xfrm>
            <a:off x="6204202" y="1505937"/>
            <a:ext cx="2005200" cy="248247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700" dirty="0"/>
              <a:t>요금</a:t>
            </a:r>
            <a:r>
              <a:rPr lang="en-US" altLang="ko-KR" sz="700" dirty="0"/>
              <a:t>/</a:t>
            </a:r>
            <a:r>
              <a:rPr lang="ko-KR" altLang="en-US" sz="700" dirty="0"/>
              <a:t>수익</a:t>
            </a:r>
          </a:p>
        </p:txBody>
      </p:sp>
      <p:graphicFrame>
        <p:nvGraphicFramePr>
          <p:cNvPr id="27" name="표 26">
            <a:extLst>
              <a:ext uri="{FF2B5EF4-FFF2-40B4-BE49-F238E27FC236}">
                <a16:creationId xmlns:a16="http://schemas.microsoft.com/office/drawing/2014/main" id="{8F226558-3426-4DA0-967F-188EF9E1380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58999100"/>
              </p:ext>
            </p:extLst>
          </p:nvPr>
        </p:nvGraphicFramePr>
        <p:xfrm>
          <a:off x="3036493" y="2089084"/>
          <a:ext cx="2626669" cy="151054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893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</a:tblGrid>
              <a:tr h="13894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/>
                        <a:t>kW</a:t>
                      </a:r>
                      <a:endParaRPr lang="ko-KR" altLang="en-US" sz="7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3894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2,000</a:t>
                      </a:r>
                      <a:endParaRPr lang="ko-KR" altLang="en-US" sz="6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38945">
                <a:tc>
                  <a:txBody>
                    <a:bodyPr/>
                    <a:lstStyle/>
                    <a:p>
                      <a:pPr algn="ctr" latinLnBrk="1"/>
                      <a:endParaRPr lang="ko-KR" altLang="en-US" sz="6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38945">
                <a:tc>
                  <a:txBody>
                    <a:bodyPr/>
                    <a:lstStyle/>
                    <a:p>
                      <a:pPr algn="ctr" latinLnBrk="1"/>
                      <a:endParaRPr lang="ko-KR" altLang="en-US" sz="6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3894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500</a:t>
                      </a:r>
                      <a:endParaRPr lang="ko-KR" altLang="en-US" sz="6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3894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450</a:t>
                      </a:r>
                      <a:endParaRPr lang="ko-KR" altLang="en-US" sz="6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38945">
                <a:tc>
                  <a:txBody>
                    <a:bodyPr/>
                    <a:lstStyle/>
                    <a:p>
                      <a:pPr algn="ctr" latinLnBrk="1"/>
                      <a:endParaRPr lang="ko-KR" altLang="en-US" sz="6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38945">
                <a:tc>
                  <a:txBody>
                    <a:bodyPr/>
                    <a:lstStyle/>
                    <a:p>
                      <a:pPr algn="ctr" latinLnBrk="1"/>
                      <a:endParaRPr lang="ko-KR" altLang="en-US" sz="6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3894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6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38945">
                <a:tc>
                  <a:txBody>
                    <a:bodyPr/>
                    <a:lstStyle/>
                    <a:p>
                      <a:pPr algn="ctr" latinLnBrk="1"/>
                      <a:endParaRPr lang="ko-KR" altLang="en-US" sz="6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01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02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03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04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05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06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07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08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09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10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11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12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13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14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15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cxnSp>
        <p:nvCxnSpPr>
          <p:cNvPr id="29" name="직선 연결선 28">
            <a:extLst>
              <a:ext uri="{FF2B5EF4-FFF2-40B4-BE49-F238E27FC236}">
                <a16:creationId xmlns:a16="http://schemas.microsoft.com/office/drawing/2014/main" id="{27FA866A-AB3E-48D4-ADFA-B2AFD3A5BEB9}"/>
              </a:ext>
            </a:extLst>
          </p:cNvPr>
          <p:cNvCxnSpPr>
            <a:cxnSpLocks/>
          </p:cNvCxnSpPr>
          <p:nvPr/>
        </p:nvCxnSpPr>
        <p:spPr>
          <a:xfrm>
            <a:off x="3201134" y="2315023"/>
            <a:ext cx="2400905" cy="0"/>
          </a:xfrm>
          <a:prstGeom prst="line">
            <a:avLst/>
          </a:prstGeom>
          <a:ln/>
        </p:spPr>
        <p:style>
          <a:lnRef idx="1">
            <a:schemeClr val="accent2"/>
          </a:lnRef>
          <a:fillRef idx="0">
            <a:schemeClr val="accent2"/>
          </a:fillRef>
          <a:effectRef idx="0">
            <a:schemeClr val="accent2"/>
          </a:effectRef>
          <a:fontRef idx="minor">
            <a:schemeClr val="tx1"/>
          </a:fontRef>
        </p:style>
      </p:cxnSp>
      <p:cxnSp>
        <p:nvCxnSpPr>
          <p:cNvPr id="30" name="직선 연결선 29">
            <a:extLst>
              <a:ext uri="{FF2B5EF4-FFF2-40B4-BE49-F238E27FC236}">
                <a16:creationId xmlns:a16="http://schemas.microsoft.com/office/drawing/2014/main" id="{4588D10F-85F0-4201-99B0-19CF5E0D6C64}"/>
              </a:ext>
            </a:extLst>
          </p:cNvPr>
          <p:cNvCxnSpPr>
            <a:cxnSpLocks/>
          </p:cNvCxnSpPr>
          <p:nvPr/>
        </p:nvCxnSpPr>
        <p:spPr>
          <a:xfrm>
            <a:off x="3201134" y="2776761"/>
            <a:ext cx="2400905" cy="0"/>
          </a:xfrm>
          <a:prstGeom prst="line">
            <a:avLst/>
          </a:prstGeom>
          <a:ln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2"/>
          </a:lnRef>
          <a:fillRef idx="0">
            <a:schemeClr val="accent2"/>
          </a:fillRef>
          <a:effectRef idx="0">
            <a:schemeClr val="accent2"/>
          </a:effectRef>
          <a:fontRef idx="minor">
            <a:schemeClr val="tx1"/>
          </a:fontRef>
        </p:style>
      </p:cxnSp>
      <p:cxnSp>
        <p:nvCxnSpPr>
          <p:cNvPr id="32" name="직선 연결선 31">
            <a:extLst>
              <a:ext uri="{FF2B5EF4-FFF2-40B4-BE49-F238E27FC236}">
                <a16:creationId xmlns:a16="http://schemas.microsoft.com/office/drawing/2014/main" id="{29A51609-D54B-474A-B7E4-530CCE7FFC34}"/>
              </a:ext>
            </a:extLst>
          </p:cNvPr>
          <p:cNvCxnSpPr>
            <a:cxnSpLocks/>
          </p:cNvCxnSpPr>
          <p:nvPr/>
        </p:nvCxnSpPr>
        <p:spPr>
          <a:xfrm>
            <a:off x="4708264" y="2089084"/>
            <a:ext cx="0" cy="1510545"/>
          </a:xfrm>
          <a:prstGeom prst="line">
            <a:avLst/>
          </a:prstGeom>
          <a:ln w="3175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" name="TextBox 32">
            <a:extLst>
              <a:ext uri="{FF2B5EF4-FFF2-40B4-BE49-F238E27FC236}">
                <a16:creationId xmlns:a16="http://schemas.microsoft.com/office/drawing/2014/main" id="{CC743F9E-4B5A-4B8E-A0F4-67EB1791F4AD}"/>
              </a:ext>
            </a:extLst>
          </p:cNvPr>
          <p:cNvSpPr txBox="1"/>
          <p:nvPr/>
        </p:nvSpPr>
        <p:spPr>
          <a:xfrm>
            <a:off x="2933296" y="1880452"/>
            <a:ext cx="1013626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피크 전력 현황</a:t>
            </a:r>
          </a:p>
        </p:txBody>
      </p:sp>
      <p:cxnSp>
        <p:nvCxnSpPr>
          <p:cNvPr id="34" name="직선 연결선 33">
            <a:extLst>
              <a:ext uri="{FF2B5EF4-FFF2-40B4-BE49-F238E27FC236}">
                <a16:creationId xmlns:a16="http://schemas.microsoft.com/office/drawing/2014/main" id="{A4801FBE-B6BC-49B3-B6C4-8CA05046AD75}"/>
              </a:ext>
            </a:extLst>
          </p:cNvPr>
          <p:cNvCxnSpPr>
            <a:cxnSpLocks/>
          </p:cNvCxnSpPr>
          <p:nvPr/>
        </p:nvCxnSpPr>
        <p:spPr>
          <a:xfrm>
            <a:off x="5745088" y="1887730"/>
            <a:ext cx="0" cy="4140000"/>
          </a:xfrm>
          <a:prstGeom prst="line">
            <a:avLst/>
          </a:prstGeom>
          <a:ln w="3175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35" name="표 34">
            <a:extLst>
              <a:ext uri="{FF2B5EF4-FFF2-40B4-BE49-F238E27FC236}">
                <a16:creationId xmlns:a16="http://schemas.microsoft.com/office/drawing/2014/main" id="{EF8FF785-A602-4C84-B7A3-BCC2D4E707A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67563759"/>
              </p:ext>
            </p:extLst>
          </p:nvPr>
        </p:nvGraphicFramePr>
        <p:xfrm>
          <a:off x="5849512" y="3272858"/>
          <a:ext cx="2275628" cy="14478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957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19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20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21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22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23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24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25"/>
                    </a:ext>
                  </a:extLst>
                </a:gridCol>
              </a:tblGrid>
              <a:tr h="279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dirty="0"/>
                        <a:t>kWh</a:t>
                      </a:r>
                      <a:endParaRPr lang="ko-KR" altLang="en-US" sz="5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9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4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1000</a:t>
                      </a:r>
                      <a:endParaRPr lang="ko-KR" altLang="en-US" sz="4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7987"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4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500</a:t>
                      </a:r>
                      <a:endParaRPr lang="ko-KR" altLang="en-US" sz="4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7987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4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79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4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4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987">
                <a:tc>
                  <a:txBody>
                    <a:bodyPr/>
                    <a:lstStyle/>
                    <a:p>
                      <a:pPr algn="ctr" latinLnBrk="1"/>
                      <a:endParaRPr lang="ko-KR" altLang="en-US" sz="4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79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4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500</a:t>
                      </a:r>
                      <a:endParaRPr lang="ko-KR" altLang="en-US" sz="4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7987">
                <a:tc>
                  <a:txBody>
                    <a:bodyPr/>
                    <a:lstStyle/>
                    <a:p>
                      <a:pPr algn="ctr" latinLnBrk="1"/>
                      <a:endParaRPr lang="ko-KR" altLang="en-US" sz="4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79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4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1000</a:t>
                      </a:r>
                      <a:endParaRPr lang="ko-KR" altLang="en-US" sz="4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endParaRPr lang="ko-KR" altLang="en-US" sz="4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00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01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02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03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04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05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06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07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08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09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10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11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12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13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14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15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16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17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18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19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20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21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22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23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24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sp>
        <p:nvSpPr>
          <p:cNvPr id="36" name="TextBox 35">
            <a:extLst>
              <a:ext uri="{FF2B5EF4-FFF2-40B4-BE49-F238E27FC236}">
                <a16:creationId xmlns:a16="http://schemas.microsoft.com/office/drawing/2014/main" id="{624B9702-5880-4DD9-A6CF-8A789D48E4EB}"/>
              </a:ext>
            </a:extLst>
          </p:cNvPr>
          <p:cNvSpPr txBox="1"/>
          <p:nvPr/>
        </p:nvSpPr>
        <p:spPr>
          <a:xfrm>
            <a:off x="5769155" y="3098741"/>
            <a:ext cx="986079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>
              <a:defRPr sz="800" b="1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</a:lstStyle>
          <a:p>
            <a:r>
              <a:rPr lang="ko-KR" altLang="en-US" dirty="0"/>
              <a:t>충</a:t>
            </a:r>
            <a:r>
              <a:rPr lang="en-US" altLang="ko-KR" dirty="0"/>
              <a:t>/</a:t>
            </a:r>
            <a:r>
              <a:rPr lang="ko-KR" altLang="en-US" dirty="0" err="1"/>
              <a:t>방전량</a:t>
            </a:r>
            <a:endParaRPr lang="ko-KR" altLang="en-US" dirty="0"/>
          </a:p>
        </p:txBody>
      </p:sp>
      <p:sp>
        <p:nvSpPr>
          <p:cNvPr id="37" name="AutoShape 182">
            <a:extLst>
              <a:ext uri="{FF2B5EF4-FFF2-40B4-BE49-F238E27FC236}">
                <a16:creationId xmlns:a16="http://schemas.microsoft.com/office/drawing/2014/main" id="{4A013E0B-20B2-4A4A-AAC2-D0E5ED97418F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5851306" y="4753820"/>
            <a:ext cx="2273814" cy="1261824"/>
          </a:xfrm>
          <a:prstGeom prst="roundRect">
            <a:avLst>
              <a:gd name="adj" fmla="val 1769"/>
            </a:avLst>
          </a:prstGeom>
          <a:solidFill>
            <a:srgbClr val="262645"/>
          </a:solidFill>
          <a:ln w="3175">
            <a:solidFill>
              <a:schemeClr val="bg1"/>
            </a:solidFill>
          </a:ln>
        </p:spPr>
        <p:txBody>
          <a:bodyPr wrap="none" anchor="ctr"/>
          <a:lstStyle/>
          <a:p>
            <a:pPr latinLnBrk="1"/>
            <a:endParaRPr lang="ko-KR" altLang="en-US" sz="1600" dirty="0"/>
          </a:p>
        </p:txBody>
      </p:sp>
      <p:cxnSp>
        <p:nvCxnSpPr>
          <p:cNvPr id="38" name="직선 연결선 37">
            <a:extLst>
              <a:ext uri="{FF2B5EF4-FFF2-40B4-BE49-F238E27FC236}">
                <a16:creationId xmlns:a16="http://schemas.microsoft.com/office/drawing/2014/main" id="{C1D71835-95E2-4DBB-ABC8-57238414EE2A}"/>
              </a:ext>
            </a:extLst>
          </p:cNvPr>
          <p:cNvCxnSpPr>
            <a:cxnSpLocks/>
          </p:cNvCxnSpPr>
          <p:nvPr/>
        </p:nvCxnSpPr>
        <p:spPr>
          <a:xfrm>
            <a:off x="5993828" y="4925311"/>
            <a:ext cx="2160000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A62A6F6F-453C-4F73-AB11-404EDC124467}"/>
              </a:ext>
            </a:extLst>
          </p:cNvPr>
          <p:cNvSpPr txBox="1"/>
          <p:nvPr/>
        </p:nvSpPr>
        <p:spPr>
          <a:xfrm>
            <a:off x="5958346" y="4771035"/>
            <a:ext cx="709061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500" dirty="0">
                <a:solidFill>
                  <a:schemeClr val="bg1"/>
                </a:solidFill>
              </a:rPr>
              <a:t>오늘 충</a:t>
            </a:r>
            <a:r>
              <a:rPr lang="en-US" altLang="ko-KR" sz="500" dirty="0">
                <a:solidFill>
                  <a:schemeClr val="bg1"/>
                </a:solidFill>
              </a:rPr>
              <a:t>/</a:t>
            </a:r>
            <a:r>
              <a:rPr lang="ko-KR" altLang="en-US" sz="500" dirty="0" err="1">
                <a:solidFill>
                  <a:schemeClr val="bg1"/>
                </a:solidFill>
              </a:rPr>
              <a:t>방전량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66E0D494-BAF5-4FB9-BCC1-38C3F22F5E55}"/>
              </a:ext>
            </a:extLst>
          </p:cNvPr>
          <p:cNvSpPr txBox="1"/>
          <p:nvPr/>
        </p:nvSpPr>
        <p:spPr>
          <a:xfrm>
            <a:off x="6935425" y="4753107"/>
            <a:ext cx="37714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</a:rPr>
              <a:t>kWh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CF316E31-C90B-4059-89F8-B7EF3053FCE1}"/>
              </a:ext>
            </a:extLst>
          </p:cNvPr>
          <p:cNvSpPr txBox="1"/>
          <p:nvPr/>
        </p:nvSpPr>
        <p:spPr>
          <a:xfrm>
            <a:off x="7591323" y="4753107"/>
            <a:ext cx="37714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500" dirty="0">
                <a:solidFill>
                  <a:schemeClr val="bg1"/>
                </a:solidFill>
              </a:rPr>
              <a:t>수익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70B29B12-DA7D-4A1D-BA88-4C352B4BABB4}"/>
              </a:ext>
            </a:extLst>
          </p:cNvPr>
          <p:cNvSpPr txBox="1"/>
          <p:nvPr/>
        </p:nvSpPr>
        <p:spPr>
          <a:xfrm>
            <a:off x="6223369" y="4925311"/>
            <a:ext cx="418353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ko-KR" altLang="en-US" sz="500" dirty="0" err="1">
                <a:solidFill>
                  <a:schemeClr val="bg1"/>
                </a:solidFill>
              </a:rPr>
              <a:t>충전량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B60AD1FA-53B7-48F3-8D24-5CCB03069CCC}"/>
              </a:ext>
            </a:extLst>
          </p:cNvPr>
          <p:cNvSpPr txBox="1"/>
          <p:nvPr/>
        </p:nvSpPr>
        <p:spPr>
          <a:xfrm>
            <a:off x="6223369" y="5041896"/>
            <a:ext cx="418353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ko-KR" altLang="en-US" sz="500" dirty="0" err="1">
                <a:solidFill>
                  <a:schemeClr val="bg1"/>
                </a:solidFill>
              </a:rPr>
              <a:t>방전량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7C8EADC3-892A-49D8-BA19-B280AA52CD2A}"/>
              </a:ext>
            </a:extLst>
          </p:cNvPr>
          <p:cNvSpPr txBox="1"/>
          <p:nvPr/>
        </p:nvSpPr>
        <p:spPr>
          <a:xfrm>
            <a:off x="6850640" y="4925311"/>
            <a:ext cx="54671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</a:rPr>
              <a:t>1,350.5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5EC37EE8-D160-496E-B15E-AD231585439D}"/>
              </a:ext>
            </a:extLst>
          </p:cNvPr>
          <p:cNvSpPr txBox="1"/>
          <p:nvPr/>
        </p:nvSpPr>
        <p:spPr>
          <a:xfrm>
            <a:off x="6850640" y="5041896"/>
            <a:ext cx="54671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</a:rPr>
              <a:t>850.5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250426D1-9B57-4F30-A1B5-ACB5D083F27E}"/>
              </a:ext>
            </a:extLst>
          </p:cNvPr>
          <p:cNvSpPr txBox="1"/>
          <p:nvPr/>
        </p:nvSpPr>
        <p:spPr>
          <a:xfrm>
            <a:off x="7570720" y="4978797"/>
            <a:ext cx="418353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600" dirty="0">
                <a:solidFill>
                  <a:schemeClr val="bg1"/>
                </a:solidFill>
              </a:rPr>
              <a:t>2.1</a:t>
            </a:r>
            <a:endParaRPr lang="ko-KR" altLang="en-US" sz="600" dirty="0">
              <a:solidFill>
                <a:schemeClr val="bg1"/>
              </a:solidFill>
            </a:endParaRPr>
          </a:p>
        </p:txBody>
      </p:sp>
      <p:cxnSp>
        <p:nvCxnSpPr>
          <p:cNvPr id="47" name="직선 연결선 46">
            <a:extLst>
              <a:ext uri="{FF2B5EF4-FFF2-40B4-BE49-F238E27FC236}">
                <a16:creationId xmlns:a16="http://schemas.microsoft.com/office/drawing/2014/main" id="{4A7EFA81-8892-470A-9FFC-89E0CEFF7D59}"/>
              </a:ext>
            </a:extLst>
          </p:cNvPr>
          <p:cNvCxnSpPr>
            <a:cxnSpLocks/>
          </p:cNvCxnSpPr>
          <p:nvPr/>
        </p:nvCxnSpPr>
        <p:spPr>
          <a:xfrm>
            <a:off x="5993828" y="5353201"/>
            <a:ext cx="2160000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8" name="TextBox 47">
            <a:extLst>
              <a:ext uri="{FF2B5EF4-FFF2-40B4-BE49-F238E27FC236}">
                <a16:creationId xmlns:a16="http://schemas.microsoft.com/office/drawing/2014/main" id="{F3A6A82A-B634-4213-A6BA-8294CF1911C7}"/>
              </a:ext>
            </a:extLst>
          </p:cNvPr>
          <p:cNvSpPr txBox="1"/>
          <p:nvPr/>
        </p:nvSpPr>
        <p:spPr>
          <a:xfrm>
            <a:off x="5958346" y="5204901"/>
            <a:ext cx="796888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500" dirty="0" err="1">
                <a:solidFill>
                  <a:schemeClr val="bg1"/>
                </a:solidFill>
              </a:rPr>
              <a:t>이번달</a:t>
            </a:r>
            <a:r>
              <a:rPr lang="ko-KR" altLang="en-US" sz="500" dirty="0">
                <a:solidFill>
                  <a:schemeClr val="bg1"/>
                </a:solidFill>
              </a:rPr>
              <a:t> 충</a:t>
            </a:r>
            <a:r>
              <a:rPr lang="en-US" altLang="ko-KR" sz="500" dirty="0">
                <a:solidFill>
                  <a:schemeClr val="bg1"/>
                </a:solidFill>
              </a:rPr>
              <a:t>/</a:t>
            </a:r>
            <a:r>
              <a:rPr lang="ko-KR" altLang="en-US" sz="500" dirty="0" err="1">
                <a:solidFill>
                  <a:schemeClr val="bg1"/>
                </a:solidFill>
              </a:rPr>
              <a:t>방전량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A7F56B89-656D-4409-94CD-D407204EE771}"/>
              </a:ext>
            </a:extLst>
          </p:cNvPr>
          <p:cNvSpPr txBox="1"/>
          <p:nvPr/>
        </p:nvSpPr>
        <p:spPr>
          <a:xfrm>
            <a:off x="6935425" y="5180997"/>
            <a:ext cx="37714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</a:rPr>
              <a:t>MWh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36F00CD1-ACD4-4A8D-9FFF-E8D84C6B684C}"/>
              </a:ext>
            </a:extLst>
          </p:cNvPr>
          <p:cNvSpPr txBox="1"/>
          <p:nvPr/>
        </p:nvSpPr>
        <p:spPr>
          <a:xfrm>
            <a:off x="7591323" y="5180997"/>
            <a:ext cx="37714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500" dirty="0">
                <a:solidFill>
                  <a:schemeClr val="bg1"/>
                </a:solidFill>
              </a:rPr>
              <a:t>수익</a:t>
            </a: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13C0CE3B-40F3-43B7-8D0B-2C69A07D53D2}"/>
              </a:ext>
            </a:extLst>
          </p:cNvPr>
          <p:cNvSpPr txBox="1"/>
          <p:nvPr/>
        </p:nvSpPr>
        <p:spPr>
          <a:xfrm>
            <a:off x="6223369" y="5353201"/>
            <a:ext cx="418353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ko-KR" altLang="en-US" sz="500">
                <a:solidFill>
                  <a:schemeClr val="bg1"/>
                </a:solidFill>
              </a:rPr>
              <a:t>충전량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85E238EE-D2C4-4FA8-97F6-74DD46DAD32B}"/>
              </a:ext>
            </a:extLst>
          </p:cNvPr>
          <p:cNvSpPr txBox="1"/>
          <p:nvPr/>
        </p:nvSpPr>
        <p:spPr>
          <a:xfrm>
            <a:off x="6223369" y="5469786"/>
            <a:ext cx="418353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ko-KR" altLang="en-US" sz="500" dirty="0" err="1">
                <a:solidFill>
                  <a:schemeClr val="bg1"/>
                </a:solidFill>
              </a:rPr>
              <a:t>방전량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8D8624A3-0380-4115-8F31-B66286344293}"/>
              </a:ext>
            </a:extLst>
          </p:cNvPr>
          <p:cNvSpPr txBox="1"/>
          <p:nvPr/>
        </p:nvSpPr>
        <p:spPr>
          <a:xfrm>
            <a:off x="6850640" y="5353201"/>
            <a:ext cx="54671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</a:rPr>
              <a:t>8.9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35C3B9BA-EB4B-472A-B0DE-F9B11C81D947}"/>
              </a:ext>
            </a:extLst>
          </p:cNvPr>
          <p:cNvSpPr txBox="1"/>
          <p:nvPr/>
        </p:nvSpPr>
        <p:spPr>
          <a:xfrm>
            <a:off x="6850640" y="5469786"/>
            <a:ext cx="54671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</a:rPr>
              <a:t>12.1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A679B29F-5EA2-4B20-9E50-BEF78E3EF73D}"/>
              </a:ext>
            </a:extLst>
          </p:cNvPr>
          <p:cNvSpPr txBox="1"/>
          <p:nvPr/>
        </p:nvSpPr>
        <p:spPr>
          <a:xfrm>
            <a:off x="7570720" y="5407818"/>
            <a:ext cx="418353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600" dirty="0">
                <a:solidFill>
                  <a:schemeClr val="bg1"/>
                </a:solidFill>
              </a:rPr>
              <a:t>64.9</a:t>
            </a:r>
            <a:endParaRPr lang="ko-KR" altLang="en-US" sz="600" dirty="0">
              <a:solidFill>
                <a:schemeClr val="bg1"/>
              </a:solidFill>
            </a:endParaRPr>
          </a:p>
        </p:txBody>
      </p:sp>
      <p:cxnSp>
        <p:nvCxnSpPr>
          <p:cNvPr id="56" name="직선 연결선 55">
            <a:extLst>
              <a:ext uri="{FF2B5EF4-FFF2-40B4-BE49-F238E27FC236}">
                <a16:creationId xmlns:a16="http://schemas.microsoft.com/office/drawing/2014/main" id="{5C7E8237-425A-4EF3-8136-480159CF65C9}"/>
              </a:ext>
            </a:extLst>
          </p:cNvPr>
          <p:cNvCxnSpPr>
            <a:cxnSpLocks/>
          </p:cNvCxnSpPr>
          <p:nvPr/>
        </p:nvCxnSpPr>
        <p:spPr>
          <a:xfrm>
            <a:off x="5993828" y="5771414"/>
            <a:ext cx="2160000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7" name="TextBox 56">
            <a:extLst>
              <a:ext uri="{FF2B5EF4-FFF2-40B4-BE49-F238E27FC236}">
                <a16:creationId xmlns:a16="http://schemas.microsoft.com/office/drawing/2014/main" id="{C9C0E030-096F-4EBF-813E-654213ACA5E8}"/>
              </a:ext>
            </a:extLst>
          </p:cNvPr>
          <p:cNvSpPr txBox="1"/>
          <p:nvPr/>
        </p:nvSpPr>
        <p:spPr>
          <a:xfrm>
            <a:off x="5932914" y="5623114"/>
            <a:ext cx="796888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500" dirty="0">
                <a:solidFill>
                  <a:schemeClr val="bg1"/>
                </a:solidFill>
              </a:rPr>
              <a:t>올해 충</a:t>
            </a:r>
            <a:r>
              <a:rPr lang="en-US" altLang="ko-KR" sz="500" dirty="0">
                <a:solidFill>
                  <a:schemeClr val="bg1"/>
                </a:solidFill>
              </a:rPr>
              <a:t>/</a:t>
            </a:r>
            <a:r>
              <a:rPr lang="ko-KR" altLang="en-US" sz="500" dirty="0" err="1">
                <a:solidFill>
                  <a:schemeClr val="bg1"/>
                </a:solidFill>
              </a:rPr>
              <a:t>방전량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75E5D116-D36F-4AB6-8470-DA0915EB7839}"/>
              </a:ext>
            </a:extLst>
          </p:cNvPr>
          <p:cNvSpPr txBox="1"/>
          <p:nvPr/>
        </p:nvSpPr>
        <p:spPr>
          <a:xfrm>
            <a:off x="6909993" y="5599210"/>
            <a:ext cx="37714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</a:rPr>
              <a:t>MWh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311B9D07-38CF-4D9B-9755-6E3D27381571}"/>
              </a:ext>
            </a:extLst>
          </p:cNvPr>
          <p:cNvSpPr txBox="1"/>
          <p:nvPr/>
        </p:nvSpPr>
        <p:spPr>
          <a:xfrm>
            <a:off x="7565891" y="5599210"/>
            <a:ext cx="37714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500" dirty="0">
                <a:solidFill>
                  <a:schemeClr val="bg1"/>
                </a:solidFill>
              </a:rPr>
              <a:t>수익</a:t>
            </a: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556CFE52-B960-4A1C-A8CB-257FCEA6EF60}"/>
              </a:ext>
            </a:extLst>
          </p:cNvPr>
          <p:cNvSpPr txBox="1"/>
          <p:nvPr/>
        </p:nvSpPr>
        <p:spPr>
          <a:xfrm>
            <a:off x="6197937" y="5771414"/>
            <a:ext cx="418353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ko-KR" altLang="en-US" sz="500">
                <a:solidFill>
                  <a:schemeClr val="bg1"/>
                </a:solidFill>
              </a:rPr>
              <a:t>충전량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62EB086C-5D28-4408-9F60-FC75C5053968}"/>
              </a:ext>
            </a:extLst>
          </p:cNvPr>
          <p:cNvSpPr txBox="1"/>
          <p:nvPr/>
        </p:nvSpPr>
        <p:spPr>
          <a:xfrm>
            <a:off x="6197937" y="5887999"/>
            <a:ext cx="418353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ko-KR" altLang="en-US" sz="500" dirty="0" err="1">
                <a:solidFill>
                  <a:schemeClr val="bg1"/>
                </a:solidFill>
              </a:rPr>
              <a:t>방전량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62" name="TextBox 61">
            <a:extLst>
              <a:ext uri="{FF2B5EF4-FFF2-40B4-BE49-F238E27FC236}">
                <a16:creationId xmlns:a16="http://schemas.microsoft.com/office/drawing/2014/main" id="{6C803406-F783-46EF-8E44-15822F411AAF}"/>
              </a:ext>
            </a:extLst>
          </p:cNvPr>
          <p:cNvSpPr txBox="1"/>
          <p:nvPr/>
        </p:nvSpPr>
        <p:spPr>
          <a:xfrm>
            <a:off x="6825208" y="5771414"/>
            <a:ext cx="54671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</a:rPr>
              <a:t>58.9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64" name="TextBox 63">
            <a:extLst>
              <a:ext uri="{FF2B5EF4-FFF2-40B4-BE49-F238E27FC236}">
                <a16:creationId xmlns:a16="http://schemas.microsoft.com/office/drawing/2014/main" id="{B39CE000-0E33-4113-B82A-5630408AAED9}"/>
              </a:ext>
            </a:extLst>
          </p:cNvPr>
          <p:cNvSpPr txBox="1"/>
          <p:nvPr/>
        </p:nvSpPr>
        <p:spPr>
          <a:xfrm>
            <a:off x="6825208" y="5887999"/>
            <a:ext cx="54671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</a:rPr>
              <a:t>192.1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65" name="TextBox 64">
            <a:extLst>
              <a:ext uri="{FF2B5EF4-FFF2-40B4-BE49-F238E27FC236}">
                <a16:creationId xmlns:a16="http://schemas.microsoft.com/office/drawing/2014/main" id="{0A450997-DD2A-4200-8178-39E54C53EBD8}"/>
              </a:ext>
            </a:extLst>
          </p:cNvPr>
          <p:cNvSpPr txBox="1"/>
          <p:nvPr/>
        </p:nvSpPr>
        <p:spPr>
          <a:xfrm>
            <a:off x="7545288" y="5825376"/>
            <a:ext cx="418353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600" dirty="0">
                <a:solidFill>
                  <a:schemeClr val="bg1"/>
                </a:solidFill>
              </a:rPr>
              <a:t>464.9</a:t>
            </a:r>
            <a:endParaRPr lang="ko-KR" altLang="en-US" sz="600" dirty="0">
              <a:solidFill>
                <a:schemeClr val="bg1"/>
              </a:solidFill>
            </a:endParaRPr>
          </a:p>
        </p:txBody>
      </p:sp>
      <p:grpSp>
        <p:nvGrpSpPr>
          <p:cNvPr id="66" name="그룹 65">
            <a:extLst>
              <a:ext uri="{FF2B5EF4-FFF2-40B4-BE49-F238E27FC236}">
                <a16:creationId xmlns:a16="http://schemas.microsoft.com/office/drawing/2014/main" id="{D9722A13-A4B1-4617-9D54-602D2721332A}"/>
              </a:ext>
            </a:extLst>
          </p:cNvPr>
          <p:cNvGrpSpPr/>
          <p:nvPr/>
        </p:nvGrpSpPr>
        <p:grpSpPr>
          <a:xfrm>
            <a:off x="4776098" y="3649023"/>
            <a:ext cx="500020" cy="169277"/>
            <a:chOff x="5008084" y="3585093"/>
            <a:chExt cx="500020" cy="169277"/>
          </a:xfrm>
        </p:grpSpPr>
        <p:cxnSp>
          <p:nvCxnSpPr>
            <p:cNvPr id="67" name="직선 연결선 66">
              <a:extLst>
                <a:ext uri="{FF2B5EF4-FFF2-40B4-BE49-F238E27FC236}">
                  <a16:creationId xmlns:a16="http://schemas.microsoft.com/office/drawing/2014/main" id="{76366D38-5D29-4527-BB0E-4A4C7B8DC6D2}"/>
                </a:ext>
              </a:extLst>
            </p:cNvPr>
            <p:cNvCxnSpPr>
              <a:cxnSpLocks/>
            </p:cNvCxnSpPr>
            <p:nvPr/>
          </p:nvCxnSpPr>
          <p:spPr>
            <a:xfrm>
              <a:off x="5008084" y="3669731"/>
              <a:ext cx="108000" cy="0"/>
            </a:xfrm>
            <a:prstGeom prst="line">
              <a:avLst/>
            </a:prstGeom>
            <a:ln w="9525">
              <a:solidFill>
                <a:schemeClr val="accent6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8" name="직사각형 67">
              <a:extLst>
                <a:ext uri="{FF2B5EF4-FFF2-40B4-BE49-F238E27FC236}">
                  <a16:creationId xmlns:a16="http://schemas.microsoft.com/office/drawing/2014/main" id="{3CE4766C-F022-4575-BB7F-973E55D09148}"/>
                </a:ext>
              </a:extLst>
            </p:cNvPr>
            <p:cNvSpPr/>
            <p:nvPr/>
          </p:nvSpPr>
          <p:spPr>
            <a:xfrm>
              <a:off x="5044076" y="3585093"/>
              <a:ext cx="46402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500" dirty="0">
                  <a:solidFill>
                    <a:schemeClr val="bg1"/>
                  </a:solidFill>
                </a:rPr>
                <a:t>현재 부하</a:t>
              </a:r>
            </a:p>
          </p:txBody>
        </p:sp>
      </p:grpSp>
      <p:grpSp>
        <p:nvGrpSpPr>
          <p:cNvPr id="69" name="그룹 68">
            <a:extLst>
              <a:ext uri="{FF2B5EF4-FFF2-40B4-BE49-F238E27FC236}">
                <a16:creationId xmlns:a16="http://schemas.microsoft.com/office/drawing/2014/main" id="{0A5F81EA-7FE9-4E95-BF52-593499F4F836}"/>
              </a:ext>
            </a:extLst>
          </p:cNvPr>
          <p:cNvGrpSpPr/>
          <p:nvPr/>
        </p:nvGrpSpPr>
        <p:grpSpPr>
          <a:xfrm>
            <a:off x="5241125" y="3649023"/>
            <a:ext cx="500021" cy="169277"/>
            <a:chOff x="5440131" y="3585093"/>
            <a:chExt cx="500021" cy="169277"/>
          </a:xfrm>
        </p:grpSpPr>
        <p:cxnSp>
          <p:nvCxnSpPr>
            <p:cNvPr id="70" name="직선 연결선 69">
              <a:extLst>
                <a:ext uri="{FF2B5EF4-FFF2-40B4-BE49-F238E27FC236}">
                  <a16:creationId xmlns:a16="http://schemas.microsoft.com/office/drawing/2014/main" id="{9E588985-1351-45CB-9AE0-F741CC73E51B}"/>
                </a:ext>
              </a:extLst>
            </p:cNvPr>
            <p:cNvCxnSpPr>
              <a:cxnSpLocks/>
            </p:cNvCxnSpPr>
            <p:nvPr/>
          </p:nvCxnSpPr>
          <p:spPr>
            <a:xfrm>
              <a:off x="5440131" y="3669731"/>
              <a:ext cx="108000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1" name="직사각형 70">
              <a:extLst>
                <a:ext uri="{FF2B5EF4-FFF2-40B4-BE49-F238E27FC236}">
                  <a16:creationId xmlns:a16="http://schemas.microsoft.com/office/drawing/2014/main" id="{0D2AB4E7-3F4F-4E76-A807-71772FD0A249}"/>
                </a:ext>
              </a:extLst>
            </p:cNvPr>
            <p:cNvSpPr/>
            <p:nvPr/>
          </p:nvSpPr>
          <p:spPr>
            <a:xfrm>
              <a:off x="5476123" y="3585093"/>
              <a:ext cx="46402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500" dirty="0">
                  <a:solidFill>
                    <a:schemeClr val="bg1"/>
                  </a:solidFill>
                </a:rPr>
                <a:t>예측 부하</a:t>
              </a:r>
            </a:p>
          </p:txBody>
        </p:sp>
      </p:grpSp>
      <p:grpSp>
        <p:nvGrpSpPr>
          <p:cNvPr id="72" name="그룹 71">
            <a:extLst>
              <a:ext uri="{FF2B5EF4-FFF2-40B4-BE49-F238E27FC236}">
                <a16:creationId xmlns:a16="http://schemas.microsoft.com/office/drawing/2014/main" id="{F56E2950-38B1-438D-BAA1-04624DFF24DA}"/>
              </a:ext>
            </a:extLst>
          </p:cNvPr>
          <p:cNvGrpSpPr/>
          <p:nvPr/>
        </p:nvGrpSpPr>
        <p:grpSpPr>
          <a:xfrm>
            <a:off x="3566480" y="3649023"/>
            <a:ext cx="652770" cy="169277"/>
            <a:chOff x="3318237" y="3585093"/>
            <a:chExt cx="652770" cy="169277"/>
          </a:xfrm>
        </p:grpSpPr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14B6B880-5052-4663-BFD4-A0AB7D76CA44}"/>
                </a:ext>
              </a:extLst>
            </p:cNvPr>
            <p:cNvCxnSpPr>
              <a:cxnSpLocks/>
            </p:cNvCxnSpPr>
            <p:nvPr/>
          </p:nvCxnSpPr>
          <p:spPr>
            <a:xfrm>
              <a:off x="3318237" y="3669731"/>
              <a:ext cx="108000" cy="0"/>
            </a:xfrm>
            <a:prstGeom prst="line">
              <a:avLst/>
            </a:prstGeom>
            <a:ln/>
          </p:spPr>
          <p:style>
            <a:lnRef idx="1">
              <a:schemeClr val="accent2"/>
            </a:lnRef>
            <a:fillRef idx="0">
              <a:schemeClr val="accent2"/>
            </a:fillRef>
            <a:effectRef idx="0">
              <a:schemeClr val="accent2"/>
            </a:effectRef>
            <a:fontRef idx="minor">
              <a:schemeClr val="tx1"/>
            </a:fontRef>
          </p:style>
        </p:cxnSp>
        <p:sp>
          <p:nvSpPr>
            <p:cNvPr id="74" name="직사각형 73">
              <a:extLst>
                <a:ext uri="{FF2B5EF4-FFF2-40B4-BE49-F238E27FC236}">
                  <a16:creationId xmlns:a16="http://schemas.microsoft.com/office/drawing/2014/main" id="{2659B74B-18FF-46A4-9B90-4E6D52110A45}"/>
                </a:ext>
              </a:extLst>
            </p:cNvPr>
            <p:cNvSpPr/>
            <p:nvPr/>
          </p:nvSpPr>
          <p:spPr>
            <a:xfrm>
              <a:off x="3368549" y="3585093"/>
              <a:ext cx="60245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500" dirty="0">
                  <a:solidFill>
                    <a:schemeClr val="bg1"/>
                  </a:solidFill>
                </a:rPr>
                <a:t>한전계약 전력</a:t>
              </a:r>
            </a:p>
          </p:txBody>
        </p:sp>
      </p:grpSp>
      <p:grpSp>
        <p:nvGrpSpPr>
          <p:cNvPr id="75" name="그룹 74">
            <a:extLst>
              <a:ext uri="{FF2B5EF4-FFF2-40B4-BE49-F238E27FC236}">
                <a16:creationId xmlns:a16="http://schemas.microsoft.com/office/drawing/2014/main" id="{AEC771C3-7933-4C29-B717-583CCFD95618}"/>
              </a:ext>
            </a:extLst>
          </p:cNvPr>
          <p:cNvGrpSpPr/>
          <p:nvPr/>
        </p:nvGrpSpPr>
        <p:grpSpPr>
          <a:xfrm>
            <a:off x="4184256" y="3649023"/>
            <a:ext cx="626762" cy="169277"/>
            <a:chOff x="3908621" y="3585093"/>
            <a:chExt cx="626762" cy="169277"/>
          </a:xfrm>
        </p:grpSpPr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76243E0E-EDEE-4D80-8422-C1BC68C21736}"/>
                </a:ext>
              </a:extLst>
            </p:cNvPr>
            <p:cNvCxnSpPr>
              <a:cxnSpLocks/>
            </p:cNvCxnSpPr>
            <p:nvPr/>
          </p:nvCxnSpPr>
          <p:spPr>
            <a:xfrm>
              <a:off x="3908621" y="3669731"/>
              <a:ext cx="108000" cy="0"/>
            </a:xfrm>
            <a:prstGeom prst="line">
              <a:avLst/>
            </a:prstGeom>
            <a:ln>
              <a:solidFill>
                <a:schemeClr val="accent3">
                  <a:lumMod val="75000"/>
                </a:schemeClr>
              </a:solidFill>
            </a:ln>
          </p:spPr>
          <p:style>
            <a:lnRef idx="1">
              <a:schemeClr val="accent2"/>
            </a:lnRef>
            <a:fillRef idx="0">
              <a:schemeClr val="accent2"/>
            </a:fillRef>
            <a:effectRef idx="0">
              <a:schemeClr val="accent2"/>
            </a:effectRef>
            <a:fontRef idx="minor">
              <a:schemeClr val="tx1"/>
            </a:fontRef>
          </p:style>
        </p:cxnSp>
        <p:sp>
          <p:nvSpPr>
            <p:cNvPr id="77" name="직사각형 76">
              <a:extLst>
                <a:ext uri="{FF2B5EF4-FFF2-40B4-BE49-F238E27FC236}">
                  <a16:creationId xmlns:a16="http://schemas.microsoft.com/office/drawing/2014/main" id="{233CE7E7-072F-44A5-BA00-51374EC344F2}"/>
                </a:ext>
              </a:extLst>
            </p:cNvPr>
            <p:cNvSpPr/>
            <p:nvPr/>
          </p:nvSpPr>
          <p:spPr>
            <a:xfrm>
              <a:off x="3944613" y="3585093"/>
              <a:ext cx="59077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500" dirty="0">
                  <a:solidFill>
                    <a:schemeClr val="bg1"/>
                  </a:solidFill>
                </a:rPr>
                <a:t>요금적용 전력</a:t>
              </a:r>
            </a:p>
          </p:txBody>
        </p:sp>
      </p:grpSp>
      <p:grpSp>
        <p:nvGrpSpPr>
          <p:cNvPr id="81" name="그룹 80">
            <a:extLst>
              <a:ext uri="{FF2B5EF4-FFF2-40B4-BE49-F238E27FC236}">
                <a16:creationId xmlns:a16="http://schemas.microsoft.com/office/drawing/2014/main" id="{FCECF29E-11A7-4CFF-B7F6-E48B982D6773}"/>
              </a:ext>
            </a:extLst>
          </p:cNvPr>
          <p:cNvGrpSpPr/>
          <p:nvPr/>
        </p:nvGrpSpPr>
        <p:grpSpPr>
          <a:xfrm>
            <a:off x="273944" y="1885169"/>
            <a:ext cx="1926022" cy="721431"/>
            <a:chOff x="5692418" y="1753651"/>
            <a:chExt cx="3074464" cy="721431"/>
          </a:xfrm>
        </p:grpSpPr>
        <p:sp>
          <p:nvSpPr>
            <p:cNvPr id="88" name="직사각형 87">
              <a:extLst>
                <a:ext uri="{FF2B5EF4-FFF2-40B4-BE49-F238E27FC236}">
                  <a16:creationId xmlns:a16="http://schemas.microsoft.com/office/drawing/2014/main" id="{1F70B0EC-ED9B-4C48-95BA-0269C3184AE5}"/>
                </a:ext>
              </a:extLst>
            </p:cNvPr>
            <p:cNvSpPr/>
            <p:nvPr/>
          </p:nvSpPr>
          <p:spPr>
            <a:xfrm>
              <a:off x="5822353" y="2045047"/>
              <a:ext cx="2880000" cy="72008"/>
            </a:xfrm>
            <a:prstGeom prst="rect">
              <a:avLst/>
            </a:prstGeom>
            <a:solidFill>
              <a:schemeClr val="accent5">
                <a:lumMod val="75000"/>
              </a:schemeClr>
            </a:solidFill>
            <a:ln w="6350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9" name="직사각형 88">
              <a:extLst>
                <a:ext uri="{FF2B5EF4-FFF2-40B4-BE49-F238E27FC236}">
                  <a16:creationId xmlns:a16="http://schemas.microsoft.com/office/drawing/2014/main" id="{95C62959-6F22-43B6-89F3-4E9015B44329}"/>
                </a:ext>
              </a:extLst>
            </p:cNvPr>
            <p:cNvSpPr/>
            <p:nvPr/>
          </p:nvSpPr>
          <p:spPr>
            <a:xfrm>
              <a:off x="5822353" y="2403074"/>
              <a:ext cx="2880000" cy="72008"/>
            </a:xfrm>
            <a:prstGeom prst="rect">
              <a:avLst/>
            </a:prstGeom>
            <a:solidFill>
              <a:schemeClr val="accent6">
                <a:lumMod val="75000"/>
              </a:schemeClr>
            </a:solidFill>
            <a:ln w="6350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9E76E181-5B9A-4616-8EFE-026D8DB5FFBA}"/>
                </a:ext>
              </a:extLst>
            </p:cNvPr>
            <p:cNvSpPr txBox="1"/>
            <p:nvPr/>
          </p:nvSpPr>
          <p:spPr>
            <a:xfrm>
              <a:off x="5692418" y="1843641"/>
              <a:ext cx="1124403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700" b="1" dirty="0">
                  <a:solidFill>
                    <a:schemeClr val="accent5">
                      <a:lumMod val="7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오늘</a:t>
              </a:r>
              <a:r>
                <a:rPr lang="en-US" altLang="ko-KR" sz="700" b="1" dirty="0">
                  <a:solidFill>
                    <a:schemeClr val="accent5">
                      <a:lumMod val="7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ko-KR" altLang="en-US" sz="700" b="1" dirty="0" err="1">
                  <a:solidFill>
                    <a:schemeClr val="accent5">
                      <a:lumMod val="7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충전량</a:t>
              </a:r>
              <a:endParaRPr lang="ko-KR" altLang="en-US" sz="700" b="1" dirty="0">
                <a:solidFill>
                  <a:schemeClr val="accent5">
                    <a:lumMod val="7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91" name="TextBox 90">
              <a:extLst>
                <a:ext uri="{FF2B5EF4-FFF2-40B4-BE49-F238E27FC236}">
                  <a16:creationId xmlns:a16="http://schemas.microsoft.com/office/drawing/2014/main" id="{E9F72634-2345-4BAD-9F25-F98752418607}"/>
                </a:ext>
              </a:extLst>
            </p:cNvPr>
            <p:cNvSpPr txBox="1"/>
            <p:nvPr/>
          </p:nvSpPr>
          <p:spPr>
            <a:xfrm>
              <a:off x="5692418" y="2201668"/>
              <a:ext cx="1134900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700" b="1" dirty="0">
                  <a:solidFill>
                    <a:schemeClr val="accent6">
                      <a:lumMod val="7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오늘</a:t>
              </a:r>
              <a:r>
                <a:rPr lang="en-US" altLang="ko-KR" sz="700" b="1" dirty="0">
                  <a:solidFill>
                    <a:schemeClr val="accent6">
                      <a:lumMod val="7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ko-KR" altLang="en-US" sz="700" b="1" dirty="0" err="1">
                  <a:solidFill>
                    <a:schemeClr val="accent6">
                      <a:lumMod val="7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방전량</a:t>
              </a:r>
              <a:endParaRPr lang="ko-KR" altLang="en-US" sz="700" b="1" dirty="0">
                <a:solidFill>
                  <a:schemeClr val="accent6">
                    <a:lumMod val="7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92" name="TextBox 91">
              <a:extLst>
                <a:ext uri="{FF2B5EF4-FFF2-40B4-BE49-F238E27FC236}">
                  <a16:creationId xmlns:a16="http://schemas.microsoft.com/office/drawing/2014/main" id="{4F0ED4C4-CFF4-4B73-850B-2038B3BB0C3A}"/>
                </a:ext>
              </a:extLst>
            </p:cNvPr>
            <p:cNvSpPr txBox="1"/>
            <p:nvPr/>
          </p:nvSpPr>
          <p:spPr>
            <a:xfrm>
              <a:off x="7270746" y="1753651"/>
              <a:ext cx="1496136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1,350.5</a:t>
              </a:r>
              <a:r>
                <a:rPr lang="en-US" altLang="ko-KR" sz="7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en-US" altLang="ko-KR" sz="700" b="1" dirty="0">
                  <a:solidFill>
                    <a:schemeClr val="accent5">
                      <a:lumMod val="7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kWh</a:t>
              </a:r>
              <a:endParaRPr lang="ko-KR" altLang="en-US" sz="800" b="1" dirty="0">
                <a:solidFill>
                  <a:schemeClr val="accent5">
                    <a:lumMod val="7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5BF30399-D7FF-44D9-8A80-7FD89F421F2F}"/>
                </a:ext>
              </a:extLst>
            </p:cNvPr>
            <p:cNvSpPr txBox="1"/>
            <p:nvPr/>
          </p:nvSpPr>
          <p:spPr>
            <a:xfrm>
              <a:off x="7419971" y="2115095"/>
              <a:ext cx="1346908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850.5</a:t>
              </a:r>
              <a:r>
                <a:rPr lang="en-US" altLang="ko-KR" sz="7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en-US" altLang="ko-KR" sz="700" b="1" dirty="0">
                  <a:solidFill>
                    <a:schemeClr val="accent6">
                      <a:lumMod val="7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kWh</a:t>
              </a:r>
              <a:endParaRPr lang="ko-KR" altLang="en-US" sz="800" b="1" dirty="0">
                <a:solidFill>
                  <a:schemeClr val="accent6">
                    <a:lumMod val="7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82" name="그룹 81">
            <a:extLst>
              <a:ext uri="{FF2B5EF4-FFF2-40B4-BE49-F238E27FC236}">
                <a16:creationId xmlns:a16="http://schemas.microsoft.com/office/drawing/2014/main" id="{168559AE-A8E5-4041-A997-3C2B894837ED}"/>
              </a:ext>
            </a:extLst>
          </p:cNvPr>
          <p:cNvGrpSpPr/>
          <p:nvPr/>
        </p:nvGrpSpPr>
        <p:grpSpPr>
          <a:xfrm>
            <a:off x="2219815" y="2011492"/>
            <a:ext cx="582819" cy="762997"/>
            <a:chOff x="8066098" y="1891729"/>
            <a:chExt cx="639759" cy="762997"/>
          </a:xfrm>
        </p:grpSpPr>
        <p:pic>
          <p:nvPicPr>
            <p:cNvPr id="85" name="Picture 6" descr="batteryì ëí ì´ë¯¸ì§ ê²ìê²°ê³¼">
              <a:extLst>
                <a:ext uri="{FF2B5EF4-FFF2-40B4-BE49-F238E27FC236}">
                  <a16:creationId xmlns:a16="http://schemas.microsoft.com/office/drawing/2014/main" id="{4B5514D0-D7FF-48C4-A980-B69C5FF9A89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104661" y="2092093"/>
              <a:ext cx="562633" cy="56263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DE241CF2-1630-4E28-AFB0-D875E7DCDED3}"/>
                </a:ext>
              </a:extLst>
            </p:cNvPr>
            <p:cNvSpPr txBox="1"/>
            <p:nvPr/>
          </p:nvSpPr>
          <p:spPr>
            <a:xfrm>
              <a:off x="8087885" y="1891729"/>
              <a:ext cx="59618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accent5">
                      <a:lumMod val="7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SOC(</a:t>
              </a:r>
              <a:r>
                <a:rPr lang="ko-KR" altLang="en-US" sz="600" b="1" dirty="0">
                  <a:solidFill>
                    <a:schemeClr val="accent5">
                      <a:lumMod val="7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잔량</a:t>
              </a:r>
              <a:r>
                <a:rPr lang="en-US" altLang="ko-KR" sz="600" b="1" dirty="0">
                  <a:solidFill>
                    <a:schemeClr val="accent5">
                      <a:lumMod val="7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)</a:t>
              </a:r>
              <a:endParaRPr lang="ko-KR" altLang="en-US" sz="600" b="1" dirty="0">
                <a:solidFill>
                  <a:schemeClr val="accent5">
                    <a:lumMod val="7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5B0F6A88-E8E0-4CA7-851C-FE4F62A6FBAE}"/>
                </a:ext>
              </a:extLst>
            </p:cNvPr>
            <p:cNvSpPr txBox="1"/>
            <p:nvPr/>
          </p:nvSpPr>
          <p:spPr>
            <a:xfrm>
              <a:off x="8066098" y="2016579"/>
              <a:ext cx="639759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1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85.5</a:t>
              </a:r>
              <a:r>
                <a:rPr lang="en-US" altLang="ko-KR" sz="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en-US" altLang="ko-KR" sz="700" b="1" dirty="0">
                  <a:solidFill>
                    <a:schemeClr val="accent5">
                      <a:lumMod val="7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%</a:t>
              </a:r>
              <a:endParaRPr lang="ko-KR" altLang="en-US" sz="700" b="1" dirty="0">
                <a:solidFill>
                  <a:schemeClr val="accent5">
                    <a:lumMod val="7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29BE7225-41AF-42CC-A0FE-0F821D41799C}"/>
              </a:ext>
            </a:extLst>
          </p:cNvPr>
          <p:cNvSpPr/>
          <p:nvPr/>
        </p:nvSpPr>
        <p:spPr>
          <a:xfrm>
            <a:off x="1800320" y="2174451"/>
            <a:ext cx="360000" cy="6840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4" name="직사각형 83">
            <a:extLst>
              <a:ext uri="{FF2B5EF4-FFF2-40B4-BE49-F238E27FC236}">
                <a16:creationId xmlns:a16="http://schemas.microsoft.com/office/drawing/2014/main" id="{1503B530-C9B9-4E10-89F3-45CE8A0602A7}"/>
              </a:ext>
            </a:extLst>
          </p:cNvPr>
          <p:cNvSpPr/>
          <p:nvPr/>
        </p:nvSpPr>
        <p:spPr>
          <a:xfrm>
            <a:off x="1621313" y="2536023"/>
            <a:ext cx="540000" cy="6840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94" name="직선 연결선 93">
            <a:extLst>
              <a:ext uri="{FF2B5EF4-FFF2-40B4-BE49-F238E27FC236}">
                <a16:creationId xmlns:a16="http://schemas.microsoft.com/office/drawing/2014/main" id="{9F340A0B-4856-4005-86F6-B3076CBA8CE3}"/>
              </a:ext>
            </a:extLst>
          </p:cNvPr>
          <p:cNvCxnSpPr>
            <a:cxnSpLocks/>
          </p:cNvCxnSpPr>
          <p:nvPr/>
        </p:nvCxnSpPr>
        <p:spPr>
          <a:xfrm>
            <a:off x="2938810" y="1887730"/>
            <a:ext cx="0" cy="4140000"/>
          </a:xfrm>
          <a:prstGeom prst="line">
            <a:avLst/>
          </a:prstGeom>
          <a:ln w="3175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85492D68-2FC4-4CB4-A595-6621D5FE8DDC}"/>
              </a:ext>
            </a:extLst>
          </p:cNvPr>
          <p:cNvSpPr/>
          <p:nvPr/>
        </p:nvSpPr>
        <p:spPr>
          <a:xfrm>
            <a:off x="5810955" y="1802597"/>
            <a:ext cx="1820532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수익 현황</a:t>
            </a:r>
          </a:p>
        </p:txBody>
      </p:sp>
      <p:graphicFrame>
        <p:nvGraphicFramePr>
          <p:cNvPr id="96" name="표 95">
            <a:extLst>
              <a:ext uri="{FF2B5EF4-FFF2-40B4-BE49-F238E27FC236}">
                <a16:creationId xmlns:a16="http://schemas.microsoft.com/office/drawing/2014/main" id="{47E5037A-FFD1-446C-BD26-D58DACF2998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56177727"/>
              </p:ext>
            </p:extLst>
          </p:nvPr>
        </p:nvGraphicFramePr>
        <p:xfrm>
          <a:off x="5849513" y="1985340"/>
          <a:ext cx="2295059" cy="10058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253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221454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14727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/>
                        <a:t>kW</a:t>
                      </a:r>
                      <a:endParaRPr lang="ko-KR" altLang="en-US" sz="6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4727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500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4727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400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4727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300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4727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200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781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100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7818"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01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02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03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04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05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06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07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08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09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10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11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12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grpSp>
        <p:nvGrpSpPr>
          <p:cNvPr id="97" name="그룹 96">
            <a:extLst>
              <a:ext uri="{FF2B5EF4-FFF2-40B4-BE49-F238E27FC236}">
                <a16:creationId xmlns:a16="http://schemas.microsoft.com/office/drawing/2014/main" id="{302B5A77-0813-4FBC-9FB0-C62C56BB230E}"/>
              </a:ext>
            </a:extLst>
          </p:cNvPr>
          <p:cNvGrpSpPr/>
          <p:nvPr/>
        </p:nvGrpSpPr>
        <p:grpSpPr>
          <a:xfrm>
            <a:off x="6127556" y="2541597"/>
            <a:ext cx="114467" cy="310233"/>
            <a:chOff x="1234728" y="4790879"/>
            <a:chExt cx="144016" cy="310233"/>
          </a:xfrm>
        </p:grpSpPr>
        <p:sp>
          <p:nvSpPr>
            <p:cNvPr id="98" name="직사각형 97">
              <a:extLst>
                <a:ext uri="{FF2B5EF4-FFF2-40B4-BE49-F238E27FC236}">
                  <a16:creationId xmlns:a16="http://schemas.microsoft.com/office/drawing/2014/main" id="{EDD4EEEF-7461-4E90-949E-1A1571E16BB1}"/>
                </a:ext>
              </a:extLst>
            </p:cNvPr>
            <p:cNvSpPr/>
            <p:nvPr/>
          </p:nvSpPr>
          <p:spPr>
            <a:xfrm>
              <a:off x="1234728" y="4836597"/>
              <a:ext cx="144016" cy="264515"/>
            </a:xfrm>
            <a:prstGeom prst="rect">
              <a:avLst/>
            </a:prstGeom>
            <a:solidFill>
              <a:srgbClr val="FFC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99" name="직사각형 98">
              <a:extLst>
                <a:ext uri="{FF2B5EF4-FFF2-40B4-BE49-F238E27FC236}">
                  <a16:creationId xmlns:a16="http://schemas.microsoft.com/office/drawing/2014/main" id="{57664B3A-8427-494A-A382-067A9049F1A5}"/>
                </a:ext>
              </a:extLst>
            </p:cNvPr>
            <p:cNvSpPr/>
            <p:nvPr/>
          </p:nvSpPr>
          <p:spPr>
            <a:xfrm>
              <a:off x="1234728" y="4790879"/>
              <a:ext cx="144016" cy="175215"/>
            </a:xfrm>
            <a:prstGeom prst="rect">
              <a:avLst/>
            </a:prstGeom>
            <a:solidFill>
              <a:schemeClr val="tx2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ABD8DBEB-FCFB-4A9E-9E76-898DF67CD146}"/>
              </a:ext>
            </a:extLst>
          </p:cNvPr>
          <p:cNvSpPr/>
          <p:nvPr/>
        </p:nvSpPr>
        <p:spPr>
          <a:xfrm>
            <a:off x="6295753" y="2515389"/>
            <a:ext cx="115200" cy="336441"/>
          </a:xfrm>
          <a:prstGeom prst="rect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grpSp>
        <p:nvGrpSpPr>
          <p:cNvPr id="101" name="그룹 100">
            <a:extLst>
              <a:ext uri="{FF2B5EF4-FFF2-40B4-BE49-F238E27FC236}">
                <a16:creationId xmlns:a16="http://schemas.microsoft.com/office/drawing/2014/main" id="{0207C4C3-F123-4D15-991E-9B817D38581F}"/>
              </a:ext>
            </a:extLst>
          </p:cNvPr>
          <p:cNvGrpSpPr/>
          <p:nvPr/>
        </p:nvGrpSpPr>
        <p:grpSpPr>
          <a:xfrm>
            <a:off x="6463950" y="2585693"/>
            <a:ext cx="114467" cy="266137"/>
            <a:chOff x="1907704" y="3275281"/>
            <a:chExt cx="288032" cy="535432"/>
          </a:xfrm>
        </p:grpSpPr>
        <p:sp>
          <p:nvSpPr>
            <p:cNvPr id="103" name="직사각형 102">
              <a:extLst>
                <a:ext uri="{FF2B5EF4-FFF2-40B4-BE49-F238E27FC236}">
                  <a16:creationId xmlns:a16="http://schemas.microsoft.com/office/drawing/2014/main" id="{66A33D6C-E258-4AB8-AD5D-72F68762BB7E}"/>
                </a:ext>
              </a:extLst>
            </p:cNvPr>
            <p:cNvSpPr/>
            <p:nvPr/>
          </p:nvSpPr>
          <p:spPr>
            <a:xfrm>
              <a:off x="1907704" y="3321001"/>
              <a:ext cx="288032" cy="489712"/>
            </a:xfrm>
            <a:prstGeom prst="rect">
              <a:avLst/>
            </a:prstGeom>
            <a:solidFill>
              <a:srgbClr val="FFC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104" name="직사각형 103">
              <a:extLst>
                <a:ext uri="{FF2B5EF4-FFF2-40B4-BE49-F238E27FC236}">
                  <a16:creationId xmlns:a16="http://schemas.microsoft.com/office/drawing/2014/main" id="{390AC3DE-B918-4734-8680-8A7CC843E6A3}"/>
                </a:ext>
              </a:extLst>
            </p:cNvPr>
            <p:cNvSpPr/>
            <p:nvPr/>
          </p:nvSpPr>
          <p:spPr>
            <a:xfrm>
              <a:off x="1907704" y="3275281"/>
              <a:ext cx="288032" cy="289487"/>
            </a:xfrm>
            <a:prstGeom prst="rect">
              <a:avLst/>
            </a:prstGeom>
            <a:solidFill>
              <a:schemeClr val="tx2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sp>
        <p:nvSpPr>
          <p:cNvPr id="105" name="직사각형 104">
            <a:extLst>
              <a:ext uri="{FF2B5EF4-FFF2-40B4-BE49-F238E27FC236}">
                <a16:creationId xmlns:a16="http://schemas.microsoft.com/office/drawing/2014/main" id="{EDDCF0FF-12B0-4CE9-9086-CEE4DF9DB870}"/>
              </a:ext>
            </a:extLst>
          </p:cNvPr>
          <p:cNvSpPr/>
          <p:nvPr/>
        </p:nvSpPr>
        <p:spPr>
          <a:xfrm>
            <a:off x="6593218" y="2707940"/>
            <a:ext cx="114467" cy="143890"/>
          </a:xfrm>
          <a:prstGeom prst="rect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graphicFrame>
        <p:nvGraphicFramePr>
          <p:cNvPr id="106" name="표 105">
            <a:extLst>
              <a:ext uri="{FF2B5EF4-FFF2-40B4-BE49-F238E27FC236}">
                <a16:creationId xmlns:a16="http://schemas.microsoft.com/office/drawing/2014/main" id="{AECF42C3-9927-4567-83AD-65A5BAE8128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27902442"/>
              </p:ext>
            </p:extLst>
          </p:nvPr>
        </p:nvGraphicFramePr>
        <p:xfrm>
          <a:off x="291742" y="3055006"/>
          <a:ext cx="2547265" cy="150563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579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19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20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21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22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23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24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25"/>
                    </a:ext>
                  </a:extLst>
                </a:gridCol>
              </a:tblGrid>
              <a:tr h="1574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/>
                        <a:t>kWh</a:t>
                      </a:r>
                      <a:endParaRPr lang="ko-KR" altLang="en-US" sz="6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574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2000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57410"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57410"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574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1000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57410"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574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500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57410"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574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88949"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00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01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02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03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04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05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06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07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08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09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10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11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12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13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14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15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16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17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18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19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20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21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22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23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24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grpSp>
        <p:nvGrpSpPr>
          <p:cNvPr id="107" name="그룹 106">
            <a:extLst>
              <a:ext uri="{FF2B5EF4-FFF2-40B4-BE49-F238E27FC236}">
                <a16:creationId xmlns:a16="http://schemas.microsoft.com/office/drawing/2014/main" id="{0C4EF8B6-D6E2-42B1-909B-5808D638D80C}"/>
              </a:ext>
            </a:extLst>
          </p:cNvPr>
          <p:cNvGrpSpPr/>
          <p:nvPr/>
        </p:nvGrpSpPr>
        <p:grpSpPr>
          <a:xfrm>
            <a:off x="574906" y="3980766"/>
            <a:ext cx="1526152" cy="367021"/>
            <a:chOff x="1354667" y="3680460"/>
            <a:chExt cx="4732866" cy="586740"/>
          </a:xfrm>
        </p:grpSpPr>
        <p:sp>
          <p:nvSpPr>
            <p:cNvPr id="108" name="자유형 5">
              <a:extLst>
                <a:ext uri="{FF2B5EF4-FFF2-40B4-BE49-F238E27FC236}">
                  <a16:creationId xmlns:a16="http://schemas.microsoft.com/office/drawing/2014/main" id="{298F7A9C-ACD2-40BA-87FC-AFE06A6AF2DB}"/>
                </a:ext>
              </a:extLst>
            </p:cNvPr>
            <p:cNvSpPr/>
            <p:nvPr/>
          </p:nvSpPr>
          <p:spPr>
            <a:xfrm>
              <a:off x="2286000" y="3680460"/>
              <a:ext cx="1733550" cy="453390"/>
            </a:xfrm>
            <a:custGeom>
              <a:avLst/>
              <a:gdLst>
                <a:gd name="connsiteX0" fmla="*/ 0 w 1733550"/>
                <a:gd name="connsiteY0" fmla="*/ 171450 h 453390"/>
                <a:gd name="connsiteX1" fmla="*/ 582930 w 1733550"/>
                <a:gd name="connsiteY1" fmla="*/ 430530 h 453390"/>
                <a:gd name="connsiteX2" fmla="*/ 864870 w 1733550"/>
                <a:gd name="connsiteY2" fmla="*/ 453390 h 453390"/>
                <a:gd name="connsiteX3" fmla="*/ 1165860 w 1733550"/>
                <a:gd name="connsiteY3" fmla="*/ 419100 h 453390"/>
                <a:gd name="connsiteX4" fmla="*/ 1482090 w 1733550"/>
                <a:gd name="connsiteY4" fmla="*/ 106680 h 453390"/>
                <a:gd name="connsiteX5" fmla="*/ 1733550 w 1733550"/>
                <a:gd name="connsiteY5" fmla="*/ 0 h 453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33550" h="453390">
                  <a:moveTo>
                    <a:pt x="0" y="171450"/>
                  </a:moveTo>
                  <a:lnTo>
                    <a:pt x="582930" y="430530"/>
                  </a:lnTo>
                  <a:lnTo>
                    <a:pt x="864870" y="453390"/>
                  </a:lnTo>
                  <a:lnTo>
                    <a:pt x="1165860" y="419100"/>
                  </a:lnTo>
                  <a:lnTo>
                    <a:pt x="1482090" y="106680"/>
                  </a:lnTo>
                  <a:lnTo>
                    <a:pt x="1733550" y="0"/>
                  </a:lnTo>
                </a:path>
              </a:pathLst>
            </a:custGeom>
            <a:solidFill>
              <a:schemeClr val="accent3">
                <a:lumMod val="40000"/>
                <a:lumOff val="60000"/>
              </a:schemeClr>
            </a:solidFill>
            <a:ln>
              <a:solidFill>
                <a:schemeClr val="accent3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109" name="자유형 4">
              <a:extLst>
                <a:ext uri="{FF2B5EF4-FFF2-40B4-BE49-F238E27FC236}">
                  <a16:creationId xmlns:a16="http://schemas.microsoft.com/office/drawing/2014/main" id="{2D51EF02-CE9C-474D-9D99-B911FDC95FA5}"/>
                </a:ext>
              </a:extLst>
            </p:cNvPr>
            <p:cNvSpPr/>
            <p:nvPr/>
          </p:nvSpPr>
          <p:spPr>
            <a:xfrm rot="10259621">
              <a:off x="2260738" y="3727732"/>
              <a:ext cx="1757660" cy="90164"/>
            </a:xfrm>
            <a:custGeom>
              <a:avLst/>
              <a:gdLst>
                <a:gd name="connsiteX0" fmla="*/ 0 w 1761066"/>
                <a:gd name="connsiteY0" fmla="*/ 177800 h 228600"/>
                <a:gd name="connsiteX1" fmla="*/ 601133 w 1761066"/>
                <a:gd name="connsiteY1" fmla="*/ 228600 h 228600"/>
                <a:gd name="connsiteX2" fmla="*/ 905933 w 1761066"/>
                <a:gd name="connsiteY2" fmla="*/ 177800 h 228600"/>
                <a:gd name="connsiteX3" fmla="*/ 1159933 w 1761066"/>
                <a:gd name="connsiteY3" fmla="*/ 127000 h 228600"/>
                <a:gd name="connsiteX4" fmla="*/ 1498600 w 1761066"/>
                <a:gd name="connsiteY4" fmla="*/ 59267 h 228600"/>
                <a:gd name="connsiteX5" fmla="*/ 1761066 w 1761066"/>
                <a:gd name="connsiteY5" fmla="*/ 0 h 228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61066" h="228600">
                  <a:moveTo>
                    <a:pt x="0" y="177800"/>
                  </a:moveTo>
                  <a:lnTo>
                    <a:pt x="601133" y="228600"/>
                  </a:lnTo>
                  <a:lnTo>
                    <a:pt x="905933" y="177800"/>
                  </a:lnTo>
                  <a:lnTo>
                    <a:pt x="1159933" y="127000"/>
                  </a:lnTo>
                  <a:lnTo>
                    <a:pt x="1498600" y="59267"/>
                  </a:lnTo>
                  <a:lnTo>
                    <a:pt x="1761066" y="0"/>
                  </a:lnTo>
                </a:path>
              </a:pathLst>
            </a:custGeom>
            <a:solidFill>
              <a:schemeClr val="accent3">
                <a:lumMod val="40000"/>
                <a:lumOff val="60000"/>
              </a:schemeClr>
            </a:solidFill>
            <a:ln>
              <a:solidFill>
                <a:schemeClr val="accent3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110" name="자유형 7">
              <a:extLst>
                <a:ext uri="{FF2B5EF4-FFF2-40B4-BE49-F238E27FC236}">
                  <a16:creationId xmlns:a16="http://schemas.microsoft.com/office/drawing/2014/main" id="{0B38DE36-BF1B-4E8A-AA25-709AC0E1482B}"/>
                </a:ext>
              </a:extLst>
            </p:cNvPr>
            <p:cNvSpPr/>
            <p:nvPr/>
          </p:nvSpPr>
          <p:spPr>
            <a:xfrm>
              <a:off x="4023360" y="3699510"/>
              <a:ext cx="2049780" cy="567690"/>
            </a:xfrm>
            <a:custGeom>
              <a:avLst/>
              <a:gdLst>
                <a:gd name="connsiteX0" fmla="*/ 0 w 2049780"/>
                <a:gd name="connsiteY0" fmla="*/ 0 h 567690"/>
                <a:gd name="connsiteX1" fmla="*/ 331470 w 2049780"/>
                <a:gd name="connsiteY1" fmla="*/ 60960 h 567690"/>
                <a:gd name="connsiteX2" fmla="*/ 640080 w 2049780"/>
                <a:gd name="connsiteY2" fmla="*/ 220980 h 567690"/>
                <a:gd name="connsiteX3" fmla="*/ 1242060 w 2049780"/>
                <a:gd name="connsiteY3" fmla="*/ 236220 h 567690"/>
                <a:gd name="connsiteX4" fmla="*/ 1684020 w 2049780"/>
                <a:gd name="connsiteY4" fmla="*/ 144780 h 567690"/>
                <a:gd name="connsiteX5" fmla="*/ 2049780 w 2049780"/>
                <a:gd name="connsiteY5" fmla="*/ 19050 h 567690"/>
                <a:gd name="connsiteX6" fmla="*/ 1779270 w 2049780"/>
                <a:gd name="connsiteY6" fmla="*/ 346710 h 567690"/>
                <a:gd name="connsiteX7" fmla="*/ 1249680 w 2049780"/>
                <a:gd name="connsiteY7" fmla="*/ 567690 h 567690"/>
                <a:gd name="connsiteX8" fmla="*/ 621030 w 2049780"/>
                <a:gd name="connsiteY8" fmla="*/ 563880 h 567690"/>
                <a:gd name="connsiteX9" fmla="*/ 308610 w 2049780"/>
                <a:gd name="connsiteY9" fmla="*/ 419100 h 567690"/>
                <a:gd name="connsiteX10" fmla="*/ 0 w 2049780"/>
                <a:gd name="connsiteY10" fmla="*/ 0 h 567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49780" h="567690">
                  <a:moveTo>
                    <a:pt x="0" y="0"/>
                  </a:moveTo>
                  <a:lnTo>
                    <a:pt x="331470" y="60960"/>
                  </a:lnTo>
                  <a:lnTo>
                    <a:pt x="640080" y="220980"/>
                  </a:lnTo>
                  <a:lnTo>
                    <a:pt x="1242060" y="236220"/>
                  </a:lnTo>
                  <a:lnTo>
                    <a:pt x="1684020" y="144780"/>
                  </a:lnTo>
                  <a:lnTo>
                    <a:pt x="2049780" y="19050"/>
                  </a:lnTo>
                  <a:lnTo>
                    <a:pt x="1779270" y="346710"/>
                  </a:lnTo>
                  <a:lnTo>
                    <a:pt x="1249680" y="567690"/>
                  </a:lnTo>
                  <a:lnTo>
                    <a:pt x="621030" y="563880"/>
                  </a:lnTo>
                  <a:lnTo>
                    <a:pt x="308610" y="4191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111" name="자유형 1">
              <a:extLst>
                <a:ext uri="{FF2B5EF4-FFF2-40B4-BE49-F238E27FC236}">
                  <a16:creationId xmlns:a16="http://schemas.microsoft.com/office/drawing/2014/main" id="{ED9718AB-5CCD-47D4-BA5B-DCA054E7B676}"/>
                </a:ext>
              </a:extLst>
            </p:cNvPr>
            <p:cNvSpPr/>
            <p:nvPr/>
          </p:nvSpPr>
          <p:spPr>
            <a:xfrm>
              <a:off x="1354667" y="3683000"/>
              <a:ext cx="4732866" cy="584200"/>
            </a:xfrm>
            <a:custGeom>
              <a:avLst/>
              <a:gdLst>
                <a:gd name="connsiteX0" fmla="*/ 0 w 4732866"/>
                <a:gd name="connsiteY0" fmla="*/ 330200 h 584200"/>
                <a:gd name="connsiteX1" fmla="*/ 262466 w 4732866"/>
                <a:gd name="connsiteY1" fmla="*/ 169333 h 584200"/>
                <a:gd name="connsiteX2" fmla="*/ 575733 w 4732866"/>
                <a:gd name="connsiteY2" fmla="*/ 279400 h 584200"/>
                <a:gd name="connsiteX3" fmla="*/ 905933 w 4732866"/>
                <a:gd name="connsiteY3" fmla="*/ 169333 h 584200"/>
                <a:gd name="connsiteX4" fmla="*/ 1193800 w 4732866"/>
                <a:gd name="connsiteY4" fmla="*/ 296333 h 584200"/>
                <a:gd name="connsiteX5" fmla="*/ 1507066 w 4732866"/>
                <a:gd name="connsiteY5" fmla="*/ 431800 h 584200"/>
                <a:gd name="connsiteX6" fmla="*/ 1794933 w 4732866"/>
                <a:gd name="connsiteY6" fmla="*/ 457200 h 584200"/>
                <a:gd name="connsiteX7" fmla="*/ 2091266 w 4732866"/>
                <a:gd name="connsiteY7" fmla="*/ 423333 h 584200"/>
                <a:gd name="connsiteX8" fmla="*/ 2413000 w 4732866"/>
                <a:gd name="connsiteY8" fmla="*/ 101600 h 584200"/>
                <a:gd name="connsiteX9" fmla="*/ 2667000 w 4732866"/>
                <a:gd name="connsiteY9" fmla="*/ 0 h 584200"/>
                <a:gd name="connsiteX10" fmla="*/ 2971800 w 4732866"/>
                <a:gd name="connsiteY10" fmla="*/ 431800 h 584200"/>
                <a:gd name="connsiteX11" fmla="*/ 3293533 w 4732866"/>
                <a:gd name="connsiteY11" fmla="*/ 567267 h 584200"/>
                <a:gd name="connsiteX12" fmla="*/ 3615266 w 4732866"/>
                <a:gd name="connsiteY12" fmla="*/ 558800 h 584200"/>
                <a:gd name="connsiteX13" fmla="*/ 3911600 w 4732866"/>
                <a:gd name="connsiteY13" fmla="*/ 584200 h 584200"/>
                <a:gd name="connsiteX14" fmla="*/ 4199466 w 4732866"/>
                <a:gd name="connsiteY14" fmla="*/ 440267 h 584200"/>
                <a:gd name="connsiteX15" fmla="*/ 4453466 w 4732866"/>
                <a:gd name="connsiteY15" fmla="*/ 364067 h 584200"/>
                <a:gd name="connsiteX16" fmla="*/ 4732866 w 4732866"/>
                <a:gd name="connsiteY16" fmla="*/ 16933 h 584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732866" h="584200">
                  <a:moveTo>
                    <a:pt x="0" y="330200"/>
                  </a:moveTo>
                  <a:lnTo>
                    <a:pt x="262466" y="169333"/>
                  </a:lnTo>
                  <a:lnTo>
                    <a:pt x="575733" y="279400"/>
                  </a:lnTo>
                  <a:lnTo>
                    <a:pt x="905933" y="169333"/>
                  </a:lnTo>
                  <a:lnTo>
                    <a:pt x="1193800" y="296333"/>
                  </a:lnTo>
                  <a:lnTo>
                    <a:pt x="1507066" y="431800"/>
                  </a:lnTo>
                  <a:lnTo>
                    <a:pt x="1794933" y="457200"/>
                  </a:lnTo>
                  <a:lnTo>
                    <a:pt x="2091266" y="423333"/>
                  </a:lnTo>
                  <a:lnTo>
                    <a:pt x="2413000" y="101600"/>
                  </a:lnTo>
                  <a:lnTo>
                    <a:pt x="2667000" y="0"/>
                  </a:lnTo>
                  <a:lnTo>
                    <a:pt x="2971800" y="431800"/>
                  </a:lnTo>
                  <a:lnTo>
                    <a:pt x="3293533" y="567267"/>
                  </a:lnTo>
                  <a:lnTo>
                    <a:pt x="3615266" y="558800"/>
                  </a:lnTo>
                  <a:lnTo>
                    <a:pt x="3911600" y="584200"/>
                  </a:lnTo>
                  <a:lnTo>
                    <a:pt x="4199466" y="440267"/>
                  </a:lnTo>
                  <a:lnTo>
                    <a:pt x="4453466" y="364067"/>
                  </a:lnTo>
                  <a:lnTo>
                    <a:pt x="4732866" y="16933"/>
                  </a:lnTo>
                </a:path>
              </a:pathLst>
            </a:custGeom>
            <a:ln w="22225">
              <a:solidFill>
                <a:schemeClr val="accent6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sp>
        <p:nvSpPr>
          <p:cNvPr id="112" name="TextBox 111">
            <a:extLst>
              <a:ext uri="{FF2B5EF4-FFF2-40B4-BE49-F238E27FC236}">
                <a16:creationId xmlns:a16="http://schemas.microsoft.com/office/drawing/2014/main" id="{C2BEAF07-29E1-4E0A-AD98-44A528D46F68}"/>
              </a:ext>
            </a:extLst>
          </p:cNvPr>
          <p:cNvSpPr txBox="1"/>
          <p:nvPr/>
        </p:nvSpPr>
        <p:spPr>
          <a:xfrm>
            <a:off x="222795" y="2840555"/>
            <a:ext cx="1013626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사용량</a:t>
            </a:r>
            <a:r>
              <a:rPr lang="en-US" altLang="ko-KR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ko-KR" altLang="en-US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구성 </a:t>
            </a:r>
            <a:r>
              <a:rPr lang="en-US" altLang="ko-KR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(DER)</a:t>
            </a:r>
            <a:endParaRPr lang="ko-KR" altLang="en-US" sz="8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13" name="그룹 112">
            <a:extLst>
              <a:ext uri="{FF2B5EF4-FFF2-40B4-BE49-F238E27FC236}">
                <a16:creationId xmlns:a16="http://schemas.microsoft.com/office/drawing/2014/main" id="{F992A0CF-FD53-4105-99A2-BCAC3A4AE812}"/>
              </a:ext>
            </a:extLst>
          </p:cNvPr>
          <p:cNvGrpSpPr/>
          <p:nvPr/>
        </p:nvGrpSpPr>
        <p:grpSpPr>
          <a:xfrm>
            <a:off x="512960" y="4519346"/>
            <a:ext cx="2088232" cy="254366"/>
            <a:chOff x="766046" y="3528551"/>
            <a:chExt cx="2088232" cy="254366"/>
          </a:xfrm>
        </p:grpSpPr>
        <p:grpSp>
          <p:nvGrpSpPr>
            <p:cNvPr id="114" name="그룹 113">
              <a:extLst>
                <a:ext uri="{FF2B5EF4-FFF2-40B4-BE49-F238E27FC236}">
                  <a16:creationId xmlns:a16="http://schemas.microsoft.com/office/drawing/2014/main" id="{DCD8F9D2-4BE9-4187-8F1E-9957DBD32782}"/>
                </a:ext>
              </a:extLst>
            </p:cNvPr>
            <p:cNvGrpSpPr/>
            <p:nvPr/>
          </p:nvGrpSpPr>
          <p:grpSpPr>
            <a:xfrm>
              <a:off x="1558134" y="3547722"/>
              <a:ext cx="631876" cy="216024"/>
              <a:chOff x="1187624" y="4744315"/>
              <a:chExt cx="631876" cy="216024"/>
            </a:xfrm>
          </p:grpSpPr>
          <p:sp>
            <p:nvSpPr>
              <p:cNvPr id="121" name="직사각형 120">
                <a:extLst>
                  <a:ext uri="{FF2B5EF4-FFF2-40B4-BE49-F238E27FC236}">
                    <a16:creationId xmlns:a16="http://schemas.microsoft.com/office/drawing/2014/main" id="{85D1B163-F308-4C13-9E54-6336920F0856}"/>
                  </a:ext>
                </a:extLst>
              </p:cNvPr>
              <p:cNvSpPr/>
              <p:nvPr/>
            </p:nvSpPr>
            <p:spPr>
              <a:xfrm>
                <a:off x="1187624" y="4781396"/>
                <a:ext cx="270595" cy="141862"/>
              </a:xfrm>
              <a:prstGeom prst="rect">
                <a:avLst/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altLang="ko-KR" sz="500" b="1" dirty="0">
                    <a:solidFill>
                      <a:schemeClr val="accent3">
                        <a:lumMod val="60000"/>
                        <a:lumOff val="40000"/>
                      </a:schemeClr>
                    </a:solidFill>
                    <a:latin typeface="맑은 고딕" pitchFamily="50" charset="-127"/>
                    <a:ea typeface="맑은 고딕" pitchFamily="50" charset="-127"/>
                  </a:rPr>
                  <a:t>ESS </a:t>
                </a:r>
                <a:endParaRPr lang="ko-KR" altLang="en-US" sz="500" b="1" dirty="0">
                  <a:solidFill>
                    <a:schemeClr val="accent3">
                      <a:lumMod val="60000"/>
                      <a:lumOff val="40000"/>
                    </a:schemeClr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  <p:sp>
            <p:nvSpPr>
              <p:cNvPr id="122" name="직사각형 121">
                <a:extLst>
                  <a:ext uri="{FF2B5EF4-FFF2-40B4-BE49-F238E27FC236}">
                    <a16:creationId xmlns:a16="http://schemas.microsoft.com/office/drawing/2014/main" id="{457EC856-9257-4A1C-9E47-5ABC04F7C002}"/>
                  </a:ext>
                </a:extLst>
              </p:cNvPr>
              <p:cNvSpPr/>
              <p:nvPr/>
            </p:nvSpPr>
            <p:spPr>
              <a:xfrm>
                <a:off x="1475656" y="4744315"/>
                <a:ext cx="343844" cy="216024"/>
              </a:xfrm>
              <a:prstGeom prst="rect">
                <a:avLst/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ko-KR" sz="1000" b="1" dirty="0">
                    <a:solidFill>
                      <a:schemeClr val="bg1"/>
                    </a:solidFill>
                    <a:latin typeface="맑은 고딕" pitchFamily="50" charset="-127"/>
                    <a:ea typeface="맑은 고딕" pitchFamily="50" charset="-127"/>
                  </a:rPr>
                  <a:t>10%</a:t>
                </a:r>
                <a:endParaRPr lang="ko-KR" altLang="en-US" sz="10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</p:grpSp>
        <p:grpSp>
          <p:nvGrpSpPr>
            <p:cNvPr id="115" name="그룹 114">
              <a:extLst>
                <a:ext uri="{FF2B5EF4-FFF2-40B4-BE49-F238E27FC236}">
                  <a16:creationId xmlns:a16="http://schemas.microsoft.com/office/drawing/2014/main" id="{63C5332A-63BC-415B-9AF8-6D929E320046}"/>
                </a:ext>
              </a:extLst>
            </p:cNvPr>
            <p:cNvGrpSpPr/>
            <p:nvPr/>
          </p:nvGrpSpPr>
          <p:grpSpPr>
            <a:xfrm>
              <a:off x="2278214" y="3528551"/>
              <a:ext cx="576064" cy="254366"/>
              <a:chOff x="1907704" y="4725144"/>
              <a:chExt cx="576064" cy="254366"/>
            </a:xfrm>
          </p:grpSpPr>
          <p:sp>
            <p:nvSpPr>
              <p:cNvPr id="119" name="직사각형 118">
                <a:extLst>
                  <a:ext uri="{FF2B5EF4-FFF2-40B4-BE49-F238E27FC236}">
                    <a16:creationId xmlns:a16="http://schemas.microsoft.com/office/drawing/2014/main" id="{6CA947FB-19A7-4EA8-A25A-93ECA996052A}"/>
                  </a:ext>
                </a:extLst>
              </p:cNvPr>
              <p:cNvSpPr/>
              <p:nvPr/>
            </p:nvSpPr>
            <p:spPr>
              <a:xfrm>
                <a:off x="1907704" y="4781396"/>
                <a:ext cx="270595" cy="141862"/>
              </a:xfrm>
              <a:prstGeom prst="rect">
                <a:avLst/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altLang="ko-KR" sz="500" b="1" dirty="0">
                    <a:solidFill>
                      <a:schemeClr val="accent2">
                        <a:lumMod val="40000"/>
                        <a:lumOff val="60000"/>
                      </a:schemeClr>
                    </a:solidFill>
                    <a:latin typeface="맑은 고딕" pitchFamily="50" charset="-127"/>
                    <a:ea typeface="맑은 고딕" pitchFamily="50" charset="-127"/>
                  </a:rPr>
                  <a:t>PV </a:t>
                </a:r>
                <a:endParaRPr lang="ko-KR" altLang="en-US" sz="500" b="1" dirty="0">
                  <a:solidFill>
                    <a:schemeClr val="accent2">
                      <a:lumMod val="40000"/>
                      <a:lumOff val="60000"/>
                    </a:schemeClr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  <p:sp>
            <p:nvSpPr>
              <p:cNvPr id="120" name="직사각형 119">
                <a:extLst>
                  <a:ext uri="{FF2B5EF4-FFF2-40B4-BE49-F238E27FC236}">
                    <a16:creationId xmlns:a16="http://schemas.microsoft.com/office/drawing/2014/main" id="{8D983A37-1838-487A-A656-E7DD0843C05D}"/>
                  </a:ext>
                </a:extLst>
              </p:cNvPr>
              <p:cNvSpPr/>
              <p:nvPr/>
            </p:nvSpPr>
            <p:spPr>
              <a:xfrm>
                <a:off x="2213173" y="4725144"/>
                <a:ext cx="270595" cy="254366"/>
              </a:xfrm>
              <a:prstGeom prst="rect">
                <a:avLst/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ko-KR" sz="1000" b="1" dirty="0">
                    <a:solidFill>
                      <a:schemeClr val="bg1"/>
                    </a:solidFill>
                    <a:latin typeface="맑은 고딕" pitchFamily="50" charset="-127"/>
                    <a:ea typeface="맑은 고딕" pitchFamily="50" charset="-127"/>
                  </a:rPr>
                  <a:t>9%</a:t>
                </a:r>
                <a:endParaRPr lang="ko-KR" altLang="en-US" sz="10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</p:grpSp>
        <p:grpSp>
          <p:nvGrpSpPr>
            <p:cNvPr id="116" name="그룹 115">
              <a:extLst>
                <a:ext uri="{FF2B5EF4-FFF2-40B4-BE49-F238E27FC236}">
                  <a16:creationId xmlns:a16="http://schemas.microsoft.com/office/drawing/2014/main" id="{E9452DD6-1779-4C8D-BF9E-621BFE929D70}"/>
                </a:ext>
              </a:extLst>
            </p:cNvPr>
            <p:cNvGrpSpPr/>
            <p:nvPr/>
          </p:nvGrpSpPr>
          <p:grpSpPr>
            <a:xfrm>
              <a:off x="766046" y="3547722"/>
              <a:ext cx="703884" cy="216024"/>
              <a:chOff x="395536" y="4744315"/>
              <a:chExt cx="703884" cy="216024"/>
            </a:xfrm>
          </p:grpSpPr>
          <p:sp>
            <p:nvSpPr>
              <p:cNvPr id="117" name="직사각형 116">
                <a:extLst>
                  <a:ext uri="{FF2B5EF4-FFF2-40B4-BE49-F238E27FC236}">
                    <a16:creationId xmlns:a16="http://schemas.microsoft.com/office/drawing/2014/main" id="{CE38C945-7371-4D4E-9F85-1BDC5426E86E}"/>
                  </a:ext>
                </a:extLst>
              </p:cNvPr>
              <p:cNvSpPr/>
              <p:nvPr/>
            </p:nvSpPr>
            <p:spPr>
              <a:xfrm>
                <a:off x="395536" y="4781396"/>
                <a:ext cx="356537" cy="141862"/>
              </a:xfrm>
              <a:prstGeom prst="rect">
                <a:avLst/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ko-KR" altLang="en-US" sz="500" b="1" dirty="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맑은 고딕" pitchFamily="50" charset="-127"/>
                    <a:ea typeface="맑은 고딕" pitchFamily="50" charset="-127"/>
                  </a:rPr>
                  <a:t>한전 </a:t>
                </a:r>
              </a:p>
            </p:txBody>
          </p:sp>
          <p:sp>
            <p:nvSpPr>
              <p:cNvPr id="118" name="직사각형 117">
                <a:extLst>
                  <a:ext uri="{FF2B5EF4-FFF2-40B4-BE49-F238E27FC236}">
                    <a16:creationId xmlns:a16="http://schemas.microsoft.com/office/drawing/2014/main" id="{2FFF6D7F-6812-4828-89ED-27AB3E94AE6A}"/>
                  </a:ext>
                </a:extLst>
              </p:cNvPr>
              <p:cNvSpPr/>
              <p:nvPr/>
            </p:nvSpPr>
            <p:spPr>
              <a:xfrm>
                <a:off x="755576" y="4744315"/>
                <a:ext cx="343844" cy="216024"/>
              </a:xfrm>
              <a:prstGeom prst="rect">
                <a:avLst/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ko-KR" sz="1000" b="1" dirty="0">
                    <a:solidFill>
                      <a:srgbClr val="FF0000"/>
                    </a:solidFill>
                    <a:latin typeface="맑은 고딕" pitchFamily="50" charset="-127"/>
                    <a:ea typeface="맑은 고딕" pitchFamily="50" charset="-127"/>
                  </a:rPr>
                  <a:t>81%</a:t>
                </a:r>
                <a:endParaRPr lang="ko-KR" altLang="en-US" sz="1000" b="1" dirty="0">
                  <a:solidFill>
                    <a:srgbClr val="FF0000"/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</p:grpSp>
      </p:grpSp>
      <p:grpSp>
        <p:nvGrpSpPr>
          <p:cNvPr id="123" name="그룹 122">
            <a:extLst>
              <a:ext uri="{FF2B5EF4-FFF2-40B4-BE49-F238E27FC236}">
                <a16:creationId xmlns:a16="http://schemas.microsoft.com/office/drawing/2014/main" id="{FB7626DC-0BE0-48BE-8733-EBFA8912AC7B}"/>
              </a:ext>
            </a:extLst>
          </p:cNvPr>
          <p:cNvGrpSpPr/>
          <p:nvPr/>
        </p:nvGrpSpPr>
        <p:grpSpPr>
          <a:xfrm>
            <a:off x="1210790" y="2810709"/>
            <a:ext cx="1673038" cy="254348"/>
            <a:chOff x="6419190" y="4725153"/>
            <a:chExt cx="1673038" cy="254348"/>
          </a:xfrm>
        </p:grpSpPr>
        <p:sp>
          <p:nvSpPr>
            <p:cNvPr id="124" name="직사각형 123">
              <a:extLst>
                <a:ext uri="{FF2B5EF4-FFF2-40B4-BE49-F238E27FC236}">
                  <a16:creationId xmlns:a16="http://schemas.microsoft.com/office/drawing/2014/main" id="{676CE03A-FB8B-4383-B3CB-14BB46D8F3EF}"/>
                </a:ext>
              </a:extLst>
            </p:cNvPr>
            <p:cNvSpPr/>
            <p:nvPr/>
          </p:nvSpPr>
          <p:spPr>
            <a:xfrm>
              <a:off x="7139098" y="4776288"/>
              <a:ext cx="390541" cy="182339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150000"/>
                </a:lnSpc>
              </a:pPr>
              <a:r>
                <a:rPr lang="ko-KR" altLang="en-US" sz="500" b="1" dirty="0">
                  <a:solidFill>
                    <a:schemeClr val="accent6">
                      <a:lumMod val="75000"/>
                    </a:schemeClr>
                  </a:solidFill>
                  <a:latin typeface="맑은 고딕" pitchFamily="50" charset="-127"/>
                  <a:ea typeface="맑은 고딕" pitchFamily="50" charset="-127"/>
                </a:rPr>
                <a:t>현재 사용량</a:t>
              </a:r>
            </a:p>
          </p:txBody>
        </p:sp>
        <p:sp>
          <p:nvSpPr>
            <p:cNvPr id="125" name="직사각형 124">
              <a:extLst>
                <a:ext uri="{FF2B5EF4-FFF2-40B4-BE49-F238E27FC236}">
                  <a16:creationId xmlns:a16="http://schemas.microsoft.com/office/drawing/2014/main" id="{071A8EE2-4490-4B99-942C-0FB01425840E}"/>
                </a:ext>
              </a:extLst>
            </p:cNvPr>
            <p:cNvSpPr/>
            <p:nvPr/>
          </p:nvSpPr>
          <p:spPr>
            <a:xfrm>
              <a:off x="7494198" y="4725153"/>
              <a:ext cx="462178" cy="254348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900</a:t>
              </a:r>
              <a:endParaRPr lang="ko-KR" altLang="en-US" sz="14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26" name="직사각형 125">
              <a:extLst>
                <a:ext uri="{FF2B5EF4-FFF2-40B4-BE49-F238E27FC236}">
                  <a16:creationId xmlns:a16="http://schemas.microsoft.com/office/drawing/2014/main" id="{C4922241-0799-457E-A331-584B25A20B3C}"/>
                </a:ext>
              </a:extLst>
            </p:cNvPr>
            <p:cNvSpPr/>
            <p:nvPr/>
          </p:nvSpPr>
          <p:spPr>
            <a:xfrm>
              <a:off x="7876204" y="4795451"/>
              <a:ext cx="216024" cy="144013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 anchorCtr="0"/>
            <a:lstStyle/>
            <a:p>
              <a:pPr algn="ctr">
                <a:lnSpc>
                  <a:spcPct val="150000"/>
                </a:lnSpc>
              </a:pPr>
              <a:r>
                <a:rPr lang="en-US" altLang="ko-KR" sz="500" b="1" dirty="0">
                  <a:solidFill>
                    <a:schemeClr val="accent6">
                      <a:lumMod val="75000"/>
                    </a:schemeClr>
                  </a:solidFill>
                  <a:latin typeface="맑은 고딕" pitchFamily="50" charset="-127"/>
                  <a:ea typeface="맑은 고딕" pitchFamily="50" charset="-127"/>
                </a:rPr>
                <a:t>kWh</a:t>
              </a:r>
              <a:endParaRPr lang="ko-KR" altLang="en-US" sz="500" b="1" dirty="0">
                <a:solidFill>
                  <a:schemeClr val="accent6">
                    <a:lumMod val="75000"/>
                  </a:schemeClr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27" name="직사각형 126">
              <a:extLst>
                <a:ext uri="{FF2B5EF4-FFF2-40B4-BE49-F238E27FC236}">
                  <a16:creationId xmlns:a16="http://schemas.microsoft.com/office/drawing/2014/main" id="{4769895E-4040-40AE-A7F6-FC257D000FAC}"/>
                </a:ext>
              </a:extLst>
            </p:cNvPr>
            <p:cNvSpPr/>
            <p:nvPr/>
          </p:nvSpPr>
          <p:spPr>
            <a:xfrm>
              <a:off x="6419190" y="4775713"/>
              <a:ext cx="725954" cy="18235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altLang="ko-KR" sz="500" b="1" dirty="0">
                  <a:solidFill>
                    <a:schemeClr val="accent6">
                      <a:lumMod val="75000"/>
                    </a:schemeClr>
                  </a:solidFill>
                  <a:latin typeface="맑은 고딕" pitchFamily="50" charset="-127"/>
                  <a:ea typeface="맑은 고딕" pitchFamily="50" charset="-127"/>
                </a:rPr>
                <a:t>YYYY-MM-DD hh:mm</a:t>
              </a:r>
              <a:endParaRPr lang="ko-KR" altLang="en-US" sz="500" b="1" dirty="0">
                <a:solidFill>
                  <a:schemeClr val="accent6">
                    <a:lumMod val="75000"/>
                  </a:schemeClr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grpSp>
        <p:nvGrpSpPr>
          <p:cNvPr id="128" name="그룹 127">
            <a:extLst>
              <a:ext uri="{FF2B5EF4-FFF2-40B4-BE49-F238E27FC236}">
                <a16:creationId xmlns:a16="http://schemas.microsoft.com/office/drawing/2014/main" id="{CF1D8DCD-6519-44D7-B38C-89402B2513C3}"/>
              </a:ext>
            </a:extLst>
          </p:cNvPr>
          <p:cNvGrpSpPr/>
          <p:nvPr/>
        </p:nvGrpSpPr>
        <p:grpSpPr>
          <a:xfrm>
            <a:off x="7354339" y="1196752"/>
            <a:ext cx="943186" cy="181080"/>
            <a:chOff x="5772819" y="420208"/>
            <a:chExt cx="943186" cy="207079"/>
          </a:xfrm>
        </p:grpSpPr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038B6921-08F5-4E82-B777-2D4B4369B4D5}"/>
                </a:ext>
              </a:extLst>
            </p:cNvPr>
            <p:cNvSpPr txBox="1"/>
            <p:nvPr/>
          </p:nvSpPr>
          <p:spPr>
            <a:xfrm>
              <a:off x="5772819" y="420208"/>
              <a:ext cx="943186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7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군관리로 돌아가기</a:t>
              </a:r>
            </a:p>
          </p:txBody>
        </p:sp>
        <p:sp>
          <p:nvSpPr>
            <p:cNvPr id="130" name="사각형: 둥근 모서리 129">
              <a:extLst>
                <a:ext uri="{FF2B5EF4-FFF2-40B4-BE49-F238E27FC236}">
                  <a16:creationId xmlns:a16="http://schemas.microsoft.com/office/drawing/2014/main" id="{EDF61E98-2544-4850-8CFA-B38B7C8E24CB}"/>
                </a:ext>
              </a:extLst>
            </p:cNvPr>
            <p:cNvSpPr/>
            <p:nvPr/>
          </p:nvSpPr>
          <p:spPr>
            <a:xfrm>
              <a:off x="5797598" y="454187"/>
              <a:ext cx="893629" cy="173100"/>
            </a:xfrm>
            <a:prstGeom prst="roundRect">
              <a:avLst/>
            </a:prstGeom>
            <a:noFill/>
            <a:ln w="127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131" name="말풍선: 사각형 130">
            <a:extLst>
              <a:ext uri="{FF2B5EF4-FFF2-40B4-BE49-F238E27FC236}">
                <a16:creationId xmlns:a16="http://schemas.microsoft.com/office/drawing/2014/main" id="{1F4A2584-477E-4D99-8B50-A7F8FE7F69D4}"/>
              </a:ext>
            </a:extLst>
          </p:cNvPr>
          <p:cNvSpPr/>
          <p:nvPr/>
        </p:nvSpPr>
        <p:spPr>
          <a:xfrm>
            <a:off x="4572583" y="2492842"/>
            <a:ext cx="615731" cy="360039"/>
          </a:xfrm>
          <a:prstGeom prst="wedgeRectCallout">
            <a:avLst>
              <a:gd name="adj1" fmla="val -30620"/>
              <a:gd name="adj2" fmla="val 109426"/>
            </a:avLst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2018.03.05</a:t>
            </a:r>
          </a:p>
          <a:p>
            <a:pPr algn="ctr"/>
            <a:r>
              <a:rPr lang="en-US" altLang="ko-KR" sz="6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03:15:00</a:t>
            </a:r>
          </a:p>
          <a:p>
            <a:pPr algn="ctr"/>
            <a:r>
              <a:rPr lang="en-US" altLang="ko-KR" sz="600" b="1" dirty="0">
                <a:solidFill>
                  <a:srgbClr val="FF0000"/>
                </a:solidFill>
              </a:rPr>
              <a:t>210 kW</a:t>
            </a:r>
            <a:endParaRPr lang="ko-KR" altLang="en-US" sz="600" b="1" dirty="0">
              <a:solidFill>
                <a:srgbClr val="FF0000"/>
              </a:solidFill>
            </a:endParaRPr>
          </a:p>
        </p:txBody>
      </p:sp>
      <p:sp>
        <p:nvSpPr>
          <p:cNvPr id="132" name="사각형: 둥근 모서리 131">
            <a:extLst>
              <a:ext uri="{FF2B5EF4-FFF2-40B4-BE49-F238E27FC236}">
                <a16:creationId xmlns:a16="http://schemas.microsoft.com/office/drawing/2014/main" id="{90B9AB95-17F4-4035-B5AC-1342E5A3C398}"/>
              </a:ext>
            </a:extLst>
          </p:cNvPr>
          <p:cNvSpPr/>
          <p:nvPr/>
        </p:nvSpPr>
        <p:spPr>
          <a:xfrm>
            <a:off x="3073112" y="4138270"/>
            <a:ext cx="599739" cy="307364"/>
          </a:xfrm>
          <a:prstGeom prst="roundRect">
            <a:avLst/>
          </a:prstGeom>
          <a:solidFill>
            <a:schemeClr val="tx2">
              <a:lumMod val="60000"/>
              <a:lumOff val="40000"/>
            </a:schemeClr>
          </a:solidFill>
          <a:ln w="19050">
            <a:solidFill>
              <a:srgbClr val="92D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3" name="사각형: 둥근 모서리 132">
            <a:extLst>
              <a:ext uri="{FF2B5EF4-FFF2-40B4-BE49-F238E27FC236}">
                <a16:creationId xmlns:a16="http://schemas.microsoft.com/office/drawing/2014/main" id="{E629848E-07A0-4734-88F3-EA2E6E887EFF}"/>
              </a:ext>
            </a:extLst>
          </p:cNvPr>
          <p:cNvSpPr/>
          <p:nvPr/>
        </p:nvSpPr>
        <p:spPr>
          <a:xfrm>
            <a:off x="3723621" y="4145558"/>
            <a:ext cx="599739" cy="292788"/>
          </a:xfrm>
          <a:prstGeom prst="roundRect">
            <a:avLst/>
          </a:prstGeom>
          <a:solidFill>
            <a:schemeClr val="tx2">
              <a:lumMod val="60000"/>
              <a:lumOff val="40000"/>
            </a:schemeClr>
          </a:solidFill>
          <a:ln w="19050">
            <a:solidFill>
              <a:srgbClr val="92D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4" name="사각형: 둥근 모서리 133">
            <a:extLst>
              <a:ext uri="{FF2B5EF4-FFF2-40B4-BE49-F238E27FC236}">
                <a16:creationId xmlns:a16="http://schemas.microsoft.com/office/drawing/2014/main" id="{0746F83A-1DDC-4D37-A469-D684FB61CA74}"/>
              </a:ext>
            </a:extLst>
          </p:cNvPr>
          <p:cNvSpPr/>
          <p:nvPr/>
        </p:nvSpPr>
        <p:spPr>
          <a:xfrm>
            <a:off x="4374130" y="4138270"/>
            <a:ext cx="599739" cy="307364"/>
          </a:xfrm>
          <a:prstGeom prst="roundRect">
            <a:avLst/>
          </a:prstGeom>
          <a:solidFill>
            <a:schemeClr val="accent3"/>
          </a:solidFill>
          <a:ln w="19050">
            <a:solidFill>
              <a:srgbClr val="92D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5" name="사각형: 둥근 모서리 134">
            <a:extLst>
              <a:ext uri="{FF2B5EF4-FFF2-40B4-BE49-F238E27FC236}">
                <a16:creationId xmlns:a16="http://schemas.microsoft.com/office/drawing/2014/main" id="{F5B3B89A-3054-4ADF-86AA-452CC5FF720D}"/>
              </a:ext>
            </a:extLst>
          </p:cNvPr>
          <p:cNvSpPr/>
          <p:nvPr/>
        </p:nvSpPr>
        <p:spPr>
          <a:xfrm>
            <a:off x="5024639" y="4138270"/>
            <a:ext cx="599739" cy="307364"/>
          </a:xfrm>
          <a:prstGeom prst="roundRect">
            <a:avLst/>
          </a:prstGeom>
          <a:solidFill>
            <a:schemeClr val="accent3"/>
          </a:solidFill>
          <a:ln w="19050">
            <a:solidFill>
              <a:srgbClr val="92D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6" name="사각형: 둥근 모서리 135">
            <a:extLst>
              <a:ext uri="{FF2B5EF4-FFF2-40B4-BE49-F238E27FC236}">
                <a16:creationId xmlns:a16="http://schemas.microsoft.com/office/drawing/2014/main" id="{41BAA6F0-79D1-4676-8896-19BC5BBBB238}"/>
              </a:ext>
            </a:extLst>
          </p:cNvPr>
          <p:cNvSpPr/>
          <p:nvPr/>
        </p:nvSpPr>
        <p:spPr>
          <a:xfrm>
            <a:off x="3073112" y="4478797"/>
            <a:ext cx="599739" cy="307364"/>
          </a:xfrm>
          <a:prstGeom prst="roundRect">
            <a:avLst/>
          </a:prstGeom>
          <a:solidFill>
            <a:schemeClr val="accent4">
              <a:lumMod val="75000"/>
            </a:schemeClr>
          </a:solidFill>
          <a:ln w="19050">
            <a:solidFill>
              <a:srgbClr val="92D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7" name="사각형: 둥근 모서리 136">
            <a:extLst>
              <a:ext uri="{FF2B5EF4-FFF2-40B4-BE49-F238E27FC236}">
                <a16:creationId xmlns:a16="http://schemas.microsoft.com/office/drawing/2014/main" id="{8A7F9969-F7A2-4960-A4B3-B33E2AF8FA44}"/>
              </a:ext>
            </a:extLst>
          </p:cNvPr>
          <p:cNvSpPr/>
          <p:nvPr/>
        </p:nvSpPr>
        <p:spPr>
          <a:xfrm>
            <a:off x="3723621" y="4478797"/>
            <a:ext cx="599739" cy="307364"/>
          </a:xfrm>
          <a:prstGeom prst="roundRect">
            <a:avLst/>
          </a:prstGeom>
          <a:solidFill>
            <a:schemeClr val="accent4">
              <a:lumMod val="75000"/>
            </a:schemeClr>
          </a:solidFill>
          <a:ln w="19050">
            <a:solidFill>
              <a:srgbClr val="92D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8" name="사각형: 둥근 모서리 137">
            <a:extLst>
              <a:ext uri="{FF2B5EF4-FFF2-40B4-BE49-F238E27FC236}">
                <a16:creationId xmlns:a16="http://schemas.microsoft.com/office/drawing/2014/main" id="{2AC3D3A0-8D1D-45D6-BB76-49B845C7F76C}"/>
              </a:ext>
            </a:extLst>
          </p:cNvPr>
          <p:cNvSpPr/>
          <p:nvPr/>
        </p:nvSpPr>
        <p:spPr>
          <a:xfrm>
            <a:off x="4374130" y="4478797"/>
            <a:ext cx="599739" cy="307364"/>
          </a:xfrm>
          <a:prstGeom prst="roundRect">
            <a:avLst/>
          </a:prstGeom>
          <a:solidFill>
            <a:schemeClr val="accent4">
              <a:lumMod val="75000"/>
            </a:schemeClr>
          </a:solidFill>
          <a:ln w="19050">
            <a:solidFill>
              <a:srgbClr val="92D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사각형: 둥근 모서리 138">
            <a:extLst>
              <a:ext uri="{FF2B5EF4-FFF2-40B4-BE49-F238E27FC236}">
                <a16:creationId xmlns:a16="http://schemas.microsoft.com/office/drawing/2014/main" id="{2D4023E6-BFA8-420B-BF10-34E5DCCA2BEE}"/>
              </a:ext>
            </a:extLst>
          </p:cNvPr>
          <p:cNvSpPr/>
          <p:nvPr/>
        </p:nvSpPr>
        <p:spPr>
          <a:xfrm>
            <a:off x="5024639" y="4478797"/>
            <a:ext cx="599739" cy="307364"/>
          </a:xfrm>
          <a:prstGeom prst="roundRect">
            <a:avLst/>
          </a:prstGeom>
          <a:solidFill>
            <a:schemeClr val="bg1">
              <a:lumMod val="50000"/>
            </a:schemeClr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8181A669-3BC5-4774-AD11-6550AE97E8B8}"/>
              </a:ext>
            </a:extLst>
          </p:cNvPr>
          <p:cNvSpPr txBox="1"/>
          <p:nvPr/>
        </p:nvSpPr>
        <p:spPr>
          <a:xfrm>
            <a:off x="3018000" y="4105367"/>
            <a:ext cx="418353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600" dirty="0">
                <a:solidFill>
                  <a:schemeClr val="bg1"/>
                </a:solidFill>
              </a:rPr>
              <a:t>PCS_1</a:t>
            </a:r>
            <a:endParaRPr lang="ko-KR" altLang="en-US" sz="600" dirty="0">
              <a:solidFill>
                <a:schemeClr val="bg1"/>
              </a:solidFill>
            </a:endParaRPr>
          </a:p>
        </p:txBody>
      </p:sp>
      <p:sp>
        <p:nvSpPr>
          <p:cNvPr id="141" name="TextBox 140">
            <a:extLst>
              <a:ext uri="{FF2B5EF4-FFF2-40B4-BE49-F238E27FC236}">
                <a16:creationId xmlns:a16="http://schemas.microsoft.com/office/drawing/2014/main" id="{72D79BBC-EA2B-4585-B975-87492F99092E}"/>
              </a:ext>
            </a:extLst>
          </p:cNvPr>
          <p:cNvSpPr txBox="1"/>
          <p:nvPr/>
        </p:nvSpPr>
        <p:spPr>
          <a:xfrm>
            <a:off x="3180791" y="4218984"/>
            <a:ext cx="598614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</a:rPr>
              <a:t>458.3 kWh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142" name="TextBox 141">
            <a:extLst>
              <a:ext uri="{FF2B5EF4-FFF2-40B4-BE49-F238E27FC236}">
                <a16:creationId xmlns:a16="http://schemas.microsoft.com/office/drawing/2014/main" id="{C77703D0-D0C7-46A4-9C26-B19BDEBFE043}"/>
              </a:ext>
            </a:extLst>
          </p:cNvPr>
          <p:cNvSpPr txBox="1"/>
          <p:nvPr/>
        </p:nvSpPr>
        <p:spPr>
          <a:xfrm>
            <a:off x="3179049" y="4305768"/>
            <a:ext cx="598614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</a:rPr>
              <a:t>458.3 kWh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143" name="TextBox 142">
            <a:extLst>
              <a:ext uri="{FF2B5EF4-FFF2-40B4-BE49-F238E27FC236}">
                <a16:creationId xmlns:a16="http://schemas.microsoft.com/office/drawing/2014/main" id="{F466CF74-8CA8-4605-B29C-1A90B21C9311}"/>
              </a:ext>
            </a:extLst>
          </p:cNvPr>
          <p:cNvSpPr txBox="1"/>
          <p:nvPr/>
        </p:nvSpPr>
        <p:spPr>
          <a:xfrm>
            <a:off x="2980670" y="4217298"/>
            <a:ext cx="468850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500" dirty="0" err="1">
                <a:solidFill>
                  <a:schemeClr val="bg1"/>
                </a:solidFill>
              </a:rPr>
              <a:t>충전량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144" name="TextBox 143">
            <a:extLst>
              <a:ext uri="{FF2B5EF4-FFF2-40B4-BE49-F238E27FC236}">
                <a16:creationId xmlns:a16="http://schemas.microsoft.com/office/drawing/2014/main" id="{7D963E90-8F15-4588-80B4-400D17E55314}"/>
              </a:ext>
            </a:extLst>
          </p:cNvPr>
          <p:cNvSpPr txBox="1"/>
          <p:nvPr/>
        </p:nvSpPr>
        <p:spPr>
          <a:xfrm>
            <a:off x="2975456" y="4307743"/>
            <a:ext cx="468850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500" dirty="0" err="1">
                <a:solidFill>
                  <a:schemeClr val="bg1"/>
                </a:solidFill>
              </a:rPr>
              <a:t>방전량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145" name="TextBox 144">
            <a:extLst>
              <a:ext uri="{FF2B5EF4-FFF2-40B4-BE49-F238E27FC236}">
                <a16:creationId xmlns:a16="http://schemas.microsoft.com/office/drawing/2014/main" id="{D0A6385F-2C74-4BD7-B8E1-080D573446F0}"/>
              </a:ext>
            </a:extLst>
          </p:cNvPr>
          <p:cNvSpPr txBox="1"/>
          <p:nvPr/>
        </p:nvSpPr>
        <p:spPr>
          <a:xfrm>
            <a:off x="3829581" y="4214743"/>
            <a:ext cx="598614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</a:rPr>
              <a:t>458.3 kWh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146" name="TextBox 145">
            <a:extLst>
              <a:ext uri="{FF2B5EF4-FFF2-40B4-BE49-F238E27FC236}">
                <a16:creationId xmlns:a16="http://schemas.microsoft.com/office/drawing/2014/main" id="{6AE199BD-2A66-4043-9C23-29140A2289FD}"/>
              </a:ext>
            </a:extLst>
          </p:cNvPr>
          <p:cNvSpPr txBox="1"/>
          <p:nvPr/>
        </p:nvSpPr>
        <p:spPr>
          <a:xfrm>
            <a:off x="3827839" y="4301527"/>
            <a:ext cx="598614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</a:rPr>
              <a:t>458.3 kWh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147" name="TextBox 146">
            <a:extLst>
              <a:ext uri="{FF2B5EF4-FFF2-40B4-BE49-F238E27FC236}">
                <a16:creationId xmlns:a16="http://schemas.microsoft.com/office/drawing/2014/main" id="{AE696A1F-5E0A-4AD0-8515-A223D75ECB6C}"/>
              </a:ext>
            </a:extLst>
          </p:cNvPr>
          <p:cNvSpPr txBox="1"/>
          <p:nvPr/>
        </p:nvSpPr>
        <p:spPr>
          <a:xfrm>
            <a:off x="3629460" y="4204329"/>
            <a:ext cx="468850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500" dirty="0" err="1">
                <a:solidFill>
                  <a:schemeClr val="bg1"/>
                </a:solidFill>
              </a:rPr>
              <a:t>충전량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148" name="TextBox 147">
            <a:extLst>
              <a:ext uri="{FF2B5EF4-FFF2-40B4-BE49-F238E27FC236}">
                <a16:creationId xmlns:a16="http://schemas.microsoft.com/office/drawing/2014/main" id="{659C2E1D-7769-4DB4-B98E-27F31F7C039D}"/>
              </a:ext>
            </a:extLst>
          </p:cNvPr>
          <p:cNvSpPr txBox="1"/>
          <p:nvPr/>
        </p:nvSpPr>
        <p:spPr>
          <a:xfrm>
            <a:off x="3624246" y="4306434"/>
            <a:ext cx="468850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500" dirty="0" err="1">
                <a:solidFill>
                  <a:schemeClr val="bg1"/>
                </a:solidFill>
              </a:rPr>
              <a:t>방전량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149" name="TextBox 148">
            <a:extLst>
              <a:ext uri="{FF2B5EF4-FFF2-40B4-BE49-F238E27FC236}">
                <a16:creationId xmlns:a16="http://schemas.microsoft.com/office/drawing/2014/main" id="{80AD5206-EE5E-4369-9D34-D1C6C45DB806}"/>
              </a:ext>
            </a:extLst>
          </p:cNvPr>
          <p:cNvSpPr txBox="1"/>
          <p:nvPr/>
        </p:nvSpPr>
        <p:spPr>
          <a:xfrm>
            <a:off x="3674559" y="4115684"/>
            <a:ext cx="418353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600" dirty="0">
                <a:solidFill>
                  <a:schemeClr val="bg1"/>
                </a:solidFill>
              </a:rPr>
              <a:t>PCS_2</a:t>
            </a:r>
            <a:endParaRPr lang="ko-KR" altLang="en-US" sz="600" dirty="0">
              <a:solidFill>
                <a:schemeClr val="bg1"/>
              </a:solidFill>
            </a:endParaRPr>
          </a:p>
        </p:txBody>
      </p:sp>
      <p:grpSp>
        <p:nvGrpSpPr>
          <p:cNvPr id="150" name="그룹 149">
            <a:extLst>
              <a:ext uri="{FF2B5EF4-FFF2-40B4-BE49-F238E27FC236}">
                <a16:creationId xmlns:a16="http://schemas.microsoft.com/office/drawing/2014/main" id="{3A56B298-C36B-4FC9-B4D9-7E7A014D4B02}"/>
              </a:ext>
            </a:extLst>
          </p:cNvPr>
          <p:cNvGrpSpPr/>
          <p:nvPr/>
        </p:nvGrpSpPr>
        <p:grpSpPr>
          <a:xfrm>
            <a:off x="4271903" y="4105535"/>
            <a:ext cx="805559" cy="374585"/>
            <a:chOff x="4135417" y="5220442"/>
            <a:chExt cx="805559" cy="374585"/>
          </a:xfrm>
        </p:grpSpPr>
        <p:sp>
          <p:nvSpPr>
            <p:cNvPr id="151" name="TextBox 150">
              <a:extLst>
                <a:ext uri="{FF2B5EF4-FFF2-40B4-BE49-F238E27FC236}">
                  <a16:creationId xmlns:a16="http://schemas.microsoft.com/office/drawing/2014/main" id="{EC690CCE-429F-4C2A-B270-1F29C65220B0}"/>
                </a:ext>
              </a:extLst>
            </p:cNvPr>
            <p:cNvSpPr txBox="1"/>
            <p:nvPr/>
          </p:nvSpPr>
          <p:spPr>
            <a:xfrm>
              <a:off x="4179571" y="5220442"/>
              <a:ext cx="41835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600" dirty="0">
                  <a:solidFill>
                    <a:schemeClr val="bg1"/>
                  </a:solidFill>
                </a:rPr>
                <a:t>BMS_1</a:t>
              </a:r>
              <a:endParaRPr lang="ko-KR" altLang="en-US" sz="600" dirty="0">
                <a:solidFill>
                  <a:schemeClr val="bg1"/>
                </a:solidFill>
              </a:endParaRPr>
            </a:p>
          </p:txBody>
        </p:sp>
        <p:sp>
          <p:nvSpPr>
            <p:cNvPr id="152" name="TextBox 151">
              <a:extLst>
                <a:ext uri="{FF2B5EF4-FFF2-40B4-BE49-F238E27FC236}">
                  <a16:creationId xmlns:a16="http://schemas.microsoft.com/office/drawing/2014/main" id="{0B6BE3D5-2AFC-48EF-9C42-B2AB5CA57F40}"/>
                </a:ext>
              </a:extLst>
            </p:cNvPr>
            <p:cNvSpPr txBox="1"/>
            <p:nvPr/>
          </p:nvSpPr>
          <p:spPr>
            <a:xfrm>
              <a:off x="4342362" y="5334059"/>
              <a:ext cx="59861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500" dirty="0">
                  <a:solidFill>
                    <a:schemeClr val="bg1"/>
                  </a:solidFill>
                </a:rPr>
                <a:t>680.000 V</a:t>
              </a:r>
              <a:endParaRPr lang="ko-KR" altLang="en-US" sz="500" dirty="0">
                <a:solidFill>
                  <a:schemeClr val="bg1"/>
                </a:solidFill>
              </a:endParaRPr>
            </a:p>
          </p:txBody>
        </p:sp>
        <p:sp>
          <p:nvSpPr>
            <p:cNvPr id="153" name="TextBox 152">
              <a:extLst>
                <a:ext uri="{FF2B5EF4-FFF2-40B4-BE49-F238E27FC236}">
                  <a16:creationId xmlns:a16="http://schemas.microsoft.com/office/drawing/2014/main" id="{E65B4815-0C9A-4596-8E7F-87AE78C524CE}"/>
                </a:ext>
              </a:extLst>
            </p:cNvPr>
            <p:cNvSpPr txBox="1"/>
            <p:nvPr/>
          </p:nvSpPr>
          <p:spPr>
            <a:xfrm>
              <a:off x="4340620" y="5420843"/>
              <a:ext cx="59861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500" dirty="0">
                  <a:solidFill>
                    <a:schemeClr val="bg1"/>
                  </a:solidFill>
                </a:rPr>
                <a:t>0.000 V</a:t>
              </a:r>
              <a:endParaRPr lang="ko-KR" altLang="en-US" sz="500" dirty="0">
                <a:solidFill>
                  <a:schemeClr val="bg1"/>
                </a:solidFill>
              </a:endParaRPr>
            </a:p>
          </p:txBody>
        </p:sp>
        <p:sp>
          <p:nvSpPr>
            <p:cNvPr id="154" name="TextBox 153">
              <a:extLst>
                <a:ext uri="{FF2B5EF4-FFF2-40B4-BE49-F238E27FC236}">
                  <a16:creationId xmlns:a16="http://schemas.microsoft.com/office/drawing/2014/main" id="{B6A1C69B-CC94-4B5A-9BF5-A420EAA590C0}"/>
                </a:ext>
              </a:extLst>
            </p:cNvPr>
            <p:cNvSpPr txBox="1"/>
            <p:nvPr/>
          </p:nvSpPr>
          <p:spPr>
            <a:xfrm>
              <a:off x="4135417" y="5323645"/>
              <a:ext cx="46885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500">
                  <a:solidFill>
                    <a:schemeClr val="bg1"/>
                  </a:solidFill>
                </a:rPr>
                <a:t>전압</a:t>
              </a:r>
              <a:endParaRPr lang="ko-KR" altLang="en-US" sz="500" dirty="0">
                <a:solidFill>
                  <a:schemeClr val="bg1"/>
                </a:solidFill>
              </a:endParaRPr>
            </a:p>
          </p:txBody>
        </p:sp>
        <p:sp>
          <p:nvSpPr>
            <p:cNvPr id="155" name="TextBox 154">
              <a:extLst>
                <a:ext uri="{FF2B5EF4-FFF2-40B4-BE49-F238E27FC236}">
                  <a16:creationId xmlns:a16="http://schemas.microsoft.com/office/drawing/2014/main" id="{C4D4A4A4-E86C-4B7D-A014-C063D2B4302A}"/>
                </a:ext>
              </a:extLst>
            </p:cNvPr>
            <p:cNvSpPr txBox="1"/>
            <p:nvPr/>
          </p:nvSpPr>
          <p:spPr>
            <a:xfrm>
              <a:off x="4137027" y="5425750"/>
              <a:ext cx="46885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500" dirty="0">
                  <a:solidFill>
                    <a:schemeClr val="bg1"/>
                  </a:solidFill>
                </a:rPr>
                <a:t>전류</a:t>
              </a:r>
            </a:p>
          </p:txBody>
        </p:sp>
      </p:grpSp>
      <p:grpSp>
        <p:nvGrpSpPr>
          <p:cNvPr id="156" name="그룹 155">
            <a:extLst>
              <a:ext uri="{FF2B5EF4-FFF2-40B4-BE49-F238E27FC236}">
                <a16:creationId xmlns:a16="http://schemas.microsoft.com/office/drawing/2014/main" id="{AAC1DAA0-5BE5-4009-99E0-E7250B030DE5}"/>
              </a:ext>
            </a:extLst>
          </p:cNvPr>
          <p:cNvGrpSpPr/>
          <p:nvPr/>
        </p:nvGrpSpPr>
        <p:grpSpPr>
          <a:xfrm>
            <a:off x="4928848" y="4105535"/>
            <a:ext cx="805559" cy="374585"/>
            <a:chOff x="4135417" y="5220442"/>
            <a:chExt cx="805559" cy="374585"/>
          </a:xfrm>
        </p:grpSpPr>
        <p:sp>
          <p:nvSpPr>
            <p:cNvPr id="157" name="TextBox 156">
              <a:extLst>
                <a:ext uri="{FF2B5EF4-FFF2-40B4-BE49-F238E27FC236}">
                  <a16:creationId xmlns:a16="http://schemas.microsoft.com/office/drawing/2014/main" id="{62FA9600-1469-4BC5-889F-0C97A12704F4}"/>
                </a:ext>
              </a:extLst>
            </p:cNvPr>
            <p:cNvSpPr txBox="1"/>
            <p:nvPr/>
          </p:nvSpPr>
          <p:spPr>
            <a:xfrm>
              <a:off x="4179571" y="5220442"/>
              <a:ext cx="41835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600" dirty="0">
                  <a:solidFill>
                    <a:schemeClr val="bg1"/>
                  </a:solidFill>
                </a:rPr>
                <a:t>BMS_2</a:t>
              </a:r>
              <a:endParaRPr lang="ko-KR" altLang="en-US" sz="600" dirty="0">
                <a:solidFill>
                  <a:schemeClr val="bg1"/>
                </a:solidFill>
              </a:endParaRPr>
            </a:p>
          </p:txBody>
        </p:sp>
        <p:sp>
          <p:nvSpPr>
            <p:cNvPr id="158" name="TextBox 157">
              <a:extLst>
                <a:ext uri="{FF2B5EF4-FFF2-40B4-BE49-F238E27FC236}">
                  <a16:creationId xmlns:a16="http://schemas.microsoft.com/office/drawing/2014/main" id="{B0573636-5F6F-4B5D-A43E-30AC002AFB54}"/>
                </a:ext>
              </a:extLst>
            </p:cNvPr>
            <p:cNvSpPr txBox="1"/>
            <p:nvPr/>
          </p:nvSpPr>
          <p:spPr>
            <a:xfrm>
              <a:off x="4342362" y="5334059"/>
              <a:ext cx="59861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500" dirty="0">
                  <a:solidFill>
                    <a:schemeClr val="bg1"/>
                  </a:solidFill>
                </a:rPr>
                <a:t>680.000 V</a:t>
              </a:r>
              <a:endParaRPr lang="ko-KR" altLang="en-US" sz="500" dirty="0">
                <a:solidFill>
                  <a:schemeClr val="bg1"/>
                </a:solidFill>
              </a:endParaRPr>
            </a:p>
          </p:txBody>
        </p:sp>
        <p:sp>
          <p:nvSpPr>
            <p:cNvPr id="159" name="TextBox 158">
              <a:extLst>
                <a:ext uri="{FF2B5EF4-FFF2-40B4-BE49-F238E27FC236}">
                  <a16:creationId xmlns:a16="http://schemas.microsoft.com/office/drawing/2014/main" id="{C91C3ADA-03EF-471D-8D5E-97B3BEE1230C}"/>
                </a:ext>
              </a:extLst>
            </p:cNvPr>
            <p:cNvSpPr txBox="1"/>
            <p:nvPr/>
          </p:nvSpPr>
          <p:spPr>
            <a:xfrm>
              <a:off x="4340620" y="5420843"/>
              <a:ext cx="59861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500" dirty="0">
                  <a:solidFill>
                    <a:schemeClr val="bg1"/>
                  </a:solidFill>
                </a:rPr>
                <a:t>0.000 V</a:t>
              </a:r>
              <a:endParaRPr lang="ko-KR" altLang="en-US" sz="500" dirty="0">
                <a:solidFill>
                  <a:schemeClr val="bg1"/>
                </a:solidFill>
              </a:endParaRPr>
            </a:p>
          </p:txBody>
        </p:sp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80435AC8-4ED7-475A-AA8E-0E04E801E2E1}"/>
                </a:ext>
              </a:extLst>
            </p:cNvPr>
            <p:cNvSpPr txBox="1"/>
            <p:nvPr/>
          </p:nvSpPr>
          <p:spPr>
            <a:xfrm>
              <a:off x="4135417" y="5323645"/>
              <a:ext cx="46885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500">
                  <a:solidFill>
                    <a:schemeClr val="bg1"/>
                  </a:solidFill>
                </a:rPr>
                <a:t>전압</a:t>
              </a:r>
              <a:endParaRPr lang="ko-KR" altLang="en-US" sz="500" dirty="0">
                <a:solidFill>
                  <a:schemeClr val="bg1"/>
                </a:solidFill>
              </a:endParaRPr>
            </a:p>
          </p:txBody>
        </p:sp>
        <p:sp>
          <p:nvSpPr>
            <p:cNvPr id="161" name="TextBox 160">
              <a:extLst>
                <a:ext uri="{FF2B5EF4-FFF2-40B4-BE49-F238E27FC236}">
                  <a16:creationId xmlns:a16="http://schemas.microsoft.com/office/drawing/2014/main" id="{CC7249A9-517A-4B4A-ABB6-2E81BCF77830}"/>
                </a:ext>
              </a:extLst>
            </p:cNvPr>
            <p:cNvSpPr txBox="1"/>
            <p:nvPr/>
          </p:nvSpPr>
          <p:spPr>
            <a:xfrm>
              <a:off x="4137027" y="5425750"/>
              <a:ext cx="46885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500" dirty="0">
                  <a:solidFill>
                    <a:schemeClr val="bg1"/>
                  </a:solidFill>
                </a:rPr>
                <a:t>전류</a:t>
              </a:r>
            </a:p>
          </p:txBody>
        </p:sp>
      </p:grpSp>
      <p:grpSp>
        <p:nvGrpSpPr>
          <p:cNvPr id="162" name="그룹 161">
            <a:extLst>
              <a:ext uri="{FF2B5EF4-FFF2-40B4-BE49-F238E27FC236}">
                <a16:creationId xmlns:a16="http://schemas.microsoft.com/office/drawing/2014/main" id="{B1AEFCF0-0453-4ADD-AC0E-FADB62085339}"/>
              </a:ext>
            </a:extLst>
          </p:cNvPr>
          <p:cNvGrpSpPr/>
          <p:nvPr/>
        </p:nvGrpSpPr>
        <p:grpSpPr>
          <a:xfrm>
            <a:off x="2987545" y="4447583"/>
            <a:ext cx="776403" cy="451529"/>
            <a:chOff x="4137026" y="5220442"/>
            <a:chExt cx="542695" cy="451529"/>
          </a:xfrm>
        </p:grpSpPr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4233288C-DD47-48B7-8AEE-FAFBBD3AFA70}"/>
                </a:ext>
              </a:extLst>
            </p:cNvPr>
            <p:cNvSpPr txBox="1"/>
            <p:nvPr/>
          </p:nvSpPr>
          <p:spPr>
            <a:xfrm>
              <a:off x="4179571" y="5220442"/>
              <a:ext cx="41835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dirty="0">
                  <a:solidFill>
                    <a:schemeClr val="bg1"/>
                  </a:solidFill>
                </a:rPr>
                <a:t>IOT_1</a:t>
              </a:r>
              <a:endParaRPr lang="ko-KR" altLang="en-US" sz="600" dirty="0">
                <a:solidFill>
                  <a:schemeClr val="bg1"/>
                </a:solidFill>
              </a:endParaRPr>
            </a:p>
          </p:txBody>
        </p:sp>
        <p:sp>
          <p:nvSpPr>
            <p:cNvPr id="164" name="TextBox 163">
              <a:extLst>
                <a:ext uri="{FF2B5EF4-FFF2-40B4-BE49-F238E27FC236}">
                  <a16:creationId xmlns:a16="http://schemas.microsoft.com/office/drawing/2014/main" id="{BFFB1ECC-AEE7-46C2-962C-C9DB9B60996B}"/>
                </a:ext>
              </a:extLst>
            </p:cNvPr>
            <p:cNvSpPr txBox="1"/>
            <p:nvPr/>
          </p:nvSpPr>
          <p:spPr>
            <a:xfrm>
              <a:off x="4142240" y="5323645"/>
              <a:ext cx="52680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500" b="1" dirty="0">
                  <a:solidFill>
                    <a:srgbClr val="92D050"/>
                  </a:solidFill>
                </a:rPr>
                <a:t>Connected</a:t>
              </a:r>
              <a:endParaRPr lang="ko-KR" altLang="en-US" sz="500" b="1" dirty="0">
                <a:solidFill>
                  <a:srgbClr val="92D050"/>
                </a:solidFill>
              </a:endParaRPr>
            </a:p>
          </p:txBody>
        </p:sp>
        <p:sp>
          <p:nvSpPr>
            <p:cNvPr id="165" name="TextBox 164">
              <a:extLst>
                <a:ext uri="{FF2B5EF4-FFF2-40B4-BE49-F238E27FC236}">
                  <a16:creationId xmlns:a16="http://schemas.microsoft.com/office/drawing/2014/main" id="{05E3CECA-1BBA-4E4E-8F6C-56419E3B3478}"/>
                </a:ext>
              </a:extLst>
            </p:cNvPr>
            <p:cNvSpPr txBox="1"/>
            <p:nvPr/>
          </p:nvSpPr>
          <p:spPr>
            <a:xfrm>
              <a:off x="4137026" y="5425750"/>
              <a:ext cx="54269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500" dirty="0">
                  <a:solidFill>
                    <a:schemeClr val="bg1"/>
                  </a:solidFill>
                </a:rPr>
                <a:t>2018-07-01 1:12:12</a:t>
              </a:r>
              <a:endParaRPr lang="ko-KR" altLang="en-US" sz="500" dirty="0">
                <a:solidFill>
                  <a:schemeClr val="bg1"/>
                </a:solidFill>
              </a:endParaRPr>
            </a:p>
          </p:txBody>
        </p:sp>
      </p:grpSp>
      <p:sp>
        <p:nvSpPr>
          <p:cNvPr id="166" name="사각형: 둥근 모서리 165">
            <a:extLst>
              <a:ext uri="{FF2B5EF4-FFF2-40B4-BE49-F238E27FC236}">
                <a16:creationId xmlns:a16="http://schemas.microsoft.com/office/drawing/2014/main" id="{59EB8A80-C789-4765-8155-EF2C30DBCA9A}"/>
              </a:ext>
            </a:extLst>
          </p:cNvPr>
          <p:cNvSpPr/>
          <p:nvPr/>
        </p:nvSpPr>
        <p:spPr>
          <a:xfrm>
            <a:off x="3718638" y="4828332"/>
            <a:ext cx="599739" cy="307364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7" name="사각형: 둥근 모서리 166">
            <a:extLst>
              <a:ext uri="{FF2B5EF4-FFF2-40B4-BE49-F238E27FC236}">
                <a16:creationId xmlns:a16="http://schemas.microsoft.com/office/drawing/2014/main" id="{EB390EBF-8C9F-4C69-94B4-1A70E89C0E89}"/>
              </a:ext>
            </a:extLst>
          </p:cNvPr>
          <p:cNvSpPr/>
          <p:nvPr/>
        </p:nvSpPr>
        <p:spPr>
          <a:xfrm>
            <a:off x="4369147" y="4828332"/>
            <a:ext cx="599739" cy="307364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8" name="사각형: 둥근 모서리 167">
            <a:extLst>
              <a:ext uri="{FF2B5EF4-FFF2-40B4-BE49-F238E27FC236}">
                <a16:creationId xmlns:a16="http://schemas.microsoft.com/office/drawing/2014/main" id="{15F6E3FF-6980-4C0B-AE99-84D9F9180178}"/>
              </a:ext>
            </a:extLst>
          </p:cNvPr>
          <p:cNvSpPr/>
          <p:nvPr/>
        </p:nvSpPr>
        <p:spPr>
          <a:xfrm>
            <a:off x="5019656" y="4828332"/>
            <a:ext cx="599739" cy="307364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9" name="사각형: 둥근 모서리 168">
            <a:extLst>
              <a:ext uri="{FF2B5EF4-FFF2-40B4-BE49-F238E27FC236}">
                <a16:creationId xmlns:a16="http://schemas.microsoft.com/office/drawing/2014/main" id="{41E73680-F486-4E02-B356-683B3E003EAB}"/>
              </a:ext>
            </a:extLst>
          </p:cNvPr>
          <p:cNvSpPr/>
          <p:nvPr/>
        </p:nvSpPr>
        <p:spPr>
          <a:xfrm>
            <a:off x="3079907" y="4831035"/>
            <a:ext cx="599739" cy="307364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70" name="그룹 169">
            <a:extLst>
              <a:ext uri="{FF2B5EF4-FFF2-40B4-BE49-F238E27FC236}">
                <a16:creationId xmlns:a16="http://schemas.microsoft.com/office/drawing/2014/main" id="{135BCD2D-0C8F-42BB-92B2-A78CFF61817C}"/>
              </a:ext>
            </a:extLst>
          </p:cNvPr>
          <p:cNvGrpSpPr/>
          <p:nvPr/>
        </p:nvGrpSpPr>
        <p:grpSpPr>
          <a:xfrm>
            <a:off x="5779878" y="2893179"/>
            <a:ext cx="2492869" cy="314700"/>
            <a:chOff x="475933" y="4908190"/>
            <a:chExt cx="2804731" cy="314700"/>
          </a:xfrm>
        </p:grpSpPr>
        <p:sp>
          <p:nvSpPr>
            <p:cNvPr id="171" name="직사각형 170">
              <a:extLst>
                <a:ext uri="{FF2B5EF4-FFF2-40B4-BE49-F238E27FC236}">
                  <a16:creationId xmlns:a16="http://schemas.microsoft.com/office/drawing/2014/main" id="{4F9B228F-73DD-4E8A-BDFC-886AB4E4DA6B}"/>
                </a:ext>
              </a:extLst>
            </p:cNvPr>
            <p:cNvSpPr/>
            <p:nvPr/>
          </p:nvSpPr>
          <p:spPr>
            <a:xfrm>
              <a:off x="475933" y="4929265"/>
              <a:ext cx="436148" cy="28800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altLang="ko-KR" sz="400" b="1" dirty="0">
                  <a:solidFill>
                    <a:srgbClr val="FFC000"/>
                  </a:solidFill>
                  <a:latin typeface="맑은 고딕" pitchFamily="50" charset="-127"/>
                  <a:ea typeface="맑은 고딕" pitchFamily="50" charset="-127"/>
                </a:rPr>
                <a:t>ESS</a:t>
              </a:r>
              <a:r>
                <a:rPr lang="ko-KR" altLang="en-US" sz="400" b="1" dirty="0">
                  <a:solidFill>
                    <a:srgbClr val="FFC000"/>
                  </a:solidFill>
                  <a:latin typeface="맑은 고딕" pitchFamily="50" charset="-127"/>
                  <a:ea typeface="맑은 고딕" pitchFamily="50" charset="-127"/>
                </a:rPr>
                <a:t> 수익</a:t>
              </a:r>
            </a:p>
          </p:txBody>
        </p:sp>
        <p:sp>
          <p:nvSpPr>
            <p:cNvPr id="172" name="직사각형 171">
              <a:extLst>
                <a:ext uri="{FF2B5EF4-FFF2-40B4-BE49-F238E27FC236}">
                  <a16:creationId xmlns:a16="http://schemas.microsoft.com/office/drawing/2014/main" id="{9B9BDAA6-6EBC-497D-9AA3-1125E3361C67}"/>
                </a:ext>
              </a:extLst>
            </p:cNvPr>
            <p:cNvSpPr/>
            <p:nvPr/>
          </p:nvSpPr>
          <p:spPr>
            <a:xfrm>
              <a:off x="753539" y="4915601"/>
              <a:ext cx="606962" cy="288032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0"/>
            <a:lstStyle/>
            <a:p>
              <a:pPr>
                <a:lnSpc>
                  <a:spcPct val="150000"/>
                </a:lnSpc>
              </a:pPr>
              <a:r>
                <a:rPr lang="en-US" altLang="ko-KR" sz="7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80,000</a:t>
              </a:r>
              <a:endParaRPr lang="ko-KR" altLang="en-US" sz="7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73" name="직사각형 172">
              <a:extLst>
                <a:ext uri="{FF2B5EF4-FFF2-40B4-BE49-F238E27FC236}">
                  <a16:creationId xmlns:a16="http://schemas.microsoft.com/office/drawing/2014/main" id="{BBABC023-E1AB-4965-B8E5-23F634C42D1A}"/>
                </a:ext>
              </a:extLst>
            </p:cNvPr>
            <p:cNvSpPr/>
            <p:nvPr/>
          </p:nvSpPr>
          <p:spPr>
            <a:xfrm>
              <a:off x="1098838" y="4929265"/>
              <a:ext cx="436148" cy="28800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altLang="ko-KR" sz="400" b="1" dirty="0">
                  <a:solidFill>
                    <a:srgbClr val="00B0F0"/>
                  </a:solidFill>
                  <a:latin typeface="맑은 고딕" pitchFamily="50" charset="-127"/>
                  <a:ea typeface="맑은 고딕" pitchFamily="50" charset="-127"/>
                </a:rPr>
                <a:t>DR</a:t>
              </a:r>
              <a:r>
                <a:rPr lang="ko-KR" altLang="en-US" sz="400" b="1" dirty="0">
                  <a:solidFill>
                    <a:srgbClr val="00B0F0"/>
                  </a:solidFill>
                  <a:latin typeface="맑은 고딕" pitchFamily="50" charset="-127"/>
                  <a:ea typeface="맑은 고딕" pitchFamily="50" charset="-127"/>
                </a:rPr>
                <a:t> 수익</a:t>
              </a:r>
            </a:p>
          </p:txBody>
        </p:sp>
        <p:sp>
          <p:nvSpPr>
            <p:cNvPr id="174" name="직사각형 173">
              <a:extLst>
                <a:ext uri="{FF2B5EF4-FFF2-40B4-BE49-F238E27FC236}">
                  <a16:creationId xmlns:a16="http://schemas.microsoft.com/office/drawing/2014/main" id="{CF9832C7-CF19-48EB-8203-1F947A6F14B3}"/>
                </a:ext>
              </a:extLst>
            </p:cNvPr>
            <p:cNvSpPr/>
            <p:nvPr/>
          </p:nvSpPr>
          <p:spPr>
            <a:xfrm>
              <a:off x="1364833" y="4915601"/>
              <a:ext cx="598101" cy="288032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0"/>
            <a:lstStyle/>
            <a:p>
              <a:pPr>
                <a:lnSpc>
                  <a:spcPct val="150000"/>
                </a:lnSpc>
              </a:pPr>
              <a:r>
                <a:rPr lang="en-US" altLang="ko-KR" sz="7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25,000</a:t>
              </a:r>
              <a:endParaRPr lang="ko-KR" altLang="en-US" sz="7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75" name="직사각형 174">
              <a:extLst>
                <a:ext uri="{FF2B5EF4-FFF2-40B4-BE49-F238E27FC236}">
                  <a16:creationId xmlns:a16="http://schemas.microsoft.com/office/drawing/2014/main" id="{2E8D2295-1A56-4F82-82A3-C3F700874FFF}"/>
                </a:ext>
              </a:extLst>
            </p:cNvPr>
            <p:cNvSpPr/>
            <p:nvPr/>
          </p:nvSpPr>
          <p:spPr>
            <a:xfrm>
              <a:off x="2134425" y="4934890"/>
              <a:ext cx="825695" cy="28800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150000"/>
                </a:lnSpc>
              </a:pPr>
              <a:r>
                <a:rPr lang="ko-KR" altLang="en-US" sz="400" b="1" dirty="0">
                  <a:solidFill>
                    <a:schemeClr val="accent6">
                      <a:lumMod val="75000"/>
                    </a:schemeClr>
                  </a:solidFill>
                  <a:latin typeface="맑은 고딕" pitchFamily="50" charset="-127"/>
                  <a:ea typeface="맑은 고딕" pitchFamily="50" charset="-127"/>
                </a:rPr>
                <a:t>전체 수익</a:t>
              </a:r>
            </a:p>
          </p:txBody>
        </p:sp>
        <p:sp>
          <p:nvSpPr>
            <p:cNvPr id="176" name="직사각형 175">
              <a:extLst>
                <a:ext uri="{FF2B5EF4-FFF2-40B4-BE49-F238E27FC236}">
                  <a16:creationId xmlns:a16="http://schemas.microsoft.com/office/drawing/2014/main" id="{0AF78589-4F47-4328-81B7-B593D888BD8E}"/>
                </a:ext>
              </a:extLst>
            </p:cNvPr>
            <p:cNvSpPr/>
            <p:nvPr/>
          </p:nvSpPr>
          <p:spPr>
            <a:xfrm>
              <a:off x="2615847" y="4921226"/>
              <a:ext cx="664817" cy="288032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0"/>
            <a:lstStyle/>
            <a:p>
              <a:pPr>
                <a:lnSpc>
                  <a:spcPct val="150000"/>
                </a:lnSpc>
              </a:pPr>
              <a:r>
                <a:rPr lang="en-US" altLang="ko-KR" sz="7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120,000</a:t>
              </a:r>
              <a:endParaRPr lang="ko-KR" altLang="en-US" sz="7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77" name="직사각형 176">
              <a:extLst>
                <a:ext uri="{FF2B5EF4-FFF2-40B4-BE49-F238E27FC236}">
                  <a16:creationId xmlns:a16="http://schemas.microsoft.com/office/drawing/2014/main" id="{846B7C7C-7656-4007-A81D-A45FD0242D07}"/>
                </a:ext>
              </a:extLst>
            </p:cNvPr>
            <p:cNvSpPr/>
            <p:nvPr/>
          </p:nvSpPr>
          <p:spPr>
            <a:xfrm>
              <a:off x="1708458" y="4921854"/>
              <a:ext cx="436148" cy="28800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altLang="ko-KR" sz="400" b="1" dirty="0">
                  <a:solidFill>
                    <a:srgbClr val="00B050"/>
                  </a:solidFill>
                  <a:latin typeface="맑은 고딕" pitchFamily="50" charset="-127"/>
                  <a:ea typeface="맑은 고딕" pitchFamily="50" charset="-127"/>
                </a:rPr>
                <a:t>PV</a:t>
              </a:r>
              <a:r>
                <a:rPr lang="ko-KR" altLang="en-US" sz="400" b="1" dirty="0">
                  <a:solidFill>
                    <a:srgbClr val="00B050"/>
                  </a:solidFill>
                  <a:latin typeface="맑은 고딕" pitchFamily="50" charset="-127"/>
                  <a:ea typeface="맑은 고딕" pitchFamily="50" charset="-127"/>
                </a:rPr>
                <a:t> 수익</a:t>
              </a:r>
            </a:p>
          </p:txBody>
        </p:sp>
        <p:sp>
          <p:nvSpPr>
            <p:cNvPr id="178" name="직사각형 177">
              <a:extLst>
                <a:ext uri="{FF2B5EF4-FFF2-40B4-BE49-F238E27FC236}">
                  <a16:creationId xmlns:a16="http://schemas.microsoft.com/office/drawing/2014/main" id="{FC0304E2-615C-4689-BCD1-61865965A73A}"/>
                </a:ext>
              </a:extLst>
            </p:cNvPr>
            <p:cNvSpPr/>
            <p:nvPr/>
          </p:nvSpPr>
          <p:spPr>
            <a:xfrm>
              <a:off x="1972163" y="4908190"/>
              <a:ext cx="598101" cy="288032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0"/>
            <a:lstStyle/>
            <a:p>
              <a:pPr>
                <a:lnSpc>
                  <a:spcPct val="150000"/>
                </a:lnSpc>
              </a:pPr>
              <a:r>
                <a:rPr lang="en-US" altLang="ko-KR" sz="7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15,000</a:t>
              </a:r>
              <a:endParaRPr lang="ko-KR" altLang="en-US" sz="7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pic>
        <p:nvPicPr>
          <p:cNvPr id="179" name="그림 178">
            <a:extLst>
              <a:ext uri="{FF2B5EF4-FFF2-40B4-BE49-F238E27FC236}">
                <a16:creationId xmlns:a16="http://schemas.microsoft.com/office/drawing/2014/main" id="{43F49AA6-A334-423D-8A9A-9ACFF6143860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98623" y="4914501"/>
            <a:ext cx="2540384" cy="1109333"/>
          </a:xfrm>
          <a:prstGeom prst="rect">
            <a:avLst/>
          </a:prstGeom>
        </p:spPr>
      </p:pic>
      <p:pic>
        <p:nvPicPr>
          <p:cNvPr id="180" name="Picture 2" descr="ì¤ì ì ëí ì´ë¯¸ì§ ê²ìê²°ê³¼">
            <a:extLst>
              <a:ext uri="{FF2B5EF4-FFF2-40B4-BE49-F238E27FC236}">
                <a16:creationId xmlns:a16="http://schemas.microsoft.com/office/drawing/2014/main" id="{914E0CEB-2990-4BB9-BC98-4FEF770551E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13240" y="875775"/>
            <a:ext cx="198592" cy="19859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81" name="직사각형 180">
            <a:extLst>
              <a:ext uri="{FF2B5EF4-FFF2-40B4-BE49-F238E27FC236}">
                <a16:creationId xmlns:a16="http://schemas.microsoft.com/office/drawing/2014/main" id="{EC79ED2B-6574-420F-89F8-A71ADF751787}"/>
              </a:ext>
            </a:extLst>
          </p:cNvPr>
          <p:cNvSpPr/>
          <p:nvPr/>
        </p:nvSpPr>
        <p:spPr>
          <a:xfrm>
            <a:off x="6295753" y="2514956"/>
            <a:ext cx="115200" cy="143890"/>
          </a:xfrm>
          <a:prstGeom prst="rect">
            <a:avLst/>
          </a:prstGeom>
          <a:solidFill>
            <a:srgbClr val="00B05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grpSp>
        <p:nvGrpSpPr>
          <p:cNvPr id="182" name="그룹 181">
            <a:extLst>
              <a:ext uri="{FF2B5EF4-FFF2-40B4-BE49-F238E27FC236}">
                <a16:creationId xmlns:a16="http://schemas.microsoft.com/office/drawing/2014/main" id="{FD473941-BF61-48C9-8179-82061C4044E5}"/>
              </a:ext>
            </a:extLst>
          </p:cNvPr>
          <p:cNvGrpSpPr/>
          <p:nvPr/>
        </p:nvGrpSpPr>
        <p:grpSpPr>
          <a:xfrm>
            <a:off x="6129387" y="3492583"/>
            <a:ext cx="1912013" cy="1068681"/>
            <a:chOff x="1180851" y="2959945"/>
            <a:chExt cx="7495605" cy="1884776"/>
          </a:xfrm>
        </p:grpSpPr>
        <p:cxnSp>
          <p:nvCxnSpPr>
            <p:cNvPr id="183" name="직선 연결선 182">
              <a:extLst>
                <a:ext uri="{FF2B5EF4-FFF2-40B4-BE49-F238E27FC236}">
                  <a16:creationId xmlns:a16="http://schemas.microsoft.com/office/drawing/2014/main" id="{5297A632-8D76-4413-BFA5-80A9A0ADF9FF}"/>
                </a:ext>
              </a:extLst>
            </p:cNvPr>
            <p:cNvCxnSpPr/>
            <p:nvPr/>
          </p:nvCxnSpPr>
          <p:spPr>
            <a:xfrm>
              <a:off x="1187624" y="2959945"/>
              <a:ext cx="7488832" cy="0"/>
            </a:xfrm>
            <a:prstGeom prst="line">
              <a:avLst/>
            </a:prstGeom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4" name="직선 연결선 183">
              <a:extLst>
                <a:ext uri="{FF2B5EF4-FFF2-40B4-BE49-F238E27FC236}">
                  <a16:creationId xmlns:a16="http://schemas.microsoft.com/office/drawing/2014/main" id="{058D1019-8005-4550-8580-DFEE8C3A80A8}"/>
                </a:ext>
              </a:extLst>
            </p:cNvPr>
            <p:cNvCxnSpPr/>
            <p:nvPr/>
          </p:nvCxnSpPr>
          <p:spPr>
            <a:xfrm>
              <a:off x="1187624" y="3935861"/>
              <a:ext cx="7488832" cy="0"/>
            </a:xfrm>
            <a:prstGeom prst="line">
              <a:avLst/>
            </a:prstGeom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5" name="그룹 184">
              <a:extLst>
                <a:ext uri="{FF2B5EF4-FFF2-40B4-BE49-F238E27FC236}">
                  <a16:creationId xmlns:a16="http://schemas.microsoft.com/office/drawing/2014/main" id="{E413EEB1-D051-4A19-BC80-FDDD0B41977E}"/>
                </a:ext>
              </a:extLst>
            </p:cNvPr>
            <p:cNvGrpSpPr/>
            <p:nvPr/>
          </p:nvGrpSpPr>
          <p:grpSpPr>
            <a:xfrm flipH="1" flipV="1">
              <a:off x="4357435" y="3939476"/>
              <a:ext cx="2688227" cy="652703"/>
              <a:chOff x="1501760" y="2998490"/>
              <a:chExt cx="2520272" cy="1366614"/>
            </a:xfrm>
          </p:grpSpPr>
          <p:sp>
            <p:nvSpPr>
              <p:cNvPr id="204" name="직사각형 203">
                <a:extLst>
                  <a:ext uri="{FF2B5EF4-FFF2-40B4-BE49-F238E27FC236}">
                    <a16:creationId xmlns:a16="http://schemas.microsoft.com/office/drawing/2014/main" id="{BCA1AC6C-1F91-464B-B1C8-D7EB0F8D3EAF}"/>
                  </a:ext>
                </a:extLst>
              </p:cNvPr>
              <p:cNvSpPr/>
              <p:nvPr/>
            </p:nvSpPr>
            <p:spPr>
              <a:xfrm>
                <a:off x="1501760" y="4217882"/>
                <a:ext cx="72000" cy="147222"/>
              </a:xfrm>
              <a:prstGeom prst="rect">
                <a:avLst/>
              </a:prstGeom>
              <a:solidFill>
                <a:schemeClr val="tx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205" name="직사각형 204">
                <a:extLst>
                  <a:ext uri="{FF2B5EF4-FFF2-40B4-BE49-F238E27FC236}">
                    <a16:creationId xmlns:a16="http://schemas.microsoft.com/office/drawing/2014/main" id="{9078715B-7713-434A-8207-2B41F4B55AEB}"/>
                  </a:ext>
                </a:extLst>
              </p:cNvPr>
              <p:cNvSpPr/>
              <p:nvPr/>
            </p:nvSpPr>
            <p:spPr>
              <a:xfrm>
                <a:off x="3950032" y="2998490"/>
                <a:ext cx="72000" cy="1366614"/>
              </a:xfrm>
              <a:prstGeom prst="rect">
                <a:avLst/>
              </a:prstGeom>
              <a:solidFill>
                <a:schemeClr val="tx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207" name="직사각형 206">
                <a:extLst>
                  <a:ext uri="{FF2B5EF4-FFF2-40B4-BE49-F238E27FC236}">
                    <a16:creationId xmlns:a16="http://schemas.microsoft.com/office/drawing/2014/main" id="{688336F9-CA83-4B0A-97CD-FC10888F38C4}"/>
                  </a:ext>
                </a:extLst>
              </p:cNvPr>
              <p:cNvSpPr/>
              <p:nvPr/>
            </p:nvSpPr>
            <p:spPr>
              <a:xfrm>
                <a:off x="3638317" y="3069104"/>
                <a:ext cx="72000" cy="1296000"/>
              </a:xfrm>
              <a:prstGeom prst="rect">
                <a:avLst/>
              </a:prstGeom>
              <a:solidFill>
                <a:schemeClr val="tx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208" name="직사각형 207">
                <a:extLst>
                  <a:ext uri="{FF2B5EF4-FFF2-40B4-BE49-F238E27FC236}">
                    <a16:creationId xmlns:a16="http://schemas.microsoft.com/office/drawing/2014/main" id="{A6A2EB2C-A211-44BC-8790-B5520645BF4A}"/>
                  </a:ext>
                </a:extLst>
              </p:cNvPr>
              <p:cNvSpPr/>
              <p:nvPr/>
            </p:nvSpPr>
            <p:spPr>
              <a:xfrm>
                <a:off x="3327361" y="3214514"/>
                <a:ext cx="72000" cy="1150590"/>
              </a:xfrm>
              <a:prstGeom prst="rect">
                <a:avLst/>
              </a:prstGeom>
              <a:solidFill>
                <a:schemeClr val="tx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209" name="직사각형 208">
                <a:extLst>
                  <a:ext uri="{FF2B5EF4-FFF2-40B4-BE49-F238E27FC236}">
                    <a16:creationId xmlns:a16="http://schemas.microsoft.com/office/drawing/2014/main" id="{CA7F3D98-C544-486E-8CA1-EE0B9E35A7BF}"/>
                  </a:ext>
                </a:extLst>
              </p:cNvPr>
              <p:cNvSpPr/>
              <p:nvPr/>
            </p:nvSpPr>
            <p:spPr>
              <a:xfrm>
                <a:off x="3013928" y="3575612"/>
                <a:ext cx="72000" cy="789492"/>
              </a:xfrm>
              <a:prstGeom prst="rect">
                <a:avLst/>
              </a:prstGeom>
              <a:solidFill>
                <a:schemeClr val="tx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210" name="직사각형 209">
                <a:extLst>
                  <a:ext uri="{FF2B5EF4-FFF2-40B4-BE49-F238E27FC236}">
                    <a16:creationId xmlns:a16="http://schemas.microsoft.com/office/drawing/2014/main" id="{B6B16C4C-8696-45AA-B7B0-0D49A0DEF837}"/>
                  </a:ext>
                </a:extLst>
              </p:cNvPr>
              <p:cNvSpPr/>
              <p:nvPr/>
            </p:nvSpPr>
            <p:spPr>
              <a:xfrm>
                <a:off x="2748848" y="3681104"/>
                <a:ext cx="72000" cy="684000"/>
              </a:xfrm>
              <a:prstGeom prst="rect">
                <a:avLst/>
              </a:prstGeom>
              <a:solidFill>
                <a:schemeClr val="tx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211" name="직사각형 210">
                <a:extLst>
                  <a:ext uri="{FF2B5EF4-FFF2-40B4-BE49-F238E27FC236}">
                    <a16:creationId xmlns:a16="http://schemas.microsoft.com/office/drawing/2014/main" id="{D0586B7C-49A9-4783-AFDB-707E566A121E}"/>
                  </a:ext>
                </a:extLst>
              </p:cNvPr>
              <p:cNvSpPr/>
              <p:nvPr/>
            </p:nvSpPr>
            <p:spPr>
              <a:xfrm>
                <a:off x="2437864" y="3807104"/>
                <a:ext cx="72000" cy="558000"/>
              </a:xfrm>
              <a:prstGeom prst="rect">
                <a:avLst/>
              </a:prstGeom>
              <a:solidFill>
                <a:schemeClr val="tx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212" name="직사각형 211">
                <a:extLst>
                  <a:ext uri="{FF2B5EF4-FFF2-40B4-BE49-F238E27FC236}">
                    <a16:creationId xmlns:a16="http://schemas.microsoft.com/office/drawing/2014/main" id="{C61D6DB3-D088-4927-9259-CB72F1CF7619}"/>
                  </a:ext>
                </a:extLst>
              </p:cNvPr>
              <p:cNvSpPr/>
              <p:nvPr/>
            </p:nvSpPr>
            <p:spPr>
              <a:xfrm>
                <a:off x="2123923" y="3862586"/>
                <a:ext cx="72000" cy="502518"/>
              </a:xfrm>
              <a:prstGeom prst="rect">
                <a:avLst/>
              </a:prstGeom>
              <a:solidFill>
                <a:schemeClr val="tx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213" name="직사각형 212">
                <a:extLst>
                  <a:ext uri="{FF2B5EF4-FFF2-40B4-BE49-F238E27FC236}">
                    <a16:creationId xmlns:a16="http://schemas.microsoft.com/office/drawing/2014/main" id="{DFDB1911-71F3-49B8-863F-14746A7516F2}"/>
                  </a:ext>
                </a:extLst>
              </p:cNvPr>
              <p:cNvSpPr/>
              <p:nvPr/>
            </p:nvSpPr>
            <p:spPr>
              <a:xfrm>
                <a:off x="1789792" y="4059104"/>
                <a:ext cx="72000" cy="306000"/>
              </a:xfrm>
              <a:prstGeom prst="rect">
                <a:avLst/>
              </a:prstGeom>
              <a:solidFill>
                <a:schemeClr val="tx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</p:grpSp>
        <p:grpSp>
          <p:nvGrpSpPr>
            <p:cNvPr id="186" name="그룹 185">
              <a:extLst>
                <a:ext uri="{FF2B5EF4-FFF2-40B4-BE49-F238E27FC236}">
                  <a16:creationId xmlns:a16="http://schemas.microsoft.com/office/drawing/2014/main" id="{3953643F-A9F7-411D-AA50-FF0D1AB34ECF}"/>
                </a:ext>
              </a:extLst>
            </p:cNvPr>
            <p:cNvGrpSpPr/>
            <p:nvPr/>
          </p:nvGrpSpPr>
          <p:grpSpPr>
            <a:xfrm>
              <a:off x="1403648" y="3249056"/>
              <a:ext cx="2520272" cy="684000"/>
              <a:chOff x="1403648" y="2780928"/>
              <a:chExt cx="2520272" cy="1584176"/>
            </a:xfrm>
          </p:grpSpPr>
          <p:sp>
            <p:nvSpPr>
              <p:cNvPr id="195" name="직사각형 194">
                <a:extLst>
                  <a:ext uri="{FF2B5EF4-FFF2-40B4-BE49-F238E27FC236}">
                    <a16:creationId xmlns:a16="http://schemas.microsoft.com/office/drawing/2014/main" id="{6C46D95A-660C-4D11-A54D-70399BC51AC3}"/>
                  </a:ext>
                </a:extLst>
              </p:cNvPr>
              <p:cNvSpPr/>
              <p:nvPr/>
            </p:nvSpPr>
            <p:spPr>
              <a:xfrm>
                <a:off x="1403648" y="4185104"/>
                <a:ext cx="72000" cy="180000"/>
              </a:xfrm>
              <a:prstGeom prst="rect">
                <a:avLst/>
              </a:pr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196" name="직사각형 195">
                <a:extLst>
                  <a:ext uri="{FF2B5EF4-FFF2-40B4-BE49-F238E27FC236}">
                    <a16:creationId xmlns:a16="http://schemas.microsoft.com/office/drawing/2014/main" id="{082EE49D-B264-4A80-BAD1-3D64BEC5AEC7}"/>
                  </a:ext>
                </a:extLst>
              </p:cNvPr>
              <p:cNvSpPr/>
              <p:nvPr/>
            </p:nvSpPr>
            <p:spPr>
              <a:xfrm>
                <a:off x="3540205" y="2998490"/>
                <a:ext cx="72000" cy="1366614"/>
              </a:xfrm>
              <a:prstGeom prst="rect">
                <a:avLst/>
              </a:pr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197" name="직사각형 196">
                <a:extLst>
                  <a:ext uri="{FF2B5EF4-FFF2-40B4-BE49-F238E27FC236}">
                    <a16:creationId xmlns:a16="http://schemas.microsoft.com/office/drawing/2014/main" id="{37D78823-F075-4FAE-AED2-4DE7B68EA197}"/>
                  </a:ext>
                </a:extLst>
              </p:cNvPr>
              <p:cNvSpPr/>
              <p:nvPr/>
            </p:nvSpPr>
            <p:spPr>
              <a:xfrm>
                <a:off x="3229249" y="3249104"/>
                <a:ext cx="72000" cy="1116000"/>
              </a:xfrm>
              <a:prstGeom prst="rect">
                <a:avLst/>
              </a:pr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198" name="직사각형 197">
                <a:extLst>
                  <a:ext uri="{FF2B5EF4-FFF2-40B4-BE49-F238E27FC236}">
                    <a16:creationId xmlns:a16="http://schemas.microsoft.com/office/drawing/2014/main" id="{BFB32461-A552-4A84-94ED-DA4AA9F22AD7}"/>
                  </a:ext>
                </a:extLst>
              </p:cNvPr>
              <p:cNvSpPr/>
              <p:nvPr/>
            </p:nvSpPr>
            <p:spPr>
              <a:xfrm>
                <a:off x="2915816" y="3429104"/>
                <a:ext cx="72000" cy="936000"/>
              </a:xfrm>
              <a:prstGeom prst="rect">
                <a:avLst/>
              </a:pr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199" name="직사각형 198">
                <a:extLst>
                  <a:ext uri="{FF2B5EF4-FFF2-40B4-BE49-F238E27FC236}">
                    <a16:creationId xmlns:a16="http://schemas.microsoft.com/office/drawing/2014/main" id="{94272D41-0E55-4D56-8B57-0978599154E8}"/>
                  </a:ext>
                </a:extLst>
              </p:cNvPr>
              <p:cNvSpPr/>
              <p:nvPr/>
            </p:nvSpPr>
            <p:spPr>
              <a:xfrm>
                <a:off x="2650736" y="3575612"/>
                <a:ext cx="72000" cy="789492"/>
              </a:xfrm>
              <a:prstGeom prst="rect">
                <a:avLst/>
              </a:pr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200" name="직사각형 199">
                <a:extLst>
                  <a:ext uri="{FF2B5EF4-FFF2-40B4-BE49-F238E27FC236}">
                    <a16:creationId xmlns:a16="http://schemas.microsoft.com/office/drawing/2014/main" id="{B8D08766-A3DB-4A29-8EF5-455529FAFC37}"/>
                  </a:ext>
                </a:extLst>
              </p:cNvPr>
              <p:cNvSpPr/>
              <p:nvPr/>
            </p:nvSpPr>
            <p:spPr>
              <a:xfrm>
                <a:off x="2339752" y="3753104"/>
                <a:ext cx="72000" cy="612000"/>
              </a:xfrm>
              <a:prstGeom prst="rect">
                <a:avLst/>
              </a:pr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201" name="직사각형 200">
                <a:extLst>
                  <a:ext uri="{FF2B5EF4-FFF2-40B4-BE49-F238E27FC236}">
                    <a16:creationId xmlns:a16="http://schemas.microsoft.com/office/drawing/2014/main" id="{536E4E37-A260-4AA1-8329-EF4DDFE34BDA}"/>
                  </a:ext>
                </a:extLst>
              </p:cNvPr>
              <p:cNvSpPr/>
              <p:nvPr/>
            </p:nvSpPr>
            <p:spPr>
              <a:xfrm>
                <a:off x="2025811" y="3933104"/>
                <a:ext cx="72000" cy="432000"/>
              </a:xfrm>
              <a:prstGeom prst="rect">
                <a:avLst/>
              </a:pr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202" name="직사각형 201">
                <a:extLst>
                  <a:ext uri="{FF2B5EF4-FFF2-40B4-BE49-F238E27FC236}">
                    <a16:creationId xmlns:a16="http://schemas.microsoft.com/office/drawing/2014/main" id="{BAB0C819-F882-4365-8896-22B03D631E48}"/>
                  </a:ext>
                </a:extLst>
              </p:cNvPr>
              <p:cNvSpPr/>
              <p:nvPr/>
            </p:nvSpPr>
            <p:spPr>
              <a:xfrm>
                <a:off x="1691680" y="4005104"/>
                <a:ext cx="72000" cy="360000"/>
              </a:xfrm>
              <a:prstGeom prst="rect">
                <a:avLst/>
              </a:pr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203" name="직사각형 202">
                <a:extLst>
                  <a:ext uri="{FF2B5EF4-FFF2-40B4-BE49-F238E27FC236}">
                    <a16:creationId xmlns:a16="http://schemas.microsoft.com/office/drawing/2014/main" id="{C0AE4F41-19B3-4BEC-8BE1-6E70AF64D69F}"/>
                  </a:ext>
                </a:extLst>
              </p:cNvPr>
              <p:cNvSpPr/>
              <p:nvPr/>
            </p:nvSpPr>
            <p:spPr>
              <a:xfrm>
                <a:off x="3851920" y="2780928"/>
                <a:ext cx="72000" cy="1584176"/>
              </a:xfrm>
              <a:prstGeom prst="rect">
                <a:avLst/>
              </a:pr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</p:grpSp>
        <p:grpSp>
          <p:nvGrpSpPr>
            <p:cNvPr id="187" name="그룹 186">
              <a:extLst>
                <a:ext uri="{FF2B5EF4-FFF2-40B4-BE49-F238E27FC236}">
                  <a16:creationId xmlns:a16="http://schemas.microsoft.com/office/drawing/2014/main" id="{098903C7-6FB9-4D40-89CF-A699D3CF773C}"/>
                </a:ext>
              </a:extLst>
            </p:cNvPr>
            <p:cNvGrpSpPr/>
            <p:nvPr/>
          </p:nvGrpSpPr>
          <p:grpSpPr>
            <a:xfrm>
              <a:off x="7308297" y="3782267"/>
              <a:ext cx="353772" cy="155437"/>
              <a:chOff x="1403648" y="4005104"/>
              <a:chExt cx="360032" cy="360000"/>
            </a:xfrm>
          </p:grpSpPr>
          <p:sp>
            <p:nvSpPr>
              <p:cNvPr id="193" name="직사각형 192">
                <a:extLst>
                  <a:ext uri="{FF2B5EF4-FFF2-40B4-BE49-F238E27FC236}">
                    <a16:creationId xmlns:a16="http://schemas.microsoft.com/office/drawing/2014/main" id="{B165E73C-A702-40DB-AB01-0F97690C5A9E}"/>
                  </a:ext>
                </a:extLst>
              </p:cNvPr>
              <p:cNvSpPr/>
              <p:nvPr/>
            </p:nvSpPr>
            <p:spPr>
              <a:xfrm>
                <a:off x="1403648" y="4185104"/>
                <a:ext cx="72000" cy="180000"/>
              </a:xfrm>
              <a:prstGeom prst="rect">
                <a:avLst/>
              </a:pr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194" name="직사각형 193">
                <a:extLst>
                  <a:ext uri="{FF2B5EF4-FFF2-40B4-BE49-F238E27FC236}">
                    <a16:creationId xmlns:a16="http://schemas.microsoft.com/office/drawing/2014/main" id="{76EB4218-38E7-417E-A420-EDB2D961423C}"/>
                  </a:ext>
                </a:extLst>
              </p:cNvPr>
              <p:cNvSpPr/>
              <p:nvPr/>
            </p:nvSpPr>
            <p:spPr>
              <a:xfrm>
                <a:off x="1691680" y="4005104"/>
                <a:ext cx="72000" cy="360000"/>
              </a:xfrm>
              <a:prstGeom prst="rect">
                <a:avLst/>
              </a:pr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</p:grpSp>
        <p:cxnSp>
          <p:nvCxnSpPr>
            <p:cNvPr id="188" name="직선 연결선 187">
              <a:extLst>
                <a:ext uri="{FF2B5EF4-FFF2-40B4-BE49-F238E27FC236}">
                  <a16:creationId xmlns:a16="http://schemas.microsoft.com/office/drawing/2014/main" id="{12F8E0E9-448B-40C9-9817-96D0A9B946B4}"/>
                </a:ext>
              </a:extLst>
            </p:cNvPr>
            <p:cNvCxnSpPr/>
            <p:nvPr/>
          </p:nvCxnSpPr>
          <p:spPr>
            <a:xfrm>
              <a:off x="1180851" y="4316387"/>
              <a:ext cx="7488832" cy="0"/>
            </a:xfrm>
            <a:prstGeom prst="line">
              <a:avLst/>
            </a:prstGeom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직선 연결선 188">
              <a:extLst>
                <a:ext uri="{FF2B5EF4-FFF2-40B4-BE49-F238E27FC236}">
                  <a16:creationId xmlns:a16="http://schemas.microsoft.com/office/drawing/2014/main" id="{60C2A40F-0989-4F07-92AC-0BBE5B5D8858}"/>
                </a:ext>
              </a:extLst>
            </p:cNvPr>
            <p:cNvCxnSpPr/>
            <p:nvPr/>
          </p:nvCxnSpPr>
          <p:spPr>
            <a:xfrm>
              <a:off x="1180851" y="3376982"/>
              <a:ext cx="7488832" cy="0"/>
            </a:xfrm>
            <a:prstGeom prst="line">
              <a:avLst/>
            </a:prstGeom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직선 연결선 189">
              <a:extLst>
                <a:ext uri="{FF2B5EF4-FFF2-40B4-BE49-F238E27FC236}">
                  <a16:creationId xmlns:a16="http://schemas.microsoft.com/office/drawing/2014/main" id="{AD647268-14CB-4374-87C8-796B48FC7344}"/>
                </a:ext>
              </a:extLst>
            </p:cNvPr>
            <p:cNvCxnSpPr/>
            <p:nvPr/>
          </p:nvCxnSpPr>
          <p:spPr>
            <a:xfrm>
              <a:off x="1180851" y="4844721"/>
              <a:ext cx="7488832" cy="0"/>
            </a:xfrm>
            <a:prstGeom prst="line">
              <a:avLst/>
            </a:prstGeom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1" name="자유형 33">
              <a:extLst>
                <a:ext uri="{FF2B5EF4-FFF2-40B4-BE49-F238E27FC236}">
                  <a16:creationId xmlns:a16="http://schemas.microsoft.com/office/drawing/2014/main" id="{75DD9915-21D8-4F93-BC49-03706A2768AE}"/>
                </a:ext>
              </a:extLst>
            </p:cNvPr>
            <p:cNvSpPr/>
            <p:nvPr/>
          </p:nvSpPr>
          <p:spPr>
            <a:xfrm flipH="1" flipV="1">
              <a:off x="4353593" y="3937702"/>
              <a:ext cx="2689623" cy="684001"/>
            </a:xfrm>
            <a:custGeom>
              <a:avLst/>
              <a:gdLst>
                <a:gd name="connsiteX0" fmla="*/ 0 w 4368800"/>
                <a:gd name="connsiteY0" fmla="*/ 389467 h 414867"/>
                <a:gd name="connsiteX1" fmla="*/ 270933 w 4368800"/>
                <a:gd name="connsiteY1" fmla="*/ 321733 h 414867"/>
                <a:gd name="connsiteX2" fmla="*/ 575733 w 4368800"/>
                <a:gd name="connsiteY2" fmla="*/ 414867 h 414867"/>
                <a:gd name="connsiteX3" fmla="*/ 880533 w 4368800"/>
                <a:gd name="connsiteY3" fmla="*/ 355600 h 414867"/>
                <a:gd name="connsiteX4" fmla="*/ 1134533 w 4368800"/>
                <a:gd name="connsiteY4" fmla="*/ 203200 h 414867"/>
                <a:gd name="connsiteX5" fmla="*/ 1456266 w 4368800"/>
                <a:gd name="connsiteY5" fmla="*/ 313267 h 414867"/>
                <a:gd name="connsiteX6" fmla="*/ 1727200 w 4368800"/>
                <a:gd name="connsiteY6" fmla="*/ 254000 h 414867"/>
                <a:gd name="connsiteX7" fmla="*/ 1998133 w 4368800"/>
                <a:gd name="connsiteY7" fmla="*/ 135467 h 414867"/>
                <a:gd name="connsiteX8" fmla="*/ 2353733 w 4368800"/>
                <a:gd name="connsiteY8" fmla="*/ 287867 h 414867"/>
                <a:gd name="connsiteX9" fmla="*/ 2607733 w 4368800"/>
                <a:gd name="connsiteY9" fmla="*/ 169333 h 414867"/>
                <a:gd name="connsiteX10" fmla="*/ 2946400 w 4368800"/>
                <a:gd name="connsiteY10" fmla="*/ 211667 h 414867"/>
                <a:gd name="connsiteX11" fmla="*/ 3234266 w 4368800"/>
                <a:gd name="connsiteY11" fmla="*/ 203200 h 414867"/>
                <a:gd name="connsiteX12" fmla="*/ 3505200 w 4368800"/>
                <a:gd name="connsiteY12" fmla="*/ 0 h 414867"/>
                <a:gd name="connsiteX13" fmla="*/ 3810000 w 4368800"/>
                <a:gd name="connsiteY13" fmla="*/ 135467 h 414867"/>
                <a:gd name="connsiteX14" fmla="*/ 4097866 w 4368800"/>
                <a:gd name="connsiteY14" fmla="*/ 42333 h 414867"/>
                <a:gd name="connsiteX15" fmla="*/ 4368800 w 4368800"/>
                <a:gd name="connsiteY15" fmla="*/ 118533 h 414867"/>
                <a:gd name="connsiteX0" fmla="*/ 0 w 4368800"/>
                <a:gd name="connsiteY0" fmla="*/ 524934 h 524934"/>
                <a:gd name="connsiteX1" fmla="*/ 270933 w 4368800"/>
                <a:gd name="connsiteY1" fmla="*/ 321733 h 524934"/>
                <a:gd name="connsiteX2" fmla="*/ 575733 w 4368800"/>
                <a:gd name="connsiteY2" fmla="*/ 414867 h 524934"/>
                <a:gd name="connsiteX3" fmla="*/ 880533 w 4368800"/>
                <a:gd name="connsiteY3" fmla="*/ 355600 h 524934"/>
                <a:gd name="connsiteX4" fmla="*/ 1134533 w 4368800"/>
                <a:gd name="connsiteY4" fmla="*/ 203200 h 524934"/>
                <a:gd name="connsiteX5" fmla="*/ 1456266 w 4368800"/>
                <a:gd name="connsiteY5" fmla="*/ 313267 h 524934"/>
                <a:gd name="connsiteX6" fmla="*/ 1727200 w 4368800"/>
                <a:gd name="connsiteY6" fmla="*/ 254000 h 524934"/>
                <a:gd name="connsiteX7" fmla="*/ 1998133 w 4368800"/>
                <a:gd name="connsiteY7" fmla="*/ 135467 h 524934"/>
                <a:gd name="connsiteX8" fmla="*/ 2353733 w 4368800"/>
                <a:gd name="connsiteY8" fmla="*/ 287867 h 524934"/>
                <a:gd name="connsiteX9" fmla="*/ 2607733 w 4368800"/>
                <a:gd name="connsiteY9" fmla="*/ 169333 h 524934"/>
                <a:gd name="connsiteX10" fmla="*/ 2946400 w 4368800"/>
                <a:gd name="connsiteY10" fmla="*/ 211667 h 524934"/>
                <a:gd name="connsiteX11" fmla="*/ 3234266 w 4368800"/>
                <a:gd name="connsiteY11" fmla="*/ 203200 h 524934"/>
                <a:gd name="connsiteX12" fmla="*/ 3505200 w 4368800"/>
                <a:gd name="connsiteY12" fmla="*/ 0 h 524934"/>
                <a:gd name="connsiteX13" fmla="*/ 3810000 w 4368800"/>
                <a:gd name="connsiteY13" fmla="*/ 135467 h 524934"/>
                <a:gd name="connsiteX14" fmla="*/ 4097866 w 4368800"/>
                <a:gd name="connsiteY14" fmla="*/ 42333 h 524934"/>
                <a:gd name="connsiteX15" fmla="*/ 4368800 w 4368800"/>
                <a:gd name="connsiteY15" fmla="*/ 118533 h 524934"/>
                <a:gd name="connsiteX0" fmla="*/ 0 w 4368800"/>
                <a:gd name="connsiteY0" fmla="*/ 541867 h 541867"/>
                <a:gd name="connsiteX1" fmla="*/ 270933 w 4368800"/>
                <a:gd name="connsiteY1" fmla="*/ 338666 h 541867"/>
                <a:gd name="connsiteX2" fmla="*/ 575733 w 4368800"/>
                <a:gd name="connsiteY2" fmla="*/ 431800 h 541867"/>
                <a:gd name="connsiteX3" fmla="*/ 880533 w 4368800"/>
                <a:gd name="connsiteY3" fmla="*/ 372533 h 541867"/>
                <a:gd name="connsiteX4" fmla="*/ 1134533 w 4368800"/>
                <a:gd name="connsiteY4" fmla="*/ 220133 h 541867"/>
                <a:gd name="connsiteX5" fmla="*/ 1456266 w 4368800"/>
                <a:gd name="connsiteY5" fmla="*/ 330200 h 541867"/>
                <a:gd name="connsiteX6" fmla="*/ 1727200 w 4368800"/>
                <a:gd name="connsiteY6" fmla="*/ 270933 h 541867"/>
                <a:gd name="connsiteX7" fmla="*/ 2048933 w 4368800"/>
                <a:gd name="connsiteY7" fmla="*/ 0 h 541867"/>
                <a:gd name="connsiteX8" fmla="*/ 2353733 w 4368800"/>
                <a:gd name="connsiteY8" fmla="*/ 304800 h 541867"/>
                <a:gd name="connsiteX9" fmla="*/ 2607733 w 4368800"/>
                <a:gd name="connsiteY9" fmla="*/ 186266 h 541867"/>
                <a:gd name="connsiteX10" fmla="*/ 2946400 w 4368800"/>
                <a:gd name="connsiteY10" fmla="*/ 228600 h 541867"/>
                <a:gd name="connsiteX11" fmla="*/ 3234266 w 4368800"/>
                <a:gd name="connsiteY11" fmla="*/ 220133 h 541867"/>
                <a:gd name="connsiteX12" fmla="*/ 3505200 w 4368800"/>
                <a:gd name="connsiteY12" fmla="*/ 16933 h 541867"/>
                <a:gd name="connsiteX13" fmla="*/ 3810000 w 4368800"/>
                <a:gd name="connsiteY13" fmla="*/ 152400 h 541867"/>
                <a:gd name="connsiteX14" fmla="*/ 4097866 w 4368800"/>
                <a:gd name="connsiteY14" fmla="*/ 59266 h 541867"/>
                <a:gd name="connsiteX15" fmla="*/ 4368800 w 4368800"/>
                <a:gd name="connsiteY15" fmla="*/ 135466 h 541867"/>
                <a:gd name="connsiteX0" fmla="*/ 0 w 4368800"/>
                <a:gd name="connsiteY0" fmla="*/ 541867 h 541867"/>
                <a:gd name="connsiteX1" fmla="*/ 270933 w 4368800"/>
                <a:gd name="connsiteY1" fmla="*/ 338666 h 541867"/>
                <a:gd name="connsiteX2" fmla="*/ 575733 w 4368800"/>
                <a:gd name="connsiteY2" fmla="*/ 431800 h 541867"/>
                <a:gd name="connsiteX3" fmla="*/ 880533 w 4368800"/>
                <a:gd name="connsiteY3" fmla="*/ 372533 h 541867"/>
                <a:gd name="connsiteX4" fmla="*/ 1134533 w 4368800"/>
                <a:gd name="connsiteY4" fmla="*/ 220133 h 541867"/>
                <a:gd name="connsiteX5" fmla="*/ 1456266 w 4368800"/>
                <a:gd name="connsiteY5" fmla="*/ 330200 h 541867"/>
                <a:gd name="connsiteX6" fmla="*/ 1727200 w 4368800"/>
                <a:gd name="connsiteY6" fmla="*/ 270933 h 541867"/>
                <a:gd name="connsiteX7" fmla="*/ 2048933 w 4368800"/>
                <a:gd name="connsiteY7" fmla="*/ 0 h 541867"/>
                <a:gd name="connsiteX8" fmla="*/ 2353733 w 4368800"/>
                <a:gd name="connsiteY8" fmla="*/ 304800 h 541867"/>
                <a:gd name="connsiteX9" fmla="*/ 2607733 w 4368800"/>
                <a:gd name="connsiteY9" fmla="*/ 186266 h 541867"/>
                <a:gd name="connsiteX10" fmla="*/ 2963334 w 4368800"/>
                <a:gd name="connsiteY10" fmla="*/ 152400 h 541867"/>
                <a:gd name="connsiteX11" fmla="*/ 3234266 w 4368800"/>
                <a:gd name="connsiteY11" fmla="*/ 220133 h 541867"/>
                <a:gd name="connsiteX12" fmla="*/ 3505200 w 4368800"/>
                <a:gd name="connsiteY12" fmla="*/ 16933 h 541867"/>
                <a:gd name="connsiteX13" fmla="*/ 3810000 w 4368800"/>
                <a:gd name="connsiteY13" fmla="*/ 152400 h 541867"/>
                <a:gd name="connsiteX14" fmla="*/ 4097866 w 4368800"/>
                <a:gd name="connsiteY14" fmla="*/ 59266 h 541867"/>
                <a:gd name="connsiteX15" fmla="*/ 4368800 w 4368800"/>
                <a:gd name="connsiteY15" fmla="*/ 135466 h 541867"/>
                <a:gd name="connsiteX0" fmla="*/ 0 w 4368800"/>
                <a:gd name="connsiteY0" fmla="*/ 575734 h 575734"/>
                <a:gd name="connsiteX1" fmla="*/ 270933 w 4368800"/>
                <a:gd name="connsiteY1" fmla="*/ 372533 h 575734"/>
                <a:gd name="connsiteX2" fmla="*/ 575733 w 4368800"/>
                <a:gd name="connsiteY2" fmla="*/ 465667 h 575734"/>
                <a:gd name="connsiteX3" fmla="*/ 880533 w 4368800"/>
                <a:gd name="connsiteY3" fmla="*/ 406400 h 575734"/>
                <a:gd name="connsiteX4" fmla="*/ 1134533 w 4368800"/>
                <a:gd name="connsiteY4" fmla="*/ 254000 h 575734"/>
                <a:gd name="connsiteX5" fmla="*/ 1456266 w 4368800"/>
                <a:gd name="connsiteY5" fmla="*/ 364067 h 575734"/>
                <a:gd name="connsiteX6" fmla="*/ 1727200 w 4368800"/>
                <a:gd name="connsiteY6" fmla="*/ 304800 h 575734"/>
                <a:gd name="connsiteX7" fmla="*/ 2048933 w 4368800"/>
                <a:gd name="connsiteY7" fmla="*/ 33867 h 575734"/>
                <a:gd name="connsiteX8" fmla="*/ 2353733 w 4368800"/>
                <a:gd name="connsiteY8" fmla="*/ 338667 h 575734"/>
                <a:gd name="connsiteX9" fmla="*/ 2607733 w 4368800"/>
                <a:gd name="connsiteY9" fmla="*/ 220133 h 575734"/>
                <a:gd name="connsiteX10" fmla="*/ 2963334 w 4368800"/>
                <a:gd name="connsiteY10" fmla="*/ 186267 h 575734"/>
                <a:gd name="connsiteX11" fmla="*/ 3234266 w 4368800"/>
                <a:gd name="connsiteY11" fmla="*/ 254000 h 575734"/>
                <a:gd name="connsiteX12" fmla="*/ 3505200 w 4368800"/>
                <a:gd name="connsiteY12" fmla="*/ 0 h 575734"/>
                <a:gd name="connsiteX13" fmla="*/ 3810000 w 4368800"/>
                <a:gd name="connsiteY13" fmla="*/ 186267 h 575734"/>
                <a:gd name="connsiteX14" fmla="*/ 4097866 w 4368800"/>
                <a:gd name="connsiteY14" fmla="*/ 93133 h 575734"/>
                <a:gd name="connsiteX15" fmla="*/ 4368800 w 4368800"/>
                <a:gd name="connsiteY15" fmla="*/ 169333 h 575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368800" h="575734">
                  <a:moveTo>
                    <a:pt x="0" y="575734"/>
                  </a:moveTo>
                  <a:lnTo>
                    <a:pt x="270933" y="372533"/>
                  </a:lnTo>
                  <a:lnTo>
                    <a:pt x="575733" y="465667"/>
                  </a:lnTo>
                  <a:lnTo>
                    <a:pt x="880533" y="406400"/>
                  </a:lnTo>
                  <a:lnTo>
                    <a:pt x="1134533" y="254000"/>
                  </a:lnTo>
                  <a:lnTo>
                    <a:pt x="1456266" y="364067"/>
                  </a:lnTo>
                  <a:lnTo>
                    <a:pt x="1727200" y="304800"/>
                  </a:lnTo>
                  <a:lnTo>
                    <a:pt x="2048933" y="33867"/>
                  </a:lnTo>
                  <a:lnTo>
                    <a:pt x="2353733" y="338667"/>
                  </a:lnTo>
                  <a:cubicBezTo>
                    <a:pt x="2438400" y="299156"/>
                    <a:pt x="2506133" y="245533"/>
                    <a:pt x="2607733" y="220133"/>
                  </a:cubicBezTo>
                  <a:cubicBezTo>
                    <a:pt x="2709333" y="194733"/>
                    <a:pt x="2844800" y="197556"/>
                    <a:pt x="2963334" y="186267"/>
                  </a:cubicBezTo>
                  <a:lnTo>
                    <a:pt x="3234266" y="254000"/>
                  </a:lnTo>
                  <a:lnTo>
                    <a:pt x="3505200" y="0"/>
                  </a:lnTo>
                  <a:lnTo>
                    <a:pt x="3810000" y="186267"/>
                  </a:lnTo>
                  <a:lnTo>
                    <a:pt x="4097866" y="93133"/>
                  </a:lnTo>
                  <a:lnTo>
                    <a:pt x="4368800" y="169333"/>
                  </a:lnTo>
                </a:path>
              </a:pathLst>
            </a:custGeom>
            <a:ln>
              <a:solidFill>
                <a:schemeClr val="accent3">
                  <a:lumMod val="75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192" name="자유형 83">
              <a:extLst>
                <a:ext uri="{FF2B5EF4-FFF2-40B4-BE49-F238E27FC236}">
                  <a16:creationId xmlns:a16="http://schemas.microsoft.com/office/drawing/2014/main" id="{23ACAE22-5A7B-4C06-8EA8-A27039494D79}"/>
                </a:ext>
              </a:extLst>
            </p:cNvPr>
            <p:cNvSpPr/>
            <p:nvPr/>
          </p:nvSpPr>
          <p:spPr>
            <a:xfrm>
              <a:off x="1397086" y="3160835"/>
              <a:ext cx="2742866" cy="770368"/>
            </a:xfrm>
            <a:custGeom>
              <a:avLst/>
              <a:gdLst>
                <a:gd name="connsiteX0" fmla="*/ 0 w 4368800"/>
                <a:gd name="connsiteY0" fmla="*/ 389467 h 414867"/>
                <a:gd name="connsiteX1" fmla="*/ 270933 w 4368800"/>
                <a:gd name="connsiteY1" fmla="*/ 321733 h 414867"/>
                <a:gd name="connsiteX2" fmla="*/ 575733 w 4368800"/>
                <a:gd name="connsiteY2" fmla="*/ 414867 h 414867"/>
                <a:gd name="connsiteX3" fmla="*/ 880533 w 4368800"/>
                <a:gd name="connsiteY3" fmla="*/ 355600 h 414867"/>
                <a:gd name="connsiteX4" fmla="*/ 1134533 w 4368800"/>
                <a:gd name="connsiteY4" fmla="*/ 203200 h 414867"/>
                <a:gd name="connsiteX5" fmla="*/ 1456266 w 4368800"/>
                <a:gd name="connsiteY5" fmla="*/ 313267 h 414867"/>
                <a:gd name="connsiteX6" fmla="*/ 1727200 w 4368800"/>
                <a:gd name="connsiteY6" fmla="*/ 254000 h 414867"/>
                <a:gd name="connsiteX7" fmla="*/ 1998133 w 4368800"/>
                <a:gd name="connsiteY7" fmla="*/ 135467 h 414867"/>
                <a:gd name="connsiteX8" fmla="*/ 2353733 w 4368800"/>
                <a:gd name="connsiteY8" fmla="*/ 287867 h 414867"/>
                <a:gd name="connsiteX9" fmla="*/ 2607733 w 4368800"/>
                <a:gd name="connsiteY9" fmla="*/ 169333 h 414867"/>
                <a:gd name="connsiteX10" fmla="*/ 2946400 w 4368800"/>
                <a:gd name="connsiteY10" fmla="*/ 211667 h 414867"/>
                <a:gd name="connsiteX11" fmla="*/ 3234266 w 4368800"/>
                <a:gd name="connsiteY11" fmla="*/ 203200 h 414867"/>
                <a:gd name="connsiteX12" fmla="*/ 3505200 w 4368800"/>
                <a:gd name="connsiteY12" fmla="*/ 0 h 414867"/>
                <a:gd name="connsiteX13" fmla="*/ 3810000 w 4368800"/>
                <a:gd name="connsiteY13" fmla="*/ 135467 h 414867"/>
                <a:gd name="connsiteX14" fmla="*/ 4097866 w 4368800"/>
                <a:gd name="connsiteY14" fmla="*/ 42333 h 414867"/>
                <a:gd name="connsiteX15" fmla="*/ 4368800 w 4368800"/>
                <a:gd name="connsiteY15" fmla="*/ 118533 h 414867"/>
                <a:gd name="connsiteX0" fmla="*/ 0 w 4368800"/>
                <a:gd name="connsiteY0" fmla="*/ 524934 h 524934"/>
                <a:gd name="connsiteX1" fmla="*/ 270933 w 4368800"/>
                <a:gd name="connsiteY1" fmla="*/ 321733 h 524934"/>
                <a:gd name="connsiteX2" fmla="*/ 575733 w 4368800"/>
                <a:gd name="connsiteY2" fmla="*/ 414867 h 524934"/>
                <a:gd name="connsiteX3" fmla="*/ 880533 w 4368800"/>
                <a:gd name="connsiteY3" fmla="*/ 355600 h 524934"/>
                <a:gd name="connsiteX4" fmla="*/ 1134533 w 4368800"/>
                <a:gd name="connsiteY4" fmla="*/ 203200 h 524934"/>
                <a:gd name="connsiteX5" fmla="*/ 1456266 w 4368800"/>
                <a:gd name="connsiteY5" fmla="*/ 313267 h 524934"/>
                <a:gd name="connsiteX6" fmla="*/ 1727200 w 4368800"/>
                <a:gd name="connsiteY6" fmla="*/ 254000 h 524934"/>
                <a:gd name="connsiteX7" fmla="*/ 1998133 w 4368800"/>
                <a:gd name="connsiteY7" fmla="*/ 135467 h 524934"/>
                <a:gd name="connsiteX8" fmla="*/ 2353733 w 4368800"/>
                <a:gd name="connsiteY8" fmla="*/ 287867 h 524934"/>
                <a:gd name="connsiteX9" fmla="*/ 2607733 w 4368800"/>
                <a:gd name="connsiteY9" fmla="*/ 169333 h 524934"/>
                <a:gd name="connsiteX10" fmla="*/ 2946400 w 4368800"/>
                <a:gd name="connsiteY10" fmla="*/ 211667 h 524934"/>
                <a:gd name="connsiteX11" fmla="*/ 3234266 w 4368800"/>
                <a:gd name="connsiteY11" fmla="*/ 203200 h 524934"/>
                <a:gd name="connsiteX12" fmla="*/ 3505200 w 4368800"/>
                <a:gd name="connsiteY12" fmla="*/ 0 h 524934"/>
                <a:gd name="connsiteX13" fmla="*/ 3810000 w 4368800"/>
                <a:gd name="connsiteY13" fmla="*/ 135467 h 524934"/>
                <a:gd name="connsiteX14" fmla="*/ 4097866 w 4368800"/>
                <a:gd name="connsiteY14" fmla="*/ 42333 h 524934"/>
                <a:gd name="connsiteX15" fmla="*/ 4368800 w 4368800"/>
                <a:gd name="connsiteY15" fmla="*/ 118533 h 524934"/>
                <a:gd name="connsiteX0" fmla="*/ 0 w 4368800"/>
                <a:gd name="connsiteY0" fmla="*/ 541867 h 541867"/>
                <a:gd name="connsiteX1" fmla="*/ 270933 w 4368800"/>
                <a:gd name="connsiteY1" fmla="*/ 338666 h 541867"/>
                <a:gd name="connsiteX2" fmla="*/ 575733 w 4368800"/>
                <a:gd name="connsiteY2" fmla="*/ 431800 h 541867"/>
                <a:gd name="connsiteX3" fmla="*/ 880533 w 4368800"/>
                <a:gd name="connsiteY3" fmla="*/ 372533 h 541867"/>
                <a:gd name="connsiteX4" fmla="*/ 1134533 w 4368800"/>
                <a:gd name="connsiteY4" fmla="*/ 220133 h 541867"/>
                <a:gd name="connsiteX5" fmla="*/ 1456266 w 4368800"/>
                <a:gd name="connsiteY5" fmla="*/ 330200 h 541867"/>
                <a:gd name="connsiteX6" fmla="*/ 1727200 w 4368800"/>
                <a:gd name="connsiteY6" fmla="*/ 270933 h 541867"/>
                <a:gd name="connsiteX7" fmla="*/ 2048933 w 4368800"/>
                <a:gd name="connsiteY7" fmla="*/ 0 h 541867"/>
                <a:gd name="connsiteX8" fmla="*/ 2353733 w 4368800"/>
                <a:gd name="connsiteY8" fmla="*/ 304800 h 541867"/>
                <a:gd name="connsiteX9" fmla="*/ 2607733 w 4368800"/>
                <a:gd name="connsiteY9" fmla="*/ 186266 h 541867"/>
                <a:gd name="connsiteX10" fmla="*/ 2946400 w 4368800"/>
                <a:gd name="connsiteY10" fmla="*/ 228600 h 541867"/>
                <a:gd name="connsiteX11" fmla="*/ 3234266 w 4368800"/>
                <a:gd name="connsiteY11" fmla="*/ 220133 h 541867"/>
                <a:gd name="connsiteX12" fmla="*/ 3505200 w 4368800"/>
                <a:gd name="connsiteY12" fmla="*/ 16933 h 541867"/>
                <a:gd name="connsiteX13" fmla="*/ 3810000 w 4368800"/>
                <a:gd name="connsiteY13" fmla="*/ 152400 h 541867"/>
                <a:gd name="connsiteX14" fmla="*/ 4097866 w 4368800"/>
                <a:gd name="connsiteY14" fmla="*/ 59266 h 541867"/>
                <a:gd name="connsiteX15" fmla="*/ 4368800 w 4368800"/>
                <a:gd name="connsiteY15" fmla="*/ 135466 h 541867"/>
                <a:gd name="connsiteX0" fmla="*/ 0 w 4368800"/>
                <a:gd name="connsiteY0" fmla="*/ 541867 h 541867"/>
                <a:gd name="connsiteX1" fmla="*/ 270933 w 4368800"/>
                <a:gd name="connsiteY1" fmla="*/ 338666 h 541867"/>
                <a:gd name="connsiteX2" fmla="*/ 575733 w 4368800"/>
                <a:gd name="connsiteY2" fmla="*/ 431800 h 541867"/>
                <a:gd name="connsiteX3" fmla="*/ 880533 w 4368800"/>
                <a:gd name="connsiteY3" fmla="*/ 372533 h 541867"/>
                <a:gd name="connsiteX4" fmla="*/ 1134533 w 4368800"/>
                <a:gd name="connsiteY4" fmla="*/ 220133 h 541867"/>
                <a:gd name="connsiteX5" fmla="*/ 1456266 w 4368800"/>
                <a:gd name="connsiteY5" fmla="*/ 330200 h 541867"/>
                <a:gd name="connsiteX6" fmla="*/ 1727200 w 4368800"/>
                <a:gd name="connsiteY6" fmla="*/ 270933 h 541867"/>
                <a:gd name="connsiteX7" fmla="*/ 2048933 w 4368800"/>
                <a:gd name="connsiteY7" fmla="*/ 0 h 541867"/>
                <a:gd name="connsiteX8" fmla="*/ 2353733 w 4368800"/>
                <a:gd name="connsiteY8" fmla="*/ 304800 h 541867"/>
                <a:gd name="connsiteX9" fmla="*/ 2607733 w 4368800"/>
                <a:gd name="connsiteY9" fmla="*/ 186266 h 541867"/>
                <a:gd name="connsiteX10" fmla="*/ 2963334 w 4368800"/>
                <a:gd name="connsiteY10" fmla="*/ 152400 h 541867"/>
                <a:gd name="connsiteX11" fmla="*/ 3234266 w 4368800"/>
                <a:gd name="connsiteY11" fmla="*/ 220133 h 541867"/>
                <a:gd name="connsiteX12" fmla="*/ 3505200 w 4368800"/>
                <a:gd name="connsiteY12" fmla="*/ 16933 h 541867"/>
                <a:gd name="connsiteX13" fmla="*/ 3810000 w 4368800"/>
                <a:gd name="connsiteY13" fmla="*/ 152400 h 541867"/>
                <a:gd name="connsiteX14" fmla="*/ 4097866 w 4368800"/>
                <a:gd name="connsiteY14" fmla="*/ 59266 h 541867"/>
                <a:gd name="connsiteX15" fmla="*/ 4368800 w 4368800"/>
                <a:gd name="connsiteY15" fmla="*/ 135466 h 541867"/>
                <a:gd name="connsiteX0" fmla="*/ 0 w 4368800"/>
                <a:gd name="connsiteY0" fmla="*/ 575734 h 575734"/>
                <a:gd name="connsiteX1" fmla="*/ 270933 w 4368800"/>
                <a:gd name="connsiteY1" fmla="*/ 372533 h 575734"/>
                <a:gd name="connsiteX2" fmla="*/ 575733 w 4368800"/>
                <a:gd name="connsiteY2" fmla="*/ 465667 h 575734"/>
                <a:gd name="connsiteX3" fmla="*/ 880533 w 4368800"/>
                <a:gd name="connsiteY3" fmla="*/ 406400 h 575734"/>
                <a:gd name="connsiteX4" fmla="*/ 1134533 w 4368800"/>
                <a:gd name="connsiteY4" fmla="*/ 254000 h 575734"/>
                <a:gd name="connsiteX5" fmla="*/ 1456266 w 4368800"/>
                <a:gd name="connsiteY5" fmla="*/ 364067 h 575734"/>
                <a:gd name="connsiteX6" fmla="*/ 1727200 w 4368800"/>
                <a:gd name="connsiteY6" fmla="*/ 304800 h 575734"/>
                <a:gd name="connsiteX7" fmla="*/ 2048933 w 4368800"/>
                <a:gd name="connsiteY7" fmla="*/ 33867 h 575734"/>
                <a:gd name="connsiteX8" fmla="*/ 2353733 w 4368800"/>
                <a:gd name="connsiteY8" fmla="*/ 338667 h 575734"/>
                <a:gd name="connsiteX9" fmla="*/ 2607733 w 4368800"/>
                <a:gd name="connsiteY9" fmla="*/ 220133 h 575734"/>
                <a:gd name="connsiteX10" fmla="*/ 2963334 w 4368800"/>
                <a:gd name="connsiteY10" fmla="*/ 186267 h 575734"/>
                <a:gd name="connsiteX11" fmla="*/ 3234266 w 4368800"/>
                <a:gd name="connsiteY11" fmla="*/ 254000 h 575734"/>
                <a:gd name="connsiteX12" fmla="*/ 3505200 w 4368800"/>
                <a:gd name="connsiteY12" fmla="*/ 0 h 575734"/>
                <a:gd name="connsiteX13" fmla="*/ 3810000 w 4368800"/>
                <a:gd name="connsiteY13" fmla="*/ 186267 h 575734"/>
                <a:gd name="connsiteX14" fmla="*/ 4097866 w 4368800"/>
                <a:gd name="connsiteY14" fmla="*/ 93133 h 575734"/>
                <a:gd name="connsiteX15" fmla="*/ 4368800 w 4368800"/>
                <a:gd name="connsiteY15" fmla="*/ 169333 h 575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368800" h="575734">
                  <a:moveTo>
                    <a:pt x="0" y="575734"/>
                  </a:moveTo>
                  <a:lnTo>
                    <a:pt x="270933" y="372533"/>
                  </a:lnTo>
                  <a:lnTo>
                    <a:pt x="575733" y="465667"/>
                  </a:lnTo>
                  <a:lnTo>
                    <a:pt x="880533" y="406400"/>
                  </a:lnTo>
                  <a:lnTo>
                    <a:pt x="1134533" y="254000"/>
                  </a:lnTo>
                  <a:lnTo>
                    <a:pt x="1456266" y="364067"/>
                  </a:lnTo>
                  <a:lnTo>
                    <a:pt x="1727200" y="304800"/>
                  </a:lnTo>
                  <a:lnTo>
                    <a:pt x="2048933" y="33867"/>
                  </a:lnTo>
                  <a:lnTo>
                    <a:pt x="2353733" y="338667"/>
                  </a:lnTo>
                  <a:cubicBezTo>
                    <a:pt x="2438400" y="299156"/>
                    <a:pt x="2506133" y="245533"/>
                    <a:pt x="2607733" y="220133"/>
                  </a:cubicBezTo>
                  <a:cubicBezTo>
                    <a:pt x="2709333" y="194733"/>
                    <a:pt x="2844800" y="197556"/>
                    <a:pt x="2963334" y="186267"/>
                  </a:cubicBezTo>
                  <a:lnTo>
                    <a:pt x="3234266" y="254000"/>
                  </a:lnTo>
                  <a:lnTo>
                    <a:pt x="3505200" y="0"/>
                  </a:lnTo>
                  <a:lnTo>
                    <a:pt x="3810000" y="186267"/>
                  </a:lnTo>
                  <a:lnTo>
                    <a:pt x="4097866" y="93133"/>
                  </a:lnTo>
                  <a:lnTo>
                    <a:pt x="4368800" y="169333"/>
                  </a:lnTo>
                </a:path>
              </a:pathLst>
            </a:custGeom>
            <a:ln>
              <a:solidFill>
                <a:schemeClr val="bg1">
                  <a:lumMod val="5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grpSp>
        <p:nvGrpSpPr>
          <p:cNvPr id="214" name="그룹 213">
            <a:extLst>
              <a:ext uri="{FF2B5EF4-FFF2-40B4-BE49-F238E27FC236}">
                <a16:creationId xmlns:a16="http://schemas.microsoft.com/office/drawing/2014/main" id="{2F32BCDB-16C3-417B-9670-993A79916E05}"/>
              </a:ext>
            </a:extLst>
          </p:cNvPr>
          <p:cNvGrpSpPr/>
          <p:nvPr/>
        </p:nvGrpSpPr>
        <p:grpSpPr>
          <a:xfrm>
            <a:off x="3188979" y="5347287"/>
            <a:ext cx="2430416" cy="190268"/>
            <a:chOff x="3418761" y="4940755"/>
            <a:chExt cx="2430416" cy="190268"/>
          </a:xfrm>
        </p:grpSpPr>
        <p:grpSp>
          <p:nvGrpSpPr>
            <p:cNvPr id="215" name="그룹 214">
              <a:extLst>
                <a:ext uri="{FF2B5EF4-FFF2-40B4-BE49-F238E27FC236}">
                  <a16:creationId xmlns:a16="http://schemas.microsoft.com/office/drawing/2014/main" id="{DC959AD5-B9EE-4568-A7C6-408C224231D0}"/>
                </a:ext>
              </a:extLst>
            </p:cNvPr>
            <p:cNvGrpSpPr/>
            <p:nvPr/>
          </p:nvGrpSpPr>
          <p:grpSpPr>
            <a:xfrm>
              <a:off x="3418761" y="4940755"/>
              <a:ext cx="1835844" cy="184666"/>
              <a:chOff x="3535608" y="4989368"/>
              <a:chExt cx="1835844" cy="184666"/>
            </a:xfrm>
          </p:grpSpPr>
          <p:sp>
            <p:nvSpPr>
              <p:cNvPr id="218" name="사각형: 둥근 모서리 217">
                <a:extLst>
                  <a:ext uri="{FF2B5EF4-FFF2-40B4-BE49-F238E27FC236}">
                    <a16:creationId xmlns:a16="http://schemas.microsoft.com/office/drawing/2014/main" id="{7650601B-1BD7-4088-88DF-3352D5BF31D2}"/>
                  </a:ext>
                </a:extLst>
              </p:cNvPr>
              <p:cNvSpPr/>
              <p:nvPr/>
            </p:nvSpPr>
            <p:spPr>
              <a:xfrm>
                <a:off x="3535608" y="5016742"/>
                <a:ext cx="257502" cy="129918"/>
              </a:xfrm>
              <a:prstGeom prst="roundRect">
                <a:avLst/>
              </a:prstGeom>
              <a:solidFill>
                <a:schemeClr val="tx2">
                  <a:lumMod val="60000"/>
                  <a:lumOff val="40000"/>
                </a:schemeClr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19" name="TextBox 218">
                <a:extLst>
                  <a:ext uri="{FF2B5EF4-FFF2-40B4-BE49-F238E27FC236}">
                    <a16:creationId xmlns:a16="http://schemas.microsoft.com/office/drawing/2014/main" id="{F72EA73D-AC73-4521-B5C1-06B1173E0AF5}"/>
                  </a:ext>
                </a:extLst>
              </p:cNvPr>
              <p:cNvSpPr txBox="1"/>
              <p:nvPr/>
            </p:nvSpPr>
            <p:spPr>
              <a:xfrm>
                <a:off x="3694256" y="4989368"/>
                <a:ext cx="418353" cy="18466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600" dirty="0">
                    <a:solidFill>
                      <a:schemeClr val="bg1"/>
                    </a:solidFill>
                  </a:rPr>
                  <a:t>PCS</a:t>
                </a:r>
                <a:endParaRPr lang="ko-KR" altLang="en-US" sz="600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220" name="사각형: 둥근 모서리 219">
                <a:extLst>
                  <a:ext uri="{FF2B5EF4-FFF2-40B4-BE49-F238E27FC236}">
                    <a16:creationId xmlns:a16="http://schemas.microsoft.com/office/drawing/2014/main" id="{8CF6A5A7-4EB6-4461-A989-51960F4FF31B}"/>
                  </a:ext>
                </a:extLst>
              </p:cNvPr>
              <p:cNvSpPr/>
              <p:nvPr/>
            </p:nvSpPr>
            <p:spPr>
              <a:xfrm>
                <a:off x="4158568" y="5016742"/>
                <a:ext cx="257502" cy="129918"/>
              </a:xfrm>
              <a:prstGeom prst="roundRect">
                <a:avLst/>
              </a:prstGeom>
              <a:solidFill>
                <a:schemeClr val="accent3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21" name="TextBox 220">
                <a:extLst>
                  <a:ext uri="{FF2B5EF4-FFF2-40B4-BE49-F238E27FC236}">
                    <a16:creationId xmlns:a16="http://schemas.microsoft.com/office/drawing/2014/main" id="{D8500DC4-44AF-445D-8F28-9E2236B27FF1}"/>
                  </a:ext>
                </a:extLst>
              </p:cNvPr>
              <p:cNvSpPr txBox="1"/>
              <p:nvPr/>
            </p:nvSpPr>
            <p:spPr>
              <a:xfrm>
                <a:off x="4317216" y="4989368"/>
                <a:ext cx="418353" cy="18466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600" dirty="0">
                    <a:solidFill>
                      <a:schemeClr val="bg1"/>
                    </a:solidFill>
                  </a:rPr>
                  <a:t>BMS</a:t>
                </a:r>
                <a:endParaRPr lang="ko-KR" altLang="en-US" sz="600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222" name="사각형: 둥근 모서리 221">
                <a:extLst>
                  <a:ext uri="{FF2B5EF4-FFF2-40B4-BE49-F238E27FC236}">
                    <a16:creationId xmlns:a16="http://schemas.microsoft.com/office/drawing/2014/main" id="{F85DE41F-E16A-40D0-977A-F88C996B6AFC}"/>
                  </a:ext>
                </a:extLst>
              </p:cNvPr>
              <p:cNvSpPr/>
              <p:nvPr/>
            </p:nvSpPr>
            <p:spPr>
              <a:xfrm>
                <a:off x="4794451" y="5016742"/>
                <a:ext cx="257502" cy="129918"/>
              </a:xfrm>
              <a:prstGeom prst="roundRect">
                <a:avLst/>
              </a:prstGeom>
              <a:solidFill>
                <a:srgbClr val="FFC0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23" name="TextBox 222">
                <a:extLst>
                  <a:ext uri="{FF2B5EF4-FFF2-40B4-BE49-F238E27FC236}">
                    <a16:creationId xmlns:a16="http://schemas.microsoft.com/office/drawing/2014/main" id="{1CBFBAC4-3AA7-47AC-AEC6-FDA30892D24A}"/>
                  </a:ext>
                </a:extLst>
              </p:cNvPr>
              <p:cNvSpPr txBox="1"/>
              <p:nvPr/>
            </p:nvSpPr>
            <p:spPr>
              <a:xfrm>
                <a:off x="4953099" y="4989368"/>
                <a:ext cx="418353" cy="18466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600" dirty="0">
                    <a:solidFill>
                      <a:schemeClr val="bg1"/>
                    </a:solidFill>
                  </a:rPr>
                  <a:t>PV</a:t>
                </a:r>
                <a:endParaRPr lang="ko-KR" altLang="en-US" sz="600" dirty="0">
                  <a:solidFill>
                    <a:schemeClr val="bg1"/>
                  </a:solidFill>
                </a:endParaRPr>
              </a:p>
            </p:txBody>
          </p:sp>
        </p:grpSp>
        <p:sp>
          <p:nvSpPr>
            <p:cNvPr id="216" name="사각형: 둥근 모서리 215">
              <a:extLst>
                <a:ext uri="{FF2B5EF4-FFF2-40B4-BE49-F238E27FC236}">
                  <a16:creationId xmlns:a16="http://schemas.microsoft.com/office/drawing/2014/main" id="{7608AB04-5FB6-43BA-8E50-980B01AF1969}"/>
                </a:ext>
              </a:extLst>
            </p:cNvPr>
            <p:cNvSpPr/>
            <p:nvPr/>
          </p:nvSpPr>
          <p:spPr>
            <a:xfrm>
              <a:off x="5272176" y="4973731"/>
              <a:ext cx="257502" cy="129918"/>
            </a:xfrm>
            <a:prstGeom prst="roundRect">
              <a:avLst/>
            </a:prstGeom>
            <a:solidFill>
              <a:schemeClr val="accent4">
                <a:lumMod val="75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17" name="TextBox 216">
              <a:extLst>
                <a:ext uri="{FF2B5EF4-FFF2-40B4-BE49-F238E27FC236}">
                  <a16:creationId xmlns:a16="http://schemas.microsoft.com/office/drawing/2014/main" id="{5F73DC63-4B35-4E3C-B288-5B1170B08AA0}"/>
                </a:ext>
              </a:extLst>
            </p:cNvPr>
            <p:cNvSpPr txBox="1"/>
            <p:nvPr/>
          </p:nvSpPr>
          <p:spPr>
            <a:xfrm>
              <a:off x="5430824" y="4946357"/>
              <a:ext cx="41835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600" dirty="0">
                  <a:solidFill>
                    <a:schemeClr val="bg1"/>
                  </a:solidFill>
                </a:rPr>
                <a:t>IOE</a:t>
              </a:r>
              <a:endParaRPr lang="ko-KR" altLang="en-US" sz="600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224" name="그룹 223">
            <a:extLst>
              <a:ext uri="{FF2B5EF4-FFF2-40B4-BE49-F238E27FC236}">
                <a16:creationId xmlns:a16="http://schemas.microsoft.com/office/drawing/2014/main" id="{8DE4101C-9076-426F-A570-DC060E0E8E0A}"/>
              </a:ext>
            </a:extLst>
          </p:cNvPr>
          <p:cNvGrpSpPr/>
          <p:nvPr/>
        </p:nvGrpSpPr>
        <p:grpSpPr>
          <a:xfrm>
            <a:off x="4945064" y="4437064"/>
            <a:ext cx="869295" cy="376502"/>
            <a:chOff x="4137026" y="5220442"/>
            <a:chExt cx="869295" cy="376502"/>
          </a:xfrm>
        </p:grpSpPr>
        <p:sp>
          <p:nvSpPr>
            <p:cNvPr id="225" name="TextBox 224">
              <a:extLst>
                <a:ext uri="{FF2B5EF4-FFF2-40B4-BE49-F238E27FC236}">
                  <a16:creationId xmlns:a16="http://schemas.microsoft.com/office/drawing/2014/main" id="{64CBFC85-61C1-4ED5-82A9-597B35B563E6}"/>
                </a:ext>
              </a:extLst>
            </p:cNvPr>
            <p:cNvSpPr txBox="1"/>
            <p:nvPr/>
          </p:nvSpPr>
          <p:spPr>
            <a:xfrm>
              <a:off x="4179571" y="5220442"/>
              <a:ext cx="41835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600" dirty="0">
                  <a:solidFill>
                    <a:schemeClr val="bg1"/>
                  </a:solidFill>
                </a:rPr>
                <a:t>PV_1</a:t>
              </a:r>
              <a:endParaRPr lang="ko-KR" altLang="en-US" sz="600" dirty="0">
                <a:solidFill>
                  <a:schemeClr val="bg1"/>
                </a:solidFill>
              </a:endParaRPr>
            </a:p>
          </p:txBody>
        </p:sp>
        <p:sp>
          <p:nvSpPr>
            <p:cNvPr id="228" name="TextBox 227">
              <a:extLst>
                <a:ext uri="{FF2B5EF4-FFF2-40B4-BE49-F238E27FC236}">
                  <a16:creationId xmlns:a16="http://schemas.microsoft.com/office/drawing/2014/main" id="{E30D835F-33D1-4079-82F5-7780F0C06A44}"/>
                </a:ext>
              </a:extLst>
            </p:cNvPr>
            <p:cNvSpPr txBox="1"/>
            <p:nvPr/>
          </p:nvSpPr>
          <p:spPr>
            <a:xfrm>
              <a:off x="4407707" y="5327235"/>
              <a:ext cx="59861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500" dirty="0">
                  <a:solidFill>
                    <a:schemeClr val="bg1"/>
                  </a:solidFill>
                </a:rPr>
                <a:t>0 kWh</a:t>
              </a:r>
              <a:endParaRPr lang="ko-KR" altLang="en-US" sz="500" dirty="0">
                <a:solidFill>
                  <a:schemeClr val="bg1"/>
                </a:solidFill>
              </a:endParaRPr>
            </a:p>
          </p:txBody>
        </p:sp>
        <p:sp>
          <p:nvSpPr>
            <p:cNvPr id="229" name="TextBox 228">
              <a:extLst>
                <a:ext uri="{FF2B5EF4-FFF2-40B4-BE49-F238E27FC236}">
                  <a16:creationId xmlns:a16="http://schemas.microsoft.com/office/drawing/2014/main" id="{75BD2265-90B4-4017-AB04-A5D8064C366E}"/>
                </a:ext>
              </a:extLst>
            </p:cNvPr>
            <p:cNvSpPr txBox="1"/>
            <p:nvPr/>
          </p:nvSpPr>
          <p:spPr>
            <a:xfrm>
              <a:off x="4407707" y="5427667"/>
              <a:ext cx="59861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500" dirty="0">
                  <a:solidFill>
                    <a:schemeClr val="bg1"/>
                  </a:solidFill>
                </a:rPr>
                <a:t>0 kWh</a:t>
              </a:r>
              <a:endParaRPr lang="ko-KR" altLang="en-US" sz="500" dirty="0">
                <a:solidFill>
                  <a:schemeClr val="bg1"/>
                </a:solidFill>
              </a:endParaRPr>
            </a:p>
          </p:txBody>
        </p:sp>
        <p:sp>
          <p:nvSpPr>
            <p:cNvPr id="230" name="TextBox 229">
              <a:extLst>
                <a:ext uri="{FF2B5EF4-FFF2-40B4-BE49-F238E27FC236}">
                  <a16:creationId xmlns:a16="http://schemas.microsoft.com/office/drawing/2014/main" id="{6B764FCC-0D65-46B6-896F-B3703617BF5D}"/>
                </a:ext>
              </a:extLst>
            </p:cNvPr>
            <p:cNvSpPr txBox="1"/>
            <p:nvPr/>
          </p:nvSpPr>
          <p:spPr>
            <a:xfrm>
              <a:off x="4142240" y="5323645"/>
              <a:ext cx="52680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500" dirty="0">
                  <a:solidFill>
                    <a:schemeClr val="bg1"/>
                  </a:solidFill>
                </a:rPr>
                <a:t>누적 발전량</a:t>
              </a:r>
            </a:p>
          </p:txBody>
        </p:sp>
        <p:sp>
          <p:nvSpPr>
            <p:cNvPr id="231" name="TextBox 230">
              <a:extLst>
                <a:ext uri="{FF2B5EF4-FFF2-40B4-BE49-F238E27FC236}">
                  <a16:creationId xmlns:a16="http://schemas.microsoft.com/office/drawing/2014/main" id="{0CEE2281-B466-4753-81FF-FF77BF710754}"/>
                </a:ext>
              </a:extLst>
            </p:cNvPr>
            <p:cNvSpPr txBox="1"/>
            <p:nvPr/>
          </p:nvSpPr>
          <p:spPr>
            <a:xfrm>
              <a:off x="4137026" y="5425750"/>
              <a:ext cx="5426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500" dirty="0">
                  <a:solidFill>
                    <a:schemeClr val="bg1"/>
                  </a:solidFill>
                </a:rPr>
                <a:t>예측 발전량</a:t>
              </a:r>
            </a:p>
          </p:txBody>
        </p:sp>
      </p:grpSp>
      <p:grpSp>
        <p:nvGrpSpPr>
          <p:cNvPr id="232" name="그룹 231">
            <a:extLst>
              <a:ext uri="{FF2B5EF4-FFF2-40B4-BE49-F238E27FC236}">
                <a16:creationId xmlns:a16="http://schemas.microsoft.com/office/drawing/2014/main" id="{8079280D-0E84-4855-A5D0-D7F4D55441E7}"/>
              </a:ext>
            </a:extLst>
          </p:cNvPr>
          <p:cNvGrpSpPr/>
          <p:nvPr/>
        </p:nvGrpSpPr>
        <p:grpSpPr>
          <a:xfrm>
            <a:off x="3642372" y="4446930"/>
            <a:ext cx="776403" cy="451529"/>
            <a:chOff x="4137026" y="5220442"/>
            <a:chExt cx="542695" cy="451529"/>
          </a:xfrm>
        </p:grpSpPr>
        <p:sp>
          <p:nvSpPr>
            <p:cNvPr id="233" name="TextBox 232">
              <a:extLst>
                <a:ext uri="{FF2B5EF4-FFF2-40B4-BE49-F238E27FC236}">
                  <a16:creationId xmlns:a16="http://schemas.microsoft.com/office/drawing/2014/main" id="{05C902A6-CDC5-444C-A525-A03C76CA75C1}"/>
                </a:ext>
              </a:extLst>
            </p:cNvPr>
            <p:cNvSpPr txBox="1"/>
            <p:nvPr/>
          </p:nvSpPr>
          <p:spPr>
            <a:xfrm>
              <a:off x="4179571" y="5220442"/>
              <a:ext cx="41835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dirty="0">
                  <a:solidFill>
                    <a:schemeClr val="bg1"/>
                  </a:solidFill>
                </a:rPr>
                <a:t>IOT_2</a:t>
              </a:r>
              <a:endParaRPr lang="ko-KR" altLang="en-US" sz="600" dirty="0">
                <a:solidFill>
                  <a:schemeClr val="bg1"/>
                </a:solidFill>
              </a:endParaRPr>
            </a:p>
          </p:txBody>
        </p:sp>
        <p:sp>
          <p:nvSpPr>
            <p:cNvPr id="234" name="TextBox 233">
              <a:extLst>
                <a:ext uri="{FF2B5EF4-FFF2-40B4-BE49-F238E27FC236}">
                  <a16:creationId xmlns:a16="http://schemas.microsoft.com/office/drawing/2014/main" id="{4553383F-4A99-472C-8659-D4F21DFE97AE}"/>
                </a:ext>
              </a:extLst>
            </p:cNvPr>
            <p:cNvSpPr txBox="1"/>
            <p:nvPr/>
          </p:nvSpPr>
          <p:spPr>
            <a:xfrm>
              <a:off x="4142240" y="5323645"/>
              <a:ext cx="52680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500" b="1" dirty="0">
                  <a:solidFill>
                    <a:srgbClr val="92D050"/>
                  </a:solidFill>
                </a:rPr>
                <a:t>Connected</a:t>
              </a:r>
              <a:endParaRPr lang="ko-KR" altLang="en-US" sz="500" b="1" dirty="0">
                <a:solidFill>
                  <a:srgbClr val="92D050"/>
                </a:solidFill>
              </a:endParaRPr>
            </a:p>
          </p:txBody>
        </p:sp>
        <p:sp>
          <p:nvSpPr>
            <p:cNvPr id="235" name="TextBox 234">
              <a:extLst>
                <a:ext uri="{FF2B5EF4-FFF2-40B4-BE49-F238E27FC236}">
                  <a16:creationId xmlns:a16="http://schemas.microsoft.com/office/drawing/2014/main" id="{3E082308-7186-4D49-B468-7939DC10C312}"/>
                </a:ext>
              </a:extLst>
            </p:cNvPr>
            <p:cNvSpPr txBox="1"/>
            <p:nvPr/>
          </p:nvSpPr>
          <p:spPr>
            <a:xfrm>
              <a:off x="4137026" y="5425750"/>
              <a:ext cx="54269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500" dirty="0">
                  <a:solidFill>
                    <a:schemeClr val="bg1"/>
                  </a:solidFill>
                </a:rPr>
                <a:t>2018-07-01 1:12:12</a:t>
              </a:r>
              <a:endParaRPr lang="ko-KR" altLang="en-US" sz="500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236" name="그룹 235">
            <a:extLst>
              <a:ext uri="{FF2B5EF4-FFF2-40B4-BE49-F238E27FC236}">
                <a16:creationId xmlns:a16="http://schemas.microsoft.com/office/drawing/2014/main" id="{549280AD-7504-4C08-9BA2-8362B73C1C60}"/>
              </a:ext>
            </a:extLst>
          </p:cNvPr>
          <p:cNvGrpSpPr/>
          <p:nvPr/>
        </p:nvGrpSpPr>
        <p:grpSpPr>
          <a:xfrm>
            <a:off x="4290161" y="4446217"/>
            <a:ext cx="776403" cy="451529"/>
            <a:chOff x="4137026" y="5220442"/>
            <a:chExt cx="542695" cy="451529"/>
          </a:xfrm>
        </p:grpSpPr>
        <p:sp>
          <p:nvSpPr>
            <p:cNvPr id="237" name="TextBox 236">
              <a:extLst>
                <a:ext uri="{FF2B5EF4-FFF2-40B4-BE49-F238E27FC236}">
                  <a16:creationId xmlns:a16="http://schemas.microsoft.com/office/drawing/2014/main" id="{8D0D3963-51BB-4AE4-8420-A9154F7DB14C}"/>
                </a:ext>
              </a:extLst>
            </p:cNvPr>
            <p:cNvSpPr txBox="1"/>
            <p:nvPr/>
          </p:nvSpPr>
          <p:spPr>
            <a:xfrm>
              <a:off x="4179571" y="5220442"/>
              <a:ext cx="41835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dirty="0">
                  <a:solidFill>
                    <a:schemeClr val="bg1"/>
                  </a:solidFill>
                </a:rPr>
                <a:t>IOT_3</a:t>
              </a:r>
              <a:endParaRPr lang="ko-KR" altLang="en-US" sz="600" dirty="0">
                <a:solidFill>
                  <a:schemeClr val="bg1"/>
                </a:solidFill>
              </a:endParaRPr>
            </a:p>
          </p:txBody>
        </p:sp>
        <p:sp>
          <p:nvSpPr>
            <p:cNvPr id="238" name="TextBox 237">
              <a:extLst>
                <a:ext uri="{FF2B5EF4-FFF2-40B4-BE49-F238E27FC236}">
                  <a16:creationId xmlns:a16="http://schemas.microsoft.com/office/drawing/2014/main" id="{3F1E6AA9-200D-4BC3-9DB3-8399A021C6BE}"/>
                </a:ext>
              </a:extLst>
            </p:cNvPr>
            <p:cNvSpPr txBox="1"/>
            <p:nvPr/>
          </p:nvSpPr>
          <p:spPr>
            <a:xfrm>
              <a:off x="4142240" y="5323645"/>
              <a:ext cx="52680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500" b="1" dirty="0">
                  <a:solidFill>
                    <a:srgbClr val="92D050"/>
                  </a:solidFill>
                </a:rPr>
                <a:t>Connected</a:t>
              </a:r>
              <a:endParaRPr lang="ko-KR" altLang="en-US" sz="500" b="1" dirty="0">
                <a:solidFill>
                  <a:srgbClr val="92D050"/>
                </a:solidFill>
              </a:endParaRPr>
            </a:p>
          </p:txBody>
        </p:sp>
        <p:sp>
          <p:nvSpPr>
            <p:cNvPr id="239" name="TextBox 238">
              <a:extLst>
                <a:ext uri="{FF2B5EF4-FFF2-40B4-BE49-F238E27FC236}">
                  <a16:creationId xmlns:a16="http://schemas.microsoft.com/office/drawing/2014/main" id="{EC73987D-564E-4B77-B241-C44223B775CD}"/>
                </a:ext>
              </a:extLst>
            </p:cNvPr>
            <p:cNvSpPr txBox="1"/>
            <p:nvPr/>
          </p:nvSpPr>
          <p:spPr>
            <a:xfrm>
              <a:off x="4137026" y="5425750"/>
              <a:ext cx="54269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500" dirty="0">
                  <a:solidFill>
                    <a:schemeClr val="bg1"/>
                  </a:solidFill>
                </a:rPr>
                <a:t>2018-07-01 1:12:12</a:t>
              </a:r>
              <a:endParaRPr lang="ko-KR" altLang="en-US" sz="500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240" name="그룹 239">
            <a:extLst>
              <a:ext uri="{FF2B5EF4-FFF2-40B4-BE49-F238E27FC236}">
                <a16:creationId xmlns:a16="http://schemas.microsoft.com/office/drawing/2014/main" id="{67F329F7-C7AE-491D-8441-5783A85BC61E}"/>
              </a:ext>
            </a:extLst>
          </p:cNvPr>
          <p:cNvGrpSpPr/>
          <p:nvPr/>
        </p:nvGrpSpPr>
        <p:grpSpPr>
          <a:xfrm>
            <a:off x="6162489" y="3290071"/>
            <a:ext cx="1997715" cy="363942"/>
            <a:chOff x="2987840" y="283425"/>
            <a:chExt cx="1933365" cy="363942"/>
          </a:xfrm>
        </p:grpSpPr>
        <p:cxnSp>
          <p:nvCxnSpPr>
            <p:cNvPr id="241" name="직선 연결선 240">
              <a:extLst>
                <a:ext uri="{FF2B5EF4-FFF2-40B4-BE49-F238E27FC236}">
                  <a16:creationId xmlns:a16="http://schemas.microsoft.com/office/drawing/2014/main" id="{EC31AF4D-BB73-419D-8CF4-6EB50DF8B50E}"/>
                </a:ext>
              </a:extLst>
            </p:cNvPr>
            <p:cNvCxnSpPr/>
            <p:nvPr/>
          </p:nvCxnSpPr>
          <p:spPr>
            <a:xfrm>
              <a:off x="2987840" y="392891"/>
              <a:ext cx="144000" cy="0"/>
            </a:xfrm>
            <a:prstGeom prst="line">
              <a:avLst/>
            </a:prstGeom>
            <a:ln w="19050">
              <a:solidFill>
                <a:schemeClr val="accent6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2" name="직사각형 241">
              <a:extLst>
                <a:ext uri="{FF2B5EF4-FFF2-40B4-BE49-F238E27FC236}">
                  <a16:creationId xmlns:a16="http://schemas.microsoft.com/office/drawing/2014/main" id="{2F555A4E-2545-47FB-B287-AA9F7F7D95D2}"/>
                </a:ext>
              </a:extLst>
            </p:cNvPr>
            <p:cNvSpPr/>
            <p:nvPr/>
          </p:nvSpPr>
          <p:spPr>
            <a:xfrm>
              <a:off x="3072010" y="285820"/>
              <a:ext cx="1008112" cy="36004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>
                <a:lnSpc>
                  <a:spcPct val="150000"/>
                </a:lnSpc>
              </a:pPr>
              <a:r>
                <a:rPr lang="ko-KR" altLang="en-US" sz="5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충전</a:t>
              </a:r>
            </a:p>
          </p:txBody>
        </p:sp>
        <p:cxnSp>
          <p:nvCxnSpPr>
            <p:cNvPr id="243" name="직선 연결선 242">
              <a:extLst>
                <a:ext uri="{FF2B5EF4-FFF2-40B4-BE49-F238E27FC236}">
                  <a16:creationId xmlns:a16="http://schemas.microsoft.com/office/drawing/2014/main" id="{2CA159E9-D4F7-4613-9795-531688CC0116}"/>
                </a:ext>
              </a:extLst>
            </p:cNvPr>
            <p:cNvCxnSpPr/>
            <p:nvPr/>
          </p:nvCxnSpPr>
          <p:spPr>
            <a:xfrm>
              <a:off x="3410158" y="392891"/>
              <a:ext cx="144000" cy="0"/>
            </a:xfrm>
            <a:prstGeom prst="line">
              <a:avLst/>
            </a:prstGeom>
            <a:noFill/>
            <a:ln w="19050">
              <a:solidFill>
                <a:schemeClr val="tx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49" name="직사각형 248">
              <a:extLst>
                <a:ext uri="{FF2B5EF4-FFF2-40B4-BE49-F238E27FC236}">
                  <a16:creationId xmlns:a16="http://schemas.microsoft.com/office/drawing/2014/main" id="{4A8696FD-64C2-42AC-8776-16B99E2253AE}"/>
                </a:ext>
              </a:extLst>
            </p:cNvPr>
            <p:cNvSpPr/>
            <p:nvPr/>
          </p:nvSpPr>
          <p:spPr>
            <a:xfrm>
              <a:off x="3497913" y="283425"/>
              <a:ext cx="1008112" cy="36004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>
                <a:lnSpc>
                  <a:spcPct val="150000"/>
                </a:lnSpc>
              </a:pPr>
              <a:r>
                <a:rPr lang="ko-KR" altLang="en-US" sz="5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방전</a:t>
              </a:r>
            </a:p>
          </p:txBody>
        </p:sp>
        <p:cxnSp>
          <p:nvCxnSpPr>
            <p:cNvPr id="250" name="직선 연결선 249">
              <a:extLst>
                <a:ext uri="{FF2B5EF4-FFF2-40B4-BE49-F238E27FC236}">
                  <a16:creationId xmlns:a16="http://schemas.microsoft.com/office/drawing/2014/main" id="{072F361B-804F-4AA7-B138-76FBEAA14FC0}"/>
                </a:ext>
              </a:extLst>
            </p:cNvPr>
            <p:cNvCxnSpPr/>
            <p:nvPr/>
          </p:nvCxnSpPr>
          <p:spPr>
            <a:xfrm>
              <a:off x="4357958" y="392891"/>
              <a:ext cx="144000" cy="0"/>
            </a:xfrm>
            <a:prstGeom prst="line">
              <a:avLst/>
            </a:prstGeom>
            <a:ln w="12700">
              <a:solidFill>
                <a:schemeClr val="accent3">
                  <a:lumMod val="7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1" name="직사각형 250">
              <a:extLst>
                <a:ext uri="{FF2B5EF4-FFF2-40B4-BE49-F238E27FC236}">
                  <a16:creationId xmlns:a16="http://schemas.microsoft.com/office/drawing/2014/main" id="{CF14E13D-1B3E-45C8-A275-5A59CDB79988}"/>
                </a:ext>
              </a:extLst>
            </p:cNvPr>
            <p:cNvSpPr/>
            <p:nvPr/>
          </p:nvSpPr>
          <p:spPr>
            <a:xfrm>
              <a:off x="4433158" y="287327"/>
              <a:ext cx="459790" cy="36004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>
                <a:lnSpc>
                  <a:spcPct val="150000"/>
                </a:lnSpc>
              </a:pPr>
              <a:r>
                <a:rPr lang="ko-KR" altLang="en-US" sz="5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방전 계획</a:t>
              </a:r>
            </a:p>
          </p:txBody>
        </p:sp>
        <p:cxnSp>
          <p:nvCxnSpPr>
            <p:cNvPr id="252" name="직선 연결선 251">
              <a:extLst>
                <a:ext uri="{FF2B5EF4-FFF2-40B4-BE49-F238E27FC236}">
                  <a16:creationId xmlns:a16="http://schemas.microsoft.com/office/drawing/2014/main" id="{4BC42591-7216-4B99-AB64-BD013EB3A369}"/>
                </a:ext>
              </a:extLst>
            </p:cNvPr>
            <p:cNvCxnSpPr/>
            <p:nvPr/>
          </p:nvCxnSpPr>
          <p:spPr>
            <a:xfrm>
              <a:off x="3842877" y="392891"/>
              <a:ext cx="144000" cy="0"/>
            </a:xfrm>
            <a:prstGeom prst="line">
              <a:avLst/>
            </a:prstGeom>
            <a:ln w="12700">
              <a:solidFill>
                <a:schemeClr val="tx1">
                  <a:lumMod val="65000"/>
                  <a:lumOff val="3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3" name="직사각형 252">
              <a:extLst>
                <a:ext uri="{FF2B5EF4-FFF2-40B4-BE49-F238E27FC236}">
                  <a16:creationId xmlns:a16="http://schemas.microsoft.com/office/drawing/2014/main" id="{ABC66FF9-0F7D-4DCA-96C1-70EEA8135441}"/>
                </a:ext>
              </a:extLst>
            </p:cNvPr>
            <p:cNvSpPr/>
            <p:nvPr/>
          </p:nvSpPr>
          <p:spPr>
            <a:xfrm>
              <a:off x="3913093" y="285103"/>
              <a:ext cx="1008112" cy="36004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>
                <a:lnSpc>
                  <a:spcPct val="150000"/>
                </a:lnSpc>
              </a:pPr>
              <a:r>
                <a:rPr lang="ko-KR" altLang="en-US" sz="5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충전 계획</a:t>
              </a:r>
            </a:p>
          </p:txBody>
        </p:sp>
      </p:grpSp>
      <p:grpSp>
        <p:nvGrpSpPr>
          <p:cNvPr id="255" name="그룹 254">
            <a:extLst>
              <a:ext uri="{FF2B5EF4-FFF2-40B4-BE49-F238E27FC236}">
                <a16:creationId xmlns:a16="http://schemas.microsoft.com/office/drawing/2014/main" id="{B0A013A4-7660-406E-A269-4BD18D610531}"/>
              </a:ext>
            </a:extLst>
          </p:cNvPr>
          <p:cNvGrpSpPr/>
          <p:nvPr/>
        </p:nvGrpSpPr>
        <p:grpSpPr>
          <a:xfrm>
            <a:off x="563396" y="3823768"/>
            <a:ext cx="2230525" cy="380169"/>
            <a:chOff x="1530621" y="2825422"/>
            <a:chExt cx="7060643" cy="1737220"/>
          </a:xfrm>
        </p:grpSpPr>
        <p:sp>
          <p:nvSpPr>
            <p:cNvPr id="256" name="자유형 83">
              <a:extLst>
                <a:ext uri="{FF2B5EF4-FFF2-40B4-BE49-F238E27FC236}">
                  <a16:creationId xmlns:a16="http://schemas.microsoft.com/office/drawing/2014/main" id="{101F247F-CB60-4D9D-8C54-7833E3EA7347}"/>
                </a:ext>
              </a:extLst>
            </p:cNvPr>
            <p:cNvSpPr/>
            <p:nvPr/>
          </p:nvSpPr>
          <p:spPr>
            <a:xfrm>
              <a:off x="1530621" y="2831921"/>
              <a:ext cx="3422156" cy="1730721"/>
            </a:xfrm>
            <a:custGeom>
              <a:avLst/>
              <a:gdLst>
                <a:gd name="connsiteX0" fmla="*/ 0 w 4368800"/>
                <a:gd name="connsiteY0" fmla="*/ 389467 h 414867"/>
                <a:gd name="connsiteX1" fmla="*/ 270933 w 4368800"/>
                <a:gd name="connsiteY1" fmla="*/ 321733 h 414867"/>
                <a:gd name="connsiteX2" fmla="*/ 575733 w 4368800"/>
                <a:gd name="connsiteY2" fmla="*/ 414867 h 414867"/>
                <a:gd name="connsiteX3" fmla="*/ 880533 w 4368800"/>
                <a:gd name="connsiteY3" fmla="*/ 355600 h 414867"/>
                <a:gd name="connsiteX4" fmla="*/ 1134533 w 4368800"/>
                <a:gd name="connsiteY4" fmla="*/ 203200 h 414867"/>
                <a:gd name="connsiteX5" fmla="*/ 1456266 w 4368800"/>
                <a:gd name="connsiteY5" fmla="*/ 313267 h 414867"/>
                <a:gd name="connsiteX6" fmla="*/ 1727200 w 4368800"/>
                <a:gd name="connsiteY6" fmla="*/ 254000 h 414867"/>
                <a:gd name="connsiteX7" fmla="*/ 1998133 w 4368800"/>
                <a:gd name="connsiteY7" fmla="*/ 135467 h 414867"/>
                <a:gd name="connsiteX8" fmla="*/ 2353733 w 4368800"/>
                <a:gd name="connsiteY8" fmla="*/ 287867 h 414867"/>
                <a:gd name="connsiteX9" fmla="*/ 2607733 w 4368800"/>
                <a:gd name="connsiteY9" fmla="*/ 169333 h 414867"/>
                <a:gd name="connsiteX10" fmla="*/ 2946400 w 4368800"/>
                <a:gd name="connsiteY10" fmla="*/ 211667 h 414867"/>
                <a:gd name="connsiteX11" fmla="*/ 3234266 w 4368800"/>
                <a:gd name="connsiteY11" fmla="*/ 203200 h 414867"/>
                <a:gd name="connsiteX12" fmla="*/ 3505200 w 4368800"/>
                <a:gd name="connsiteY12" fmla="*/ 0 h 414867"/>
                <a:gd name="connsiteX13" fmla="*/ 3810000 w 4368800"/>
                <a:gd name="connsiteY13" fmla="*/ 135467 h 414867"/>
                <a:gd name="connsiteX14" fmla="*/ 4097866 w 4368800"/>
                <a:gd name="connsiteY14" fmla="*/ 42333 h 414867"/>
                <a:gd name="connsiteX15" fmla="*/ 4368800 w 4368800"/>
                <a:gd name="connsiteY15" fmla="*/ 118533 h 414867"/>
                <a:gd name="connsiteX0" fmla="*/ 0 w 4368800"/>
                <a:gd name="connsiteY0" fmla="*/ 524934 h 524934"/>
                <a:gd name="connsiteX1" fmla="*/ 270933 w 4368800"/>
                <a:gd name="connsiteY1" fmla="*/ 321733 h 524934"/>
                <a:gd name="connsiteX2" fmla="*/ 575733 w 4368800"/>
                <a:gd name="connsiteY2" fmla="*/ 414867 h 524934"/>
                <a:gd name="connsiteX3" fmla="*/ 880533 w 4368800"/>
                <a:gd name="connsiteY3" fmla="*/ 355600 h 524934"/>
                <a:gd name="connsiteX4" fmla="*/ 1134533 w 4368800"/>
                <a:gd name="connsiteY4" fmla="*/ 203200 h 524934"/>
                <a:gd name="connsiteX5" fmla="*/ 1456266 w 4368800"/>
                <a:gd name="connsiteY5" fmla="*/ 313267 h 524934"/>
                <a:gd name="connsiteX6" fmla="*/ 1727200 w 4368800"/>
                <a:gd name="connsiteY6" fmla="*/ 254000 h 524934"/>
                <a:gd name="connsiteX7" fmla="*/ 1998133 w 4368800"/>
                <a:gd name="connsiteY7" fmla="*/ 135467 h 524934"/>
                <a:gd name="connsiteX8" fmla="*/ 2353733 w 4368800"/>
                <a:gd name="connsiteY8" fmla="*/ 287867 h 524934"/>
                <a:gd name="connsiteX9" fmla="*/ 2607733 w 4368800"/>
                <a:gd name="connsiteY9" fmla="*/ 169333 h 524934"/>
                <a:gd name="connsiteX10" fmla="*/ 2946400 w 4368800"/>
                <a:gd name="connsiteY10" fmla="*/ 211667 h 524934"/>
                <a:gd name="connsiteX11" fmla="*/ 3234266 w 4368800"/>
                <a:gd name="connsiteY11" fmla="*/ 203200 h 524934"/>
                <a:gd name="connsiteX12" fmla="*/ 3505200 w 4368800"/>
                <a:gd name="connsiteY12" fmla="*/ 0 h 524934"/>
                <a:gd name="connsiteX13" fmla="*/ 3810000 w 4368800"/>
                <a:gd name="connsiteY13" fmla="*/ 135467 h 524934"/>
                <a:gd name="connsiteX14" fmla="*/ 4097866 w 4368800"/>
                <a:gd name="connsiteY14" fmla="*/ 42333 h 524934"/>
                <a:gd name="connsiteX15" fmla="*/ 4368800 w 4368800"/>
                <a:gd name="connsiteY15" fmla="*/ 118533 h 524934"/>
                <a:gd name="connsiteX0" fmla="*/ 0 w 4368800"/>
                <a:gd name="connsiteY0" fmla="*/ 541867 h 541867"/>
                <a:gd name="connsiteX1" fmla="*/ 270933 w 4368800"/>
                <a:gd name="connsiteY1" fmla="*/ 338666 h 541867"/>
                <a:gd name="connsiteX2" fmla="*/ 575733 w 4368800"/>
                <a:gd name="connsiteY2" fmla="*/ 431800 h 541867"/>
                <a:gd name="connsiteX3" fmla="*/ 880533 w 4368800"/>
                <a:gd name="connsiteY3" fmla="*/ 372533 h 541867"/>
                <a:gd name="connsiteX4" fmla="*/ 1134533 w 4368800"/>
                <a:gd name="connsiteY4" fmla="*/ 220133 h 541867"/>
                <a:gd name="connsiteX5" fmla="*/ 1456266 w 4368800"/>
                <a:gd name="connsiteY5" fmla="*/ 330200 h 541867"/>
                <a:gd name="connsiteX6" fmla="*/ 1727200 w 4368800"/>
                <a:gd name="connsiteY6" fmla="*/ 270933 h 541867"/>
                <a:gd name="connsiteX7" fmla="*/ 2048933 w 4368800"/>
                <a:gd name="connsiteY7" fmla="*/ 0 h 541867"/>
                <a:gd name="connsiteX8" fmla="*/ 2353733 w 4368800"/>
                <a:gd name="connsiteY8" fmla="*/ 304800 h 541867"/>
                <a:gd name="connsiteX9" fmla="*/ 2607733 w 4368800"/>
                <a:gd name="connsiteY9" fmla="*/ 186266 h 541867"/>
                <a:gd name="connsiteX10" fmla="*/ 2946400 w 4368800"/>
                <a:gd name="connsiteY10" fmla="*/ 228600 h 541867"/>
                <a:gd name="connsiteX11" fmla="*/ 3234266 w 4368800"/>
                <a:gd name="connsiteY11" fmla="*/ 220133 h 541867"/>
                <a:gd name="connsiteX12" fmla="*/ 3505200 w 4368800"/>
                <a:gd name="connsiteY12" fmla="*/ 16933 h 541867"/>
                <a:gd name="connsiteX13" fmla="*/ 3810000 w 4368800"/>
                <a:gd name="connsiteY13" fmla="*/ 152400 h 541867"/>
                <a:gd name="connsiteX14" fmla="*/ 4097866 w 4368800"/>
                <a:gd name="connsiteY14" fmla="*/ 59266 h 541867"/>
                <a:gd name="connsiteX15" fmla="*/ 4368800 w 4368800"/>
                <a:gd name="connsiteY15" fmla="*/ 135466 h 541867"/>
                <a:gd name="connsiteX0" fmla="*/ 0 w 4368800"/>
                <a:gd name="connsiteY0" fmla="*/ 541867 h 541867"/>
                <a:gd name="connsiteX1" fmla="*/ 270933 w 4368800"/>
                <a:gd name="connsiteY1" fmla="*/ 338666 h 541867"/>
                <a:gd name="connsiteX2" fmla="*/ 575733 w 4368800"/>
                <a:gd name="connsiteY2" fmla="*/ 431800 h 541867"/>
                <a:gd name="connsiteX3" fmla="*/ 880533 w 4368800"/>
                <a:gd name="connsiteY3" fmla="*/ 372533 h 541867"/>
                <a:gd name="connsiteX4" fmla="*/ 1134533 w 4368800"/>
                <a:gd name="connsiteY4" fmla="*/ 220133 h 541867"/>
                <a:gd name="connsiteX5" fmla="*/ 1456266 w 4368800"/>
                <a:gd name="connsiteY5" fmla="*/ 330200 h 541867"/>
                <a:gd name="connsiteX6" fmla="*/ 1727200 w 4368800"/>
                <a:gd name="connsiteY6" fmla="*/ 270933 h 541867"/>
                <a:gd name="connsiteX7" fmla="*/ 2048933 w 4368800"/>
                <a:gd name="connsiteY7" fmla="*/ 0 h 541867"/>
                <a:gd name="connsiteX8" fmla="*/ 2353733 w 4368800"/>
                <a:gd name="connsiteY8" fmla="*/ 304800 h 541867"/>
                <a:gd name="connsiteX9" fmla="*/ 2607733 w 4368800"/>
                <a:gd name="connsiteY9" fmla="*/ 186266 h 541867"/>
                <a:gd name="connsiteX10" fmla="*/ 2963334 w 4368800"/>
                <a:gd name="connsiteY10" fmla="*/ 152400 h 541867"/>
                <a:gd name="connsiteX11" fmla="*/ 3234266 w 4368800"/>
                <a:gd name="connsiteY11" fmla="*/ 220133 h 541867"/>
                <a:gd name="connsiteX12" fmla="*/ 3505200 w 4368800"/>
                <a:gd name="connsiteY12" fmla="*/ 16933 h 541867"/>
                <a:gd name="connsiteX13" fmla="*/ 3810000 w 4368800"/>
                <a:gd name="connsiteY13" fmla="*/ 152400 h 541867"/>
                <a:gd name="connsiteX14" fmla="*/ 4097866 w 4368800"/>
                <a:gd name="connsiteY14" fmla="*/ 59266 h 541867"/>
                <a:gd name="connsiteX15" fmla="*/ 4368800 w 4368800"/>
                <a:gd name="connsiteY15" fmla="*/ 135466 h 541867"/>
                <a:gd name="connsiteX0" fmla="*/ 0 w 4368800"/>
                <a:gd name="connsiteY0" fmla="*/ 575734 h 575734"/>
                <a:gd name="connsiteX1" fmla="*/ 270933 w 4368800"/>
                <a:gd name="connsiteY1" fmla="*/ 372533 h 575734"/>
                <a:gd name="connsiteX2" fmla="*/ 575733 w 4368800"/>
                <a:gd name="connsiteY2" fmla="*/ 465667 h 575734"/>
                <a:gd name="connsiteX3" fmla="*/ 880533 w 4368800"/>
                <a:gd name="connsiteY3" fmla="*/ 406400 h 575734"/>
                <a:gd name="connsiteX4" fmla="*/ 1134533 w 4368800"/>
                <a:gd name="connsiteY4" fmla="*/ 254000 h 575734"/>
                <a:gd name="connsiteX5" fmla="*/ 1456266 w 4368800"/>
                <a:gd name="connsiteY5" fmla="*/ 364067 h 575734"/>
                <a:gd name="connsiteX6" fmla="*/ 1727200 w 4368800"/>
                <a:gd name="connsiteY6" fmla="*/ 304800 h 575734"/>
                <a:gd name="connsiteX7" fmla="*/ 2048933 w 4368800"/>
                <a:gd name="connsiteY7" fmla="*/ 33867 h 575734"/>
                <a:gd name="connsiteX8" fmla="*/ 2353733 w 4368800"/>
                <a:gd name="connsiteY8" fmla="*/ 338667 h 575734"/>
                <a:gd name="connsiteX9" fmla="*/ 2607733 w 4368800"/>
                <a:gd name="connsiteY9" fmla="*/ 220133 h 575734"/>
                <a:gd name="connsiteX10" fmla="*/ 2963334 w 4368800"/>
                <a:gd name="connsiteY10" fmla="*/ 186267 h 575734"/>
                <a:gd name="connsiteX11" fmla="*/ 3234266 w 4368800"/>
                <a:gd name="connsiteY11" fmla="*/ 254000 h 575734"/>
                <a:gd name="connsiteX12" fmla="*/ 3505200 w 4368800"/>
                <a:gd name="connsiteY12" fmla="*/ 0 h 575734"/>
                <a:gd name="connsiteX13" fmla="*/ 3810000 w 4368800"/>
                <a:gd name="connsiteY13" fmla="*/ 186267 h 575734"/>
                <a:gd name="connsiteX14" fmla="*/ 4097866 w 4368800"/>
                <a:gd name="connsiteY14" fmla="*/ 93133 h 575734"/>
                <a:gd name="connsiteX15" fmla="*/ 4368800 w 4368800"/>
                <a:gd name="connsiteY15" fmla="*/ 169333 h 575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368800" h="575734">
                  <a:moveTo>
                    <a:pt x="0" y="575734"/>
                  </a:moveTo>
                  <a:lnTo>
                    <a:pt x="270933" y="372533"/>
                  </a:lnTo>
                  <a:lnTo>
                    <a:pt x="575733" y="465667"/>
                  </a:lnTo>
                  <a:lnTo>
                    <a:pt x="880533" y="406400"/>
                  </a:lnTo>
                  <a:lnTo>
                    <a:pt x="1134533" y="254000"/>
                  </a:lnTo>
                  <a:lnTo>
                    <a:pt x="1456266" y="364067"/>
                  </a:lnTo>
                  <a:lnTo>
                    <a:pt x="1727200" y="304800"/>
                  </a:lnTo>
                  <a:lnTo>
                    <a:pt x="2048933" y="33867"/>
                  </a:lnTo>
                  <a:lnTo>
                    <a:pt x="2353733" y="338667"/>
                  </a:lnTo>
                  <a:cubicBezTo>
                    <a:pt x="2438400" y="299156"/>
                    <a:pt x="2506133" y="245533"/>
                    <a:pt x="2607733" y="220133"/>
                  </a:cubicBezTo>
                  <a:cubicBezTo>
                    <a:pt x="2709333" y="194733"/>
                    <a:pt x="2844800" y="197556"/>
                    <a:pt x="2963334" y="186267"/>
                  </a:cubicBezTo>
                  <a:lnTo>
                    <a:pt x="3234266" y="254000"/>
                  </a:lnTo>
                  <a:lnTo>
                    <a:pt x="3505200" y="0"/>
                  </a:lnTo>
                  <a:lnTo>
                    <a:pt x="3810000" y="186267"/>
                  </a:lnTo>
                  <a:lnTo>
                    <a:pt x="4097866" y="93133"/>
                  </a:lnTo>
                  <a:lnTo>
                    <a:pt x="4368800" y="169333"/>
                  </a:lnTo>
                </a:path>
              </a:pathLst>
            </a:custGeom>
            <a:ln>
              <a:solidFill>
                <a:schemeClr val="bg1">
                  <a:lumMod val="5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257" name="자유형 33">
              <a:extLst>
                <a:ext uri="{FF2B5EF4-FFF2-40B4-BE49-F238E27FC236}">
                  <a16:creationId xmlns:a16="http://schemas.microsoft.com/office/drawing/2014/main" id="{B88589FD-B497-4D75-959D-699AEE27C114}"/>
                </a:ext>
              </a:extLst>
            </p:cNvPr>
            <p:cNvSpPr/>
            <p:nvPr/>
          </p:nvSpPr>
          <p:spPr>
            <a:xfrm flipH="1">
              <a:off x="4907819" y="2825422"/>
              <a:ext cx="3683445" cy="1730721"/>
            </a:xfrm>
            <a:custGeom>
              <a:avLst/>
              <a:gdLst>
                <a:gd name="connsiteX0" fmla="*/ 0 w 4368800"/>
                <a:gd name="connsiteY0" fmla="*/ 389467 h 414867"/>
                <a:gd name="connsiteX1" fmla="*/ 270933 w 4368800"/>
                <a:gd name="connsiteY1" fmla="*/ 321733 h 414867"/>
                <a:gd name="connsiteX2" fmla="*/ 575733 w 4368800"/>
                <a:gd name="connsiteY2" fmla="*/ 414867 h 414867"/>
                <a:gd name="connsiteX3" fmla="*/ 880533 w 4368800"/>
                <a:gd name="connsiteY3" fmla="*/ 355600 h 414867"/>
                <a:gd name="connsiteX4" fmla="*/ 1134533 w 4368800"/>
                <a:gd name="connsiteY4" fmla="*/ 203200 h 414867"/>
                <a:gd name="connsiteX5" fmla="*/ 1456266 w 4368800"/>
                <a:gd name="connsiteY5" fmla="*/ 313267 h 414867"/>
                <a:gd name="connsiteX6" fmla="*/ 1727200 w 4368800"/>
                <a:gd name="connsiteY6" fmla="*/ 254000 h 414867"/>
                <a:gd name="connsiteX7" fmla="*/ 1998133 w 4368800"/>
                <a:gd name="connsiteY7" fmla="*/ 135467 h 414867"/>
                <a:gd name="connsiteX8" fmla="*/ 2353733 w 4368800"/>
                <a:gd name="connsiteY8" fmla="*/ 287867 h 414867"/>
                <a:gd name="connsiteX9" fmla="*/ 2607733 w 4368800"/>
                <a:gd name="connsiteY9" fmla="*/ 169333 h 414867"/>
                <a:gd name="connsiteX10" fmla="*/ 2946400 w 4368800"/>
                <a:gd name="connsiteY10" fmla="*/ 211667 h 414867"/>
                <a:gd name="connsiteX11" fmla="*/ 3234266 w 4368800"/>
                <a:gd name="connsiteY11" fmla="*/ 203200 h 414867"/>
                <a:gd name="connsiteX12" fmla="*/ 3505200 w 4368800"/>
                <a:gd name="connsiteY12" fmla="*/ 0 h 414867"/>
                <a:gd name="connsiteX13" fmla="*/ 3810000 w 4368800"/>
                <a:gd name="connsiteY13" fmla="*/ 135467 h 414867"/>
                <a:gd name="connsiteX14" fmla="*/ 4097866 w 4368800"/>
                <a:gd name="connsiteY14" fmla="*/ 42333 h 414867"/>
                <a:gd name="connsiteX15" fmla="*/ 4368800 w 4368800"/>
                <a:gd name="connsiteY15" fmla="*/ 118533 h 414867"/>
                <a:gd name="connsiteX0" fmla="*/ 0 w 4368800"/>
                <a:gd name="connsiteY0" fmla="*/ 524934 h 524934"/>
                <a:gd name="connsiteX1" fmla="*/ 270933 w 4368800"/>
                <a:gd name="connsiteY1" fmla="*/ 321733 h 524934"/>
                <a:gd name="connsiteX2" fmla="*/ 575733 w 4368800"/>
                <a:gd name="connsiteY2" fmla="*/ 414867 h 524934"/>
                <a:gd name="connsiteX3" fmla="*/ 880533 w 4368800"/>
                <a:gd name="connsiteY3" fmla="*/ 355600 h 524934"/>
                <a:gd name="connsiteX4" fmla="*/ 1134533 w 4368800"/>
                <a:gd name="connsiteY4" fmla="*/ 203200 h 524934"/>
                <a:gd name="connsiteX5" fmla="*/ 1456266 w 4368800"/>
                <a:gd name="connsiteY5" fmla="*/ 313267 h 524934"/>
                <a:gd name="connsiteX6" fmla="*/ 1727200 w 4368800"/>
                <a:gd name="connsiteY6" fmla="*/ 254000 h 524934"/>
                <a:gd name="connsiteX7" fmla="*/ 1998133 w 4368800"/>
                <a:gd name="connsiteY7" fmla="*/ 135467 h 524934"/>
                <a:gd name="connsiteX8" fmla="*/ 2353733 w 4368800"/>
                <a:gd name="connsiteY8" fmla="*/ 287867 h 524934"/>
                <a:gd name="connsiteX9" fmla="*/ 2607733 w 4368800"/>
                <a:gd name="connsiteY9" fmla="*/ 169333 h 524934"/>
                <a:gd name="connsiteX10" fmla="*/ 2946400 w 4368800"/>
                <a:gd name="connsiteY10" fmla="*/ 211667 h 524934"/>
                <a:gd name="connsiteX11" fmla="*/ 3234266 w 4368800"/>
                <a:gd name="connsiteY11" fmla="*/ 203200 h 524934"/>
                <a:gd name="connsiteX12" fmla="*/ 3505200 w 4368800"/>
                <a:gd name="connsiteY12" fmla="*/ 0 h 524934"/>
                <a:gd name="connsiteX13" fmla="*/ 3810000 w 4368800"/>
                <a:gd name="connsiteY13" fmla="*/ 135467 h 524934"/>
                <a:gd name="connsiteX14" fmla="*/ 4097866 w 4368800"/>
                <a:gd name="connsiteY14" fmla="*/ 42333 h 524934"/>
                <a:gd name="connsiteX15" fmla="*/ 4368800 w 4368800"/>
                <a:gd name="connsiteY15" fmla="*/ 118533 h 524934"/>
                <a:gd name="connsiteX0" fmla="*/ 0 w 4368800"/>
                <a:gd name="connsiteY0" fmla="*/ 541867 h 541867"/>
                <a:gd name="connsiteX1" fmla="*/ 270933 w 4368800"/>
                <a:gd name="connsiteY1" fmla="*/ 338666 h 541867"/>
                <a:gd name="connsiteX2" fmla="*/ 575733 w 4368800"/>
                <a:gd name="connsiteY2" fmla="*/ 431800 h 541867"/>
                <a:gd name="connsiteX3" fmla="*/ 880533 w 4368800"/>
                <a:gd name="connsiteY3" fmla="*/ 372533 h 541867"/>
                <a:gd name="connsiteX4" fmla="*/ 1134533 w 4368800"/>
                <a:gd name="connsiteY4" fmla="*/ 220133 h 541867"/>
                <a:gd name="connsiteX5" fmla="*/ 1456266 w 4368800"/>
                <a:gd name="connsiteY5" fmla="*/ 330200 h 541867"/>
                <a:gd name="connsiteX6" fmla="*/ 1727200 w 4368800"/>
                <a:gd name="connsiteY6" fmla="*/ 270933 h 541867"/>
                <a:gd name="connsiteX7" fmla="*/ 2048933 w 4368800"/>
                <a:gd name="connsiteY7" fmla="*/ 0 h 541867"/>
                <a:gd name="connsiteX8" fmla="*/ 2353733 w 4368800"/>
                <a:gd name="connsiteY8" fmla="*/ 304800 h 541867"/>
                <a:gd name="connsiteX9" fmla="*/ 2607733 w 4368800"/>
                <a:gd name="connsiteY9" fmla="*/ 186266 h 541867"/>
                <a:gd name="connsiteX10" fmla="*/ 2946400 w 4368800"/>
                <a:gd name="connsiteY10" fmla="*/ 228600 h 541867"/>
                <a:gd name="connsiteX11" fmla="*/ 3234266 w 4368800"/>
                <a:gd name="connsiteY11" fmla="*/ 220133 h 541867"/>
                <a:gd name="connsiteX12" fmla="*/ 3505200 w 4368800"/>
                <a:gd name="connsiteY12" fmla="*/ 16933 h 541867"/>
                <a:gd name="connsiteX13" fmla="*/ 3810000 w 4368800"/>
                <a:gd name="connsiteY13" fmla="*/ 152400 h 541867"/>
                <a:gd name="connsiteX14" fmla="*/ 4097866 w 4368800"/>
                <a:gd name="connsiteY14" fmla="*/ 59266 h 541867"/>
                <a:gd name="connsiteX15" fmla="*/ 4368800 w 4368800"/>
                <a:gd name="connsiteY15" fmla="*/ 135466 h 541867"/>
                <a:gd name="connsiteX0" fmla="*/ 0 w 4368800"/>
                <a:gd name="connsiteY0" fmla="*/ 541867 h 541867"/>
                <a:gd name="connsiteX1" fmla="*/ 270933 w 4368800"/>
                <a:gd name="connsiteY1" fmla="*/ 338666 h 541867"/>
                <a:gd name="connsiteX2" fmla="*/ 575733 w 4368800"/>
                <a:gd name="connsiteY2" fmla="*/ 431800 h 541867"/>
                <a:gd name="connsiteX3" fmla="*/ 880533 w 4368800"/>
                <a:gd name="connsiteY3" fmla="*/ 372533 h 541867"/>
                <a:gd name="connsiteX4" fmla="*/ 1134533 w 4368800"/>
                <a:gd name="connsiteY4" fmla="*/ 220133 h 541867"/>
                <a:gd name="connsiteX5" fmla="*/ 1456266 w 4368800"/>
                <a:gd name="connsiteY5" fmla="*/ 330200 h 541867"/>
                <a:gd name="connsiteX6" fmla="*/ 1727200 w 4368800"/>
                <a:gd name="connsiteY6" fmla="*/ 270933 h 541867"/>
                <a:gd name="connsiteX7" fmla="*/ 2048933 w 4368800"/>
                <a:gd name="connsiteY7" fmla="*/ 0 h 541867"/>
                <a:gd name="connsiteX8" fmla="*/ 2353733 w 4368800"/>
                <a:gd name="connsiteY8" fmla="*/ 304800 h 541867"/>
                <a:gd name="connsiteX9" fmla="*/ 2607733 w 4368800"/>
                <a:gd name="connsiteY9" fmla="*/ 186266 h 541867"/>
                <a:gd name="connsiteX10" fmla="*/ 2963334 w 4368800"/>
                <a:gd name="connsiteY10" fmla="*/ 152400 h 541867"/>
                <a:gd name="connsiteX11" fmla="*/ 3234266 w 4368800"/>
                <a:gd name="connsiteY11" fmla="*/ 220133 h 541867"/>
                <a:gd name="connsiteX12" fmla="*/ 3505200 w 4368800"/>
                <a:gd name="connsiteY12" fmla="*/ 16933 h 541867"/>
                <a:gd name="connsiteX13" fmla="*/ 3810000 w 4368800"/>
                <a:gd name="connsiteY13" fmla="*/ 152400 h 541867"/>
                <a:gd name="connsiteX14" fmla="*/ 4097866 w 4368800"/>
                <a:gd name="connsiteY14" fmla="*/ 59266 h 541867"/>
                <a:gd name="connsiteX15" fmla="*/ 4368800 w 4368800"/>
                <a:gd name="connsiteY15" fmla="*/ 135466 h 541867"/>
                <a:gd name="connsiteX0" fmla="*/ 0 w 4368800"/>
                <a:gd name="connsiteY0" fmla="*/ 575734 h 575734"/>
                <a:gd name="connsiteX1" fmla="*/ 270933 w 4368800"/>
                <a:gd name="connsiteY1" fmla="*/ 372533 h 575734"/>
                <a:gd name="connsiteX2" fmla="*/ 575733 w 4368800"/>
                <a:gd name="connsiteY2" fmla="*/ 465667 h 575734"/>
                <a:gd name="connsiteX3" fmla="*/ 880533 w 4368800"/>
                <a:gd name="connsiteY3" fmla="*/ 406400 h 575734"/>
                <a:gd name="connsiteX4" fmla="*/ 1134533 w 4368800"/>
                <a:gd name="connsiteY4" fmla="*/ 254000 h 575734"/>
                <a:gd name="connsiteX5" fmla="*/ 1456266 w 4368800"/>
                <a:gd name="connsiteY5" fmla="*/ 364067 h 575734"/>
                <a:gd name="connsiteX6" fmla="*/ 1727200 w 4368800"/>
                <a:gd name="connsiteY6" fmla="*/ 304800 h 575734"/>
                <a:gd name="connsiteX7" fmla="*/ 2048933 w 4368800"/>
                <a:gd name="connsiteY7" fmla="*/ 33867 h 575734"/>
                <a:gd name="connsiteX8" fmla="*/ 2353733 w 4368800"/>
                <a:gd name="connsiteY8" fmla="*/ 338667 h 575734"/>
                <a:gd name="connsiteX9" fmla="*/ 2607733 w 4368800"/>
                <a:gd name="connsiteY9" fmla="*/ 220133 h 575734"/>
                <a:gd name="connsiteX10" fmla="*/ 2963334 w 4368800"/>
                <a:gd name="connsiteY10" fmla="*/ 186267 h 575734"/>
                <a:gd name="connsiteX11" fmla="*/ 3234266 w 4368800"/>
                <a:gd name="connsiteY11" fmla="*/ 254000 h 575734"/>
                <a:gd name="connsiteX12" fmla="*/ 3505200 w 4368800"/>
                <a:gd name="connsiteY12" fmla="*/ 0 h 575734"/>
                <a:gd name="connsiteX13" fmla="*/ 3810000 w 4368800"/>
                <a:gd name="connsiteY13" fmla="*/ 186267 h 575734"/>
                <a:gd name="connsiteX14" fmla="*/ 4097866 w 4368800"/>
                <a:gd name="connsiteY14" fmla="*/ 93133 h 575734"/>
                <a:gd name="connsiteX15" fmla="*/ 4368800 w 4368800"/>
                <a:gd name="connsiteY15" fmla="*/ 169333 h 575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368800" h="575734">
                  <a:moveTo>
                    <a:pt x="0" y="575734"/>
                  </a:moveTo>
                  <a:lnTo>
                    <a:pt x="270933" y="372533"/>
                  </a:lnTo>
                  <a:lnTo>
                    <a:pt x="575733" y="465667"/>
                  </a:lnTo>
                  <a:lnTo>
                    <a:pt x="880533" y="406400"/>
                  </a:lnTo>
                  <a:lnTo>
                    <a:pt x="1134533" y="254000"/>
                  </a:lnTo>
                  <a:lnTo>
                    <a:pt x="1456266" y="364067"/>
                  </a:lnTo>
                  <a:lnTo>
                    <a:pt x="1727200" y="304800"/>
                  </a:lnTo>
                  <a:lnTo>
                    <a:pt x="2048933" y="33867"/>
                  </a:lnTo>
                  <a:lnTo>
                    <a:pt x="2353733" y="338667"/>
                  </a:lnTo>
                  <a:cubicBezTo>
                    <a:pt x="2438400" y="299156"/>
                    <a:pt x="2506133" y="245533"/>
                    <a:pt x="2607733" y="220133"/>
                  </a:cubicBezTo>
                  <a:cubicBezTo>
                    <a:pt x="2709333" y="194733"/>
                    <a:pt x="2844800" y="197556"/>
                    <a:pt x="2963334" y="186267"/>
                  </a:cubicBezTo>
                  <a:lnTo>
                    <a:pt x="3234266" y="254000"/>
                  </a:lnTo>
                  <a:lnTo>
                    <a:pt x="3505200" y="0"/>
                  </a:lnTo>
                  <a:lnTo>
                    <a:pt x="3810000" y="186267"/>
                  </a:lnTo>
                  <a:lnTo>
                    <a:pt x="4097866" y="93133"/>
                  </a:lnTo>
                  <a:lnTo>
                    <a:pt x="4368800" y="169333"/>
                  </a:lnTo>
                </a:path>
              </a:pathLst>
            </a:custGeom>
            <a:ln>
              <a:solidFill>
                <a:schemeClr val="accent3">
                  <a:lumMod val="75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grpSp>
        <p:nvGrpSpPr>
          <p:cNvPr id="259" name="그룹 258">
            <a:extLst>
              <a:ext uri="{FF2B5EF4-FFF2-40B4-BE49-F238E27FC236}">
                <a16:creationId xmlns:a16="http://schemas.microsoft.com/office/drawing/2014/main" id="{0941AC10-78F4-4AAE-A932-0CF060D383EB}"/>
              </a:ext>
            </a:extLst>
          </p:cNvPr>
          <p:cNvGrpSpPr/>
          <p:nvPr/>
        </p:nvGrpSpPr>
        <p:grpSpPr>
          <a:xfrm>
            <a:off x="1181749" y="3130502"/>
            <a:ext cx="1683019" cy="157480"/>
            <a:chOff x="4730291" y="2929429"/>
            <a:chExt cx="1683019" cy="157480"/>
          </a:xfrm>
        </p:grpSpPr>
        <p:cxnSp>
          <p:nvCxnSpPr>
            <p:cNvPr id="263" name="직선 연결선 262">
              <a:extLst>
                <a:ext uri="{FF2B5EF4-FFF2-40B4-BE49-F238E27FC236}">
                  <a16:creationId xmlns:a16="http://schemas.microsoft.com/office/drawing/2014/main" id="{05065CF1-8B50-452F-9BAC-3D16D95F577C}"/>
                </a:ext>
              </a:extLst>
            </p:cNvPr>
            <p:cNvCxnSpPr/>
            <p:nvPr/>
          </p:nvCxnSpPr>
          <p:spPr>
            <a:xfrm>
              <a:off x="4730291" y="3015425"/>
              <a:ext cx="149996" cy="0"/>
            </a:xfrm>
            <a:prstGeom prst="line">
              <a:avLst/>
            </a:prstGeom>
            <a:ln w="12700">
              <a:solidFill>
                <a:schemeClr val="accent6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4" name="직사각형 263">
              <a:extLst>
                <a:ext uri="{FF2B5EF4-FFF2-40B4-BE49-F238E27FC236}">
                  <a16:creationId xmlns:a16="http://schemas.microsoft.com/office/drawing/2014/main" id="{DBDC6453-0FB5-45BF-AD70-BD86C3924018}"/>
                </a:ext>
              </a:extLst>
            </p:cNvPr>
            <p:cNvSpPr/>
            <p:nvPr/>
          </p:nvSpPr>
          <p:spPr>
            <a:xfrm>
              <a:off x="4808469" y="2931990"/>
              <a:ext cx="550418" cy="154919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0"/>
            <a:lstStyle/>
            <a:p>
              <a:pPr algn="ctr">
                <a:lnSpc>
                  <a:spcPct val="150000"/>
                </a:lnSpc>
              </a:pPr>
              <a:r>
                <a:rPr lang="ko-KR" altLang="en-US" sz="5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실제 사용량</a:t>
              </a:r>
            </a:p>
          </p:txBody>
        </p:sp>
        <p:cxnSp>
          <p:nvCxnSpPr>
            <p:cNvPr id="265" name="직선 연결선 264">
              <a:extLst>
                <a:ext uri="{FF2B5EF4-FFF2-40B4-BE49-F238E27FC236}">
                  <a16:creationId xmlns:a16="http://schemas.microsoft.com/office/drawing/2014/main" id="{6BB4A104-87C2-4022-97F6-726066D073DF}"/>
                </a:ext>
              </a:extLst>
            </p:cNvPr>
            <p:cNvCxnSpPr/>
            <p:nvPr/>
          </p:nvCxnSpPr>
          <p:spPr>
            <a:xfrm>
              <a:off x="5280128" y="3009449"/>
              <a:ext cx="149996" cy="0"/>
            </a:xfrm>
            <a:prstGeom prst="line">
              <a:avLst/>
            </a:prstGeom>
            <a:solidFill>
              <a:schemeClr val="accent3">
                <a:lumMod val="40000"/>
                <a:lumOff val="60000"/>
              </a:schemeClr>
            </a:solidFill>
            <a:ln w="12700">
              <a:solidFill>
                <a:schemeClr val="accent3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67" name="직사각형 266">
              <a:extLst>
                <a:ext uri="{FF2B5EF4-FFF2-40B4-BE49-F238E27FC236}">
                  <a16:creationId xmlns:a16="http://schemas.microsoft.com/office/drawing/2014/main" id="{755EB8E2-53ED-4767-8EE1-7EE5406A5C18}"/>
                </a:ext>
              </a:extLst>
            </p:cNvPr>
            <p:cNvSpPr/>
            <p:nvPr/>
          </p:nvSpPr>
          <p:spPr>
            <a:xfrm>
              <a:off x="5358305" y="2929429"/>
              <a:ext cx="548985" cy="148088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0"/>
            <a:lstStyle/>
            <a:p>
              <a:pPr algn="ctr">
                <a:lnSpc>
                  <a:spcPct val="150000"/>
                </a:lnSpc>
              </a:pPr>
              <a:r>
                <a:rPr lang="en-US" altLang="ko-KR" sz="5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ESS </a:t>
              </a:r>
              <a:r>
                <a:rPr lang="ko-KR" altLang="en-US" sz="5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사용량</a:t>
              </a:r>
            </a:p>
          </p:txBody>
        </p:sp>
        <p:cxnSp>
          <p:nvCxnSpPr>
            <p:cNvPr id="268" name="직선 연결선 267">
              <a:extLst>
                <a:ext uri="{FF2B5EF4-FFF2-40B4-BE49-F238E27FC236}">
                  <a16:creationId xmlns:a16="http://schemas.microsoft.com/office/drawing/2014/main" id="{BEF4ECF7-4151-401A-B57E-7DC67588D5CD}"/>
                </a:ext>
              </a:extLst>
            </p:cNvPr>
            <p:cNvCxnSpPr/>
            <p:nvPr/>
          </p:nvCxnSpPr>
          <p:spPr>
            <a:xfrm>
              <a:off x="5832767" y="3009449"/>
              <a:ext cx="149996" cy="0"/>
            </a:xfrm>
            <a:prstGeom prst="line">
              <a:avLst/>
            </a:prstGeom>
            <a:solidFill>
              <a:schemeClr val="accent2">
                <a:lumMod val="60000"/>
                <a:lumOff val="40000"/>
              </a:schemeClr>
            </a:solidFill>
            <a:ln w="127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69" name="직사각형 268">
              <a:extLst>
                <a:ext uri="{FF2B5EF4-FFF2-40B4-BE49-F238E27FC236}">
                  <a16:creationId xmlns:a16="http://schemas.microsoft.com/office/drawing/2014/main" id="{6806B26D-0E4C-452B-8F96-8A0A75CDBBE3}"/>
                </a:ext>
              </a:extLst>
            </p:cNvPr>
            <p:cNvSpPr/>
            <p:nvPr/>
          </p:nvSpPr>
          <p:spPr>
            <a:xfrm>
              <a:off x="5927483" y="2929429"/>
              <a:ext cx="485827" cy="148088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0"/>
            <a:lstStyle/>
            <a:p>
              <a:pPr algn="ctr">
                <a:lnSpc>
                  <a:spcPct val="150000"/>
                </a:lnSpc>
              </a:pPr>
              <a:r>
                <a:rPr lang="en-US" altLang="ko-KR" sz="5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PV </a:t>
              </a:r>
              <a:r>
                <a:rPr lang="ko-KR" altLang="en-US" sz="5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사용량</a:t>
              </a:r>
            </a:p>
          </p:txBody>
        </p:sp>
      </p:grpSp>
      <p:sp>
        <p:nvSpPr>
          <p:cNvPr id="2" name="직사각형 1">
            <a:extLst>
              <a:ext uri="{FF2B5EF4-FFF2-40B4-BE49-F238E27FC236}">
                <a16:creationId xmlns:a16="http://schemas.microsoft.com/office/drawing/2014/main" id="{A48D83A0-7C30-416F-B54C-E18F6506702E}"/>
              </a:ext>
            </a:extLst>
          </p:cNvPr>
          <p:cNvSpPr/>
          <p:nvPr/>
        </p:nvSpPr>
        <p:spPr>
          <a:xfrm>
            <a:off x="200472" y="1177007"/>
            <a:ext cx="1386918" cy="3077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ko-KR" altLang="en-US" sz="14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롯데 정밀 화학</a:t>
            </a:r>
          </a:p>
        </p:txBody>
      </p:sp>
      <p:sp>
        <p:nvSpPr>
          <p:cNvPr id="227" name="타원형 설명선 226"/>
          <p:cNvSpPr/>
          <p:nvPr/>
        </p:nvSpPr>
        <p:spPr>
          <a:xfrm>
            <a:off x="7128693" y="1040904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4" name="타원형 설명선 243"/>
          <p:cNvSpPr/>
          <p:nvPr/>
        </p:nvSpPr>
        <p:spPr>
          <a:xfrm>
            <a:off x="2615736" y="1420150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5" name="타원형 설명선 244"/>
          <p:cNvSpPr/>
          <p:nvPr/>
        </p:nvSpPr>
        <p:spPr>
          <a:xfrm>
            <a:off x="563396" y="1420150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6" name="타원형 설명선 245"/>
          <p:cNvSpPr/>
          <p:nvPr/>
        </p:nvSpPr>
        <p:spPr>
          <a:xfrm>
            <a:off x="4726080" y="1420150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7" name="타원형 설명선 246"/>
          <p:cNvSpPr/>
          <p:nvPr/>
        </p:nvSpPr>
        <p:spPr>
          <a:xfrm>
            <a:off x="78220" y="2148122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7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8" name="타원형 설명선 247"/>
          <p:cNvSpPr/>
          <p:nvPr/>
        </p:nvSpPr>
        <p:spPr>
          <a:xfrm>
            <a:off x="2004129" y="1965023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8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66" name="타원형 설명선 265"/>
          <p:cNvSpPr/>
          <p:nvPr/>
        </p:nvSpPr>
        <p:spPr>
          <a:xfrm>
            <a:off x="6739618" y="1420150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6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3" name="타원형 설명선 225">
            <a:extLst>
              <a:ext uri="{FF2B5EF4-FFF2-40B4-BE49-F238E27FC236}">
                <a16:creationId xmlns:a16="http://schemas.microsoft.com/office/drawing/2014/main" id="{93402A8C-F86A-4207-9226-F02BE6AB6E19}"/>
              </a:ext>
            </a:extLst>
          </p:cNvPr>
          <p:cNvSpPr/>
          <p:nvPr/>
        </p:nvSpPr>
        <p:spPr>
          <a:xfrm>
            <a:off x="363380" y="1028111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272" name="직선 연결선 271">
            <a:extLst>
              <a:ext uri="{FF2B5EF4-FFF2-40B4-BE49-F238E27FC236}">
                <a16:creationId xmlns:a16="http://schemas.microsoft.com/office/drawing/2014/main" id="{A049BDF6-FCA8-4FC7-AC08-E3ED60B3D517}"/>
              </a:ext>
            </a:extLst>
          </p:cNvPr>
          <p:cNvCxnSpPr>
            <a:cxnSpLocks/>
          </p:cNvCxnSpPr>
          <p:nvPr/>
        </p:nvCxnSpPr>
        <p:spPr>
          <a:xfrm flipV="1">
            <a:off x="3399665" y="3111662"/>
            <a:ext cx="1284355" cy="283010"/>
          </a:xfrm>
          <a:prstGeom prst="line">
            <a:avLst/>
          </a:prstGeom>
          <a:ln>
            <a:solidFill>
              <a:srgbClr val="FF0000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3" name="TextBox 272">
            <a:extLst>
              <a:ext uri="{FF2B5EF4-FFF2-40B4-BE49-F238E27FC236}">
                <a16:creationId xmlns:a16="http://schemas.microsoft.com/office/drawing/2014/main" id="{DD193E44-EA39-42C9-BC1D-A3B0794E3A84}"/>
              </a:ext>
            </a:extLst>
          </p:cNvPr>
          <p:cNvSpPr txBox="1"/>
          <p:nvPr/>
        </p:nvSpPr>
        <p:spPr>
          <a:xfrm>
            <a:off x="3017135" y="3927225"/>
            <a:ext cx="986079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>
              <a:defRPr sz="800" b="1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</a:lstStyle>
          <a:p>
            <a:r>
              <a:rPr lang="ko-KR" altLang="en-US" dirty="0"/>
              <a:t>장치 현황</a:t>
            </a:r>
          </a:p>
        </p:txBody>
      </p:sp>
      <p:sp>
        <p:nvSpPr>
          <p:cNvPr id="274" name="직사각형 273">
            <a:extLst>
              <a:ext uri="{FF2B5EF4-FFF2-40B4-BE49-F238E27FC236}">
                <a16:creationId xmlns:a16="http://schemas.microsoft.com/office/drawing/2014/main" id="{CA330CB1-35E4-4691-BEFE-1B20EBAB1747}"/>
              </a:ext>
            </a:extLst>
          </p:cNvPr>
          <p:cNvSpPr/>
          <p:nvPr/>
        </p:nvSpPr>
        <p:spPr>
          <a:xfrm>
            <a:off x="3574542" y="3922417"/>
            <a:ext cx="725954" cy="18235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150000"/>
              </a:lnSpc>
            </a:pPr>
            <a:r>
              <a:rPr lang="en-US" altLang="ko-KR" sz="500" b="1" dirty="0">
                <a:solidFill>
                  <a:schemeClr val="accent6">
                    <a:lumMod val="75000"/>
                  </a:schemeClr>
                </a:solidFill>
                <a:latin typeface="맑은 고딕" pitchFamily="50" charset="-127"/>
                <a:ea typeface="맑은 고딕" pitchFamily="50" charset="-127"/>
              </a:rPr>
              <a:t>YYYY-MM-DD hh:mm</a:t>
            </a:r>
            <a:endParaRPr lang="ko-KR" altLang="en-US" sz="500" b="1" dirty="0">
              <a:solidFill>
                <a:schemeClr val="accent6">
                  <a:lumMod val="7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75" name="직사각형 274">
            <a:extLst>
              <a:ext uri="{FF2B5EF4-FFF2-40B4-BE49-F238E27FC236}">
                <a16:creationId xmlns:a16="http://schemas.microsoft.com/office/drawing/2014/main" id="{B1B669B1-75AC-416B-8F13-DFF8B5E0797A}"/>
              </a:ext>
            </a:extLst>
          </p:cNvPr>
          <p:cNvSpPr/>
          <p:nvPr/>
        </p:nvSpPr>
        <p:spPr>
          <a:xfrm>
            <a:off x="3727201" y="1892114"/>
            <a:ext cx="725954" cy="18235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150000"/>
              </a:lnSpc>
            </a:pPr>
            <a:r>
              <a:rPr lang="en-US" altLang="ko-KR" sz="500" b="1" dirty="0">
                <a:solidFill>
                  <a:schemeClr val="accent6">
                    <a:lumMod val="75000"/>
                  </a:schemeClr>
                </a:solidFill>
                <a:latin typeface="맑은 고딕" pitchFamily="50" charset="-127"/>
                <a:ea typeface="맑은 고딕" pitchFamily="50" charset="-127"/>
              </a:rPr>
              <a:t>YYYY-MM-DD hh:mm</a:t>
            </a:r>
            <a:endParaRPr lang="ko-KR" altLang="en-US" sz="500" b="1" dirty="0">
              <a:solidFill>
                <a:schemeClr val="accent6">
                  <a:lumMod val="7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76" name="직사각형 275">
            <a:extLst>
              <a:ext uri="{FF2B5EF4-FFF2-40B4-BE49-F238E27FC236}">
                <a16:creationId xmlns:a16="http://schemas.microsoft.com/office/drawing/2014/main" id="{EE6B911B-0CDE-47CA-8229-8AEF711F8027}"/>
              </a:ext>
            </a:extLst>
          </p:cNvPr>
          <p:cNvSpPr/>
          <p:nvPr/>
        </p:nvSpPr>
        <p:spPr>
          <a:xfrm>
            <a:off x="6344923" y="1801922"/>
            <a:ext cx="725954" cy="18235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150000"/>
              </a:lnSpc>
            </a:pPr>
            <a:r>
              <a:rPr lang="en-US" altLang="ko-KR" sz="500" b="1" dirty="0">
                <a:solidFill>
                  <a:schemeClr val="accent6">
                    <a:lumMod val="75000"/>
                  </a:schemeClr>
                </a:solidFill>
                <a:latin typeface="맑은 고딕" pitchFamily="50" charset="-127"/>
                <a:ea typeface="맑은 고딕" pitchFamily="50" charset="-127"/>
              </a:rPr>
              <a:t>YYYY-MM-DD hh:mm</a:t>
            </a:r>
            <a:endParaRPr lang="ko-KR" altLang="en-US" sz="500" b="1" dirty="0">
              <a:solidFill>
                <a:schemeClr val="accent6">
                  <a:lumMod val="7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77" name="직사각형 276">
            <a:extLst>
              <a:ext uri="{FF2B5EF4-FFF2-40B4-BE49-F238E27FC236}">
                <a16:creationId xmlns:a16="http://schemas.microsoft.com/office/drawing/2014/main" id="{02B25750-3114-4052-970A-C7404C16E497}"/>
              </a:ext>
            </a:extLst>
          </p:cNvPr>
          <p:cNvSpPr/>
          <p:nvPr/>
        </p:nvSpPr>
        <p:spPr>
          <a:xfrm>
            <a:off x="2141719" y="1908879"/>
            <a:ext cx="725954" cy="18235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150000"/>
              </a:lnSpc>
            </a:pPr>
            <a:r>
              <a:rPr lang="en-US" altLang="ko-KR" sz="500" b="1" dirty="0">
                <a:solidFill>
                  <a:schemeClr val="accent6">
                    <a:lumMod val="75000"/>
                  </a:schemeClr>
                </a:solidFill>
                <a:latin typeface="맑은 고딕" pitchFamily="50" charset="-127"/>
                <a:ea typeface="맑은 고딕" pitchFamily="50" charset="-127"/>
              </a:rPr>
              <a:t>YYYY-MM-DD hh:mm</a:t>
            </a:r>
            <a:endParaRPr lang="ko-KR" altLang="en-US" sz="500" b="1" dirty="0">
              <a:solidFill>
                <a:schemeClr val="accent6">
                  <a:lumMod val="7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78" name="직사각형 277">
            <a:extLst>
              <a:ext uri="{FF2B5EF4-FFF2-40B4-BE49-F238E27FC236}">
                <a16:creationId xmlns:a16="http://schemas.microsoft.com/office/drawing/2014/main" id="{3BB3CC5A-2769-49AE-BECC-646F3261FAEF}"/>
              </a:ext>
            </a:extLst>
          </p:cNvPr>
          <p:cNvSpPr/>
          <p:nvPr/>
        </p:nvSpPr>
        <p:spPr>
          <a:xfrm>
            <a:off x="6326562" y="3093933"/>
            <a:ext cx="725954" cy="18235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150000"/>
              </a:lnSpc>
            </a:pPr>
            <a:r>
              <a:rPr lang="en-US" altLang="ko-KR" sz="500" b="1" dirty="0">
                <a:solidFill>
                  <a:schemeClr val="accent6">
                    <a:lumMod val="75000"/>
                  </a:schemeClr>
                </a:solidFill>
                <a:latin typeface="맑은 고딕" pitchFamily="50" charset="-127"/>
                <a:ea typeface="맑은 고딕" pitchFamily="50" charset="-127"/>
              </a:rPr>
              <a:t>YYYY-MM-DD hh:mm</a:t>
            </a:r>
            <a:endParaRPr lang="ko-KR" altLang="en-US" sz="500" b="1" dirty="0">
              <a:solidFill>
                <a:schemeClr val="accent6">
                  <a:lumMod val="7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79" name="TextBox 278">
            <a:extLst>
              <a:ext uri="{FF2B5EF4-FFF2-40B4-BE49-F238E27FC236}">
                <a16:creationId xmlns:a16="http://schemas.microsoft.com/office/drawing/2014/main" id="{02ACC4CC-2C09-4CAB-B781-AB497245EC7B}"/>
              </a:ext>
            </a:extLst>
          </p:cNvPr>
          <p:cNvSpPr txBox="1"/>
          <p:nvPr/>
        </p:nvSpPr>
        <p:spPr>
          <a:xfrm>
            <a:off x="3248495" y="2082103"/>
            <a:ext cx="2420399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지금은 </a:t>
            </a:r>
            <a:r>
              <a:rPr lang="ko-KR" altLang="en-US" sz="800" b="1" dirty="0">
                <a:solidFill>
                  <a:srgbClr val="FF0000"/>
                </a:solidFill>
              </a:rPr>
              <a:t>요금적용전력</a:t>
            </a:r>
            <a:r>
              <a:rPr lang="ko-KR" altLang="en-US" sz="700" b="1" dirty="0">
                <a:solidFill>
                  <a:schemeClr val="bg1"/>
                </a:solidFill>
              </a:rPr>
              <a:t> 갱신구간 입니다</a:t>
            </a:r>
            <a:r>
              <a:rPr lang="en-US" altLang="ko-KR" sz="700" b="1" dirty="0">
                <a:solidFill>
                  <a:schemeClr val="bg1"/>
                </a:solidFill>
              </a:rPr>
              <a:t>. (08:00 ~ 12:00)</a:t>
            </a:r>
            <a:endParaRPr lang="ko-KR" altLang="en-US" sz="700" b="1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0905938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9104309" y="6645875"/>
            <a:ext cx="140029" cy="138499"/>
          </a:xfrm>
        </p:spPr>
        <p:txBody>
          <a:bodyPr/>
          <a:lstStyle/>
          <a:p>
            <a:pPr>
              <a:defRPr/>
            </a:pPr>
            <a:fld id="{9E41B634-5682-4388-99E7-FE44DCFD254B}" type="slidenum">
              <a:rPr lang="ko-KR" altLang="en-US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>
                <a:defRPr/>
              </a:pPr>
              <a:t>13</a:t>
            </a:fld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텍스트 개체 틀 8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Site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 (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대시보드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" name="텍스트 개체 틀 9"/>
          <p:cNvSpPr>
            <a:spLocks noGrp="1"/>
          </p:cNvSpPr>
          <p:nvPr>
            <p:ph type="body" sz="quarter" idx="10"/>
          </p:nvPr>
        </p:nvSpPr>
        <p:spPr>
          <a:xfrm>
            <a:off x="6023595" y="44624"/>
            <a:ext cx="1233661" cy="196974"/>
          </a:xfrm>
        </p:spPr>
        <p:txBody>
          <a:bodyPr/>
          <a:lstStyle/>
          <a:p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Site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02" name="Group 15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68569034"/>
              </p:ext>
            </p:extLst>
          </p:nvPr>
        </p:nvGraphicFramePr>
        <p:xfrm>
          <a:off x="8469397" y="262210"/>
          <a:ext cx="1404000" cy="6139008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3002"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Description</a:t>
                      </a: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9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사용량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구성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(DER)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표시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Site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의 현재 기준 사용량 구성 표시 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‘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에너지 모니터링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‘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의 사용량 구성 화면 참고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10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Site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내 알람 정보 표시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금일 발생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: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금일 발생된 알람 총 개수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금일 미확인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: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금일 발생된 알람 중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미확인된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항목의 총 개수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비상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/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주의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  :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총 알람 중 비상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주의 각각의 개수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최근 한달간 비율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최근 한달간 알람을 다음과 같이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 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Wingdings" panose="05000000000000000000" pitchFamily="2" charset="2"/>
                        </a:rPr>
                        <a:t>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총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알람개수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 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Wingdings" panose="05000000000000000000" pitchFamily="2" charset="2"/>
                        </a:rPr>
                        <a:t>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비상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알람개수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%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 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Wingdings" panose="05000000000000000000" pitchFamily="2" charset="2"/>
                        </a:rPr>
                        <a:t>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주의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알람개수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%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38937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11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피크 전력 현황 표시</a:t>
                      </a:r>
                      <a:endParaRPr lang="en-US" altLang="ko-KR" sz="800" b="1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Site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의 현재 피크 전력 현황 표시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‘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요금적용전력</a:t>
                      </a: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’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은 </a:t>
                      </a: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Site Main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에서만 표시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12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장치 현황 표시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IOE,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PCS,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BMS,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PV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장치 별 현황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1)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장치 상태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 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정상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: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파란색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  이상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: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주황색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2) PCS :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충전량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방전량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3) BMS :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전압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전류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4) PV :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누적충전량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누적방전량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5) : IOE :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연결상태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6)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특정 장치를 더블 클릭하면 해당 장치의 상세정보가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팝업된다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. (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장치 모니터링에서의 상세보기와 동일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)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78" name="TextBox 77"/>
          <p:cNvSpPr txBox="1"/>
          <p:nvPr/>
        </p:nvSpPr>
        <p:spPr>
          <a:xfrm>
            <a:off x="7121707" y="21349"/>
            <a:ext cx="567597" cy="2308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화면</a:t>
            </a:r>
            <a:r>
              <a:rPr lang="en-US" altLang="ko-KR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ID</a:t>
            </a:r>
            <a:endParaRPr lang="ko-KR" altLang="en-US" sz="9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7689304" y="43659"/>
            <a:ext cx="792088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itchFamily="50" charset="-127"/>
                <a:ea typeface="맑은 고딕" pitchFamily="50" charset="-127"/>
              </a:rPr>
              <a:t>ewpsp_scr_008</a:t>
            </a:r>
            <a:endParaRPr lang="ko-KR" altLang="en-US" sz="700" dirty="0">
              <a:latin typeface="맑은 고딕" pitchFamily="50" charset="-127"/>
              <a:ea typeface="맑은 고딕" pitchFamily="50" charset="-127"/>
            </a:endParaRPr>
          </a:p>
        </p:txBody>
      </p:sp>
      <p:pic>
        <p:nvPicPr>
          <p:cNvPr id="18" name="Picture 3">
            <a:extLst>
              <a:ext uri="{FF2B5EF4-FFF2-40B4-BE49-F238E27FC236}">
                <a16:creationId xmlns:a16="http://schemas.microsoft.com/office/drawing/2014/main" id="{B2102104-3315-402E-ABC9-586FEDDAFB4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1531" y="796962"/>
            <a:ext cx="8266177" cy="5440349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  <a:extLst/>
        </p:spPr>
      </p:pic>
      <p:pic>
        <p:nvPicPr>
          <p:cNvPr id="19" name="Picture 2">
            <a:extLst>
              <a:ext uri="{FF2B5EF4-FFF2-40B4-BE49-F238E27FC236}">
                <a16:creationId xmlns:a16="http://schemas.microsoft.com/office/drawing/2014/main" id="{7083A858-D713-4603-B3CA-23A59234A10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1532" y="804375"/>
            <a:ext cx="8266176" cy="3512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20" name="직선 연결선 19">
            <a:extLst>
              <a:ext uri="{FF2B5EF4-FFF2-40B4-BE49-F238E27FC236}">
                <a16:creationId xmlns:a16="http://schemas.microsoft.com/office/drawing/2014/main" id="{0B5F9E53-BCF9-403F-96B8-C987A9420ECC}"/>
              </a:ext>
            </a:extLst>
          </p:cNvPr>
          <p:cNvCxnSpPr>
            <a:cxnSpLocks/>
          </p:cNvCxnSpPr>
          <p:nvPr/>
        </p:nvCxnSpPr>
        <p:spPr>
          <a:xfrm>
            <a:off x="117727" y="1143681"/>
            <a:ext cx="8187172" cy="0"/>
          </a:xfrm>
          <a:prstGeom prst="line">
            <a:avLst/>
          </a:prstGeom>
          <a:ln w="9525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A3EF9983-9B49-4C32-AAFF-105A132508A6}"/>
              </a:ext>
            </a:extLst>
          </p:cNvPr>
          <p:cNvSpPr/>
          <p:nvPr/>
        </p:nvSpPr>
        <p:spPr>
          <a:xfrm>
            <a:off x="180991" y="1557880"/>
            <a:ext cx="8020800" cy="4465954"/>
          </a:xfrm>
          <a:prstGeom prst="rect">
            <a:avLst/>
          </a:prstGeom>
          <a:solidFill>
            <a:srgbClr val="262645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EB8D0FE6-4CB9-4D6F-BC08-26944210B2E4}"/>
              </a:ext>
            </a:extLst>
          </p:cNvPr>
          <p:cNvSpPr/>
          <p:nvPr/>
        </p:nvSpPr>
        <p:spPr>
          <a:xfrm>
            <a:off x="184526" y="1505937"/>
            <a:ext cx="2005200" cy="248247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700" dirty="0"/>
              <a:t>에너지 모니터링</a:t>
            </a: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2891854C-647F-409D-8CAB-1B57ED9960C5}"/>
              </a:ext>
            </a:extLst>
          </p:cNvPr>
          <p:cNvSpPr/>
          <p:nvPr/>
        </p:nvSpPr>
        <p:spPr>
          <a:xfrm>
            <a:off x="2191085" y="1505937"/>
            <a:ext cx="2005200" cy="248247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700" dirty="0"/>
              <a:t>장치 모니터링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A8CD744A-AA50-4B4D-A06A-93198D13D7C1}"/>
              </a:ext>
            </a:extLst>
          </p:cNvPr>
          <p:cNvSpPr/>
          <p:nvPr/>
        </p:nvSpPr>
        <p:spPr>
          <a:xfrm>
            <a:off x="4197644" y="1505937"/>
            <a:ext cx="2005200" cy="248247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700" dirty="0"/>
              <a:t>상황</a:t>
            </a:r>
            <a:r>
              <a:rPr lang="en-US" altLang="ko-KR" sz="700" dirty="0"/>
              <a:t> </a:t>
            </a:r>
            <a:r>
              <a:rPr lang="ko-KR" altLang="en-US" sz="700" dirty="0"/>
              <a:t>관제</a:t>
            </a: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A0E4D09A-7B7B-4663-9DAE-528F8916C0F1}"/>
              </a:ext>
            </a:extLst>
          </p:cNvPr>
          <p:cNvSpPr/>
          <p:nvPr/>
        </p:nvSpPr>
        <p:spPr>
          <a:xfrm>
            <a:off x="6204202" y="1505937"/>
            <a:ext cx="2005200" cy="248247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700" dirty="0"/>
              <a:t>요금</a:t>
            </a:r>
            <a:r>
              <a:rPr lang="en-US" altLang="ko-KR" sz="700" dirty="0"/>
              <a:t>/</a:t>
            </a:r>
            <a:r>
              <a:rPr lang="ko-KR" altLang="en-US" sz="700" dirty="0"/>
              <a:t>수익</a:t>
            </a:r>
          </a:p>
        </p:txBody>
      </p:sp>
      <p:graphicFrame>
        <p:nvGraphicFramePr>
          <p:cNvPr id="27" name="표 26">
            <a:extLst>
              <a:ext uri="{FF2B5EF4-FFF2-40B4-BE49-F238E27FC236}">
                <a16:creationId xmlns:a16="http://schemas.microsoft.com/office/drawing/2014/main" id="{8F226558-3426-4DA0-967F-188EF9E13802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3036493" y="2089084"/>
          <a:ext cx="2626669" cy="151054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893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</a:tblGrid>
              <a:tr h="13894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/>
                        <a:t>kW</a:t>
                      </a:r>
                      <a:endParaRPr lang="ko-KR" altLang="en-US" sz="7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3894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2,000</a:t>
                      </a:r>
                      <a:endParaRPr lang="ko-KR" altLang="en-US" sz="6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38945">
                <a:tc>
                  <a:txBody>
                    <a:bodyPr/>
                    <a:lstStyle/>
                    <a:p>
                      <a:pPr algn="ctr" latinLnBrk="1"/>
                      <a:endParaRPr lang="ko-KR" altLang="en-US" sz="6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38945">
                <a:tc>
                  <a:txBody>
                    <a:bodyPr/>
                    <a:lstStyle/>
                    <a:p>
                      <a:pPr algn="ctr" latinLnBrk="1"/>
                      <a:endParaRPr lang="ko-KR" altLang="en-US" sz="6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3894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500</a:t>
                      </a:r>
                      <a:endParaRPr lang="ko-KR" altLang="en-US" sz="6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3894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450</a:t>
                      </a:r>
                      <a:endParaRPr lang="ko-KR" altLang="en-US" sz="6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38945">
                <a:tc>
                  <a:txBody>
                    <a:bodyPr/>
                    <a:lstStyle/>
                    <a:p>
                      <a:pPr algn="ctr" latinLnBrk="1"/>
                      <a:endParaRPr lang="ko-KR" altLang="en-US" sz="6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38945">
                <a:tc>
                  <a:txBody>
                    <a:bodyPr/>
                    <a:lstStyle/>
                    <a:p>
                      <a:pPr algn="ctr" latinLnBrk="1"/>
                      <a:endParaRPr lang="ko-KR" altLang="en-US" sz="6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3894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6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38945">
                <a:tc>
                  <a:txBody>
                    <a:bodyPr/>
                    <a:lstStyle/>
                    <a:p>
                      <a:pPr algn="ctr" latinLnBrk="1"/>
                      <a:endParaRPr lang="ko-KR" altLang="en-US" sz="6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01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02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03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04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05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06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07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08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09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10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11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12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13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14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15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cxnSp>
        <p:nvCxnSpPr>
          <p:cNvPr id="29" name="직선 연결선 28">
            <a:extLst>
              <a:ext uri="{FF2B5EF4-FFF2-40B4-BE49-F238E27FC236}">
                <a16:creationId xmlns:a16="http://schemas.microsoft.com/office/drawing/2014/main" id="{27FA866A-AB3E-48D4-ADFA-B2AFD3A5BEB9}"/>
              </a:ext>
            </a:extLst>
          </p:cNvPr>
          <p:cNvCxnSpPr>
            <a:cxnSpLocks/>
          </p:cNvCxnSpPr>
          <p:nvPr/>
        </p:nvCxnSpPr>
        <p:spPr>
          <a:xfrm>
            <a:off x="3201134" y="2315023"/>
            <a:ext cx="2400905" cy="0"/>
          </a:xfrm>
          <a:prstGeom prst="line">
            <a:avLst/>
          </a:prstGeom>
          <a:ln/>
        </p:spPr>
        <p:style>
          <a:lnRef idx="1">
            <a:schemeClr val="accent2"/>
          </a:lnRef>
          <a:fillRef idx="0">
            <a:schemeClr val="accent2"/>
          </a:fillRef>
          <a:effectRef idx="0">
            <a:schemeClr val="accent2"/>
          </a:effectRef>
          <a:fontRef idx="minor">
            <a:schemeClr val="tx1"/>
          </a:fontRef>
        </p:style>
      </p:cxnSp>
      <p:cxnSp>
        <p:nvCxnSpPr>
          <p:cNvPr id="30" name="직선 연결선 29">
            <a:extLst>
              <a:ext uri="{FF2B5EF4-FFF2-40B4-BE49-F238E27FC236}">
                <a16:creationId xmlns:a16="http://schemas.microsoft.com/office/drawing/2014/main" id="{4588D10F-85F0-4201-99B0-19CF5E0D6C64}"/>
              </a:ext>
            </a:extLst>
          </p:cNvPr>
          <p:cNvCxnSpPr>
            <a:cxnSpLocks/>
          </p:cNvCxnSpPr>
          <p:nvPr/>
        </p:nvCxnSpPr>
        <p:spPr>
          <a:xfrm>
            <a:off x="3201134" y="2776761"/>
            <a:ext cx="2400905" cy="0"/>
          </a:xfrm>
          <a:prstGeom prst="line">
            <a:avLst/>
          </a:prstGeom>
          <a:ln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2"/>
          </a:lnRef>
          <a:fillRef idx="0">
            <a:schemeClr val="accent2"/>
          </a:fillRef>
          <a:effectRef idx="0">
            <a:schemeClr val="accent2"/>
          </a:effectRef>
          <a:fontRef idx="minor">
            <a:schemeClr val="tx1"/>
          </a:fontRef>
        </p:style>
      </p:cxnSp>
      <p:cxnSp>
        <p:nvCxnSpPr>
          <p:cNvPr id="32" name="직선 연결선 31">
            <a:extLst>
              <a:ext uri="{FF2B5EF4-FFF2-40B4-BE49-F238E27FC236}">
                <a16:creationId xmlns:a16="http://schemas.microsoft.com/office/drawing/2014/main" id="{29A51609-D54B-474A-B7E4-530CCE7FFC34}"/>
              </a:ext>
            </a:extLst>
          </p:cNvPr>
          <p:cNvCxnSpPr>
            <a:cxnSpLocks/>
          </p:cNvCxnSpPr>
          <p:nvPr/>
        </p:nvCxnSpPr>
        <p:spPr>
          <a:xfrm>
            <a:off x="4708264" y="2089084"/>
            <a:ext cx="0" cy="1510545"/>
          </a:xfrm>
          <a:prstGeom prst="line">
            <a:avLst/>
          </a:prstGeom>
          <a:ln w="3175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" name="TextBox 32">
            <a:extLst>
              <a:ext uri="{FF2B5EF4-FFF2-40B4-BE49-F238E27FC236}">
                <a16:creationId xmlns:a16="http://schemas.microsoft.com/office/drawing/2014/main" id="{CC743F9E-4B5A-4B8E-A0F4-67EB1791F4AD}"/>
              </a:ext>
            </a:extLst>
          </p:cNvPr>
          <p:cNvSpPr txBox="1"/>
          <p:nvPr/>
        </p:nvSpPr>
        <p:spPr>
          <a:xfrm>
            <a:off x="2933296" y="1880452"/>
            <a:ext cx="1013626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피크 전력 현황</a:t>
            </a:r>
          </a:p>
        </p:txBody>
      </p:sp>
      <p:cxnSp>
        <p:nvCxnSpPr>
          <p:cNvPr id="34" name="직선 연결선 33">
            <a:extLst>
              <a:ext uri="{FF2B5EF4-FFF2-40B4-BE49-F238E27FC236}">
                <a16:creationId xmlns:a16="http://schemas.microsoft.com/office/drawing/2014/main" id="{A4801FBE-B6BC-49B3-B6C4-8CA05046AD75}"/>
              </a:ext>
            </a:extLst>
          </p:cNvPr>
          <p:cNvCxnSpPr>
            <a:cxnSpLocks/>
          </p:cNvCxnSpPr>
          <p:nvPr/>
        </p:nvCxnSpPr>
        <p:spPr>
          <a:xfrm>
            <a:off x="5741146" y="1866501"/>
            <a:ext cx="0" cy="4140000"/>
          </a:xfrm>
          <a:prstGeom prst="line">
            <a:avLst/>
          </a:prstGeom>
          <a:ln w="3175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35" name="표 34">
            <a:extLst>
              <a:ext uri="{FF2B5EF4-FFF2-40B4-BE49-F238E27FC236}">
                <a16:creationId xmlns:a16="http://schemas.microsoft.com/office/drawing/2014/main" id="{EF8FF785-A602-4C84-B7A3-BCC2D4E707A8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5849512" y="3272858"/>
          <a:ext cx="2275628" cy="14478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957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19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20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21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22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23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24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25"/>
                    </a:ext>
                  </a:extLst>
                </a:gridCol>
              </a:tblGrid>
              <a:tr h="279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dirty="0"/>
                        <a:t>kWh</a:t>
                      </a:r>
                      <a:endParaRPr lang="ko-KR" altLang="en-US" sz="5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9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4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1000</a:t>
                      </a:r>
                      <a:endParaRPr lang="ko-KR" altLang="en-US" sz="4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7987"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4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500</a:t>
                      </a:r>
                      <a:endParaRPr lang="ko-KR" altLang="en-US" sz="4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7987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4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79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4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4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987">
                <a:tc>
                  <a:txBody>
                    <a:bodyPr/>
                    <a:lstStyle/>
                    <a:p>
                      <a:pPr algn="ctr" latinLnBrk="1"/>
                      <a:endParaRPr lang="ko-KR" altLang="en-US" sz="4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79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4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500</a:t>
                      </a:r>
                      <a:endParaRPr lang="ko-KR" altLang="en-US" sz="4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7987">
                <a:tc>
                  <a:txBody>
                    <a:bodyPr/>
                    <a:lstStyle/>
                    <a:p>
                      <a:pPr algn="ctr" latinLnBrk="1"/>
                      <a:endParaRPr lang="ko-KR" altLang="en-US" sz="4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79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4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1000</a:t>
                      </a:r>
                      <a:endParaRPr lang="ko-KR" altLang="en-US" sz="4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endParaRPr lang="ko-KR" altLang="en-US" sz="4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00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01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02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03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04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05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06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07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08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09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10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11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12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13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14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15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16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17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18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19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20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21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22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23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24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sp>
        <p:nvSpPr>
          <p:cNvPr id="36" name="TextBox 35">
            <a:extLst>
              <a:ext uri="{FF2B5EF4-FFF2-40B4-BE49-F238E27FC236}">
                <a16:creationId xmlns:a16="http://schemas.microsoft.com/office/drawing/2014/main" id="{624B9702-5880-4DD9-A6CF-8A789D48E4EB}"/>
              </a:ext>
            </a:extLst>
          </p:cNvPr>
          <p:cNvSpPr txBox="1"/>
          <p:nvPr/>
        </p:nvSpPr>
        <p:spPr>
          <a:xfrm>
            <a:off x="5769155" y="3098741"/>
            <a:ext cx="986079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>
              <a:defRPr sz="800" b="1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</a:lstStyle>
          <a:p>
            <a:r>
              <a:rPr lang="ko-KR" altLang="en-US" dirty="0"/>
              <a:t>충</a:t>
            </a:r>
            <a:r>
              <a:rPr lang="en-US" altLang="ko-KR" dirty="0"/>
              <a:t>/</a:t>
            </a:r>
            <a:r>
              <a:rPr lang="ko-KR" altLang="en-US" dirty="0" err="1"/>
              <a:t>방전량</a:t>
            </a:r>
            <a:endParaRPr lang="ko-KR" altLang="en-US" dirty="0"/>
          </a:p>
        </p:txBody>
      </p:sp>
      <p:sp>
        <p:nvSpPr>
          <p:cNvPr id="37" name="AutoShape 182">
            <a:extLst>
              <a:ext uri="{FF2B5EF4-FFF2-40B4-BE49-F238E27FC236}">
                <a16:creationId xmlns:a16="http://schemas.microsoft.com/office/drawing/2014/main" id="{4A013E0B-20B2-4A4A-AAC2-D0E5ED97418F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5851306" y="4753820"/>
            <a:ext cx="2273814" cy="1261824"/>
          </a:xfrm>
          <a:prstGeom prst="roundRect">
            <a:avLst>
              <a:gd name="adj" fmla="val 1769"/>
            </a:avLst>
          </a:prstGeom>
          <a:solidFill>
            <a:srgbClr val="262645"/>
          </a:solidFill>
          <a:ln w="3175">
            <a:solidFill>
              <a:schemeClr val="bg1"/>
            </a:solidFill>
          </a:ln>
        </p:spPr>
        <p:txBody>
          <a:bodyPr wrap="none" anchor="ctr"/>
          <a:lstStyle/>
          <a:p>
            <a:pPr latinLnBrk="1"/>
            <a:endParaRPr lang="ko-KR" altLang="en-US" sz="1600" dirty="0"/>
          </a:p>
        </p:txBody>
      </p:sp>
      <p:cxnSp>
        <p:nvCxnSpPr>
          <p:cNvPr id="38" name="직선 연결선 37">
            <a:extLst>
              <a:ext uri="{FF2B5EF4-FFF2-40B4-BE49-F238E27FC236}">
                <a16:creationId xmlns:a16="http://schemas.microsoft.com/office/drawing/2014/main" id="{C1D71835-95E2-4DBB-ABC8-57238414EE2A}"/>
              </a:ext>
            </a:extLst>
          </p:cNvPr>
          <p:cNvCxnSpPr>
            <a:cxnSpLocks/>
          </p:cNvCxnSpPr>
          <p:nvPr/>
        </p:nvCxnSpPr>
        <p:spPr>
          <a:xfrm>
            <a:off x="5993828" y="4925311"/>
            <a:ext cx="2160000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A62A6F6F-453C-4F73-AB11-404EDC124467}"/>
              </a:ext>
            </a:extLst>
          </p:cNvPr>
          <p:cNvSpPr txBox="1"/>
          <p:nvPr/>
        </p:nvSpPr>
        <p:spPr>
          <a:xfrm>
            <a:off x="5958346" y="4771035"/>
            <a:ext cx="709061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500" dirty="0">
                <a:solidFill>
                  <a:schemeClr val="bg1"/>
                </a:solidFill>
              </a:rPr>
              <a:t>오늘 충</a:t>
            </a:r>
            <a:r>
              <a:rPr lang="en-US" altLang="ko-KR" sz="500" dirty="0">
                <a:solidFill>
                  <a:schemeClr val="bg1"/>
                </a:solidFill>
              </a:rPr>
              <a:t>/</a:t>
            </a:r>
            <a:r>
              <a:rPr lang="ko-KR" altLang="en-US" sz="500" dirty="0" err="1">
                <a:solidFill>
                  <a:schemeClr val="bg1"/>
                </a:solidFill>
              </a:rPr>
              <a:t>방전량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66E0D494-BAF5-4FB9-BCC1-38C3F22F5E55}"/>
              </a:ext>
            </a:extLst>
          </p:cNvPr>
          <p:cNvSpPr txBox="1"/>
          <p:nvPr/>
        </p:nvSpPr>
        <p:spPr>
          <a:xfrm>
            <a:off x="6935425" y="4753107"/>
            <a:ext cx="37714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</a:rPr>
              <a:t>kWh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CF316E31-C90B-4059-89F8-B7EF3053FCE1}"/>
              </a:ext>
            </a:extLst>
          </p:cNvPr>
          <p:cNvSpPr txBox="1"/>
          <p:nvPr/>
        </p:nvSpPr>
        <p:spPr>
          <a:xfrm>
            <a:off x="7591323" y="4753107"/>
            <a:ext cx="37714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500" dirty="0">
                <a:solidFill>
                  <a:schemeClr val="bg1"/>
                </a:solidFill>
              </a:rPr>
              <a:t>수익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70B29B12-DA7D-4A1D-BA88-4C352B4BABB4}"/>
              </a:ext>
            </a:extLst>
          </p:cNvPr>
          <p:cNvSpPr txBox="1"/>
          <p:nvPr/>
        </p:nvSpPr>
        <p:spPr>
          <a:xfrm>
            <a:off x="6223369" y="4925311"/>
            <a:ext cx="418353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ko-KR" altLang="en-US" sz="500" dirty="0" err="1">
                <a:solidFill>
                  <a:schemeClr val="bg1"/>
                </a:solidFill>
              </a:rPr>
              <a:t>충전량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B60AD1FA-53B7-48F3-8D24-5CCB03069CCC}"/>
              </a:ext>
            </a:extLst>
          </p:cNvPr>
          <p:cNvSpPr txBox="1"/>
          <p:nvPr/>
        </p:nvSpPr>
        <p:spPr>
          <a:xfrm>
            <a:off x="6223369" y="5041896"/>
            <a:ext cx="418353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ko-KR" altLang="en-US" sz="500" dirty="0" err="1">
                <a:solidFill>
                  <a:schemeClr val="bg1"/>
                </a:solidFill>
              </a:rPr>
              <a:t>방전량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7C8EADC3-892A-49D8-BA19-B280AA52CD2A}"/>
              </a:ext>
            </a:extLst>
          </p:cNvPr>
          <p:cNvSpPr txBox="1"/>
          <p:nvPr/>
        </p:nvSpPr>
        <p:spPr>
          <a:xfrm>
            <a:off x="6850640" y="4925311"/>
            <a:ext cx="54671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</a:rPr>
              <a:t>1,350.5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5EC37EE8-D160-496E-B15E-AD231585439D}"/>
              </a:ext>
            </a:extLst>
          </p:cNvPr>
          <p:cNvSpPr txBox="1"/>
          <p:nvPr/>
        </p:nvSpPr>
        <p:spPr>
          <a:xfrm>
            <a:off x="6850640" y="5041896"/>
            <a:ext cx="54671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</a:rPr>
              <a:t>850.5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250426D1-9B57-4F30-A1B5-ACB5D083F27E}"/>
              </a:ext>
            </a:extLst>
          </p:cNvPr>
          <p:cNvSpPr txBox="1"/>
          <p:nvPr/>
        </p:nvSpPr>
        <p:spPr>
          <a:xfrm>
            <a:off x="7570720" y="4978797"/>
            <a:ext cx="418353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600" dirty="0">
                <a:solidFill>
                  <a:schemeClr val="bg1"/>
                </a:solidFill>
              </a:rPr>
              <a:t>2.1</a:t>
            </a:r>
            <a:endParaRPr lang="ko-KR" altLang="en-US" sz="600" dirty="0">
              <a:solidFill>
                <a:schemeClr val="bg1"/>
              </a:solidFill>
            </a:endParaRPr>
          </a:p>
        </p:txBody>
      </p:sp>
      <p:cxnSp>
        <p:nvCxnSpPr>
          <p:cNvPr id="47" name="직선 연결선 46">
            <a:extLst>
              <a:ext uri="{FF2B5EF4-FFF2-40B4-BE49-F238E27FC236}">
                <a16:creationId xmlns:a16="http://schemas.microsoft.com/office/drawing/2014/main" id="{4A7EFA81-8892-470A-9FFC-89E0CEFF7D59}"/>
              </a:ext>
            </a:extLst>
          </p:cNvPr>
          <p:cNvCxnSpPr>
            <a:cxnSpLocks/>
          </p:cNvCxnSpPr>
          <p:nvPr/>
        </p:nvCxnSpPr>
        <p:spPr>
          <a:xfrm>
            <a:off x="5993828" y="5353201"/>
            <a:ext cx="2160000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8" name="TextBox 47">
            <a:extLst>
              <a:ext uri="{FF2B5EF4-FFF2-40B4-BE49-F238E27FC236}">
                <a16:creationId xmlns:a16="http://schemas.microsoft.com/office/drawing/2014/main" id="{F3A6A82A-B634-4213-A6BA-8294CF1911C7}"/>
              </a:ext>
            </a:extLst>
          </p:cNvPr>
          <p:cNvSpPr txBox="1"/>
          <p:nvPr/>
        </p:nvSpPr>
        <p:spPr>
          <a:xfrm>
            <a:off x="5958346" y="5204901"/>
            <a:ext cx="796888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500" dirty="0" err="1">
                <a:solidFill>
                  <a:schemeClr val="bg1"/>
                </a:solidFill>
              </a:rPr>
              <a:t>이번달</a:t>
            </a:r>
            <a:r>
              <a:rPr lang="ko-KR" altLang="en-US" sz="500" dirty="0">
                <a:solidFill>
                  <a:schemeClr val="bg1"/>
                </a:solidFill>
              </a:rPr>
              <a:t> 충</a:t>
            </a:r>
            <a:r>
              <a:rPr lang="en-US" altLang="ko-KR" sz="500" dirty="0">
                <a:solidFill>
                  <a:schemeClr val="bg1"/>
                </a:solidFill>
              </a:rPr>
              <a:t>/</a:t>
            </a:r>
            <a:r>
              <a:rPr lang="ko-KR" altLang="en-US" sz="500" dirty="0" err="1">
                <a:solidFill>
                  <a:schemeClr val="bg1"/>
                </a:solidFill>
              </a:rPr>
              <a:t>방전량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A7F56B89-656D-4409-94CD-D407204EE771}"/>
              </a:ext>
            </a:extLst>
          </p:cNvPr>
          <p:cNvSpPr txBox="1"/>
          <p:nvPr/>
        </p:nvSpPr>
        <p:spPr>
          <a:xfrm>
            <a:off x="6935425" y="5180997"/>
            <a:ext cx="37714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</a:rPr>
              <a:t>MWh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36F00CD1-ACD4-4A8D-9FFF-E8D84C6B684C}"/>
              </a:ext>
            </a:extLst>
          </p:cNvPr>
          <p:cNvSpPr txBox="1"/>
          <p:nvPr/>
        </p:nvSpPr>
        <p:spPr>
          <a:xfrm>
            <a:off x="7591323" y="5180997"/>
            <a:ext cx="37714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500" dirty="0">
                <a:solidFill>
                  <a:schemeClr val="bg1"/>
                </a:solidFill>
              </a:rPr>
              <a:t>수익</a:t>
            </a: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13C0CE3B-40F3-43B7-8D0B-2C69A07D53D2}"/>
              </a:ext>
            </a:extLst>
          </p:cNvPr>
          <p:cNvSpPr txBox="1"/>
          <p:nvPr/>
        </p:nvSpPr>
        <p:spPr>
          <a:xfrm>
            <a:off x="6223369" y="5353201"/>
            <a:ext cx="418353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ko-KR" altLang="en-US" sz="500">
                <a:solidFill>
                  <a:schemeClr val="bg1"/>
                </a:solidFill>
              </a:rPr>
              <a:t>충전량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85E238EE-D2C4-4FA8-97F6-74DD46DAD32B}"/>
              </a:ext>
            </a:extLst>
          </p:cNvPr>
          <p:cNvSpPr txBox="1"/>
          <p:nvPr/>
        </p:nvSpPr>
        <p:spPr>
          <a:xfrm>
            <a:off x="6223369" y="5469786"/>
            <a:ext cx="418353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ko-KR" altLang="en-US" sz="500" dirty="0" err="1">
                <a:solidFill>
                  <a:schemeClr val="bg1"/>
                </a:solidFill>
              </a:rPr>
              <a:t>방전량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8D8624A3-0380-4115-8F31-B66286344293}"/>
              </a:ext>
            </a:extLst>
          </p:cNvPr>
          <p:cNvSpPr txBox="1"/>
          <p:nvPr/>
        </p:nvSpPr>
        <p:spPr>
          <a:xfrm>
            <a:off x="6850640" y="5353201"/>
            <a:ext cx="54671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</a:rPr>
              <a:t>8.9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35C3B9BA-EB4B-472A-B0DE-F9B11C81D947}"/>
              </a:ext>
            </a:extLst>
          </p:cNvPr>
          <p:cNvSpPr txBox="1"/>
          <p:nvPr/>
        </p:nvSpPr>
        <p:spPr>
          <a:xfrm>
            <a:off x="6850640" y="5469786"/>
            <a:ext cx="54671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</a:rPr>
              <a:t>12.1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A679B29F-5EA2-4B20-9E50-BEF78E3EF73D}"/>
              </a:ext>
            </a:extLst>
          </p:cNvPr>
          <p:cNvSpPr txBox="1"/>
          <p:nvPr/>
        </p:nvSpPr>
        <p:spPr>
          <a:xfrm>
            <a:off x="7570720" y="5407818"/>
            <a:ext cx="418353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600" dirty="0">
                <a:solidFill>
                  <a:schemeClr val="bg1"/>
                </a:solidFill>
              </a:rPr>
              <a:t>64.9</a:t>
            </a:r>
            <a:endParaRPr lang="ko-KR" altLang="en-US" sz="600" dirty="0">
              <a:solidFill>
                <a:schemeClr val="bg1"/>
              </a:solidFill>
            </a:endParaRPr>
          </a:p>
        </p:txBody>
      </p:sp>
      <p:cxnSp>
        <p:nvCxnSpPr>
          <p:cNvPr id="56" name="직선 연결선 55">
            <a:extLst>
              <a:ext uri="{FF2B5EF4-FFF2-40B4-BE49-F238E27FC236}">
                <a16:creationId xmlns:a16="http://schemas.microsoft.com/office/drawing/2014/main" id="{5C7E8237-425A-4EF3-8136-480159CF65C9}"/>
              </a:ext>
            </a:extLst>
          </p:cNvPr>
          <p:cNvCxnSpPr>
            <a:cxnSpLocks/>
          </p:cNvCxnSpPr>
          <p:nvPr/>
        </p:nvCxnSpPr>
        <p:spPr>
          <a:xfrm>
            <a:off x="5993828" y="5771414"/>
            <a:ext cx="2160000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7" name="TextBox 56">
            <a:extLst>
              <a:ext uri="{FF2B5EF4-FFF2-40B4-BE49-F238E27FC236}">
                <a16:creationId xmlns:a16="http://schemas.microsoft.com/office/drawing/2014/main" id="{C9C0E030-096F-4EBF-813E-654213ACA5E8}"/>
              </a:ext>
            </a:extLst>
          </p:cNvPr>
          <p:cNvSpPr txBox="1"/>
          <p:nvPr/>
        </p:nvSpPr>
        <p:spPr>
          <a:xfrm>
            <a:off x="5932914" y="5623114"/>
            <a:ext cx="796888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500" dirty="0">
                <a:solidFill>
                  <a:schemeClr val="bg1"/>
                </a:solidFill>
              </a:rPr>
              <a:t>올해 충</a:t>
            </a:r>
            <a:r>
              <a:rPr lang="en-US" altLang="ko-KR" sz="500" dirty="0">
                <a:solidFill>
                  <a:schemeClr val="bg1"/>
                </a:solidFill>
              </a:rPr>
              <a:t>/</a:t>
            </a:r>
            <a:r>
              <a:rPr lang="ko-KR" altLang="en-US" sz="500" dirty="0" err="1">
                <a:solidFill>
                  <a:schemeClr val="bg1"/>
                </a:solidFill>
              </a:rPr>
              <a:t>방전량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75E5D116-D36F-4AB6-8470-DA0915EB7839}"/>
              </a:ext>
            </a:extLst>
          </p:cNvPr>
          <p:cNvSpPr txBox="1"/>
          <p:nvPr/>
        </p:nvSpPr>
        <p:spPr>
          <a:xfrm>
            <a:off x="6909993" y="5599210"/>
            <a:ext cx="37714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</a:rPr>
              <a:t>MWh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311B9D07-38CF-4D9B-9755-6E3D27381571}"/>
              </a:ext>
            </a:extLst>
          </p:cNvPr>
          <p:cNvSpPr txBox="1"/>
          <p:nvPr/>
        </p:nvSpPr>
        <p:spPr>
          <a:xfrm>
            <a:off x="7565891" y="5599210"/>
            <a:ext cx="37714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500" dirty="0">
                <a:solidFill>
                  <a:schemeClr val="bg1"/>
                </a:solidFill>
              </a:rPr>
              <a:t>수익</a:t>
            </a: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556CFE52-B960-4A1C-A8CB-257FCEA6EF60}"/>
              </a:ext>
            </a:extLst>
          </p:cNvPr>
          <p:cNvSpPr txBox="1"/>
          <p:nvPr/>
        </p:nvSpPr>
        <p:spPr>
          <a:xfrm>
            <a:off x="6197937" y="5771414"/>
            <a:ext cx="418353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ko-KR" altLang="en-US" sz="500">
                <a:solidFill>
                  <a:schemeClr val="bg1"/>
                </a:solidFill>
              </a:rPr>
              <a:t>충전량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62EB086C-5D28-4408-9F60-FC75C5053968}"/>
              </a:ext>
            </a:extLst>
          </p:cNvPr>
          <p:cNvSpPr txBox="1"/>
          <p:nvPr/>
        </p:nvSpPr>
        <p:spPr>
          <a:xfrm>
            <a:off x="6197937" y="5887999"/>
            <a:ext cx="418353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ko-KR" altLang="en-US" sz="500" dirty="0" err="1">
                <a:solidFill>
                  <a:schemeClr val="bg1"/>
                </a:solidFill>
              </a:rPr>
              <a:t>방전량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62" name="TextBox 61">
            <a:extLst>
              <a:ext uri="{FF2B5EF4-FFF2-40B4-BE49-F238E27FC236}">
                <a16:creationId xmlns:a16="http://schemas.microsoft.com/office/drawing/2014/main" id="{6C803406-F783-46EF-8E44-15822F411AAF}"/>
              </a:ext>
            </a:extLst>
          </p:cNvPr>
          <p:cNvSpPr txBox="1"/>
          <p:nvPr/>
        </p:nvSpPr>
        <p:spPr>
          <a:xfrm>
            <a:off x="6825208" y="5771414"/>
            <a:ext cx="54671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</a:rPr>
              <a:t>58.9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64" name="TextBox 63">
            <a:extLst>
              <a:ext uri="{FF2B5EF4-FFF2-40B4-BE49-F238E27FC236}">
                <a16:creationId xmlns:a16="http://schemas.microsoft.com/office/drawing/2014/main" id="{B39CE000-0E33-4113-B82A-5630408AAED9}"/>
              </a:ext>
            </a:extLst>
          </p:cNvPr>
          <p:cNvSpPr txBox="1"/>
          <p:nvPr/>
        </p:nvSpPr>
        <p:spPr>
          <a:xfrm>
            <a:off x="6825208" y="5887999"/>
            <a:ext cx="54671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</a:rPr>
              <a:t>192.1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65" name="TextBox 64">
            <a:extLst>
              <a:ext uri="{FF2B5EF4-FFF2-40B4-BE49-F238E27FC236}">
                <a16:creationId xmlns:a16="http://schemas.microsoft.com/office/drawing/2014/main" id="{0A450997-DD2A-4200-8178-39E54C53EBD8}"/>
              </a:ext>
            </a:extLst>
          </p:cNvPr>
          <p:cNvSpPr txBox="1"/>
          <p:nvPr/>
        </p:nvSpPr>
        <p:spPr>
          <a:xfrm>
            <a:off x="7545288" y="5825376"/>
            <a:ext cx="418353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600" dirty="0">
                <a:solidFill>
                  <a:schemeClr val="bg1"/>
                </a:solidFill>
              </a:rPr>
              <a:t>464.9</a:t>
            </a:r>
            <a:endParaRPr lang="ko-KR" altLang="en-US" sz="600" dirty="0">
              <a:solidFill>
                <a:schemeClr val="bg1"/>
              </a:solidFill>
            </a:endParaRPr>
          </a:p>
        </p:txBody>
      </p:sp>
      <p:grpSp>
        <p:nvGrpSpPr>
          <p:cNvPr id="66" name="그룹 65">
            <a:extLst>
              <a:ext uri="{FF2B5EF4-FFF2-40B4-BE49-F238E27FC236}">
                <a16:creationId xmlns:a16="http://schemas.microsoft.com/office/drawing/2014/main" id="{D9722A13-A4B1-4617-9D54-602D2721332A}"/>
              </a:ext>
            </a:extLst>
          </p:cNvPr>
          <p:cNvGrpSpPr/>
          <p:nvPr/>
        </p:nvGrpSpPr>
        <p:grpSpPr>
          <a:xfrm>
            <a:off x="4776098" y="3649023"/>
            <a:ext cx="500020" cy="169277"/>
            <a:chOff x="5008084" y="3585093"/>
            <a:chExt cx="500020" cy="169277"/>
          </a:xfrm>
        </p:grpSpPr>
        <p:cxnSp>
          <p:nvCxnSpPr>
            <p:cNvPr id="67" name="직선 연결선 66">
              <a:extLst>
                <a:ext uri="{FF2B5EF4-FFF2-40B4-BE49-F238E27FC236}">
                  <a16:creationId xmlns:a16="http://schemas.microsoft.com/office/drawing/2014/main" id="{76366D38-5D29-4527-BB0E-4A4C7B8DC6D2}"/>
                </a:ext>
              </a:extLst>
            </p:cNvPr>
            <p:cNvCxnSpPr>
              <a:cxnSpLocks/>
            </p:cNvCxnSpPr>
            <p:nvPr/>
          </p:nvCxnSpPr>
          <p:spPr>
            <a:xfrm>
              <a:off x="5008084" y="3669731"/>
              <a:ext cx="108000" cy="0"/>
            </a:xfrm>
            <a:prstGeom prst="line">
              <a:avLst/>
            </a:prstGeom>
            <a:ln w="9525">
              <a:solidFill>
                <a:schemeClr val="accent6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8" name="직사각형 67">
              <a:extLst>
                <a:ext uri="{FF2B5EF4-FFF2-40B4-BE49-F238E27FC236}">
                  <a16:creationId xmlns:a16="http://schemas.microsoft.com/office/drawing/2014/main" id="{3CE4766C-F022-4575-BB7F-973E55D09148}"/>
                </a:ext>
              </a:extLst>
            </p:cNvPr>
            <p:cNvSpPr/>
            <p:nvPr/>
          </p:nvSpPr>
          <p:spPr>
            <a:xfrm>
              <a:off x="5044076" y="3585093"/>
              <a:ext cx="46402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500" dirty="0">
                  <a:solidFill>
                    <a:schemeClr val="bg1"/>
                  </a:solidFill>
                </a:rPr>
                <a:t>현재 부하</a:t>
              </a:r>
            </a:p>
          </p:txBody>
        </p:sp>
      </p:grpSp>
      <p:grpSp>
        <p:nvGrpSpPr>
          <p:cNvPr id="69" name="그룹 68">
            <a:extLst>
              <a:ext uri="{FF2B5EF4-FFF2-40B4-BE49-F238E27FC236}">
                <a16:creationId xmlns:a16="http://schemas.microsoft.com/office/drawing/2014/main" id="{0A5F81EA-7FE9-4E95-BF52-593499F4F836}"/>
              </a:ext>
            </a:extLst>
          </p:cNvPr>
          <p:cNvGrpSpPr/>
          <p:nvPr/>
        </p:nvGrpSpPr>
        <p:grpSpPr>
          <a:xfrm>
            <a:off x="5241125" y="3649023"/>
            <a:ext cx="500021" cy="169277"/>
            <a:chOff x="5440131" y="3585093"/>
            <a:chExt cx="500021" cy="169277"/>
          </a:xfrm>
        </p:grpSpPr>
        <p:cxnSp>
          <p:nvCxnSpPr>
            <p:cNvPr id="70" name="직선 연결선 69">
              <a:extLst>
                <a:ext uri="{FF2B5EF4-FFF2-40B4-BE49-F238E27FC236}">
                  <a16:creationId xmlns:a16="http://schemas.microsoft.com/office/drawing/2014/main" id="{9E588985-1351-45CB-9AE0-F741CC73E51B}"/>
                </a:ext>
              </a:extLst>
            </p:cNvPr>
            <p:cNvCxnSpPr>
              <a:cxnSpLocks/>
            </p:cNvCxnSpPr>
            <p:nvPr/>
          </p:nvCxnSpPr>
          <p:spPr>
            <a:xfrm>
              <a:off x="5440131" y="3669731"/>
              <a:ext cx="108000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1" name="직사각형 70">
              <a:extLst>
                <a:ext uri="{FF2B5EF4-FFF2-40B4-BE49-F238E27FC236}">
                  <a16:creationId xmlns:a16="http://schemas.microsoft.com/office/drawing/2014/main" id="{0D2AB4E7-3F4F-4E76-A807-71772FD0A249}"/>
                </a:ext>
              </a:extLst>
            </p:cNvPr>
            <p:cNvSpPr/>
            <p:nvPr/>
          </p:nvSpPr>
          <p:spPr>
            <a:xfrm>
              <a:off x="5476123" y="3585093"/>
              <a:ext cx="46402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500" dirty="0">
                  <a:solidFill>
                    <a:schemeClr val="bg1"/>
                  </a:solidFill>
                </a:rPr>
                <a:t>예측 부하</a:t>
              </a:r>
            </a:p>
          </p:txBody>
        </p:sp>
      </p:grpSp>
      <p:grpSp>
        <p:nvGrpSpPr>
          <p:cNvPr id="72" name="그룹 71">
            <a:extLst>
              <a:ext uri="{FF2B5EF4-FFF2-40B4-BE49-F238E27FC236}">
                <a16:creationId xmlns:a16="http://schemas.microsoft.com/office/drawing/2014/main" id="{F56E2950-38B1-438D-BAA1-04624DFF24DA}"/>
              </a:ext>
            </a:extLst>
          </p:cNvPr>
          <p:cNvGrpSpPr/>
          <p:nvPr/>
        </p:nvGrpSpPr>
        <p:grpSpPr>
          <a:xfrm>
            <a:off x="3566480" y="3649023"/>
            <a:ext cx="652770" cy="169277"/>
            <a:chOff x="3318237" y="3585093"/>
            <a:chExt cx="652770" cy="169277"/>
          </a:xfrm>
        </p:grpSpPr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14B6B880-5052-4663-BFD4-A0AB7D76CA44}"/>
                </a:ext>
              </a:extLst>
            </p:cNvPr>
            <p:cNvCxnSpPr>
              <a:cxnSpLocks/>
            </p:cNvCxnSpPr>
            <p:nvPr/>
          </p:nvCxnSpPr>
          <p:spPr>
            <a:xfrm>
              <a:off x="3318237" y="3669731"/>
              <a:ext cx="108000" cy="0"/>
            </a:xfrm>
            <a:prstGeom prst="line">
              <a:avLst/>
            </a:prstGeom>
            <a:ln/>
          </p:spPr>
          <p:style>
            <a:lnRef idx="1">
              <a:schemeClr val="accent2"/>
            </a:lnRef>
            <a:fillRef idx="0">
              <a:schemeClr val="accent2"/>
            </a:fillRef>
            <a:effectRef idx="0">
              <a:schemeClr val="accent2"/>
            </a:effectRef>
            <a:fontRef idx="minor">
              <a:schemeClr val="tx1"/>
            </a:fontRef>
          </p:style>
        </p:cxnSp>
        <p:sp>
          <p:nvSpPr>
            <p:cNvPr id="74" name="직사각형 73">
              <a:extLst>
                <a:ext uri="{FF2B5EF4-FFF2-40B4-BE49-F238E27FC236}">
                  <a16:creationId xmlns:a16="http://schemas.microsoft.com/office/drawing/2014/main" id="{2659B74B-18FF-46A4-9B90-4E6D52110A45}"/>
                </a:ext>
              </a:extLst>
            </p:cNvPr>
            <p:cNvSpPr/>
            <p:nvPr/>
          </p:nvSpPr>
          <p:spPr>
            <a:xfrm>
              <a:off x="3368549" y="3585093"/>
              <a:ext cx="60245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500" dirty="0">
                  <a:solidFill>
                    <a:schemeClr val="bg1"/>
                  </a:solidFill>
                </a:rPr>
                <a:t>한전계약 전력</a:t>
              </a:r>
            </a:p>
          </p:txBody>
        </p:sp>
      </p:grpSp>
      <p:grpSp>
        <p:nvGrpSpPr>
          <p:cNvPr id="75" name="그룹 74">
            <a:extLst>
              <a:ext uri="{FF2B5EF4-FFF2-40B4-BE49-F238E27FC236}">
                <a16:creationId xmlns:a16="http://schemas.microsoft.com/office/drawing/2014/main" id="{AEC771C3-7933-4C29-B717-583CCFD95618}"/>
              </a:ext>
            </a:extLst>
          </p:cNvPr>
          <p:cNvGrpSpPr/>
          <p:nvPr/>
        </p:nvGrpSpPr>
        <p:grpSpPr>
          <a:xfrm>
            <a:off x="4184256" y="3649023"/>
            <a:ext cx="626762" cy="169277"/>
            <a:chOff x="3908621" y="3585093"/>
            <a:chExt cx="626762" cy="169277"/>
          </a:xfrm>
        </p:grpSpPr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76243E0E-EDEE-4D80-8422-C1BC68C21736}"/>
                </a:ext>
              </a:extLst>
            </p:cNvPr>
            <p:cNvCxnSpPr>
              <a:cxnSpLocks/>
            </p:cNvCxnSpPr>
            <p:nvPr/>
          </p:nvCxnSpPr>
          <p:spPr>
            <a:xfrm>
              <a:off x="3908621" y="3669731"/>
              <a:ext cx="108000" cy="0"/>
            </a:xfrm>
            <a:prstGeom prst="line">
              <a:avLst/>
            </a:prstGeom>
            <a:ln>
              <a:solidFill>
                <a:schemeClr val="accent3">
                  <a:lumMod val="75000"/>
                </a:schemeClr>
              </a:solidFill>
            </a:ln>
          </p:spPr>
          <p:style>
            <a:lnRef idx="1">
              <a:schemeClr val="accent2"/>
            </a:lnRef>
            <a:fillRef idx="0">
              <a:schemeClr val="accent2"/>
            </a:fillRef>
            <a:effectRef idx="0">
              <a:schemeClr val="accent2"/>
            </a:effectRef>
            <a:fontRef idx="minor">
              <a:schemeClr val="tx1"/>
            </a:fontRef>
          </p:style>
        </p:cxnSp>
        <p:sp>
          <p:nvSpPr>
            <p:cNvPr id="77" name="직사각형 76">
              <a:extLst>
                <a:ext uri="{FF2B5EF4-FFF2-40B4-BE49-F238E27FC236}">
                  <a16:creationId xmlns:a16="http://schemas.microsoft.com/office/drawing/2014/main" id="{233CE7E7-072F-44A5-BA00-51374EC344F2}"/>
                </a:ext>
              </a:extLst>
            </p:cNvPr>
            <p:cNvSpPr/>
            <p:nvPr/>
          </p:nvSpPr>
          <p:spPr>
            <a:xfrm>
              <a:off x="3944613" y="3585093"/>
              <a:ext cx="59077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500" dirty="0">
                  <a:solidFill>
                    <a:schemeClr val="bg1"/>
                  </a:solidFill>
                </a:rPr>
                <a:t>요금적용 전력</a:t>
              </a:r>
            </a:p>
          </p:txBody>
        </p:sp>
      </p:grpSp>
      <p:grpSp>
        <p:nvGrpSpPr>
          <p:cNvPr id="81" name="그룹 80">
            <a:extLst>
              <a:ext uri="{FF2B5EF4-FFF2-40B4-BE49-F238E27FC236}">
                <a16:creationId xmlns:a16="http://schemas.microsoft.com/office/drawing/2014/main" id="{FCECF29E-11A7-4CFF-B7F6-E48B982D6773}"/>
              </a:ext>
            </a:extLst>
          </p:cNvPr>
          <p:cNvGrpSpPr/>
          <p:nvPr/>
        </p:nvGrpSpPr>
        <p:grpSpPr>
          <a:xfrm>
            <a:off x="273944" y="1885169"/>
            <a:ext cx="1926022" cy="721431"/>
            <a:chOff x="5692418" y="1753651"/>
            <a:chExt cx="3074464" cy="721431"/>
          </a:xfrm>
        </p:grpSpPr>
        <p:sp>
          <p:nvSpPr>
            <p:cNvPr id="88" name="직사각형 87">
              <a:extLst>
                <a:ext uri="{FF2B5EF4-FFF2-40B4-BE49-F238E27FC236}">
                  <a16:creationId xmlns:a16="http://schemas.microsoft.com/office/drawing/2014/main" id="{1F70B0EC-ED9B-4C48-95BA-0269C3184AE5}"/>
                </a:ext>
              </a:extLst>
            </p:cNvPr>
            <p:cNvSpPr/>
            <p:nvPr/>
          </p:nvSpPr>
          <p:spPr>
            <a:xfrm>
              <a:off x="5822353" y="2045047"/>
              <a:ext cx="2880000" cy="72008"/>
            </a:xfrm>
            <a:prstGeom prst="rect">
              <a:avLst/>
            </a:prstGeom>
            <a:solidFill>
              <a:schemeClr val="accent5">
                <a:lumMod val="75000"/>
              </a:schemeClr>
            </a:solidFill>
            <a:ln w="6350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9" name="직사각형 88">
              <a:extLst>
                <a:ext uri="{FF2B5EF4-FFF2-40B4-BE49-F238E27FC236}">
                  <a16:creationId xmlns:a16="http://schemas.microsoft.com/office/drawing/2014/main" id="{95C62959-6F22-43B6-89F3-4E9015B44329}"/>
                </a:ext>
              </a:extLst>
            </p:cNvPr>
            <p:cNvSpPr/>
            <p:nvPr/>
          </p:nvSpPr>
          <p:spPr>
            <a:xfrm>
              <a:off x="5822353" y="2403074"/>
              <a:ext cx="2880000" cy="72008"/>
            </a:xfrm>
            <a:prstGeom prst="rect">
              <a:avLst/>
            </a:prstGeom>
            <a:solidFill>
              <a:schemeClr val="accent6">
                <a:lumMod val="75000"/>
              </a:schemeClr>
            </a:solidFill>
            <a:ln w="6350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9E76E181-5B9A-4616-8EFE-026D8DB5FFBA}"/>
                </a:ext>
              </a:extLst>
            </p:cNvPr>
            <p:cNvSpPr txBox="1"/>
            <p:nvPr/>
          </p:nvSpPr>
          <p:spPr>
            <a:xfrm>
              <a:off x="5692418" y="1843641"/>
              <a:ext cx="1124403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700" b="1" dirty="0">
                  <a:solidFill>
                    <a:schemeClr val="accent5">
                      <a:lumMod val="7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오늘</a:t>
              </a:r>
              <a:r>
                <a:rPr lang="en-US" altLang="ko-KR" sz="700" b="1" dirty="0">
                  <a:solidFill>
                    <a:schemeClr val="accent5">
                      <a:lumMod val="7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ko-KR" altLang="en-US" sz="700" b="1" dirty="0" err="1">
                  <a:solidFill>
                    <a:schemeClr val="accent5">
                      <a:lumMod val="7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충전량</a:t>
              </a:r>
              <a:endParaRPr lang="ko-KR" altLang="en-US" sz="700" b="1" dirty="0">
                <a:solidFill>
                  <a:schemeClr val="accent5">
                    <a:lumMod val="7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91" name="TextBox 90">
              <a:extLst>
                <a:ext uri="{FF2B5EF4-FFF2-40B4-BE49-F238E27FC236}">
                  <a16:creationId xmlns:a16="http://schemas.microsoft.com/office/drawing/2014/main" id="{E9F72634-2345-4BAD-9F25-F98752418607}"/>
                </a:ext>
              </a:extLst>
            </p:cNvPr>
            <p:cNvSpPr txBox="1"/>
            <p:nvPr/>
          </p:nvSpPr>
          <p:spPr>
            <a:xfrm>
              <a:off x="5692418" y="2201668"/>
              <a:ext cx="1134900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700" b="1" dirty="0">
                  <a:solidFill>
                    <a:schemeClr val="accent6">
                      <a:lumMod val="7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오늘</a:t>
              </a:r>
              <a:r>
                <a:rPr lang="en-US" altLang="ko-KR" sz="700" b="1" dirty="0">
                  <a:solidFill>
                    <a:schemeClr val="accent6">
                      <a:lumMod val="7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ko-KR" altLang="en-US" sz="700" b="1" dirty="0" err="1">
                  <a:solidFill>
                    <a:schemeClr val="accent6">
                      <a:lumMod val="7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방전량</a:t>
              </a:r>
              <a:endParaRPr lang="ko-KR" altLang="en-US" sz="700" b="1" dirty="0">
                <a:solidFill>
                  <a:schemeClr val="accent6">
                    <a:lumMod val="7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92" name="TextBox 91">
              <a:extLst>
                <a:ext uri="{FF2B5EF4-FFF2-40B4-BE49-F238E27FC236}">
                  <a16:creationId xmlns:a16="http://schemas.microsoft.com/office/drawing/2014/main" id="{4F0ED4C4-CFF4-4B73-850B-2038B3BB0C3A}"/>
                </a:ext>
              </a:extLst>
            </p:cNvPr>
            <p:cNvSpPr txBox="1"/>
            <p:nvPr/>
          </p:nvSpPr>
          <p:spPr>
            <a:xfrm>
              <a:off x="7270746" y="1753651"/>
              <a:ext cx="1496136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1,350.5</a:t>
              </a:r>
              <a:r>
                <a:rPr lang="en-US" altLang="ko-KR" sz="7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en-US" altLang="ko-KR" sz="700" b="1" dirty="0">
                  <a:solidFill>
                    <a:schemeClr val="accent5">
                      <a:lumMod val="7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kWh</a:t>
              </a:r>
              <a:endParaRPr lang="ko-KR" altLang="en-US" sz="800" b="1" dirty="0">
                <a:solidFill>
                  <a:schemeClr val="accent5">
                    <a:lumMod val="7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5BF30399-D7FF-44D9-8A80-7FD89F421F2F}"/>
                </a:ext>
              </a:extLst>
            </p:cNvPr>
            <p:cNvSpPr txBox="1"/>
            <p:nvPr/>
          </p:nvSpPr>
          <p:spPr>
            <a:xfrm>
              <a:off x="7419971" y="2115095"/>
              <a:ext cx="1346908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850.5</a:t>
              </a:r>
              <a:r>
                <a:rPr lang="en-US" altLang="ko-KR" sz="7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en-US" altLang="ko-KR" sz="700" b="1" dirty="0">
                  <a:solidFill>
                    <a:schemeClr val="accent6">
                      <a:lumMod val="7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kWh</a:t>
              </a:r>
              <a:endParaRPr lang="ko-KR" altLang="en-US" sz="800" b="1" dirty="0">
                <a:solidFill>
                  <a:schemeClr val="accent6">
                    <a:lumMod val="7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82" name="그룹 81">
            <a:extLst>
              <a:ext uri="{FF2B5EF4-FFF2-40B4-BE49-F238E27FC236}">
                <a16:creationId xmlns:a16="http://schemas.microsoft.com/office/drawing/2014/main" id="{168559AE-A8E5-4041-A997-3C2B894837ED}"/>
              </a:ext>
            </a:extLst>
          </p:cNvPr>
          <p:cNvGrpSpPr/>
          <p:nvPr/>
        </p:nvGrpSpPr>
        <p:grpSpPr>
          <a:xfrm>
            <a:off x="2219815" y="2011492"/>
            <a:ext cx="582819" cy="762997"/>
            <a:chOff x="8066098" y="1891729"/>
            <a:chExt cx="639759" cy="762997"/>
          </a:xfrm>
        </p:grpSpPr>
        <p:pic>
          <p:nvPicPr>
            <p:cNvPr id="85" name="Picture 6" descr="batteryì ëí ì´ë¯¸ì§ ê²ìê²°ê³¼">
              <a:extLst>
                <a:ext uri="{FF2B5EF4-FFF2-40B4-BE49-F238E27FC236}">
                  <a16:creationId xmlns:a16="http://schemas.microsoft.com/office/drawing/2014/main" id="{4B5514D0-D7FF-48C4-A980-B69C5FF9A89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104661" y="2092093"/>
              <a:ext cx="562633" cy="56263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DE241CF2-1630-4E28-AFB0-D875E7DCDED3}"/>
                </a:ext>
              </a:extLst>
            </p:cNvPr>
            <p:cNvSpPr txBox="1"/>
            <p:nvPr/>
          </p:nvSpPr>
          <p:spPr>
            <a:xfrm>
              <a:off x="8087885" y="1891729"/>
              <a:ext cx="59618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accent5">
                      <a:lumMod val="7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SOC(</a:t>
              </a:r>
              <a:r>
                <a:rPr lang="ko-KR" altLang="en-US" sz="600" b="1" dirty="0">
                  <a:solidFill>
                    <a:schemeClr val="accent5">
                      <a:lumMod val="7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잔량</a:t>
              </a:r>
              <a:r>
                <a:rPr lang="en-US" altLang="ko-KR" sz="600" b="1" dirty="0">
                  <a:solidFill>
                    <a:schemeClr val="accent5">
                      <a:lumMod val="7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)</a:t>
              </a:r>
              <a:endParaRPr lang="ko-KR" altLang="en-US" sz="600" b="1" dirty="0">
                <a:solidFill>
                  <a:schemeClr val="accent5">
                    <a:lumMod val="7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5B0F6A88-E8E0-4CA7-851C-FE4F62A6FBAE}"/>
                </a:ext>
              </a:extLst>
            </p:cNvPr>
            <p:cNvSpPr txBox="1"/>
            <p:nvPr/>
          </p:nvSpPr>
          <p:spPr>
            <a:xfrm>
              <a:off x="8066098" y="2016579"/>
              <a:ext cx="639759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1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85.5</a:t>
              </a:r>
              <a:r>
                <a:rPr lang="en-US" altLang="ko-KR" sz="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en-US" altLang="ko-KR" sz="700" b="1" dirty="0">
                  <a:solidFill>
                    <a:schemeClr val="accent5">
                      <a:lumMod val="7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%</a:t>
              </a:r>
              <a:endParaRPr lang="ko-KR" altLang="en-US" sz="700" b="1" dirty="0">
                <a:solidFill>
                  <a:schemeClr val="accent5">
                    <a:lumMod val="7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29BE7225-41AF-42CC-A0FE-0F821D41799C}"/>
              </a:ext>
            </a:extLst>
          </p:cNvPr>
          <p:cNvSpPr/>
          <p:nvPr/>
        </p:nvSpPr>
        <p:spPr>
          <a:xfrm>
            <a:off x="1800320" y="2174451"/>
            <a:ext cx="360000" cy="6840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4" name="직사각형 83">
            <a:extLst>
              <a:ext uri="{FF2B5EF4-FFF2-40B4-BE49-F238E27FC236}">
                <a16:creationId xmlns:a16="http://schemas.microsoft.com/office/drawing/2014/main" id="{1503B530-C9B9-4E10-89F3-45CE8A0602A7}"/>
              </a:ext>
            </a:extLst>
          </p:cNvPr>
          <p:cNvSpPr/>
          <p:nvPr/>
        </p:nvSpPr>
        <p:spPr>
          <a:xfrm>
            <a:off x="1621313" y="2536023"/>
            <a:ext cx="540000" cy="6840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94" name="직선 연결선 93">
            <a:extLst>
              <a:ext uri="{FF2B5EF4-FFF2-40B4-BE49-F238E27FC236}">
                <a16:creationId xmlns:a16="http://schemas.microsoft.com/office/drawing/2014/main" id="{9F340A0B-4856-4005-86F6-B3076CBA8CE3}"/>
              </a:ext>
            </a:extLst>
          </p:cNvPr>
          <p:cNvCxnSpPr>
            <a:cxnSpLocks/>
          </p:cNvCxnSpPr>
          <p:nvPr/>
        </p:nvCxnSpPr>
        <p:spPr>
          <a:xfrm>
            <a:off x="2938810" y="1887730"/>
            <a:ext cx="0" cy="4140000"/>
          </a:xfrm>
          <a:prstGeom prst="line">
            <a:avLst/>
          </a:prstGeom>
          <a:ln w="3175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85492D68-2FC4-4CB4-A595-6621D5FE8DDC}"/>
              </a:ext>
            </a:extLst>
          </p:cNvPr>
          <p:cNvSpPr/>
          <p:nvPr/>
        </p:nvSpPr>
        <p:spPr>
          <a:xfrm>
            <a:off x="5810955" y="1802597"/>
            <a:ext cx="1820532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수익 현황</a:t>
            </a:r>
          </a:p>
        </p:txBody>
      </p:sp>
      <p:graphicFrame>
        <p:nvGraphicFramePr>
          <p:cNvPr id="96" name="표 95">
            <a:extLst>
              <a:ext uri="{FF2B5EF4-FFF2-40B4-BE49-F238E27FC236}">
                <a16:creationId xmlns:a16="http://schemas.microsoft.com/office/drawing/2014/main" id="{47E5037A-FFD1-446C-BD26-D58DACF2998E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5849513" y="1985340"/>
          <a:ext cx="2295059" cy="10058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253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221454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14727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/>
                        <a:t>kW</a:t>
                      </a:r>
                      <a:endParaRPr lang="ko-KR" altLang="en-US" sz="6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4727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500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4727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400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4727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300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4727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200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781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100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7818"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01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02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03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04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05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06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07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08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09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10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11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12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grpSp>
        <p:nvGrpSpPr>
          <p:cNvPr id="97" name="그룹 96">
            <a:extLst>
              <a:ext uri="{FF2B5EF4-FFF2-40B4-BE49-F238E27FC236}">
                <a16:creationId xmlns:a16="http://schemas.microsoft.com/office/drawing/2014/main" id="{302B5A77-0813-4FBC-9FB0-C62C56BB230E}"/>
              </a:ext>
            </a:extLst>
          </p:cNvPr>
          <p:cNvGrpSpPr/>
          <p:nvPr/>
        </p:nvGrpSpPr>
        <p:grpSpPr>
          <a:xfrm>
            <a:off x="6127556" y="2541597"/>
            <a:ext cx="114467" cy="310233"/>
            <a:chOff x="1234728" y="4790879"/>
            <a:chExt cx="144016" cy="310233"/>
          </a:xfrm>
        </p:grpSpPr>
        <p:sp>
          <p:nvSpPr>
            <p:cNvPr id="98" name="직사각형 97">
              <a:extLst>
                <a:ext uri="{FF2B5EF4-FFF2-40B4-BE49-F238E27FC236}">
                  <a16:creationId xmlns:a16="http://schemas.microsoft.com/office/drawing/2014/main" id="{EDD4EEEF-7461-4E90-949E-1A1571E16BB1}"/>
                </a:ext>
              </a:extLst>
            </p:cNvPr>
            <p:cNvSpPr/>
            <p:nvPr/>
          </p:nvSpPr>
          <p:spPr>
            <a:xfrm>
              <a:off x="1234728" y="4836597"/>
              <a:ext cx="144016" cy="264515"/>
            </a:xfrm>
            <a:prstGeom prst="rect">
              <a:avLst/>
            </a:prstGeom>
            <a:solidFill>
              <a:srgbClr val="FFC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99" name="직사각형 98">
              <a:extLst>
                <a:ext uri="{FF2B5EF4-FFF2-40B4-BE49-F238E27FC236}">
                  <a16:creationId xmlns:a16="http://schemas.microsoft.com/office/drawing/2014/main" id="{57664B3A-8427-494A-A382-067A9049F1A5}"/>
                </a:ext>
              </a:extLst>
            </p:cNvPr>
            <p:cNvSpPr/>
            <p:nvPr/>
          </p:nvSpPr>
          <p:spPr>
            <a:xfrm>
              <a:off x="1234728" y="4790879"/>
              <a:ext cx="144016" cy="175215"/>
            </a:xfrm>
            <a:prstGeom prst="rect">
              <a:avLst/>
            </a:prstGeom>
            <a:solidFill>
              <a:schemeClr val="tx2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ABD8DBEB-FCFB-4A9E-9E76-898DF67CD146}"/>
              </a:ext>
            </a:extLst>
          </p:cNvPr>
          <p:cNvSpPr/>
          <p:nvPr/>
        </p:nvSpPr>
        <p:spPr>
          <a:xfrm>
            <a:off x="6295753" y="2515389"/>
            <a:ext cx="115200" cy="336441"/>
          </a:xfrm>
          <a:prstGeom prst="rect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grpSp>
        <p:nvGrpSpPr>
          <p:cNvPr id="101" name="그룹 100">
            <a:extLst>
              <a:ext uri="{FF2B5EF4-FFF2-40B4-BE49-F238E27FC236}">
                <a16:creationId xmlns:a16="http://schemas.microsoft.com/office/drawing/2014/main" id="{0207C4C3-F123-4D15-991E-9B817D38581F}"/>
              </a:ext>
            </a:extLst>
          </p:cNvPr>
          <p:cNvGrpSpPr/>
          <p:nvPr/>
        </p:nvGrpSpPr>
        <p:grpSpPr>
          <a:xfrm>
            <a:off x="6463950" y="2585693"/>
            <a:ext cx="114467" cy="266137"/>
            <a:chOff x="1907704" y="3275281"/>
            <a:chExt cx="288032" cy="535432"/>
          </a:xfrm>
        </p:grpSpPr>
        <p:sp>
          <p:nvSpPr>
            <p:cNvPr id="103" name="직사각형 102">
              <a:extLst>
                <a:ext uri="{FF2B5EF4-FFF2-40B4-BE49-F238E27FC236}">
                  <a16:creationId xmlns:a16="http://schemas.microsoft.com/office/drawing/2014/main" id="{66A33D6C-E258-4AB8-AD5D-72F68762BB7E}"/>
                </a:ext>
              </a:extLst>
            </p:cNvPr>
            <p:cNvSpPr/>
            <p:nvPr/>
          </p:nvSpPr>
          <p:spPr>
            <a:xfrm>
              <a:off x="1907704" y="3321001"/>
              <a:ext cx="288032" cy="489712"/>
            </a:xfrm>
            <a:prstGeom prst="rect">
              <a:avLst/>
            </a:prstGeom>
            <a:solidFill>
              <a:srgbClr val="FFC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104" name="직사각형 103">
              <a:extLst>
                <a:ext uri="{FF2B5EF4-FFF2-40B4-BE49-F238E27FC236}">
                  <a16:creationId xmlns:a16="http://schemas.microsoft.com/office/drawing/2014/main" id="{390AC3DE-B918-4734-8680-8A7CC843E6A3}"/>
                </a:ext>
              </a:extLst>
            </p:cNvPr>
            <p:cNvSpPr/>
            <p:nvPr/>
          </p:nvSpPr>
          <p:spPr>
            <a:xfrm>
              <a:off x="1907704" y="3275281"/>
              <a:ext cx="288032" cy="289487"/>
            </a:xfrm>
            <a:prstGeom prst="rect">
              <a:avLst/>
            </a:prstGeom>
            <a:solidFill>
              <a:schemeClr val="tx2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sp>
        <p:nvSpPr>
          <p:cNvPr id="105" name="직사각형 104">
            <a:extLst>
              <a:ext uri="{FF2B5EF4-FFF2-40B4-BE49-F238E27FC236}">
                <a16:creationId xmlns:a16="http://schemas.microsoft.com/office/drawing/2014/main" id="{EDDCF0FF-12B0-4CE9-9086-CEE4DF9DB870}"/>
              </a:ext>
            </a:extLst>
          </p:cNvPr>
          <p:cNvSpPr/>
          <p:nvPr/>
        </p:nvSpPr>
        <p:spPr>
          <a:xfrm>
            <a:off x="6593218" y="2707940"/>
            <a:ext cx="114467" cy="143890"/>
          </a:xfrm>
          <a:prstGeom prst="rect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graphicFrame>
        <p:nvGraphicFramePr>
          <p:cNvPr id="106" name="표 105">
            <a:extLst>
              <a:ext uri="{FF2B5EF4-FFF2-40B4-BE49-F238E27FC236}">
                <a16:creationId xmlns:a16="http://schemas.microsoft.com/office/drawing/2014/main" id="{AECF42C3-9927-4567-83AD-65A5BAE81280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291742" y="3055006"/>
          <a:ext cx="2547265" cy="150563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579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19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20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21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22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23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24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25"/>
                    </a:ext>
                  </a:extLst>
                </a:gridCol>
              </a:tblGrid>
              <a:tr h="1574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/>
                        <a:t>kWh</a:t>
                      </a:r>
                      <a:endParaRPr lang="ko-KR" altLang="en-US" sz="6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574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2000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57410"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57410"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574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1000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57410"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574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500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57410"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574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88949"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00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01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02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03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04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05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06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07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08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09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10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11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12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13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14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15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16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17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18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19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20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21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22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23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24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grpSp>
        <p:nvGrpSpPr>
          <p:cNvPr id="107" name="그룹 106">
            <a:extLst>
              <a:ext uri="{FF2B5EF4-FFF2-40B4-BE49-F238E27FC236}">
                <a16:creationId xmlns:a16="http://schemas.microsoft.com/office/drawing/2014/main" id="{0C4EF8B6-D6E2-42B1-909B-5808D638D80C}"/>
              </a:ext>
            </a:extLst>
          </p:cNvPr>
          <p:cNvGrpSpPr/>
          <p:nvPr/>
        </p:nvGrpSpPr>
        <p:grpSpPr>
          <a:xfrm>
            <a:off x="574906" y="3980766"/>
            <a:ext cx="1526152" cy="367021"/>
            <a:chOff x="1354667" y="3680460"/>
            <a:chExt cx="4732866" cy="586740"/>
          </a:xfrm>
        </p:grpSpPr>
        <p:sp>
          <p:nvSpPr>
            <p:cNvPr id="108" name="자유형 5">
              <a:extLst>
                <a:ext uri="{FF2B5EF4-FFF2-40B4-BE49-F238E27FC236}">
                  <a16:creationId xmlns:a16="http://schemas.microsoft.com/office/drawing/2014/main" id="{298F7A9C-ACD2-40BA-87FC-AFE06A6AF2DB}"/>
                </a:ext>
              </a:extLst>
            </p:cNvPr>
            <p:cNvSpPr/>
            <p:nvPr/>
          </p:nvSpPr>
          <p:spPr>
            <a:xfrm>
              <a:off x="2286000" y="3680460"/>
              <a:ext cx="1733550" cy="453390"/>
            </a:xfrm>
            <a:custGeom>
              <a:avLst/>
              <a:gdLst>
                <a:gd name="connsiteX0" fmla="*/ 0 w 1733550"/>
                <a:gd name="connsiteY0" fmla="*/ 171450 h 453390"/>
                <a:gd name="connsiteX1" fmla="*/ 582930 w 1733550"/>
                <a:gd name="connsiteY1" fmla="*/ 430530 h 453390"/>
                <a:gd name="connsiteX2" fmla="*/ 864870 w 1733550"/>
                <a:gd name="connsiteY2" fmla="*/ 453390 h 453390"/>
                <a:gd name="connsiteX3" fmla="*/ 1165860 w 1733550"/>
                <a:gd name="connsiteY3" fmla="*/ 419100 h 453390"/>
                <a:gd name="connsiteX4" fmla="*/ 1482090 w 1733550"/>
                <a:gd name="connsiteY4" fmla="*/ 106680 h 453390"/>
                <a:gd name="connsiteX5" fmla="*/ 1733550 w 1733550"/>
                <a:gd name="connsiteY5" fmla="*/ 0 h 453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33550" h="453390">
                  <a:moveTo>
                    <a:pt x="0" y="171450"/>
                  </a:moveTo>
                  <a:lnTo>
                    <a:pt x="582930" y="430530"/>
                  </a:lnTo>
                  <a:lnTo>
                    <a:pt x="864870" y="453390"/>
                  </a:lnTo>
                  <a:lnTo>
                    <a:pt x="1165860" y="419100"/>
                  </a:lnTo>
                  <a:lnTo>
                    <a:pt x="1482090" y="106680"/>
                  </a:lnTo>
                  <a:lnTo>
                    <a:pt x="1733550" y="0"/>
                  </a:lnTo>
                </a:path>
              </a:pathLst>
            </a:custGeom>
            <a:solidFill>
              <a:schemeClr val="accent3">
                <a:lumMod val="40000"/>
                <a:lumOff val="60000"/>
              </a:schemeClr>
            </a:solidFill>
            <a:ln>
              <a:solidFill>
                <a:schemeClr val="accent3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109" name="자유형 4">
              <a:extLst>
                <a:ext uri="{FF2B5EF4-FFF2-40B4-BE49-F238E27FC236}">
                  <a16:creationId xmlns:a16="http://schemas.microsoft.com/office/drawing/2014/main" id="{2D51EF02-CE9C-474D-9D99-B911FDC95FA5}"/>
                </a:ext>
              </a:extLst>
            </p:cNvPr>
            <p:cNvSpPr/>
            <p:nvPr/>
          </p:nvSpPr>
          <p:spPr>
            <a:xfrm rot="10259621">
              <a:off x="2260738" y="3727732"/>
              <a:ext cx="1757660" cy="90164"/>
            </a:xfrm>
            <a:custGeom>
              <a:avLst/>
              <a:gdLst>
                <a:gd name="connsiteX0" fmla="*/ 0 w 1761066"/>
                <a:gd name="connsiteY0" fmla="*/ 177800 h 228600"/>
                <a:gd name="connsiteX1" fmla="*/ 601133 w 1761066"/>
                <a:gd name="connsiteY1" fmla="*/ 228600 h 228600"/>
                <a:gd name="connsiteX2" fmla="*/ 905933 w 1761066"/>
                <a:gd name="connsiteY2" fmla="*/ 177800 h 228600"/>
                <a:gd name="connsiteX3" fmla="*/ 1159933 w 1761066"/>
                <a:gd name="connsiteY3" fmla="*/ 127000 h 228600"/>
                <a:gd name="connsiteX4" fmla="*/ 1498600 w 1761066"/>
                <a:gd name="connsiteY4" fmla="*/ 59267 h 228600"/>
                <a:gd name="connsiteX5" fmla="*/ 1761066 w 1761066"/>
                <a:gd name="connsiteY5" fmla="*/ 0 h 228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61066" h="228600">
                  <a:moveTo>
                    <a:pt x="0" y="177800"/>
                  </a:moveTo>
                  <a:lnTo>
                    <a:pt x="601133" y="228600"/>
                  </a:lnTo>
                  <a:lnTo>
                    <a:pt x="905933" y="177800"/>
                  </a:lnTo>
                  <a:lnTo>
                    <a:pt x="1159933" y="127000"/>
                  </a:lnTo>
                  <a:lnTo>
                    <a:pt x="1498600" y="59267"/>
                  </a:lnTo>
                  <a:lnTo>
                    <a:pt x="1761066" y="0"/>
                  </a:lnTo>
                </a:path>
              </a:pathLst>
            </a:custGeom>
            <a:solidFill>
              <a:schemeClr val="accent3">
                <a:lumMod val="40000"/>
                <a:lumOff val="60000"/>
              </a:schemeClr>
            </a:solidFill>
            <a:ln>
              <a:solidFill>
                <a:schemeClr val="accent3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110" name="자유형 7">
              <a:extLst>
                <a:ext uri="{FF2B5EF4-FFF2-40B4-BE49-F238E27FC236}">
                  <a16:creationId xmlns:a16="http://schemas.microsoft.com/office/drawing/2014/main" id="{0B38DE36-BF1B-4E8A-AA25-709AC0E1482B}"/>
                </a:ext>
              </a:extLst>
            </p:cNvPr>
            <p:cNvSpPr/>
            <p:nvPr/>
          </p:nvSpPr>
          <p:spPr>
            <a:xfrm>
              <a:off x="4023360" y="3699510"/>
              <a:ext cx="2049780" cy="567690"/>
            </a:xfrm>
            <a:custGeom>
              <a:avLst/>
              <a:gdLst>
                <a:gd name="connsiteX0" fmla="*/ 0 w 2049780"/>
                <a:gd name="connsiteY0" fmla="*/ 0 h 567690"/>
                <a:gd name="connsiteX1" fmla="*/ 331470 w 2049780"/>
                <a:gd name="connsiteY1" fmla="*/ 60960 h 567690"/>
                <a:gd name="connsiteX2" fmla="*/ 640080 w 2049780"/>
                <a:gd name="connsiteY2" fmla="*/ 220980 h 567690"/>
                <a:gd name="connsiteX3" fmla="*/ 1242060 w 2049780"/>
                <a:gd name="connsiteY3" fmla="*/ 236220 h 567690"/>
                <a:gd name="connsiteX4" fmla="*/ 1684020 w 2049780"/>
                <a:gd name="connsiteY4" fmla="*/ 144780 h 567690"/>
                <a:gd name="connsiteX5" fmla="*/ 2049780 w 2049780"/>
                <a:gd name="connsiteY5" fmla="*/ 19050 h 567690"/>
                <a:gd name="connsiteX6" fmla="*/ 1779270 w 2049780"/>
                <a:gd name="connsiteY6" fmla="*/ 346710 h 567690"/>
                <a:gd name="connsiteX7" fmla="*/ 1249680 w 2049780"/>
                <a:gd name="connsiteY7" fmla="*/ 567690 h 567690"/>
                <a:gd name="connsiteX8" fmla="*/ 621030 w 2049780"/>
                <a:gd name="connsiteY8" fmla="*/ 563880 h 567690"/>
                <a:gd name="connsiteX9" fmla="*/ 308610 w 2049780"/>
                <a:gd name="connsiteY9" fmla="*/ 419100 h 567690"/>
                <a:gd name="connsiteX10" fmla="*/ 0 w 2049780"/>
                <a:gd name="connsiteY10" fmla="*/ 0 h 567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49780" h="567690">
                  <a:moveTo>
                    <a:pt x="0" y="0"/>
                  </a:moveTo>
                  <a:lnTo>
                    <a:pt x="331470" y="60960"/>
                  </a:lnTo>
                  <a:lnTo>
                    <a:pt x="640080" y="220980"/>
                  </a:lnTo>
                  <a:lnTo>
                    <a:pt x="1242060" y="236220"/>
                  </a:lnTo>
                  <a:lnTo>
                    <a:pt x="1684020" y="144780"/>
                  </a:lnTo>
                  <a:lnTo>
                    <a:pt x="2049780" y="19050"/>
                  </a:lnTo>
                  <a:lnTo>
                    <a:pt x="1779270" y="346710"/>
                  </a:lnTo>
                  <a:lnTo>
                    <a:pt x="1249680" y="567690"/>
                  </a:lnTo>
                  <a:lnTo>
                    <a:pt x="621030" y="563880"/>
                  </a:lnTo>
                  <a:lnTo>
                    <a:pt x="308610" y="4191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111" name="자유형 1">
              <a:extLst>
                <a:ext uri="{FF2B5EF4-FFF2-40B4-BE49-F238E27FC236}">
                  <a16:creationId xmlns:a16="http://schemas.microsoft.com/office/drawing/2014/main" id="{ED9718AB-5CCD-47D4-BA5B-DCA054E7B676}"/>
                </a:ext>
              </a:extLst>
            </p:cNvPr>
            <p:cNvSpPr/>
            <p:nvPr/>
          </p:nvSpPr>
          <p:spPr>
            <a:xfrm>
              <a:off x="1354667" y="3683000"/>
              <a:ext cx="4732866" cy="584200"/>
            </a:xfrm>
            <a:custGeom>
              <a:avLst/>
              <a:gdLst>
                <a:gd name="connsiteX0" fmla="*/ 0 w 4732866"/>
                <a:gd name="connsiteY0" fmla="*/ 330200 h 584200"/>
                <a:gd name="connsiteX1" fmla="*/ 262466 w 4732866"/>
                <a:gd name="connsiteY1" fmla="*/ 169333 h 584200"/>
                <a:gd name="connsiteX2" fmla="*/ 575733 w 4732866"/>
                <a:gd name="connsiteY2" fmla="*/ 279400 h 584200"/>
                <a:gd name="connsiteX3" fmla="*/ 905933 w 4732866"/>
                <a:gd name="connsiteY3" fmla="*/ 169333 h 584200"/>
                <a:gd name="connsiteX4" fmla="*/ 1193800 w 4732866"/>
                <a:gd name="connsiteY4" fmla="*/ 296333 h 584200"/>
                <a:gd name="connsiteX5" fmla="*/ 1507066 w 4732866"/>
                <a:gd name="connsiteY5" fmla="*/ 431800 h 584200"/>
                <a:gd name="connsiteX6" fmla="*/ 1794933 w 4732866"/>
                <a:gd name="connsiteY6" fmla="*/ 457200 h 584200"/>
                <a:gd name="connsiteX7" fmla="*/ 2091266 w 4732866"/>
                <a:gd name="connsiteY7" fmla="*/ 423333 h 584200"/>
                <a:gd name="connsiteX8" fmla="*/ 2413000 w 4732866"/>
                <a:gd name="connsiteY8" fmla="*/ 101600 h 584200"/>
                <a:gd name="connsiteX9" fmla="*/ 2667000 w 4732866"/>
                <a:gd name="connsiteY9" fmla="*/ 0 h 584200"/>
                <a:gd name="connsiteX10" fmla="*/ 2971800 w 4732866"/>
                <a:gd name="connsiteY10" fmla="*/ 431800 h 584200"/>
                <a:gd name="connsiteX11" fmla="*/ 3293533 w 4732866"/>
                <a:gd name="connsiteY11" fmla="*/ 567267 h 584200"/>
                <a:gd name="connsiteX12" fmla="*/ 3615266 w 4732866"/>
                <a:gd name="connsiteY12" fmla="*/ 558800 h 584200"/>
                <a:gd name="connsiteX13" fmla="*/ 3911600 w 4732866"/>
                <a:gd name="connsiteY13" fmla="*/ 584200 h 584200"/>
                <a:gd name="connsiteX14" fmla="*/ 4199466 w 4732866"/>
                <a:gd name="connsiteY14" fmla="*/ 440267 h 584200"/>
                <a:gd name="connsiteX15" fmla="*/ 4453466 w 4732866"/>
                <a:gd name="connsiteY15" fmla="*/ 364067 h 584200"/>
                <a:gd name="connsiteX16" fmla="*/ 4732866 w 4732866"/>
                <a:gd name="connsiteY16" fmla="*/ 16933 h 584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732866" h="584200">
                  <a:moveTo>
                    <a:pt x="0" y="330200"/>
                  </a:moveTo>
                  <a:lnTo>
                    <a:pt x="262466" y="169333"/>
                  </a:lnTo>
                  <a:lnTo>
                    <a:pt x="575733" y="279400"/>
                  </a:lnTo>
                  <a:lnTo>
                    <a:pt x="905933" y="169333"/>
                  </a:lnTo>
                  <a:lnTo>
                    <a:pt x="1193800" y="296333"/>
                  </a:lnTo>
                  <a:lnTo>
                    <a:pt x="1507066" y="431800"/>
                  </a:lnTo>
                  <a:lnTo>
                    <a:pt x="1794933" y="457200"/>
                  </a:lnTo>
                  <a:lnTo>
                    <a:pt x="2091266" y="423333"/>
                  </a:lnTo>
                  <a:lnTo>
                    <a:pt x="2413000" y="101600"/>
                  </a:lnTo>
                  <a:lnTo>
                    <a:pt x="2667000" y="0"/>
                  </a:lnTo>
                  <a:lnTo>
                    <a:pt x="2971800" y="431800"/>
                  </a:lnTo>
                  <a:lnTo>
                    <a:pt x="3293533" y="567267"/>
                  </a:lnTo>
                  <a:lnTo>
                    <a:pt x="3615266" y="558800"/>
                  </a:lnTo>
                  <a:lnTo>
                    <a:pt x="3911600" y="584200"/>
                  </a:lnTo>
                  <a:lnTo>
                    <a:pt x="4199466" y="440267"/>
                  </a:lnTo>
                  <a:lnTo>
                    <a:pt x="4453466" y="364067"/>
                  </a:lnTo>
                  <a:lnTo>
                    <a:pt x="4732866" y="16933"/>
                  </a:lnTo>
                </a:path>
              </a:pathLst>
            </a:custGeom>
            <a:ln w="22225">
              <a:solidFill>
                <a:schemeClr val="accent6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sp>
        <p:nvSpPr>
          <p:cNvPr id="112" name="TextBox 111">
            <a:extLst>
              <a:ext uri="{FF2B5EF4-FFF2-40B4-BE49-F238E27FC236}">
                <a16:creationId xmlns:a16="http://schemas.microsoft.com/office/drawing/2014/main" id="{C2BEAF07-29E1-4E0A-AD98-44A528D46F68}"/>
              </a:ext>
            </a:extLst>
          </p:cNvPr>
          <p:cNvSpPr txBox="1"/>
          <p:nvPr/>
        </p:nvSpPr>
        <p:spPr>
          <a:xfrm>
            <a:off x="222795" y="2840555"/>
            <a:ext cx="1013626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사용량</a:t>
            </a:r>
            <a:r>
              <a:rPr lang="en-US" altLang="ko-KR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ko-KR" altLang="en-US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구성 </a:t>
            </a:r>
            <a:r>
              <a:rPr lang="en-US" altLang="ko-KR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(DER)</a:t>
            </a:r>
            <a:endParaRPr lang="ko-KR" altLang="en-US" sz="8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13" name="그룹 112">
            <a:extLst>
              <a:ext uri="{FF2B5EF4-FFF2-40B4-BE49-F238E27FC236}">
                <a16:creationId xmlns:a16="http://schemas.microsoft.com/office/drawing/2014/main" id="{F992A0CF-FD53-4105-99A2-BCAC3A4AE812}"/>
              </a:ext>
            </a:extLst>
          </p:cNvPr>
          <p:cNvGrpSpPr/>
          <p:nvPr/>
        </p:nvGrpSpPr>
        <p:grpSpPr>
          <a:xfrm>
            <a:off x="512960" y="4519346"/>
            <a:ext cx="2088232" cy="254366"/>
            <a:chOff x="766046" y="3528551"/>
            <a:chExt cx="2088232" cy="254366"/>
          </a:xfrm>
        </p:grpSpPr>
        <p:grpSp>
          <p:nvGrpSpPr>
            <p:cNvPr id="114" name="그룹 113">
              <a:extLst>
                <a:ext uri="{FF2B5EF4-FFF2-40B4-BE49-F238E27FC236}">
                  <a16:creationId xmlns:a16="http://schemas.microsoft.com/office/drawing/2014/main" id="{DCD8F9D2-4BE9-4187-8F1E-9957DBD32782}"/>
                </a:ext>
              </a:extLst>
            </p:cNvPr>
            <p:cNvGrpSpPr/>
            <p:nvPr/>
          </p:nvGrpSpPr>
          <p:grpSpPr>
            <a:xfrm>
              <a:off x="1558134" y="3547722"/>
              <a:ext cx="631876" cy="216024"/>
              <a:chOff x="1187624" y="4744315"/>
              <a:chExt cx="631876" cy="216024"/>
            </a:xfrm>
          </p:grpSpPr>
          <p:sp>
            <p:nvSpPr>
              <p:cNvPr id="121" name="직사각형 120">
                <a:extLst>
                  <a:ext uri="{FF2B5EF4-FFF2-40B4-BE49-F238E27FC236}">
                    <a16:creationId xmlns:a16="http://schemas.microsoft.com/office/drawing/2014/main" id="{85D1B163-F308-4C13-9E54-6336920F0856}"/>
                  </a:ext>
                </a:extLst>
              </p:cNvPr>
              <p:cNvSpPr/>
              <p:nvPr/>
            </p:nvSpPr>
            <p:spPr>
              <a:xfrm>
                <a:off x="1187624" y="4781396"/>
                <a:ext cx="270595" cy="141862"/>
              </a:xfrm>
              <a:prstGeom prst="rect">
                <a:avLst/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altLang="ko-KR" sz="500" b="1" dirty="0">
                    <a:solidFill>
                      <a:schemeClr val="accent3">
                        <a:lumMod val="60000"/>
                        <a:lumOff val="40000"/>
                      </a:schemeClr>
                    </a:solidFill>
                    <a:latin typeface="맑은 고딕" pitchFamily="50" charset="-127"/>
                    <a:ea typeface="맑은 고딕" pitchFamily="50" charset="-127"/>
                  </a:rPr>
                  <a:t>ESS</a:t>
                </a:r>
                <a:endParaRPr lang="ko-KR" altLang="en-US" sz="500" b="1" dirty="0">
                  <a:solidFill>
                    <a:schemeClr val="accent3">
                      <a:lumMod val="60000"/>
                      <a:lumOff val="40000"/>
                    </a:schemeClr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  <p:sp>
            <p:nvSpPr>
              <p:cNvPr id="122" name="직사각형 121">
                <a:extLst>
                  <a:ext uri="{FF2B5EF4-FFF2-40B4-BE49-F238E27FC236}">
                    <a16:creationId xmlns:a16="http://schemas.microsoft.com/office/drawing/2014/main" id="{457EC856-9257-4A1C-9E47-5ABC04F7C002}"/>
                  </a:ext>
                </a:extLst>
              </p:cNvPr>
              <p:cNvSpPr/>
              <p:nvPr/>
            </p:nvSpPr>
            <p:spPr>
              <a:xfrm>
                <a:off x="1475656" y="4744315"/>
                <a:ext cx="343844" cy="216024"/>
              </a:xfrm>
              <a:prstGeom prst="rect">
                <a:avLst/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ko-KR" sz="1000" b="1" dirty="0">
                    <a:solidFill>
                      <a:schemeClr val="bg1"/>
                    </a:solidFill>
                    <a:latin typeface="맑은 고딕" pitchFamily="50" charset="-127"/>
                    <a:ea typeface="맑은 고딕" pitchFamily="50" charset="-127"/>
                  </a:rPr>
                  <a:t>10%</a:t>
                </a:r>
                <a:endParaRPr lang="ko-KR" altLang="en-US" sz="10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</p:grpSp>
        <p:grpSp>
          <p:nvGrpSpPr>
            <p:cNvPr id="115" name="그룹 114">
              <a:extLst>
                <a:ext uri="{FF2B5EF4-FFF2-40B4-BE49-F238E27FC236}">
                  <a16:creationId xmlns:a16="http://schemas.microsoft.com/office/drawing/2014/main" id="{63C5332A-63BC-415B-9AF8-6D929E320046}"/>
                </a:ext>
              </a:extLst>
            </p:cNvPr>
            <p:cNvGrpSpPr/>
            <p:nvPr/>
          </p:nvGrpSpPr>
          <p:grpSpPr>
            <a:xfrm>
              <a:off x="2278214" y="3528551"/>
              <a:ext cx="576064" cy="254366"/>
              <a:chOff x="1907704" y="4725144"/>
              <a:chExt cx="576064" cy="254366"/>
            </a:xfrm>
          </p:grpSpPr>
          <p:sp>
            <p:nvSpPr>
              <p:cNvPr id="119" name="직사각형 118">
                <a:extLst>
                  <a:ext uri="{FF2B5EF4-FFF2-40B4-BE49-F238E27FC236}">
                    <a16:creationId xmlns:a16="http://schemas.microsoft.com/office/drawing/2014/main" id="{6CA947FB-19A7-4EA8-A25A-93ECA996052A}"/>
                  </a:ext>
                </a:extLst>
              </p:cNvPr>
              <p:cNvSpPr/>
              <p:nvPr/>
            </p:nvSpPr>
            <p:spPr>
              <a:xfrm>
                <a:off x="1907704" y="4781396"/>
                <a:ext cx="270595" cy="141862"/>
              </a:xfrm>
              <a:prstGeom prst="rect">
                <a:avLst/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altLang="ko-KR" sz="500" b="1" dirty="0">
                    <a:solidFill>
                      <a:schemeClr val="accent2">
                        <a:lumMod val="40000"/>
                        <a:lumOff val="60000"/>
                      </a:schemeClr>
                    </a:solidFill>
                    <a:latin typeface="맑은 고딕" pitchFamily="50" charset="-127"/>
                    <a:ea typeface="맑은 고딕" pitchFamily="50" charset="-127"/>
                  </a:rPr>
                  <a:t>PV</a:t>
                </a:r>
                <a:endParaRPr lang="ko-KR" altLang="en-US" sz="500" b="1" dirty="0">
                  <a:solidFill>
                    <a:schemeClr val="accent2">
                      <a:lumMod val="40000"/>
                      <a:lumOff val="60000"/>
                    </a:schemeClr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  <p:sp>
            <p:nvSpPr>
              <p:cNvPr id="120" name="직사각형 119">
                <a:extLst>
                  <a:ext uri="{FF2B5EF4-FFF2-40B4-BE49-F238E27FC236}">
                    <a16:creationId xmlns:a16="http://schemas.microsoft.com/office/drawing/2014/main" id="{8D983A37-1838-487A-A656-E7DD0843C05D}"/>
                  </a:ext>
                </a:extLst>
              </p:cNvPr>
              <p:cNvSpPr/>
              <p:nvPr/>
            </p:nvSpPr>
            <p:spPr>
              <a:xfrm>
                <a:off x="2213173" y="4725144"/>
                <a:ext cx="270595" cy="254366"/>
              </a:xfrm>
              <a:prstGeom prst="rect">
                <a:avLst/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ko-KR" sz="1000" b="1" dirty="0">
                    <a:solidFill>
                      <a:schemeClr val="bg1"/>
                    </a:solidFill>
                    <a:latin typeface="맑은 고딕" pitchFamily="50" charset="-127"/>
                    <a:ea typeface="맑은 고딕" pitchFamily="50" charset="-127"/>
                  </a:rPr>
                  <a:t>9%</a:t>
                </a:r>
                <a:endParaRPr lang="ko-KR" altLang="en-US" sz="10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</p:grpSp>
        <p:grpSp>
          <p:nvGrpSpPr>
            <p:cNvPr id="116" name="그룹 115">
              <a:extLst>
                <a:ext uri="{FF2B5EF4-FFF2-40B4-BE49-F238E27FC236}">
                  <a16:creationId xmlns:a16="http://schemas.microsoft.com/office/drawing/2014/main" id="{E9452DD6-1779-4C8D-BF9E-621BFE929D70}"/>
                </a:ext>
              </a:extLst>
            </p:cNvPr>
            <p:cNvGrpSpPr/>
            <p:nvPr/>
          </p:nvGrpSpPr>
          <p:grpSpPr>
            <a:xfrm>
              <a:off x="766046" y="3547722"/>
              <a:ext cx="703884" cy="216024"/>
              <a:chOff x="395536" y="4744315"/>
              <a:chExt cx="703884" cy="216024"/>
            </a:xfrm>
          </p:grpSpPr>
          <p:sp>
            <p:nvSpPr>
              <p:cNvPr id="117" name="직사각형 116">
                <a:extLst>
                  <a:ext uri="{FF2B5EF4-FFF2-40B4-BE49-F238E27FC236}">
                    <a16:creationId xmlns:a16="http://schemas.microsoft.com/office/drawing/2014/main" id="{CE38C945-7371-4D4E-9F85-1BDC5426E86E}"/>
                  </a:ext>
                </a:extLst>
              </p:cNvPr>
              <p:cNvSpPr/>
              <p:nvPr/>
            </p:nvSpPr>
            <p:spPr>
              <a:xfrm>
                <a:off x="395536" y="4781396"/>
                <a:ext cx="356537" cy="141862"/>
              </a:xfrm>
              <a:prstGeom prst="rect">
                <a:avLst/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ko-KR" altLang="en-US" sz="500" b="1" dirty="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맑은 고딕" pitchFamily="50" charset="-127"/>
                    <a:ea typeface="맑은 고딕" pitchFamily="50" charset="-127"/>
                  </a:rPr>
                  <a:t>한전</a:t>
                </a:r>
              </a:p>
            </p:txBody>
          </p:sp>
          <p:sp>
            <p:nvSpPr>
              <p:cNvPr id="118" name="직사각형 117">
                <a:extLst>
                  <a:ext uri="{FF2B5EF4-FFF2-40B4-BE49-F238E27FC236}">
                    <a16:creationId xmlns:a16="http://schemas.microsoft.com/office/drawing/2014/main" id="{2FFF6D7F-6812-4828-89ED-27AB3E94AE6A}"/>
                  </a:ext>
                </a:extLst>
              </p:cNvPr>
              <p:cNvSpPr/>
              <p:nvPr/>
            </p:nvSpPr>
            <p:spPr>
              <a:xfrm>
                <a:off x="755576" y="4744315"/>
                <a:ext cx="343844" cy="216024"/>
              </a:xfrm>
              <a:prstGeom prst="rect">
                <a:avLst/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ko-KR" sz="1000" b="1" dirty="0">
                    <a:solidFill>
                      <a:srgbClr val="FF0000"/>
                    </a:solidFill>
                    <a:latin typeface="맑은 고딕" pitchFamily="50" charset="-127"/>
                    <a:ea typeface="맑은 고딕" pitchFamily="50" charset="-127"/>
                  </a:rPr>
                  <a:t>81%</a:t>
                </a:r>
                <a:endParaRPr lang="ko-KR" altLang="en-US" sz="1000" b="1" dirty="0">
                  <a:solidFill>
                    <a:srgbClr val="FF0000"/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</p:grpSp>
      </p:grpSp>
      <p:grpSp>
        <p:nvGrpSpPr>
          <p:cNvPr id="123" name="그룹 122">
            <a:extLst>
              <a:ext uri="{FF2B5EF4-FFF2-40B4-BE49-F238E27FC236}">
                <a16:creationId xmlns:a16="http://schemas.microsoft.com/office/drawing/2014/main" id="{FB7626DC-0BE0-48BE-8733-EBFA8912AC7B}"/>
              </a:ext>
            </a:extLst>
          </p:cNvPr>
          <p:cNvGrpSpPr/>
          <p:nvPr/>
        </p:nvGrpSpPr>
        <p:grpSpPr>
          <a:xfrm>
            <a:off x="1210790" y="2810709"/>
            <a:ext cx="1673038" cy="254348"/>
            <a:chOff x="6419190" y="4725153"/>
            <a:chExt cx="1673038" cy="254348"/>
          </a:xfrm>
        </p:grpSpPr>
        <p:sp>
          <p:nvSpPr>
            <p:cNvPr id="124" name="직사각형 123">
              <a:extLst>
                <a:ext uri="{FF2B5EF4-FFF2-40B4-BE49-F238E27FC236}">
                  <a16:creationId xmlns:a16="http://schemas.microsoft.com/office/drawing/2014/main" id="{676CE03A-FB8B-4383-B3CB-14BB46D8F3EF}"/>
                </a:ext>
              </a:extLst>
            </p:cNvPr>
            <p:cNvSpPr/>
            <p:nvPr/>
          </p:nvSpPr>
          <p:spPr>
            <a:xfrm>
              <a:off x="7139098" y="4776288"/>
              <a:ext cx="390541" cy="182339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150000"/>
                </a:lnSpc>
              </a:pPr>
              <a:r>
                <a:rPr lang="ko-KR" altLang="en-US" sz="500" b="1" dirty="0">
                  <a:solidFill>
                    <a:schemeClr val="accent6">
                      <a:lumMod val="75000"/>
                    </a:schemeClr>
                  </a:solidFill>
                  <a:latin typeface="맑은 고딕" pitchFamily="50" charset="-127"/>
                  <a:ea typeface="맑은 고딕" pitchFamily="50" charset="-127"/>
                </a:rPr>
                <a:t>현재 사용량</a:t>
              </a:r>
            </a:p>
          </p:txBody>
        </p:sp>
        <p:sp>
          <p:nvSpPr>
            <p:cNvPr id="125" name="직사각형 124">
              <a:extLst>
                <a:ext uri="{FF2B5EF4-FFF2-40B4-BE49-F238E27FC236}">
                  <a16:creationId xmlns:a16="http://schemas.microsoft.com/office/drawing/2014/main" id="{071A8EE2-4490-4B99-942C-0FB01425840E}"/>
                </a:ext>
              </a:extLst>
            </p:cNvPr>
            <p:cNvSpPr/>
            <p:nvPr/>
          </p:nvSpPr>
          <p:spPr>
            <a:xfrm>
              <a:off x="7494198" y="4725153"/>
              <a:ext cx="462178" cy="254348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900</a:t>
              </a:r>
              <a:endParaRPr lang="ko-KR" altLang="en-US" sz="14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26" name="직사각형 125">
              <a:extLst>
                <a:ext uri="{FF2B5EF4-FFF2-40B4-BE49-F238E27FC236}">
                  <a16:creationId xmlns:a16="http://schemas.microsoft.com/office/drawing/2014/main" id="{C4922241-0799-457E-A331-584B25A20B3C}"/>
                </a:ext>
              </a:extLst>
            </p:cNvPr>
            <p:cNvSpPr/>
            <p:nvPr/>
          </p:nvSpPr>
          <p:spPr>
            <a:xfrm>
              <a:off x="7876204" y="4795451"/>
              <a:ext cx="216024" cy="144013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 anchorCtr="0"/>
            <a:lstStyle/>
            <a:p>
              <a:pPr algn="ctr">
                <a:lnSpc>
                  <a:spcPct val="150000"/>
                </a:lnSpc>
              </a:pPr>
              <a:r>
                <a:rPr lang="en-US" altLang="ko-KR" sz="500" b="1" dirty="0">
                  <a:solidFill>
                    <a:schemeClr val="accent6">
                      <a:lumMod val="75000"/>
                    </a:schemeClr>
                  </a:solidFill>
                  <a:latin typeface="맑은 고딕" pitchFamily="50" charset="-127"/>
                  <a:ea typeface="맑은 고딕" pitchFamily="50" charset="-127"/>
                </a:rPr>
                <a:t>kWh</a:t>
              </a:r>
              <a:endParaRPr lang="ko-KR" altLang="en-US" sz="500" b="1" dirty="0">
                <a:solidFill>
                  <a:schemeClr val="accent6">
                    <a:lumMod val="75000"/>
                  </a:schemeClr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27" name="직사각형 126">
              <a:extLst>
                <a:ext uri="{FF2B5EF4-FFF2-40B4-BE49-F238E27FC236}">
                  <a16:creationId xmlns:a16="http://schemas.microsoft.com/office/drawing/2014/main" id="{4769895E-4040-40AE-A7F6-FC257D000FAC}"/>
                </a:ext>
              </a:extLst>
            </p:cNvPr>
            <p:cNvSpPr/>
            <p:nvPr/>
          </p:nvSpPr>
          <p:spPr>
            <a:xfrm>
              <a:off x="6419190" y="4775713"/>
              <a:ext cx="725954" cy="18235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altLang="ko-KR" sz="500" b="1" dirty="0">
                  <a:solidFill>
                    <a:schemeClr val="accent6">
                      <a:lumMod val="75000"/>
                    </a:schemeClr>
                  </a:solidFill>
                  <a:latin typeface="맑은 고딕" pitchFamily="50" charset="-127"/>
                  <a:ea typeface="맑은 고딕" pitchFamily="50" charset="-127"/>
                </a:rPr>
                <a:t>YYYY-MM-DD hh:mm</a:t>
              </a:r>
              <a:endParaRPr lang="ko-KR" altLang="en-US" sz="500" b="1" dirty="0">
                <a:solidFill>
                  <a:schemeClr val="accent6">
                    <a:lumMod val="75000"/>
                  </a:schemeClr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grpSp>
        <p:nvGrpSpPr>
          <p:cNvPr id="128" name="그룹 127">
            <a:extLst>
              <a:ext uri="{FF2B5EF4-FFF2-40B4-BE49-F238E27FC236}">
                <a16:creationId xmlns:a16="http://schemas.microsoft.com/office/drawing/2014/main" id="{CF1D8DCD-6519-44D7-B38C-89402B2513C3}"/>
              </a:ext>
            </a:extLst>
          </p:cNvPr>
          <p:cNvGrpSpPr/>
          <p:nvPr/>
        </p:nvGrpSpPr>
        <p:grpSpPr>
          <a:xfrm>
            <a:off x="7354339" y="1196752"/>
            <a:ext cx="943186" cy="181080"/>
            <a:chOff x="5772819" y="420208"/>
            <a:chExt cx="943186" cy="207079"/>
          </a:xfrm>
        </p:grpSpPr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038B6921-08F5-4E82-B777-2D4B4369B4D5}"/>
                </a:ext>
              </a:extLst>
            </p:cNvPr>
            <p:cNvSpPr txBox="1"/>
            <p:nvPr/>
          </p:nvSpPr>
          <p:spPr>
            <a:xfrm>
              <a:off x="5772819" y="420208"/>
              <a:ext cx="943186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7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군관리로 돌아가기</a:t>
              </a:r>
            </a:p>
          </p:txBody>
        </p:sp>
        <p:sp>
          <p:nvSpPr>
            <p:cNvPr id="130" name="사각형: 둥근 모서리 129">
              <a:extLst>
                <a:ext uri="{FF2B5EF4-FFF2-40B4-BE49-F238E27FC236}">
                  <a16:creationId xmlns:a16="http://schemas.microsoft.com/office/drawing/2014/main" id="{EDF61E98-2544-4850-8CFA-B38B7C8E24CB}"/>
                </a:ext>
              </a:extLst>
            </p:cNvPr>
            <p:cNvSpPr/>
            <p:nvPr/>
          </p:nvSpPr>
          <p:spPr>
            <a:xfrm>
              <a:off x="5797598" y="454187"/>
              <a:ext cx="893629" cy="173100"/>
            </a:xfrm>
            <a:prstGeom prst="roundRect">
              <a:avLst/>
            </a:prstGeom>
            <a:noFill/>
            <a:ln w="127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131" name="말풍선: 사각형 130">
            <a:extLst>
              <a:ext uri="{FF2B5EF4-FFF2-40B4-BE49-F238E27FC236}">
                <a16:creationId xmlns:a16="http://schemas.microsoft.com/office/drawing/2014/main" id="{1F4A2584-477E-4D99-8B50-A7F8FE7F69D4}"/>
              </a:ext>
            </a:extLst>
          </p:cNvPr>
          <p:cNvSpPr/>
          <p:nvPr/>
        </p:nvSpPr>
        <p:spPr>
          <a:xfrm>
            <a:off x="4576573" y="2513536"/>
            <a:ext cx="615731" cy="360039"/>
          </a:xfrm>
          <a:prstGeom prst="wedgeRectCallout">
            <a:avLst>
              <a:gd name="adj1" fmla="val -30620"/>
              <a:gd name="adj2" fmla="val 109426"/>
            </a:avLst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2018.03.05</a:t>
            </a:r>
          </a:p>
          <a:p>
            <a:pPr algn="ctr"/>
            <a:r>
              <a:rPr lang="en-US" altLang="ko-KR" sz="6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03:15:00</a:t>
            </a:r>
          </a:p>
          <a:p>
            <a:pPr algn="ctr"/>
            <a:r>
              <a:rPr lang="en-US" altLang="ko-KR" sz="600" b="1" dirty="0">
                <a:solidFill>
                  <a:srgbClr val="FF0000"/>
                </a:solidFill>
              </a:rPr>
              <a:t>210 kW</a:t>
            </a:r>
            <a:endParaRPr lang="ko-KR" altLang="en-US" sz="600" b="1" dirty="0">
              <a:solidFill>
                <a:srgbClr val="FF0000"/>
              </a:solidFill>
            </a:endParaRPr>
          </a:p>
        </p:txBody>
      </p:sp>
      <p:sp>
        <p:nvSpPr>
          <p:cNvPr id="132" name="사각형: 둥근 모서리 131">
            <a:extLst>
              <a:ext uri="{FF2B5EF4-FFF2-40B4-BE49-F238E27FC236}">
                <a16:creationId xmlns:a16="http://schemas.microsoft.com/office/drawing/2014/main" id="{90B9AB95-17F4-4035-B5AC-1342E5A3C398}"/>
              </a:ext>
            </a:extLst>
          </p:cNvPr>
          <p:cNvSpPr/>
          <p:nvPr/>
        </p:nvSpPr>
        <p:spPr>
          <a:xfrm>
            <a:off x="3073112" y="4138270"/>
            <a:ext cx="599739" cy="307364"/>
          </a:xfrm>
          <a:prstGeom prst="roundRect">
            <a:avLst/>
          </a:prstGeom>
          <a:solidFill>
            <a:schemeClr val="tx2">
              <a:lumMod val="60000"/>
              <a:lumOff val="40000"/>
            </a:schemeClr>
          </a:solidFill>
          <a:ln w="19050">
            <a:solidFill>
              <a:srgbClr val="92D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3" name="사각형: 둥근 모서리 132">
            <a:extLst>
              <a:ext uri="{FF2B5EF4-FFF2-40B4-BE49-F238E27FC236}">
                <a16:creationId xmlns:a16="http://schemas.microsoft.com/office/drawing/2014/main" id="{E629848E-07A0-4734-88F3-EA2E6E887EFF}"/>
              </a:ext>
            </a:extLst>
          </p:cNvPr>
          <p:cNvSpPr/>
          <p:nvPr/>
        </p:nvSpPr>
        <p:spPr>
          <a:xfrm>
            <a:off x="3723621" y="4145558"/>
            <a:ext cx="599739" cy="292788"/>
          </a:xfrm>
          <a:prstGeom prst="roundRect">
            <a:avLst/>
          </a:prstGeom>
          <a:solidFill>
            <a:schemeClr val="tx2">
              <a:lumMod val="60000"/>
              <a:lumOff val="40000"/>
            </a:schemeClr>
          </a:solidFill>
          <a:ln w="19050">
            <a:solidFill>
              <a:srgbClr val="92D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4" name="사각형: 둥근 모서리 133">
            <a:extLst>
              <a:ext uri="{FF2B5EF4-FFF2-40B4-BE49-F238E27FC236}">
                <a16:creationId xmlns:a16="http://schemas.microsoft.com/office/drawing/2014/main" id="{0746F83A-1DDC-4D37-A469-D684FB61CA74}"/>
              </a:ext>
            </a:extLst>
          </p:cNvPr>
          <p:cNvSpPr/>
          <p:nvPr/>
        </p:nvSpPr>
        <p:spPr>
          <a:xfrm>
            <a:off x="4374130" y="4138270"/>
            <a:ext cx="599739" cy="307364"/>
          </a:xfrm>
          <a:prstGeom prst="roundRect">
            <a:avLst/>
          </a:prstGeom>
          <a:solidFill>
            <a:schemeClr val="accent3"/>
          </a:solidFill>
          <a:ln w="19050">
            <a:solidFill>
              <a:srgbClr val="92D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5" name="사각형: 둥근 모서리 134">
            <a:extLst>
              <a:ext uri="{FF2B5EF4-FFF2-40B4-BE49-F238E27FC236}">
                <a16:creationId xmlns:a16="http://schemas.microsoft.com/office/drawing/2014/main" id="{F5B3B89A-3054-4ADF-86AA-452CC5FF720D}"/>
              </a:ext>
            </a:extLst>
          </p:cNvPr>
          <p:cNvSpPr/>
          <p:nvPr/>
        </p:nvSpPr>
        <p:spPr>
          <a:xfrm>
            <a:off x="5024639" y="4138270"/>
            <a:ext cx="599739" cy="307364"/>
          </a:xfrm>
          <a:prstGeom prst="roundRect">
            <a:avLst/>
          </a:prstGeom>
          <a:solidFill>
            <a:schemeClr val="accent3"/>
          </a:solidFill>
          <a:ln w="19050">
            <a:solidFill>
              <a:srgbClr val="92D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6" name="사각형: 둥근 모서리 135">
            <a:extLst>
              <a:ext uri="{FF2B5EF4-FFF2-40B4-BE49-F238E27FC236}">
                <a16:creationId xmlns:a16="http://schemas.microsoft.com/office/drawing/2014/main" id="{41BAA6F0-79D1-4676-8896-19BC5BBBB238}"/>
              </a:ext>
            </a:extLst>
          </p:cNvPr>
          <p:cNvSpPr/>
          <p:nvPr/>
        </p:nvSpPr>
        <p:spPr>
          <a:xfrm>
            <a:off x="3073112" y="4478797"/>
            <a:ext cx="599739" cy="307364"/>
          </a:xfrm>
          <a:prstGeom prst="roundRect">
            <a:avLst/>
          </a:prstGeom>
          <a:solidFill>
            <a:schemeClr val="accent4">
              <a:lumMod val="75000"/>
            </a:schemeClr>
          </a:solidFill>
          <a:ln w="19050">
            <a:solidFill>
              <a:srgbClr val="92D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7" name="사각형: 둥근 모서리 136">
            <a:extLst>
              <a:ext uri="{FF2B5EF4-FFF2-40B4-BE49-F238E27FC236}">
                <a16:creationId xmlns:a16="http://schemas.microsoft.com/office/drawing/2014/main" id="{8A7F9969-F7A2-4960-A4B3-B33E2AF8FA44}"/>
              </a:ext>
            </a:extLst>
          </p:cNvPr>
          <p:cNvSpPr/>
          <p:nvPr/>
        </p:nvSpPr>
        <p:spPr>
          <a:xfrm>
            <a:off x="3723621" y="4478797"/>
            <a:ext cx="599739" cy="307364"/>
          </a:xfrm>
          <a:prstGeom prst="roundRect">
            <a:avLst/>
          </a:prstGeom>
          <a:solidFill>
            <a:schemeClr val="accent4">
              <a:lumMod val="75000"/>
            </a:schemeClr>
          </a:solidFill>
          <a:ln w="19050">
            <a:solidFill>
              <a:srgbClr val="92D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8" name="사각형: 둥근 모서리 137">
            <a:extLst>
              <a:ext uri="{FF2B5EF4-FFF2-40B4-BE49-F238E27FC236}">
                <a16:creationId xmlns:a16="http://schemas.microsoft.com/office/drawing/2014/main" id="{2AC3D3A0-8D1D-45D6-BB76-49B845C7F76C}"/>
              </a:ext>
            </a:extLst>
          </p:cNvPr>
          <p:cNvSpPr/>
          <p:nvPr/>
        </p:nvSpPr>
        <p:spPr>
          <a:xfrm>
            <a:off x="4374130" y="4478797"/>
            <a:ext cx="599739" cy="307364"/>
          </a:xfrm>
          <a:prstGeom prst="roundRect">
            <a:avLst/>
          </a:prstGeom>
          <a:solidFill>
            <a:schemeClr val="accent4">
              <a:lumMod val="75000"/>
            </a:schemeClr>
          </a:solidFill>
          <a:ln w="19050">
            <a:solidFill>
              <a:srgbClr val="92D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사각형: 둥근 모서리 138">
            <a:extLst>
              <a:ext uri="{FF2B5EF4-FFF2-40B4-BE49-F238E27FC236}">
                <a16:creationId xmlns:a16="http://schemas.microsoft.com/office/drawing/2014/main" id="{2D4023E6-BFA8-420B-BF10-34E5DCCA2BEE}"/>
              </a:ext>
            </a:extLst>
          </p:cNvPr>
          <p:cNvSpPr/>
          <p:nvPr/>
        </p:nvSpPr>
        <p:spPr>
          <a:xfrm>
            <a:off x="5024639" y="4478797"/>
            <a:ext cx="599739" cy="307364"/>
          </a:xfrm>
          <a:prstGeom prst="roundRect">
            <a:avLst/>
          </a:prstGeom>
          <a:solidFill>
            <a:schemeClr val="bg1">
              <a:lumMod val="50000"/>
            </a:schemeClr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8181A669-3BC5-4774-AD11-6550AE97E8B8}"/>
              </a:ext>
            </a:extLst>
          </p:cNvPr>
          <p:cNvSpPr txBox="1"/>
          <p:nvPr/>
        </p:nvSpPr>
        <p:spPr>
          <a:xfrm>
            <a:off x="3018000" y="4105367"/>
            <a:ext cx="418353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600" dirty="0">
                <a:solidFill>
                  <a:schemeClr val="bg1"/>
                </a:solidFill>
              </a:rPr>
              <a:t>PCS_1</a:t>
            </a:r>
            <a:endParaRPr lang="ko-KR" altLang="en-US" sz="600" dirty="0">
              <a:solidFill>
                <a:schemeClr val="bg1"/>
              </a:solidFill>
            </a:endParaRPr>
          </a:p>
        </p:txBody>
      </p:sp>
      <p:sp>
        <p:nvSpPr>
          <p:cNvPr id="141" name="TextBox 140">
            <a:extLst>
              <a:ext uri="{FF2B5EF4-FFF2-40B4-BE49-F238E27FC236}">
                <a16:creationId xmlns:a16="http://schemas.microsoft.com/office/drawing/2014/main" id="{72D79BBC-EA2B-4585-B975-87492F99092E}"/>
              </a:ext>
            </a:extLst>
          </p:cNvPr>
          <p:cNvSpPr txBox="1"/>
          <p:nvPr/>
        </p:nvSpPr>
        <p:spPr>
          <a:xfrm>
            <a:off x="3180791" y="4218984"/>
            <a:ext cx="598614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</a:rPr>
              <a:t>458.3 kWh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142" name="TextBox 141">
            <a:extLst>
              <a:ext uri="{FF2B5EF4-FFF2-40B4-BE49-F238E27FC236}">
                <a16:creationId xmlns:a16="http://schemas.microsoft.com/office/drawing/2014/main" id="{C77703D0-D0C7-46A4-9C26-B19BDEBFE043}"/>
              </a:ext>
            </a:extLst>
          </p:cNvPr>
          <p:cNvSpPr txBox="1"/>
          <p:nvPr/>
        </p:nvSpPr>
        <p:spPr>
          <a:xfrm>
            <a:off x="3179049" y="4305768"/>
            <a:ext cx="598614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</a:rPr>
              <a:t>458.3 kWh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143" name="TextBox 142">
            <a:extLst>
              <a:ext uri="{FF2B5EF4-FFF2-40B4-BE49-F238E27FC236}">
                <a16:creationId xmlns:a16="http://schemas.microsoft.com/office/drawing/2014/main" id="{F466CF74-8CA8-4605-B29C-1A90B21C9311}"/>
              </a:ext>
            </a:extLst>
          </p:cNvPr>
          <p:cNvSpPr txBox="1"/>
          <p:nvPr/>
        </p:nvSpPr>
        <p:spPr>
          <a:xfrm>
            <a:off x="2980670" y="4217298"/>
            <a:ext cx="468850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500" dirty="0" err="1">
                <a:solidFill>
                  <a:schemeClr val="bg1"/>
                </a:solidFill>
              </a:rPr>
              <a:t>충전량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144" name="TextBox 143">
            <a:extLst>
              <a:ext uri="{FF2B5EF4-FFF2-40B4-BE49-F238E27FC236}">
                <a16:creationId xmlns:a16="http://schemas.microsoft.com/office/drawing/2014/main" id="{7D963E90-8F15-4588-80B4-400D17E55314}"/>
              </a:ext>
            </a:extLst>
          </p:cNvPr>
          <p:cNvSpPr txBox="1"/>
          <p:nvPr/>
        </p:nvSpPr>
        <p:spPr>
          <a:xfrm>
            <a:off x="2975456" y="4307743"/>
            <a:ext cx="468850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500" dirty="0" err="1">
                <a:solidFill>
                  <a:schemeClr val="bg1"/>
                </a:solidFill>
              </a:rPr>
              <a:t>방전량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145" name="TextBox 144">
            <a:extLst>
              <a:ext uri="{FF2B5EF4-FFF2-40B4-BE49-F238E27FC236}">
                <a16:creationId xmlns:a16="http://schemas.microsoft.com/office/drawing/2014/main" id="{D0A6385F-2C74-4BD7-B8E1-080D573446F0}"/>
              </a:ext>
            </a:extLst>
          </p:cNvPr>
          <p:cNvSpPr txBox="1"/>
          <p:nvPr/>
        </p:nvSpPr>
        <p:spPr>
          <a:xfrm>
            <a:off x="3829581" y="4214743"/>
            <a:ext cx="598614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</a:rPr>
              <a:t>458.3 kWh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146" name="TextBox 145">
            <a:extLst>
              <a:ext uri="{FF2B5EF4-FFF2-40B4-BE49-F238E27FC236}">
                <a16:creationId xmlns:a16="http://schemas.microsoft.com/office/drawing/2014/main" id="{6AE199BD-2A66-4043-9C23-29140A2289FD}"/>
              </a:ext>
            </a:extLst>
          </p:cNvPr>
          <p:cNvSpPr txBox="1"/>
          <p:nvPr/>
        </p:nvSpPr>
        <p:spPr>
          <a:xfrm>
            <a:off x="3827839" y="4301527"/>
            <a:ext cx="598614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</a:rPr>
              <a:t>458.3 kWh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147" name="TextBox 146">
            <a:extLst>
              <a:ext uri="{FF2B5EF4-FFF2-40B4-BE49-F238E27FC236}">
                <a16:creationId xmlns:a16="http://schemas.microsoft.com/office/drawing/2014/main" id="{AE696A1F-5E0A-4AD0-8515-A223D75ECB6C}"/>
              </a:ext>
            </a:extLst>
          </p:cNvPr>
          <p:cNvSpPr txBox="1"/>
          <p:nvPr/>
        </p:nvSpPr>
        <p:spPr>
          <a:xfrm>
            <a:off x="3629460" y="4204329"/>
            <a:ext cx="468850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500" dirty="0" err="1">
                <a:solidFill>
                  <a:schemeClr val="bg1"/>
                </a:solidFill>
              </a:rPr>
              <a:t>충전량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148" name="TextBox 147">
            <a:extLst>
              <a:ext uri="{FF2B5EF4-FFF2-40B4-BE49-F238E27FC236}">
                <a16:creationId xmlns:a16="http://schemas.microsoft.com/office/drawing/2014/main" id="{659C2E1D-7769-4DB4-B98E-27F31F7C039D}"/>
              </a:ext>
            </a:extLst>
          </p:cNvPr>
          <p:cNvSpPr txBox="1"/>
          <p:nvPr/>
        </p:nvSpPr>
        <p:spPr>
          <a:xfrm>
            <a:off x="3624246" y="4306434"/>
            <a:ext cx="468850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500" dirty="0" err="1">
                <a:solidFill>
                  <a:schemeClr val="bg1"/>
                </a:solidFill>
              </a:rPr>
              <a:t>방전량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149" name="TextBox 148">
            <a:extLst>
              <a:ext uri="{FF2B5EF4-FFF2-40B4-BE49-F238E27FC236}">
                <a16:creationId xmlns:a16="http://schemas.microsoft.com/office/drawing/2014/main" id="{80AD5206-EE5E-4369-9D34-D1C6C45DB806}"/>
              </a:ext>
            </a:extLst>
          </p:cNvPr>
          <p:cNvSpPr txBox="1"/>
          <p:nvPr/>
        </p:nvSpPr>
        <p:spPr>
          <a:xfrm>
            <a:off x="3674559" y="4115684"/>
            <a:ext cx="418353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600" dirty="0">
                <a:solidFill>
                  <a:schemeClr val="bg1"/>
                </a:solidFill>
              </a:rPr>
              <a:t>PCS_2</a:t>
            </a:r>
            <a:endParaRPr lang="ko-KR" altLang="en-US" sz="600" dirty="0">
              <a:solidFill>
                <a:schemeClr val="bg1"/>
              </a:solidFill>
            </a:endParaRPr>
          </a:p>
        </p:txBody>
      </p:sp>
      <p:grpSp>
        <p:nvGrpSpPr>
          <p:cNvPr id="150" name="그룹 149">
            <a:extLst>
              <a:ext uri="{FF2B5EF4-FFF2-40B4-BE49-F238E27FC236}">
                <a16:creationId xmlns:a16="http://schemas.microsoft.com/office/drawing/2014/main" id="{3A56B298-C36B-4FC9-B4D9-7E7A014D4B02}"/>
              </a:ext>
            </a:extLst>
          </p:cNvPr>
          <p:cNvGrpSpPr/>
          <p:nvPr/>
        </p:nvGrpSpPr>
        <p:grpSpPr>
          <a:xfrm>
            <a:off x="4271903" y="4105535"/>
            <a:ext cx="805559" cy="374585"/>
            <a:chOff x="4135417" y="5220442"/>
            <a:chExt cx="805559" cy="374585"/>
          </a:xfrm>
        </p:grpSpPr>
        <p:sp>
          <p:nvSpPr>
            <p:cNvPr id="151" name="TextBox 150">
              <a:extLst>
                <a:ext uri="{FF2B5EF4-FFF2-40B4-BE49-F238E27FC236}">
                  <a16:creationId xmlns:a16="http://schemas.microsoft.com/office/drawing/2014/main" id="{EC690CCE-429F-4C2A-B270-1F29C65220B0}"/>
                </a:ext>
              </a:extLst>
            </p:cNvPr>
            <p:cNvSpPr txBox="1"/>
            <p:nvPr/>
          </p:nvSpPr>
          <p:spPr>
            <a:xfrm>
              <a:off x="4179571" y="5220442"/>
              <a:ext cx="41835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600" dirty="0">
                  <a:solidFill>
                    <a:schemeClr val="bg1"/>
                  </a:solidFill>
                </a:rPr>
                <a:t>BMS_1</a:t>
              </a:r>
              <a:endParaRPr lang="ko-KR" altLang="en-US" sz="600" dirty="0">
                <a:solidFill>
                  <a:schemeClr val="bg1"/>
                </a:solidFill>
              </a:endParaRPr>
            </a:p>
          </p:txBody>
        </p:sp>
        <p:sp>
          <p:nvSpPr>
            <p:cNvPr id="152" name="TextBox 151">
              <a:extLst>
                <a:ext uri="{FF2B5EF4-FFF2-40B4-BE49-F238E27FC236}">
                  <a16:creationId xmlns:a16="http://schemas.microsoft.com/office/drawing/2014/main" id="{0B6BE3D5-2AFC-48EF-9C42-B2AB5CA57F40}"/>
                </a:ext>
              </a:extLst>
            </p:cNvPr>
            <p:cNvSpPr txBox="1"/>
            <p:nvPr/>
          </p:nvSpPr>
          <p:spPr>
            <a:xfrm>
              <a:off x="4342362" y="5334059"/>
              <a:ext cx="59861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500" dirty="0">
                  <a:solidFill>
                    <a:schemeClr val="bg1"/>
                  </a:solidFill>
                </a:rPr>
                <a:t>680.000 V</a:t>
              </a:r>
              <a:endParaRPr lang="ko-KR" altLang="en-US" sz="500" dirty="0">
                <a:solidFill>
                  <a:schemeClr val="bg1"/>
                </a:solidFill>
              </a:endParaRPr>
            </a:p>
          </p:txBody>
        </p:sp>
        <p:sp>
          <p:nvSpPr>
            <p:cNvPr id="153" name="TextBox 152">
              <a:extLst>
                <a:ext uri="{FF2B5EF4-FFF2-40B4-BE49-F238E27FC236}">
                  <a16:creationId xmlns:a16="http://schemas.microsoft.com/office/drawing/2014/main" id="{E65B4815-0C9A-4596-8E7F-87AE78C524CE}"/>
                </a:ext>
              </a:extLst>
            </p:cNvPr>
            <p:cNvSpPr txBox="1"/>
            <p:nvPr/>
          </p:nvSpPr>
          <p:spPr>
            <a:xfrm>
              <a:off x="4340620" y="5420843"/>
              <a:ext cx="59861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500" dirty="0">
                  <a:solidFill>
                    <a:schemeClr val="bg1"/>
                  </a:solidFill>
                </a:rPr>
                <a:t>0.000 V</a:t>
              </a:r>
              <a:endParaRPr lang="ko-KR" altLang="en-US" sz="500" dirty="0">
                <a:solidFill>
                  <a:schemeClr val="bg1"/>
                </a:solidFill>
              </a:endParaRPr>
            </a:p>
          </p:txBody>
        </p:sp>
        <p:sp>
          <p:nvSpPr>
            <p:cNvPr id="154" name="TextBox 153">
              <a:extLst>
                <a:ext uri="{FF2B5EF4-FFF2-40B4-BE49-F238E27FC236}">
                  <a16:creationId xmlns:a16="http://schemas.microsoft.com/office/drawing/2014/main" id="{B6A1C69B-CC94-4B5A-9BF5-A420EAA590C0}"/>
                </a:ext>
              </a:extLst>
            </p:cNvPr>
            <p:cNvSpPr txBox="1"/>
            <p:nvPr/>
          </p:nvSpPr>
          <p:spPr>
            <a:xfrm>
              <a:off x="4135417" y="5323645"/>
              <a:ext cx="46885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500">
                  <a:solidFill>
                    <a:schemeClr val="bg1"/>
                  </a:solidFill>
                </a:rPr>
                <a:t>전압</a:t>
              </a:r>
              <a:endParaRPr lang="ko-KR" altLang="en-US" sz="500" dirty="0">
                <a:solidFill>
                  <a:schemeClr val="bg1"/>
                </a:solidFill>
              </a:endParaRPr>
            </a:p>
          </p:txBody>
        </p:sp>
        <p:sp>
          <p:nvSpPr>
            <p:cNvPr id="155" name="TextBox 154">
              <a:extLst>
                <a:ext uri="{FF2B5EF4-FFF2-40B4-BE49-F238E27FC236}">
                  <a16:creationId xmlns:a16="http://schemas.microsoft.com/office/drawing/2014/main" id="{C4D4A4A4-E86C-4B7D-A014-C063D2B4302A}"/>
                </a:ext>
              </a:extLst>
            </p:cNvPr>
            <p:cNvSpPr txBox="1"/>
            <p:nvPr/>
          </p:nvSpPr>
          <p:spPr>
            <a:xfrm>
              <a:off x="4137027" y="5425750"/>
              <a:ext cx="46885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500" dirty="0">
                  <a:solidFill>
                    <a:schemeClr val="bg1"/>
                  </a:solidFill>
                </a:rPr>
                <a:t>전류</a:t>
              </a:r>
            </a:p>
          </p:txBody>
        </p:sp>
      </p:grpSp>
      <p:grpSp>
        <p:nvGrpSpPr>
          <p:cNvPr id="156" name="그룹 155">
            <a:extLst>
              <a:ext uri="{FF2B5EF4-FFF2-40B4-BE49-F238E27FC236}">
                <a16:creationId xmlns:a16="http://schemas.microsoft.com/office/drawing/2014/main" id="{AAC1DAA0-5BE5-4009-99E0-E7250B030DE5}"/>
              </a:ext>
            </a:extLst>
          </p:cNvPr>
          <p:cNvGrpSpPr/>
          <p:nvPr/>
        </p:nvGrpSpPr>
        <p:grpSpPr>
          <a:xfrm>
            <a:off x="4928848" y="4105535"/>
            <a:ext cx="805559" cy="374585"/>
            <a:chOff x="4135417" y="5220442"/>
            <a:chExt cx="805559" cy="374585"/>
          </a:xfrm>
        </p:grpSpPr>
        <p:sp>
          <p:nvSpPr>
            <p:cNvPr id="157" name="TextBox 156">
              <a:extLst>
                <a:ext uri="{FF2B5EF4-FFF2-40B4-BE49-F238E27FC236}">
                  <a16:creationId xmlns:a16="http://schemas.microsoft.com/office/drawing/2014/main" id="{62FA9600-1469-4BC5-889F-0C97A12704F4}"/>
                </a:ext>
              </a:extLst>
            </p:cNvPr>
            <p:cNvSpPr txBox="1"/>
            <p:nvPr/>
          </p:nvSpPr>
          <p:spPr>
            <a:xfrm>
              <a:off x="4179571" y="5220442"/>
              <a:ext cx="41835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600" dirty="0">
                  <a:solidFill>
                    <a:schemeClr val="bg1"/>
                  </a:solidFill>
                </a:rPr>
                <a:t>BMS_2</a:t>
              </a:r>
              <a:endParaRPr lang="ko-KR" altLang="en-US" sz="600" dirty="0">
                <a:solidFill>
                  <a:schemeClr val="bg1"/>
                </a:solidFill>
              </a:endParaRPr>
            </a:p>
          </p:txBody>
        </p:sp>
        <p:sp>
          <p:nvSpPr>
            <p:cNvPr id="158" name="TextBox 157">
              <a:extLst>
                <a:ext uri="{FF2B5EF4-FFF2-40B4-BE49-F238E27FC236}">
                  <a16:creationId xmlns:a16="http://schemas.microsoft.com/office/drawing/2014/main" id="{B0573636-5F6F-4B5D-A43E-30AC002AFB54}"/>
                </a:ext>
              </a:extLst>
            </p:cNvPr>
            <p:cNvSpPr txBox="1"/>
            <p:nvPr/>
          </p:nvSpPr>
          <p:spPr>
            <a:xfrm>
              <a:off x="4342362" y="5334059"/>
              <a:ext cx="59861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500" dirty="0">
                  <a:solidFill>
                    <a:schemeClr val="bg1"/>
                  </a:solidFill>
                </a:rPr>
                <a:t>680.000 V</a:t>
              </a:r>
              <a:endParaRPr lang="ko-KR" altLang="en-US" sz="500" dirty="0">
                <a:solidFill>
                  <a:schemeClr val="bg1"/>
                </a:solidFill>
              </a:endParaRPr>
            </a:p>
          </p:txBody>
        </p:sp>
        <p:sp>
          <p:nvSpPr>
            <p:cNvPr id="159" name="TextBox 158">
              <a:extLst>
                <a:ext uri="{FF2B5EF4-FFF2-40B4-BE49-F238E27FC236}">
                  <a16:creationId xmlns:a16="http://schemas.microsoft.com/office/drawing/2014/main" id="{C91C3ADA-03EF-471D-8D5E-97B3BEE1230C}"/>
                </a:ext>
              </a:extLst>
            </p:cNvPr>
            <p:cNvSpPr txBox="1"/>
            <p:nvPr/>
          </p:nvSpPr>
          <p:spPr>
            <a:xfrm>
              <a:off x="4340620" y="5420843"/>
              <a:ext cx="59861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500" dirty="0">
                  <a:solidFill>
                    <a:schemeClr val="bg1"/>
                  </a:solidFill>
                </a:rPr>
                <a:t>0.000 V</a:t>
              </a:r>
              <a:endParaRPr lang="ko-KR" altLang="en-US" sz="500" dirty="0">
                <a:solidFill>
                  <a:schemeClr val="bg1"/>
                </a:solidFill>
              </a:endParaRPr>
            </a:p>
          </p:txBody>
        </p:sp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80435AC8-4ED7-475A-AA8E-0E04E801E2E1}"/>
                </a:ext>
              </a:extLst>
            </p:cNvPr>
            <p:cNvSpPr txBox="1"/>
            <p:nvPr/>
          </p:nvSpPr>
          <p:spPr>
            <a:xfrm>
              <a:off x="4135417" y="5323645"/>
              <a:ext cx="46885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500">
                  <a:solidFill>
                    <a:schemeClr val="bg1"/>
                  </a:solidFill>
                </a:rPr>
                <a:t>전압</a:t>
              </a:r>
              <a:endParaRPr lang="ko-KR" altLang="en-US" sz="500" dirty="0">
                <a:solidFill>
                  <a:schemeClr val="bg1"/>
                </a:solidFill>
              </a:endParaRPr>
            </a:p>
          </p:txBody>
        </p:sp>
        <p:sp>
          <p:nvSpPr>
            <p:cNvPr id="161" name="TextBox 160">
              <a:extLst>
                <a:ext uri="{FF2B5EF4-FFF2-40B4-BE49-F238E27FC236}">
                  <a16:creationId xmlns:a16="http://schemas.microsoft.com/office/drawing/2014/main" id="{CC7249A9-517A-4B4A-ABB6-2E81BCF77830}"/>
                </a:ext>
              </a:extLst>
            </p:cNvPr>
            <p:cNvSpPr txBox="1"/>
            <p:nvPr/>
          </p:nvSpPr>
          <p:spPr>
            <a:xfrm>
              <a:off x="4137027" y="5425750"/>
              <a:ext cx="46885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500" dirty="0">
                  <a:solidFill>
                    <a:schemeClr val="bg1"/>
                  </a:solidFill>
                </a:rPr>
                <a:t>전류</a:t>
              </a:r>
            </a:p>
          </p:txBody>
        </p:sp>
      </p:grpSp>
      <p:grpSp>
        <p:nvGrpSpPr>
          <p:cNvPr id="162" name="그룹 161">
            <a:extLst>
              <a:ext uri="{FF2B5EF4-FFF2-40B4-BE49-F238E27FC236}">
                <a16:creationId xmlns:a16="http://schemas.microsoft.com/office/drawing/2014/main" id="{B1AEFCF0-0453-4ADD-AC0E-FADB62085339}"/>
              </a:ext>
            </a:extLst>
          </p:cNvPr>
          <p:cNvGrpSpPr/>
          <p:nvPr/>
        </p:nvGrpSpPr>
        <p:grpSpPr>
          <a:xfrm>
            <a:off x="2987545" y="4447583"/>
            <a:ext cx="776403" cy="451529"/>
            <a:chOff x="4137026" y="5220442"/>
            <a:chExt cx="542695" cy="451529"/>
          </a:xfrm>
        </p:grpSpPr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4233288C-DD47-48B7-8AEE-FAFBBD3AFA70}"/>
                </a:ext>
              </a:extLst>
            </p:cNvPr>
            <p:cNvSpPr txBox="1"/>
            <p:nvPr/>
          </p:nvSpPr>
          <p:spPr>
            <a:xfrm>
              <a:off x="4179571" y="5220442"/>
              <a:ext cx="41835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dirty="0">
                  <a:solidFill>
                    <a:schemeClr val="bg1"/>
                  </a:solidFill>
                </a:rPr>
                <a:t>IOT_1</a:t>
              </a:r>
              <a:endParaRPr lang="ko-KR" altLang="en-US" sz="600" dirty="0">
                <a:solidFill>
                  <a:schemeClr val="bg1"/>
                </a:solidFill>
              </a:endParaRPr>
            </a:p>
          </p:txBody>
        </p:sp>
        <p:sp>
          <p:nvSpPr>
            <p:cNvPr id="164" name="TextBox 163">
              <a:extLst>
                <a:ext uri="{FF2B5EF4-FFF2-40B4-BE49-F238E27FC236}">
                  <a16:creationId xmlns:a16="http://schemas.microsoft.com/office/drawing/2014/main" id="{BFFB1ECC-AEE7-46C2-962C-C9DB9B60996B}"/>
                </a:ext>
              </a:extLst>
            </p:cNvPr>
            <p:cNvSpPr txBox="1"/>
            <p:nvPr/>
          </p:nvSpPr>
          <p:spPr>
            <a:xfrm>
              <a:off x="4142240" y="5323645"/>
              <a:ext cx="52680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500" b="1" dirty="0">
                  <a:solidFill>
                    <a:srgbClr val="92D050"/>
                  </a:solidFill>
                </a:rPr>
                <a:t>Connected</a:t>
              </a:r>
              <a:endParaRPr lang="ko-KR" altLang="en-US" sz="500" b="1" dirty="0">
                <a:solidFill>
                  <a:srgbClr val="92D050"/>
                </a:solidFill>
              </a:endParaRPr>
            </a:p>
          </p:txBody>
        </p:sp>
        <p:sp>
          <p:nvSpPr>
            <p:cNvPr id="165" name="TextBox 164">
              <a:extLst>
                <a:ext uri="{FF2B5EF4-FFF2-40B4-BE49-F238E27FC236}">
                  <a16:creationId xmlns:a16="http://schemas.microsoft.com/office/drawing/2014/main" id="{05E3CECA-1BBA-4E4E-8F6C-56419E3B3478}"/>
                </a:ext>
              </a:extLst>
            </p:cNvPr>
            <p:cNvSpPr txBox="1"/>
            <p:nvPr/>
          </p:nvSpPr>
          <p:spPr>
            <a:xfrm>
              <a:off x="4137026" y="5425750"/>
              <a:ext cx="54269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500" dirty="0">
                  <a:solidFill>
                    <a:schemeClr val="bg1"/>
                  </a:solidFill>
                </a:rPr>
                <a:t>2018-07-01 1:12:12</a:t>
              </a:r>
              <a:endParaRPr lang="ko-KR" altLang="en-US" sz="500" dirty="0">
                <a:solidFill>
                  <a:schemeClr val="bg1"/>
                </a:solidFill>
              </a:endParaRPr>
            </a:p>
          </p:txBody>
        </p:sp>
      </p:grpSp>
      <p:sp>
        <p:nvSpPr>
          <p:cNvPr id="166" name="사각형: 둥근 모서리 165">
            <a:extLst>
              <a:ext uri="{FF2B5EF4-FFF2-40B4-BE49-F238E27FC236}">
                <a16:creationId xmlns:a16="http://schemas.microsoft.com/office/drawing/2014/main" id="{59EB8A80-C789-4765-8155-EF2C30DBCA9A}"/>
              </a:ext>
            </a:extLst>
          </p:cNvPr>
          <p:cNvSpPr/>
          <p:nvPr/>
        </p:nvSpPr>
        <p:spPr>
          <a:xfrm>
            <a:off x="3718638" y="4828332"/>
            <a:ext cx="599739" cy="307364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7" name="사각형: 둥근 모서리 166">
            <a:extLst>
              <a:ext uri="{FF2B5EF4-FFF2-40B4-BE49-F238E27FC236}">
                <a16:creationId xmlns:a16="http://schemas.microsoft.com/office/drawing/2014/main" id="{EB390EBF-8C9F-4C69-94B4-1A70E89C0E89}"/>
              </a:ext>
            </a:extLst>
          </p:cNvPr>
          <p:cNvSpPr/>
          <p:nvPr/>
        </p:nvSpPr>
        <p:spPr>
          <a:xfrm>
            <a:off x="4369147" y="4828332"/>
            <a:ext cx="599739" cy="307364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8" name="사각형: 둥근 모서리 167">
            <a:extLst>
              <a:ext uri="{FF2B5EF4-FFF2-40B4-BE49-F238E27FC236}">
                <a16:creationId xmlns:a16="http://schemas.microsoft.com/office/drawing/2014/main" id="{15F6E3FF-6980-4C0B-AE99-84D9F9180178}"/>
              </a:ext>
            </a:extLst>
          </p:cNvPr>
          <p:cNvSpPr/>
          <p:nvPr/>
        </p:nvSpPr>
        <p:spPr>
          <a:xfrm>
            <a:off x="5019656" y="4828332"/>
            <a:ext cx="599739" cy="307364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9" name="사각형: 둥근 모서리 168">
            <a:extLst>
              <a:ext uri="{FF2B5EF4-FFF2-40B4-BE49-F238E27FC236}">
                <a16:creationId xmlns:a16="http://schemas.microsoft.com/office/drawing/2014/main" id="{41E73680-F486-4E02-B356-683B3E003EAB}"/>
              </a:ext>
            </a:extLst>
          </p:cNvPr>
          <p:cNvSpPr/>
          <p:nvPr/>
        </p:nvSpPr>
        <p:spPr>
          <a:xfrm>
            <a:off x="3079907" y="4831035"/>
            <a:ext cx="599739" cy="307364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70" name="그룹 169">
            <a:extLst>
              <a:ext uri="{FF2B5EF4-FFF2-40B4-BE49-F238E27FC236}">
                <a16:creationId xmlns:a16="http://schemas.microsoft.com/office/drawing/2014/main" id="{135BCD2D-0C8F-42BB-92B2-A78CFF61817C}"/>
              </a:ext>
            </a:extLst>
          </p:cNvPr>
          <p:cNvGrpSpPr/>
          <p:nvPr/>
        </p:nvGrpSpPr>
        <p:grpSpPr>
          <a:xfrm>
            <a:off x="5779878" y="2893179"/>
            <a:ext cx="2492869" cy="314700"/>
            <a:chOff x="475933" y="4908190"/>
            <a:chExt cx="2804731" cy="314700"/>
          </a:xfrm>
        </p:grpSpPr>
        <p:sp>
          <p:nvSpPr>
            <p:cNvPr id="171" name="직사각형 170">
              <a:extLst>
                <a:ext uri="{FF2B5EF4-FFF2-40B4-BE49-F238E27FC236}">
                  <a16:creationId xmlns:a16="http://schemas.microsoft.com/office/drawing/2014/main" id="{4F9B228F-73DD-4E8A-BDFC-886AB4E4DA6B}"/>
                </a:ext>
              </a:extLst>
            </p:cNvPr>
            <p:cNvSpPr/>
            <p:nvPr/>
          </p:nvSpPr>
          <p:spPr>
            <a:xfrm>
              <a:off x="475933" y="4929265"/>
              <a:ext cx="436148" cy="28800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altLang="ko-KR" sz="400" b="1" dirty="0">
                  <a:solidFill>
                    <a:srgbClr val="FFC000"/>
                  </a:solidFill>
                  <a:latin typeface="맑은 고딕" pitchFamily="50" charset="-127"/>
                  <a:ea typeface="맑은 고딕" pitchFamily="50" charset="-127"/>
                </a:rPr>
                <a:t>ESS</a:t>
              </a:r>
              <a:r>
                <a:rPr lang="ko-KR" altLang="en-US" sz="400" b="1" dirty="0">
                  <a:solidFill>
                    <a:srgbClr val="FFC000"/>
                  </a:solidFill>
                  <a:latin typeface="맑은 고딕" pitchFamily="50" charset="-127"/>
                  <a:ea typeface="맑은 고딕" pitchFamily="50" charset="-127"/>
                </a:rPr>
                <a:t> 수익</a:t>
              </a:r>
            </a:p>
          </p:txBody>
        </p:sp>
        <p:sp>
          <p:nvSpPr>
            <p:cNvPr id="172" name="직사각형 171">
              <a:extLst>
                <a:ext uri="{FF2B5EF4-FFF2-40B4-BE49-F238E27FC236}">
                  <a16:creationId xmlns:a16="http://schemas.microsoft.com/office/drawing/2014/main" id="{9B9BDAA6-6EBC-497D-9AA3-1125E3361C67}"/>
                </a:ext>
              </a:extLst>
            </p:cNvPr>
            <p:cNvSpPr/>
            <p:nvPr/>
          </p:nvSpPr>
          <p:spPr>
            <a:xfrm>
              <a:off x="753539" y="4915601"/>
              <a:ext cx="606962" cy="288032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0"/>
            <a:lstStyle/>
            <a:p>
              <a:pPr>
                <a:lnSpc>
                  <a:spcPct val="150000"/>
                </a:lnSpc>
              </a:pPr>
              <a:r>
                <a:rPr lang="en-US" altLang="ko-KR" sz="7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80,000</a:t>
              </a:r>
              <a:endParaRPr lang="ko-KR" altLang="en-US" sz="7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73" name="직사각형 172">
              <a:extLst>
                <a:ext uri="{FF2B5EF4-FFF2-40B4-BE49-F238E27FC236}">
                  <a16:creationId xmlns:a16="http://schemas.microsoft.com/office/drawing/2014/main" id="{BBABC023-E1AB-4965-B8E5-23F634C42D1A}"/>
                </a:ext>
              </a:extLst>
            </p:cNvPr>
            <p:cNvSpPr/>
            <p:nvPr/>
          </p:nvSpPr>
          <p:spPr>
            <a:xfrm>
              <a:off x="1098838" y="4929265"/>
              <a:ext cx="436148" cy="28800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altLang="ko-KR" sz="400" b="1" dirty="0">
                  <a:solidFill>
                    <a:srgbClr val="00B0F0"/>
                  </a:solidFill>
                  <a:latin typeface="맑은 고딕" pitchFamily="50" charset="-127"/>
                  <a:ea typeface="맑은 고딕" pitchFamily="50" charset="-127"/>
                </a:rPr>
                <a:t>DR</a:t>
              </a:r>
              <a:r>
                <a:rPr lang="ko-KR" altLang="en-US" sz="400" b="1" dirty="0">
                  <a:solidFill>
                    <a:srgbClr val="00B0F0"/>
                  </a:solidFill>
                  <a:latin typeface="맑은 고딕" pitchFamily="50" charset="-127"/>
                  <a:ea typeface="맑은 고딕" pitchFamily="50" charset="-127"/>
                </a:rPr>
                <a:t> 수익</a:t>
              </a:r>
            </a:p>
          </p:txBody>
        </p:sp>
        <p:sp>
          <p:nvSpPr>
            <p:cNvPr id="174" name="직사각형 173">
              <a:extLst>
                <a:ext uri="{FF2B5EF4-FFF2-40B4-BE49-F238E27FC236}">
                  <a16:creationId xmlns:a16="http://schemas.microsoft.com/office/drawing/2014/main" id="{CF9832C7-CF19-48EB-8203-1F947A6F14B3}"/>
                </a:ext>
              </a:extLst>
            </p:cNvPr>
            <p:cNvSpPr/>
            <p:nvPr/>
          </p:nvSpPr>
          <p:spPr>
            <a:xfrm>
              <a:off x="1364833" y="4915601"/>
              <a:ext cx="598101" cy="288032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0"/>
            <a:lstStyle/>
            <a:p>
              <a:pPr>
                <a:lnSpc>
                  <a:spcPct val="150000"/>
                </a:lnSpc>
              </a:pPr>
              <a:r>
                <a:rPr lang="en-US" altLang="ko-KR" sz="7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25,000</a:t>
              </a:r>
              <a:endParaRPr lang="ko-KR" altLang="en-US" sz="7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75" name="직사각형 174">
              <a:extLst>
                <a:ext uri="{FF2B5EF4-FFF2-40B4-BE49-F238E27FC236}">
                  <a16:creationId xmlns:a16="http://schemas.microsoft.com/office/drawing/2014/main" id="{2E8D2295-1A56-4F82-82A3-C3F700874FFF}"/>
                </a:ext>
              </a:extLst>
            </p:cNvPr>
            <p:cNvSpPr/>
            <p:nvPr/>
          </p:nvSpPr>
          <p:spPr>
            <a:xfrm>
              <a:off x="2134425" y="4934890"/>
              <a:ext cx="825695" cy="28800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150000"/>
                </a:lnSpc>
              </a:pPr>
              <a:r>
                <a:rPr lang="ko-KR" altLang="en-US" sz="400" b="1" dirty="0">
                  <a:solidFill>
                    <a:schemeClr val="accent6">
                      <a:lumMod val="75000"/>
                    </a:schemeClr>
                  </a:solidFill>
                  <a:latin typeface="맑은 고딕" pitchFamily="50" charset="-127"/>
                  <a:ea typeface="맑은 고딕" pitchFamily="50" charset="-127"/>
                </a:rPr>
                <a:t>전체 수익</a:t>
              </a:r>
            </a:p>
          </p:txBody>
        </p:sp>
        <p:sp>
          <p:nvSpPr>
            <p:cNvPr id="176" name="직사각형 175">
              <a:extLst>
                <a:ext uri="{FF2B5EF4-FFF2-40B4-BE49-F238E27FC236}">
                  <a16:creationId xmlns:a16="http://schemas.microsoft.com/office/drawing/2014/main" id="{0AF78589-4F47-4328-81B7-B593D888BD8E}"/>
                </a:ext>
              </a:extLst>
            </p:cNvPr>
            <p:cNvSpPr/>
            <p:nvPr/>
          </p:nvSpPr>
          <p:spPr>
            <a:xfrm>
              <a:off x="2615847" y="4921226"/>
              <a:ext cx="664817" cy="288032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0"/>
            <a:lstStyle/>
            <a:p>
              <a:pPr>
                <a:lnSpc>
                  <a:spcPct val="150000"/>
                </a:lnSpc>
              </a:pPr>
              <a:r>
                <a:rPr lang="en-US" altLang="ko-KR" sz="7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120,000</a:t>
              </a:r>
              <a:endParaRPr lang="ko-KR" altLang="en-US" sz="7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77" name="직사각형 176">
              <a:extLst>
                <a:ext uri="{FF2B5EF4-FFF2-40B4-BE49-F238E27FC236}">
                  <a16:creationId xmlns:a16="http://schemas.microsoft.com/office/drawing/2014/main" id="{846B7C7C-7656-4007-A81D-A45FD0242D07}"/>
                </a:ext>
              </a:extLst>
            </p:cNvPr>
            <p:cNvSpPr/>
            <p:nvPr/>
          </p:nvSpPr>
          <p:spPr>
            <a:xfrm>
              <a:off x="1708458" y="4921854"/>
              <a:ext cx="436148" cy="28800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altLang="ko-KR" sz="400" b="1" dirty="0">
                  <a:solidFill>
                    <a:srgbClr val="00B050"/>
                  </a:solidFill>
                  <a:latin typeface="맑은 고딕" pitchFamily="50" charset="-127"/>
                  <a:ea typeface="맑은 고딕" pitchFamily="50" charset="-127"/>
                </a:rPr>
                <a:t>PV</a:t>
              </a:r>
              <a:r>
                <a:rPr lang="ko-KR" altLang="en-US" sz="400" b="1" dirty="0">
                  <a:solidFill>
                    <a:srgbClr val="00B050"/>
                  </a:solidFill>
                  <a:latin typeface="맑은 고딕" pitchFamily="50" charset="-127"/>
                  <a:ea typeface="맑은 고딕" pitchFamily="50" charset="-127"/>
                </a:rPr>
                <a:t> 수익</a:t>
              </a:r>
            </a:p>
          </p:txBody>
        </p:sp>
        <p:sp>
          <p:nvSpPr>
            <p:cNvPr id="178" name="직사각형 177">
              <a:extLst>
                <a:ext uri="{FF2B5EF4-FFF2-40B4-BE49-F238E27FC236}">
                  <a16:creationId xmlns:a16="http://schemas.microsoft.com/office/drawing/2014/main" id="{FC0304E2-615C-4689-BCD1-61865965A73A}"/>
                </a:ext>
              </a:extLst>
            </p:cNvPr>
            <p:cNvSpPr/>
            <p:nvPr/>
          </p:nvSpPr>
          <p:spPr>
            <a:xfrm>
              <a:off x="1972163" y="4908190"/>
              <a:ext cx="598101" cy="288032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0"/>
            <a:lstStyle/>
            <a:p>
              <a:pPr>
                <a:lnSpc>
                  <a:spcPct val="150000"/>
                </a:lnSpc>
              </a:pPr>
              <a:r>
                <a:rPr lang="en-US" altLang="ko-KR" sz="7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15,000</a:t>
              </a:r>
              <a:endParaRPr lang="ko-KR" altLang="en-US" sz="7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pic>
        <p:nvPicPr>
          <p:cNvPr id="179" name="그림 178">
            <a:extLst>
              <a:ext uri="{FF2B5EF4-FFF2-40B4-BE49-F238E27FC236}">
                <a16:creationId xmlns:a16="http://schemas.microsoft.com/office/drawing/2014/main" id="{43F49AA6-A334-423D-8A9A-9ACFF6143860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98623" y="4914501"/>
            <a:ext cx="2540384" cy="1109333"/>
          </a:xfrm>
          <a:prstGeom prst="rect">
            <a:avLst/>
          </a:prstGeom>
        </p:spPr>
      </p:pic>
      <p:pic>
        <p:nvPicPr>
          <p:cNvPr id="180" name="Picture 2" descr="ì¤ì ì ëí ì´ë¯¸ì§ ê²ìê²°ê³¼">
            <a:extLst>
              <a:ext uri="{FF2B5EF4-FFF2-40B4-BE49-F238E27FC236}">
                <a16:creationId xmlns:a16="http://schemas.microsoft.com/office/drawing/2014/main" id="{914E0CEB-2990-4BB9-BC98-4FEF770551E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13240" y="875775"/>
            <a:ext cx="198592" cy="19859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81" name="직사각형 180">
            <a:extLst>
              <a:ext uri="{FF2B5EF4-FFF2-40B4-BE49-F238E27FC236}">
                <a16:creationId xmlns:a16="http://schemas.microsoft.com/office/drawing/2014/main" id="{EC79ED2B-6574-420F-89F8-A71ADF751787}"/>
              </a:ext>
            </a:extLst>
          </p:cNvPr>
          <p:cNvSpPr/>
          <p:nvPr/>
        </p:nvSpPr>
        <p:spPr>
          <a:xfrm>
            <a:off x="6295753" y="2514956"/>
            <a:ext cx="115200" cy="143890"/>
          </a:xfrm>
          <a:prstGeom prst="rect">
            <a:avLst/>
          </a:prstGeom>
          <a:solidFill>
            <a:srgbClr val="00B05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grpSp>
        <p:nvGrpSpPr>
          <p:cNvPr id="182" name="그룹 181">
            <a:extLst>
              <a:ext uri="{FF2B5EF4-FFF2-40B4-BE49-F238E27FC236}">
                <a16:creationId xmlns:a16="http://schemas.microsoft.com/office/drawing/2014/main" id="{FD473941-BF61-48C9-8179-82061C4044E5}"/>
              </a:ext>
            </a:extLst>
          </p:cNvPr>
          <p:cNvGrpSpPr/>
          <p:nvPr/>
        </p:nvGrpSpPr>
        <p:grpSpPr>
          <a:xfrm>
            <a:off x="6129387" y="3492583"/>
            <a:ext cx="1912013" cy="1068681"/>
            <a:chOff x="1180851" y="2959945"/>
            <a:chExt cx="7495605" cy="1884776"/>
          </a:xfrm>
        </p:grpSpPr>
        <p:cxnSp>
          <p:nvCxnSpPr>
            <p:cNvPr id="183" name="직선 연결선 182">
              <a:extLst>
                <a:ext uri="{FF2B5EF4-FFF2-40B4-BE49-F238E27FC236}">
                  <a16:creationId xmlns:a16="http://schemas.microsoft.com/office/drawing/2014/main" id="{5297A632-8D76-4413-BFA5-80A9A0ADF9FF}"/>
                </a:ext>
              </a:extLst>
            </p:cNvPr>
            <p:cNvCxnSpPr/>
            <p:nvPr/>
          </p:nvCxnSpPr>
          <p:spPr>
            <a:xfrm>
              <a:off x="1187624" y="2959945"/>
              <a:ext cx="7488832" cy="0"/>
            </a:xfrm>
            <a:prstGeom prst="line">
              <a:avLst/>
            </a:prstGeom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4" name="직선 연결선 183">
              <a:extLst>
                <a:ext uri="{FF2B5EF4-FFF2-40B4-BE49-F238E27FC236}">
                  <a16:creationId xmlns:a16="http://schemas.microsoft.com/office/drawing/2014/main" id="{058D1019-8005-4550-8580-DFEE8C3A80A8}"/>
                </a:ext>
              </a:extLst>
            </p:cNvPr>
            <p:cNvCxnSpPr/>
            <p:nvPr/>
          </p:nvCxnSpPr>
          <p:spPr>
            <a:xfrm>
              <a:off x="1187624" y="3935861"/>
              <a:ext cx="7488832" cy="0"/>
            </a:xfrm>
            <a:prstGeom prst="line">
              <a:avLst/>
            </a:prstGeom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5" name="그룹 184">
              <a:extLst>
                <a:ext uri="{FF2B5EF4-FFF2-40B4-BE49-F238E27FC236}">
                  <a16:creationId xmlns:a16="http://schemas.microsoft.com/office/drawing/2014/main" id="{E413EEB1-D051-4A19-BC80-FDDD0B41977E}"/>
                </a:ext>
              </a:extLst>
            </p:cNvPr>
            <p:cNvGrpSpPr/>
            <p:nvPr/>
          </p:nvGrpSpPr>
          <p:grpSpPr>
            <a:xfrm flipH="1" flipV="1">
              <a:off x="4357435" y="3939476"/>
              <a:ext cx="2688227" cy="652703"/>
              <a:chOff x="1501760" y="2998490"/>
              <a:chExt cx="2520272" cy="1366614"/>
            </a:xfrm>
          </p:grpSpPr>
          <p:sp>
            <p:nvSpPr>
              <p:cNvPr id="204" name="직사각형 203">
                <a:extLst>
                  <a:ext uri="{FF2B5EF4-FFF2-40B4-BE49-F238E27FC236}">
                    <a16:creationId xmlns:a16="http://schemas.microsoft.com/office/drawing/2014/main" id="{BCA1AC6C-1F91-464B-B1C8-D7EB0F8D3EAF}"/>
                  </a:ext>
                </a:extLst>
              </p:cNvPr>
              <p:cNvSpPr/>
              <p:nvPr/>
            </p:nvSpPr>
            <p:spPr>
              <a:xfrm>
                <a:off x="1501760" y="4217882"/>
                <a:ext cx="72000" cy="147222"/>
              </a:xfrm>
              <a:prstGeom prst="rect">
                <a:avLst/>
              </a:prstGeom>
              <a:solidFill>
                <a:schemeClr val="tx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205" name="직사각형 204">
                <a:extLst>
                  <a:ext uri="{FF2B5EF4-FFF2-40B4-BE49-F238E27FC236}">
                    <a16:creationId xmlns:a16="http://schemas.microsoft.com/office/drawing/2014/main" id="{9078715B-7713-434A-8207-2B41F4B55AEB}"/>
                  </a:ext>
                </a:extLst>
              </p:cNvPr>
              <p:cNvSpPr/>
              <p:nvPr/>
            </p:nvSpPr>
            <p:spPr>
              <a:xfrm>
                <a:off x="3950032" y="2998490"/>
                <a:ext cx="72000" cy="1366614"/>
              </a:xfrm>
              <a:prstGeom prst="rect">
                <a:avLst/>
              </a:prstGeom>
              <a:solidFill>
                <a:schemeClr val="tx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207" name="직사각형 206">
                <a:extLst>
                  <a:ext uri="{FF2B5EF4-FFF2-40B4-BE49-F238E27FC236}">
                    <a16:creationId xmlns:a16="http://schemas.microsoft.com/office/drawing/2014/main" id="{688336F9-CA83-4B0A-97CD-FC10888F38C4}"/>
                  </a:ext>
                </a:extLst>
              </p:cNvPr>
              <p:cNvSpPr/>
              <p:nvPr/>
            </p:nvSpPr>
            <p:spPr>
              <a:xfrm>
                <a:off x="3638317" y="3069104"/>
                <a:ext cx="72000" cy="1296000"/>
              </a:xfrm>
              <a:prstGeom prst="rect">
                <a:avLst/>
              </a:prstGeom>
              <a:solidFill>
                <a:schemeClr val="tx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208" name="직사각형 207">
                <a:extLst>
                  <a:ext uri="{FF2B5EF4-FFF2-40B4-BE49-F238E27FC236}">
                    <a16:creationId xmlns:a16="http://schemas.microsoft.com/office/drawing/2014/main" id="{A6A2EB2C-A211-44BC-8790-B5520645BF4A}"/>
                  </a:ext>
                </a:extLst>
              </p:cNvPr>
              <p:cNvSpPr/>
              <p:nvPr/>
            </p:nvSpPr>
            <p:spPr>
              <a:xfrm>
                <a:off x="3327361" y="3214514"/>
                <a:ext cx="72000" cy="1150590"/>
              </a:xfrm>
              <a:prstGeom prst="rect">
                <a:avLst/>
              </a:prstGeom>
              <a:solidFill>
                <a:schemeClr val="tx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209" name="직사각형 208">
                <a:extLst>
                  <a:ext uri="{FF2B5EF4-FFF2-40B4-BE49-F238E27FC236}">
                    <a16:creationId xmlns:a16="http://schemas.microsoft.com/office/drawing/2014/main" id="{CA7F3D98-C544-486E-8CA1-EE0B9E35A7BF}"/>
                  </a:ext>
                </a:extLst>
              </p:cNvPr>
              <p:cNvSpPr/>
              <p:nvPr/>
            </p:nvSpPr>
            <p:spPr>
              <a:xfrm>
                <a:off x="3013928" y="3575612"/>
                <a:ext cx="72000" cy="789492"/>
              </a:xfrm>
              <a:prstGeom prst="rect">
                <a:avLst/>
              </a:prstGeom>
              <a:solidFill>
                <a:schemeClr val="tx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210" name="직사각형 209">
                <a:extLst>
                  <a:ext uri="{FF2B5EF4-FFF2-40B4-BE49-F238E27FC236}">
                    <a16:creationId xmlns:a16="http://schemas.microsoft.com/office/drawing/2014/main" id="{B6B16C4C-8696-45AA-B7B0-0D49A0DEF837}"/>
                  </a:ext>
                </a:extLst>
              </p:cNvPr>
              <p:cNvSpPr/>
              <p:nvPr/>
            </p:nvSpPr>
            <p:spPr>
              <a:xfrm>
                <a:off x="2748848" y="3681104"/>
                <a:ext cx="72000" cy="684000"/>
              </a:xfrm>
              <a:prstGeom prst="rect">
                <a:avLst/>
              </a:prstGeom>
              <a:solidFill>
                <a:schemeClr val="tx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211" name="직사각형 210">
                <a:extLst>
                  <a:ext uri="{FF2B5EF4-FFF2-40B4-BE49-F238E27FC236}">
                    <a16:creationId xmlns:a16="http://schemas.microsoft.com/office/drawing/2014/main" id="{D0586B7C-49A9-4783-AFDB-707E566A121E}"/>
                  </a:ext>
                </a:extLst>
              </p:cNvPr>
              <p:cNvSpPr/>
              <p:nvPr/>
            </p:nvSpPr>
            <p:spPr>
              <a:xfrm>
                <a:off x="2437864" y="3807104"/>
                <a:ext cx="72000" cy="558000"/>
              </a:xfrm>
              <a:prstGeom prst="rect">
                <a:avLst/>
              </a:prstGeom>
              <a:solidFill>
                <a:schemeClr val="tx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212" name="직사각형 211">
                <a:extLst>
                  <a:ext uri="{FF2B5EF4-FFF2-40B4-BE49-F238E27FC236}">
                    <a16:creationId xmlns:a16="http://schemas.microsoft.com/office/drawing/2014/main" id="{C61D6DB3-D088-4927-9259-CB72F1CF7619}"/>
                  </a:ext>
                </a:extLst>
              </p:cNvPr>
              <p:cNvSpPr/>
              <p:nvPr/>
            </p:nvSpPr>
            <p:spPr>
              <a:xfrm>
                <a:off x="2123923" y="3862586"/>
                <a:ext cx="72000" cy="502518"/>
              </a:xfrm>
              <a:prstGeom prst="rect">
                <a:avLst/>
              </a:prstGeom>
              <a:solidFill>
                <a:schemeClr val="tx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213" name="직사각형 212">
                <a:extLst>
                  <a:ext uri="{FF2B5EF4-FFF2-40B4-BE49-F238E27FC236}">
                    <a16:creationId xmlns:a16="http://schemas.microsoft.com/office/drawing/2014/main" id="{DFDB1911-71F3-49B8-863F-14746A7516F2}"/>
                  </a:ext>
                </a:extLst>
              </p:cNvPr>
              <p:cNvSpPr/>
              <p:nvPr/>
            </p:nvSpPr>
            <p:spPr>
              <a:xfrm>
                <a:off x="1789792" y="4059104"/>
                <a:ext cx="72000" cy="306000"/>
              </a:xfrm>
              <a:prstGeom prst="rect">
                <a:avLst/>
              </a:prstGeom>
              <a:solidFill>
                <a:schemeClr val="tx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</p:grpSp>
        <p:grpSp>
          <p:nvGrpSpPr>
            <p:cNvPr id="186" name="그룹 185">
              <a:extLst>
                <a:ext uri="{FF2B5EF4-FFF2-40B4-BE49-F238E27FC236}">
                  <a16:creationId xmlns:a16="http://schemas.microsoft.com/office/drawing/2014/main" id="{3953643F-A9F7-411D-AA50-FF0D1AB34ECF}"/>
                </a:ext>
              </a:extLst>
            </p:cNvPr>
            <p:cNvGrpSpPr/>
            <p:nvPr/>
          </p:nvGrpSpPr>
          <p:grpSpPr>
            <a:xfrm>
              <a:off x="1403648" y="3249056"/>
              <a:ext cx="2520272" cy="684000"/>
              <a:chOff x="1403648" y="2780928"/>
              <a:chExt cx="2520272" cy="1584176"/>
            </a:xfrm>
          </p:grpSpPr>
          <p:sp>
            <p:nvSpPr>
              <p:cNvPr id="195" name="직사각형 194">
                <a:extLst>
                  <a:ext uri="{FF2B5EF4-FFF2-40B4-BE49-F238E27FC236}">
                    <a16:creationId xmlns:a16="http://schemas.microsoft.com/office/drawing/2014/main" id="{6C46D95A-660C-4D11-A54D-70399BC51AC3}"/>
                  </a:ext>
                </a:extLst>
              </p:cNvPr>
              <p:cNvSpPr/>
              <p:nvPr/>
            </p:nvSpPr>
            <p:spPr>
              <a:xfrm>
                <a:off x="1403648" y="4185104"/>
                <a:ext cx="72000" cy="180000"/>
              </a:xfrm>
              <a:prstGeom prst="rect">
                <a:avLst/>
              </a:pr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196" name="직사각형 195">
                <a:extLst>
                  <a:ext uri="{FF2B5EF4-FFF2-40B4-BE49-F238E27FC236}">
                    <a16:creationId xmlns:a16="http://schemas.microsoft.com/office/drawing/2014/main" id="{082EE49D-B264-4A80-BAD1-3D64BEC5AEC7}"/>
                  </a:ext>
                </a:extLst>
              </p:cNvPr>
              <p:cNvSpPr/>
              <p:nvPr/>
            </p:nvSpPr>
            <p:spPr>
              <a:xfrm>
                <a:off x="3540205" y="2998490"/>
                <a:ext cx="72000" cy="1366614"/>
              </a:xfrm>
              <a:prstGeom prst="rect">
                <a:avLst/>
              </a:pr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197" name="직사각형 196">
                <a:extLst>
                  <a:ext uri="{FF2B5EF4-FFF2-40B4-BE49-F238E27FC236}">
                    <a16:creationId xmlns:a16="http://schemas.microsoft.com/office/drawing/2014/main" id="{37D78823-F075-4FAE-AED2-4DE7B68EA197}"/>
                  </a:ext>
                </a:extLst>
              </p:cNvPr>
              <p:cNvSpPr/>
              <p:nvPr/>
            </p:nvSpPr>
            <p:spPr>
              <a:xfrm>
                <a:off x="3229249" y="3249104"/>
                <a:ext cx="72000" cy="1116000"/>
              </a:xfrm>
              <a:prstGeom prst="rect">
                <a:avLst/>
              </a:pr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198" name="직사각형 197">
                <a:extLst>
                  <a:ext uri="{FF2B5EF4-FFF2-40B4-BE49-F238E27FC236}">
                    <a16:creationId xmlns:a16="http://schemas.microsoft.com/office/drawing/2014/main" id="{BFB32461-A552-4A84-94ED-DA4AA9F22AD7}"/>
                  </a:ext>
                </a:extLst>
              </p:cNvPr>
              <p:cNvSpPr/>
              <p:nvPr/>
            </p:nvSpPr>
            <p:spPr>
              <a:xfrm>
                <a:off x="2915816" y="3429104"/>
                <a:ext cx="72000" cy="936000"/>
              </a:xfrm>
              <a:prstGeom prst="rect">
                <a:avLst/>
              </a:pr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199" name="직사각형 198">
                <a:extLst>
                  <a:ext uri="{FF2B5EF4-FFF2-40B4-BE49-F238E27FC236}">
                    <a16:creationId xmlns:a16="http://schemas.microsoft.com/office/drawing/2014/main" id="{94272D41-0E55-4D56-8B57-0978599154E8}"/>
                  </a:ext>
                </a:extLst>
              </p:cNvPr>
              <p:cNvSpPr/>
              <p:nvPr/>
            </p:nvSpPr>
            <p:spPr>
              <a:xfrm>
                <a:off x="2650736" y="3575612"/>
                <a:ext cx="72000" cy="789492"/>
              </a:xfrm>
              <a:prstGeom prst="rect">
                <a:avLst/>
              </a:pr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200" name="직사각형 199">
                <a:extLst>
                  <a:ext uri="{FF2B5EF4-FFF2-40B4-BE49-F238E27FC236}">
                    <a16:creationId xmlns:a16="http://schemas.microsoft.com/office/drawing/2014/main" id="{B8D08766-A3DB-4A29-8EF5-455529FAFC37}"/>
                  </a:ext>
                </a:extLst>
              </p:cNvPr>
              <p:cNvSpPr/>
              <p:nvPr/>
            </p:nvSpPr>
            <p:spPr>
              <a:xfrm>
                <a:off x="2339752" y="3753104"/>
                <a:ext cx="72000" cy="612000"/>
              </a:xfrm>
              <a:prstGeom prst="rect">
                <a:avLst/>
              </a:pr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201" name="직사각형 200">
                <a:extLst>
                  <a:ext uri="{FF2B5EF4-FFF2-40B4-BE49-F238E27FC236}">
                    <a16:creationId xmlns:a16="http://schemas.microsoft.com/office/drawing/2014/main" id="{536E4E37-A260-4AA1-8329-EF4DDFE34BDA}"/>
                  </a:ext>
                </a:extLst>
              </p:cNvPr>
              <p:cNvSpPr/>
              <p:nvPr/>
            </p:nvSpPr>
            <p:spPr>
              <a:xfrm>
                <a:off x="2025811" y="3933104"/>
                <a:ext cx="72000" cy="432000"/>
              </a:xfrm>
              <a:prstGeom prst="rect">
                <a:avLst/>
              </a:pr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202" name="직사각형 201">
                <a:extLst>
                  <a:ext uri="{FF2B5EF4-FFF2-40B4-BE49-F238E27FC236}">
                    <a16:creationId xmlns:a16="http://schemas.microsoft.com/office/drawing/2014/main" id="{BAB0C819-F882-4365-8896-22B03D631E48}"/>
                  </a:ext>
                </a:extLst>
              </p:cNvPr>
              <p:cNvSpPr/>
              <p:nvPr/>
            </p:nvSpPr>
            <p:spPr>
              <a:xfrm>
                <a:off x="1691680" y="4005104"/>
                <a:ext cx="72000" cy="360000"/>
              </a:xfrm>
              <a:prstGeom prst="rect">
                <a:avLst/>
              </a:pr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203" name="직사각형 202">
                <a:extLst>
                  <a:ext uri="{FF2B5EF4-FFF2-40B4-BE49-F238E27FC236}">
                    <a16:creationId xmlns:a16="http://schemas.microsoft.com/office/drawing/2014/main" id="{C0AE4F41-19B3-4BEC-8BE1-6E70AF64D69F}"/>
                  </a:ext>
                </a:extLst>
              </p:cNvPr>
              <p:cNvSpPr/>
              <p:nvPr/>
            </p:nvSpPr>
            <p:spPr>
              <a:xfrm>
                <a:off x="3851920" y="2780928"/>
                <a:ext cx="72000" cy="1584176"/>
              </a:xfrm>
              <a:prstGeom prst="rect">
                <a:avLst/>
              </a:pr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</p:grpSp>
        <p:grpSp>
          <p:nvGrpSpPr>
            <p:cNvPr id="187" name="그룹 186">
              <a:extLst>
                <a:ext uri="{FF2B5EF4-FFF2-40B4-BE49-F238E27FC236}">
                  <a16:creationId xmlns:a16="http://schemas.microsoft.com/office/drawing/2014/main" id="{098903C7-6FB9-4D40-89CF-A699D3CF773C}"/>
                </a:ext>
              </a:extLst>
            </p:cNvPr>
            <p:cNvGrpSpPr/>
            <p:nvPr/>
          </p:nvGrpSpPr>
          <p:grpSpPr>
            <a:xfrm>
              <a:off x="7308297" y="3782267"/>
              <a:ext cx="353772" cy="155437"/>
              <a:chOff x="1403648" y="4005104"/>
              <a:chExt cx="360032" cy="360000"/>
            </a:xfrm>
          </p:grpSpPr>
          <p:sp>
            <p:nvSpPr>
              <p:cNvPr id="193" name="직사각형 192">
                <a:extLst>
                  <a:ext uri="{FF2B5EF4-FFF2-40B4-BE49-F238E27FC236}">
                    <a16:creationId xmlns:a16="http://schemas.microsoft.com/office/drawing/2014/main" id="{B165E73C-A702-40DB-AB01-0F97690C5A9E}"/>
                  </a:ext>
                </a:extLst>
              </p:cNvPr>
              <p:cNvSpPr/>
              <p:nvPr/>
            </p:nvSpPr>
            <p:spPr>
              <a:xfrm>
                <a:off x="1403648" y="4185104"/>
                <a:ext cx="72000" cy="180000"/>
              </a:xfrm>
              <a:prstGeom prst="rect">
                <a:avLst/>
              </a:pr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194" name="직사각형 193">
                <a:extLst>
                  <a:ext uri="{FF2B5EF4-FFF2-40B4-BE49-F238E27FC236}">
                    <a16:creationId xmlns:a16="http://schemas.microsoft.com/office/drawing/2014/main" id="{76EB4218-38E7-417E-A420-EDB2D961423C}"/>
                  </a:ext>
                </a:extLst>
              </p:cNvPr>
              <p:cNvSpPr/>
              <p:nvPr/>
            </p:nvSpPr>
            <p:spPr>
              <a:xfrm>
                <a:off x="1691680" y="4005104"/>
                <a:ext cx="72000" cy="360000"/>
              </a:xfrm>
              <a:prstGeom prst="rect">
                <a:avLst/>
              </a:pr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</p:grpSp>
        <p:cxnSp>
          <p:nvCxnSpPr>
            <p:cNvPr id="188" name="직선 연결선 187">
              <a:extLst>
                <a:ext uri="{FF2B5EF4-FFF2-40B4-BE49-F238E27FC236}">
                  <a16:creationId xmlns:a16="http://schemas.microsoft.com/office/drawing/2014/main" id="{12F8E0E9-448B-40C9-9817-96D0A9B946B4}"/>
                </a:ext>
              </a:extLst>
            </p:cNvPr>
            <p:cNvCxnSpPr/>
            <p:nvPr/>
          </p:nvCxnSpPr>
          <p:spPr>
            <a:xfrm>
              <a:off x="1180851" y="4316387"/>
              <a:ext cx="7488832" cy="0"/>
            </a:xfrm>
            <a:prstGeom prst="line">
              <a:avLst/>
            </a:prstGeom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직선 연결선 188">
              <a:extLst>
                <a:ext uri="{FF2B5EF4-FFF2-40B4-BE49-F238E27FC236}">
                  <a16:creationId xmlns:a16="http://schemas.microsoft.com/office/drawing/2014/main" id="{60C2A40F-0989-4F07-92AC-0BBE5B5D8858}"/>
                </a:ext>
              </a:extLst>
            </p:cNvPr>
            <p:cNvCxnSpPr/>
            <p:nvPr/>
          </p:nvCxnSpPr>
          <p:spPr>
            <a:xfrm>
              <a:off x="1180851" y="3376982"/>
              <a:ext cx="7488832" cy="0"/>
            </a:xfrm>
            <a:prstGeom prst="line">
              <a:avLst/>
            </a:prstGeom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직선 연결선 189">
              <a:extLst>
                <a:ext uri="{FF2B5EF4-FFF2-40B4-BE49-F238E27FC236}">
                  <a16:creationId xmlns:a16="http://schemas.microsoft.com/office/drawing/2014/main" id="{AD647268-14CB-4374-87C8-796B48FC7344}"/>
                </a:ext>
              </a:extLst>
            </p:cNvPr>
            <p:cNvCxnSpPr/>
            <p:nvPr/>
          </p:nvCxnSpPr>
          <p:spPr>
            <a:xfrm>
              <a:off x="1180851" y="4844721"/>
              <a:ext cx="7488832" cy="0"/>
            </a:xfrm>
            <a:prstGeom prst="line">
              <a:avLst/>
            </a:prstGeom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1" name="자유형 33">
              <a:extLst>
                <a:ext uri="{FF2B5EF4-FFF2-40B4-BE49-F238E27FC236}">
                  <a16:creationId xmlns:a16="http://schemas.microsoft.com/office/drawing/2014/main" id="{75DD9915-21D8-4F93-BC49-03706A2768AE}"/>
                </a:ext>
              </a:extLst>
            </p:cNvPr>
            <p:cNvSpPr/>
            <p:nvPr/>
          </p:nvSpPr>
          <p:spPr>
            <a:xfrm flipH="1" flipV="1">
              <a:off x="4353593" y="3937702"/>
              <a:ext cx="2689623" cy="684001"/>
            </a:xfrm>
            <a:custGeom>
              <a:avLst/>
              <a:gdLst>
                <a:gd name="connsiteX0" fmla="*/ 0 w 4368800"/>
                <a:gd name="connsiteY0" fmla="*/ 389467 h 414867"/>
                <a:gd name="connsiteX1" fmla="*/ 270933 w 4368800"/>
                <a:gd name="connsiteY1" fmla="*/ 321733 h 414867"/>
                <a:gd name="connsiteX2" fmla="*/ 575733 w 4368800"/>
                <a:gd name="connsiteY2" fmla="*/ 414867 h 414867"/>
                <a:gd name="connsiteX3" fmla="*/ 880533 w 4368800"/>
                <a:gd name="connsiteY3" fmla="*/ 355600 h 414867"/>
                <a:gd name="connsiteX4" fmla="*/ 1134533 w 4368800"/>
                <a:gd name="connsiteY4" fmla="*/ 203200 h 414867"/>
                <a:gd name="connsiteX5" fmla="*/ 1456266 w 4368800"/>
                <a:gd name="connsiteY5" fmla="*/ 313267 h 414867"/>
                <a:gd name="connsiteX6" fmla="*/ 1727200 w 4368800"/>
                <a:gd name="connsiteY6" fmla="*/ 254000 h 414867"/>
                <a:gd name="connsiteX7" fmla="*/ 1998133 w 4368800"/>
                <a:gd name="connsiteY7" fmla="*/ 135467 h 414867"/>
                <a:gd name="connsiteX8" fmla="*/ 2353733 w 4368800"/>
                <a:gd name="connsiteY8" fmla="*/ 287867 h 414867"/>
                <a:gd name="connsiteX9" fmla="*/ 2607733 w 4368800"/>
                <a:gd name="connsiteY9" fmla="*/ 169333 h 414867"/>
                <a:gd name="connsiteX10" fmla="*/ 2946400 w 4368800"/>
                <a:gd name="connsiteY10" fmla="*/ 211667 h 414867"/>
                <a:gd name="connsiteX11" fmla="*/ 3234266 w 4368800"/>
                <a:gd name="connsiteY11" fmla="*/ 203200 h 414867"/>
                <a:gd name="connsiteX12" fmla="*/ 3505200 w 4368800"/>
                <a:gd name="connsiteY12" fmla="*/ 0 h 414867"/>
                <a:gd name="connsiteX13" fmla="*/ 3810000 w 4368800"/>
                <a:gd name="connsiteY13" fmla="*/ 135467 h 414867"/>
                <a:gd name="connsiteX14" fmla="*/ 4097866 w 4368800"/>
                <a:gd name="connsiteY14" fmla="*/ 42333 h 414867"/>
                <a:gd name="connsiteX15" fmla="*/ 4368800 w 4368800"/>
                <a:gd name="connsiteY15" fmla="*/ 118533 h 414867"/>
                <a:gd name="connsiteX0" fmla="*/ 0 w 4368800"/>
                <a:gd name="connsiteY0" fmla="*/ 524934 h 524934"/>
                <a:gd name="connsiteX1" fmla="*/ 270933 w 4368800"/>
                <a:gd name="connsiteY1" fmla="*/ 321733 h 524934"/>
                <a:gd name="connsiteX2" fmla="*/ 575733 w 4368800"/>
                <a:gd name="connsiteY2" fmla="*/ 414867 h 524934"/>
                <a:gd name="connsiteX3" fmla="*/ 880533 w 4368800"/>
                <a:gd name="connsiteY3" fmla="*/ 355600 h 524934"/>
                <a:gd name="connsiteX4" fmla="*/ 1134533 w 4368800"/>
                <a:gd name="connsiteY4" fmla="*/ 203200 h 524934"/>
                <a:gd name="connsiteX5" fmla="*/ 1456266 w 4368800"/>
                <a:gd name="connsiteY5" fmla="*/ 313267 h 524934"/>
                <a:gd name="connsiteX6" fmla="*/ 1727200 w 4368800"/>
                <a:gd name="connsiteY6" fmla="*/ 254000 h 524934"/>
                <a:gd name="connsiteX7" fmla="*/ 1998133 w 4368800"/>
                <a:gd name="connsiteY7" fmla="*/ 135467 h 524934"/>
                <a:gd name="connsiteX8" fmla="*/ 2353733 w 4368800"/>
                <a:gd name="connsiteY8" fmla="*/ 287867 h 524934"/>
                <a:gd name="connsiteX9" fmla="*/ 2607733 w 4368800"/>
                <a:gd name="connsiteY9" fmla="*/ 169333 h 524934"/>
                <a:gd name="connsiteX10" fmla="*/ 2946400 w 4368800"/>
                <a:gd name="connsiteY10" fmla="*/ 211667 h 524934"/>
                <a:gd name="connsiteX11" fmla="*/ 3234266 w 4368800"/>
                <a:gd name="connsiteY11" fmla="*/ 203200 h 524934"/>
                <a:gd name="connsiteX12" fmla="*/ 3505200 w 4368800"/>
                <a:gd name="connsiteY12" fmla="*/ 0 h 524934"/>
                <a:gd name="connsiteX13" fmla="*/ 3810000 w 4368800"/>
                <a:gd name="connsiteY13" fmla="*/ 135467 h 524934"/>
                <a:gd name="connsiteX14" fmla="*/ 4097866 w 4368800"/>
                <a:gd name="connsiteY14" fmla="*/ 42333 h 524934"/>
                <a:gd name="connsiteX15" fmla="*/ 4368800 w 4368800"/>
                <a:gd name="connsiteY15" fmla="*/ 118533 h 524934"/>
                <a:gd name="connsiteX0" fmla="*/ 0 w 4368800"/>
                <a:gd name="connsiteY0" fmla="*/ 541867 h 541867"/>
                <a:gd name="connsiteX1" fmla="*/ 270933 w 4368800"/>
                <a:gd name="connsiteY1" fmla="*/ 338666 h 541867"/>
                <a:gd name="connsiteX2" fmla="*/ 575733 w 4368800"/>
                <a:gd name="connsiteY2" fmla="*/ 431800 h 541867"/>
                <a:gd name="connsiteX3" fmla="*/ 880533 w 4368800"/>
                <a:gd name="connsiteY3" fmla="*/ 372533 h 541867"/>
                <a:gd name="connsiteX4" fmla="*/ 1134533 w 4368800"/>
                <a:gd name="connsiteY4" fmla="*/ 220133 h 541867"/>
                <a:gd name="connsiteX5" fmla="*/ 1456266 w 4368800"/>
                <a:gd name="connsiteY5" fmla="*/ 330200 h 541867"/>
                <a:gd name="connsiteX6" fmla="*/ 1727200 w 4368800"/>
                <a:gd name="connsiteY6" fmla="*/ 270933 h 541867"/>
                <a:gd name="connsiteX7" fmla="*/ 2048933 w 4368800"/>
                <a:gd name="connsiteY7" fmla="*/ 0 h 541867"/>
                <a:gd name="connsiteX8" fmla="*/ 2353733 w 4368800"/>
                <a:gd name="connsiteY8" fmla="*/ 304800 h 541867"/>
                <a:gd name="connsiteX9" fmla="*/ 2607733 w 4368800"/>
                <a:gd name="connsiteY9" fmla="*/ 186266 h 541867"/>
                <a:gd name="connsiteX10" fmla="*/ 2946400 w 4368800"/>
                <a:gd name="connsiteY10" fmla="*/ 228600 h 541867"/>
                <a:gd name="connsiteX11" fmla="*/ 3234266 w 4368800"/>
                <a:gd name="connsiteY11" fmla="*/ 220133 h 541867"/>
                <a:gd name="connsiteX12" fmla="*/ 3505200 w 4368800"/>
                <a:gd name="connsiteY12" fmla="*/ 16933 h 541867"/>
                <a:gd name="connsiteX13" fmla="*/ 3810000 w 4368800"/>
                <a:gd name="connsiteY13" fmla="*/ 152400 h 541867"/>
                <a:gd name="connsiteX14" fmla="*/ 4097866 w 4368800"/>
                <a:gd name="connsiteY14" fmla="*/ 59266 h 541867"/>
                <a:gd name="connsiteX15" fmla="*/ 4368800 w 4368800"/>
                <a:gd name="connsiteY15" fmla="*/ 135466 h 541867"/>
                <a:gd name="connsiteX0" fmla="*/ 0 w 4368800"/>
                <a:gd name="connsiteY0" fmla="*/ 541867 h 541867"/>
                <a:gd name="connsiteX1" fmla="*/ 270933 w 4368800"/>
                <a:gd name="connsiteY1" fmla="*/ 338666 h 541867"/>
                <a:gd name="connsiteX2" fmla="*/ 575733 w 4368800"/>
                <a:gd name="connsiteY2" fmla="*/ 431800 h 541867"/>
                <a:gd name="connsiteX3" fmla="*/ 880533 w 4368800"/>
                <a:gd name="connsiteY3" fmla="*/ 372533 h 541867"/>
                <a:gd name="connsiteX4" fmla="*/ 1134533 w 4368800"/>
                <a:gd name="connsiteY4" fmla="*/ 220133 h 541867"/>
                <a:gd name="connsiteX5" fmla="*/ 1456266 w 4368800"/>
                <a:gd name="connsiteY5" fmla="*/ 330200 h 541867"/>
                <a:gd name="connsiteX6" fmla="*/ 1727200 w 4368800"/>
                <a:gd name="connsiteY6" fmla="*/ 270933 h 541867"/>
                <a:gd name="connsiteX7" fmla="*/ 2048933 w 4368800"/>
                <a:gd name="connsiteY7" fmla="*/ 0 h 541867"/>
                <a:gd name="connsiteX8" fmla="*/ 2353733 w 4368800"/>
                <a:gd name="connsiteY8" fmla="*/ 304800 h 541867"/>
                <a:gd name="connsiteX9" fmla="*/ 2607733 w 4368800"/>
                <a:gd name="connsiteY9" fmla="*/ 186266 h 541867"/>
                <a:gd name="connsiteX10" fmla="*/ 2963334 w 4368800"/>
                <a:gd name="connsiteY10" fmla="*/ 152400 h 541867"/>
                <a:gd name="connsiteX11" fmla="*/ 3234266 w 4368800"/>
                <a:gd name="connsiteY11" fmla="*/ 220133 h 541867"/>
                <a:gd name="connsiteX12" fmla="*/ 3505200 w 4368800"/>
                <a:gd name="connsiteY12" fmla="*/ 16933 h 541867"/>
                <a:gd name="connsiteX13" fmla="*/ 3810000 w 4368800"/>
                <a:gd name="connsiteY13" fmla="*/ 152400 h 541867"/>
                <a:gd name="connsiteX14" fmla="*/ 4097866 w 4368800"/>
                <a:gd name="connsiteY14" fmla="*/ 59266 h 541867"/>
                <a:gd name="connsiteX15" fmla="*/ 4368800 w 4368800"/>
                <a:gd name="connsiteY15" fmla="*/ 135466 h 541867"/>
                <a:gd name="connsiteX0" fmla="*/ 0 w 4368800"/>
                <a:gd name="connsiteY0" fmla="*/ 575734 h 575734"/>
                <a:gd name="connsiteX1" fmla="*/ 270933 w 4368800"/>
                <a:gd name="connsiteY1" fmla="*/ 372533 h 575734"/>
                <a:gd name="connsiteX2" fmla="*/ 575733 w 4368800"/>
                <a:gd name="connsiteY2" fmla="*/ 465667 h 575734"/>
                <a:gd name="connsiteX3" fmla="*/ 880533 w 4368800"/>
                <a:gd name="connsiteY3" fmla="*/ 406400 h 575734"/>
                <a:gd name="connsiteX4" fmla="*/ 1134533 w 4368800"/>
                <a:gd name="connsiteY4" fmla="*/ 254000 h 575734"/>
                <a:gd name="connsiteX5" fmla="*/ 1456266 w 4368800"/>
                <a:gd name="connsiteY5" fmla="*/ 364067 h 575734"/>
                <a:gd name="connsiteX6" fmla="*/ 1727200 w 4368800"/>
                <a:gd name="connsiteY6" fmla="*/ 304800 h 575734"/>
                <a:gd name="connsiteX7" fmla="*/ 2048933 w 4368800"/>
                <a:gd name="connsiteY7" fmla="*/ 33867 h 575734"/>
                <a:gd name="connsiteX8" fmla="*/ 2353733 w 4368800"/>
                <a:gd name="connsiteY8" fmla="*/ 338667 h 575734"/>
                <a:gd name="connsiteX9" fmla="*/ 2607733 w 4368800"/>
                <a:gd name="connsiteY9" fmla="*/ 220133 h 575734"/>
                <a:gd name="connsiteX10" fmla="*/ 2963334 w 4368800"/>
                <a:gd name="connsiteY10" fmla="*/ 186267 h 575734"/>
                <a:gd name="connsiteX11" fmla="*/ 3234266 w 4368800"/>
                <a:gd name="connsiteY11" fmla="*/ 254000 h 575734"/>
                <a:gd name="connsiteX12" fmla="*/ 3505200 w 4368800"/>
                <a:gd name="connsiteY12" fmla="*/ 0 h 575734"/>
                <a:gd name="connsiteX13" fmla="*/ 3810000 w 4368800"/>
                <a:gd name="connsiteY13" fmla="*/ 186267 h 575734"/>
                <a:gd name="connsiteX14" fmla="*/ 4097866 w 4368800"/>
                <a:gd name="connsiteY14" fmla="*/ 93133 h 575734"/>
                <a:gd name="connsiteX15" fmla="*/ 4368800 w 4368800"/>
                <a:gd name="connsiteY15" fmla="*/ 169333 h 575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368800" h="575734">
                  <a:moveTo>
                    <a:pt x="0" y="575734"/>
                  </a:moveTo>
                  <a:lnTo>
                    <a:pt x="270933" y="372533"/>
                  </a:lnTo>
                  <a:lnTo>
                    <a:pt x="575733" y="465667"/>
                  </a:lnTo>
                  <a:lnTo>
                    <a:pt x="880533" y="406400"/>
                  </a:lnTo>
                  <a:lnTo>
                    <a:pt x="1134533" y="254000"/>
                  </a:lnTo>
                  <a:lnTo>
                    <a:pt x="1456266" y="364067"/>
                  </a:lnTo>
                  <a:lnTo>
                    <a:pt x="1727200" y="304800"/>
                  </a:lnTo>
                  <a:lnTo>
                    <a:pt x="2048933" y="33867"/>
                  </a:lnTo>
                  <a:lnTo>
                    <a:pt x="2353733" y="338667"/>
                  </a:lnTo>
                  <a:cubicBezTo>
                    <a:pt x="2438400" y="299156"/>
                    <a:pt x="2506133" y="245533"/>
                    <a:pt x="2607733" y="220133"/>
                  </a:cubicBezTo>
                  <a:cubicBezTo>
                    <a:pt x="2709333" y="194733"/>
                    <a:pt x="2844800" y="197556"/>
                    <a:pt x="2963334" y="186267"/>
                  </a:cubicBezTo>
                  <a:lnTo>
                    <a:pt x="3234266" y="254000"/>
                  </a:lnTo>
                  <a:lnTo>
                    <a:pt x="3505200" y="0"/>
                  </a:lnTo>
                  <a:lnTo>
                    <a:pt x="3810000" y="186267"/>
                  </a:lnTo>
                  <a:lnTo>
                    <a:pt x="4097866" y="93133"/>
                  </a:lnTo>
                  <a:lnTo>
                    <a:pt x="4368800" y="169333"/>
                  </a:lnTo>
                </a:path>
              </a:pathLst>
            </a:custGeom>
            <a:ln>
              <a:solidFill>
                <a:schemeClr val="accent3">
                  <a:lumMod val="75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192" name="자유형 83">
              <a:extLst>
                <a:ext uri="{FF2B5EF4-FFF2-40B4-BE49-F238E27FC236}">
                  <a16:creationId xmlns:a16="http://schemas.microsoft.com/office/drawing/2014/main" id="{23ACAE22-5A7B-4C06-8EA8-A27039494D79}"/>
                </a:ext>
              </a:extLst>
            </p:cNvPr>
            <p:cNvSpPr/>
            <p:nvPr/>
          </p:nvSpPr>
          <p:spPr>
            <a:xfrm>
              <a:off x="1397086" y="3160835"/>
              <a:ext cx="2742866" cy="770368"/>
            </a:xfrm>
            <a:custGeom>
              <a:avLst/>
              <a:gdLst>
                <a:gd name="connsiteX0" fmla="*/ 0 w 4368800"/>
                <a:gd name="connsiteY0" fmla="*/ 389467 h 414867"/>
                <a:gd name="connsiteX1" fmla="*/ 270933 w 4368800"/>
                <a:gd name="connsiteY1" fmla="*/ 321733 h 414867"/>
                <a:gd name="connsiteX2" fmla="*/ 575733 w 4368800"/>
                <a:gd name="connsiteY2" fmla="*/ 414867 h 414867"/>
                <a:gd name="connsiteX3" fmla="*/ 880533 w 4368800"/>
                <a:gd name="connsiteY3" fmla="*/ 355600 h 414867"/>
                <a:gd name="connsiteX4" fmla="*/ 1134533 w 4368800"/>
                <a:gd name="connsiteY4" fmla="*/ 203200 h 414867"/>
                <a:gd name="connsiteX5" fmla="*/ 1456266 w 4368800"/>
                <a:gd name="connsiteY5" fmla="*/ 313267 h 414867"/>
                <a:gd name="connsiteX6" fmla="*/ 1727200 w 4368800"/>
                <a:gd name="connsiteY6" fmla="*/ 254000 h 414867"/>
                <a:gd name="connsiteX7" fmla="*/ 1998133 w 4368800"/>
                <a:gd name="connsiteY7" fmla="*/ 135467 h 414867"/>
                <a:gd name="connsiteX8" fmla="*/ 2353733 w 4368800"/>
                <a:gd name="connsiteY8" fmla="*/ 287867 h 414867"/>
                <a:gd name="connsiteX9" fmla="*/ 2607733 w 4368800"/>
                <a:gd name="connsiteY9" fmla="*/ 169333 h 414867"/>
                <a:gd name="connsiteX10" fmla="*/ 2946400 w 4368800"/>
                <a:gd name="connsiteY10" fmla="*/ 211667 h 414867"/>
                <a:gd name="connsiteX11" fmla="*/ 3234266 w 4368800"/>
                <a:gd name="connsiteY11" fmla="*/ 203200 h 414867"/>
                <a:gd name="connsiteX12" fmla="*/ 3505200 w 4368800"/>
                <a:gd name="connsiteY12" fmla="*/ 0 h 414867"/>
                <a:gd name="connsiteX13" fmla="*/ 3810000 w 4368800"/>
                <a:gd name="connsiteY13" fmla="*/ 135467 h 414867"/>
                <a:gd name="connsiteX14" fmla="*/ 4097866 w 4368800"/>
                <a:gd name="connsiteY14" fmla="*/ 42333 h 414867"/>
                <a:gd name="connsiteX15" fmla="*/ 4368800 w 4368800"/>
                <a:gd name="connsiteY15" fmla="*/ 118533 h 414867"/>
                <a:gd name="connsiteX0" fmla="*/ 0 w 4368800"/>
                <a:gd name="connsiteY0" fmla="*/ 524934 h 524934"/>
                <a:gd name="connsiteX1" fmla="*/ 270933 w 4368800"/>
                <a:gd name="connsiteY1" fmla="*/ 321733 h 524934"/>
                <a:gd name="connsiteX2" fmla="*/ 575733 w 4368800"/>
                <a:gd name="connsiteY2" fmla="*/ 414867 h 524934"/>
                <a:gd name="connsiteX3" fmla="*/ 880533 w 4368800"/>
                <a:gd name="connsiteY3" fmla="*/ 355600 h 524934"/>
                <a:gd name="connsiteX4" fmla="*/ 1134533 w 4368800"/>
                <a:gd name="connsiteY4" fmla="*/ 203200 h 524934"/>
                <a:gd name="connsiteX5" fmla="*/ 1456266 w 4368800"/>
                <a:gd name="connsiteY5" fmla="*/ 313267 h 524934"/>
                <a:gd name="connsiteX6" fmla="*/ 1727200 w 4368800"/>
                <a:gd name="connsiteY6" fmla="*/ 254000 h 524934"/>
                <a:gd name="connsiteX7" fmla="*/ 1998133 w 4368800"/>
                <a:gd name="connsiteY7" fmla="*/ 135467 h 524934"/>
                <a:gd name="connsiteX8" fmla="*/ 2353733 w 4368800"/>
                <a:gd name="connsiteY8" fmla="*/ 287867 h 524934"/>
                <a:gd name="connsiteX9" fmla="*/ 2607733 w 4368800"/>
                <a:gd name="connsiteY9" fmla="*/ 169333 h 524934"/>
                <a:gd name="connsiteX10" fmla="*/ 2946400 w 4368800"/>
                <a:gd name="connsiteY10" fmla="*/ 211667 h 524934"/>
                <a:gd name="connsiteX11" fmla="*/ 3234266 w 4368800"/>
                <a:gd name="connsiteY11" fmla="*/ 203200 h 524934"/>
                <a:gd name="connsiteX12" fmla="*/ 3505200 w 4368800"/>
                <a:gd name="connsiteY12" fmla="*/ 0 h 524934"/>
                <a:gd name="connsiteX13" fmla="*/ 3810000 w 4368800"/>
                <a:gd name="connsiteY13" fmla="*/ 135467 h 524934"/>
                <a:gd name="connsiteX14" fmla="*/ 4097866 w 4368800"/>
                <a:gd name="connsiteY14" fmla="*/ 42333 h 524934"/>
                <a:gd name="connsiteX15" fmla="*/ 4368800 w 4368800"/>
                <a:gd name="connsiteY15" fmla="*/ 118533 h 524934"/>
                <a:gd name="connsiteX0" fmla="*/ 0 w 4368800"/>
                <a:gd name="connsiteY0" fmla="*/ 541867 h 541867"/>
                <a:gd name="connsiteX1" fmla="*/ 270933 w 4368800"/>
                <a:gd name="connsiteY1" fmla="*/ 338666 h 541867"/>
                <a:gd name="connsiteX2" fmla="*/ 575733 w 4368800"/>
                <a:gd name="connsiteY2" fmla="*/ 431800 h 541867"/>
                <a:gd name="connsiteX3" fmla="*/ 880533 w 4368800"/>
                <a:gd name="connsiteY3" fmla="*/ 372533 h 541867"/>
                <a:gd name="connsiteX4" fmla="*/ 1134533 w 4368800"/>
                <a:gd name="connsiteY4" fmla="*/ 220133 h 541867"/>
                <a:gd name="connsiteX5" fmla="*/ 1456266 w 4368800"/>
                <a:gd name="connsiteY5" fmla="*/ 330200 h 541867"/>
                <a:gd name="connsiteX6" fmla="*/ 1727200 w 4368800"/>
                <a:gd name="connsiteY6" fmla="*/ 270933 h 541867"/>
                <a:gd name="connsiteX7" fmla="*/ 2048933 w 4368800"/>
                <a:gd name="connsiteY7" fmla="*/ 0 h 541867"/>
                <a:gd name="connsiteX8" fmla="*/ 2353733 w 4368800"/>
                <a:gd name="connsiteY8" fmla="*/ 304800 h 541867"/>
                <a:gd name="connsiteX9" fmla="*/ 2607733 w 4368800"/>
                <a:gd name="connsiteY9" fmla="*/ 186266 h 541867"/>
                <a:gd name="connsiteX10" fmla="*/ 2946400 w 4368800"/>
                <a:gd name="connsiteY10" fmla="*/ 228600 h 541867"/>
                <a:gd name="connsiteX11" fmla="*/ 3234266 w 4368800"/>
                <a:gd name="connsiteY11" fmla="*/ 220133 h 541867"/>
                <a:gd name="connsiteX12" fmla="*/ 3505200 w 4368800"/>
                <a:gd name="connsiteY12" fmla="*/ 16933 h 541867"/>
                <a:gd name="connsiteX13" fmla="*/ 3810000 w 4368800"/>
                <a:gd name="connsiteY13" fmla="*/ 152400 h 541867"/>
                <a:gd name="connsiteX14" fmla="*/ 4097866 w 4368800"/>
                <a:gd name="connsiteY14" fmla="*/ 59266 h 541867"/>
                <a:gd name="connsiteX15" fmla="*/ 4368800 w 4368800"/>
                <a:gd name="connsiteY15" fmla="*/ 135466 h 541867"/>
                <a:gd name="connsiteX0" fmla="*/ 0 w 4368800"/>
                <a:gd name="connsiteY0" fmla="*/ 541867 h 541867"/>
                <a:gd name="connsiteX1" fmla="*/ 270933 w 4368800"/>
                <a:gd name="connsiteY1" fmla="*/ 338666 h 541867"/>
                <a:gd name="connsiteX2" fmla="*/ 575733 w 4368800"/>
                <a:gd name="connsiteY2" fmla="*/ 431800 h 541867"/>
                <a:gd name="connsiteX3" fmla="*/ 880533 w 4368800"/>
                <a:gd name="connsiteY3" fmla="*/ 372533 h 541867"/>
                <a:gd name="connsiteX4" fmla="*/ 1134533 w 4368800"/>
                <a:gd name="connsiteY4" fmla="*/ 220133 h 541867"/>
                <a:gd name="connsiteX5" fmla="*/ 1456266 w 4368800"/>
                <a:gd name="connsiteY5" fmla="*/ 330200 h 541867"/>
                <a:gd name="connsiteX6" fmla="*/ 1727200 w 4368800"/>
                <a:gd name="connsiteY6" fmla="*/ 270933 h 541867"/>
                <a:gd name="connsiteX7" fmla="*/ 2048933 w 4368800"/>
                <a:gd name="connsiteY7" fmla="*/ 0 h 541867"/>
                <a:gd name="connsiteX8" fmla="*/ 2353733 w 4368800"/>
                <a:gd name="connsiteY8" fmla="*/ 304800 h 541867"/>
                <a:gd name="connsiteX9" fmla="*/ 2607733 w 4368800"/>
                <a:gd name="connsiteY9" fmla="*/ 186266 h 541867"/>
                <a:gd name="connsiteX10" fmla="*/ 2963334 w 4368800"/>
                <a:gd name="connsiteY10" fmla="*/ 152400 h 541867"/>
                <a:gd name="connsiteX11" fmla="*/ 3234266 w 4368800"/>
                <a:gd name="connsiteY11" fmla="*/ 220133 h 541867"/>
                <a:gd name="connsiteX12" fmla="*/ 3505200 w 4368800"/>
                <a:gd name="connsiteY12" fmla="*/ 16933 h 541867"/>
                <a:gd name="connsiteX13" fmla="*/ 3810000 w 4368800"/>
                <a:gd name="connsiteY13" fmla="*/ 152400 h 541867"/>
                <a:gd name="connsiteX14" fmla="*/ 4097866 w 4368800"/>
                <a:gd name="connsiteY14" fmla="*/ 59266 h 541867"/>
                <a:gd name="connsiteX15" fmla="*/ 4368800 w 4368800"/>
                <a:gd name="connsiteY15" fmla="*/ 135466 h 541867"/>
                <a:gd name="connsiteX0" fmla="*/ 0 w 4368800"/>
                <a:gd name="connsiteY0" fmla="*/ 575734 h 575734"/>
                <a:gd name="connsiteX1" fmla="*/ 270933 w 4368800"/>
                <a:gd name="connsiteY1" fmla="*/ 372533 h 575734"/>
                <a:gd name="connsiteX2" fmla="*/ 575733 w 4368800"/>
                <a:gd name="connsiteY2" fmla="*/ 465667 h 575734"/>
                <a:gd name="connsiteX3" fmla="*/ 880533 w 4368800"/>
                <a:gd name="connsiteY3" fmla="*/ 406400 h 575734"/>
                <a:gd name="connsiteX4" fmla="*/ 1134533 w 4368800"/>
                <a:gd name="connsiteY4" fmla="*/ 254000 h 575734"/>
                <a:gd name="connsiteX5" fmla="*/ 1456266 w 4368800"/>
                <a:gd name="connsiteY5" fmla="*/ 364067 h 575734"/>
                <a:gd name="connsiteX6" fmla="*/ 1727200 w 4368800"/>
                <a:gd name="connsiteY6" fmla="*/ 304800 h 575734"/>
                <a:gd name="connsiteX7" fmla="*/ 2048933 w 4368800"/>
                <a:gd name="connsiteY7" fmla="*/ 33867 h 575734"/>
                <a:gd name="connsiteX8" fmla="*/ 2353733 w 4368800"/>
                <a:gd name="connsiteY8" fmla="*/ 338667 h 575734"/>
                <a:gd name="connsiteX9" fmla="*/ 2607733 w 4368800"/>
                <a:gd name="connsiteY9" fmla="*/ 220133 h 575734"/>
                <a:gd name="connsiteX10" fmla="*/ 2963334 w 4368800"/>
                <a:gd name="connsiteY10" fmla="*/ 186267 h 575734"/>
                <a:gd name="connsiteX11" fmla="*/ 3234266 w 4368800"/>
                <a:gd name="connsiteY11" fmla="*/ 254000 h 575734"/>
                <a:gd name="connsiteX12" fmla="*/ 3505200 w 4368800"/>
                <a:gd name="connsiteY12" fmla="*/ 0 h 575734"/>
                <a:gd name="connsiteX13" fmla="*/ 3810000 w 4368800"/>
                <a:gd name="connsiteY13" fmla="*/ 186267 h 575734"/>
                <a:gd name="connsiteX14" fmla="*/ 4097866 w 4368800"/>
                <a:gd name="connsiteY14" fmla="*/ 93133 h 575734"/>
                <a:gd name="connsiteX15" fmla="*/ 4368800 w 4368800"/>
                <a:gd name="connsiteY15" fmla="*/ 169333 h 575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368800" h="575734">
                  <a:moveTo>
                    <a:pt x="0" y="575734"/>
                  </a:moveTo>
                  <a:lnTo>
                    <a:pt x="270933" y="372533"/>
                  </a:lnTo>
                  <a:lnTo>
                    <a:pt x="575733" y="465667"/>
                  </a:lnTo>
                  <a:lnTo>
                    <a:pt x="880533" y="406400"/>
                  </a:lnTo>
                  <a:lnTo>
                    <a:pt x="1134533" y="254000"/>
                  </a:lnTo>
                  <a:lnTo>
                    <a:pt x="1456266" y="364067"/>
                  </a:lnTo>
                  <a:lnTo>
                    <a:pt x="1727200" y="304800"/>
                  </a:lnTo>
                  <a:lnTo>
                    <a:pt x="2048933" y="33867"/>
                  </a:lnTo>
                  <a:lnTo>
                    <a:pt x="2353733" y="338667"/>
                  </a:lnTo>
                  <a:cubicBezTo>
                    <a:pt x="2438400" y="299156"/>
                    <a:pt x="2506133" y="245533"/>
                    <a:pt x="2607733" y="220133"/>
                  </a:cubicBezTo>
                  <a:cubicBezTo>
                    <a:pt x="2709333" y="194733"/>
                    <a:pt x="2844800" y="197556"/>
                    <a:pt x="2963334" y="186267"/>
                  </a:cubicBezTo>
                  <a:lnTo>
                    <a:pt x="3234266" y="254000"/>
                  </a:lnTo>
                  <a:lnTo>
                    <a:pt x="3505200" y="0"/>
                  </a:lnTo>
                  <a:lnTo>
                    <a:pt x="3810000" y="186267"/>
                  </a:lnTo>
                  <a:lnTo>
                    <a:pt x="4097866" y="93133"/>
                  </a:lnTo>
                  <a:lnTo>
                    <a:pt x="4368800" y="169333"/>
                  </a:lnTo>
                </a:path>
              </a:pathLst>
            </a:custGeom>
            <a:ln>
              <a:solidFill>
                <a:schemeClr val="bg1">
                  <a:lumMod val="5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grpSp>
        <p:nvGrpSpPr>
          <p:cNvPr id="214" name="그룹 213">
            <a:extLst>
              <a:ext uri="{FF2B5EF4-FFF2-40B4-BE49-F238E27FC236}">
                <a16:creationId xmlns:a16="http://schemas.microsoft.com/office/drawing/2014/main" id="{2F32BCDB-16C3-417B-9670-993A79916E05}"/>
              </a:ext>
            </a:extLst>
          </p:cNvPr>
          <p:cNvGrpSpPr/>
          <p:nvPr/>
        </p:nvGrpSpPr>
        <p:grpSpPr>
          <a:xfrm>
            <a:off x="3188979" y="5347287"/>
            <a:ext cx="2430416" cy="190268"/>
            <a:chOff x="3418761" y="4940755"/>
            <a:chExt cx="2430416" cy="190268"/>
          </a:xfrm>
        </p:grpSpPr>
        <p:grpSp>
          <p:nvGrpSpPr>
            <p:cNvPr id="215" name="그룹 214">
              <a:extLst>
                <a:ext uri="{FF2B5EF4-FFF2-40B4-BE49-F238E27FC236}">
                  <a16:creationId xmlns:a16="http://schemas.microsoft.com/office/drawing/2014/main" id="{DC959AD5-B9EE-4568-A7C6-408C224231D0}"/>
                </a:ext>
              </a:extLst>
            </p:cNvPr>
            <p:cNvGrpSpPr/>
            <p:nvPr/>
          </p:nvGrpSpPr>
          <p:grpSpPr>
            <a:xfrm>
              <a:off x="3418761" y="4940755"/>
              <a:ext cx="1835844" cy="184666"/>
              <a:chOff x="3535608" y="4989368"/>
              <a:chExt cx="1835844" cy="184666"/>
            </a:xfrm>
          </p:grpSpPr>
          <p:sp>
            <p:nvSpPr>
              <p:cNvPr id="218" name="사각형: 둥근 모서리 217">
                <a:extLst>
                  <a:ext uri="{FF2B5EF4-FFF2-40B4-BE49-F238E27FC236}">
                    <a16:creationId xmlns:a16="http://schemas.microsoft.com/office/drawing/2014/main" id="{7650601B-1BD7-4088-88DF-3352D5BF31D2}"/>
                  </a:ext>
                </a:extLst>
              </p:cNvPr>
              <p:cNvSpPr/>
              <p:nvPr/>
            </p:nvSpPr>
            <p:spPr>
              <a:xfrm>
                <a:off x="3535608" y="5016742"/>
                <a:ext cx="257502" cy="129918"/>
              </a:xfrm>
              <a:prstGeom prst="roundRect">
                <a:avLst/>
              </a:prstGeom>
              <a:solidFill>
                <a:schemeClr val="tx2">
                  <a:lumMod val="60000"/>
                  <a:lumOff val="40000"/>
                </a:schemeClr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19" name="TextBox 218">
                <a:extLst>
                  <a:ext uri="{FF2B5EF4-FFF2-40B4-BE49-F238E27FC236}">
                    <a16:creationId xmlns:a16="http://schemas.microsoft.com/office/drawing/2014/main" id="{F72EA73D-AC73-4521-B5C1-06B1173E0AF5}"/>
                  </a:ext>
                </a:extLst>
              </p:cNvPr>
              <p:cNvSpPr txBox="1"/>
              <p:nvPr/>
            </p:nvSpPr>
            <p:spPr>
              <a:xfrm>
                <a:off x="3694256" y="4989368"/>
                <a:ext cx="418353" cy="18466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600" dirty="0">
                    <a:solidFill>
                      <a:schemeClr val="bg1"/>
                    </a:solidFill>
                  </a:rPr>
                  <a:t>PCS</a:t>
                </a:r>
                <a:endParaRPr lang="ko-KR" altLang="en-US" sz="600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220" name="사각형: 둥근 모서리 219">
                <a:extLst>
                  <a:ext uri="{FF2B5EF4-FFF2-40B4-BE49-F238E27FC236}">
                    <a16:creationId xmlns:a16="http://schemas.microsoft.com/office/drawing/2014/main" id="{8CF6A5A7-4EB6-4461-A989-51960F4FF31B}"/>
                  </a:ext>
                </a:extLst>
              </p:cNvPr>
              <p:cNvSpPr/>
              <p:nvPr/>
            </p:nvSpPr>
            <p:spPr>
              <a:xfrm>
                <a:off x="4158568" y="5016742"/>
                <a:ext cx="257502" cy="129918"/>
              </a:xfrm>
              <a:prstGeom prst="roundRect">
                <a:avLst/>
              </a:prstGeom>
              <a:solidFill>
                <a:schemeClr val="accent3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21" name="TextBox 220">
                <a:extLst>
                  <a:ext uri="{FF2B5EF4-FFF2-40B4-BE49-F238E27FC236}">
                    <a16:creationId xmlns:a16="http://schemas.microsoft.com/office/drawing/2014/main" id="{D8500DC4-44AF-445D-8F28-9E2236B27FF1}"/>
                  </a:ext>
                </a:extLst>
              </p:cNvPr>
              <p:cNvSpPr txBox="1"/>
              <p:nvPr/>
            </p:nvSpPr>
            <p:spPr>
              <a:xfrm>
                <a:off x="4317216" y="4989368"/>
                <a:ext cx="418353" cy="18466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600" dirty="0">
                    <a:solidFill>
                      <a:schemeClr val="bg1"/>
                    </a:solidFill>
                  </a:rPr>
                  <a:t>BMS</a:t>
                </a:r>
                <a:endParaRPr lang="ko-KR" altLang="en-US" sz="600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222" name="사각형: 둥근 모서리 221">
                <a:extLst>
                  <a:ext uri="{FF2B5EF4-FFF2-40B4-BE49-F238E27FC236}">
                    <a16:creationId xmlns:a16="http://schemas.microsoft.com/office/drawing/2014/main" id="{F85DE41F-E16A-40D0-977A-F88C996B6AFC}"/>
                  </a:ext>
                </a:extLst>
              </p:cNvPr>
              <p:cNvSpPr/>
              <p:nvPr/>
            </p:nvSpPr>
            <p:spPr>
              <a:xfrm>
                <a:off x="4794451" y="5016742"/>
                <a:ext cx="257502" cy="129918"/>
              </a:xfrm>
              <a:prstGeom prst="roundRect">
                <a:avLst/>
              </a:prstGeom>
              <a:solidFill>
                <a:srgbClr val="FFC0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23" name="TextBox 222">
                <a:extLst>
                  <a:ext uri="{FF2B5EF4-FFF2-40B4-BE49-F238E27FC236}">
                    <a16:creationId xmlns:a16="http://schemas.microsoft.com/office/drawing/2014/main" id="{1CBFBAC4-3AA7-47AC-AEC6-FDA30892D24A}"/>
                  </a:ext>
                </a:extLst>
              </p:cNvPr>
              <p:cNvSpPr txBox="1"/>
              <p:nvPr/>
            </p:nvSpPr>
            <p:spPr>
              <a:xfrm>
                <a:off x="4953099" y="4989368"/>
                <a:ext cx="418353" cy="18466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600" dirty="0">
                    <a:solidFill>
                      <a:schemeClr val="bg1"/>
                    </a:solidFill>
                  </a:rPr>
                  <a:t>PV</a:t>
                </a:r>
                <a:endParaRPr lang="ko-KR" altLang="en-US" sz="600" dirty="0">
                  <a:solidFill>
                    <a:schemeClr val="bg1"/>
                  </a:solidFill>
                </a:endParaRPr>
              </a:p>
            </p:txBody>
          </p:sp>
        </p:grpSp>
        <p:sp>
          <p:nvSpPr>
            <p:cNvPr id="216" name="사각형: 둥근 모서리 215">
              <a:extLst>
                <a:ext uri="{FF2B5EF4-FFF2-40B4-BE49-F238E27FC236}">
                  <a16:creationId xmlns:a16="http://schemas.microsoft.com/office/drawing/2014/main" id="{7608AB04-5FB6-43BA-8E50-980B01AF1969}"/>
                </a:ext>
              </a:extLst>
            </p:cNvPr>
            <p:cNvSpPr/>
            <p:nvPr/>
          </p:nvSpPr>
          <p:spPr>
            <a:xfrm>
              <a:off x="5272176" y="4973731"/>
              <a:ext cx="257502" cy="129918"/>
            </a:xfrm>
            <a:prstGeom prst="roundRect">
              <a:avLst/>
            </a:prstGeom>
            <a:solidFill>
              <a:schemeClr val="accent4">
                <a:lumMod val="75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17" name="TextBox 216">
              <a:extLst>
                <a:ext uri="{FF2B5EF4-FFF2-40B4-BE49-F238E27FC236}">
                  <a16:creationId xmlns:a16="http://schemas.microsoft.com/office/drawing/2014/main" id="{5F73DC63-4B35-4E3C-B288-5B1170B08AA0}"/>
                </a:ext>
              </a:extLst>
            </p:cNvPr>
            <p:cNvSpPr txBox="1"/>
            <p:nvPr/>
          </p:nvSpPr>
          <p:spPr>
            <a:xfrm>
              <a:off x="5430824" y="4946357"/>
              <a:ext cx="41835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600" dirty="0">
                  <a:solidFill>
                    <a:schemeClr val="bg1"/>
                  </a:solidFill>
                </a:rPr>
                <a:t>IOE</a:t>
              </a:r>
              <a:endParaRPr lang="ko-KR" altLang="en-US" sz="600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224" name="그룹 223">
            <a:extLst>
              <a:ext uri="{FF2B5EF4-FFF2-40B4-BE49-F238E27FC236}">
                <a16:creationId xmlns:a16="http://schemas.microsoft.com/office/drawing/2014/main" id="{8DE4101C-9076-426F-A570-DC060E0E8E0A}"/>
              </a:ext>
            </a:extLst>
          </p:cNvPr>
          <p:cNvGrpSpPr/>
          <p:nvPr/>
        </p:nvGrpSpPr>
        <p:grpSpPr>
          <a:xfrm>
            <a:off x="4945064" y="4437064"/>
            <a:ext cx="869295" cy="376502"/>
            <a:chOff x="4137026" y="5220442"/>
            <a:chExt cx="869295" cy="376502"/>
          </a:xfrm>
        </p:grpSpPr>
        <p:sp>
          <p:nvSpPr>
            <p:cNvPr id="225" name="TextBox 224">
              <a:extLst>
                <a:ext uri="{FF2B5EF4-FFF2-40B4-BE49-F238E27FC236}">
                  <a16:creationId xmlns:a16="http://schemas.microsoft.com/office/drawing/2014/main" id="{64CBFC85-61C1-4ED5-82A9-597B35B563E6}"/>
                </a:ext>
              </a:extLst>
            </p:cNvPr>
            <p:cNvSpPr txBox="1"/>
            <p:nvPr/>
          </p:nvSpPr>
          <p:spPr>
            <a:xfrm>
              <a:off x="4179571" y="5220442"/>
              <a:ext cx="41835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600" dirty="0">
                  <a:solidFill>
                    <a:schemeClr val="bg1"/>
                  </a:solidFill>
                </a:rPr>
                <a:t>PV_1</a:t>
              </a:r>
              <a:endParaRPr lang="ko-KR" altLang="en-US" sz="600" dirty="0">
                <a:solidFill>
                  <a:schemeClr val="bg1"/>
                </a:solidFill>
              </a:endParaRPr>
            </a:p>
          </p:txBody>
        </p:sp>
        <p:sp>
          <p:nvSpPr>
            <p:cNvPr id="228" name="TextBox 227">
              <a:extLst>
                <a:ext uri="{FF2B5EF4-FFF2-40B4-BE49-F238E27FC236}">
                  <a16:creationId xmlns:a16="http://schemas.microsoft.com/office/drawing/2014/main" id="{E30D835F-33D1-4079-82F5-7780F0C06A44}"/>
                </a:ext>
              </a:extLst>
            </p:cNvPr>
            <p:cNvSpPr txBox="1"/>
            <p:nvPr/>
          </p:nvSpPr>
          <p:spPr>
            <a:xfrm>
              <a:off x="4407707" y="5327235"/>
              <a:ext cx="59861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500" dirty="0">
                  <a:solidFill>
                    <a:schemeClr val="bg1"/>
                  </a:solidFill>
                </a:rPr>
                <a:t>0 kWh</a:t>
              </a:r>
              <a:endParaRPr lang="ko-KR" altLang="en-US" sz="500" dirty="0">
                <a:solidFill>
                  <a:schemeClr val="bg1"/>
                </a:solidFill>
              </a:endParaRPr>
            </a:p>
          </p:txBody>
        </p:sp>
        <p:sp>
          <p:nvSpPr>
            <p:cNvPr id="229" name="TextBox 228">
              <a:extLst>
                <a:ext uri="{FF2B5EF4-FFF2-40B4-BE49-F238E27FC236}">
                  <a16:creationId xmlns:a16="http://schemas.microsoft.com/office/drawing/2014/main" id="{75BD2265-90B4-4017-AB04-A5D8064C366E}"/>
                </a:ext>
              </a:extLst>
            </p:cNvPr>
            <p:cNvSpPr txBox="1"/>
            <p:nvPr/>
          </p:nvSpPr>
          <p:spPr>
            <a:xfrm>
              <a:off x="4407707" y="5427667"/>
              <a:ext cx="59861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500" dirty="0">
                  <a:solidFill>
                    <a:schemeClr val="bg1"/>
                  </a:solidFill>
                </a:rPr>
                <a:t>0 kWh</a:t>
              </a:r>
              <a:endParaRPr lang="ko-KR" altLang="en-US" sz="500" dirty="0">
                <a:solidFill>
                  <a:schemeClr val="bg1"/>
                </a:solidFill>
              </a:endParaRPr>
            </a:p>
          </p:txBody>
        </p:sp>
        <p:sp>
          <p:nvSpPr>
            <p:cNvPr id="230" name="TextBox 229">
              <a:extLst>
                <a:ext uri="{FF2B5EF4-FFF2-40B4-BE49-F238E27FC236}">
                  <a16:creationId xmlns:a16="http://schemas.microsoft.com/office/drawing/2014/main" id="{6B764FCC-0D65-46B6-896F-B3703617BF5D}"/>
                </a:ext>
              </a:extLst>
            </p:cNvPr>
            <p:cNvSpPr txBox="1"/>
            <p:nvPr/>
          </p:nvSpPr>
          <p:spPr>
            <a:xfrm>
              <a:off x="4142240" y="5323645"/>
              <a:ext cx="52680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500" dirty="0">
                  <a:solidFill>
                    <a:schemeClr val="bg1"/>
                  </a:solidFill>
                </a:rPr>
                <a:t>누적 발전량</a:t>
              </a:r>
            </a:p>
          </p:txBody>
        </p:sp>
        <p:sp>
          <p:nvSpPr>
            <p:cNvPr id="231" name="TextBox 230">
              <a:extLst>
                <a:ext uri="{FF2B5EF4-FFF2-40B4-BE49-F238E27FC236}">
                  <a16:creationId xmlns:a16="http://schemas.microsoft.com/office/drawing/2014/main" id="{0CEE2281-B466-4753-81FF-FF77BF710754}"/>
                </a:ext>
              </a:extLst>
            </p:cNvPr>
            <p:cNvSpPr txBox="1"/>
            <p:nvPr/>
          </p:nvSpPr>
          <p:spPr>
            <a:xfrm>
              <a:off x="4137026" y="5425750"/>
              <a:ext cx="5426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500" dirty="0">
                  <a:solidFill>
                    <a:schemeClr val="bg1"/>
                  </a:solidFill>
                </a:rPr>
                <a:t>예측 발전량</a:t>
              </a:r>
            </a:p>
          </p:txBody>
        </p:sp>
      </p:grpSp>
      <p:grpSp>
        <p:nvGrpSpPr>
          <p:cNvPr id="232" name="그룹 231">
            <a:extLst>
              <a:ext uri="{FF2B5EF4-FFF2-40B4-BE49-F238E27FC236}">
                <a16:creationId xmlns:a16="http://schemas.microsoft.com/office/drawing/2014/main" id="{8079280D-0E84-4855-A5D0-D7F4D55441E7}"/>
              </a:ext>
            </a:extLst>
          </p:cNvPr>
          <p:cNvGrpSpPr/>
          <p:nvPr/>
        </p:nvGrpSpPr>
        <p:grpSpPr>
          <a:xfrm>
            <a:off x="3642372" y="4446930"/>
            <a:ext cx="776403" cy="451529"/>
            <a:chOff x="4137026" y="5220442"/>
            <a:chExt cx="542695" cy="451529"/>
          </a:xfrm>
        </p:grpSpPr>
        <p:sp>
          <p:nvSpPr>
            <p:cNvPr id="233" name="TextBox 232">
              <a:extLst>
                <a:ext uri="{FF2B5EF4-FFF2-40B4-BE49-F238E27FC236}">
                  <a16:creationId xmlns:a16="http://schemas.microsoft.com/office/drawing/2014/main" id="{05C902A6-CDC5-444C-A525-A03C76CA75C1}"/>
                </a:ext>
              </a:extLst>
            </p:cNvPr>
            <p:cNvSpPr txBox="1"/>
            <p:nvPr/>
          </p:nvSpPr>
          <p:spPr>
            <a:xfrm>
              <a:off x="4179571" y="5220442"/>
              <a:ext cx="41835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dirty="0">
                  <a:solidFill>
                    <a:schemeClr val="bg1"/>
                  </a:solidFill>
                </a:rPr>
                <a:t>IOT_2</a:t>
              </a:r>
              <a:endParaRPr lang="ko-KR" altLang="en-US" sz="600" dirty="0">
                <a:solidFill>
                  <a:schemeClr val="bg1"/>
                </a:solidFill>
              </a:endParaRPr>
            </a:p>
          </p:txBody>
        </p:sp>
        <p:sp>
          <p:nvSpPr>
            <p:cNvPr id="234" name="TextBox 233">
              <a:extLst>
                <a:ext uri="{FF2B5EF4-FFF2-40B4-BE49-F238E27FC236}">
                  <a16:creationId xmlns:a16="http://schemas.microsoft.com/office/drawing/2014/main" id="{4553383F-4A99-472C-8659-D4F21DFE97AE}"/>
                </a:ext>
              </a:extLst>
            </p:cNvPr>
            <p:cNvSpPr txBox="1"/>
            <p:nvPr/>
          </p:nvSpPr>
          <p:spPr>
            <a:xfrm>
              <a:off x="4142240" y="5323645"/>
              <a:ext cx="52680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500" b="1" dirty="0">
                  <a:solidFill>
                    <a:srgbClr val="92D050"/>
                  </a:solidFill>
                </a:rPr>
                <a:t>Connected</a:t>
              </a:r>
              <a:endParaRPr lang="ko-KR" altLang="en-US" sz="500" b="1" dirty="0">
                <a:solidFill>
                  <a:srgbClr val="92D050"/>
                </a:solidFill>
              </a:endParaRPr>
            </a:p>
          </p:txBody>
        </p:sp>
        <p:sp>
          <p:nvSpPr>
            <p:cNvPr id="235" name="TextBox 234">
              <a:extLst>
                <a:ext uri="{FF2B5EF4-FFF2-40B4-BE49-F238E27FC236}">
                  <a16:creationId xmlns:a16="http://schemas.microsoft.com/office/drawing/2014/main" id="{3E082308-7186-4D49-B468-7939DC10C312}"/>
                </a:ext>
              </a:extLst>
            </p:cNvPr>
            <p:cNvSpPr txBox="1"/>
            <p:nvPr/>
          </p:nvSpPr>
          <p:spPr>
            <a:xfrm>
              <a:off x="4137026" y="5425750"/>
              <a:ext cx="54269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500" dirty="0">
                  <a:solidFill>
                    <a:schemeClr val="bg1"/>
                  </a:solidFill>
                </a:rPr>
                <a:t>2018-07-01 1:12:12</a:t>
              </a:r>
              <a:endParaRPr lang="ko-KR" altLang="en-US" sz="500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236" name="그룹 235">
            <a:extLst>
              <a:ext uri="{FF2B5EF4-FFF2-40B4-BE49-F238E27FC236}">
                <a16:creationId xmlns:a16="http://schemas.microsoft.com/office/drawing/2014/main" id="{549280AD-7504-4C08-9BA2-8362B73C1C60}"/>
              </a:ext>
            </a:extLst>
          </p:cNvPr>
          <p:cNvGrpSpPr/>
          <p:nvPr/>
        </p:nvGrpSpPr>
        <p:grpSpPr>
          <a:xfrm>
            <a:off x="4290161" y="4446217"/>
            <a:ext cx="776403" cy="451529"/>
            <a:chOff x="4137026" y="5220442"/>
            <a:chExt cx="542695" cy="451529"/>
          </a:xfrm>
        </p:grpSpPr>
        <p:sp>
          <p:nvSpPr>
            <p:cNvPr id="237" name="TextBox 236">
              <a:extLst>
                <a:ext uri="{FF2B5EF4-FFF2-40B4-BE49-F238E27FC236}">
                  <a16:creationId xmlns:a16="http://schemas.microsoft.com/office/drawing/2014/main" id="{8D0D3963-51BB-4AE4-8420-A9154F7DB14C}"/>
                </a:ext>
              </a:extLst>
            </p:cNvPr>
            <p:cNvSpPr txBox="1"/>
            <p:nvPr/>
          </p:nvSpPr>
          <p:spPr>
            <a:xfrm>
              <a:off x="4179571" y="5220442"/>
              <a:ext cx="41835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dirty="0">
                  <a:solidFill>
                    <a:schemeClr val="bg1"/>
                  </a:solidFill>
                </a:rPr>
                <a:t>IOT_3</a:t>
              </a:r>
              <a:endParaRPr lang="ko-KR" altLang="en-US" sz="600" dirty="0">
                <a:solidFill>
                  <a:schemeClr val="bg1"/>
                </a:solidFill>
              </a:endParaRPr>
            </a:p>
          </p:txBody>
        </p:sp>
        <p:sp>
          <p:nvSpPr>
            <p:cNvPr id="238" name="TextBox 237">
              <a:extLst>
                <a:ext uri="{FF2B5EF4-FFF2-40B4-BE49-F238E27FC236}">
                  <a16:creationId xmlns:a16="http://schemas.microsoft.com/office/drawing/2014/main" id="{3F1E6AA9-200D-4BC3-9DB3-8399A021C6BE}"/>
                </a:ext>
              </a:extLst>
            </p:cNvPr>
            <p:cNvSpPr txBox="1"/>
            <p:nvPr/>
          </p:nvSpPr>
          <p:spPr>
            <a:xfrm>
              <a:off x="4142240" y="5323645"/>
              <a:ext cx="52680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500" b="1" dirty="0">
                  <a:solidFill>
                    <a:srgbClr val="92D050"/>
                  </a:solidFill>
                </a:rPr>
                <a:t>Connected</a:t>
              </a:r>
              <a:endParaRPr lang="ko-KR" altLang="en-US" sz="500" b="1" dirty="0">
                <a:solidFill>
                  <a:srgbClr val="92D050"/>
                </a:solidFill>
              </a:endParaRPr>
            </a:p>
          </p:txBody>
        </p:sp>
        <p:sp>
          <p:nvSpPr>
            <p:cNvPr id="239" name="TextBox 238">
              <a:extLst>
                <a:ext uri="{FF2B5EF4-FFF2-40B4-BE49-F238E27FC236}">
                  <a16:creationId xmlns:a16="http://schemas.microsoft.com/office/drawing/2014/main" id="{EC73987D-564E-4B77-B241-C44223B775CD}"/>
                </a:ext>
              </a:extLst>
            </p:cNvPr>
            <p:cNvSpPr txBox="1"/>
            <p:nvPr/>
          </p:nvSpPr>
          <p:spPr>
            <a:xfrm>
              <a:off x="4137026" y="5425750"/>
              <a:ext cx="54269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500" dirty="0">
                  <a:solidFill>
                    <a:schemeClr val="bg1"/>
                  </a:solidFill>
                </a:rPr>
                <a:t>2018-07-01 1:12:12</a:t>
              </a:r>
              <a:endParaRPr lang="ko-KR" altLang="en-US" sz="500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240" name="그룹 239">
            <a:extLst>
              <a:ext uri="{FF2B5EF4-FFF2-40B4-BE49-F238E27FC236}">
                <a16:creationId xmlns:a16="http://schemas.microsoft.com/office/drawing/2014/main" id="{67F329F7-C7AE-491D-8441-5783A85BC61E}"/>
              </a:ext>
            </a:extLst>
          </p:cNvPr>
          <p:cNvGrpSpPr/>
          <p:nvPr/>
        </p:nvGrpSpPr>
        <p:grpSpPr>
          <a:xfrm>
            <a:off x="6162489" y="3290071"/>
            <a:ext cx="1997715" cy="363942"/>
            <a:chOff x="2987840" y="283425"/>
            <a:chExt cx="1933365" cy="363942"/>
          </a:xfrm>
        </p:grpSpPr>
        <p:cxnSp>
          <p:nvCxnSpPr>
            <p:cNvPr id="241" name="직선 연결선 240">
              <a:extLst>
                <a:ext uri="{FF2B5EF4-FFF2-40B4-BE49-F238E27FC236}">
                  <a16:creationId xmlns:a16="http://schemas.microsoft.com/office/drawing/2014/main" id="{EC31AF4D-BB73-419D-8CF4-6EB50DF8B50E}"/>
                </a:ext>
              </a:extLst>
            </p:cNvPr>
            <p:cNvCxnSpPr/>
            <p:nvPr/>
          </p:nvCxnSpPr>
          <p:spPr>
            <a:xfrm>
              <a:off x="2987840" y="392891"/>
              <a:ext cx="144000" cy="0"/>
            </a:xfrm>
            <a:prstGeom prst="line">
              <a:avLst/>
            </a:prstGeom>
            <a:ln w="19050">
              <a:solidFill>
                <a:schemeClr val="accent6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2" name="직사각형 241">
              <a:extLst>
                <a:ext uri="{FF2B5EF4-FFF2-40B4-BE49-F238E27FC236}">
                  <a16:creationId xmlns:a16="http://schemas.microsoft.com/office/drawing/2014/main" id="{2F555A4E-2545-47FB-B287-AA9F7F7D95D2}"/>
                </a:ext>
              </a:extLst>
            </p:cNvPr>
            <p:cNvSpPr/>
            <p:nvPr/>
          </p:nvSpPr>
          <p:spPr>
            <a:xfrm>
              <a:off x="3072010" y="285820"/>
              <a:ext cx="1008112" cy="36004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>
                <a:lnSpc>
                  <a:spcPct val="150000"/>
                </a:lnSpc>
              </a:pPr>
              <a:r>
                <a:rPr lang="ko-KR" altLang="en-US" sz="5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충전</a:t>
              </a:r>
            </a:p>
          </p:txBody>
        </p:sp>
        <p:cxnSp>
          <p:nvCxnSpPr>
            <p:cNvPr id="243" name="직선 연결선 242">
              <a:extLst>
                <a:ext uri="{FF2B5EF4-FFF2-40B4-BE49-F238E27FC236}">
                  <a16:creationId xmlns:a16="http://schemas.microsoft.com/office/drawing/2014/main" id="{2CA159E9-D4F7-4613-9795-531688CC0116}"/>
                </a:ext>
              </a:extLst>
            </p:cNvPr>
            <p:cNvCxnSpPr/>
            <p:nvPr/>
          </p:nvCxnSpPr>
          <p:spPr>
            <a:xfrm>
              <a:off x="3410158" y="392891"/>
              <a:ext cx="144000" cy="0"/>
            </a:xfrm>
            <a:prstGeom prst="line">
              <a:avLst/>
            </a:prstGeom>
            <a:noFill/>
            <a:ln w="19050">
              <a:solidFill>
                <a:schemeClr val="tx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49" name="직사각형 248">
              <a:extLst>
                <a:ext uri="{FF2B5EF4-FFF2-40B4-BE49-F238E27FC236}">
                  <a16:creationId xmlns:a16="http://schemas.microsoft.com/office/drawing/2014/main" id="{4A8696FD-64C2-42AC-8776-16B99E2253AE}"/>
                </a:ext>
              </a:extLst>
            </p:cNvPr>
            <p:cNvSpPr/>
            <p:nvPr/>
          </p:nvSpPr>
          <p:spPr>
            <a:xfrm>
              <a:off x="3497913" y="283425"/>
              <a:ext cx="1008112" cy="36004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>
                <a:lnSpc>
                  <a:spcPct val="150000"/>
                </a:lnSpc>
              </a:pPr>
              <a:r>
                <a:rPr lang="ko-KR" altLang="en-US" sz="5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방전</a:t>
              </a:r>
            </a:p>
          </p:txBody>
        </p:sp>
        <p:cxnSp>
          <p:nvCxnSpPr>
            <p:cNvPr id="250" name="직선 연결선 249">
              <a:extLst>
                <a:ext uri="{FF2B5EF4-FFF2-40B4-BE49-F238E27FC236}">
                  <a16:creationId xmlns:a16="http://schemas.microsoft.com/office/drawing/2014/main" id="{072F361B-804F-4AA7-B138-76FBEAA14FC0}"/>
                </a:ext>
              </a:extLst>
            </p:cNvPr>
            <p:cNvCxnSpPr/>
            <p:nvPr/>
          </p:nvCxnSpPr>
          <p:spPr>
            <a:xfrm>
              <a:off x="4357958" y="392891"/>
              <a:ext cx="144000" cy="0"/>
            </a:xfrm>
            <a:prstGeom prst="line">
              <a:avLst/>
            </a:prstGeom>
            <a:ln w="12700">
              <a:solidFill>
                <a:schemeClr val="accent3">
                  <a:lumMod val="7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1" name="직사각형 250">
              <a:extLst>
                <a:ext uri="{FF2B5EF4-FFF2-40B4-BE49-F238E27FC236}">
                  <a16:creationId xmlns:a16="http://schemas.microsoft.com/office/drawing/2014/main" id="{CF14E13D-1B3E-45C8-A275-5A59CDB79988}"/>
                </a:ext>
              </a:extLst>
            </p:cNvPr>
            <p:cNvSpPr/>
            <p:nvPr/>
          </p:nvSpPr>
          <p:spPr>
            <a:xfrm>
              <a:off x="4433158" y="287327"/>
              <a:ext cx="459790" cy="36004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>
                <a:lnSpc>
                  <a:spcPct val="150000"/>
                </a:lnSpc>
              </a:pPr>
              <a:r>
                <a:rPr lang="ko-KR" altLang="en-US" sz="5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방전 계획</a:t>
              </a:r>
            </a:p>
          </p:txBody>
        </p:sp>
        <p:cxnSp>
          <p:nvCxnSpPr>
            <p:cNvPr id="252" name="직선 연결선 251">
              <a:extLst>
                <a:ext uri="{FF2B5EF4-FFF2-40B4-BE49-F238E27FC236}">
                  <a16:creationId xmlns:a16="http://schemas.microsoft.com/office/drawing/2014/main" id="{4BC42591-7216-4B99-AB64-BD013EB3A369}"/>
                </a:ext>
              </a:extLst>
            </p:cNvPr>
            <p:cNvCxnSpPr/>
            <p:nvPr/>
          </p:nvCxnSpPr>
          <p:spPr>
            <a:xfrm>
              <a:off x="3842877" y="392891"/>
              <a:ext cx="144000" cy="0"/>
            </a:xfrm>
            <a:prstGeom prst="line">
              <a:avLst/>
            </a:prstGeom>
            <a:ln w="12700">
              <a:solidFill>
                <a:schemeClr val="tx1">
                  <a:lumMod val="65000"/>
                  <a:lumOff val="3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3" name="직사각형 252">
              <a:extLst>
                <a:ext uri="{FF2B5EF4-FFF2-40B4-BE49-F238E27FC236}">
                  <a16:creationId xmlns:a16="http://schemas.microsoft.com/office/drawing/2014/main" id="{ABC66FF9-0F7D-4DCA-96C1-70EEA8135441}"/>
                </a:ext>
              </a:extLst>
            </p:cNvPr>
            <p:cNvSpPr/>
            <p:nvPr/>
          </p:nvSpPr>
          <p:spPr>
            <a:xfrm>
              <a:off x="3913093" y="285103"/>
              <a:ext cx="1008112" cy="36004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>
                <a:lnSpc>
                  <a:spcPct val="150000"/>
                </a:lnSpc>
              </a:pPr>
              <a:r>
                <a:rPr lang="ko-KR" altLang="en-US" sz="5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충전 계획</a:t>
              </a:r>
            </a:p>
          </p:txBody>
        </p:sp>
      </p:grpSp>
      <p:grpSp>
        <p:nvGrpSpPr>
          <p:cNvPr id="255" name="그룹 254">
            <a:extLst>
              <a:ext uri="{FF2B5EF4-FFF2-40B4-BE49-F238E27FC236}">
                <a16:creationId xmlns:a16="http://schemas.microsoft.com/office/drawing/2014/main" id="{B0A013A4-7660-406E-A269-4BD18D610531}"/>
              </a:ext>
            </a:extLst>
          </p:cNvPr>
          <p:cNvGrpSpPr/>
          <p:nvPr/>
        </p:nvGrpSpPr>
        <p:grpSpPr>
          <a:xfrm>
            <a:off x="563396" y="3823768"/>
            <a:ext cx="2230525" cy="380169"/>
            <a:chOff x="1530621" y="2825422"/>
            <a:chExt cx="7060643" cy="1737220"/>
          </a:xfrm>
        </p:grpSpPr>
        <p:sp>
          <p:nvSpPr>
            <p:cNvPr id="256" name="자유형 83">
              <a:extLst>
                <a:ext uri="{FF2B5EF4-FFF2-40B4-BE49-F238E27FC236}">
                  <a16:creationId xmlns:a16="http://schemas.microsoft.com/office/drawing/2014/main" id="{101F247F-CB60-4D9D-8C54-7833E3EA7347}"/>
                </a:ext>
              </a:extLst>
            </p:cNvPr>
            <p:cNvSpPr/>
            <p:nvPr/>
          </p:nvSpPr>
          <p:spPr>
            <a:xfrm>
              <a:off x="1530621" y="2831921"/>
              <a:ext cx="3422156" cy="1730721"/>
            </a:xfrm>
            <a:custGeom>
              <a:avLst/>
              <a:gdLst>
                <a:gd name="connsiteX0" fmla="*/ 0 w 4368800"/>
                <a:gd name="connsiteY0" fmla="*/ 389467 h 414867"/>
                <a:gd name="connsiteX1" fmla="*/ 270933 w 4368800"/>
                <a:gd name="connsiteY1" fmla="*/ 321733 h 414867"/>
                <a:gd name="connsiteX2" fmla="*/ 575733 w 4368800"/>
                <a:gd name="connsiteY2" fmla="*/ 414867 h 414867"/>
                <a:gd name="connsiteX3" fmla="*/ 880533 w 4368800"/>
                <a:gd name="connsiteY3" fmla="*/ 355600 h 414867"/>
                <a:gd name="connsiteX4" fmla="*/ 1134533 w 4368800"/>
                <a:gd name="connsiteY4" fmla="*/ 203200 h 414867"/>
                <a:gd name="connsiteX5" fmla="*/ 1456266 w 4368800"/>
                <a:gd name="connsiteY5" fmla="*/ 313267 h 414867"/>
                <a:gd name="connsiteX6" fmla="*/ 1727200 w 4368800"/>
                <a:gd name="connsiteY6" fmla="*/ 254000 h 414867"/>
                <a:gd name="connsiteX7" fmla="*/ 1998133 w 4368800"/>
                <a:gd name="connsiteY7" fmla="*/ 135467 h 414867"/>
                <a:gd name="connsiteX8" fmla="*/ 2353733 w 4368800"/>
                <a:gd name="connsiteY8" fmla="*/ 287867 h 414867"/>
                <a:gd name="connsiteX9" fmla="*/ 2607733 w 4368800"/>
                <a:gd name="connsiteY9" fmla="*/ 169333 h 414867"/>
                <a:gd name="connsiteX10" fmla="*/ 2946400 w 4368800"/>
                <a:gd name="connsiteY10" fmla="*/ 211667 h 414867"/>
                <a:gd name="connsiteX11" fmla="*/ 3234266 w 4368800"/>
                <a:gd name="connsiteY11" fmla="*/ 203200 h 414867"/>
                <a:gd name="connsiteX12" fmla="*/ 3505200 w 4368800"/>
                <a:gd name="connsiteY12" fmla="*/ 0 h 414867"/>
                <a:gd name="connsiteX13" fmla="*/ 3810000 w 4368800"/>
                <a:gd name="connsiteY13" fmla="*/ 135467 h 414867"/>
                <a:gd name="connsiteX14" fmla="*/ 4097866 w 4368800"/>
                <a:gd name="connsiteY14" fmla="*/ 42333 h 414867"/>
                <a:gd name="connsiteX15" fmla="*/ 4368800 w 4368800"/>
                <a:gd name="connsiteY15" fmla="*/ 118533 h 414867"/>
                <a:gd name="connsiteX0" fmla="*/ 0 w 4368800"/>
                <a:gd name="connsiteY0" fmla="*/ 524934 h 524934"/>
                <a:gd name="connsiteX1" fmla="*/ 270933 w 4368800"/>
                <a:gd name="connsiteY1" fmla="*/ 321733 h 524934"/>
                <a:gd name="connsiteX2" fmla="*/ 575733 w 4368800"/>
                <a:gd name="connsiteY2" fmla="*/ 414867 h 524934"/>
                <a:gd name="connsiteX3" fmla="*/ 880533 w 4368800"/>
                <a:gd name="connsiteY3" fmla="*/ 355600 h 524934"/>
                <a:gd name="connsiteX4" fmla="*/ 1134533 w 4368800"/>
                <a:gd name="connsiteY4" fmla="*/ 203200 h 524934"/>
                <a:gd name="connsiteX5" fmla="*/ 1456266 w 4368800"/>
                <a:gd name="connsiteY5" fmla="*/ 313267 h 524934"/>
                <a:gd name="connsiteX6" fmla="*/ 1727200 w 4368800"/>
                <a:gd name="connsiteY6" fmla="*/ 254000 h 524934"/>
                <a:gd name="connsiteX7" fmla="*/ 1998133 w 4368800"/>
                <a:gd name="connsiteY7" fmla="*/ 135467 h 524934"/>
                <a:gd name="connsiteX8" fmla="*/ 2353733 w 4368800"/>
                <a:gd name="connsiteY8" fmla="*/ 287867 h 524934"/>
                <a:gd name="connsiteX9" fmla="*/ 2607733 w 4368800"/>
                <a:gd name="connsiteY9" fmla="*/ 169333 h 524934"/>
                <a:gd name="connsiteX10" fmla="*/ 2946400 w 4368800"/>
                <a:gd name="connsiteY10" fmla="*/ 211667 h 524934"/>
                <a:gd name="connsiteX11" fmla="*/ 3234266 w 4368800"/>
                <a:gd name="connsiteY11" fmla="*/ 203200 h 524934"/>
                <a:gd name="connsiteX12" fmla="*/ 3505200 w 4368800"/>
                <a:gd name="connsiteY12" fmla="*/ 0 h 524934"/>
                <a:gd name="connsiteX13" fmla="*/ 3810000 w 4368800"/>
                <a:gd name="connsiteY13" fmla="*/ 135467 h 524934"/>
                <a:gd name="connsiteX14" fmla="*/ 4097866 w 4368800"/>
                <a:gd name="connsiteY14" fmla="*/ 42333 h 524934"/>
                <a:gd name="connsiteX15" fmla="*/ 4368800 w 4368800"/>
                <a:gd name="connsiteY15" fmla="*/ 118533 h 524934"/>
                <a:gd name="connsiteX0" fmla="*/ 0 w 4368800"/>
                <a:gd name="connsiteY0" fmla="*/ 541867 h 541867"/>
                <a:gd name="connsiteX1" fmla="*/ 270933 w 4368800"/>
                <a:gd name="connsiteY1" fmla="*/ 338666 h 541867"/>
                <a:gd name="connsiteX2" fmla="*/ 575733 w 4368800"/>
                <a:gd name="connsiteY2" fmla="*/ 431800 h 541867"/>
                <a:gd name="connsiteX3" fmla="*/ 880533 w 4368800"/>
                <a:gd name="connsiteY3" fmla="*/ 372533 h 541867"/>
                <a:gd name="connsiteX4" fmla="*/ 1134533 w 4368800"/>
                <a:gd name="connsiteY4" fmla="*/ 220133 h 541867"/>
                <a:gd name="connsiteX5" fmla="*/ 1456266 w 4368800"/>
                <a:gd name="connsiteY5" fmla="*/ 330200 h 541867"/>
                <a:gd name="connsiteX6" fmla="*/ 1727200 w 4368800"/>
                <a:gd name="connsiteY6" fmla="*/ 270933 h 541867"/>
                <a:gd name="connsiteX7" fmla="*/ 2048933 w 4368800"/>
                <a:gd name="connsiteY7" fmla="*/ 0 h 541867"/>
                <a:gd name="connsiteX8" fmla="*/ 2353733 w 4368800"/>
                <a:gd name="connsiteY8" fmla="*/ 304800 h 541867"/>
                <a:gd name="connsiteX9" fmla="*/ 2607733 w 4368800"/>
                <a:gd name="connsiteY9" fmla="*/ 186266 h 541867"/>
                <a:gd name="connsiteX10" fmla="*/ 2946400 w 4368800"/>
                <a:gd name="connsiteY10" fmla="*/ 228600 h 541867"/>
                <a:gd name="connsiteX11" fmla="*/ 3234266 w 4368800"/>
                <a:gd name="connsiteY11" fmla="*/ 220133 h 541867"/>
                <a:gd name="connsiteX12" fmla="*/ 3505200 w 4368800"/>
                <a:gd name="connsiteY12" fmla="*/ 16933 h 541867"/>
                <a:gd name="connsiteX13" fmla="*/ 3810000 w 4368800"/>
                <a:gd name="connsiteY13" fmla="*/ 152400 h 541867"/>
                <a:gd name="connsiteX14" fmla="*/ 4097866 w 4368800"/>
                <a:gd name="connsiteY14" fmla="*/ 59266 h 541867"/>
                <a:gd name="connsiteX15" fmla="*/ 4368800 w 4368800"/>
                <a:gd name="connsiteY15" fmla="*/ 135466 h 541867"/>
                <a:gd name="connsiteX0" fmla="*/ 0 w 4368800"/>
                <a:gd name="connsiteY0" fmla="*/ 541867 h 541867"/>
                <a:gd name="connsiteX1" fmla="*/ 270933 w 4368800"/>
                <a:gd name="connsiteY1" fmla="*/ 338666 h 541867"/>
                <a:gd name="connsiteX2" fmla="*/ 575733 w 4368800"/>
                <a:gd name="connsiteY2" fmla="*/ 431800 h 541867"/>
                <a:gd name="connsiteX3" fmla="*/ 880533 w 4368800"/>
                <a:gd name="connsiteY3" fmla="*/ 372533 h 541867"/>
                <a:gd name="connsiteX4" fmla="*/ 1134533 w 4368800"/>
                <a:gd name="connsiteY4" fmla="*/ 220133 h 541867"/>
                <a:gd name="connsiteX5" fmla="*/ 1456266 w 4368800"/>
                <a:gd name="connsiteY5" fmla="*/ 330200 h 541867"/>
                <a:gd name="connsiteX6" fmla="*/ 1727200 w 4368800"/>
                <a:gd name="connsiteY6" fmla="*/ 270933 h 541867"/>
                <a:gd name="connsiteX7" fmla="*/ 2048933 w 4368800"/>
                <a:gd name="connsiteY7" fmla="*/ 0 h 541867"/>
                <a:gd name="connsiteX8" fmla="*/ 2353733 w 4368800"/>
                <a:gd name="connsiteY8" fmla="*/ 304800 h 541867"/>
                <a:gd name="connsiteX9" fmla="*/ 2607733 w 4368800"/>
                <a:gd name="connsiteY9" fmla="*/ 186266 h 541867"/>
                <a:gd name="connsiteX10" fmla="*/ 2963334 w 4368800"/>
                <a:gd name="connsiteY10" fmla="*/ 152400 h 541867"/>
                <a:gd name="connsiteX11" fmla="*/ 3234266 w 4368800"/>
                <a:gd name="connsiteY11" fmla="*/ 220133 h 541867"/>
                <a:gd name="connsiteX12" fmla="*/ 3505200 w 4368800"/>
                <a:gd name="connsiteY12" fmla="*/ 16933 h 541867"/>
                <a:gd name="connsiteX13" fmla="*/ 3810000 w 4368800"/>
                <a:gd name="connsiteY13" fmla="*/ 152400 h 541867"/>
                <a:gd name="connsiteX14" fmla="*/ 4097866 w 4368800"/>
                <a:gd name="connsiteY14" fmla="*/ 59266 h 541867"/>
                <a:gd name="connsiteX15" fmla="*/ 4368800 w 4368800"/>
                <a:gd name="connsiteY15" fmla="*/ 135466 h 541867"/>
                <a:gd name="connsiteX0" fmla="*/ 0 w 4368800"/>
                <a:gd name="connsiteY0" fmla="*/ 575734 h 575734"/>
                <a:gd name="connsiteX1" fmla="*/ 270933 w 4368800"/>
                <a:gd name="connsiteY1" fmla="*/ 372533 h 575734"/>
                <a:gd name="connsiteX2" fmla="*/ 575733 w 4368800"/>
                <a:gd name="connsiteY2" fmla="*/ 465667 h 575734"/>
                <a:gd name="connsiteX3" fmla="*/ 880533 w 4368800"/>
                <a:gd name="connsiteY3" fmla="*/ 406400 h 575734"/>
                <a:gd name="connsiteX4" fmla="*/ 1134533 w 4368800"/>
                <a:gd name="connsiteY4" fmla="*/ 254000 h 575734"/>
                <a:gd name="connsiteX5" fmla="*/ 1456266 w 4368800"/>
                <a:gd name="connsiteY5" fmla="*/ 364067 h 575734"/>
                <a:gd name="connsiteX6" fmla="*/ 1727200 w 4368800"/>
                <a:gd name="connsiteY6" fmla="*/ 304800 h 575734"/>
                <a:gd name="connsiteX7" fmla="*/ 2048933 w 4368800"/>
                <a:gd name="connsiteY7" fmla="*/ 33867 h 575734"/>
                <a:gd name="connsiteX8" fmla="*/ 2353733 w 4368800"/>
                <a:gd name="connsiteY8" fmla="*/ 338667 h 575734"/>
                <a:gd name="connsiteX9" fmla="*/ 2607733 w 4368800"/>
                <a:gd name="connsiteY9" fmla="*/ 220133 h 575734"/>
                <a:gd name="connsiteX10" fmla="*/ 2963334 w 4368800"/>
                <a:gd name="connsiteY10" fmla="*/ 186267 h 575734"/>
                <a:gd name="connsiteX11" fmla="*/ 3234266 w 4368800"/>
                <a:gd name="connsiteY11" fmla="*/ 254000 h 575734"/>
                <a:gd name="connsiteX12" fmla="*/ 3505200 w 4368800"/>
                <a:gd name="connsiteY12" fmla="*/ 0 h 575734"/>
                <a:gd name="connsiteX13" fmla="*/ 3810000 w 4368800"/>
                <a:gd name="connsiteY13" fmla="*/ 186267 h 575734"/>
                <a:gd name="connsiteX14" fmla="*/ 4097866 w 4368800"/>
                <a:gd name="connsiteY14" fmla="*/ 93133 h 575734"/>
                <a:gd name="connsiteX15" fmla="*/ 4368800 w 4368800"/>
                <a:gd name="connsiteY15" fmla="*/ 169333 h 575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368800" h="575734">
                  <a:moveTo>
                    <a:pt x="0" y="575734"/>
                  </a:moveTo>
                  <a:lnTo>
                    <a:pt x="270933" y="372533"/>
                  </a:lnTo>
                  <a:lnTo>
                    <a:pt x="575733" y="465667"/>
                  </a:lnTo>
                  <a:lnTo>
                    <a:pt x="880533" y="406400"/>
                  </a:lnTo>
                  <a:lnTo>
                    <a:pt x="1134533" y="254000"/>
                  </a:lnTo>
                  <a:lnTo>
                    <a:pt x="1456266" y="364067"/>
                  </a:lnTo>
                  <a:lnTo>
                    <a:pt x="1727200" y="304800"/>
                  </a:lnTo>
                  <a:lnTo>
                    <a:pt x="2048933" y="33867"/>
                  </a:lnTo>
                  <a:lnTo>
                    <a:pt x="2353733" y="338667"/>
                  </a:lnTo>
                  <a:cubicBezTo>
                    <a:pt x="2438400" y="299156"/>
                    <a:pt x="2506133" y="245533"/>
                    <a:pt x="2607733" y="220133"/>
                  </a:cubicBezTo>
                  <a:cubicBezTo>
                    <a:pt x="2709333" y="194733"/>
                    <a:pt x="2844800" y="197556"/>
                    <a:pt x="2963334" y="186267"/>
                  </a:cubicBezTo>
                  <a:lnTo>
                    <a:pt x="3234266" y="254000"/>
                  </a:lnTo>
                  <a:lnTo>
                    <a:pt x="3505200" y="0"/>
                  </a:lnTo>
                  <a:lnTo>
                    <a:pt x="3810000" y="186267"/>
                  </a:lnTo>
                  <a:lnTo>
                    <a:pt x="4097866" y="93133"/>
                  </a:lnTo>
                  <a:lnTo>
                    <a:pt x="4368800" y="169333"/>
                  </a:lnTo>
                </a:path>
              </a:pathLst>
            </a:custGeom>
            <a:ln>
              <a:solidFill>
                <a:schemeClr val="bg1">
                  <a:lumMod val="5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257" name="자유형 33">
              <a:extLst>
                <a:ext uri="{FF2B5EF4-FFF2-40B4-BE49-F238E27FC236}">
                  <a16:creationId xmlns:a16="http://schemas.microsoft.com/office/drawing/2014/main" id="{B88589FD-B497-4D75-959D-699AEE27C114}"/>
                </a:ext>
              </a:extLst>
            </p:cNvPr>
            <p:cNvSpPr/>
            <p:nvPr/>
          </p:nvSpPr>
          <p:spPr>
            <a:xfrm flipH="1">
              <a:off x="4907819" y="2825422"/>
              <a:ext cx="3683445" cy="1730721"/>
            </a:xfrm>
            <a:custGeom>
              <a:avLst/>
              <a:gdLst>
                <a:gd name="connsiteX0" fmla="*/ 0 w 4368800"/>
                <a:gd name="connsiteY0" fmla="*/ 389467 h 414867"/>
                <a:gd name="connsiteX1" fmla="*/ 270933 w 4368800"/>
                <a:gd name="connsiteY1" fmla="*/ 321733 h 414867"/>
                <a:gd name="connsiteX2" fmla="*/ 575733 w 4368800"/>
                <a:gd name="connsiteY2" fmla="*/ 414867 h 414867"/>
                <a:gd name="connsiteX3" fmla="*/ 880533 w 4368800"/>
                <a:gd name="connsiteY3" fmla="*/ 355600 h 414867"/>
                <a:gd name="connsiteX4" fmla="*/ 1134533 w 4368800"/>
                <a:gd name="connsiteY4" fmla="*/ 203200 h 414867"/>
                <a:gd name="connsiteX5" fmla="*/ 1456266 w 4368800"/>
                <a:gd name="connsiteY5" fmla="*/ 313267 h 414867"/>
                <a:gd name="connsiteX6" fmla="*/ 1727200 w 4368800"/>
                <a:gd name="connsiteY6" fmla="*/ 254000 h 414867"/>
                <a:gd name="connsiteX7" fmla="*/ 1998133 w 4368800"/>
                <a:gd name="connsiteY7" fmla="*/ 135467 h 414867"/>
                <a:gd name="connsiteX8" fmla="*/ 2353733 w 4368800"/>
                <a:gd name="connsiteY8" fmla="*/ 287867 h 414867"/>
                <a:gd name="connsiteX9" fmla="*/ 2607733 w 4368800"/>
                <a:gd name="connsiteY9" fmla="*/ 169333 h 414867"/>
                <a:gd name="connsiteX10" fmla="*/ 2946400 w 4368800"/>
                <a:gd name="connsiteY10" fmla="*/ 211667 h 414867"/>
                <a:gd name="connsiteX11" fmla="*/ 3234266 w 4368800"/>
                <a:gd name="connsiteY11" fmla="*/ 203200 h 414867"/>
                <a:gd name="connsiteX12" fmla="*/ 3505200 w 4368800"/>
                <a:gd name="connsiteY12" fmla="*/ 0 h 414867"/>
                <a:gd name="connsiteX13" fmla="*/ 3810000 w 4368800"/>
                <a:gd name="connsiteY13" fmla="*/ 135467 h 414867"/>
                <a:gd name="connsiteX14" fmla="*/ 4097866 w 4368800"/>
                <a:gd name="connsiteY14" fmla="*/ 42333 h 414867"/>
                <a:gd name="connsiteX15" fmla="*/ 4368800 w 4368800"/>
                <a:gd name="connsiteY15" fmla="*/ 118533 h 414867"/>
                <a:gd name="connsiteX0" fmla="*/ 0 w 4368800"/>
                <a:gd name="connsiteY0" fmla="*/ 524934 h 524934"/>
                <a:gd name="connsiteX1" fmla="*/ 270933 w 4368800"/>
                <a:gd name="connsiteY1" fmla="*/ 321733 h 524934"/>
                <a:gd name="connsiteX2" fmla="*/ 575733 w 4368800"/>
                <a:gd name="connsiteY2" fmla="*/ 414867 h 524934"/>
                <a:gd name="connsiteX3" fmla="*/ 880533 w 4368800"/>
                <a:gd name="connsiteY3" fmla="*/ 355600 h 524934"/>
                <a:gd name="connsiteX4" fmla="*/ 1134533 w 4368800"/>
                <a:gd name="connsiteY4" fmla="*/ 203200 h 524934"/>
                <a:gd name="connsiteX5" fmla="*/ 1456266 w 4368800"/>
                <a:gd name="connsiteY5" fmla="*/ 313267 h 524934"/>
                <a:gd name="connsiteX6" fmla="*/ 1727200 w 4368800"/>
                <a:gd name="connsiteY6" fmla="*/ 254000 h 524934"/>
                <a:gd name="connsiteX7" fmla="*/ 1998133 w 4368800"/>
                <a:gd name="connsiteY7" fmla="*/ 135467 h 524934"/>
                <a:gd name="connsiteX8" fmla="*/ 2353733 w 4368800"/>
                <a:gd name="connsiteY8" fmla="*/ 287867 h 524934"/>
                <a:gd name="connsiteX9" fmla="*/ 2607733 w 4368800"/>
                <a:gd name="connsiteY9" fmla="*/ 169333 h 524934"/>
                <a:gd name="connsiteX10" fmla="*/ 2946400 w 4368800"/>
                <a:gd name="connsiteY10" fmla="*/ 211667 h 524934"/>
                <a:gd name="connsiteX11" fmla="*/ 3234266 w 4368800"/>
                <a:gd name="connsiteY11" fmla="*/ 203200 h 524934"/>
                <a:gd name="connsiteX12" fmla="*/ 3505200 w 4368800"/>
                <a:gd name="connsiteY12" fmla="*/ 0 h 524934"/>
                <a:gd name="connsiteX13" fmla="*/ 3810000 w 4368800"/>
                <a:gd name="connsiteY13" fmla="*/ 135467 h 524934"/>
                <a:gd name="connsiteX14" fmla="*/ 4097866 w 4368800"/>
                <a:gd name="connsiteY14" fmla="*/ 42333 h 524934"/>
                <a:gd name="connsiteX15" fmla="*/ 4368800 w 4368800"/>
                <a:gd name="connsiteY15" fmla="*/ 118533 h 524934"/>
                <a:gd name="connsiteX0" fmla="*/ 0 w 4368800"/>
                <a:gd name="connsiteY0" fmla="*/ 541867 h 541867"/>
                <a:gd name="connsiteX1" fmla="*/ 270933 w 4368800"/>
                <a:gd name="connsiteY1" fmla="*/ 338666 h 541867"/>
                <a:gd name="connsiteX2" fmla="*/ 575733 w 4368800"/>
                <a:gd name="connsiteY2" fmla="*/ 431800 h 541867"/>
                <a:gd name="connsiteX3" fmla="*/ 880533 w 4368800"/>
                <a:gd name="connsiteY3" fmla="*/ 372533 h 541867"/>
                <a:gd name="connsiteX4" fmla="*/ 1134533 w 4368800"/>
                <a:gd name="connsiteY4" fmla="*/ 220133 h 541867"/>
                <a:gd name="connsiteX5" fmla="*/ 1456266 w 4368800"/>
                <a:gd name="connsiteY5" fmla="*/ 330200 h 541867"/>
                <a:gd name="connsiteX6" fmla="*/ 1727200 w 4368800"/>
                <a:gd name="connsiteY6" fmla="*/ 270933 h 541867"/>
                <a:gd name="connsiteX7" fmla="*/ 2048933 w 4368800"/>
                <a:gd name="connsiteY7" fmla="*/ 0 h 541867"/>
                <a:gd name="connsiteX8" fmla="*/ 2353733 w 4368800"/>
                <a:gd name="connsiteY8" fmla="*/ 304800 h 541867"/>
                <a:gd name="connsiteX9" fmla="*/ 2607733 w 4368800"/>
                <a:gd name="connsiteY9" fmla="*/ 186266 h 541867"/>
                <a:gd name="connsiteX10" fmla="*/ 2946400 w 4368800"/>
                <a:gd name="connsiteY10" fmla="*/ 228600 h 541867"/>
                <a:gd name="connsiteX11" fmla="*/ 3234266 w 4368800"/>
                <a:gd name="connsiteY11" fmla="*/ 220133 h 541867"/>
                <a:gd name="connsiteX12" fmla="*/ 3505200 w 4368800"/>
                <a:gd name="connsiteY12" fmla="*/ 16933 h 541867"/>
                <a:gd name="connsiteX13" fmla="*/ 3810000 w 4368800"/>
                <a:gd name="connsiteY13" fmla="*/ 152400 h 541867"/>
                <a:gd name="connsiteX14" fmla="*/ 4097866 w 4368800"/>
                <a:gd name="connsiteY14" fmla="*/ 59266 h 541867"/>
                <a:gd name="connsiteX15" fmla="*/ 4368800 w 4368800"/>
                <a:gd name="connsiteY15" fmla="*/ 135466 h 541867"/>
                <a:gd name="connsiteX0" fmla="*/ 0 w 4368800"/>
                <a:gd name="connsiteY0" fmla="*/ 541867 h 541867"/>
                <a:gd name="connsiteX1" fmla="*/ 270933 w 4368800"/>
                <a:gd name="connsiteY1" fmla="*/ 338666 h 541867"/>
                <a:gd name="connsiteX2" fmla="*/ 575733 w 4368800"/>
                <a:gd name="connsiteY2" fmla="*/ 431800 h 541867"/>
                <a:gd name="connsiteX3" fmla="*/ 880533 w 4368800"/>
                <a:gd name="connsiteY3" fmla="*/ 372533 h 541867"/>
                <a:gd name="connsiteX4" fmla="*/ 1134533 w 4368800"/>
                <a:gd name="connsiteY4" fmla="*/ 220133 h 541867"/>
                <a:gd name="connsiteX5" fmla="*/ 1456266 w 4368800"/>
                <a:gd name="connsiteY5" fmla="*/ 330200 h 541867"/>
                <a:gd name="connsiteX6" fmla="*/ 1727200 w 4368800"/>
                <a:gd name="connsiteY6" fmla="*/ 270933 h 541867"/>
                <a:gd name="connsiteX7" fmla="*/ 2048933 w 4368800"/>
                <a:gd name="connsiteY7" fmla="*/ 0 h 541867"/>
                <a:gd name="connsiteX8" fmla="*/ 2353733 w 4368800"/>
                <a:gd name="connsiteY8" fmla="*/ 304800 h 541867"/>
                <a:gd name="connsiteX9" fmla="*/ 2607733 w 4368800"/>
                <a:gd name="connsiteY9" fmla="*/ 186266 h 541867"/>
                <a:gd name="connsiteX10" fmla="*/ 2963334 w 4368800"/>
                <a:gd name="connsiteY10" fmla="*/ 152400 h 541867"/>
                <a:gd name="connsiteX11" fmla="*/ 3234266 w 4368800"/>
                <a:gd name="connsiteY11" fmla="*/ 220133 h 541867"/>
                <a:gd name="connsiteX12" fmla="*/ 3505200 w 4368800"/>
                <a:gd name="connsiteY12" fmla="*/ 16933 h 541867"/>
                <a:gd name="connsiteX13" fmla="*/ 3810000 w 4368800"/>
                <a:gd name="connsiteY13" fmla="*/ 152400 h 541867"/>
                <a:gd name="connsiteX14" fmla="*/ 4097866 w 4368800"/>
                <a:gd name="connsiteY14" fmla="*/ 59266 h 541867"/>
                <a:gd name="connsiteX15" fmla="*/ 4368800 w 4368800"/>
                <a:gd name="connsiteY15" fmla="*/ 135466 h 541867"/>
                <a:gd name="connsiteX0" fmla="*/ 0 w 4368800"/>
                <a:gd name="connsiteY0" fmla="*/ 575734 h 575734"/>
                <a:gd name="connsiteX1" fmla="*/ 270933 w 4368800"/>
                <a:gd name="connsiteY1" fmla="*/ 372533 h 575734"/>
                <a:gd name="connsiteX2" fmla="*/ 575733 w 4368800"/>
                <a:gd name="connsiteY2" fmla="*/ 465667 h 575734"/>
                <a:gd name="connsiteX3" fmla="*/ 880533 w 4368800"/>
                <a:gd name="connsiteY3" fmla="*/ 406400 h 575734"/>
                <a:gd name="connsiteX4" fmla="*/ 1134533 w 4368800"/>
                <a:gd name="connsiteY4" fmla="*/ 254000 h 575734"/>
                <a:gd name="connsiteX5" fmla="*/ 1456266 w 4368800"/>
                <a:gd name="connsiteY5" fmla="*/ 364067 h 575734"/>
                <a:gd name="connsiteX6" fmla="*/ 1727200 w 4368800"/>
                <a:gd name="connsiteY6" fmla="*/ 304800 h 575734"/>
                <a:gd name="connsiteX7" fmla="*/ 2048933 w 4368800"/>
                <a:gd name="connsiteY7" fmla="*/ 33867 h 575734"/>
                <a:gd name="connsiteX8" fmla="*/ 2353733 w 4368800"/>
                <a:gd name="connsiteY8" fmla="*/ 338667 h 575734"/>
                <a:gd name="connsiteX9" fmla="*/ 2607733 w 4368800"/>
                <a:gd name="connsiteY9" fmla="*/ 220133 h 575734"/>
                <a:gd name="connsiteX10" fmla="*/ 2963334 w 4368800"/>
                <a:gd name="connsiteY10" fmla="*/ 186267 h 575734"/>
                <a:gd name="connsiteX11" fmla="*/ 3234266 w 4368800"/>
                <a:gd name="connsiteY11" fmla="*/ 254000 h 575734"/>
                <a:gd name="connsiteX12" fmla="*/ 3505200 w 4368800"/>
                <a:gd name="connsiteY12" fmla="*/ 0 h 575734"/>
                <a:gd name="connsiteX13" fmla="*/ 3810000 w 4368800"/>
                <a:gd name="connsiteY13" fmla="*/ 186267 h 575734"/>
                <a:gd name="connsiteX14" fmla="*/ 4097866 w 4368800"/>
                <a:gd name="connsiteY14" fmla="*/ 93133 h 575734"/>
                <a:gd name="connsiteX15" fmla="*/ 4368800 w 4368800"/>
                <a:gd name="connsiteY15" fmla="*/ 169333 h 575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368800" h="575734">
                  <a:moveTo>
                    <a:pt x="0" y="575734"/>
                  </a:moveTo>
                  <a:lnTo>
                    <a:pt x="270933" y="372533"/>
                  </a:lnTo>
                  <a:lnTo>
                    <a:pt x="575733" y="465667"/>
                  </a:lnTo>
                  <a:lnTo>
                    <a:pt x="880533" y="406400"/>
                  </a:lnTo>
                  <a:lnTo>
                    <a:pt x="1134533" y="254000"/>
                  </a:lnTo>
                  <a:lnTo>
                    <a:pt x="1456266" y="364067"/>
                  </a:lnTo>
                  <a:lnTo>
                    <a:pt x="1727200" y="304800"/>
                  </a:lnTo>
                  <a:lnTo>
                    <a:pt x="2048933" y="33867"/>
                  </a:lnTo>
                  <a:lnTo>
                    <a:pt x="2353733" y="338667"/>
                  </a:lnTo>
                  <a:cubicBezTo>
                    <a:pt x="2438400" y="299156"/>
                    <a:pt x="2506133" y="245533"/>
                    <a:pt x="2607733" y="220133"/>
                  </a:cubicBezTo>
                  <a:cubicBezTo>
                    <a:pt x="2709333" y="194733"/>
                    <a:pt x="2844800" y="197556"/>
                    <a:pt x="2963334" y="186267"/>
                  </a:cubicBezTo>
                  <a:lnTo>
                    <a:pt x="3234266" y="254000"/>
                  </a:lnTo>
                  <a:lnTo>
                    <a:pt x="3505200" y="0"/>
                  </a:lnTo>
                  <a:lnTo>
                    <a:pt x="3810000" y="186267"/>
                  </a:lnTo>
                  <a:lnTo>
                    <a:pt x="4097866" y="93133"/>
                  </a:lnTo>
                  <a:lnTo>
                    <a:pt x="4368800" y="169333"/>
                  </a:lnTo>
                </a:path>
              </a:pathLst>
            </a:custGeom>
            <a:ln>
              <a:solidFill>
                <a:schemeClr val="accent3">
                  <a:lumMod val="75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grpSp>
        <p:nvGrpSpPr>
          <p:cNvPr id="259" name="그룹 258">
            <a:extLst>
              <a:ext uri="{FF2B5EF4-FFF2-40B4-BE49-F238E27FC236}">
                <a16:creationId xmlns:a16="http://schemas.microsoft.com/office/drawing/2014/main" id="{0941AC10-78F4-4AAE-A932-0CF060D383EB}"/>
              </a:ext>
            </a:extLst>
          </p:cNvPr>
          <p:cNvGrpSpPr/>
          <p:nvPr/>
        </p:nvGrpSpPr>
        <p:grpSpPr>
          <a:xfrm>
            <a:off x="1181749" y="3130502"/>
            <a:ext cx="1683019" cy="157480"/>
            <a:chOff x="4730291" y="2929429"/>
            <a:chExt cx="1683019" cy="157480"/>
          </a:xfrm>
        </p:grpSpPr>
        <p:cxnSp>
          <p:nvCxnSpPr>
            <p:cNvPr id="263" name="직선 연결선 262">
              <a:extLst>
                <a:ext uri="{FF2B5EF4-FFF2-40B4-BE49-F238E27FC236}">
                  <a16:creationId xmlns:a16="http://schemas.microsoft.com/office/drawing/2014/main" id="{05065CF1-8B50-452F-9BAC-3D16D95F577C}"/>
                </a:ext>
              </a:extLst>
            </p:cNvPr>
            <p:cNvCxnSpPr/>
            <p:nvPr/>
          </p:nvCxnSpPr>
          <p:spPr>
            <a:xfrm>
              <a:off x="4730291" y="3015425"/>
              <a:ext cx="149996" cy="0"/>
            </a:xfrm>
            <a:prstGeom prst="line">
              <a:avLst/>
            </a:prstGeom>
            <a:ln w="12700">
              <a:solidFill>
                <a:schemeClr val="accent6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4" name="직사각형 263">
              <a:extLst>
                <a:ext uri="{FF2B5EF4-FFF2-40B4-BE49-F238E27FC236}">
                  <a16:creationId xmlns:a16="http://schemas.microsoft.com/office/drawing/2014/main" id="{DBDC6453-0FB5-45BF-AD70-BD86C3924018}"/>
                </a:ext>
              </a:extLst>
            </p:cNvPr>
            <p:cNvSpPr/>
            <p:nvPr/>
          </p:nvSpPr>
          <p:spPr>
            <a:xfrm>
              <a:off x="4808469" y="2931990"/>
              <a:ext cx="550418" cy="154919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0"/>
            <a:lstStyle/>
            <a:p>
              <a:pPr algn="ctr">
                <a:lnSpc>
                  <a:spcPct val="150000"/>
                </a:lnSpc>
              </a:pPr>
              <a:r>
                <a:rPr lang="ko-KR" altLang="en-US" sz="5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실제 사용량</a:t>
              </a:r>
            </a:p>
          </p:txBody>
        </p:sp>
        <p:cxnSp>
          <p:nvCxnSpPr>
            <p:cNvPr id="265" name="직선 연결선 264">
              <a:extLst>
                <a:ext uri="{FF2B5EF4-FFF2-40B4-BE49-F238E27FC236}">
                  <a16:creationId xmlns:a16="http://schemas.microsoft.com/office/drawing/2014/main" id="{6BB4A104-87C2-4022-97F6-726066D073DF}"/>
                </a:ext>
              </a:extLst>
            </p:cNvPr>
            <p:cNvCxnSpPr/>
            <p:nvPr/>
          </p:nvCxnSpPr>
          <p:spPr>
            <a:xfrm>
              <a:off x="5280128" y="3009449"/>
              <a:ext cx="149996" cy="0"/>
            </a:xfrm>
            <a:prstGeom prst="line">
              <a:avLst/>
            </a:prstGeom>
            <a:solidFill>
              <a:schemeClr val="accent3">
                <a:lumMod val="40000"/>
                <a:lumOff val="60000"/>
              </a:schemeClr>
            </a:solidFill>
            <a:ln w="12700">
              <a:solidFill>
                <a:schemeClr val="accent3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67" name="직사각형 266">
              <a:extLst>
                <a:ext uri="{FF2B5EF4-FFF2-40B4-BE49-F238E27FC236}">
                  <a16:creationId xmlns:a16="http://schemas.microsoft.com/office/drawing/2014/main" id="{755EB8E2-53ED-4767-8EE1-7EE5406A5C18}"/>
                </a:ext>
              </a:extLst>
            </p:cNvPr>
            <p:cNvSpPr/>
            <p:nvPr/>
          </p:nvSpPr>
          <p:spPr>
            <a:xfrm>
              <a:off x="5358305" y="2929429"/>
              <a:ext cx="548985" cy="148088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0"/>
            <a:lstStyle/>
            <a:p>
              <a:pPr algn="ctr">
                <a:lnSpc>
                  <a:spcPct val="150000"/>
                </a:lnSpc>
              </a:pPr>
              <a:r>
                <a:rPr lang="en-US" altLang="ko-KR" sz="5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ESS </a:t>
              </a:r>
              <a:r>
                <a:rPr lang="ko-KR" altLang="en-US" sz="5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사용량</a:t>
              </a:r>
            </a:p>
          </p:txBody>
        </p:sp>
        <p:cxnSp>
          <p:nvCxnSpPr>
            <p:cNvPr id="268" name="직선 연결선 267">
              <a:extLst>
                <a:ext uri="{FF2B5EF4-FFF2-40B4-BE49-F238E27FC236}">
                  <a16:creationId xmlns:a16="http://schemas.microsoft.com/office/drawing/2014/main" id="{BEF4ECF7-4151-401A-B57E-7DC67588D5CD}"/>
                </a:ext>
              </a:extLst>
            </p:cNvPr>
            <p:cNvCxnSpPr/>
            <p:nvPr/>
          </p:nvCxnSpPr>
          <p:spPr>
            <a:xfrm>
              <a:off x="5832767" y="3009449"/>
              <a:ext cx="149996" cy="0"/>
            </a:xfrm>
            <a:prstGeom prst="line">
              <a:avLst/>
            </a:prstGeom>
            <a:solidFill>
              <a:schemeClr val="accent2">
                <a:lumMod val="60000"/>
                <a:lumOff val="40000"/>
              </a:schemeClr>
            </a:solidFill>
            <a:ln w="127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69" name="직사각형 268">
              <a:extLst>
                <a:ext uri="{FF2B5EF4-FFF2-40B4-BE49-F238E27FC236}">
                  <a16:creationId xmlns:a16="http://schemas.microsoft.com/office/drawing/2014/main" id="{6806B26D-0E4C-452B-8F96-8A0A75CDBBE3}"/>
                </a:ext>
              </a:extLst>
            </p:cNvPr>
            <p:cNvSpPr/>
            <p:nvPr/>
          </p:nvSpPr>
          <p:spPr>
            <a:xfrm>
              <a:off x="5927483" y="2929429"/>
              <a:ext cx="485827" cy="148088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0"/>
            <a:lstStyle/>
            <a:p>
              <a:pPr algn="ctr">
                <a:lnSpc>
                  <a:spcPct val="150000"/>
                </a:lnSpc>
              </a:pPr>
              <a:r>
                <a:rPr lang="en-US" altLang="ko-KR" sz="5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PV </a:t>
              </a:r>
              <a:r>
                <a:rPr lang="ko-KR" altLang="en-US" sz="5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사용량</a:t>
              </a:r>
            </a:p>
          </p:txBody>
        </p:sp>
      </p:grpSp>
      <p:sp>
        <p:nvSpPr>
          <p:cNvPr id="2" name="직사각형 1">
            <a:extLst>
              <a:ext uri="{FF2B5EF4-FFF2-40B4-BE49-F238E27FC236}">
                <a16:creationId xmlns:a16="http://schemas.microsoft.com/office/drawing/2014/main" id="{A48D83A0-7C30-416F-B54C-E18F6506702E}"/>
              </a:ext>
            </a:extLst>
          </p:cNvPr>
          <p:cNvSpPr/>
          <p:nvPr/>
        </p:nvSpPr>
        <p:spPr>
          <a:xfrm>
            <a:off x="200472" y="1177007"/>
            <a:ext cx="1386918" cy="3077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ko-KR" altLang="en-US" sz="14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롯데 정밀 화학</a:t>
            </a:r>
          </a:p>
        </p:txBody>
      </p:sp>
      <p:sp>
        <p:nvSpPr>
          <p:cNvPr id="244" name="타원형 설명선 243"/>
          <p:cNvSpPr/>
          <p:nvPr/>
        </p:nvSpPr>
        <p:spPr>
          <a:xfrm>
            <a:off x="2785381" y="1869699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11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5" name="타원형 설명선 244"/>
          <p:cNvSpPr/>
          <p:nvPr/>
        </p:nvSpPr>
        <p:spPr>
          <a:xfrm>
            <a:off x="75742" y="4756560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10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6" name="타원형 설명선 245"/>
          <p:cNvSpPr/>
          <p:nvPr/>
        </p:nvSpPr>
        <p:spPr>
          <a:xfrm>
            <a:off x="2767847" y="3922270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12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3" name="타원형 설명선 225">
            <a:extLst>
              <a:ext uri="{FF2B5EF4-FFF2-40B4-BE49-F238E27FC236}">
                <a16:creationId xmlns:a16="http://schemas.microsoft.com/office/drawing/2014/main" id="{93402A8C-F86A-4207-9226-F02BE6AB6E19}"/>
              </a:ext>
            </a:extLst>
          </p:cNvPr>
          <p:cNvSpPr/>
          <p:nvPr/>
        </p:nvSpPr>
        <p:spPr>
          <a:xfrm>
            <a:off x="49940" y="2776761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9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266" name="직선 연결선 265">
            <a:extLst>
              <a:ext uri="{FF2B5EF4-FFF2-40B4-BE49-F238E27FC236}">
                <a16:creationId xmlns:a16="http://schemas.microsoft.com/office/drawing/2014/main" id="{C540B6CB-2166-4ACE-9218-43F4546CFBF1}"/>
              </a:ext>
            </a:extLst>
          </p:cNvPr>
          <p:cNvCxnSpPr>
            <a:cxnSpLocks/>
          </p:cNvCxnSpPr>
          <p:nvPr/>
        </p:nvCxnSpPr>
        <p:spPr>
          <a:xfrm flipV="1">
            <a:off x="3399665" y="3111662"/>
            <a:ext cx="1284355" cy="283010"/>
          </a:xfrm>
          <a:prstGeom prst="line">
            <a:avLst/>
          </a:prstGeom>
          <a:ln>
            <a:solidFill>
              <a:srgbClr val="FF0000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0" name="말풍선: 모서리가 둥근 사각형 269">
            <a:extLst>
              <a:ext uri="{FF2B5EF4-FFF2-40B4-BE49-F238E27FC236}">
                <a16:creationId xmlns:a16="http://schemas.microsoft.com/office/drawing/2014/main" id="{14C82C64-E5F6-49A8-AE85-031DEE74E4F8}"/>
              </a:ext>
            </a:extLst>
          </p:cNvPr>
          <p:cNvSpPr/>
          <p:nvPr/>
        </p:nvSpPr>
        <p:spPr>
          <a:xfrm>
            <a:off x="587391" y="649028"/>
            <a:ext cx="2425858" cy="1113445"/>
          </a:xfrm>
          <a:prstGeom prst="wedgeRoundRectCallout">
            <a:avLst>
              <a:gd name="adj1" fmla="val -35570"/>
              <a:gd name="adj2" fmla="val 65576"/>
              <a:gd name="adj3" fmla="val 16667"/>
            </a:avLst>
          </a:prstGeom>
          <a:ln>
            <a:solidFill>
              <a:srgbClr val="FF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각 정보영역의 데이터를 생성하는 장치가 존재하지 않는 경우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,</a:t>
            </a:r>
          </a:p>
          <a:p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해당 영역에 대체 이미지가 표시되는 등의 방안이 필요함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.</a:t>
            </a:r>
          </a:p>
          <a:p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전체 영역 공통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sz="10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71" name="TextBox 270">
            <a:extLst>
              <a:ext uri="{FF2B5EF4-FFF2-40B4-BE49-F238E27FC236}">
                <a16:creationId xmlns:a16="http://schemas.microsoft.com/office/drawing/2014/main" id="{F3B26DF5-3AA1-4D08-9D05-5F7697F942F4}"/>
              </a:ext>
            </a:extLst>
          </p:cNvPr>
          <p:cNvSpPr txBox="1"/>
          <p:nvPr/>
        </p:nvSpPr>
        <p:spPr>
          <a:xfrm>
            <a:off x="3017135" y="3927225"/>
            <a:ext cx="986079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>
              <a:defRPr sz="800" b="1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</a:lstStyle>
          <a:p>
            <a:r>
              <a:rPr lang="ko-KR" altLang="en-US" dirty="0"/>
              <a:t>장치 현황</a:t>
            </a:r>
          </a:p>
        </p:txBody>
      </p:sp>
      <p:sp>
        <p:nvSpPr>
          <p:cNvPr id="272" name="직사각형 271">
            <a:extLst>
              <a:ext uri="{FF2B5EF4-FFF2-40B4-BE49-F238E27FC236}">
                <a16:creationId xmlns:a16="http://schemas.microsoft.com/office/drawing/2014/main" id="{C5EEADBD-396C-46D6-AE31-2E02D3C2476E}"/>
              </a:ext>
            </a:extLst>
          </p:cNvPr>
          <p:cNvSpPr/>
          <p:nvPr/>
        </p:nvSpPr>
        <p:spPr>
          <a:xfrm>
            <a:off x="3574542" y="3922417"/>
            <a:ext cx="725954" cy="18235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150000"/>
              </a:lnSpc>
            </a:pPr>
            <a:r>
              <a:rPr lang="en-US" altLang="ko-KR" sz="500" b="1" dirty="0">
                <a:solidFill>
                  <a:schemeClr val="accent6">
                    <a:lumMod val="75000"/>
                  </a:schemeClr>
                </a:solidFill>
                <a:latin typeface="맑은 고딕" pitchFamily="50" charset="-127"/>
                <a:ea typeface="맑은 고딕" pitchFamily="50" charset="-127"/>
              </a:rPr>
              <a:t>YYYY-MM-DD hh:mm</a:t>
            </a:r>
            <a:endParaRPr lang="ko-KR" altLang="en-US" sz="500" b="1" dirty="0">
              <a:solidFill>
                <a:schemeClr val="accent6">
                  <a:lumMod val="7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73" name="직사각형 272">
            <a:extLst>
              <a:ext uri="{FF2B5EF4-FFF2-40B4-BE49-F238E27FC236}">
                <a16:creationId xmlns:a16="http://schemas.microsoft.com/office/drawing/2014/main" id="{A803812C-D650-4070-8223-4BCE0D453D76}"/>
              </a:ext>
            </a:extLst>
          </p:cNvPr>
          <p:cNvSpPr/>
          <p:nvPr/>
        </p:nvSpPr>
        <p:spPr>
          <a:xfrm>
            <a:off x="3727201" y="1892114"/>
            <a:ext cx="725954" cy="18235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150000"/>
              </a:lnSpc>
            </a:pPr>
            <a:r>
              <a:rPr lang="en-US" altLang="ko-KR" sz="500" b="1" dirty="0">
                <a:solidFill>
                  <a:schemeClr val="accent6">
                    <a:lumMod val="75000"/>
                  </a:schemeClr>
                </a:solidFill>
                <a:latin typeface="맑은 고딕" pitchFamily="50" charset="-127"/>
                <a:ea typeface="맑은 고딕" pitchFamily="50" charset="-127"/>
              </a:rPr>
              <a:t>YYYY-MM-DD hh:mm</a:t>
            </a:r>
            <a:endParaRPr lang="ko-KR" altLang="en-US" sz="500" b="1" dirty="0">
              <a:solidFill>
                <a:schemeClr val="accent6">
                  <a:lumMod val="7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74" name="직사각형 273">
            <a:extLst>
              <a:ext uri="{FF2B5EF4-FFF2-40B4-BE49-F238E27FC236}">
                <a16:creationId xmlns:a16="http://schemas.microsoft.com/office/drawing/2014/main" id="{8AF664E3-3ED4-4B47-8E94-22C2479727C2}"/>
              </a:ext>
            </a:extLst>
          </p:cNvPr>
          <p:cNvSpPr/>
          <p:nvPr/>
        </p:nvSpPr>
        <p:spPr>
          <a:xfrm>
            <a:off x="6344923" y="1801922"/>
            <a:ext cx="725954" cy="18235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150000"/>
              </a:lnSpc>
            </a:pPr>
            <a:r>
              <a:rPr lang="en-US" altLang="ko-KR" sz="500" b="1" dirty="0">
                <a:solidFill>
                  <a:schemeClr val="accent6">
                    <a:lumMod val="75000"/>
                  </a:schemeClr>
                </a:solidFill>
                <a:latin typeface="맑은 고딕" pitchFamily="50" charset="-127"/>
                <a:ea typeface="맑은 고딕" pitchFamily="50" charset="-127"/>
              </a:rPr>
              <a:t>YYYY-MM-DD hh:mm</a:t>
            </a:r>
            <a:endParaRPr lang="ko-KR" altLang="en-US" sz="500" b="1" dirty="0">
              <a:solidFill>
                <a:schemeClr val="accent6">
                  <a:lumMod val="7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75" name="직사각형 274">
            <a:extLst>
              <a:ext uri="{FF2B5EF4-FFF2-40B4-BE49-F238E27FC236}">
                <a16:creationId xmlns:a16="http://schemas.microsoft.com/office/drawing/2014/main" id="{B0A5A35F-C6A9-4586-89DE-85BBA2E38B48}"/>
              </a:ext>
            </a:extLst>
          </p:cNvPr>
          <p:cNvSpPr/>
          <p:nvPr/>
        </p:nvSpPr>
        <p:spPr>
          <a:xfrm>
            <a:off x="2141719" y="1908879"/>
            <a:ext cx="725954" cy="18235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150000"/>
              </a:lnSpc>
            </a:pPr>
            <a:r>
              <a:rPr lang="en-US" altLang="ko-KR" sz="500" b="1" dirty="0">
                <a:solidFill>
                  <a:schemeClr val="accent6">
                    <a:lumMod val="75000"/>
                  </a:schemeClr>
                </a:solidFill>
                <a:latin typeface="맑은 고딕" pitchFamily="50" charset="-127"/>
                <a:ea typeface="맑은 고딕" pitchFamily="50" charset="-127"/>
              </a:rPr>
              <a:t>YYYY-MM-DD hh:mm</a:t>
            </a:r>
            <a:endParaRPr lang="ko-KR" altLang="en-US" sz="500" b="1" dirty="0">
              <a:solidFill>
                <a:schemeClr val="accent6">
                  <a:lumMod val="7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76" name="직사각형 275">
            <a:extLst>
              <a:ext uri="{FF2B5EF4-FFF2-40B4-BE49-F238E27FC236}">
                <a16:creationId xmlns:a16="http://schemas.microsoft.com/office/drawing/2014/main" id="{65452088-BC7C-49A3-BC60-78543AC3A939}"/>
              </a:ext>
            </a:extLst>
          </p:cNvPr>
          <p:cNvSpPr/>
          <p:nvPr/>
        </p:nvSpPr>
        <p:spPr>
          <a:xfrm>
            <a:off x="6326562" y="3093933"/>
            <a:ext cx="725954" cy="18235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150000"/>
              </a:lnSpc>
            </a:pPr>
            <a:r>
              <a:rPr lang="en-US" altLang="ko-KR" sz="500" b="1" dirty="0">
                <a:solidFill>
                  <a:schemeClr val="accent6">
                    <a:lumMod val="75000"/>
                  </a:schemeClr>
                </a:solidFill>
                <a:latin typeface="맑은 고딕" pitchFamily="50" charset="-127"/>
                <a:ea typeface="맑은 고딕" pitchFamily="50" charset="-127"/>
              </a:rPr>
              <a:t>YYYY-MM-DD hh:mm</a:t>
            </a:r>
            <a:endParaRPr lang="ko-KR" altLang="en-US" sz="500" b="1" dirty="0">
              <a:solidFill>
                <a:schemeClr val="accent6">
                  <a:lumMod val="7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77" name="TextBox 276">
            <a:extLst>
              <a:ext uri="{FF2B5EF4-FFF2-40B4-BE49-F238E27FC236}">
                <a16:creationId xmlns:a16="http://schemas.microsoft.com/office/drawing/2014/main" id="{5EA81D0D-55FF-4D91-9461-8A53779D5E33}"/>
              </a:ext>
            </a:extLst>
          </p:cNvPr>
          <p:cNvSpPr txBox="1"/>
          <p:nvPr/>
        </p:nvSpPr>
        <p:spPr>
          <a:xfrm>
            <a:off x="3248495" y="2082103"/>
            <a:ext cx="2420399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지금은 </a:t>
            </a:r>
            <a:r>
              <a:rPr lang="ko-KR" altLang="en-US" sz="800" b="1" dirty="0">
                <a:solidFill>
                  <a:srgbClr val="FF0000"/>
                </a:solidFill>
              </a:rPr>
              <a:t>요금적용전력</a:t>
            </a:r>
            <a:r>
              <a:rPr lang="ko-KR" altLang="en-US" sz="700" b="1" dirty="0">
                <a:solidFill>
                  <a:schemeClr val="bg1"/>
                </a:solidFill>
              </a:rPr>
              <a:t> 갱신구간 입니다</a:t>
            </a:r>
            <a:r>
              <a:rPr lang="en-US" altLang="ko-KR" sz="700" b="1" dirty="0">
                <a:solidFill>
                  <a:schemeClr val="bg1"/>
                </a:solidFill>
              </a:rPr>
              <a:t>. (08:00 ~ 12:00)</a:t>
            </a:r>
            <a:endParaRPr lang="ko-KR" altLang="en-US" sz="700" b="1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2932454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9104309" y="6645875"/>
            <a:ext cx="140029" cy="138499"/>
          </a:xfrm>
        </p:spPr>
        <p:txBody>
          <a:bodyPr/>
          <a:lstStyle/>
          <a:p>
            <a:pPr>
              <a:defRPr/>
            </a:pPr>
            <a:fld id="{9E41B634-5682-4388-99E7-FE44DCFD254B}" type="slidenum">
              <a:rPr lang="ko-KR" altLang="en-US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>
                <a:defRPr/>
              </a:pPr>
              <a:t>14</a:t>
            </a:fld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텍스트 개체 틀 8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Site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 (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대시보드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" name="텍스트 개체 틀 9"/>
          <p:cNvSpPr>
            <a:spLocks noGrp="1"/>
          </p:cNvSpPr>
          <p:nvPr>
            <p:ph type="body" sz="quarter" idx="10"/>
          </p:nvPr>
        </p:nvSpPr>
        <p:spPr>
          <a:xfrm>
            <a:off x="6023595" y="44624"/>
            <a:ext cx="1233661" cy="196974"/>
          </a:xfrm>
        </p:spPr>
        <p:txBody>
          <a:bodyPr/>
          <a:lstStyle/>
          <a:p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Site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02" name="Group 15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61029764"/>
              </p:ext>
            </p:extLst>
          </p:nvPr>
        </p:nvGraphicFramePr>
        <p:xfrm>
          <a:off x="8469313" y="276225"/>
          <a:ext cx="1404000" cy="5140416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3002"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Description</a:t>
                      </a: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13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수익 현황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Site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의 연간 수익 현황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1)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항목 별 수익을 막대 그래프 합으로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ESS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수익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DR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수익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PV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수익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전체 수익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*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수익 현황 기간을 일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주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월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년 중 어느 단위로 할 것인지 확정 필요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14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충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/</a:t>
                      </a:r>
                      <a:r>
                        <a:rPr kumimoji="1" lang="ko-KR" altLang="en-US" sz="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방전량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Site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의 오늘 충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/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방전 총량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1)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표시 항목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시간 별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충전량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시간 별 충전 계획량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시간 별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방전량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시간 별 방전 계획량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38937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15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충</a:t>
                      </a: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방전 총량</a:t>
                      </a: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수익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기간 별 </a:t>
                      </a: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Site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의 충</a:t>
                      </a: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방전 총량 및 수익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1)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지정 기간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오늘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</a:t>
                      </a:r>
                      <a:r>
                        <a:rPr lang="ko-KR" altLang="en-US" sz="800" b="0" u="none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이번달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올해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2)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표시 항목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기간 충전 총량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기간 방전 총량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기간 수익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u="none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* </a:t>
                      </a:r>
                      <a:r>
                        <a:rPr lang="ko-KR" altLang="en-US" sz="800" b="1" u="none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기간 수익 산출 기준 확인 필요</a:t>
                      </a:r>
                      <a:endParaRPr lang="en-US" altLang="ko-KR" sz="800" b="1" u="none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78" name="TextBox 77"/>
          <p:cNvSpPr txBox="1"/>
          <p:nvPr/>
        </p:nvSpPr>
        <p:spPr>
          <a:xfrm>
            <a:off x="7121707" y="21349"/>
            <a:ext cx="567597" cy="2308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화면</a:t>
            </a:r>
            <a:r>
              <a:rPr lang="en-US" altLang="ko-KR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ID</a:t>
            </a:r>
            <a:endParaRPr lang="ko-KR" altLang="en-US" sz="9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7689304" y="43659"/>
            <a:ext cx="792088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itchFamily="50" charset="-127"/>
                <a:ea typeface="맑은 고딕" pitchFamily="50" charset="-127"/>
              </a:rPr>
              <a:t>ewpsp_scr_008</a:t>
            </a:r>
            <a:endParaRPr lang="ko-KR" altLang="en-US" sz="700" dirty="0">
              <a:latin typeface="맑은 고딕" pitchFamily="50" charset="-127"/>
              <a:ea typeface="맑은 고딕" pitchFamily="50" charset="-127"/>
            </a:endParaRPr>
          </a:p>
        </p:txBody>
      </p:sp>
      <p:pic>
        <p:nvPicPr>
          <p:cNvPr id="18" name="Picture 3">
            <a:extLst>
              <a:ext uri="{FF2B5EF4-FFF2-40B4-BE49-F238E27FC236}">
                <a16:creationId xmlns:a16="http://schemas.microsoft.com/office/drawing/2014/main" id="{B2102104-3315-402E-ABC9-586FEDDAFB4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1531" y="796962"/>
            <a:ext cx="8266177" cy="5440349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  <a:extLst/>
        </p:spPr>
      </p:pic>
      <p:pic>
        <p:nvPicPr>
          <p:cNvPr id="19" name="Picture 2">
            <a:extLst>
              <a:ext uri="{FF2B5EF4-FFF2-40B4-BE49-F238E27FC236}">
                <a16:creationId xmlns:a16="http://schemas.microsoft.com/office/drawing/2014/main" id="{7083A858-D713-4603-B3CA-23A59234A10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1532" y="804375"/>
            <a:ext cx="8266176" cy="3512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20" name="직선 연결선 19">
            <a:extLst>
              <a:ext uri="{FF2B5EF4-FFF2-40B4-BE49-F238E27FC236}">
                <a16:creationId xmlns:a16="http://schemas.microsoft.com/office/drawing/2014/main" id="{0B5F9E53-BCF9-403F-96B8-C987A9420ECC}"/>
              </a:ext>
            </a:extLst>
          </p:cNvPr>
          <p:cNvCxnSpPr>
            <a:cxnSpLocks/>
          </p:cNvCxnSpPr>
          <p:nvPr/>
        </p:nvCxnSpPr>
        <p:spPr>
          <a:xfrm>
            <a:off x="117727" y="1143681"/>
            <a:ext cx="8187172" cy="0"/>
          </a:xfrm>
          <a:prstGeom prst="line">
            <a:avLst/>
          </a:prstGeom>
          <a:ln w="9525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A3EF9983-9B49-4C32-AAFF-105A132508A6}"/>
              </a:ext>
            </a:extLst>
          </p:cNvPr>
          <p:cNvSpPr/>
          <p:nvPr/>
        </p:nvSpPr>
        <p:spPr>
          <a:xfrm>
            <a:off x="184430" y="1557880"/>
            <a:ext cx="8020800" cy="4465954"/>
          </a:xfrm>
          <a:prstGeom prst="rect">
            <a:avLst/>
          </a:prstGeom>
          <a:solidFill>
            <a:srgbClr val="262645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EB8D0FE6-4CB9-4D6F-BC08-26944210B2E4}"/>
              </a:ext>
            </a:extLst>
          </p:cNvPr>
          <p:cNvSpPr/>
          <p:nvPr/>
        </p:nvSpPr>
        <p:spPr>
          <a:xfrm>
            <a:off x="184526" y="1505937"/>
            <a:ext cx="2005200" cy="248247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700" dirty="0"/>
              <a:t>에너지 모니터링</a:t>
            </a: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2891854C-647F-409D-8CAB-1B57ED9960C5}"/>
              </a:ext>
            </a:extLst>
          </p:cNvPr>
          <p:cNvSpPr/>
          <p:nvPr/>
        </p:nvSpPr>
        <p:spPr>
          <a:xfrm>
            <a:off x="2191085" y="1505937"/>
            <a:ext cx="2005200" cy="248247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700" dirty="0"/>
              <a:t>장치 모니터링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A8CD744A-AA50-4B4D-A06A-93198D13D7C1}"/>
              </a:ext>
            </a:extLst>
          </p:cNvPr>
          <p:cNvSpPr/>
          <p:nvPr/>
        </p:nvSpPr>
        <p:spPr>
          <a:xfrm>
            <a:off x="4197644" y="1505937"/>
            <a:ext cx="2005200" cy="248247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700" dirty="0"/>
              <a:t>상황</a:t>
            </a:r>
            <a:r>
              <a:rPr lang="en-US" altLang="ko-KR" sz="700" dirty="0"/>
              <a:t> </a:t>
            </a:r>
            <a:r>
              <a:rPr lang="ko-KR" altLang="en-US" sz="700" dirty="0"/>
              <a:t>관제</a:t>
            </a: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A0E4D09A-7B7B-4663-9DAE-528F8916C0F1}"/>
              </a:ext>
            </a:extLst>
          </p:cNvPr>
          <p:cNvSpPr/>
          <p:nvPr/>
        </p:nvSpPr>
        <p:spPr>
          <a:xfrm>
            <a:off x="6204202" y="1505937"/>
            <a:ext cx="2005200" cy="248247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700" dirty="0"/>
              <a:t>요금</a:t>
            </a:r>
            <a:r>
              <a:rPr lang="en-US" altLang="ko-KR" sz="700" dirty="0"/>
              <a:t>/</a:t>
            </a:r>
            <a:r>
              <a:rPr lang="ko-KR" altLang="en-US" sz="700" dirty="0"/>
              <a:t>수익</a:t>
            </a:r>
          </a:p>
        </p:txBody>
      </p:sp>
      <p:graphicFrame>
        <p:nvGraphicFramePr>
          <p:cNvPr id="27" name="표 26">
            <a:extLst>
              <a:ext uri="{FF2B5EF4-FFF2-40B4-BE49-F238E27FC236}">
                <a16:creationId xmlns:a16="http://schemas.microsoft.com/office/drawing/2014/main" id="{8F226558-3426-4DA0-967F-188EF9E13802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3036493" y="2089084"/>
          <a:ext cx="2626669" cy="151054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893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</a:tblGrid>
              <a:tr h="13894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/>
                        <a:t>kW</a:t>
                      </a:r>
                      <a:endParaRPr lang="ko-KR" altLang="en-US" sz="7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3894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2,000</a:t>
                      </a:r>
                      <a:endParaRPr lang="ko-KR" altLang="en-US" sz="6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38945">
                <a:tc>
                  <a:txBody>
                    <a:bodyPr/>
                    <a:lstStyle/>
                    <a:p>
                      <a:pPr algn="ctr" latinLnBrk="1"/>
                      <a:endParaRPr lang="ko-KR" altLang="en-US" sz="6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38945">
                <a:tc>
                  <a:txBody>
                    <a:bodyPr/>
                    <a:lstStyle/>
                    <a:p>
                      <a:pPr algn="ctr" latinLnBrk="1"/>
                      <a:endParaRPr lang="ko-KR" altLang="en-US" sz="6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3894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500</a:t>
                      </a:r>
                      <a:endParaRPr lang="ko-KR" altLang="en-US" sz="6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3894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450</a:t>
                      </a:r>
                      <a:endParaRPr lang="ko-KR" altLang="en-US" sz="6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38945">
                <a:tc>
                  <a:txBody>
                    <a:bodyPr/>
                    <a:lstStyle/>
                    <a:p>
                      <a:pPr algn="ctr" latinLnBrk="1"/>
                      <a:endParaRPr lang="ko-KR" altLang="en-US" sz="6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38945">
                <a:tc>
                  <a:txBody>
                    <a:bodyPr/>
                    <a:lstStyle/>
                    <a:p>
                      <a:pPr algn="ctr" latinLnBrk="1"/>
                      <a:endParaRPr lang="ko-KR" altLang="en-US" sz="6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3894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6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38945">
                <a:tc>
                  <a:txBody>
                    <a:bodyPr/>
                    <a:lstStyle/>
                    <a:p>
                      <a:pPr algn="ctr" latinLnBrk="1"/>
                      <a:endParaRPr lang="ko-KR" altLang="en-US" sz="6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01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02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03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04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05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06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07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08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09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10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11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12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13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14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15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cxnSp>
        <p:nvCxnSpPr>
          <p:cNvPr id="29" name="직선 연결선 28">
            <a:extLst>
              <a:ext uri="{FF2B5EF4-FFF2-40B4-BE49-F238E27FC236}">
                <a16:creationId xmlns:a16="http://schemas.microsoft.com/office/drawing/2014/main" id="{27FA866A-AB3E-48D4-ADFA-B2AFD3A5BEB9}"/>
              </a:ext>
            </a:extLst>
          </p:cNvPr>
          <p:cNvCxnSpPr>
            <a:cxnSpLocks/>
          </p:cNvCxnSpPr>
          <p:nvPr/>
        </p:nvCxnSpPr>
        <p:spPr>
          <a:xfrm>
            <a:off x="3201134" y="2315023"/>
            <a:ext cx="2400905" cy="0"/>
          </a:xfrm>
          <a:prstGeom prst="line">
            <a:avLst/>
          </a:prstGeom>
          <a:ln/>
        </p:spPr>
        <p:style>
          <a:lnRef idx="1">
            <a:schemeClr val="accent2"/>
          </a:lnRef>
          <a:fillRef idx="0">
            <a:schemeClr val="accent2"/>
          </a:fillRef>
          <a:effectRef idx="0">
            <a:schemeClr val="accent2"/>
          </a:effectRef>
          <a:fontRef idx="minor">
            <a:schemeClr val="tx1"/>
          </a:fontRef>
        </p:style>
      </p:cxnSp>
      <p:cxnSp>
        <p:nvCxnSpPr>
          <p:cNvPr id="30" name="직선 연결선 29">
            <a:extLst>
              <a:ext uri="{FF2B5EF4-FFF2-40B4-BE49-F238E27FC236}">
                <a16:creationId xmlns:a16="http://schemas.microsoft.com/office/drawing/2014/main" id="{4588D10F-85F0-4201-99B0-19CF5E0D6C64}"/>
              </a:ext>
            </a:extLst>
          </p:cNvPr>
          <p:cNvCxnSpPr>
            <a:cxnSpLocks/>
          </p:cNvCxnSpPr>
          <p:nvPr/>
        </p:nvCxnSpPr>
        <p:spPr>
          <a:xfrm>
            <a:off x="3201134" y="2776761"/>
            <a:ext cx="2400905" cy="0"/>
          </a:xfrm>
          <a:prstGeom prst="line">
            <a:avLst/>
          </a:prstGeom>
          <a:ln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2"/>
          </a:lnRef>
          <a:fillRef idx="0">
            <a:schemeClr val="accent2"/>
          </a:fillRef>
          <a:effectRef idx="0">
            <a:schemeClr val="accent2"/>
          </a:effectRef>
          <a:fontRef idx="minor">
            <a:schemeClr val="tx1"/>
          </a:fontRef>
        </p:style>
      </p:cxnSp>
      <p:cxnSp>
        <p:nvCxnSpPr>
          <p:cNvPr id="32" name="직선 연결선 31">
            <a:extLst>
              <a:ext uri="{FF2B5EF4-FFF2-40B4-BE49-F238E27FC236}">
                <a16:creationId xmlns:a16="http://schemas.microsoft.com/office/drawing/2014/main" id="{29A51609-D54B-474A-B7E4-530CCE7FFC34}"/>
              </a:ext>
            </a:extLst>
          </p:cNvPr>
          <p:cNvCxnSpPr>
            <a:cxnSpLocks/>
          </p:cNvCxnSpPr>
          <p:nvPr/>
        </p:nvCxnSpPr>
        <p:spPr>
          <a:xfrm>
            <a:off x="4708264" y="2089084"/>
            <a:ext cx="0" cy="1510545"/>
          </a:xfrm>
          <a:prstGeom prst="line">
            <a:avLst/>
          </a:prstGeom>
          <a:ln w="3175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" name="TextBox 32">
            <a:extLst>
              <a:ext uri="{FF2B5EF4-FFF2-40B4-BE49-F238E27FC236}">
                <a16:creationId xmlns:a16="http://schemas.microsoft.com/office/drawing/2014/main" id="{CC743F9E-4B5A-4B8E-A0F4-67EB1791F4AD}"/>
              </a:ext>
            </a:extLst>
          </p:cNvPr>
          <p:cNvSpPr txBox="1"/>
          <p:nvPr/>
        </p:nvSpPr>
        <p:spPr>
          <a:xfrm>
            <a:off x="2933296" y="1880452"/>
            <a:ext cx="1013626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피크 전력 현황</a:t>
            </a:r>
          </a:p>
        </p:txBody>
      </p:sp>
      <p:cxnSp>
        <p:nvCxnSpPr>
          <p:cNvPr id="34" name="직선 연결선 33">
            <a:extLst>
              <a:ext uri="{FF2B5EF4-FFF2-40B4-BE49-F238E27FC236}">
                <a16:creationId xmlns:a16="http://schemas.microsoft.com/office/drawing/2014/main" id="{A4801FBE-B6BC-49B3-B6C4-8CA05046AD75}"/>
              </a:ext>
            </a:extLst>
          </p:cNvPr>
          <p:cNvCxnSpPr>
            <a:cxnSpLocks/>
          </p:cNvCxnSpPr>
          <p:nvPr/>
        </p:nvCxnSpPr>
        <p:spPr>
          <a:xfrm>
            <a:off x="5741146" y="1866501"/>
            <a:ext cx="0" cy="4140000"/>
          </a:xfrm>
          <a:prstGeom prst="line">
            <a:avLst/>
          </a:prstGeom>
          <a:ln w="3175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35" name="표 34">
            <a:extLst>
              <a:ext uri="{FF2B5EF4-FFF2-40B4-BE49-F238E27FC236}">
                <a16:creationId xmlns:a16="http://schemas.microsoft.com/office/drawing/2014/main" id="{EF8FF785-A602-4C84-B7A3-BCC2D4E707A8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5849512" y="3272858"/>
          <a:ext cx="2275628" cy="14478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957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19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20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21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22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23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24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25"/>
                    </a:ext>
                  </a:extLst>
                </a:gridCol>
              </a:tblGrid>
              <a:tr h="279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dirty="0"/>
                        <a:t>kWh</a:t>
                      </a:r>
                      <a:endParaRPr lang="ko-KR" altLang="en-US" sz="5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9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4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1000</a:t>
                      </a:r>
                      <a:endParaRPr lang="ko-KR" altLang="en-US" sz="4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7987"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4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500</a:t>
                      </a:r>
                      <a:endParaRPr lang="ko-KR" altLang="en-US" sz="4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7987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4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79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4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4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987">
                <a:tc>
                  <a:txBody>
                    <a:bodyPr/>
                    <a:lstStyle/>
                    <a:p>
                      <a:pPr algn="ctr" latinLnBrk="1"/>
                      <a:endParaRPr lang="ko-KR" altLang="en-US" sz="4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79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4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500</a:t>
                      </a:r>
                      <a:endParaRPr lang="ko-KR" altLang="en-US" sz="4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7987">
                <a:tc>
                  <a:txBody>
                    <a:bodyPr/>
                    <a:lstStyle/>
                    <a:p>
                      <a:pPr algn="ctr" latinLnBrk="1"/>
                      <a:endParaRPr lang="ko-KR" altLang="en-US" sz="4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79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4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1000</a:t>
                      </a:r>
                      <a:endParaRPr lang="ko-KR" altLang="en-US" sz="4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endParaRPr lang="ko-KR" altLang="en-US" sz="4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00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01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02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03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04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05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06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07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08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09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10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11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12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13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14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15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16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17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18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19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20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21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22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23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24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sp>
        <p:nvSpPr>
          <p:cNvPr id="36" name="TextBox 35">
            <a:extLst>
              <a:ext uri="{FF2B5EF4-FFF2-40B4-BE49-F238E27FC236}">
                <a16:creationId xmlns:a16="http://schemas.microsoft.com/office/drawing/2014/main" id="{624B9702-5880-4DD9-A6CF-8A789D48E4EB}"/>
              </a:ext>
            </a:extLst>
          </p:cNvPr>
          <p:cNvSpPr txBox="1"/>
          <p:nvPr/>
        </p:nvSpPr>
        <p:spPr>
          <a:xfrm>
            <a:off x="5769155" y="3098741"/>
            <a:ext cx="986079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>
              <a:defRPr sz="800" b="1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</a:lstStyle>
          <a:p>
            <a:r>
              <a:rPr lang="ko-KR" altLang="en-US" dirty="0"/>
              <a:t>충</a:t>
            </a:r>
            <a:r>
              <a:rPr lang="en-US" altLang="ko-KR" dirty="0"/>
              <a:t>/</a:t>
            </a:r>
            <a:r>
              <a:rPr lang="ko-KR" altLang="en-US" dirty="0" err="1"/>
              <a:t>방전량</a:t>
            </a:r>
            <a:endParaRPr lang="ko-KR" altLang="en-US" dirty="0"/>
          </a:p>
        </p:txBody>
      </p:sp>
      <p:sp>
        <p:nvSpPr>
          <p:cNvPr id="37" name="AutoShape 182">
            <a:extLst>
              <a:ext uri="{FF2B5EF4-FFF2-40B4-BE49-F238E27FC236}">
                <a16:creationId xmlns:a16="http://schemas.microsoft.com/office/drawing/2014/main" id="{4A013E0B-20B2-4A4A-AAC2-D0E5ED97418F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5851306" y="4753820"/>
            <a:ext cx="2273814" cy="1261824"/>
          </a:xfrm>
          <a:prstGeom prst="roundRect">
            <a:avLst>
              <a:gd name="adj" fmla="val 1769"/>
            </a:avLst>
          </a:prstGeom>
          <a:solidFill>
            <a:srgbClr val="262645"/>
          </a:solidFill>
          <a:ln w="3175">
            <a:solidFill>
              <a:schemeClr val="bg1"/>
            </a:solidFill>
          </a:ln>
        </p:spPr>
        <p:txBody>
          <a:bodyPr wrap="none" anchor="ctr"/>
          <a:lstStyle/>
          <a:p>
            <a:pPr latinLnBrk="1"/>
            <a:endParaRPr lang="ko-KR" altLang="en-US" sz="1600" dirty="0"/>
          </a:p>
        </p:txBody>
      </p:sp>
      <p:cxnSp>
        <p:nvCxnSpPr>
          <p:cNvPr id="38" name="직선 연결선 37">
            <a:extLst>
              <a:ext uri="{FF2B5EF4-FFF2-40B4-BE49-F238E27FC236}">
                <a16:creationId xmlns:a16="http://schemas.microsoft.com/office/drawing/2014/main" id="{C1D71835-95E2-4DBB-ABC8-57238414EE2A}"/>
              </a:ext>
            </a:extLst>
          </p:cNvPr>
          <p:cNvCxnSpPr>
            <a:cxnSpLocks/>
          </p:cNvCxnSpPr>
          <p:nvPr/>
        </p:nvCxnSpPr>
        <p:spPr>
          <a:xfrm>
            <a:off x="5993828" y="4925311"/>
            <a:ext cx="2160000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A62A6F6F-453C-4F73-AB11-404EDC124467}"/>
              </a:ext>
            </a:extLst>
          </p:cNvPr>
          <p:cNvSpPr txBox="1"/>
          <p:nvPr/>
        </p:nvSpPr>
        <p:spPr>
          <a:xfrm>
            <a:off x="5958346" y="4771035"/>
            <a:ext cx="709061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500" dirty="0">
                <a:solidFill>
                  <a:schemeClr val="bg1"/>
                </a:solidFill>
              </a:rPr>
              <a:t>오늘 충</a:t>
            </a:r>
            <a:r>
              <a:rPr lang="en-US" altLang="ko-KR" sz="500" dirty="0">
                <a:solidFill>
                  <a:schemeClr val="bg1"/>
                </a:solidFill>
              </a:rPr>
              <a:t>/</a:t>
            </a:r>
            <a:r>
              <a:rPr lang="ko-KR" altLang="en-US" sz="500" dirty="0" err="1">
                <a:solidFill>
                  <a:schemeClr val="bg1"/>
                </a:solidFill>
              </a:rPr>
              <a:t>방전량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66E0D494-BAF5-4FB9-BCC1-38C3F22F5E55}"/>
              </a:ext>
            </a:extLst>
          </p:cNvPr>
          <p:cNvSpPr txBox="1"/>
          <p:nvPr/>
        </p:nvSpPr>
        <p:spPr>
          <a:xfrm>
            <a:off x="6935425" y="4753107"/>
            <a:ext cx="37714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</a:rPr>
              <a:t>kWh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CF316E31-C90B-4059-89F8-B7EF3053FCE1}"/>
              </a:ext>
            </a:extLst>
          </p:cNvPr>
          <p:cNvSpPr txBox="1"/>
          <p:nvPr/>
        </p:nvSpPr>
        <p:spPr>
          <a:xfrm>
            <a:off x="7591323" y="4753107"/>
            <a:ext cx="37714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500" dirty="0">
                <a:solidFill>
                  <a:schemeClr val="bg1"/>
                </a:solidFill>
              </a:rPr>
              <a:t>수익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70B29B12-DA7D-4A1D-BA88-4C352B4BABB4}"/>
              </a:ext>
            </a:extLst>
          </p:cNvPr>
          <p:cNvSpPr txBox="1"/>
          <p:nvPr/>
        </p:nvSpPr>
        <p:spPr>
          <a:xfrm>
            <a:off x="6223369" y="4925311"/>
            <a:ext cx="418353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ko-KR" altLang="en-US" sz="500" dirty="0" err="1">
                <a:solidFill>
                  <a:schemeClr val="bg1"/>
                </a:solidFill>
              </a:rPr>
              <a:t>충전량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B60AD1FA-53B7-48F3-8D24-5CCB03069CCC}"/>
              </a:ext>
            </a:extLst>
          </p:cNvPr>
          <p:cNvSpPr txBox="1"/>
          <p:nvPr/>
        </p:nvSpPr>
        <p:spPr>
          <a:xfrm>
            <a:off x="6223369" y="5041896"/>
            <a:ext cx="418353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ko-KR" altLang="en-US" sz="500" dirty="0" err="1">
                <a:solidFill>
                  <a:schemeClr val="bg1"/>
                </a:solidFill>
              </a:rPr>
              <a:t>방전량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7C8EADC3-892A-49D8-BA19-B280AA52CD2A}"/>
              </a:ext>
            </a:extLst>
          </p:cNvPr>
          <p:cNvSpPr txBox="1"/>
          <p:nvPr/>
        </p:nvSpPr>
        <p:spPr>
          <a:xfrm>
            <a:off x="6850640" y="4925311"/>
            <a:ext cx="54671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</a:rPr>
              <a:t>1,350.5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5EC37EE8-D160-496E-B15E-AD231585439D}"/>
              </a:ext>
            </a:extLst>
          </p:cNvPr>
          <p:cNvSpPr txBox="1"/>
          <p:nvPr/>
        </p:nvSpPr>
        <p:spPr>
          <a:xfrm>
            <a:off x="6850640" y="5041896"/>
            <a:ext cx="54671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</a:rPr>
              <a:t>850.5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250426D1-9B57-4F30-A1B5-ACB5D083F27E}"/>
              </a:ext>
            </a:extLst>
          </p:cNvPr>
          <p:cNvSpPr txBox="1"/>
          <p:nvPr/>
        </p:nvSpPr>
        <p:spPr>
          <a:xfrm>
            <a:off x="7570720" y="4978797"/>
            <a:ext cx="418353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600" dirty="0">
                <a:solidFill>
                  <a:schemeClr val="bg1"/>
                </a:solidFill>
              </a:rPr>
              <a:t>2.1</a:t>
            </a:r>
            <a:endParaRPr lang="ko-KR" altLang="en-US" sz="600" dirty="0">
              <a:solidFill>
                <a:schemeClr val="bg1"/>
              </a:solidFill>
            </a:endParaRPr>
          </a:p>
        </p:txBody>
      </p:sp>
      <p:cxnSp>
        <p:nvCxnSpPr>
          <p:cNvPr id="47" name="직선 연결선 46">
            <a:extLst>
              <a:ext uri="{FF2B5EF4-FFF2-40B4-BE49-F238E27FC236}">
                <a16:creationId xmlns:a16="http://schemas.microsoft.com/office/drawing/2014/main" id="{4A7EFA81-8892-470A-9FFC-89E0CEFF7D59}"/>
              </a:ext>
            </a:extLst>
          </p:cNvPr>
          <p:cNvCxnSpPr>
            <a:cxnSpLocks/>
          </p:cNvCxnSpPr>
          <p:nvPr/>
        </p:nvCxnSpPr>
        <p:spPr>
          <a:xfrm>
            <a:off x="5993828" y="5353201"/>
            <a:ext cx="2160000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8" name="TextBox 47">
            <a:extLst>
              <a:ext uri="{FF2B5EF4-FFF2-40B4-BE49-F238E27FC236}">
                <a16:creationId xmlns:a16="http://schemas.microsoft.com/office/drawing/2014/main" id="{F3A6A82A-B634-4213-A6BA-8294CF1911C7}"/>
              </a:ext>
            </a:extLst>
          </p:cNvPr>
          <p:cNvSpPr txBox="1"/>
          <p:nvPr/>
        </p:nvSpPr>
        <p:spPr>
          <a:xfrm>
            <a:off x="5958346" y="5204901"/>
            <a:ext cx="796888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500" dirty="0" err="1">
                <a:solidFill>
                  <a:schemeClr val="bg1"/>
                </a:solidFill>
              </a:rPr>
              <a:t>이번달</a:t>
            </a:r>
            <a:r>
              <a:rPr lang="ko-KR" altLang="en-US" sz="500" dirty="0">
                <a:solidFill>
                  <a:schemeClr val="bg1"/>
                </a:solidFill>
              </a:rPr>
              <a:t> 충</a:t>
            </a:r>
            <a:r>
              <a:rPr lang="en-US" altLang="ko-KR" sz="500" dirty="0">
                <a:solidFill>
                  <a:schemeClr val="bg1"/>
                </a:solidFill>
              </a:rPr>
              <a:t>/</a:t>
            </a:r>
            <a:r>
              <a:rPr lang="ko-KR" altLang="en-US" sz="500" dirty="0" err="1">
                <a:solidFill>
                  <a:schemeClr val="bg1"/>
                </a:solidFill>
              </a:rPr>
              <a:t>방전량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A7F56B89-656D-4409-94CD-D407204EE771}"/>
              </a:ext>
            </a:extLst>
          </p:cNvPr>
          <p:cNvSpPr txBox="1"/>
          <p:nvPr/>
        </p:nvSpPr>
        <p:spPr>
          <a:xfrm>
            <a:off x="6935425" y="5180997"/>
            <a:ext cx="37714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</a:rPr>
              <a:t>MWh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36F00CD1-ACD4-4A8D-9FFF-E8D84C6B684C}"/>
              </a:ext>
            </a:extLst>
          </p:cNvPr>
          <p:cNvSpPr txBox="1"/>
          <p:nvPr/>
        </p:nvSpPr>
        <p:spPr>
          <a:xfrm>
            <a:off x="7591323" y="5180997"/>
            <a:ext cx="37714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500" dirty="0">
                <a:solidFill>
                  <a:schemeClr val="bg1"/>
                </a:solidFill>
              </a:rPr>
              <a:t>수익</a:t>
            </a: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13C0CE3B-40F3-43B7-8D0B-2C69A07D53D2}"/>
              </a:ext>
            </a:extLst>
          </p:cNvPr>
          <p:cNvSpPr txBox="1"/>
          <p:nvPr/>
        </p:nvSpPr>
        <p:spPr>
          <a:xfrm>
            <a:off x="6223369" y="5353201"/>
            <a:ext cx="418353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ko-KR" altLang="en-US" sz="500">
                <a:solidFill>
                  <a:schemeClr val="bg1"/>
                </a:solidFill>
              </a:rPr>
              <a:t>충전량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85E238EE-D2C4-4FA8-97F6-74DD46DAD32B}"/>
              </a:ext>
            </a:extLst>
          </p:cNvPr>
          <p:cNvSpPr txBox="1"/>
          <p:nvPr/>
        </p:nvSpPr>
        <p:spPr>
          <a:xfrm>
            <a:off x="6223369" y="5469786"/>
            <a:ext cx="418353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ko-KR" altLang="en-US" sz="500" dirty="0" err="1">
                <a:solidFill>
                  <a:schemeClr val="bg1"/>
                </a:solidFill>
              </a:rPr>
              <a:t>방전량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8D8624A3-0380-4115-8F31-B66286344293}"/>
              </a:ext>
            </a:extLst>
          </p:cNvPr>
          <p:cNvSpPr txBox="1"/>
          <p:nvPr/>
        </p:nvSpPr>
        <p:spPr>
          <a:xfrm>
            <a:off x="6850640" y="5353201"/>
            <a:ext cx="54671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</a:rPr>
              <a:t>8.9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35C3B9BA-EB4B-472A-B0DE-F9B11C81D947}"/>
              </a:ext>
            </a:extLst>
          </p:cNvPr>
          <p:cNvSpPr txBox="1"/>
          <p:nvPr/>
        </p:nvSpPr>
        <p:spPr>
          <a:xfrm>
            <a:off x="6850640" y="5469786"/>
            <a:ext cx="54671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</a:rPr>
              <a:t>12.1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A679B29F-5EA2-4B20-9E50-BEF78E3EF73D}"/>
              </a:ext>
            </a:extLst>
          </p:cNvPr>
          <p:cNvSpPr txBox="1"/>
          <p:nvPr/>
        </p:nvSpPr>
        <p:spPr>
          <a:xfrm>
            <a:off x="7570720" y="5407818"/>
            <a:ext cx="418353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600" dirty="0">
                <a:solidFill>
                  <a:schemeClr val="bg1"/>
                </a:solidFill>
              </a:rPr>
              <a:t>64.9</a:t>
            </a:r>
            <a:endParaRPr lang="ko-KR" altLang="en-US" sz="600" dirty="0">
              <a:solidFill>
                <a:schemeClr val="bg1"/>
              </a:solidFill>
            </a:endParaRPr>
          </a:p>
        </p:txBody>
      </p:sp>
      <p:cxnSp>
        <p:nvCxnSpPr>
          <p:cNvPr id="56" name="직선 연결선 55">
            <a:extLst>
              <a:ext uri="{FF2B5EF4-FFF2-40B4-BE49-F238E27FC236}">
                <a16:creationId xmlns:a16="http://schemas.microsoft.com/office/drawing/2014/main" id="{5C7E8237-425A-4EF3-8136-480159CF65C9}"/>
              </a:ext>
            </a:extLst>
          </p:cNvPr>
          <p:cNvCxnSpPr>
            <a:cxnSpLocks/>
          </p:cNvCxnSpPr>
          <p:nvPr/>
        </p:nvCxnSpPr>
        <p:spPr>
          <a:xfrm>
            <a:off x="5993828" y="5771414"/>
            <a:ext cx="2160000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7" name="TextBox 56">
            <a:extLst>
              <a:ext uri="{FF2B5EF4-FFF2-40B4-BE49-F238E27FC236}">
                <a16:creationId xmlns:a16="http://schemas.microsoft.com/office/drawing/2014/main" id="{C9C0E030-096F-4EBF-813E-654213ACA5E8}"/>
              </a:ext>
            </a:extLst>
          </p:cNvPr>
          <p:cNvSpPr txBox="1"/>
          <p:nvPr/>
        </p:nvSpPr>
        <p:spPr>
          <a:xfrm>
            <a:off x="5932914" y="5623114"/>
            <a:ext cx="796888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500" dirty="0">
                <a:solidFill>
                  <a:schemeClr val="bg1"/>
                </a:solidFill>
              </a:rPr>
              <a:t>올해 충</a:t>
            </a:r>
            <a:r>
              <a:rPr lang="en-US" altLang="ko-KR" sz="500" dirty="0">
                <a:solidFill>
                  <a:schemeClr val="bg1"/>
                </a:solidFill>
              </a:rPr>
              <a:t>/</a:t>
            </a:r>
            <a:r>
              <a:rPr lang="ko-KR" altLang="en-US" sz="500" dirty="0" err="1">
                <a:solidFill>
                  <a:schemeClr val="bg1"/>
                </a:solidFill>
              </a:rPr>
              <a:t>방전량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75E5D116-D36F-4AB6-8470-DA0915EB7839}"/>
              </a:ext>
            </a:extLst>
          </p:cNvPr>
          <p:cNvSpPr txBox="1"/>
          <p:nvPr/>
        </p:nvSpPr>
        <p:spPr>
          <a:xfrm>
            <a:off x="6909993" y="5599210"/>
            <a:ext cx="37714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</a:rPr>
              <a:t>MWh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311B9D07-38CF-4D9B-9755-6E3D27381571}"/>
              </a:ext>
            </a:extLst>
          </p:cNvPr>
          <p:cNvSpPr txBox="1"/>
          <p:nvPr/>
        </p:nvSpPr>
        <p:spPr>
          <a:xfrm>
            <a:off x="7565891" y="5599210"/>
            <a:ext cx="37714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500" dirty="0">
                <a:solidFill>
                  <a:schemeClr val="bg1"/>
                </a:solidFill>
              </a:rPr>
              <a:t>수익</a:t>
            </a: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556CFE52-B960-4A1C-A8CB-257FCEA6EF60}"/>
              </a:ext>
            </a:extLst>
          </p:cNvPr>
          <p:cNvSpPr txBox="1"/>
          <p:nvPr/>
        </p:nvSpPr>
        <p:spPr>
          <a:xfrm>
            <a:off x="6197937" y="5771414"/>
            <a:ext cx="418353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ko-KR" altLang="en-US" sz="500">
                <a:solidFill>
                  <a:schemeClr val="bg1"/>
                </a:solidFill>
              </a:rPr>
              <a:t>충전량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62EB086C-5D28-4408-9F60-FC75C5053968}"/>
              </a:ext>
            </a:extLst>
          </p:cNvPr>
          <p:cNvSpPr txBox="1"/>
          <p:nvPr/>
        </p:nvSpPr>
        <p:spPr>
          <a:xfrm>
            <a:off x="6197937" y="5887999"/>
            <a:ext cx="418353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ko-KR" altLang="en-US" sz="500" dirty="0" err="1">
                <a:solidFill>
                  <a:schemeClr val="bg1"/>
                </a:solidFill>
              </a:rPr>
              <a:t>방전량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62" name="TextBox 61">
            <a:extLst>
              <a:ext uri="{FF2B5EF4-FFF2-40B4-BE49-F238E27FC236}">
                <a16:creationId xmlns:a16="http://schemas.microsoft.com/office/drawing/2014/main" id="{6C803406-F783-46EF-8E44-15822F411AAF}"/>
              </a:ext>
            </a:extLst>
          </p:cNvPr>
          <p:cNvSpPr txBox="1"/>
          <p:nvPr/>
        </p:nvSpPr>
        <p:spPr>
          <a:xfrm>
            <a:off x="6825208" y="5771414"/>
            <a:ext cx="54671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</a:rPr>
              <a:t>58.9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64" name="TextBox 63">
            <a:extLst>
              <a:ext uri="{FF2B5EF4-FFF2-40B4-BE49-F238E27FC236}">
                <a16:creationId xmlns:a16="http://schemas.microsoft.com/office/drawing/2014/main" id="{B39CE000-0E33-4113-B82A-5630408AAED9}"/>
              </a:ext>
            </a:extLst>
          </p:cNvPr>
          <p:cNvSpPr txBox="1"/>
          <p:nvPr/>
        </p:nvSpPr>
        <p:spPr>
          <a:xfrm>
            <a:off x="6825208" y="5887999"/>
            <a:ext cx="54671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</a:rPr>
              <a:t>192.1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65" name="TextBox 64">
            <a:extLst>
              <a:ext uri="{FF2B5EF4-FFF2-40B4-BE49-F238E27FC236}">
                <a16:creationId xmlns:a16="http://schemas.microsoft.com/office/drawing/2014/main" id="{0A450997-DD2A-4200-8178-39E54C53EBD8}"/>
              </a:ext>
            </a:extLst>
          </p:cNvPr>
          <p:cNvSpPr txBox="1"/>
          <p:nvPr/>
        </p:nvSpPr>
        <p:spPr>
          <a:xfrm>
            <a:off x="7545288" y="5825376"/>
            <a:ext cx="418353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600" dirty="0">
                <a:solidFill>
                  <a:schemeClr val="bg1"/>
                </a:solidFill>
              </a:rPr>
              <a:t>464.9</a:t>
            </a:r>
            <a:endParaRPr lang="ko-KR" altLang="en-US" sz="600" dirty="0">
              <a:solidFill>
                <a:schemeClr val="bg1"/>
              </a:solidFill>
            </a:endParaRPr>
          </a:p>
        </p:txBody>
      </p:sp>
      <p:grpSp>
        <p:nvGrpSpPr>
          <p:cNvPr id="66" name="그룹 65">
            <a:extLst>
              <a:ext uri="{FF2B5EF4-FFF2-40B4-BE49-F238E27FC236}">
                <a16:creationId xmlns:a16="http://schemas.microsoft.com/office/drawing/2014/main" id="{D9722A13-A4B1-4617-9D54-602D2721332A}"/>
              </a:ext>
            </a:extLst>
          </p:cNvPr>
          <p:cNvGrpSpPr/>
          <p:nvPr/>
        </p:nvGrpSpPr>
        <p:grpSpPr>
          <a:xfrm>
            <a:off x="4776098" y="3649023"/>
            <a:ext cx="500020" cy="169277"/>
            <a:chOff x="5008084" y="3585093"/>
            <a:chExt cx="500020" cy="169277"/>
          </a:xfrm>
        </p:grpSpPr>
        <p:cxnSp>
          <p:nvCxnSpPr>
            <p:cNvPr id="67" name="직선 연결선 66">
              <a:extLst>
                <a:ext uri="{FF2B5EF4-FFF2-40B4-BE49-F238E27FC236}">
                  <a16:creationId xmlns:a16="http://schemas.microsoft.com/office/drawing/2014/main" id="{76366D38-5D29-4527-BB0E-4A4C7B8DC6D2}"/>
                </a:ext>
              </a:extLst>
            </p:cNvPr>
            <p:cNvCxnSpPr>
              <a:cxnSpLocks/>
            </p:cNvCxnSpPr>
            <p:nvPr/>
          </p:nvCxnSpPr>
          <p:spPr>
            <a:xfrm>
              <a:off x="5008084" y="3669731"/>
              <a:ext cx="108000" cy="0"/>
            </a:xfrm>
            <a:prstGeom prst="line">
              <a:avLst/>
            </a:prstGeom>
            <a:ln w="9525">
              <a:solidFill>
                <a:schemeClr val="accent6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8" name="직사각형 67">
              <a:extLst>
                <a:ext uri="{FF2B5EF4-FFF2-40B4-BE49-F238E27FC236}">
                  <a16:creationId xmlns:a16="http://schemas.microsoft.com/office/drawing/2014/main" id="{3CE4766C-F022-4575-BB7F-973E55D09148}"/>
                </a:ext>
              </a:extLst>
            </p:cNvPr>
            <p:cNvSpPr/>
            <p:nvPr/>
          </p:nvSpPr>
          <p:spPr>
            <a:xfrm>
              <a:off x="5044076" y="3585093"/>
              <a:ext cx="46402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500" dirty="0">
                  <a:solidFill>
                    <a:schemeClr val="bg1"/>
                  </a:solidFill>
                </a:rPr>
                <a:t>현재 부하</a:t>
              </a:r>
            </a:p>
          </p:txBody>
        </p:sp>
      </p:grpSp>
      <p:grpSp>
        <p:nvGrpSpPr>
          <p:cNvPr id="69" name="그룹 68">
            <a:extLst>
              <a:ext uri="{FF2B5EF4-FFF2-40B4-BE49-F238E27FC236}">
                <a16:creationId xmlns:a16="http://schemas.microsoft.com/office/drawing/2014/main" id="{0A5F81EA-7FE9-4E95-BF52-593499F4F836}"/>
              </a:ext>
            </a:extLst>
          </p:cNvPr>
          <p:cNvGrpSpPr/>
          <p:nvPr/>
        </p:nvGrpSpPr>
        <p:grpSpPr>
          <a:xfrm>
            <a:off x="5241125" y="3649023"/>
            <a:ext cx="500021" cy="169277"/>
            <a:chOff x="5440131" y="3585093"/>
            <a:chExt cx="500021" cy="169277"/>
          </a:xfrm>
        </p:grpSpPr>
        <p:cxnSp>
          <p:nvCxnSpPr>
            <p:cNvPr id="70" name="직선 연결선 69">
              <a:extLst>
                <a:ext uri="{FF2B5EF4-FFF2-40B4-BE49-F238E27FC236}">
                  <a16:creationId xmlns:a16="http://schemas.microsoft.com/office/drawing/2014/main" id="{9E588985-1351-45CB-9AE0-F741CC73E51B}"/>
                </a:ext>
              </a:extLst>
            </p:cNvPr>
            <p:cNvCxnSpPr>
              <a:cxnSpLocks/>
            </p:cNvCxnSpPr>
            <p:nvPr/>
          </p:nvCxnSpPr>
          <p:spPr>
            <a:xfrm>
              <a:off x="5440131" y="3669731"/>
              <a:ext cx="108000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1" name="직사각형 70">
              <a:extLst>
                <a:ext uri="{FF2B5EF4-FFF2-40B4-BE49-F238E27FC236}">
                  <a16:creationId xmlns:a16="http://schemas.microsoft.com/office/drawing/2014/main" id="{0D2AB4E7-3F4F-4E76-A807-71772FD0A249}"/>
                </a:ext>
              </a:extLst>
            </p:cNvPr>
            <p:cNvSpPr/>
            <p:nvPr/>
          </p:nvSpPr>
          <p:spPr>
            <a:xfrm>
              <a:off x="5476123" y="3585093"/>
              <a:ext cx="46402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500" dirty="0">
                  <a:solidFill>
                    <a:schemeClr val="bg1"/>
                  </a:solidFill>
                </a:rPr>
                <a:t>예측 부하</a:t>
              </a:r>
            </a:p>
          </p:txBody>
        </p:sp>
      </p:grpSp>
      <p:grpSp>
        <p:nvGrpSpPr>
          <p:cNvPr id="72" name="그룹 71">
            <a:extLst>
              <a:ext uri="{FF2B5EF4-FFF2-40B4-BE49-F238E27FC236}">
                <a16:creationId xmlns:a16="http://schemas.microsoft.com/office/drawing/2014/main" id="{F56E2950-38B1-438D-BAA1-04624DFF24DA}"/>
              </a:ext>
            </a:extLst>
          </p:cNvPr>
          <p:cNvGrpSpPr/>
          <p:nvPr/>
        </p:nvGrpSpPr>
        <p:grpSpPr>
          <a:xfrm>
            <a:off x="3566480" y="3649023"/>
            <a:ext cx="652770" cy="169277"/>
            <a:chOff x="3318237" y="3585093"/>
            <a:chExt cx="652770" cy="169277"/>
          </a:xfrm>
        </p:grpSpPr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14B6B880-5052-4663-BFD4-A0AB7D76CA44}"/>
                </a:ext>
              </a:extLst>
            </p:cNvPr>
            <p:cNvCxnSpPr>
              <a:cxnSpLocks/>
            </p:cNvCxnSpPr>
            <p:nvPr/>
          </p:nvCxnSpPr>
          <p:spPr>
            <a:xfrm>
              <a:off x="3318237" y="3669731"/>
              <a:ext cx="108000" cy="0"/>
            </a:xfrm>
            <a:prstGeom prst="line">
              <a:avLst/>
            </a:prstGeom>
            <a:ln/>
          </p:spPr>
          <p:style>
            <a:lnRef idx="1">
              <a:schemeClr val="accent2"/>
            </a:lnRef>
            <a:fillRef idx="0">
              <a:schemeClr val="accent2"/>
            </a:fillRef>
            <a:effectRef idx="0">
              <a:schemeClr val="accent2"/>
            </a:effectRef>
            <a:fontRef idx="minor">
              <a:schemeClr val="tx1"/>
            </a:fontRef>
          </p:style>
        </p:cxnSp>
        <p:sp>
          <p:nvSpPr>
            <p:cNvPr id="74" name="직사각형 73">
              <a:extLst>
                <a:ext uri="{FF2B5EF4-FFF2-40B4-BE49-F238E27FC236}">
                  <a16:creationId xmlns:a16="http://schemas.microsoft.com/office/drawing/2014/main" id="{2659B74B-18FF-46A4-9B90-4E6D52110A45}"/>
                </a:ext>
              </a:extLst>
            </p:cNvPr>
            <p:cNvSpPr/>
            <p:nvPr/>
          </p:nvSpPr>
          <p:spPr>
            <a:xfrm>
              <a:off x="3368549" y="3585093"/>
              <a:ext cx="60245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500" dirty="0">
                  <a:solidFill>
                    <a:schemeClr val="bg1"/>
                  </a:solidFill>
                </a:rPr>
                <a:t>한전계약 전력</a:t>
              </a:r>
            </a:p>
          </p:txBody>
        </p:sp>
      </p:grpSp>
      <p:grpSp>
        <p:nvGrpSpPr>
          <p:cNvPr id="75" name="그룹 74">
            <a:extLst>
              <a:ext uri="{FF2B5EF4-FFF2-40B4-BE49-F238E27FC236}">
                <a16:creationId xmlns:a16="http://schemas.microsoft.com/office/drawing/2014/main" id="{AEC771C3-7933-4C29-B717-583CCFD95618}"/>
              </a:ext>
            </a:extLst>
          </p:cNvPr>
          <p:cNvGrpSpPr/>
          <p:nvPr/>
        </p:nvGrpSpPr>
        <p:grpSpPr>
          <a:xfrm>
            <a:off x="4184256" y="3649023"/>
            <a:ext cx="626762" cy="169277"/>
            <a:chOff x="3908621" y="3585093"/>
            <a:chExt cx="626762" cy="169277"/>
          </a:xfrm>
        </p:grpSpPr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76243E0E-EDEE-4D80-8422-C1BC68C21736}"/>
                </a:ext>
              </a:extLst>
            </p:cNvPr>
            <p:cNvCxnSpPr>
              <a:cxnSpLocks/>
            </p:cNvCxnSpPr>
            <p:nvPr/>
          </p:nvCxnSpPr>
          <p:spPr>
            <a:xfrm>
              <a:off x="3908621" y="3669731"/>
              <a:ext cx="108000" cy="0"/>
            </a:xfrm>
            <a:prstGeom prst="line">
              <a:avLst/>
            </a:prstGeom>
            <a:ln>
              <a:solidFill>
                <a:schemeClr val="accent3">
                  <a:lumMod val="75000"/>
                </a:schemeClr>
              </a:solidFill>
            </a:ln>
          </p:spPr>
          <p:style>
            <a:lnRef idx="1">
              <a:schemeClr val="accent2"/>
            </a:lnRef>
            <a:fillRef idx="0">
              <a:schemeClr val="accent2"/>
            </a:fillRef>
            <a:effectRef idx="0">
              <a:schemeClr val="accent2"/>
            </a:effectRef>
            <a:fontRef idx="minor">
              <a:schemeClr val="tx1"/>
            </a:fontRef>
          </p:style>
        </p:cxnSp>
        <p:sp>
          <p:nvSpPr>
            <p:cNvPr id="77" name="직사각형 76">
              <a:extLst>
                <a:ext uri="{FF2B5EF4-FFF2-40B4-BE49-F238E27FC236}">
                  <a16:creationId xmlns:a16="http://schemas.microsoft.com/office/drawing/2014/main" id="{233CE7E7-072F-44A5-BA00-51374EC344F2}"/>
                </a:ext>
              </a:extLst>
            </p:cNvPr>
            <p:cNvSpPr/>
            <p:nvPr/>
          </p:nvSpPr>
          <p:spPr>
            <a:xfrm>
              <a:off x="3944613" y="3585093"/>
              <a:ext cx="59077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500" dirty="0">
                  <a:solidFill>
                    <a:schemeClr val="bg1"/>
                  </a:solidFill>
                </a:rPr>
                <a:t>요금적용 전력</a:t>
              </a:r>
            </a:p>
          </p:txBody>
        </p:sp>
      </p:grpSp>
      <p:grpSp>
        <p:nvGrpSpPr>
          <p:cNvPr id="81" name="그룹 80">
            <a:extLst>
              <a:ext uri="{FF2B5EF4-FFF2-40B4-BE49-F238E27FC236}">
                <a16:creationId xmlns:a16="http://schemas.microsoft.com/office/drawing/2014/main" id="{FCECF29E-11A7-4CFF-B7F6-E48B982D6773}"/>
              </a:ext>
            </a:extLst>
          </p:cNvPr>
          <p:cNvGrpSpPr/>
          <p:nvPr/>
        </p:nvGrpSpPr>
        <p:grpSpPr>
          <a:xfrm>
            <a:off x="273944" y="1885169"/>
            <a:ext cx="1926022" cy="721431"/>
            <a:chOff x="5692418" y="1753651"/>
            <a:chExt cx="3074464" cy="721431"/>
          </a:xfrm>
        </p:grpSpPr>
        <p:sp>
          <p:nvSpPr>
            <p:cNvPr id="88" name="직사각형 87">
              <a:extLst>
                <a:ext uri="{FF2B5EF4-FFF2-40B4-BE49-F238E27FC236}">
                  <a16:creationId xmlns:a16="http://schemas.microsoft.com/office/drawing/2014/main" id="{1F70B0EC-ED9B-4C48-95BA-0269C3184AE5}"/>
                </a:ext>
              </a:extLst>
            </p:cNvPr>
            <p:cNvSpPr/>
            <p:nvPr/>
          </p:nvSpPr>
          <p:spPr>
            <a:xfrm>
              <a:off x="5822353" y="2045047"/>
              <a:ext cx="2880000" cy="72008"/>
            </a:xfrm>
            <a:prstGeom prst="rect">
              <a:avLst/>
            </a:prstGeom>
            <a:solidFill>
              <a:schemeClr val="accent5">
                <a:lumMod val="75000"/>
              </a:schemeClr>
            </a:solidFill>
            <a:ln w="6350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9" name="직사각형 88">
              <a:extLst>
                <a:ext uri="{FF2B5EF4-FFF2-40B4-BE49-F238E27FC236}">
                  <a16:creationId xmlns:a16="http://schemas.microsoft.com/office/drawing/2014/main" id="{95C62959-6F22-43B6-89F3-4E9015B44329}"/>
                </a:ext>
              </a:extLst>
            </p:cNvPr>
            <p:cNvSpPr/>
            <p:nvPr/>
          </p:nvSpPr>
          <p:spPr>
            <a:xfrm>
              <a:off x="5822353" y="2403074"/>
              <a:ext cx="2880000" cy="72008"/>
            </a:xfrm>
            <a:prstGeom prst="rect">
              <a:avLst/>
            </a:prstGeom>
            <a:solidFill>
              <a:schemeClr val="accent6">
                <a:lumMod val="75000"/>
              </a:schemeClr>
            </a:solidFill>
            <a:ln w="6350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9E76E181-5B9A-4616-8EFE-026D8DB5FFBA}"/>
                </a:ext>
              </a:extLst>
            </p:cNvPr>
            <p:cNvSpPr txBox="1"/>
            <p:nvPr/>
          </p:nvSpPr>
          <p:spPr>
            <a:xfrm>
              <a:off x="5692418" y="1843641"/>
              <a:ext cx="1124403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700" b="1" dirty="0">
                  <a:solidFill>
                    <a:schemeClr val="accent5">
                      <a:lumMod val="7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오늘</a:t>
              </a:r>
              <a:r>
                <a:rPr lang="en-US" altLang="ko-KR" sz="700" b="1" dirty="0">
                  <a:solidFill>
                    <a:schemeClr val="accent5">
                      <a:lumMod val="7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ko-KR" altLang="en-US" sz="700" b="1" dirty="0" err="1">
                  <a:solidFill>
                    <a:schemeClr val="accent5">
                      <a:lumMod val="7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충전량</a:t>
              </a:r>
              <a:endParaRPr lang="ko-KR" altLang="en-US" sz="700" b="1" dirty="0">
                <a:solidFill>
                  <a:schemeClr val="accent5">
                    <a:lumMod val="7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91" name="TextBox 90">
              <a:extLst>
                <a:ext uri="{FF2B5EF4-FFF2-40B4-BE49-F238E27FC236}">
                  <a16:creationId xmlns:a16="http://schemas.microsoft.com/office/drawing/2014/main" id="{E9F72634-2345-4BAD-9F25-F98752418607}"/>
                </a:ext>
              </a:extLst>
            </p:cNvPr>
            <p:cNvSpPr txBox="1"/>
            <p:nvPr/>
          </p:nvSpPr>
          <p:spPr>
            <a:xfrm>
              <a:off x="5692418" y="2201668"/>
              <a:ext cx="1134900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700" b="1" dirty="0">
                  <a:solidFill>
                    <a:schemeClr val="accent6">
                      <a:lumMod val="7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오늘</a:t>
              </a:r>
              <a:r>
                <a:rPr lang="en-US" altLang="ko-KR" sz="700" b="1" dirty="0">
                  <a:solidFill>
                    <a:schemeClr val="accent6">
                      <a:lumMod val="7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ko-KR" altLang="en-US" sz="700" b="1" dirty="0" err="1">
                  <a:solidFill>
                    <a:schemeClr val="accent6">
                      <a:lumMod val="7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방전량</a:t>
              </a:r>
              <a:endParaRPr lang="ko-KR" altLang="en-US" sz="700" b="1" dirty="0">
                <a:solidFill>
                  <a:schemeClr val="accent6">
                    <a:lumMod val="7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92" name="TextBox 91">
              <a:extLst>
                <a:ext uri="{FF2B5EF4-FFF2-40B4-BE49-F238E27FC236}">
                  <a16:creationId xmlns:a16="http://schemas.microsoft.com/office/drawing/2014/main" id="{4F0ED4C4-CFF4-4B73-850B-2038B3BB0C3A}"/>
                </a:ext>
              </a:extLst>
            </p:cNvPr>
            <p:cNvSpPr txBox="1"/>
            <p:nvPr/>
          </p:nvSpPr>
          <p:spPr>
            <a:xfrm>
              <a:off x="7270746" y="1753651"/>
              <a:ext cx="1496136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1,350.5</a:t>
              </a:r>
              <a:r>
                <a:rPr lang="en-US" altLang="ko-KR" sz="7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en-US" altLang="ko-KR" sz="700" b="1" dirty="0">
                  <a:solidFill>
                    <a:schemeClr val="accent5">
                      <a:lumMod val="7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kWh</a:t>
              </a:r>
              <a:endParaRPr lang="ko-KR" altLang="en-US" sz="800" b="1" dirty="0">
                <a:solidFill>
                  <a:schemeClr val="accent5">
                    <a:lumMod val="7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5BF30399-D7FF-44D9-8A80-7FD89F421F2F}"/>
                </a:ext>
              </a:extLst>
            </p:cNvPr>
            <p:cNvSpPr txBox="1"/>
            <p:nvPr/>
          </p:nvSpPr>
          <p:spPr>
            <a:xfrm>
              <a:off x="7419971" y="2115095"/>
              <a:ext cx="1346908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850.5</a:t>
              </a:r>
              <a:r>
                <a:rPr lang="en-US" altLang="ko-KR" sz="7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en-US" altLang="ko-KR" sz="700" b="1" dirty="0">
                  <a:solidFill>
                    <a:schemeClr val="accent6">
                      <a:lumMod val="7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kWh</a:t>
              </a:r>
              <a:endParaRPr lang="ko-KR" altLang="en-US" sz="800" b="1" dirty="0">
                <a:solidFill>
                  <a:schemeClr val="accent6">
                    <a:lumMod val="7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82" name="그룹 81">
            <a:extLst>
              <a:ext uri="{FF2B5EF4-FFF2-40B4-BE49-F238E27FC236}">
                <a16:creationId xmlns:a16="http://schemas.microsoft.com/office/drawing/2014/main" id="{168559AE-A8E5-4041-A997-3C2B894837ED}"/>
              </a:ext>
            </a:extLst>
          </p:cNvPr>
          <p:cNvGrpSpPr/>
          <p:nvPr/>
        </p:nvGrpSpPr>
        <p:grpSpPr>
          <a:xfrm>
            <a:off x="2219815" y="2011492"/>
            <a:ext cx="582819" cy="762997"/>
            <a:chOff x="8066098" y="1891729"/>
            <a:chExt cx="639759" cy="762997"/>
          </a:xfrm>
        </p:grpSpPr>
        <p:pic>
          <p:nvPicPr>
            <p:cNvPr id="85" name="Picture 6" descr="batteryì ëí ì´ë¯¸ì§ ê²ìê²°ê³¼">
              <a:extLst>
                <a:ext uri="{FF2B5EF4-FFF2-40B4-BE49-F238E27FC236}">
                  <a16:creationId xmlns:a16="http://schemas.microsoft.com/office/drawing/2014/main" id="{4B5514D0-D7FF-48C4-A980-B69C5FF9A89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104661" y="2092093"/>
              <a:ext cx="562633" cy="56263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DE241CF2-1630-4E28-AFB0-D875E7DCDED3}"/>
                </a:ext>
              </a:extLst>
            </p:cNvPr>
            <p:cNvSpPr txBox="1"/>
            <p:nvPr/>
          </p:nvSpPr>
          <p:spPr>
            <a:xfrm>
              <a:off x="8087885" y="1891729"/>
              <a:ext cx="59618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accent5">
                      <a:lumMod val="7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SOC(</a:t>
              </a:r>
              <a:r>
                <a:rPr lang="ko-KR" altLang="en-US" sz="600" b="1" dirty="0">
                  <a:solidFill>
                    <a:schemeClr val="accent5">
                      <a:lumMod val="7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잔량</a:t>
              </a:r>
              <a:r>
                <a:rPr lang="en-US" altLang="ko-KR" sz="600" b="1" dirty="0">
                  <a:solidFill>
                    <a:schemeClr val="accent5">
                      <a:lumMod val="7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)</a:t>
              </a:r>
              <a:endParaRPr lang="ko-KR" altLang="en-US" sz="600" b="1" dirty="0">
                <a:solidFill>
                  <a:schemeClr val="accent5">
                    <a:lumMod val="7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5B0F6A88-E8E0-4CA7-851C-FE4F62A6FBAE}"/>
                </a:ext>
              </a:extLst>
            </p:cNvPr>
            <p:cNvSpPr txBox="1"/>
            <p:nvPr/>
          </p:nvSpPr>
          <p:spPr>
            <a:xfrm>
              <a:off x="8066098" y="2016579"/>
              <a:ext cx="639759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1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85.5</a:t>
              </a:r>
              <a:r>
                <a:rPr lang="en-US" altLang="ko-KR" sz="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en-US" altLang="ko-KR" sz="700" b="1" dirty="0">
                  <a:solidFill>
                    <a:schemeClr val="accent5">
                      <a:lumMod val="7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%</a:t>
              </a:r>
              <a:endParaRPr lang="ko-KR" altLang="en-US" sz="700" b="1" dirty="0">
                <a:solidFill>
                  <a:schemeClr val="accent5">
                    <a:lumMod val="7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29BE7225-41AF-42CC-A0FE-0F821D41799C}"/>
              </a:ext>
            </a:extLst>
          </p:cNvPr>
          <p:cNvSpPr/>
          <p:nvPr/>
        </p:nvSpPr>
        <p:spPr>
          <a:xfrm>
            <a:off x="1800320" y="2174451"/>
            <a:ext cx="360000" cy="6840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4" name="직사각형 83">
            <a:extLst>
              <a:ext uri="{FF2B5EF4-FFF2-40B4-BE49-F238E27FC236}">
                <a16:creationId xmlns:a16="http://schemas.microsoft.com/office/drawing/2014/main" id="{1503B530-C9B9-4E10-89F3-45CE8A0602A7}"/>
              </a:ext>
            </a:extLst>
          </p:cNvPr>
          <p:cNvSpPr/>
          <p:nvPr/>
        </p:nvSpPr>
        <p:spPr>
          <a:xfrm>
            <a:off x="1621313" y="2536023"/>
            <a:ext cx="540000" cy="6840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94" name="직선 연결선 93">
            <a:extLst>
              <a:ext uri="{FF2B5EF4-FFF2-40B4-BE49-F238E27FC236}">
                <a16:creationId xmlns:a16="http://schemas.microsoft.com/office/drawing/2014/main" id="{9F340A0B-4856-4005-86F6-B3076CBA8CE3}"/>
              </a:ext>
            </a:extLst>
          </p:cNvPr>
          <p:cNvCxnSpPr>
            <a:cxnSpLocks/>
          </p:cNvCxnSpPr>
          <p:nvPr/>
        </p:nvCxnSpPr>
        <p:spPr>
          <a:xfrm>
            <a:off x="2938810" y="1887730"/>
            <a:ext cx="0" cy="4140000"/>
          </a:xfrm>
          <a:prstGeom prst="line">
            <a:avLst/>
          </a:prstGeom>
          <a:ln w="3175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85492D68-2FC4-4CB4-A595-6621D5FE8DDC}"/>
              </a:ext>
            </a:extLst>
          </p:cNvPr>
          <p:cNvSpPr/>
          <p:nvPr/>
        </p:nvSpPr>
        <p:spPr>
          <a:xfrm>
            <a:off x="5810955" y="1802597"/>
            <a:ext cx="1820532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수익 현황</a:t>
            </a:r>
          </a:p>
        </p:txBody>
      </p:sp>
      <p:graphicFrame>
        <p:nvGraphicFramePr>
          <p:cNvPr id="96" name="표 95">
            <a:extLst>
              <a:ext uri="{FF2B5EF4-FFF2-40B4-BE49-F238E27FC236}">
                <a16:creationId xmlns:a16="http://schemas.microsoft.com/office/drawing/2014/main" id="{47E5037A-FFD1-446C-BD26-D58DACF2998E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5849513" y="1985340"/>
          <a:ext cx="2295059" cy="10058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253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221454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14727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/>
                        <a:t>kW</a:t>
                      </a:r>
                      <a:endParaRPr lang="ko-KR" altLang="en-US" sz="6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4727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500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4727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400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4727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300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4727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200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781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100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7818"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01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02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03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04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05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06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07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08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09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10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11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12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grpSp>
        <p:nvGrpSpPr>
          <p:cNvPr id="97" name="그룹 96">
            <a:extLst>
              <a:ext uri="{FF2B5EF4-FFF2-40B4-BE49-F238E27FC236}">
                <a16:creationId xmlns:a16="http://schemas.microsoft.com/office/drawing/2014/main" id="{302B5A77-0813-4FBC-9FB0-C62C56BB230E}"/>
              </a:ext>
            </a:extLst>
          </p:cNvPr>
          <p:cNvGrpSpPr/>
          <p:nvPr/>
        </p:nvGrpSpPr>
        <p:grpSpPr>
          <a:xfrm>
            <a:off x="6127556" y="2541597"/>
            <a:ext cx="114467" cy="310233"/>
            <a:chOff x="1234728" y="4790879"/>
            <a:chExt cx="144016" cy="310233"/>
          </a:xfrm>
        </p:grpSpPr>
        <p:sp>
          <p:nvSpPr>
            <p:cNvPr id="98" name="직사각형 97">
              <a:extLst>
                <a:ext uri="{FF2B5EF4-FFF2-40B4-BE49-F238E27FC236}">
                  <a16:creationId xmlns:a16="http://schemas.microsoft.com/office/drawing/2014/main" id="{EDD4EEEF-7461-4E90-949E-1A1571E16BB1}"/>
                </a:ext>
              </a:extLst>
            </p:cNvPr>
            <p:cNvSpPr/>
            <p:nvPr/>
          </p:nvSpPr>
          <p:spPr>
            <a:xfrm>
              <a:off x="1234728" y="4836597"/>
              <a:ext cx="144016" cy="264515"/>
            </a:xfrm>
            <a:prstGeom prst="rect">
              <a:avLst/>
            </a:prstGeom>
            <a:solidFill>
              <a:srgbClr val="FFC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99" name="직사각형 98">
              <a:extLst>
                <a:ext uri="{FF2B5EF4-FFF2-40B4-BE49-F238E27FC236}">
                  <a16:creationId xmlns:a16="http://schemas.microsoft.com/office/drawing/2014/main" id="{57664B3A-8427-494A-A382-067A9049F1A5}"/>
                </a:ext>
              </a:extLst>
            </p:cNvPr>
            <p:cNvSpPr/>
            <p:nvPr/>
          </p:nvSpPr>
          <p:spPr>
            <a:xfrm>
              <a:off x="1234728" y="4790879"/>
              <a:ext cx="144016" cy="175215"/>
            </a:xfrm>
            <a:prstGeom prst="rect">
              <a:avLst/>
            </a:prstGeom>
            <a:solidFill>
              <a:schemeClr val="tx2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ABD8DBEB-FCFB-4A9E-9E76-898DF67CD146}"/>
              </a:ext>
            </a:extLst>
          </p:cNvPr>
          <p:cNvSpPr/>
          <p:nvPr/>
        </p:nvSpPr>
        <p:spPr>
          <a:xfrm>
            <a:off x="6295753" y="2515389"/>
            <a:ext cx="115200" cy="336441"/>
          </a:xfrm>
          <a:prstGeom prst="rect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grpSp>
        <p:nvGrpSpPr>
          <p:cNvPr id="101" name="그룹 100">
            <a:extLst>
              <a:ext uri="{FF2B5EF4-FFF2-40B4-BE49-F238E27FC236}">
                <a16:creationId xmlns:a16="http://schemas.microsoft.com/office/drawing/2014/main" id="{0207C4C3-F123-4D15-991E-9B817D38581F}"/>
              </a:ext>
            </a:extLst>
          </p:cNvPr>
          <p:cNvGrpSpPr/>
          <p:nvPr/>
        </p:nvGrpSpPr>
        <p:grpSpPr>
          <a:xfrm>
            <a:off x="6463950" y="2585693"/>
            <a:ext cx="114467" cy="266137"/>
            <a:chOff x="1907704" y="3275281"/>
            <a:chExt cx="288032" cy="535432"/>
          </a:xfrm>
        </p:grpSpPr>
        <p:sp>
          <p:nvSpPr>
            <p:cNvPr id="103" name="직사각형 102">
              <a:extLst>
                <a:ext uri="{FF2B5EF4-FFF2-40B4-BE49-F238E27FC236}">
                  <a16:creationId xmlns:a16="http://schemas.microsoft.com/office/drawing/2014/main" id="{66A33D6C-E258-4AB8-AD5D-72F68762BB7E}"/>
                </a:ext>
              </a:extLst>
            </p:cNvPr>
            <p:cNvSpPr/>
            <p:nvPr/>
          </p:nvSpPr>
          <p:spPr>
            <a:xfrm>
              <a:off x="1907704" y="3321001"/>
              <a:ext cx="288032" cy="489712"/>
            </a:xfrm>
            <a:prstGeom prst="rect">
              <a:avLst/>
            </a:prstGeom>
            <a:solidFill>
              <a:srgbClr val="FFC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104" name="직사각형 103">
              <a:extLst>
                <a:ext uri="{FF2B5EF4-FFF2-40B4-BE49-F238E27FC236}">
                  <a16:creationId xmlns:a16="http://schemas.microsoft.com/office/drawing/2014/main" id="{390AC3DE-B918-4734-8680-8A7CC843E6A3}"/>
                </a:ext>
              </a:extLst>
            </p:cNvPr>
            <p:cNvSpPr/>
            <p:nvPr/>
          </p:nvSpPr>
          <p:spPr>
            <a:xfrm>
              <a:off x="1907704" y="3275281"/>
              <a:ext cx="288032" cy="289487"/>
            </a:xfrm>
            <a:prstGeom prst="rect">
              <a:avLst/>
            </a:prstGeom>
            <a:solidFill>
              <a:schemeClr val="tx2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sp>
        <p:nvSpPr>
          <p:cNvPr id="105" name="직사각형 104">
            <a:extLst>
              <a:ext uri="{FF2B5EF4-FFF2-40B4-BE49-F238E27FC236}">
                <a16:creationId xmlns:a16="http://schemas.microsoft.com/office/drawing/2014/main" id="{EDDCF0FF-12B0-4CE9-9086-CEE4DF9DB870}"/>
              </a:ext>
            </a:extLst>
          </p:cNvPr>
          <p:cNvSpPr/>
          <p:nvPr/>
        </p:nvSpPr>
        <p:spPr>
          <a:xfrm>
            <a:off x="6593218" y="2707940"/>
            <a:ext cx="114467" cy="143890"/>
          </a:xfrm>
          <a:prstGeom prst="rect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graphicFrame>
        <p:nvGraphicFramePr>
          <p:cNvPr id="106" name="표 105">
            <a:extLst>
              <a:ext uri="{FF2B5EF4-FFF2-40B4-BE49-F238E27FC236}">
                <a16:creationId xmlns:a16="http://schemas.microsoft.com/office/drawing/2014/main" id="{AECF42C3-9927-4567-83AD-65A5BAE81280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291742" y="3055006"/>
          <a:ext cx="2547265" cy="150563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579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19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20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21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22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23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24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25"/>
                    </a:ext>
                  </a:extLst>
                </a:gridCol>
              </a:tblGrid>
              <a:tr h="1574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/>
                        <a:t>kWh</a:t>
                      </a:r>
                      <a:endParaRPr lang="ko-KR" altLang="en-US" sz="6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574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2000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57410"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57410"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574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1000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57410"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574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500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57410"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574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88949"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00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01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02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03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04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05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06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07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08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09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10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11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12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13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14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15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16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17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18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19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20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21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22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23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24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grpSp>
        <p:nvGrpSpPr>
          <p:cNvPr id="107" name="그룹 106">
            <a:extLst>
              <a:ext uri="{FF2B5EF4-FFF2-40B4-BE49-F238E27FC236}">
                <a16:creationId xmlns:a16="http://schemas.microsoft.com/office/drawing/2014/main" id="{0C4EF8B6-D6E2-42B1-909B-5808D638D80C}"/>
              </a:ext>
            </a:extLst>
          </p:cNvPr>
          <p:cNvGrpSpPr/>
          <p:nvPr/>
        </p:nvGrpSpPr>
        <p:grpSpPr>
          <a:xfrm>
            <a:off x="574906" y="3980766"/>
            <a:ext cx="1526152" cy="367021"/>
            <a:chOff x="1354667" y="3680460"/>
            <a:chExt cx="4732866" cy="586740"/>
          </a:xfrm>
        </p:grpSpPr>
        <p:sp>
          <p:nvSpPr>
            <p:cNvPr id="108" name="자유형 5">
              <a:extLst>
                <a:ext uri="{FF2B5EF4-FFF2-40B4-BE49-F238E27FC236}">
                  <a16:creationId xmlns:a16="http://schemas.microsoft.com/office/drawing/2014/main" id="{298F7A9C-ACD2-40BA-87FC-AFE06A6AF2DB}"/>
                </a:ext>
              </a:extLst>
            </p:cNvPr>
            <p:cNvSpPr/>
            <p:nvPr/>
          </p:nvSpPr>
          <p:spPr>
            <a:xfrm>
              <a:off x="2286000" y="3680460"/>
              <a:ext cx="1733550" cy="453390"/>
            </a:xfrm>
            <a:custGeom>
              <a:avLst/>
              <a:gdLst>
                <a:gd name="connsiteX0" fmla="*/ 0 w 1733550"/>
                <a:gd name="connsiteY0" fmla="*/ 171450 h 453390"/>
                <a:gd name="connsiteX1" fmla="*/ 582930 w 1733550"/>
                <a:gd name="connsiteY1" fmla="*/ 430530 h 453390"/>
                <a:gd name="connsiteX2" fmla="*/ 864870 w 1733550"/>
                <a:gd name="connsiteY2" fmla="*/ 453390 h 453390"/>
                <a:gd name="connsiteX3" fmla="*/ 1165860 w 1733550"/>
                <a:gd name="connsiteY3" fmla="*/ 419100 h 453390"/>
                <a:gd name="connsiteX4" fmla="*/ 1482090 w 1733550"/>
                <a:gd name="connsiteY4" fmla="*/ 106680 h 453390"/>
                <a:gd name="connsiteX5" fmla="*/ 1733550 w 1733550"/>
                <a:gd name="connsiteY5" fmla="*/ 0 h 453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33550" h="453390">
                  <a:moveTo>
                    <a:pt x="0" y="171450"/>
                  </a:moveTo>
                  <a:lnTo>
                    <a:pt x="582930" y="430530"/>
                  </a:lnTo>
                  <a:lnTo>
                    <a:pt x="864870" y="453390"/>
                  </a:lnTo>
                  <a:lnTo>
                    <a:pt x="1165860" y="419100"/>
                  </a:lnTo>
                  <a:lnTo>
                    <a:pt x="1482090" y="106680"/>
                  </a:lnTo>
                  <a:lnTo>
                    <a:pt x="1733550" y="0"/>
                  </a:lnTo>
                </a:path>
              </a:pathLst>
            </a:custGeom>
            <a:solidFill>
              <a:schemeClr val="accent3">
                <a:lumMod val="40000"/>
                <a:lumOff val="60000"/>
              </a:schemeClr>
            </a:solidFill>
            <a:ln>
              <a:solidFill>
                <a:schemeClr val="accent3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109" name="자유형 4">
              <a:extLst>
                <a:ext uri="{FF2B5EF4-FFF2-40B4-BE49-F238E27FC236}">
                  <a16:creationId xmlns:a16="http://schemas.microsoft.com/office/drawing/2014/main" id="{2D51EF02-CE9C-474D-9D99-B911FDC95FA5}"/>
                </a:ext>
              </a:extLst>
            </p:cNvPr>
            <p:cNvSpPr/>
            <p:nvPr/>
          </p:nvSpPr>
          <p:spPr>
            <a:xfrm rot="10259621">
              <a:off x="2260738" y="3727732"/>
              <a:ext cx="1757660" cy="90164"/>
            </a:xfrm>
            <a:custGeom>
              <a:avLst/>
              <a:gdLst>
                <a:gd name="connsiteX0" fmla="*/ 0 w 1761066"/>
                <a:gd name="connsiteY0" fmla="*/ 177800 h 228600"/>
                <a:gd name="connsiteX1" fmla="*/ 601133 w 1761066"/>
                <a:gd name="connsiteY1" fmla="*/ 228600 h 228600"/>
                <a:gd name="connsiteX2" fmla="*/ 905933 w 1761066"/>
                <a:gd name="connsiteY2" fmla="*/ 177800 h 228600"/>
                <a:gd name="connsiteX3" fmla="*/ 1159933 w 1761066"/>
                <a:gd name="connsiteY3" fmla="*/ 127000 h 228600"/>
                <a:gd name="connsiteX4" fmla="*/ 1498600 w 1761066"/>
                <a:gd name="connsiteY4" fmla="*/ 59267 h 228600"/>
                <a:gd name="connsiteX5" fmla="*/ 1761066 w 1761066"/>
                <a:gd name="connsiteY5" fmla="*/ 0 h 228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61066" h="228600">
                  <a:moveTo>
                    <a:pt x="0" y="177800"/>
                  </a:moveTo>
                  <a:lnTo>
                    <a:pt x="601133" y="228600"/>
                  </a:lnTo>
                  <a:lnTo>
                    <a:pt x="905933" y="177800"/>
                  </a:lnTo>
                  <a:lnTo>
                    <a:pt x="1159933" y="127000"/>
                  </a:lnTo>
                  <a:lnTo>
                    <a:pt x="1498600" y="59267"/>
                  </a:lnTo>
                  <a:lnTo>
                    <a:pt x="1761066" y="0"/>
                  </a:lnTo>
                </a:path>
              </a:pathLst>
            </a:custGeom>
            <a:solidFill>
              <a:schemeClr val="accent3">
                <a:lumMod val="40000"/>
                <a:lumOff val="60000"/>
              </a:schemeClr>
            </a:solidFill>
            <a:ln>
              <a:solidFill>
                <a:schemeClr val="accent3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110" name="자유형 7">
              <a:extLst>
                <a:ext uri="{FF2B5EF4-FFF2-40B4-BE49-F238E27FC236}">
                  <a16:creationId xmlns:a16="http://schemas.microsoft.com/office/drawing/2014/main" id="{0B38DE36-BF1B-4E8A-AA25-709AC0E1482B}"/>
                </a:ext>
              </a:extLst>
            </p:cNvPr>
            <p:cNvSpPr/>
            <p:nvPr/>
          </p:nvSpPr>
          <p:spPr>
            <a:xfrm>
              <a:off x="4023360" y="3699510"/>
              <a:ext cx="2049780" cy="567690"/>
            </a:xfrm>
            <a:custGeom>
              <a:avLst/>
              <a:gdLst>
                <a:gd name="connsiteX0" fmla="*/ 0 w 2049780"/>
                <a:gd name="connsiteY0" fmla="*/ 0 h 567690"/>
                <a:gd name="connsiteX1" fmla="*/ 331470 w 2049780"/>
                <a:gd name="connsiteY1" fmla="*/ 60960 h 567690"/>
                <a:gd name="connsiteX2" fmla="*/ 640080 w 2049780"/>
                <a:gd name="connsiteY2" fmla="*/ 220980 h 567690"/>
                <a:gd name="connsiteX3" fmla="*/ 1242060 w 2049780"/>
                <a:gd name="connsiteY3" fmla="*/ 236220 h 567690"/>
                <a:gd name="connsiteX4" fmla="*/ 1684020 w 2049780"/>
                <a:gd name="connsiteY4" fmla="*/ 144780 h 567690"/>
                <a:gd name="connsiteX5" fmla="*/ 2049780 w 2049780"/>
                <a:gd name="connsiteY5" fmla="*/ 19050 h 567690"/>
                <a:gd name="connsiteX6" fmla="*/ 1779270 w 2049780"/>
                <a:gd name="connsiteY6" fmla="*/ 346710 h 567690"/>
                <a:gd name="connsiteX7" fmla="*/ 1249680 w 2049780"/>
                <a:gd name="connsiteY7" fmla="*/ 567690 h 567690"/>
                <a:gd name="connsiteX8" fmla="*/ 621030 w 2049780"/>
                <a:gd name="connsiteY8" fmla="*/ 563880 h 567690"/>
                <a:gd name="connsiteX9" fmla="*/ 308610 w 2049780"/>
                <a:gd name="connsiteY9" fmla="*/ 419100 h 567690"/>
                <a:gd name="connsiteX10" fmla="*/ 0 w 2049780"/>
                <a:gd name="connsiteY10" fmla="*/ 0 h 567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49780" h="567690">
                  <a:moveTo>
                    <a:pt x="0" y="0"/>
                  </a:moveTo>
                  <a:lnTo>
                    <a:pt x="331470" y="60960"/>
                  </a:lnTo>
                  <a:lnTo>
                    <a:pt x="640080" y="220980"/>
                  </a:lnTo>
                  <a:lnTo>
                    <a:pt x="1242060" y="236220"/>
                  </a:lnTo>
                  <a:lnTo>
                    <a:pt x="1684020" y="144780"/>
                  </a:lnTo>
                  <a:lnTo>
                    <a:pt x="2049780" y="19050"/>
                  </a:lnTo>
                  <a:lnTo>
                    <a:pt x="1779270" y="346710"/>
                  </a:lnTo>
                  <a:lnTo>
                    <a:pt x="1249680" y="567690"/>
                  </a:lnTo>
                  <a:lnTo>
                    <a:pt x="621030" y="563880"/>
                  </a:lnTo>
                  <a:lnTo>
                    <a:pt x="308610" y="4191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111" name="자유형 1">
              <a:extLst>
                <a:ext uri="{FF2B5EF4-FFF2-40B4-BE49-F238E27FC236}">
                  <a16:creationId xmlns:a16="http://schemas.microsoft.com/office/drawing/2014/main" id="{ED9718AB-5CCD-47D4-BA5B-DCA054E7B676}"/>
                </a:ext>
              </a:extLst>
            </p:cNvPr>
            <p:cNvSpPr/>
            <p:nvPr/>
          </p:nvSpPr>
          <p:spPr>
            <a:xfrm>
              <a:off x="1354667" y="3683000"/>
              <a:ext cx="4732866" cy="584200"/>
            </a:xfrm>
            <a:custGeom>
              <a:avLst/>
              <a:gdLst>
                <a:gd name="connsiteX0" fmla="*/ 0 w 4732866"/>
                <a:gd name="connsiteY0" fmla="*/ 330200 h 584200"/>
                <a:gd name="connsiteX1" fmla="*/ 262466 w 4732866"/>
                <a:gd name="connsiteY1" fmla="*/ 169333 h 584200"/>
                <a:gd name="connsiteX2" fmla="*/ 575733 w 4732866"/>
                <a:gd name="connsiteY2" fmla="*/ 279400 h 584200"/>
                <a:gd name="connsiteX3" fmla="*/ 905933 w 4732866"/>
                <a:gd name="connsiteY3" fmla="*/ 169333 h 584200"/>
                <a:gd name="connsiteX4" fmla="*/ 1193800 w 4732866"/>
                <a:gd name="connsiteY4" fmla="*/ 296333 h 584200"/>
                <a:gd name="connsiteX5" fmla="*/ 1507066 w 4732866"/>
                <a:gd name="connsiteY5" fmla="*/ 431800 h 584200"/>
                <a:gd name="connsiteX6" fmla="*/ 1794933 w 4732866"/>
                <a:gd name="connsiteY6" fmla="*/ 457200 h 584200"/>
                <a:gd name="connsiteX7" fmla="*/ 2091266 w 4732866"/>
                <a:gd name="connsiteY7" fmla="*/ 423333 h 584200"/>
                <a:gd name="connsiteX8" fmla="*/ 2413000 w 4732866"/>
                <a:gd name="connsiteY8" fmla="*/ 101600 h 584200"/>
                <a:gd name="connsiteX9" fmla="*/ 2667000 w 4732866"/>
                <a:gd name="connsiteY9" fmla="*/ 0 h 584200"/>
                <a:gd name="connsiteX10" fmla="*/ 2971800 w 4732866"/>
                <a:gd name="connsiteY10" fmla="*/ 431800 h 584200"/>
                <a:gd name="connsiteX11" fmla="*/ 3293533 w 4732866"/>
                <a:gd name="connsiteY11" fmla="*/ 567267 h 584200"/>
                <a:gd name="connsiteX12" fmla="*/ 3615266 w 4732866"/>
                <a:gd name="connsiteY12" fmla="*/ 558800 h 584200"/>
                <a:gd name="connsiteX13" fmla="*/ 3911600 w 4732866"/>
                <a:gd name="connsiteY13" fmla="*/ 584200 h 584200"/>
                <a:gd name="connsiteX14" fmla="*/ 4199466 w 4732866"/>
                <a:gd name="connsiteY14" fmla="*/ 440267 h 584200"/>
                <a:gd name="connsiteX15" fmla="*/ 4453466 w 4732866"/>
                <a:gd name="connsiteY15" fmla="*/ 364067 h 584200"/>
                <a:gd name="connsiteX16" fmla="*/ 4732866 w 4732866"/>
                <a:gd name="connsiteY16" fmla="*/ 16933 h 584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732866" h="584200">
                  <a:moveTo>
                    <a:pt x="0" y="330200"/>
                  </a:moveTo>
                  <a:lnTo>
                    <a:pt x="262466" y="169333"/>
                  </a:lnTo>
                  <a:lnTo>
                    <a:pt x="575733" y="279400"/>
                  </a:lnTo>
                  <a:lnTo>
                    <a:pt x="905933" y="169333"/>
                  </a:lnTo>
                  <a:lnTo>
                    <a:pt x="1193800" y="296333"/>
                  </a:lnTo>
                  <a:lnTo>
                    <a:pt x="1507066" y="431800"/>
                  </a:lnTo>
                  <a:lnTo>
                    <a:pt x="1794933" y="457200"/>
                  </a:lnTo>
                  <a:lnTo>
                    <a:pt x="2091266" y="423333"/>
                  </a:lnTo>
                  <a:lnTo>
                    <a:pt x="2413000" y="101600"/>
                  </a:lnTo>
                  <a:lnTo>
                    <a:pt x="2667000" y="0"/>
                  </a:lnTo>
                  <a:lnTo>
                    <a:pt x="2971800" y="431800"/>
                  </a:lnTo>
                  <a:lnTo>
                    <a:pt x="3293533" y="567267"/>
                  </a:lnTo>
                  <a:lnTo>
                    <a:pt x="3615266" y="558800"/>
                  </a:lnTo>
                  <a:lnTo>
                    <a:pt x="3911600" y="584200"/>
                  </a:lnTo>
                  <a:lnTo>
                    <a:pt x="4199466" y="440267"/>
                  </a:lnTo>
                  <a:lnTo>
                    <a:pt x="4453466" y="364067"/>
                  </a:lnTo>
                  <a:lnTo>
                    <a:pt x="4732866" y="16933"/>
                  </a:lnTo>
                </a:path>
              </a:pathLst>
            </a:custGeom>
            <a:ln w="22225">
              <a:solidFill>
                <a:schemeClr val="accent6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sp>
        <p:nvSpPr>
          <p:cNvPr id="112" name="TextBox 111">
            <a:extLst>
              <a:ext uri="{FF2B5EF4-FFF2-40B4-BE49-F238E27FC236}">
                <a16:creationId xmlns:a16="http://schemas.microsoft.com/office/drawing/2014/main" id="{C2BEAF07-29E1-4E0A-AD98-44A528D46F68}"/>
              </a:ext>
            </a:extLst>
          </p:cNvPr>
          <p:cNvSpPr txBox="1"/>
          <p:nvPr/>
        </p:nvSpPr>
        <p:spPr>
          <a:xfrm>
            <a:off x="222795" y="2840555"/>
            <a:ext cx="1013626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사용량</a:t>
            </a:r>
            <a:r>
              <a:rPr lang="en-US" altLang="ko-KR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ko-KR" altLang="en-US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구성 </a:t>
            </a:r>
            <a:r>
              <a:rPr lang="en-US" altLang="ko-KR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(DER)</a:t>
            </a:r>
            <a:endParaRPr lang="ko-KR" altLang="en-US" sz="8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13" name="그룹 112">
            <a:extLst>
              <a:ext uri="{FF2B5EF4-FFF2-40B4-BE49-F238E27FC236}">
                <a16:creationId xmlns:a16="http://schemas.microsoft.com/office/drawing/2014/main" id="{F992A0CF-FD53-4105-99A2-BCAC3A4AE812}"/>
              </a:ext>
            </a:extLst>
          </p:cNvPr>
          <p:cNvGrpSpPr/>
          <p:nvPr/>
        </p:nvGrpSpPr>
        <p:grpSpPr>
          <a:xfrm>
            <a:off x="512960" y="4519346"/>
            <a:ext cx="2088232" cy="254366"/>
            <a:chOff x="766046" y="3528551"/>
            <a:chExt cx="2088232" cy="254366"/>
          </a:xfrm>
        </p:grpSpPr>
        <p:grpSp>
          <p:nvGrpSpPr>
            <p:cNvPr id="114" name="그룹 113">
              <a:extLst>
                <a:ext uri="{FF2B5EF4-FFF2-40B4-BE49-F238E27FC236}">
                  <a16:creationId xmlns:a16="http://schemas.microsoft.com/office/drawing/2014/main" id="{DCD8F9D2-4BE9-4187-8F1E-9957DBD32782}"/>
                </a:ext>
              </a:extLst>
            </p:cNvPr>
            <p:cNvGrpSpPr/>
            <p:nvPr/>
          </p:nvGrpSpPr>
          <p:grpSpPr>
            <a:xfrm>
              <a:off x="1558134" y="3547722"/>
              <a:ext cx="631876" cy="216024"/>
              <a:chOff x="1187624" y="4744315"/>
              <a:chExt cx="631876" cy="216024"/>
            </a:xfrm>
          </p:grpSpPr>
          <p:sp>
            <p:nvSpPr>
              <p:cNvPr id="121" name="직사각형 120">
                <a:extLst>
                  <a:ext uri="{FF2B5EF4-FFF2-40B4-BE49-F238E27FC236}">
                    <a16:creationId xmlns:a16="http://schemas.microsoft.com/office/drawing/2014/main" id="{85D1B163-F308-4C13-9E54-6336920F0856}"/>
                  </a:ext>
                </a:extLst>
              </p:cNvPr>
              <p:cNvSpPr/>
              <p:nvPr/>
            </p:nvSpPr>
            <p:spPr>
              <a:xfrm>
                <a:off x="1187624" y="4781396"/>
                <a:ext cx="270595" cy="141862"/>
              </a:xfrm>
              <a:prstGeom prst="rect">
                <a:avLst/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altLang="ko-KR" sz="500" b="1" dirty="0">
                    <a:solidFill>
                      <a:schemeClr val="accent3">
                        <a:lumMod val="60000"/>
                        <a:lumOff val="40000"/>
                      </a:schemeClr>
                    </a:solidFill>
                    <a:latin typeface="맑은 고딕" pitchFamily="50" charset="-127"/>
                    <a:ea typeface="맑은 고딕" pitchFamily="50" charset="-127"/>
                  </a:rPr>
                  <a:t>ESS</a:t>
                </a:r>
                <a:endParaRPr lang="ko-KR" altLang="en-US" sz="500" b="1" dirty="0">
                  <a:solidFill>
                    <a:schemeClr val="accent3">
                      <a:lumMod val="60000"/>
                      <a:lumOff val="40000"/>
                    </a:schemeClr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  <p:sp>
            <p:nvSpPr>
              <p:cNvPr id="122" name="직사각형 121">
                <a:extLst>
                  <a:ext uri="{FF2B5EF4-FFF2-40B4-BE49-F238E27FC236}">
                    <a16:creationId xmlns:a16="http://schemas.microsoft.com/office/drawing/2014/main" id="{457EC856-9257-4A1C-9E47-5ABC04F7C002}"/>
                  </a:ext>
                </a:extLst>
              </p:cNvPr>
              <p:cNvSpPr/>
              <p:nvPr/>
            </p:nvSpPr>
            <p:spPr>
              <a:xfrm>
                <a:off x="1475656" y="4744315"/>
                <a:ext cx="343844" cy="216024"/>
              </a:xfrm>
              <a:prstGeom prst="rect">
                <a:avLst/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ko-KR" sz="1000" b="1" dirty="0">
                    <a:solidFill>
                      <a:schemeClr val="bg1"/>
                    </a:solidFill>
                    <a:latin typeface="맑은 고딕" pitchFamily="50" charset="-127"/>
                    <a:ea typeface="맑은 고딕" pitchFamily="50" charset="-127"/>
                  </a:rPr>
                  <a:t>10%</a:t>
                </a:r>
                <a:endParaRPr lang="ko-KR" altLang="en-US" sz="10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</p:grpSp>
        <p:grpSp>
          <p:nvGrpSpPr>
            <p:cNvPr id="115" name="그룹 114">
              <a:extLst>
                <a:ext uri="{FF2B5EF4-FFF2-40B4-BE49-F238E27FC236}">
                  <a16:creationId xmlns:a16="http://schemas.microsoft.com/office/drawing/2014/main" id="{63C5332A-63BC-415B-9AF8-6D929E320046}"/>
                </a:ext>
              </a:extLst>
            </p:cNvPr>
            <p:cNvGrpSpPr/>
            <p:nvPr/>
          </p:nvGrpSpPr>
          <p:grpSpPr>
            <a:xfrm>
              <a:off x="2278214" y="3528551"/>
              <a:ext cx="576064" cy="254366"/>
              <a:chOff x="1907704" y="4725144"/>
              <a:chExt cx="576064" cy="254366"/>
            </a:xfrm>
          </p:grpSpPr>
          <p:sp>
            <p:nvSpPr>
              <p:cNvPr id="119" name="직사각형 118">
                <a:extLst>
                  <a:ext uri="{FF2B5EF4-FFF2-40B4-BE49-F238E27FC236}">
                    <a16:creationId xmlns:a16="http://schemas.microsoft.com/office/drawing/2014/main" id="{6CA947FB-19A7-4EA8-A25A-93ECA996052A}"/>
                  </a:ext>
                </a:extLst>
              </p:cNvPr>
              <p:cNvSpPr/>
              <p:nvPr/>
            </p:nvSpPr>
            <p:spPr>
              <a:xfrm>
                <a:off x="1907704" y="4781396"/>
                <a:ext cx="270595" cy="141862"/>
              </a:xfrm>
              <a:prstGeom prst="rect">
                <a:avLst/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altLang="ko-KR" sz="500" b="1" dirty="0">
                    <a:solidFill>
                      <a:schemeClr val="accent2">
                        <a:lumMod val="40000"/>
                        <a:lumOff val="60000"/>
                      </a:schemeClr>
                    </a:solidFill>
                    <a:latin typeface="맑은 고딕" pitchFamily="50" charset="-127"/>
                    <a:ea typeface="맑은 고딕" pitchFamily="50" charset="-127"/>
                  </a:rPr>
                  <a:t>PV</a:t>
                </a:r>
                <a:endParaRPr lang="ko-KR" altLang="en-US" sz="500" b="1" dirty="0">
                  <a:solidFill>
                    <a:schemeClr val="accent2">
                      <a:lumMod val="40000"/>
                      <a:lumOff val="60000"/>
                    </a:schemeClr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  <p:sp>
            <p:nvSpPr>
              <p:cNvPr id="120" name="직사각형 119">
                <a:extLst>
                  <a:ext uri="{FF2B5EF4-FFF2-40B4-BE49-F238E27FC236}">
                    <a16:creationId xmlns:a16="http://schemas.microsoft.com/office/drawing/2014/main" id="{8D983A37-1838-487A-A656-E7DD0843C05D}"/>
                  </a:ext>
                </a:extLst>
              </p:cNvPr>
              <p:cNvSpPr/>
              <p:nvPr/>
            </p:nvSpPr>
            <p:spPr>
              <a:xfrm>
                <a:off x="2213173" y="4725144"/>
                <a:ext cx="270595" cy="254366"/>
              </a:xfrm>
              <a:prstGeom prst="rect">
                <a:avLst/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ko-KR" sz="1000" b="1" dirty="0">
                    <a:solidFill>
                      <a:schemeClr val="bg1"/>
                    </a:solidFill>
                    <a:latin typeface="맑은 고딕" pitchFamily="50" charset="-127"/>
                    <a:ea typeface="맑은 고딕" pitchFamily="50" charset="-127"/>
                  </a:rPr>
                  <a:t>9%</a:t>
                </a:r>
                <a:endParaRPr lang="ko-KR" altLang="en-US" sz="10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</p:grpSp>
        <p:grpSp>
          <p:nvGrpSpPr>
            <p:cNvPr id="116" name="그룹 115">
              <a:extLst>
                <a:ext uri="{FF2B5EF4-FFF2-40B4-BE49-F238E27FC236}">
                  <a16:creationId xmlns:a16="http://schemas.microsoft.com/office/drawing/2014/main" id="{E9452DD6-1779-4C8D-BF9E-621BFE929D70}"/>
                </a:ext>
              </a:extLst>
            </p:cNvPr>
            <p:cNvGrpSpPr/>
            <p:nvPr/>
          </p:nvGrpSpPr>
          <p:grpSpPr>
            <a:xfrm>
              <a:off x="766046" y="3547722"/>
              <a:ext cx="703884" cy="216024"/>
              <a:chOff x="395536" y="4744315"/>
              <a:chExt cx="703884" cy="216024"/>
            </a:xfrm>
          </p:grpSpPr>
          <p:sp>
            <p:nvSpPr>
              <p:cNvPr id="117" name="직사각형 116">
                <a:extLst>
                  <a:ext uri="{FF2B5EF4-FFF2-40B4-BE49-F238E27FC236}">
                    <a16:creationId xmlns:a16="http://schemas.microsoft.com/office/drawing/2014/main" id="{CE38C945-7371-4D4E-9F85-1BDC5426E86E}"/>
                  </a:ext>
                </a:extLst>
              </p:cNvPr>
              <p:cNvSpPr/>
              <p:nvPr/>
            </p:nvSpPr>
            <p:spPr>
              <a:xfrm>
                <a:off x="395536" y="4781396"/>
                <a:ext cx="356537" cy="141862"/>
              </a:xfrm>
              <a:prstGeom prst="rect">
                <a:avLst/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ko-KR" altLang="en-US" sz="500" b="1" dirty="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맑은 고딕" pitchFamily="50" charset="-127"/>
                    <a:ea typeface="맑은 고딕" pitchFamily="50" charset="-127"/>
                  </a:rPr>
                  <a:t>한전</a:t>
                </a:r>
              </a:p>
            </p:txBody>
          </p:sp>
          <p:sp>
            <p:nvSpPr>
              <p:cNvPr id="118" name="직사각형 117">
                <a:extLst>
                  <a:ext uri="{FF2B5EF4-FFF2-40B4-BE49-F238E27FC236}">
                    <a16:creationId xmlns:a16="http://schemas.microsoft.com/office/drawing/2014/main" id="{2FFF6D7F-6812-4828-89ED-27AB3E94AE6A}"/>
                  </a:ext>
                </a:extLst>
              </p:cNvPr>
              <p:cNvSpPr/>
              <p:nvPr/>
            </p:nvSpPr>
            <p:spPr>
              <a:xfrm>
                <a:off x="755576" y="4744315"/>
                <a:ext cx="343844" cy="216024"/>
              </a:xfrm>
              <a:prstGeom prst="rect">
                <a:avLst/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ko-KR" sz="1000" b="1" dirty="0">
                    <a:solidFill>
                      <a:srgbClr val="FF0000"/>
                    </a:solidFill>
                    <a:latin typeface="맑은 고딕" pitchFamily="50" charset="-127"/>
                    <a:ea typeface="맑은 고딕" pitchFamily="50" charset="-127"/>
                  </a:rPr>
                  <a:t>81%</a:t>
                </a:r>
                <a:endParaRPr lang="ko-KR" altLang="en-US" sz="1000" b="1" dirty="0">
                  <a:solidFill>
                    <a:srgbClr val="FF0000"/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</p:grpSp>
      </p:grpSp>
      <p:grpSp>
        <p:nvGrpSpPr>
          <p:cNvPr id="123" name="그룹 122">
            <a:extLst>
              <a:ext uri="{FF2B5EF4-FFF2-40B4-BE49-F238E27FC236}">
                <a16:creationId xmlns:a16="http://schemas.microsoft.com/office/drawing/2014/main" id="{FB7626DC-0BE0-48BE-8733-EBFA8912AC7B}"/>
              </a:ext>
            </a:extLst>
          </p:cNvPr>
          <p:cNvGrpSpPr/>
          <p:nvPr/>
        </p:nvGrpSpPr>
        <p:grpSpPr>
          <a:xfrm>
            <a:off x="1210790" y="2810709"/>
            <a:ext cx="1673038" cy="254348"/>
            <a:chOff x="6419190" y="4725153"/>
            <a:chExt cx="1673038" cy="254348"/>
          </a:xfrm>
        </p:grpSpPr>
        <p:sp>
          <p:nvSpPr>
            <p:cNvPr id="124" name="직사각형 123">
              <a:extLst>
                <a:ext uri="{FF2B5EF4-FFF2-40B4-BE49-F238E27FC236}">
                  <a16:creationId xmlns:a16="http://schemas.microsoft.com/office/drawing/2014/main" id="{676CE03A-FB8B-4383-B3CB-14BB46D8F3EF}"/>
                </a:ext>
              </a:extLst>
            </p:cNvPr>
            <p:cNvSpPr/>
            <p:nvPr/>
          </p:nvSpPr>
          <p:spPr>
            <a:xfrm>
              <a:off x="7139098" y="4776288"/>
              <a:ext cx="390541" cy="182339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150000"/>
                </a:lnSpc>
              </a:pPr>
              <a:r>
                <a:rPr lang="ko-KR" altLang="en-US" sz="500" b="1" dirty="0">
                  <a:solidFill>
                    <a:schemeClr val="accent6">
                      <a:lumMod val="75000"/>
                    </a:schemeClr>
                  </a:solidFill>
                  <a:latin typeface="맑은 고딕" pitchFamily="50" charset="-127"/>
                  <a:ea typeface="맑은 고딕" pitchFamily="50" charset="-127"/>
                </a:rPr>
                <a:t>현재 사용량</a:t>
              </a:r>
            </a:p>
          </p:txBody>
        </p:sp>
        <p:sp>
          <p:nvSpPr>
            <p:cNvPr id="125" name="직사각형 124">
              <a:extLst>
                <a:ext uri="{FF2B5EF4-FFF2-40B4-BE49-F238E27FC236}">
                  <a16:creationId xmlns:a16="http://schemas.microsoft.com/office/drawing/2014/main" id="{071A8EE2-4490-4B99-942C-0FB01425840E}"/>
                </a:ext>
              </a:extLst>
            </p:cNvPr>
            <p:cNvSpPr/>
            <p:nvPr/>
          </p:nvSpPr>
          <p:spPr>
            <a:xfrm>
              <a:off x="7494198" y="4725153"/>
              <a:ext cx="462178" cy="254348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900</a:t>
              </a:r>
              <a:endParaRPr lang="ko-KR" altLang="en-US" sz="14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26" name="직사각형 125">
              <a:extLst>
                <a:ext uri="{FF2B5EF4-FFF2-40B4-BE49-F238E27FC236}">
                  <a16:creationId xmlns:a16="http://schemas.microsoft.com/office/drawing/2014/main" id="{C4922241-0799-457E-A331-584B25A20B3C}"/>
                </a:ext>
              </a:extLst>
            </p:cNvPr>
            <p:cNvSpPr/>
            <p:nvPr/>
          </p:nvSpPr>
          <p:spPr>
            <a:xfrm>
              <a:off x="7876204" y="4795451"/>
              <a:ext cx="216024" cy="144013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 anchorCtr="0"/>
            <a:lstStyle/>
            <a:p>
              <a:pPr algn="ctr">
                <a:lnSpc>
                  <a:spcPct val="150000"/>
                </a:lnSpc>
              </a:pPr>
              <a:r>
                <a:rPr lang="en-US" altLang="ko-KR" sz="500" b="1" dirty="0">
                  <a:solidFill>
                    <a:schemeClr val="accent6">
                      <a:lumMod val="75000"/>
                    </a:schemeClr>
                  </a:solidFill>
                  <a:latin typeface="맑은 고딕" pitchFamily="50" charset="-127"/>
                  <a:ea typeface="맑은 고딕" pitchFamily="50" charset="-127"/>
                </a:rPr>
                <a:t>kWh</a:t>
              </a:r>
              <a:endParaRPr lang="ko-KR" altLang="en-US" sz="500" b="1" dirty="0">
                <a:solidFill>
                  <a:schemeClr val="accent6">
                    <a:lumMod val="75000"/>
                  </a:schemeClr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27" name="직사각형 126">
              <a:extLst>
                <a:ext uri="{FF2B5EF4-FFF2-40B4-BE49-F238E27FC236}">
                  <a16:creationId xmlns:a16="http://schemas.microsoft.com/office/drawing/2014/main" id="{4769895E-4040-40AE-A7F6-FC257D000FAC}"/>
                </a:ext>
              </a:extLst>
            </p:cNvPr>
            <p:cNvSpPr/>
            <p:nvPr/>
          </p:nvSpPr>
          <p:spPr>
            <a:xfrm>
              <a:off x="6419190" y="4775713"/>
              <a:ext cx="725954" cy="18235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altLang="ko-KR" sz="500" b="1" dirty="0">
                  <a:solidFill>
                    <a:schemeClr val="accent6">
                      <a:lumMod val="75000"/>
                    </a:schemeClr>
                  </a:solidFill>
                  <a:latin typeface="맑은 고딕" pitchFamily="50" charset="-127"/>
                  <a:ea typeface="맑은 고딕" pitchFamily="50" charset="-127"/>
                </a:rPr>
                <a:t>YYYY-MM-DD hh:mm</a:t>
              </a:r>
              <a:endParaRPr lang="ko-KR" altLang="en-US" sz="500" b="1" dirty="0">
                <a:solidFill>
                  <a:schemeClr val="accent6">
                    <a:lumMod val="75000"/>
                  </a:schemeClr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grpSp>
        <p:nvGrpSpPr>
          <p:cNvPr id="128" name="그룹 127">
            <a:extLst>
              <a:ext uri="{FF2B5EF4-FFF2-40B4-BE49-F238E27FC236}">
                <a16:creationId xmlns:a16="http://schemas.microsoft.com/office/drawing/2014/main" id="{CF1D8DCD-6519-44D7-B38C-89402B2513C3}"/>
              </a:ext>
            </a:extLst>
          </p:cNvPr>
          <p:cNvGrpSpPr/>
          <p:nvPr/>
        </p:nvGrpSpPr>
        <p:grpSpPr>
          <a:xfrm>
            <a:off x="7354339" y="1196752"/>
            <a:ext cx="943186" cy="181080"/>
            <a:chOff x="5772819" y="420208"/>
            <a:chExt cx="943186" cy="207079"/>
          </a:xfrm>
        </p:grpSpPr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038B6921-08F5-4E82-B777-2D4B4369B4D5}"/>
                </a:ext>
              </a:extLst>
            </p:cNvPr>
            <p:cNvSpPr txBox="1"/>
            <p:nvPr/>
          </p:nvSpPr>
          <p:spPr>
            <a:xfrm>
              <a:off x="5772819" y="420208"/>
              <a:ext cx="943186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7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군관리로 돌아가기</a:t>
              </a:r>
            </a:p>
          </p:txBody>
        </p:sp>
        <p:sp>
          <p:nvSpPr>
            <p:cNvPr id="130" name="사각형: 둥근 모서리 129">
              <a:extLst>
                <a:ext uri="{FF2B5EF4-FFF2-40B4-BE49-F238E27FC236}">
                  <a16:creationId xmlns:a16="http://schemas.microsoft.com/office/drawing/2014/main" id="{EDF61E98-2544-4850-8CFA-B38B7C8E24CB}"/>
                </a:ext>
              </a:extLst>
            </p:cNvPr>
            <p:cNvSpPr/>
            <p:nvPr/>
          </p:nvSpPr>
          <p:spPr>
            <a:xfrm>
              <a:off x="5797598" y="454187"/>
              <a:ext cx="893629" cy="173100"/>
            </a:xfrm>
            <a:prstGeom prst="roundRect">
              <a:avLst/>
            </a:prstGeom>
            <a:noFill/>
            <a:ln w="127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131" name="말풍선: 사각형 130">
            <a:extLst>
              <a:ext uri="{FF2B5EF4-FFF2-40B4-BE49-F238E27FC236}">
                <a16:creationId xmlns:a16="http://schemas.microsoft.com/office/drawing/2014/main" id="{1F4A2584-477E-4D99-8B50-A7F8FE7F69D4}"/>
              </a:ext>
            </a:extLst>
          </p:cNvPr>
          <p:cNvSpPr/>
          <p:nvPr/>
        </p:nvSpPr>
        <p:spPr>
          <a:xfrm>
            <a:off x="4571710" y="2498451"/>
            <a:ext cx="615731" cy="360039"/>
          </a:xfrm>
          <a:prstGeom prst="wedgeRectCallout">
            <a:avLst>
              <a:gd name="adj1" fmla="val -30620"/>
              <a:gd name="adj2" fmla="val 109426"/>
            </a:avLst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2018.03.05</a:t>
            </a:r>
          </a:p>
          <a:p>
            <a:pPr algn="ctr"/>
            <a:r>
              <a:rPr lang="en-US" altLang="ko-KR" sz="6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03:15:00</a:t>
            </a:r>
          </a:p>
          <a:p>
            <a:pPr algn="ctr"/>
            <a:r>
              <a:rPr lang="en-US" altLang="ko-KR" sz="600" b="1" dirty="0">
                <a:solidFill>
                  <a:srgbClr val="FF0000"/>
                </a:solidFill>
              </a:rPr>
              <a:t>210 kW</a:t>
            </a:r>
            <a:endParaRPr lang="ko-KR" altLang="en-US" sz="600" b="1" dirty="0">
              <a:solidFill>
                <a:srgbClr val="FF0000"/>
              </a:solidFill>
            </a:endParaRPr>
          </a:p>
        </p:txBody>
      </p:sp>
      <p:sp>
        <p:nvSpPr>
          <p:cNvPr id="132" name="사각형: 둥근 모서리 131">
            <a:extLst>
              <a:ext uri="{FF2B5EF4-FFF2-40B4-BE49-F238E27FC236}">
                <a16:creationId xmlns:a16="http://schemas.microsoft.com/office/drawing/2014/main" id="{90B9AB95-17F4-4035-B5AC-1342E5A3C398}"/>
              </a:ext>
            </a:extLst>
          </p:cNvPr>
          <p:cNvSpPr/>
          <p:nvPr/>
        </p:nvSpPr>
        <p:spPr>
          <a:xfrm>
            <a:off x="3073112" y="4138270"/>
            <a:ext cx="599739" cy="307364"/>
          </a:xfrm>
          <a:prstGeom prst="roundRect">
            <a:avLst/>
          </a:prstGeom>
          <a:solidFill>
            <a:schemeClr val="tx2">
              <a:lumMod val="60000"/>
              <a:lumOff val="40000"/>
            </a:schemeClr>
          </a:solidFill>
          <a:ln w="19050">
            <a:solidFill>
              <a:srgbClr val="92D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3" name="사각형: 둥근 모서리 132">
            <a:extLst>
              <a:ext uri="{FF2B5EF4-FFF2-40B4-BE49-F238E27FC236}">
                <a16:creationId xmlns:a16="http://schemas.microsoft.com/office/drawing/2014/main" id="{E629848E-07A0-4734-88F3-EA2E6E887EFF}"/>
              </a:ext>
            </a:extLst>
          </p:cNvPr>
          <p:cNvSpPr/>
          <p:nvPr/>
        </p:nvSpPr>
        <p:spPr>
          <a:xfrm>
            <a:off x="3723621" y="4145558"/>
            <a:ext cx="599739" cy="292788"/>
          </a:xfrm>
          <a:prstGeom prst="roundRect">
            <a:avLst/>
          </a:prstGeom>
          <a:solidFill>
            <a:schemeClr val="tx2">
              <a:lumMod val="60000"/>
              <a:lumOff val="40000"/>
            </a:schemeClr>
          </a:solidFill>
          <a:ln w="19050">
            <a:solidFill>
              <a:srgbClr val="92D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4" name="사각형: 둥근 모서리 133">
            <a:extLst>
              <a:ext uri="{FF2B5EF4-FFF2-40B4-BE49-F238E27FC236}">
                <a16:creationId xmlns:a16="http://schemas.microsoft.com/office/drawing/2014/main" id="{0746F83A-1DDC-4D37-A469-D684FB61CA74}"/>
              </a:ext>
            </a:extLst>
          </p:cNvPr>
          <p:cNvSpPr/>
          <p:nvPr/>
        </p:nvSpPr>
        <p:spPr>
          <a:xfrm>
            <a:off x="4374130" y="4138270"/>
            <a:ext cx="599739" cy="307364"/>
          </a:xfrm>
          <a:prstGeom prst="roundRect">
            <a:avLst/>
          </a:prstGeom>
          <a:solidFill>
            <a:schemeClr val="accent3"/>
          </a:solidFill>
          <a:ln w="19050">
            <a:solidFill>
              <a:srgbClr val="92D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5" name="사각형: 둥근 모서리 134">
            <a:extLst>
              <a:ext uri="{FF2B5EF4-FFF2-40B4-BE49-F238E27FC236}">
                <a16:creationId xmlns:a16="http://schemas.microsoft.com/office/drawing/2014/main" id="{F5B3B89A-3054-4ADF-86AA-452CC5FF720D}"/>
              </a:ext>
            </a:extLst>
          </p:cNvPr>
          <p:cNvSpPr/>
          <p:nvPr/>
        </p:nvSpPr>
        <p:spPr>
          <a:xfrm>
            <a:off x="5024639" y="4138270"/>
            <a:ext cx="599739" cy="307364"/>
          </a:xfrm>
          <a:prstGeom prst="roundRect">
            <a:avLst/>
          </a:prstGeom>
          <a:solidFill>
            <a:schemeClr val="accent3"/>
          </a:solidFill>
          <a:ln w="19050">
            <a:solidFill>
              <a:srgbClr val="92D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6" name="사각형: 둥근 모서리 135">
            <a:extLst>
              <a:ext uri="{FF2B5EF4-FFF2-40B4-BE49-F238E27FC236}">
                <a16:creationId xmlns:a16="http://schemas.microsoft.com/office/drawing/2014/main" id="{41BAA6F0-79D1-4676-8896-19BC5BBBB238}"/>
              </a:ext>
            </a:extLst>
          </p:cNvPr>
          <p:cNvSpPr/>
          <p:nvPr/>
        </p:nvSpPr>
        <p:spPr>
          <a:xfrm>
            <a:off x="3073112" y="4478797"/>
            <a:ext cx="599739" cy="307364"/>
          </a:xfrm>
          <a:prstGeom prst="roundRect">
            <a:avLst/>
          </a:prstGeom>
          <a:solidFill>
            <a:schemeClr val="accent4">
              <a:lumMod val="75000"/>
            </a:schemeClr>
          </a:solidFill>
          <a:ln w="19050">
            <a:solidFill>
              <a:srgbClr val="92D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7" name="사각형: 둥근 모서리 136">
            <a:extLst>
              <a:ext uri="{FF2B5EF4-FFF2-40B4-BE49-F238E27FC236}">
                <a16:creationId xmlns:a16="http://schemas.microsoft.com/office/drawing/2014/main" id="{8A7F9969-F7A2-4960-A4B3-B33E2AF8FA44}"/>
              </a:ext>
            </a:extLst>
          </p:cNvPr>
          <p:cNvSpPr/>
          <p:nvPr/>
        </p:nvSpPr>
        <p:spPr>
          <a:xfrm>
            <a:off x="3723621" y="4478797"/>
            <a:ext cx="599739" cy="307364"/>
          </a:xfrm>
          <a:prstGeom prst="roundRect">
            <a:avLst/>
          </a:prstGeom>
          <a:solidFill>
            <a:schemeClr val="accent4">
              <a:lumMod val="75000"/>
            </a:schemeClr>
          </a:solidFill>
          <a:ln w="19050">
            <a:solidFill>
              <a:srgbClr val="92D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8" name="사각형: 둥근 모서리 137">
            <a:extLst>
              <a:ext uri="{FF2B5EF4-FFF2-40B4-BE49-F238E27FC236}">
                <a16:creationId xmlns:a16="http://schemas.microsoft.com/office/drawing/2014/main" id="{2AC3D3A0-8D1D-45D6-BB76-49B845C7F76C}"/>
              </a:ext>
            </a:extLst>
          </p:cNvPr>
          <p:cNvSpPr/>
          <p:nvPr/>
        </p:nvSpPr>
        <p:spPr>
          <a:xfrm>
            <a:off x="4374130" y="4478797"/>
            <a:ext cx="599739" cy="307364"/>
          </a:xfrm>
          <a:prstGeom prst="roundRect">
            <a:avLst/>
          </a:prstGeom>
          <a:solidFill>
            <a:schemeClr val="accent4">
              <a:lumMod val="75000"/>
            </a:schemeClr>
          </a:solidFill>
          <a:ln w="19050">
            <a:solidFill>
              <a:srgbClr val="92D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사각형: 둥근 모서리 138">
            <a:extLst>
              <a:ext uri="{FF2B5EF4-FFF2-40B4-BE49-F238E27FC236}">
                <a16:creationId xmlns:a16="http://schemas.microsoft.com/office/drawing/2014/main" id="{2D4023E6-BFA8-420B-BF10-34E5DCCA2BEE}"/>
              </a:ext>
            </a:extLst>
          </p:cNvPr>
          <p:cNvSpPr/>
          <p:nvPr/>
        </p:nvSpPr>
        <p:spPr>
          <a:xfrm>
            <a:off x="5024639" y="4478797"/>
            <a:ext cx="599739" cy="307364"/>
          </a:xfrm>
          <a:prstGeom prst="roundRect">
            <a:avLst/>
          </a:prstGeom>
          <a:solidFill>
            <a:schemeClr val="bg1">
              <a:lumMod val="50000"/>
            </a:schemeClr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8181A669-3BC5-4774-AD11-6550AE97E8B8}"/>
              </a:ext>
            </a:extLst>
          </p:cNvPr>
          <p:cNvSpPr txBox="1"/>
          <p:nvPr/>
        </p:nvSpPr>
        <p:spPr>
          <a:xfrm>
            <a:off x="3018000" y="4105367"/>
            <a:ext cx="418353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600" dirty="0">
                <a:solidFill>
                  <a:schemeClr val="bg1"/>
                </a:solidFill>
              </a:rPr>
              <a:t>PCS_1</a:t>
            </a:r>
            <a:endParaRPr lang="ko-KR" altLang="en-US" sz="600" dirty="0">
              <a:solidFill>
                <a:schemeClr val="bg1"/>
              </a:solidFill>
            </a:endParaRPr>
          </a:p>
        </p:txBody>
      </p:sp>
      <p:sp>
        <p:nvSpPr>
          <p:cNvPr id="141" name="TextBox 140">
            <a:extLst>
              <a:ext uri="{FF2B5EF4-FFF2-40B4-BE49-F238E27FC236}">
                <a16:creationId xmlns:a16="http://schemas.microsoft.com/office/drawing/2014/main" id="{72D79BBC-EA2B-4585-B975-87492F99092E}"/>
              </a:ext>
            </a:extLst>
          </p:cNvPr>
          <p:cNvSpPr txBox="1"/>
          <p:nvPr/>
        </p:nvSpPr>
        <p:spPr>
          <a:xfrm>
            <a:off x="3180791" y="4218984"/>
            <a:ext cx="598614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</a:rPr>
              <a:t>458.3 kWh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142" name="TextBox 141">
            <a:extLst>
              <a:ext uri="{FF2B5EF4-FFF2-40B4-BE49-F238E27FC236}">
                <a16:creationId xmlns:a16="http://schemas.microsoft.com/office/drawing/2014/main" id="{C77703D0-D0C7-46A4-9C26-B19BDEBFE043}"/>
              </a:ext>
            </a:extLst>
          </p:cNvPr>
          <p:cNvSpPr txBox="1"/>
          <p:nvPr/>
        </p:nvSpPr>
        <p:spPr>
          <a:xfrm>
            <a:off x="3179049" y="4305768"/>
            <a:ext cx="598614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</a:rPr>
              <a:t>458.3 kWh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143" name="TextBox 142">
            <a:extLst>
              <a:ext uri="{FF2B5EF4-FFF2-40B4-BE49-F238E27FC236}">
                <a16:creationId xmlns:a16="http://schemas.microsoft.com/office/drawing/2014/main" id="{F466CF74-8CA8-4605-B29C-1A90B21C9311}"/>
              </a:ext>
            </a:extLst>
          </p:cNvPr>
          <p:cNvSpPr txBox="1"/>
          <p:nvPr/>
        </p:nvSpPr>
        <p:spPr>
          <a:xfrm>
            <a:off x="2980670" y="4217298"/>
            <a:ext cx="468850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500" dirty="0" err="1">
                <a:solidFill>
                  <a:schemeClr val="bg1"/>
                </a:solidFill>
              </a:rPr>
              <a:t>충전량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144" name="TextBox 143">
            <a:extLst>
              <a:ext uri="{FF2B5EF4-FFF2-40B4-BE49-F238E27FC236}">
                <a16:creationId xmlns:a16="http://schemas.microsoft.com/office/drawing/2014/main" id="{7D963E90-8F15-4588-80B4-400D17E55314}"/>
              </a:ext>
            </a:extLst>
          </p:cNvPr>
          <p:cNvSpPr txBox="1"/>
          <p:nvPr/>
        </p:nvSpPr>
        <p:spPr>
          <a:xfrm>
            <a:off x="2975456" y="4307743"/>
            <a:ext cx="468850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500" dirty="0" err="1">
                <a:solidFill>
                  <a:schemeClr val="bg1"/>
                </a:solidFill>
              </a:rPr>
              <a:t>방전량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145" name="TextBox 144">
            <a:extLst>
              <a:ext uri="{FF2B5EF4-FFF2-40B4-BE49-F238E27FC236}">
                <a16:creationId xmlns:a16="http://schemas.microsoft.com/office/drawing/2014/main" id="{D0A6385F-2C74-4BD7-B8E1-080D573446F0}"/>
              </a:ext>
            </a:extLst>
          </p:cNvPr>
          <p:cNvSpPr txBox="1"/>
          <p:nvPr/>
        </p:nvSpPr>
        <p:spPr>
          <a:xfrm>
            <a:off x="3829581" y="4214743"/>
            <a:ext cx="598614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</a:rPr>
              <a:t>458.3 kWh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146" name="TextBox 145">
            <a:extLst>
              <a:ext uri="{FF2B5EF4-FFF2-40B4-BE49-F238E27FC236}">
                <a16:creationId xmlns:a16="http://schemas.microsoft.com/office/drawing/2014/main" id="{6AE199BD-2A66-4043-9C23-29140A2289FD}"/>
              </a:ext>
            </a:extLst>
          </p:cNvPr>
          <p:cNvSpPr txBox="1"/>
          <p:nvPr/>
        </p:nvSpPr>
        <p:spPr>
          <a:xfrm>
            <a:off x="3827839" y="4301527"/>
            <a:ext cx="598614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</a:rPr>
              <a:t>458.3 kWh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147" name="TextBox 146">
            <a:extLst>
              <a:ext uri="{FF2B5EF4-FFF2-40B4-BE49-F238E27FC236}">
                <a16:creationId xmlns:a16="http://schemas.microsoft.com/office/drawing/2014/main" id="{AE696A1F-5E0A-4AD0-8515-A223D75ECB6C}"/>
              </a:ext>
            </a:extLst>
          </p:cNvPr>
          <p:cNvSpPr txBox="1"/>
          <p:nvPr/>
        </p:nvSpPr>
        <p:spPr>
          <a:xfrm>
            <a:off x="3629460" y="4204329"/>
            <a:ext cx="468850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500" dirty="0" err="1">
                <a:solidFill>
                  <a:schemeClr val="bg1"/>
                </a:solidFill>
              </a:rPr>
              <a:t>충전량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148" name="TextBox 147">
            <a:extLst>
              <a:ext uri="{FF2B5EF4-FFF2-40B4-BE49-F238E27FC236}">
                <a16:creationId xmlns:a16="http://schemas.microsoft.com/office/drawing/2014/main" id="{659C2E1D-7769-4DB4-B98E-27F31F7C039D}"/>
              </a:ext>
            </a:extLst>
          </p:cNvPr>
          <p:cNvSpPr txBox="1"/>
          <p:nvPr/>
        </p:nvSpPr>
        <p:spPr>
          <a:xfrm>
            <a:off x="3624246" y="4306434"/>
            <a:ext cx="468850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500" dirty="0" err="1">
                <a:solidFill>
                  <a:schemeClr val="bg1"/>
                </a:solidFill>
              </a:rPr>
              <a:t>방전량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149" name="TextBox 148">
            <a:extLst>
              <a:ext uri="{FF2B5EF4-FFF2-40B4-BE49-F238E27FC236}">
                <a16:creationId xmlns:a16="http://schemas.microsoft.com/office/drawing/2014/main" id="{80AD5206-EE5E-4369-9D34-D1C6C45DB806}"/>
              </a:ext>
            </a:extLst>
          </p:cNvPr>
          <p:cNvSpPr txBox="1"/>
          <p:nvPr/>
        </p:nvSpPr>
        <p:spPr>
          <a:xfrm>
            <a:off x="3674559" y="4115684"/>
            <a:ext cx="418353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600" dirty="0">
                <a:solidFill>
                  <a:schemeClr val="bg1"/>
                </a:solidFill>
              </a:rPr>
              <a:t>PCS_2</a:t>
            </a:r>
            <a:endParaRPr lang="ko-KR" altLang="en-US" sz="600" dirty="0">
              <a:solidFill>
                <a:schemeClr val="bg1"/>
              </a:solidFill>
            </a:endParaRPr>
          </a:p>
        </p:txBody>
      </p:sp>
      <p:grpSp>
        <p:nvGrpSpPr>
          <p:cNvPr id="150" name="그룹 149">
            <a:extLst>
              <a:ext uri="{FF2B5EF4-FFF2-40B4-BE49-F238E27FC236}">
                <a16:creationId xmlns:a16="http://schemas.microsoft.com/office/drawing/2014/main" id="{3A56B298-C36B-4FC9-B4D9-7E7A014D4B02}"/>
              </a:ext>
            </a:extLst>
          </p:cNvPr>
          <p:cNvGrpSpPr/>
          <p:nvPr/>
        </p:nvGrpSpPr>
        <p:grpSpPr>
          <a:xfrm>
            <a:off x="4271903" y="4105535"/>
            <a:ext cx="805559" cy="374585"/>
            <a:chOff x="4135417" y="5220442"/>
            <a:chExt cx="805559" cy="374585"/>
          </a:xfrm>
        </p:grpSpPr>
        <p:sp>
          <p:nvSpPr>
            <p:cNvPr id="151" name="TextBox 150">
              <a:extLst>
                <a:ext uri="{FF2B5EF4-FFF2-40B4-BE49-F238E27FC236}">
                  <a16:creationId xmlns:a16="http://schemas.microsoft.com/office/drawing/2014/main" id="{EC690CCE-429F-4C2A-B270-1F29C65220B0}"/>
                </a:ext>
              </a:extLst>
            </p:cNvPr>
            <p:cNvSpPr txBox="1"/>
            <p:nvPr/>
          </p:nvSpPr>
          <p:spPr>
            <a:xfrm>
              <a:off x="4179571" y="5220442"/>
              <a:ext cx="41835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600" dirty="0">
                  <a:solidFill>
                    <a:schemeClr val="bg1"/>
                  </a:solidFill>
                </a:rPr>
                <a:t>BMS_1</a:t>
              </a:r>
              <a:endParaRPr lang="ko-KR" altLang="en-US" sz="600" dirty="0">
                <a:solidFill>
                  <a:schemeClr val="bg1"/>
                </a:solidFill>
              </a:endParaRPr>
            </a:p>
          </p:txBody>
        </p:sp>
        <p:sp>
          <p:nvSpPr>
            <p:cNvPr id="152" name="TextBox 151">
              <a:extLst>
                <a:ext uri="{FF2B5EF4-FFF2-40B4-BE49-F238E27FC236}">
                  <a16:creationId xmlns:a16="http://schemas.microsoft.com/office/drawing/2014/main" id="{0B6BE3D5-2AFC-48EF-9C42-B2AB5CA57F40}"/>
                </a:ext>
              </a:extLst>
            </p:cNvPr>
            <p:cNvSpPr txBox="1"/>
            <p:nvPr/>
          </p:nvSpPr>
          <p:spPr>
            <a:xfrm>
              <a:off x="4342362" y="5334059"/>
              <a:ext cx="59861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500" dirty="0">
                  <a:solidFill>
                    <a:schemeClr val="bg1"/>
                  </a:solidFill>
                </a:rPr>
                <a:t>680.000 V</a:t>
              </a:r>
              <a:endParaRPr lang="ko-KR" altLang="en-US" sz="500" dirty="0">
                <a:solidFill>
                  <a:schemeClr val="bg1"/>
                </a:solidFill>
              </a:endParaRPr>
            </a:p>
          </p:txBody>
        </p:sp>
        <p:sp>
          <p:nvSpPr>
            <p:cNvPr id="153" name="TextBox 152">
              <a:extLst>
                <a:ext uri="{FF2B5EF4-FFF2-40B4-BE49-F238E27FC236}">
                  <a16:creationId xmlns:a16="http://schemas.microsoft.com/office/drawing/2014/main" id="{E65B4815-0C9A-4596-8E7F-87AE78C524CE}"/>
                </a:ext>
              </a:extLst>
            </p:cNvPr>
            <p:cNvSpPr txBox="1"/>
            <p:nvPr/>
          </p:nvSpPr>
          <p:spPr>
            <a:xfrm>
              <a:off x="4340620" y="5420843"/>
              <a:ext cx="59861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500" dirty="0">
                  <a:solidFill>
                    <a:schemeClr val="bg1"/>
                  </a:solidFill>
                </a:rPr>
                <a:t>0.000 V</a:t>
              </a:r>
              <a:endParaRPr lang="ko-KR" altLang="en-US" sz="500" dirty="0">
                <a:solidFill>
                  <a:schemeClr val="bg1"/>
                </a:solidFill>
              </a:endParaRPr>
            </a:p>
          </p:txBody>
        </p:sp>
        <p:sp>
          <p:nvSpPr>
            <p:cNvPr id="154" name="TextBox 153">
              <a:extLst>
                <a:ext uri="{FF2B5EF4-FFF2-40B4-BE49-F238E27FC236}">
                  <a16:creationId xmlns:a16="http://schemas.microsoft.com/office/drawing/2014/main" id="{B6A1C69B-CC94-4B5A-9BF5-A420EAA590C0}"/>
                </a:ext>
              </a:extLst>
            </p:cNvPr>
            <p:cNvSpPr txBox="1"/>
            <p:nvPr/>
          </p:nvSpPr>
          <p:spPr>
            <a:xfrm>
              <a:off x="4135417" y="5323645"/>
              <a:ext cx="46885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500">
                  <a:solidFill>
                    <a:schemeClr val="bg1"/>
                  </a:solidFill>
                </a:rPr>
                <a:t>전압</a:t>
              </a:r>
              <a:endParaRPr lang="ko-KR" altLang="en-US" sz="500" dirty="0">
                <a:solidFill>
                  <a:schemeClr val="bg1"/>
                </a:solidFill>
              </a:endParaRPr>
            </a:p>
          </p:txBody>
        </p:sp>
        <p:sp>
          <p:nvSpPr>
            <p:cNvPr id="155" name="TextBox 154">
              <a:extLst>
                <a:ext uri="{FF2B5EF4-FFF2-40B4-BE49-F238E27FC236}">
                  <a16:creationId xmlns:a16="http://schemas.microsoft.com/office/drawing/2014/main" id="{C4D4A4A4-E86C-4B7D-A014-C063D2B4302A}"/>
                </a:ext>
              </a:extLst>
            </p:cNvPr>
            <p:cNvSpPr txBox="1"/>
            <p:nvPr/>
          </p:nvSpPr>
          <p:spPr>
            <a:xfrm>
              <a:off x="4137027" y="5425750"/>
              <a:ext cx="46885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500" dirty="0">
                  <a:solidFill>
                    <a:schemeClr val="bg1"/>
                  </a:solidFill>
                </a:rPr>
                <a:t>전류</a:t>
              </a:r>
            </a:p>
          </p:txBody>
        </p:sp>
      </p:grpSp>
      <p:grpSp>
        <p:nvGrpSpPr>
          <p:cNvPr id="156" name="그룹 155">
            <a:extLst>
              <a:ext uri="{FF2B5EF4-FFF2-40B4-BE49-F238E27FC236}">
                <a16:creationId xmlns:a16="http://schemas.microsoft.com/office/drawing/2014/main" id="{AAC1DAA0-5BE5-4009-99E0-E7250B030DE5}"/>
              </a:ext>
            </a:extLst>
          </p:cNvPr>
          <p:cNvGrpSpPr/>
          <p:nvPr/>
        </p:nvGrpSpPr>
        <p:grpSpPr>
          <a:xfrm>
            <a:off x="4928848" y="4105535"/>
            <a:ext cx="805559" cy="374585"/>
            <a:chOff x="4135417" y="5220442"/>
            <a:chExt cx="805559" cy="374585"/>
          </a:xfrm>
        </p:grpSpPr>
        <p:sp>
          <p:nvSpPr>
            <p:cNvPr id="157" name="TextBox 156">
              <a:extLst>
                <a:ext uri="{FF2B5EF4-FFF2-40B4-BE49-F238E27FC236}">
                  <a16:creationId xmlns:a16="http://schemas.microsoft.com/office/drawing/2014/main" id="{62FA9600-1469-4BC5-889F-0C97A12704F4}"/>
                </a:ext>
              </a:extLst>
            </p:cNvPr>
            <p:cNvSpPr txBox="1"/>
            <p:nvPr/>
          </p:nvSpPr>
          <p:spPr>
            <a:xfrm>
              <a:off x="4179571" y="5220442"/>
              <a:ext cx="41835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600" dirty="0">
                  <a:solidFill>
                    <a:schemeClr val="bg1"/>
                  </a:solidFill>
                </a:rPr>
                <a:t>BMS_2</a:t>
              </a:r>
              <a:endParaRPr lang="ko-KR" altLang="en-US" sz="600" dirty="0">
                <a:solidFill>
                  <a:schemeClr val="bg1"/>
                </a:solidFill>
              </a:endParaRPr>
            </a:p>
          </p:txBody>
        </p:sp>
        <p:sp>
          <p:nvSpPr>
            <p:cNvPr id="158" name="TextBox 157">
              <a:extLst>
                <a:ext uri="{FF2B5EF4-FFF2-40B4-BE49-F238E27FC236}">
                  <a16:creationId xmlns:a16="http://schemas.microsoft.com/office/drawing/2014/main" id="{B0573636-5F6F-4B5D-A43E-30AC002AFB54}"/>
                </a:ext>
              </a:extLst>
            </p:cNvPr>
            <p:cNvSpPr txBox="1"/>
            <p:nvPr/>
          </p:nvSpPr>
          <p:spPr>
            <a:xfrm>
              <a:off x="4342362" y="5334059"/>
              <a:ext cx="59861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500" dirty="0">
                  <a:solidFill>
                    <a:schemeClr val="bg1"/>
                  </a:solidFill>
                </a:rPr>
                <a:t>680.000 V</a:t>
              </a:r>
              <a:endParaRPr lang="ko-KR" altLang="en-US" sz="500" dirty="0">
                <a:solidFill>
                  <a:schemeClr val="bg1"/>
                </a:solidFill>
              </a:endParaRPr>
            </a:p>
          </p:txBody>
        </p:sp>
        <p:sp>
          <p:nvSpPr>
            <p:cNvPr id="159" name="TextBox 158">
              <a:extLst>
                <a:ext uri="{FF2B5EF4-FFF2-40B4-BE49-F238E27FC236}">
                  <a16:creationId xmlns:a16="http://schemas.microsoft.com/office/drawing/2014/main" id="{C91C3ADA-03EF-471D-8D5E-97B3BEE1230C}"/>
                </a:ext>
              </a:extLst>
            </p:cNvPr>
            <p:cNvSpPr txBox="1"/>
            <p:nvPr/>
          </p:nvSpPr>
          <p:spPr>
            <a:xfrm>
              <a:off x="4340620" y="5420843"/>
              <a:ext cx="59861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500" dirty="0">
                  <a:solidFill>
                    <a:schemeClr val="bg1"/>
                  </a:solidFill>
                </a:rPr>
                <a:t>0.000 V</a:t>
              </a:r>
              <a:endParaRPr lang="ko-KR" altLang="en-US" sz="500" dirty="0">
                <a:solidFill>
                  <a:schemeClr val="bg1"/>
                </a:solidFill>
              </a:endParaRPr>
            </a:p>
          </p:txBody>
        </p:sp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80435AC8-4ED7-475A-AA8E-0E04E801E2E1}"/>
                </a:ext>
              </a:extLst>
            </p:cNvPr>
            <p:cNvSpPr txBox="1"/>
            <p:nvPr/>
          </p:nvSpPr>
          <p:spPr>
            <a:xfrm>
              <a:off x="4135417" y="5323645"/>
              <a:ext cx="46885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500">
                  <a:solidFill>
                    <a:schemeClr val="bg1"/>
                  </a:solidFill>
                </a:rPr>
                <a:t>전압</a:t>
              </a:r>
              <a:endParaRPr lang="ko-KR" altLang="en-US" sz="500" dirty="0">
                <a:solidFill>
                  <a:schemeClr val="bg1"/>
                </a:solidFill>
              </a:endParaRPr>
            </a:p>
          </p:txBody>
        </p:sp>
        <p:sp>
          <p:nvSpPr>
            <p:cNvPr id="161" name="TextBox 160">
              <a:extLst>
                <a:ext uri="{FF2B5EF4-FFF2-40B4-BE49-F238E27FC236}">
                  <a16:creationId xmlns:a16="http://schemas.microsoft.com/office/drawing/2014/main" id="{CC7249A9-517A-4B4A-ABB6-2E81BCF77830}"/>
                </a:ext>
              </a:extLst>
            </p:cNvPr>
            <p:cNvSpPr txBox="1"/>
            <p:nvPr/>
          </p:nvSpPr>
          <p:spPr>
            <a:xfrm>
              <a:off x="4137027" y="5425750"/>
              <a:ext cx="46885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500" dirty="0">
                  <a:solidFill>
                    <a:schemeClr val="bg1"/>
                  </a:solidFill>
                </a:rPr>
                <a:t>전류</a:t>
              </a:r>
            </a:p>
          </p:txBody>
        </p:sp>
      </p:grpSp>
      <p:grpSp>
        <p:nvGrpSpPr>
          <p:cNvPr id="162" name="그룹 161">
            <a:extLst>
              <a:ext uri="{FF2B5EF4-FFF2-40B4-BE49-F238E27FC236}">
                <a16:creationId xmlns:a16="http://schemas.microsoft.com/office/drawing/2014/main" id="{B1AEFCF0-0453-4ADD-AC0E-FADB62085339}"/>
              </a:ext>
            </a:extLst>
          </p:cNvPr>
          <p:cNvGrpSpPr/>
          <p:nvPr/>
        </p:nvGrpSpPr>
        <p:grpSpPr>
          <a:xfrm>
            <a:off x="2987545" y="4447583"/>
            <a:ext cx="776403" cy="451529"/>
            <a:chOff x="4137026" y="5220442"/>
            <a:chExt cx="542695" cy="451529"/>
          </a:xfrm>
        </p:grpSpPr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4233288C-DD47-48B7-8AEE-FAFBBD3AFA70}"/>
                </a:ext>
              </a:extLst>
            </p:cNvPr>
            <p:cNvSpPr txBox="1"/>
            <p:nvPr/>
          </p:nvSpPr>
          <p:spPr>
            <a:xfrm>
              <a:off x="4179571" y="5220442"/>
              <a:ext cx="41835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dirty="0">
                  <a:solidFill>
                    <a:schemeClr val="bg1"/>
                  </a:solidFill>
                </a:rPr>
                <a:t>IOT_1</a:t>
              </a:r>
              <a:endParaRPr lang="ko-KR" altLang="en-US" sz="600" dirty="0">
                <a:solidFill>
                  <a:schemeClr val="bg1"/>
                </a:solidFill>
              </a:endParaRPr>
            </a:p>
          </p:txBody>
        </p:sp>
        <p:sp>
          <p:nvSpPr>
            <p:cNvPr id="164" name="TextBox 163">
              <a:extLst>
                <a:ext uri="{FF2B5EF4-FFF2-40B4-BE49-F238E27FC236}">
                  <a16:creationId xmlns:a16="http://schemas.microsoft.com/office/drawing/2014/main" id="{BFFB1ECC-AEE7-46C2-962C-C9DB9B60996B}"/>
                </a:ext>
              </a:extLst>
            </p:cNvPr>
            <p:cNvSpPr txBox="1"/>
            <p:nvPr/>
          </p:nvSpPr>
          <p:spPr>
            <a:xfrm>
              <a:off x="4142240" y="5323645"/>
              <a:ext cx="52680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500" b="1" dirty="0">
                  <a:solidFill>
                    <a:srgbClr val="92D050"/>
                  </a:solidFill>
                </a:rPr>
                <a:t>Connected</a:t>
              </a:r>
              <a:endParaRPr lang="ko-KR" altLang="en-US" sz="500" b="1" dirty="0">
                <a:solidFill>
                  <a:srgbClr val="92D050"/>
                </a:solidFill>
              </a:endParaRPr>
            </a:p>
          </p:txBody>
        </p:sp>
        <p:sp>
          <p:nvSpPr>
            <p:cNvPr id="165" name="TextBox 164">
              <a:extLst>
                <a:ext uri="{FF2B5EF4-FFF2-40B4-BE49-F238E27FC236}">
                  <a16:creationId xmlns:a16="http://schemas.microsoft.com/office/drawing/2014/main" id="{05E3CECA-1BBA-4E4E-8F6C-56419E3B3478}"/>
                </a:ext>
              </a:extLst>
            </p:cNvPr>
            <p:cNvSpPr txBox="1"/>
            <p:nvPr/>
          </p:nvSpPr>
          <p:spPr>
            <a:xfrm>
              <a:off x="4137026" y="5425750"/>
              <a:ext cx="54269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500" dirty="0">
                  <a:solidFill>
                    <a:schemeClr val="bg1"/>
                  </a:solidFill>
                </a:rPr>
                <a:t>2018-07-01 1:12:12</a:t>
              </a:r>
              <a:endParaRPr lang="ko-KR" altLang="en-US" sz="500" dirty="0">
                <a:solidFill>
                  <a:schemeClr val="bg1"/>
                </a:solidFill>
              </a:endParaRPr>
            </a:p>
          </p:txBody>
        </p:sp>
      </p:grpSp>
      <p:sp>
        <p:nvSpPr>
          <p:cNvPr id="166" name="사각형: 둥근 모서리 165">
            <a:extLst>
              <a:ext uri="{FF2B5EF4-FFF2-40B4-BE49-F238E27FC236}">
                <a16:creationId xmlns:a16="http://schemas.microsoft.com/office/drawing/2014/main" id="{59EB8A80-C789-4765-8155-EF2C30DBCA9A}"/>
              </a:ext>
            </a:extLst>
          </p:cNvPr>
          <p:cNvSpPr/>
          <p:nvPr/>
        </p:nvSpPr>
        <p:spPr>
          <a:xfrm>
            <a:off x="3718638" y="4828332"/>
            <a:ext cx="599739" cy="307364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7" name="사각형: 둥근 모서리 166">
            <a:extLst>
              <a:ext uri="{FF2B5EF4-FFF2-40B4-BE49-F238E27FC236}">
                <a16:creationId xmlns:a16="http://schemas.microsoft.com/office/drawing/2014/main" id="{EB390EBF-8C9F-4C69-94B4-1A70E89C0E89}"/>
              </a:ext>
            </a:extLst>
          </p:cNvPr>
          <p:cNvSpPr/>
          <p:nvPr/>
        </p:nvSpPr>
        <p:spPr>
          <a:xfrm>
            <a:off x="4369147" y="4828332"/>
            <a:ext cx="599739" cy="307364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8" name="사각형: 둥근 모서리 167">
            <a:extLst>
              <a:ext uri="{FF2B5EF4-FFF2-40B4-BE49-F238E27FC236}">
                <a16:creationId xmlns:a16="http://schemas.microsoft.com/office/drawing/2014/main" id="{15F6E3FF-6980-4C0B-AE99-84D9F9180178}"/>
              </a:ext>
            </a:extLst>
          </p:cNvPr>
          <p:cNvSpPr/>
          <p:nvPr/>
        </p:nvSpPr>
        <p:spPr>
          <a:xfrm>
            <a:off x="5019656" y="4828332"/>
            <a:ext cx="599739" cy="307364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9" name="사각형: 둥근 모서리 168">
            <a:extLst>
              <a:ext uri="{FF2B5EF4-FFF2-40B4-BE49-F238E27FC236}">
                <a16:creationId xmlns:a16="http://schemas.microsoft.com/office/drawing/2014/main" id="{41E73680-F486-4E02-B356-683B3E003EAB}"/>
              </a:ext>
            </a:extLst>
          </p:cNvPr>
          <p:cNvSpPr/>
          <p:nvPr/>
        </p:nvSpPr>
        <p:spPr>
          <a:xfrm>
            <a:off x="3079907" y="4831035"/>
            <a:ext cx="599739" cy="307364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70" name="그룹 169">
            <a:extLst>
              <a:ext uri="{FF2B5EF4-FFF2-40B4-BE49-F238E27FC236}">
                <a16:creationId xmlns:a16="http://schemas.microsoft.com/office/drawing/2014/main" id="{135BCD2D-0C8F-42BB-92B2-A78CFF61817C}"/>
              </a:ext>
            </a:extLst>
          </p:cNvPr>
          <p:cNvGrpSpPr/>
          <p:nvPr/>
        </p:nvGrpSpPr>
        <p:grpSpPr>
          <a:xfrm>
            <a:off x="5779878" y="2893179"/>
            <a:ext cx="2492869" cy="314700"/>
            <a:chOff x="475933" y="4908190"/>
            <a:chExt cx="2804731" cy="314700"/>
          </a:xfrm>
        </p:grpSpPr>
        <p:sp>
          <p:nvSpPr>
            <p:cNvPr id="171" name="직사각형 170">
              <a:extLst>
                <a:ext uri="{FF2B5EF4-FFF2-40B4-BE49-F238E27FC236}">
                  <a16:creationId xmlns:a16="http://schemas.microsoft.com/office/drawing/2014/main" id="{4F9B228F-73DD-4E8A-BDFC-886AB4E4DA6B}"/>
                </a:ext>
              </a:extLst>
            </p:cNvPr>
            <p:cNvSpPr/>
            <p:nvPr/>
          </p:nvSpPr>
          <p:spPr>
            <a:xfrm>
              <a:off x="475933" y="4929265"/>
              <a:ext cx="436148" cy="28800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altLang="ko-KR" sz="400" b="1">
                  <a:solidFill>
                    <a:srgbClr val="FFC000"/>
                  </a:solidFill>
                  <a:latin typeface="맑은 고딕" pitchFamily="50" charset="-127"/>
                  <a:ea typeface="맑은 고딕" pitchFamily="50" charset="-127"/>
                </a:rPr>
                <a:t>ESS</a:t>
              </a:r>
              <a:r>
                <a:rPr lang="ko-KR" altLang="en-US" sz="400" b="1">
                  <a:solidFill>
                    <a:srgbClr val="FFC000"/>
                  </a:solidFill>
                  <a:latin typeface="맑은 고딕" pitchFamily="50" charset="-127"/>
                  <a:ea typeface="맑은 고딕" pitchFamily="50" charset="-127"/>
                </a:rPr>
                <a:t> </a:t>
              </a:r>
              <a:r>
                <a:rPr lang="ko-KR" altLang="en-US" sz="400" b="1" dirty="0">
                  <a:solidFill>
                    <a:srgbClr val="FFC000"/>
                  </a:solidFill>
                  <a:latin typeface="맑은 고딕" pitchFamily="50" charset="-127"/>
                  <a:ea typeface="맑은 고딕" pitchFamily="50" charset="-127"/>
                </a:rPr>
                <a:t>수익</a:t>
              </a:r>
            </a:p>
          </p:txBody>
        </p:sp>
        <p:sp>
          <p:nvSpPr>
            <p:cNvPr id="172" name="직사각형 171">
              <a:extLst>
                <a:ext uri="{FF2B5EF4-FFF2-40B4-BE49-F238E27FC236}">
                  <a16:creationId xmlns:a16="http://schemas.microsoft.com/office/drawing/2014/main" id="{9B9BDAA6-6EBC-497D-9AA3-1125E3361C67}"/>
                </a:ext>
              </a:extLst>
            </p:cNvPr>
            <p:cNvSpPr/>
            <p:nvPr/>
          </p:nvSpPr>
          <p:spPr>
            <a:xfrm>
              <a:off x="753539" y="4915601"/>
              <a:ext cx="606962" cy="288032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0"/>
            <a:lstStyle/>
            <a:p>
              <a:pPr>
                <a:lnSpc>
                  <a:spcPct val="150000"/>
                </a:lnSpc>
              </a:pPr>
              <a:r>
                <a:rPr lang="en-US" altLang="ko-KR" sz="700" b="1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80,000</a:t>
              </a:r>
              <a:endParaRPr lang="ko-KR" altLang="en-US" sz="7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73" name="직사각형 172">
              <a:extLst>
                <a:ext uri="{FF2B5EF4-FFF2-40B4-BE49-F238E27FC236}">
                  <a16:creationId xmlns:a16="http://schemas.microsoft.com/office/drawing/2014/main" id="{BBABC023-E1AB-4965-B8E5-23F634C42D1A}"/>
                </a:ext>
              </a:extLst>
            </p:cNvPr>
            <p:cNvSpPr/>
            <p:nvPr/>
          </p:nvSpPr>
          <p:spPr>
            <a:xfrm>
              <a:off x="1098838" y="4929265"/>
              <a:ext cx="436148" cy="28800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altLang="ko-KR" sz="400" b="1">
                  <a:solidFill>
                    <a:srgbClr val="00B0F0"/>
                  </a:solidFill>
                  <a:latin typeface="맑은 고딕" pitchFamily="50" charset="-127"/>
                  <a:ea typeface="맑은 고딕" pitchFamily="50" charset="-127"/>
                </a:rPr>
                <a:t>DR</a:t>
              </a:r>
              <a:r>
                <a:rPr lang="ko-KR" altLang="en-US" sz="400" b="1">
                  <a:solidFill>
                    <a:srgbClr val="00B0F0"/>
                  </a:solidFill>
                  <a:latin typeface="맑은 고딕" pitchFamily="50" charset="-127"/>
                  <a:ea typeface="맑은 고딕" pitchFamily="50" charset="-127"/>
                </a:rPr>
                <a:t> </a:t>
              </a:r>
              <a:r>
                <a:rPr lang="ko-KR" altLang="en-US" sz="400" b="1" dirty="0">
                  <a:solidFill>
                    <a:srgbClr val="00B0F0"/>
                  </a:solidFill>
                  <a:latin typeface="맑은 고딕" pitchFamily="50" charset="-127"/>
                  <a:ea typeface="맑은 고딕" pitchFamily="50" charset="-127"/>
                </a:rPr>
                <a:t>수익</a:t>
              </a:r>
            </a:p>
          </p:txBody>
        </p:sp>
        <p:sp>
          <p:nvSpPr>
            <p:cNvPr id="174" name="직사각형 173">
              <a:extLst>
                <a:ext uri="{FF2B5EF4-FFF2-40B4-BE49-F238E27FC236}">
                  <a16:creationId xmlns:a16="http://schemas.microsoft.com/office/drawing/2014/main" id="{CF9832C7-CF19-48EB-8203-1F947A6F14B3}"/>
                </a:ext>
              </a:extLst>
            </p:cNvPr>
            <p:cNvSpPr/>
            <p:nvPr/>
          </p:nvSpPr>
          <p:spPr>
            <a:xfrm>
              <a:off x="1364833" y="4915601"/>
              <a:ext cx="598101" cy="288032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0"/>
            <a:lstStyle/>
            <a:p>
              <a:pPr>
                <a:lnSpc>
                  <a:spcPct val="150000"/>
                </a:lnSpc>
              </a:pPr>
              <a:r>
                <a:rPr lang="en-US" altLang="ko-KR" sz="700" b="1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25,000</a:t>
              </a:r>
              <a:endParaRPr lang="ko-KR" altLang="en-US" sz="7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75" name="직사각형 174">
              <a:extLst>
                <a:ext uri="{FF2B5EF4-FFF2-40B4-BE49-F238E27FC236}">
                  <a16:creationId xmlns:a16="http://schemas.microsoft.com/office/drawing/2014/main" id="{2E8D2295-1A56-4F82-82A3-C3F700874FFF}"/>
                </a:ext>
              </a:extLst>
            </p:cNvPr>
            <p:cNvSpPr/>
            <p:nvPr/>
          </p:nvSpPr>
          <p:spPr>
            <a:xfrm>
              <a:off x="2134425" y="4934890"/>
              <a:ext cx="825695" cy="28800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150000"/>
                </a:lnSpc>
              </a:pPr>
              <a:r>
                <a:rPr lang="ko-KR" altLang="en-US" sz="400" b="1" dirty="0">
                  <a:solidFill>
                    <a:schemeClr val="accent6">
                      <a:lumMod val="75000"/>
                    </a:schemeClr>
                  </a:solidFill>
                  <a:latin typeface="맑은 고딕" pitchFamily="50" charset="-127"/>
                  <a:ea typeface="맑은 고딕" pitchFamily="50" charset="-127"/>
                </a:rPr>
                <a:t>전체 수익</a:t>
              </a:r>
            </a:p>
          </p:txBody>
        </p:sp>
        <p:sp>
          <p:nvSpPr>
            <p:cNvPr id="176" name="직사각형 175">
              <a:extLst>
                <a:ext uri="{FF2B5EF4-FFF2-40B4-BE49-F238E27FC236}">
                  <a16:creationId xmlns:a16="http://schemas.microsoft.com/office/drawing/2014/main" id="{0AF78589-4F47-4328-81B7-B593D888BD8E}"/>
                </a:ext>
              </a:extLst>
            </p:cNvPr>
            <p:cNvSpPr/>
            <p:nvPr/>
          </p:nvSpPr>
          <p:spPr>
            <a:xfrm>
              <a:off x="2615847" y="4921226"/>
              <a:ext cx="664817" cy="288032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0"/>
            <a:lstStyle/>
            <a:p>
              <a:pPr>
                <a:lnSpc>
                  <a:spcPct val="150000"/>
                </a:lnSpc>
              </a:pPr>
              <a:r>
                <a:rPr lang="en-US" altLang="ko-KR" sz="700" b="1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120,000</a:t>
              </a:r>
              <a:endParaRPr lang="ko-KR" altLang="en-US" sz="7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77" name="직사각형 176">
              <a:extLst>
                <a:ext uri="{FF2B5EF4-FFF2-40B4-BE49-F238E27FC236}">
                  <a16:creationId xmlns:a16="http://schemas.microsoft.com/office/drawing/2014/main" id="{846B7C7C-7656-4007-A81D-A45FD0242D07}"/>
                </a:ext>
              </a:extLst>
            </p:cNvPr>
            <p:cNvSpPr/>
            <p:nvPr/>
          </p:nvSpPr>
          <p:spPr>
            <a:xfrm>
              <a:off x="1708458" y="4921854"/>
              <a:ext cx="436148" cy="28800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altLang="ko-KR" sz="400" b="1">
                  <a:solidFill>
                    <a:srgbClr val="00B050"/>
                  </a:solidFill>
                  <a:latin typeface="맑은 고딕" pitchFamily="50" charset="-127"/>
                  <a:ea typeface="맑은 고딕" pitchFamily="50" charset="-127"/>
                </a:rPr>
                <a:t>PV</a:t>
              </a:r>
              <a:r>
                <a:rPr lang="ko-KR" altLang="en-US" sz="400" b="1">
                  <a:solidFill>
                    <a:srgbClr val="00B050"/>
                  </a:solidFill>
                  <a:latin typeface="맑은 고딕" pitchFamily="50" charset="-127"/>
                  <a:ea typeface="맑은 고딕" pitchFamily="50" charset="-127"/>
                </a:rPr>
                <a:t> </a:t>
              </a:r>
              <a:r>
                <a:rPr lang="ko-KR" altLang="en-US" sz="400" b="1" dirty="0">
                  <a:solidFill>
                    <a:srgbClr val="00B050"/>
                  </a:solidFill>
                  <a:latin typeface="맑은 고딕" pitchFamily="50" charset="-127"/>
                  <a:ea typeface="맑은 고딕" pitchFamily="50" charset="-127"/>
                </a:rPr>
                <a:t>수익</a:t>
              </a:r>
            </a:p>
          </p:txBody>
        </p:sp>
        <p:sp>
          <p:nvSpPr>
            <p:cNvPr id="178" name="직사각형 177">
              <a:extLst>
                <a:ext uri="{FF2B5EF4-FFF2-40B4-BE49-F238E27FC236}">
                  <a16:creationId xmlns:a16="http://schemas.microsoft.com/office/drawing/2014/main" id="{FC0304E2-615C-4689-BCD1-61865965A73A}"/>
                </a:ext>
              </a:extLst>
            </p:cNvPr>
            <p:cNvSpPr/>
            <p:nvPr/>
          </p:nvSpPr>
          <p:spPr>
            <a:xfrm>
              <a:off x="1972163" y="4908190"/>
              <a:ext cx="598101" cy="288032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0"/>
            <a:lstStyle/>
            <a:p>
              <a:pPr>
                <a:lnSpc>
                  <a:spcPct val="150000"/>
                </a:lnSpc>
              </a:pPr>
              <a:r>
                <a:rPr lang="en-US" altLang="ko-KR" sz="700" b="1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15,000</a:t>
              </a:r>
              <a:endParaRPr lang="ko-KR" altLang="en-US" sz="7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pic>
        <p:nvPicPr>
          <p:cNvPr id="179" name="그림 178">
            <a:extLst>
              <a:ext uri="{FF2B5EF4-FFF2-40B4-BE49-F238E27FC236}">
                <a16:creationId xmlns:a16="http://schemas.microsoft.com/office/drawing/2014/main" id="{43F49AA6-A334-423D-8A9A-9ACFF6143860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98623" y="4914501"/>
            <a:ext cx="2540384" cy="1109333"/>
          </a:xfrm>
          <a:prstGeom prst="rect">
            <a:avLst/>
          </a:prstGeom>
        </p:spPr>
      </p:pic>
      <p:pic>
        <p:nvPicPr>
          <p:cNvPr id="180" name="Picture 2" descr="ì¤ì ì ëí ì´ë¯¸ì§ ê²ìê²°ê³¼">
            <a:extLst>
              <a:ext uri="{FF2B5EF4-FFF2-40B4-BE49-F238E27FC236}">
                <a16:creationId xmlns:a16="http://schemas.microsoft.com/office/drawing/2014/main" id="{914E0CEB-2990-4BB9-BC98-4FEF770551E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13240" y="875775"/>
            <a:ext cx="198592" cy="19859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81" name="직사각형 180">
            <a:extLst>
              <a:ext uri="{FF2B5EF4-FFF2-40B4-BE49-F238E27FC236}">
                <a16:creationId xmlns:a16="http://schemas.microsoft.com/office/drawing/2014/main" id="{EC79ED2B-6574-420F-89F8-A71ADF751787}"/>
              </a:ext>
            </a:extLst>
          </p:cNvPr>
          <p:cNvSpPr/>
          <p:nvPr/>
        </p:nvSpPr>
        <p:spPr>
          <a:xfrm>
            <a:off x="6295753" y="2514956"/>
            <a:ext cx="115200" cy="143890"/>
          </a:xfrm>
          <a:prstGeom prst="rect">
            <a:avLst/>
          </a:prstGeom>
          <a:solidFill>
            <a:srgbClr val="00B05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grpSp>
        <p:nvGrpSpPr>
          <p:cNvPr id="182" name="그룹 181">
            <a:extLst>
              <a:ext uri="{FF2B5EF4-FFF2-40B4-BE49-F238E27FC236}">
                <a16:creationId xmlns:a16="http://schemas.microsoft.com/office/drawing/2014/main" id="{FD473941-BF61-48C9-8179-82061C4044E5}"/>
              </a:ext>
            </a:extLst>
          </p:cNvPr>
          <p:cNvGrpSpPr/>
          <p:nvPr/>
        </p:nvGrpSpPr>
        <p:grpSpPr>
          <a:xfrm>
            <a:off x="6129387" y="3492583"/>
            <a:ext cx="1912013" cy="1068681"/>
            <a:chOff x="1180851" y="2959945"/>
            <a:chExt cx="7495605" cy="1884776"/>
          </a:xfrm>
        </p:grpSpPr>
        <p:cxnSp>
          <p:nvCxnSpPr>
            <p:cNvPr id="183" name="직선 연결선 182">
              <a:extLst>
                <a:ext uri="{FF2B5EF4-FFF2-40B4-BE49-F238E27FC236}">
                  <a16:creationId xmlns:a16="http://schemas.microsoft.com/office/drawing/2014/main" id="{5297A632-8D76-4413-BFA5-80A9A0ADF9FF}"/>
                </a:ext>
              </a:extLst>
            </p:cNvPr>
            <p:cNvCxnSpPr/>
            <p:nvPr/>
          </p:nvCxnSpPr>
          <p:spPr>
            <a:xfrm>
              <a:off x="1187624" y="2959945"/>
              <a:ext cx="7488832" cy="0"/>
            </a:xfrm>
            <a:prstGeom prst="line">
              <a:avLst/>
            </a:prstGeom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4" name="직선 연결선 183">
              <a:extLst>
                <a:ext uri="{FF2B5EF4-FFF2-40B4-BE49-F238E27FC236}">
                  <a16:creationId xmlns:a16="http://schemas.microsoft.com/office/drawing/2014/main" id="{058D1019-8005-4550-8580-DFEE8C3A80A8}"/>
                </a:ext>
              </a:extLst>
            </p:cNvPr>
            <p:cNvCxnSpPr/>
            <p:nvPr/>
          </p:nvCxnSpPr>
          <p:spPr>
            <a:xfrm>
              <a:off x="1187624" y="3935861"/>
              <a:ext cx="7488832" cy="0"/>
            </a:xfrm>
            <a:prstGeom prst="line">
              <a:avLst/>
            </a:prstGeom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5" name="그룹 184">
              <a:extLst>
                <a:ext uri="{FF2B5EF4-FFF2-40B4-BE49-F238E27FC236}">
                  <a16:creationId xmlns:a16="http://schemas.microsoft.com/office/drawing/2014/main" id="{E413EEB1-D051-4A19-BC80-FDDD0B41977E}"/>
                </a:ext>
              </a:extLst>
            </p:cNvPr>
            <p:cNvGrpSpPr/>
            <p:nvPr/>
          </p:nvGrpSpPr>
          <p:grpSpPr>
            <a:xfrm flipH="1" flipV="1">
              <a:off x="4357435" y="3939476"/>
              <a:ext cx="2688227" cy="652703"/>
              <a:chOff x="1501760" y="2998490"/>
              <a:chExt cx="2520272" cy="1366614"/>
            </a:xfrm>
          </p:grpSpPr>
          <p:sp>
            <p:nvSpPr>
              <p:cNvPr id="204" name="직사각형 203">
                <a:extLst>
                  <a:ext uri="{FF2B5EF4-FFF2-40B4-BE49-F238E27FC236}">
                    <a16:creationId xmlns:a16="http://schemas.microsoft.com/office/drawing/2014/main" id="{BCA1AC6C-1F91-464B-B1C8-D7EB0F8D3EAF}"/>
                  </a:ext>
                </a:extLst>
              </p:cNvPr>
              <p:cNvSpPr/>
              <p:nvPr/>
            </p:nvSpPr>
            <p:spPr>
              <a:xfrm>
                <a:off x="1501760" y="4217882"/>
                <a:ext cx="72000" cy="147222"/>
              </a:xfrm>
              <a:prstGeom prst="rect">
                <a:avLst/>
              </a:prstGeom>
              <a:solidFill>
                <a:schemeClr val="tx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205" name="직사각형 204">
                <a:extLst>
                  <a:ext uri="{FF2B5EF4-FFF2-40B4-BE49-F238E27FC236}">
                    <a16:creationId xmlns:a16="http://schemas.microsoft.com/office/drawing/2014/main" id="{9078715B-7713-434A-8207-2B41F4B55AEB}"/>
                  </a:ext>
                </a:extLst>
              </p:cNvPr>
              <p:cNvSpPr/>
              <p:nvPr/>
            </p:nvSpPr>
            <p:spPr>
              <a:xfrm>
                <a:off x="3950032" y="2998490"/>
                <a:ext cx="72000" cy="1366614"/>
              </a:xfrm>
              <a:prstGeom prst="rect">
                <a:avLst/>
              </a:prstGeom>
              <a:solidFill>
                <a:schemeClr val="tx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207" name="직사각형 206">
                <a:extLst>
                  <a:ext uri="{FF2B5EF4-FFF2-40B4-BE49-F238E27FC236}">
                    <a16:creationId xmlns:a16="http://schemas.microsoft.com/office/drawing/2014/main" id="{688336F9-CA83-4B0A-97CD-FC10888F38C4}"/>
                  </a:ext>
                </a:extLst>
              </p:cNvPr>
              <p:cNvSpPr/>
              <p:nvPr/>
            </p:nvSpPr>
            <p:spPr>
              <a:xfrm>
                <a:off x="3638317" y="3069104"/>
                <a:ext cx="72000" cy="1296000"/>
              </a:xfrm>
              <a:prstGeom prst="rect">
                <a:avLst/>
              </a:prstGeom>
              <a:solidFill>
                <a:schemeClr val="tx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208" name="직사각형 207">
                <a:extLst>
                  <a:ext uri="{FF2B5EF4-FFF2-40B4-BE49-F238E27FC236}">
                    <a16:creationId xmlns:a16="http://schemas.microsoft.com/office/drawing/2014/main" id="{A6A2EB2C-A211-44BC-8790-B5520645BF4A}"/>
                  </a:ext>
                </a:extLst>
              </p:cNvPr>
              <p:cNvSpPr/>
              <p:nvPr/>
            </p:nvSpPr>
            <p:spPr>
              <a:xfrm>
                <a:off x="3327361" y="3214514"/>
                <a:ext cx="72000" cy="1150590"/>
              </a:xfrm>
              <a:prstGeom prst="rect">
                <a:avLst/>
              </a:prstGeom>
              <a:solidFill>
                <a:schemeClr val="tx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209" name="직사각형 208">
                <a:extLst>
                  <a:ext uri="{FF2B5EF4-FFF2-40B4-BE49-F238E27FC236}">
                    <a16:creationId xmlns:a16="http://schemas.microsoft.com/office/drawing/2014/main" id="{CA7F3D98-C544-486E-8CA1-EE0B9E35A7BF}"/>
                  </a:ext>
                </a:extLst>
              </p:cNvPr>
              <p:cNvSpPr/>
              <p:nvPr/>
            </p:nvSpPr>
            <p:spPr>
              <a:xfrm>
                <a:off x="3013928" y="3575612"/>
                <a:ext cx="72000" cy="789492"/>
              </a:xfrm>
              <a:prstGeom prst="rect">
                <a:avLst/>
              </a:prstGeom>
              <a:solidFill>
                <a:schemeClr val="tx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210" name="직사각형 209">
                <a:extLst>
                  <a:ext uri="{FF2B5EF4-FFF2-40B4-BE49-F238E27FC236}">
                    <a16:creationId xmlns:a16="http://schemas.microsoft.com/office/drawing/2014/main" id="{B6B16C4C-8696-45AA-B7B0-0D49A0DEF837}"/>
                  </a:ext>
                </a:extLst>
              </p:cNvPr>
              <p:cNvSpPr/>
              <p:nvPr/>
            </p:nvSpPr>
            <p:spPr>
              <a:xfrm>
                <a:off x="2748848" y="3681104"/>
                <a:ext cx="72000" cy="684000"/>
              </a:xfrm>
              <a:prstGeom prst="rect">
                <a:avLst/>
              </a:prstGeom>
              <a:solidFill>
                <a:schemeClr val="tx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211" name="직사각형 210">
                <a:extLst>
                  <a:ext uri="{FF2B5EF4-FFF2-40B4-BE49-F238E27FC236}">
                    <a16:creationId xmlns:a16="http://schemas.microsoft.com/office/drawing/2014/main" id="{D0586B7C-49A9-4783-AFDB-707E566A121E}"/>
                  </a:ext>
                </a:extLst>
              </p:cNvPr>
              <p:cNvSpPr/>
              <p:nvPr/>
            </p:nvSpPr>
            <p:spPr>
              <a:xfrm>
                <a:off x="2437864" y="3807104"/>
                <a:ext cx="72000" cy="558000"/>
              </a:xfrm>
              <a:prstGeom prst="rect">
                <a:avLst/>
              </a:prstGeom>
              <a:solidFill>
                <a:schemeClr val="tx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212" name="직사각형 211">
                <a:extLst>
                  <a:ext uri="{FF2B5EF4-FFF2-40B4-BE49-F238E27FC236}">
                    <a16:creationId xmlns:a16="http://schemas.microsoft.com/office/drawing/2014/main" id="{C61D6DB3-D088-4927-9259-CB72F1CF7619}"/>
                  </a:ext>
                </a:extLst>
              </p:cNvPr>
              <p:cNvSpPr/>
              <p:nvPr/>
            </p:nvSpPr>
            <p:spPr>
              <a:xfrm>
                <a:off x="2123923" y="3862586"/>
                <a:ext cx="72000" cy="502518"/>
              </a:xfrm>
              <a:prstGeom prst="rect">
                <a:avLst/>
              </a:prstGeom>
              <a:solidFill>
                <a:schemeClr val="tx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213" name="직사각형 212">
                <a:extLst>
                  <a:ext uri="{FF2B5EF4-FFF2-40B4-BE49-F238E27FC236}">
                    <a16:creationId xmlns:a16="http://schemas.microsoft.com/office/drawing/2014/main" id="{DFDB1911-71F3-49B8-863F-14746A7516F2}"/>
                  </a:ext>
                </a:extLst>
              </p:cNvPr>
              <p:cNvSpPr/>
              <p:nvPr/>
            </p:nvSpPr>
            <p:spPr>
              <a:xfrm>
                <a:off x="1789792" y="4059104"/>
                <a:ext cx="72000" cy="306000"/>
              </a:xfrm>
              <a:prstGeom prst="rect">
                <a:avLst/>
              </a:prstGeom>
              <a:solidFill>
                <a:schemeClr val="tx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</p:grpSp>
        <p:grpSp>
          <p:nvGrpSpPr>
            <p:cNvPr id="186" name="그룹 185">
              <a:extLst>
                <a:ext uri="{FF2B5EF4-FFF2-40B4-BE49-F238E27FC236}">
                  <a16:creationId xmlns:a16="http://schemas.microsoft.com/office/drawing/2014/main" id="{3953643F-A9F7-411D-AA50-FF0D1AB34ECF}"/>
                </a:ext>
              </a:extLst>
            </p:cNvPr>
            <p:cNvGrpSpPr/>
            <p:nvPr/>
          </p:nvGrpSpPr>
          <p:grpSpPr>
            <a:xfrm>
              <a:off x="1403648" y="3249056"/>
              <a:ext cx="2520272" cy="684000"/>
              <a:chOff x="1403648" y="2780928"/>
              <a:chExt cx="2520272" cy="1584176"/>
            </a:xfrm>
          </p:grpSpPr>
          <p:sp>
            <p:nvSpPr>
              <p:cNvPr id="195" name="직사각형 194">
                <a:extLst>
                  <a:ext uri="{FF2B5EF4-FFF2-40B4-BE49-F238E27FC236}">
                    <a16:creationId xmlns:a16="http://schemas.microsoft.com/office/drawing/2014/main" id="{6C46D95A-660C-4D11-A54D-70399BC51AC3}"/>
                  </a:ext>
                </a:extLst>
              </p:cNvPr>
              <p:cNvSpPr/>
              <p:nvPr/>
            </p:nvSpPr>
            <p:spPr>
              <a:xfrm>
                <a:off x="1403648" y="4185104"/>
                <a:ext cx="72000" cy="180000"/>
              </a:xfrm>
              <a:prstGeom prst="rect">
                <a:avLst/>
              </a:pr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196" name="직사각형 195">
                <a:extLst>
                  <a:ext uri="{FF2B5EF4-FFF2-40B4-BE49-F238E27FC236}">
                    <a16:creationId xmlns:a16="http://schemas.microsoft.com/office/drawing/2014/main" id="{082EE49D-B264-4A80-BAD1-3D64BEC5AEC7}"/>
                  </a:ext>
                </a:extLst>
              </p:cNvPr>
              <p:cNvSpPr/>
              <p:nvPr/>
            </p:nvSpPr>
            <p:spPr>
              <a:xfrm>
                <a:off x="3540205" y="2998490"/>
                <a:ext cx="72000" cy="1366614"/>
              </a:xfrm>
              <a:prstGeom prst="rect">
                <a:avLst/>
              </a:pr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197" name="직사각형 196">
                <a:extLst>
                  <a:ext uri="{FF2B5EF4-FFF2-40B4-BE49-F238E27FC236}">
                    <a16:creationId xmlns:a16="http://schemas.microsoft.com/office/drawing/2014/main" id="{37D78823-F075-4FAE-AED2-4DE7B68EA197}"/>
                  </a:ext>
                </a:extLst>
              </p:cNvPr>
              <p:cNvSpPr/>
              <p:nvPr/>
            </p:nvSpPr>
            <p:spPr>
              <a:xfrm>
                <a:off x="3229249" y="3249104"/>
                <a:ext cx="72000" cy="1116000"/>
              </a:xfrm>
              <a:prstGeom prst="rect">
                <a:avLst/>
              </a:pr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198" name="직사각형 197">
                <a:extLst>
                  <a:ext uri="{FF2B5EF4-FFF2-40B4-BE49-F238E27FC236}">
                    <a16:creationId xmlns:a16="http://schemas.microsoft.com/office/drawing/2014/main" id="{BFB32461-A552-4A84-94ED-DA4AA9F22AD7}"/>
                  </a:ext>
                </a:extLst>
              </p:cNvPr>
              <p:cNvSpPr/>
              <p:nvPr/>
            </p:nvSpPr>
            <p:spPr>
              <a:xfrm>
                <a:off x="2915816" y="3429104"/>
                <a:ext cx="72000" cy="936000"/>
              </a:xfrm>
              <a:prstGeom prst="rect">
                <a:avLst/>
              </a:pr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199" name="직사각형 198">
                <a:extLst>
                  <a:ext uri="{FF2B5EF4-FFF2-40B4-BE49-F238E27FC236}">
                    <a16:creationId xmlns:a16="http://schemas.microsoft.com/office/drawing/2014/main" id="{94272D41-0E55-4D56-8B57-0978599154E8}"/>
                  </a:ext>
                </a:extLst>
              </p:cNvPr>
              <p:cNvSpPr/>
              <p:nvPr/>
            </p:nvSpPr>
            <p:spPr>
              <a:xfrm>
                <a:off x="2650736" y="3575612"/>
                <a:ext cx="72000" cy="789492"/>
              </a:xfrm>
              <a:prstGeom prst="rect">
                <a:avLst/>
              </a:pr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200" name="직사각형 199">
                <a:extLst>
                  <a:ext uri="{FF2B5EF4-FFF2-40B4-BE49-F238E27FC236}">
                    <a16:creationId xmlns:a16="http://schemas.microsoft.com/office/drawing/2014/main" id="{B8D08766-A3DB-4A29-8EF5-455529FAFC37}"/>
                  </a:ext>
                </a:extLst>
              </p:cNvPr>
              <p:cNvSpPr/>
              <p:nvPr/>
            </p:nvSpPr>
            <p:spPr>
              <a:xfrm>
                <a:off x="2339752" y="3753104"/>
                <a:ext cx="72000" cy="612000"/>
              </a:xfrm>
              <a:prstGeom prst="rect">
                <a:avLst/>
              </a:pr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201" name="직사각형 200">
                <a:extLst>
                  <a:ext uri="{FF2B5EF4-FFF2-40B4-BE49-F238E27FC236}">
                    <a16:creationId xmlns:a16="http://schemas.microsoft.com/office/drawing/2014/main" id="{536E4E37-A260-4AA1-8329-EF4DDFE34BDA}"/>
                  </a:ext>
                </a:extLst>
              </p:cNvPr>
              <p:cNvSpPr/>
              <p:nvPr/>
            </p:nvSpPr>
            <p:spPr>
              <a:xfrm>
                <a:off x="2025811" y="3933104"/>
                <a:ext cx="72000" cy="432000"/>
              </a:xfrm>
              <a:prstGeom prst="rect">
                <a:avLst/>
              </a:pr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202" name="직사각형 201">
                <a:extLst>
                  <a:ext uri="{FF2B5EF4-FFF2-40B4-BE49-F238E27FC236}">
                    <a16:creationId xmlns:a16="http://schemas.microsoft.com/office/drawing/2014/main" id="{BAB0C819-F882-4365-8896-22B03D631E48}"/>
                  </a:ext>
                </a:extLst>
              </p:cNvPr>
              <p:cNvSpPr/>
              <p:nvPr/>
            </p:nvSpPr>
            <p:spPr>
              <a:xfrm>
                <a:off x="1691680" y="4005104"/>
                <a:ext cx="72000" cy="360000"/>
              </a:xfrm>
              <a:prstGeom prst="rect">
                <a:avLst/>
              </a:pr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203" name="직사각형 202">
                <a:extLst>
                  <a:ext uri="{FF2B5EF4-FFF2-40B4-BE49-F238E27FC236}">
                    <a16:creationId xmlns:a16="http://schemas.microsoft.com/office/drawing/2014/main" id="{C0AE4F41-19B3-4BEC-8BE1-6E70AF64D69F}"/>
                  </a:ext>
                </a:extLst>
              </p:cNvPr>
              <p:cNvSpPr/>
              <p:nvPr/>
            </p:nvSpPr>
            <p:spPr>
              <a:xfrm>
                <a:off x="3851920" y="2780928"/>
                <a:ext cx="72000" cy="1584176"/>
              </a:xfrm>
              <a:prstGeom prst="rect">
                <a:avLst/>
              </a:pr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</p:grpSp>
        <p:grpSp>
          <p:nvGrpSpPr>
            <p:cNvPr id="187" name="그룹 186">
              <a:extLst>
                <a:ext uri="{FF2B5EF4-FFF2-40B4-BE49-F238E27FC236}">
                  <a16:creationId xmlns:a16="http://schemas.microsoft.com/office/drawing/2014/main" id="{098903C7-6FB9-4D40-89CF-A699D3CF773C}"/>
                </a:ext>
              </a:extLst>
            </p:cNvPr>
            <p:cNvGrpSpPr/>
            <p:nvPr/>
          </p:nvGrpSpPr>
          <p:grpSpPr>
            <a:xfrm>
              <a:off x="7308297" y="3782267"/>
              <a:ext cx="353772" cy="155437"/>
              <a:chOff x="1403648" y="4005104"/>
              <a:chExt cx="360032" cy="360000"/>
            </a:xfrm>
          </p:grpSpPr>
          <p:sp>
            <p:nvSpPr>
              <p:cNvPr id="193" name="직사각형 192">
                <a:extLst>
                  <a:ext uri="{FF2B5EF4-FFF2-40B4-BE49-F238E27FC236}">
                    <a16:creationId xmlns:a16="http://schemas.microsoft.com/office/drawing/2014/main" id="{B165E73C-A702-40DB-AB01-0F97690C5A9E}"/>
                  </a:ext>
                </a:extLst>
              </p:cNvPr>
              <p:cNvSpPr/>
              <p:nvPr/>
            </p:nvSpPr>
            <p:spPr>
              <a:xfrm>
                <a:off x="1403648" y="4185104"/>
                <a:ext cx="72000" cy="180000"/>
              </a:xfrm>
              <a:prstGeom prst="rect">
                <a:avLst/>
              </a:pr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194" name="직사각형 193">
                <a:extLst>
                  <a:ext uri="{FF2B5EF4-FFF2-40B4-BE49-F238E27FC236}">
                    <a16:creationId xmlns:a16="http://schemas.microsoft.com/office/drawing/2014/main" id="{76EB4218-38E7-417E-A420-EDB2D961423C}"/>
                  </a:ext>
                </a:extLst>
              </p:cNvPr>
              <p:cNvSpPr/>
              <p:nvPr/>
            </p:nvSpPr>
            <p:spPr>
              <a:xfrm>
                <a:off x="1691680" y="4005104"/>
                <a:ext cx="72000" cy="360000"/>
              </a:xfrm>
              <a:prstGeom prst="rect">
                <a:avLst/>
              </a:pr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</p:grpSp>
        <p:cxnSp>
          <p:nvCxnSpPr>
            <p:cNvPr id="188" name="직선 연결선 187">
              <a:extLst>
                <a:ext uri="{FF2B5EF4-FFF2-40B4-BE49-F238E27FC236}">
                  <a16:creationId xmlns:a16="http://schemas.microsoft.com/office/drawing/2014/main" id="{12F8E0E9-448B-40C9-9817-96D0A9B946B4}"/>
                </a:ext>
              </a:extLst>
            </p:cNvPr>
            <p:cNvCxnSpPr/>
            <p:nvPr/>
          </p:nvCxnSpPr>
          <p:spPr>
            <a:xfrm>
              <a:off x="1180851" y="4316387"/>
              <a:ext cx="7488832" cy="0"/>
            </a:xfrm>
            <a:prstGeom prst="line">
              <a:avLst/>
            </a:prstGeom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직선 연결선 188">
              <a:extLst>
                <a:ext uri="{FF2B5EF4-FFF2-40B4-BE49-F238E27FC236}">
                  <a16:creationId xmlns:a16="http://schemas.microsoft.com/office/drawing/2014/main" id="{60C2A40F-0989-4F07-92AC-0BBE5B5D8858}"/>
                </a:ext>
              </a:extLst>
            </p:cNvPr>
            <p:cNvCxnSpPr/>
            <p:nvPr/>
          </p:nvCxnSpPr>
          <p:spPr>
            <a:xfrm>
              <a:off x="1180851" y="3376982"/>
              <a:ext cx="7488832" cy="0"/>
            </a:xfrm>
            <a:prstGeom prst="line">
              <a:avLst/>
            </a:prstGeom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직선 연결선 189">
              <a:extLst>
                <a:ext uri="{FF2B5EF4-FFF2-40B4-BE49-F238E27FC236}">
                  <a16:creationId xmlns:a16="http://schemas.microsoft.com/office/drawing/2014/main" id="{AD647268-14CB-4374-87C8-796B48FC7344}"/>
                </a:ext>
              </a:extLst>
            </p:cNvPr>
            <p:cNvCxnSpPr/>
            <p:nvPr/>
          </p:nvCxnSpPr>
          <p:spPr>
            <a:xfrm>
              <a:off x="1180851" y="4844721"/>
              <a:ext cx="7488832" cy="0"/>
            </a:xfrm>
            <a:prstGeom prst="line">
              <a:avLst/>
            </a:prstGeom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1" name="자유형 33">
              <a:extLst>
                <a:ext uri="{FF2B5EF4-FFF2-40B4-BE49-F238E27FC236}">
                  <a16:creationId xmlns:a16="http://schemas.microsoft.com/office/drawing/2014/main" id="{75DD9915-21D8-4F93-BC49-03706A2768AE}"/>
                </a:ext>
              </a:extLst>
            </p:cNvPr>
            <p:cNvSpPr/>
            <p:nvPr/>
          </p:nvSpPr>
          <p:spPr>
            <a:xfrm flipH="1" flipV="1">
              <a:off x="4353593" y="3937702"/>
              <a:ext cx="2689623" cy="684001"/>
            </a:xfrm>
            <a:custGeom>
              <a:avLst/>
              <a:gdLst>
                <a:gd name="connsiteX0" fmla="*/ 0 w 4368800"/>
                <a:gd name="connsiteY0" fmla="*/ 389467 h 414867"/>
                <a:gd name="connsiteX1" fmla="*/ 270933 w 4368800"/>
                <a:gd name="connsiteY1" fmla="*/ 321733 h 414867"/>
                <a:gd name="connsiteX2" fmla="*/ 575733 w 4368800"/>
                <a:gd name="connsiteY2" fmla="*/ 414867 h 414867"/>
                <a:gd name="connsiteX3" fmla="*/ 880533 w 4368800"/>
                <a:gd name="connsiteY3" fmla="*/ 355600 h 414867"/>
                <a:gd name="connsiteX4" fmla="*/ 1134533 w 4368800"/>
                <a:gd name="connsiteY4" fmla="*/ 203200 h 414867"/>
                <a:gd name="connsiteX5" fmla="*/ 1456266 w 4368800"/>
                <a:gd name="connsiteY5" fmla="*/ 313267 h 414867"/>
                <a:gd name="connsiteX6" fmla="*/ 1727200 w 4368800"/>
                <a:gd name="connsiteY6" fmla="*/ 254000 h 414867"/>
                <a:gd name="connsiteX7" fmla="*/ 1998133 w 4368800"/>
                <a:gd name="connsiteY7" fmla="*/ 135467 h 414867"/>
                <a:gd name="connsiteX8" fmla="*/ 2353733 w 4368800"/>
                <a:gd name="connsiteY8" fmla="*/ 287867 h 414867"/>
                <a:gd name="connsiteX9" fmla="*/ 2607733 w 4368800"/>
                <a:gd name="connsiteY9" fmla="*/ 169333 h 414867"/>
                <a:gd name="connsiteX10" fmla="*/ 2946400 w 4368800"/>
                <a:gd name="connsiteY10" fmla="*/ 211667 h 414867"/>
                <a:gd name="connsiteX11" fmla="*/ 3234266 w 4368800"/>
                <a:gd name="connsiteY11" fmla="*/ 203200 h 414867"/>
                <a:gd name="connsiteX12" fmla="*/ 3505200 w 4368800"/>
                <a:gd name="connsiteY12" fmla="*/ 0 h 414867"/>
                <a:gd name="connsiteX13" fmla="*/ 3810000 w 4368800"/>
                <a:gd name="connsiteY13" fmla="*/ 135467 h 414867"/>
                <a:gd name="connsiteX14" fmla="*/ 4097866 w 4368800"/>
                <a:gd name="connsiteY14" fmla="*/ 42333 h 414867"/>
                <a:gd name="connsiteX15" fmla="*/ 4368800 w 4368800"/>
                <a:gd name="connsiteY15" fmla="*/ 118533 h 414867"/>
                <a:gd name="connsiteX0" fmla="*/ 0 w 4368800"/>
                <a:gd name="connsiteY0" fmla="*/ 524934 h 524934"/>
                <a:gd name="connsiteX1" fmla="*/ 270933 w 4368800"/>
                <a:gd name="connsiteY1" fmla="*/ 321733 h 524934"/>
                <a:gd name="connsiteX2" fmla="*/ 575733 w 4368800"/>
                <a:gd name="connsiteY2" fmla="*/ 414867 h 524934"/>
                <a:gd name="connsiteX3" fmla="*/ 880533 w 4368800"/>
                <a:gd name="connsiteY3" fmla="*/ 355600 h 524934"/>
                <a:gd name="connsiteX4" fmla="*/ 1134533 w 4368800"/>
                <a:gd name="connsiteY4" fmla="*/ 203200 h 524934"/>
                <a:gd name="connsiteX5" fmla="*/ 1456266 w 4368800"/>
                <a:gd name="connsiteY5" fmla="*/ 313267 h 524934"/>
                <a:gd name="connsiteX6" fmla="*/ 1727200 w 4368800"/>
                <a:gd name="connsiteY6" fmla="*/ 254000 h 524934"/>
                <a:gd name="connsiteX7" fmla="*/ 1998133 w 4368800"/>
                <a:gd name="connsiteY7" fmla="*/ 135467 h 524934"/>
                <a:gd name="connsiteX8" fmla="*/ 2353733 w 4368800"/>
                <a:gd name="connsiteY8" fmla="*/ 287867 h 524934"/>
                <a:gd name="connsiteX9" fmla="*/ 2607733 w 4368800"/>
                <a:gd name="connsiteY9" fmla="*/ 169333 h 524934"/>
                <a:gd name="connsiteX10" fmla="*/ 2946400 w 4368800"/>
                <a:gd name="connsiteY10" fmla="*/ 211667 h 524934"/>
                <a:gd name="connsiteX11" fmla="*/ 3234266 w 4368800"/>
                <a:gd name="connsiteY11" fmla="*/ 203200 h 524934"/>
                <a:gd name="connsiteX12" fmla="*/ 3505200 w 4368800"/>
                <a:gd name="connsiteY12" fmla="*/ 0 h 524934"/>
                <a:gd name="connsiteX13" fmla="*/ 3810000 w 4368800"/>
                <a:gd name="connsiteY13" fmla="*/ 135467 h 524934"/>
                <a:gd name="connsiteX14" fmla="*/ 4097866 w 4368800"/>
                <a:gd name="connsiteY14" fmla="*/ 42333 h 524934"/>
                <a:gd name="connsiteX15" fmla="*/ 4368800 w 4368800"/>
                <a:gd name="connsiteY15" fmla="*/ 118533 h 524934"/>
                <a:gd name="connsiteX0" fmla="*/ 0 w 4368800"/>
                <a:gd name="connsiteY0" fmla="*/ 541867 h 541867"/>
                <a:gd name="connsiteX1" fmla="*/ 270933 w 4368800"/>
                <a:gd name="connsiteY1" fmla="*/ 338666 h 541867"/>
                <a:gd name="connsiteX2" fmla="*/ 575733 w 4368800"/>
                <a:gd name="connsiteY2" fmla="*/ 431800 h 541867"/>
                <a:gd name="connsiteX3" fmla="*/ 880533 w 4368800"/>
                <a:gd name="connsiteY3" fmla="*/ 372533 h 541867"/>
                <a:gd name="connsiteX4" fmla="*/ 1134533 w 4368800"/>
                <a:gd name="connsiteY4" fmla="*/ 220133 h 541867"/>
                <a:gd name="connsiteX5" fmla="*/ 1456266 w 4368800"/>
                <a:gd name="connsiteY5" fmla="*/ 330200 h 541867"/>
                <a:gd name="connsiteX6" fmla="*/ 1727200 w 4368800"/>
                <a:gd name="connsiteY6" fmla="*/ 270933 h 541867"/>
                <a:gd name="connsiteX7" fmla="*/ 2048933 w 4368800"/>
                <a:gd name="connsiteY7" fmla="*/ 0 h 541867"/>
                <a:gd name="connsiteX8" fmla="*/ 2353733 w 4368800"/>
                <a:gd name="connsiteY8" fmla="*/ 304800 h 541867"/>
                <a:gd name="connsiteX9" fmla="*/ 2607733 w 4368800"/>
                <a:gd name="connsiteY9" fmla="*/ 186266 h 541867"/>
                <a:gd name="connsiteX10" fmla="*/ 2946400 w 4368800"/>
                <a:gd name="connsiteY10" fmla="*/ 228600 h 541867"/>
                <a:gd name="connsiteX11" fmla="*/ 3234266 w 4368800"/>
                <a:gd name="connsiteY11" fmla="*/ 220133 h 541867"/>
                <a:gd name="connsiteX12" fmla="*/ 3505200 w 4368800"/>
                <a:gd name="connsiteY12" fmla="*/ 16933 h 541867"/>
                <a:gd name="connsiteX13" fmla="*/ 3810000 w 4368800"/>
                <a:gd name="connsiteY13" fmla="*/ 152400 h 541867"/>
                <a:gd name="connsiteX14" fmla="*/ 4097866 w 4368800"/>
                <a:gd name="connsiteY14" fmla="*/ 59266 h 541867"/>
                <a:gd name="connsiteX15" fmla="*/ 4368800 w 4368800"/>
                <a:gd name="connsiteY15" fmla="*/ 135466 h 541867"/>
                <a:gd name="connsiteX0" fmla="*/ 0 w 4368800"/>
                <a:gd name="connsiteY0" fmla="*/ 541867 h 541867"/>
                <a:gd name="connsiteX1" fmla="*/ 270933 w 4368800"/>
                <a:gd name="connsiteY1" fmla="*/ 338666 h 541867"/>
                <a:gd name="connsiteX2" fmla="*/ 575733 w 4368800"/>
                <a:gd name="connsiteY2" fmla="*/ 431800 h 541867"/>
                <a:gd name="connsiteX3" fmla="*/ 880533 w 4368800"/>
                <a:gd name="connsiteY3" fmla="*/ 372533 h 541867"/>
                <a:gd name="connsiteX4" fmla="*/ 1134533 w 4368800"/>
                <a:gd name="connsiteY4" fmla="*/ 220133 h 541867"/>
                <a:gd name="connsiteX5" fmla="*/ 1456266 w 4368800"/>
                <a:gd name="connsiteY5" fmla="*/ 330200 h 541867"/>
                <a:gd name="connsiteX6" fmla="*/ 1727200 w 4368800"/>
                <a:gd name="connsiteY6" fmla="*/ 270933 h 541867"/>
                <a:gd name="connsiteX7" fmla="*/ 2048933 w 4368800"/>
                <a:gd name="connsiteY7" fmla="*/ 0 h 541867"/>
                <a:gd name="connsiteX8" fmla="*/ 2353733 w 4368800"/>
                <a:gd name="connsiteY8" fmla="*/ 304800 h 541867"/>
                <a:gd name="connsiteX9" fmla="*/ 2607733 w 4368800"/>
                <a:gd name="connsiteY9" fmla="*/ 186266 h 541867"/>
                <a:gd name="connsiteX10" fmla="*/ 2963334 w 4368800"/>
                <a:gd name="connsiteY10" fmla="*/ 152400 h 541867"/>
                <a:gd name="connsiteX11" fmla="*/ 3234266 w 4368800"/>
                <a:gd name="connsiteY11" fmla="*/ 220133 h 541867"/>
                <a:gd name="connsiteX12" fmla="*/ 3505200 w 4368800"/>
                <a:gd name="connsiteY12" fmla="*/ 16933 h 541867"/>
                <a:gd name="connsiteX13" fmla="*/ 3810000 w 4368800"/>
                <a:gd name="connsiteY13" fmla="*/ 152400 h 541867"/>
                <a:gd name="connsiteX14" fmla="*/ 4097866 w 4368800"/>
                <a:gd name="connsiteY14" fmla="*/ 59266 h 541867"/>
                <a:gd name="connsiteX15" fmla="*/ 4368800 w 4368800"/>
                <a:gd name="connsiteY15" fmla="*/ 135466 h 541867"/>
                <a:gd name="connsiteX0" fmla="*/ 0 w 4368800"/>
                <a:gd name="connsiteY0" fmla="*/ 575734 h 575734"/>
                <a:gd name="connsiteX1" fmla="*/ 270933 w 4368800"/>
                <a:gd name="connsiteY1" fmla="*/ 372533 h 575734"/>
                <a:gd name="connsiteX2" fmla="*/ 575733 w 4368800"/>
                <a:gd name="connsiteY2" fmla="*/ 465667 h 575734"/>
                <a:gd name="connsiteX3" fmla="*/ 880533 w 4368800"/>
                <a:gd name="connsiteY3" fmla="*/ 406400 h 575734"/>
                <a:gd name="connsiteX4" fmla="*/ 1134533 w 4368800"/>
                <a:gd name="connsiteY4" fmla="*/ 254000 h 575734"/>
                <a:gd name="connsiteX5" fmla="*/ 1456266 w 4368800"/>
                <a:gd name="connsiteY5" fmla="*/ 364067 h 575734"/>
                <a:gd name="connsiteX6" fmla="*/ 1727200 w 4368800"/>
                <a:gd name="connsiteY6" fmla="*/ 304800 h 575734"/>
                <a:gd name="connsiteX7" fmla="*/ 2048933 w 4368800"/>
                <a:gd name="connsiteY7" fmla="*/ 33867 h 575734"/>
                <a:gd name="connsiteX8" fmla="*/ 2353733 w 4368800"/>
                <a:gd name="connsiteY8" fmla="*/ 338667 h 575734"/>
                <a:gd name="connsiteX9" fmla="*/ 2607733 w 4368800"/>
                <a:gd name="connsiteY9" fmla="*/ 220133 h 575734"/>
                <a:gd name="connsiteX10" fmla="*/ 2963334 w 4368800"/>
                <a:gd name="connsiteY10" fmla="*/ 186267 h 575734"/>
                <a:gd name="connsiteX11" fmla="*/ 3234266 w 4368800"/>
                <a:gd name="connsiteY11" fmla="*/ 254000 h 575734"/>
                <a:gd name="connsiteX12" fmla="*/ 3505200 w 4368800"/>
                <a:gd name="connsiteY12" fmla="*/ 0 h 575734"/>
                <a:gd name="connsiteX13" fmla="*/ 3810000 w 4368800"/>
                <a:gd name="connsiteY13" fmla="*/ 186267 h 575734"/>
                <a:gd name="connsiteX14" fmla="*/ 4097866 w 4368800"/>
                <a:gd name="connsiteY14" fmla="*/ 93133 h 575734"/>
                <a:gd name="connsiteX15" fmla="*/ 4368800 w 4368800"/>
                <a:gd name="connsiteY15" fmla="*/ 169333 h 575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368800" h="575734">
                  <a:moveTo>
                    <a:pt x="0" y="575734"/>
                  </a:moveTo>
                  <a:lnTo>
                    <a:pt x="270933" y="372533"/>
                  </a:lnTo>
                  <a:lnTo>
                    <a:pt x="575733" y="465667"/>
                  </a:lnTo>
                  <a:lnTo>
                    <a:pt x="880533" y="406400"/>
                  </a:lnTo>
                  <a:lnTo>
                    <a:pt x="1134533" y="254000"/>
                  </a:lnTo>
                  <a:lnTo>
                    <a:pt x="1456266" y="364067"/>
                  </a:lnTo>
                  <a:lnTo>
                    <a:pt x="1727200" y="304800"/>
                  </a:lnTo>
                  <a:lnTo>
                    <a:pt x="2048933" y="33867"/>
                  </a:lnTo>
                  <a:lnTo>
                    <a:pt x="2353733" y="338667"/>
                  </a:lnTo>
                  <a:cubicBezTo>
                    <a:pt x="2438400" y="299156"/>
                    <a:pt x="2506133" y="245533"/>
                    <a:pt x="2607733" y="220133"/>
                  </a:cubicBezTo>
                  <a:cubicBezTo>
                    <a:pt x="2709333" y="194733"/>
                    <a:pt x="2844800" y="197556"/>
                    <a:pt x="2963334" y="186267"/>
                  </a:cubicBezTo>
                  <a:lnTo>
                    <a:pt x="3234266" y="254000"/>
                  </a:lnTo>
                  <a:lnTo>
                    <a:pt x="3505200" y="0"/>
                  </a:lnTo>
                  <a:lnTo>
                    <a:pt x="3810000" y="186267"/>
                  </a:lnTo>
                  <a:lnTo>
                    <a:pt x="4097866" y="93133"/>
                  </a:lnTo>
                  <a:lnTo>
                    <a:pt x="4368800" y="169333"/>
                  </a:lnTo>
                </a:path>
              </a:pathLst>
            </a:custGeom>
            <a:ln>
              <a:solidFill>
                <a:schemeClr val="accent3">
                  <a:lumMod val="75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192" name="자유형 83">
              <a:extLst>
                <a:ext uri="{FF2B5EF4-FFF2-40B4-BE49-F238E27FC236}">
                  <a16:creationId xmlns:a16="http://schemas.microsoft.com/office/drawing/2014/main" id="{23ACAE22-5A7B-4C06-8EA8-A27039494D79}"/>
                </a:ext>
              </a:extLst>
            </p:cNvPr>
            <p:cNvSpPr/>
            <p:nvPr/>
          </p:nvSpPr>
          <p:spPr>
            <a:xfrm>
              <a:off x="1397086" y="3160835"/>
              <a:ext cx="2742866" cy="770368"/>
            </a:xfrm>
            <a:custGeom>
              <a:avLst/>
              <a:gdLst>
                <a:gd name="connsiteX0" fmla="*/ 0 w 4368800"/>
                <a:gd name="connsiteY0" fmla="*/ 389467 h 414867"/>
                <a:gd name="connsiteX1" fmla="*/ 270933 w 4368800"/>
                <a:gd name="connsiteY1" fmla="*/ 321733 h 414867"/>
                <a:gd name="connsiteX2" fmla="*/ 575733 w 4368800"/>
                <a:gd name="connsiteY2" fmla="*/ 414867 h 414867"/>
                <a:gd name="connsiteX3" fmla="*/ 880533 w 4368800"/>
                <a:gd name="connsiteY3" fmla="*/ 355600 h 414867"/>
                <a:gd name="connsiteX4" fmla="*/ 1134533 w 4368800"/>
                <a:gd name="connsiteY4" fmla="*/ 203200 h 414867"/>
                <a:gd name="connsiteX5" fmla="*/ 1456266 w 4368800"/>
                <a:gd name="connsiteY5" fmla="*/ 313267 h 414867"/>
                <a:gd name="connsiteX6" fmla="*/ 1727200 w 4368800"/>
                <a:gd name="connsiteY6" fmla="*/ 254000 h 414867"/>
                <a:gd name="connsiteX7" fmla="*/ 1998133 w 4368800"/>
                <a:gd name="connsiteY7" fmla="*/ 135467 h 414867"/>
                <a:gd name="connsiteX8" fmla="*/ 2353733 w 4368800"/>
                <a:gd name="connsiteY8" fmla="*/ 287867 h 414867"/>
                <a:gd name="connsiteX9" fmla="*/ 2607733 w 4368800"/>
                <a:gd name="connsiteY9" fmla="*/ 169333 h 414867"/>
                <a:gd name="connsiteX10" fmla="*/ 2946400 w 4368800"/>
                <a:gd name="connsiteY10" fmla="*/ 211667 h 414867"/>
                <a:gd name="connsiteX11" fmla="*/ 3234266 w 4368800"/>
                <a:gd name="connsiteY11" fmla="*/ 203200 h 414867"/>
                <a:gd name="connsiteX12" fmla="*/ 3505200 w 4368800"/>
                <a:gd name="connsiteY12" fmla="*/ 0 h 414867"/>
                <a:gd name="connsiteX13" fmla="*/ 3810000 w 4368800"/>
                <a:gd name="connsiteY13" fmla="*/ 135467 h 414867"/>
                <a:gd name="connsiteX14" fmla="*/ 4097866 w 4368800"/>
                <a:gd name="connsiteY14" fmla="*/ 42333 h 414867"/>
                <a:gd name="connsiteX15" fmla="*/ 4368800 w 4368800"/>
                <a:gd name="connsiteY15" fmla="*/ 118533 h 414867"/>
                <a:gd name="connsiteX0" fmla="*/ 0 w 4368800"/>
                <a:gd name="connsiteY0" fmla="*/ 524934 h 524934"/>
                <a:gd name="connsiteX1" fmla="*/ 270933 w 4368800"/>
                <a:gd name="connsiteY1" fmla="*/ 321733 h 524934"/>
                <a:gd name="connsiteX2" fmla="*/ 575733 w 4368800"/>
                <a:gd name="connsiteY2" fmla="*/ 414867 h 524934"/>
                <a:gd name="connsiteX3" fmla="*/ 880533 w 4368800"/>
                <a:gd name="connsiteY3" fmla="*/ 355600 h 524934"/>
                <a:gd name="connsiteX4" fmla="*/ 1134533 w 4368800"/>
                <a:gd name="connsiteY4" fmla="*/ 203200 h 524934"/>
                <a:gd name="connsiteX5" fmla="*/ 1456266 w 4368800"/>
                <a:gd name="connsiteY5" fmla="*/ 313267 h 524934"/>
                <a:gd name="connsiteX6" fmla="*/ 1727200 w 4368800"/>
                <a:gd name="connsiteY6" fmla="*/ 254000 h 524934"/>
                <a:gd name="connsiteX7" fmla="*/ 1998133 w 4368800"/>
                <a:gd name="connsiteY7" fmla="*/ 135467 h 524934"/>
                <a:gd name="connsiteX8" fmla="*/ 2353733 w 4368800"/>
                <a:gd name="connsiteY8" fmla="*/ 287867 h 524934"/>
                <a:gd name="connsiteX9" fmla="*/ 2607733 w 4368800"/>
                <a:gd name="connsiteY9" fmla="*/ 169333 h 524934"/>
                <a:gd name="connsiteX10" fmla="*/ 2946400 w 4368800"/>
                <a:gd name="connsiteY10" fmla="*/ 211667 h 524934"/>
                <a:gd name="connsiteX11" fmla="*/ 3234266 w 4368800"/>
                <a:gd name="connsiteY11" fmla="*/ 203200 h 524934"/>
                <a:gd name="connsiteX12" fmla="*/ 3505200 w 4368800"/>
                <a:gd name="connsiteY12" fmla="*/ 0 h 524934"/>
                <a:gd name="connsiteX13" fmla="*/ 3810000 w 4368800"/>
                <a:gd name="connsiteY13" fmla="*/ 135467 h 524934"/>
                <a:gd name="connsiteX14" fmla="*/ 4097866 w 4368800"/>
                <a:gd name="connsiteY14" fmla="*/ 42333 h 524934"/>
                <a:gd name="connsiteX15" fmla="*/ 4368800 w 4368800"/>
                <a:gd name="connsiteY15" fmla="*/ 118533 h 524934"/>
                <a:gd name="connsiteX0" fmla="*/ 0 w 4368800"/>
                <a:gd name="connsiteY0" fmla="*/ 541867 h 541867"/>
                <a:gd name="connsiteX1" fmla="*/ 270933 w 4368800"/>
                <a:gd name="connsiteY1" fmla="*/ 338666 h 541867"/>
                <a:gd name="connsiteX2" fmla="*/ 575733 w 4368800"/>
                <a:gd name="connsiteY2" fmla="*/ 431800 h 541867"/>
                <a:gd name="connsiteX3" fmla="*/ 880533 w 4368800"/>
                <a:gd name="connsiteY3" fmla="*/ 372533 h 541867"/>
                <a:gd name="connsiteX4" fmla="*/ 1134533 w 4368800"/>
                <a:gd name="connsiteY4" fmla="*/ 220133 h 541867"/>
                <a:gd name="connsiteX5" fmla="*/ 1456266 w 4368800"/>
                <a:gd name="connsiteY5" fmla="*/ 330200 h 541867"/>
                <a:gd name="connsiteX6" fmla="*/ 1727200 w 4368800"/>
                <a:gd name="connsiteY6" fmla="*/ 270933 h 541867"/>
                <a:gd name="connsiteX7" fmla="*/ 2048933 w 4368800"/>
                <a:gd name="connsiteY7" fmla="*/ 0 h 541867"/>
                <a:gd name="connsiteX8" fmla="*/ 2353733 w 4368800"/>
                <a:gd name="connsiteY8" fmla="*/ 304800 h 541867"/>
                <a:gd name="connsiteX9" fmla="*/ 2607733 w 4368800"/>
                <a:gd name="connsiteY9" fmla="*/ 186266 h 541867"/>
                <a:gd name="connsiteX10" fmla="*/ 2946400 w 4368800"/>
                <a:gd name="connsiteY10" fmla="*/ 228600 h 541867"/>
                <a:gd name="connsiteX11" fmla="*/ 3234266 w 4368800"/>
                <a:gd name="connsiteY11" fmla="*/ 220133 h 541867"/>
                <a:gd name="connsiteX12" fmla="*/ 3505200 w 4368800"/>
                <a:gd name="connsiteY12" fmla="*/ 16933 h 541867"/>
                <a:gd name="connsiteX13" fmla="*/ 3810000 w 4368800"/>
                <a:gd name="connsiteY13" fmla="*/ 152400 h 541867"/>
                <a:gd name="connsiteX14" fmla="*/ 4097866 w 4368800"/>
                <a:gd name="connsiteY14" fmla="*/ 59266 h 541867"/>
                <a:gd name="connsiteX15" fmla="*/ 4368800 w 4368800"/>
                <a:gd name="connsiteY15" fmla="*/ 135466 h 541867"/>
                <a:gd name="connsiteX0" fmla="*/ 0 w 4368800"/>
                <a:gd name="connsiteY0" fmla="*/ 541867 h 541867"/>
                <a:gd name="connsiteX1" fmla="*/ 270933 w 4368800"/>
                <a:gd name="connsiteY1" fmla="*/ 338666 h 541867"/>
                <a:gd name="connsiteX2" fmla="*/ 575733 w 4368800"/>
                <a:gd name="connsiteY2" fmla="*/ 431800 h 541867"/>
                <a:gd name="connsiteX3" fmla="*/ 880533 w 4368800"/>
                <a:gd name="connsiteY3" fmla="*/ 372533 h 541867"/>
                <a:gd name="connsiteX4" fmla="*/ 1134533 w 4368800"/>
                <a:gd name="connsiteY4" fmla="*/ 220133 h 541867"/>
                <a:gd name="connsiteX5" fmla="*/ 1456266 w 4368800"/>
                <a:gd name="connsiteY5" fmla="*/ 330200 h 541867"/>
                <a:gd name="connsiteX6" fmla="*/ 1727200 w 4368800"/>
                <a:gd name="connsiteY6" fmla="*/ 270933 h 541867"/>
                <a:gd name="connsiteX7" fmla="*/ 2048933 w 4368800"/>
                <a:gd name="connsiteY7" fmla="*/ 0 h 541867"/>
                <a:gd name="connsiteX8" fmla="*/ 2353733 w 4368800"/>
                <a:gd name="connsiteY8" fmla="*/ 304800 h 541867"/>
                <a:gd name="connsiteX9" fmla="*/ 2607733 w 4368800"/>
                <a:gd name="connsiteY9" fmla="*/ 186266 h 541867"/>
                <a:gd name="connsiteX10" fmla="*/ 2963334 w 4368800"/>
                <a:gd name="connsiteY10" fmla="*/ 152400 h 541867"/>
                <a:gd name="connsiteX11" fmla="*/ 3234266 w 4368800"/>
                <a:gd name="connsiteY11" fmla="*/ 220133 h 541867"/>
                <a:gd name="connsiteX12" fmla="*/ 3505200 w 4368800"/>
                <a:gd name="connsiteY12" fmla="*/ 16933 h 541867"/>
                <a:gd name="connsiteX13" fmla="*/ 3810000 w 4368800"/>
                <a:gd name="connsiteY13" fmla="*/ 152400 h 541867"/>
                <a:gd name="connsiteX14" fmla="*/ 4097866 w 4368800"/>
                <a:gd name="connsiteY14" fmla="*/ 59266 h 541867"/>
                <a:gd name="connsiteX15" fmla="*/ 4368800 w 4368800"/>
                <a:gd name="connsiteY15" fmla="*/ 135466 h 541867"/>
                <a:gd name="connsiteX0" fmla="*/ 0 w 4368800"/>
                <a:gd name="connsiteY0" fmla="*/ 575734 h 575734"/>
                <a:gd name="connsiteX1" fmla="*/ 270933 w 4368800"/>
                <a:gd name="connsiteY1" fmla="*/ 372533 h 575734"/>
                <a:gd name="connsiteX2" fmla="*/ 575733 w 4368800"/>
                <a:gd name="connsiteY2" fmla="*/ 465667 h 575734"/>
                <a:gd name="connsiteX3" fmla="*/ 880533 w 4368800"/>
                <a:gd name="connsiteY3" fmla="*/ 406400 h 575734"/>
                <a:gd name="connsiteX4" fmla="*/ 1134533 w 4368800"/>
                <a:gd name="connsiteY4" fmla="*/ 254000 h 575734"/>
                <a:gd name="connsiteX5" fmla="*/ 1456266 w 4368800"/>
                <a:gd name="connsiteY5" fmla="*/ 364067 h 575734"/>
                <a:gd name="connsiteX6" fmla="*/ 1727200 w 4368800"/>
                <a:gd name="connsiteY6" fmla="*/ 304800 h 575734"/>
                <a:gd name="connsiteX7" fmla="*/ 2048933 w 4368800"/>
                <a:gd name="connsiteY7" fmla="*/ 33867 h 575734"/>
                <a:gd name="connsiteX8" fmla="*/ 2353733 w 4368800"/>
                <a:gd name="connsiteY8" fmla="*/ 338667 h 575734"/>
                <a:gd name="connsiteX9" fmla="*/ 2607733 w 4368800"/>
                <a:gd name="connsiteY9" fmla="*/ 220133 h 575734"/>
                <a:gd name="connsiteX10" fmla="*/ 2963334 w 4368800"/>
                <a:gd name="connsiteY10" fmla="*/ 186267 h 575734"/>
                <a:gd name="connsiteX11" fmla="*/ 3234266 w 4368800"/>
                <a:gd name="connsiteY11" fmla="*/ 254000 h 575734"/>
                <a:gd name="connsiteX12" fmla="*/ 3505200 w 4368800"/>
                <a:gd name="connsiteY12" fmla="*/ 0 h 575734"/>
                <a:gd name="connsiteX13" fmla="*/ 3810000 w 4368800"/>
                <a:gd name="connsiteY13" fmla="*/ 186267 h 575734"/>
                <a:gd name="connsiteX14" fmla="*/ 4097866 w 4368800"/>
                <a:gd name="connsiteY14" fmla="*/ 93133 h 575734"/>
                <a:gd name="connsiteX15" fmla="*/ 4368800 w 4368800"/>
                <a:gd name="connsiteY15" fmla="*/ 169333 h 575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368800" h="575734">
                  <a:moveTo>
                    <a:pt x="0" y="575734"/>
                  </a:moveTo>
                  <a:lnTo>
                    <a:pt x="270933" y="372533"/>
                  </a:lnTo>
                  <a:lnTo>
                    <a:pt x="575733" y="465667"/>
                  </a:lnTo>
                  <a:lnTo>
                    <a:pt x="880533" y="406400"/>
                  </a:lnTo>
                  <a:lnTo>
                    <a:pt x="1134533" y="254000"/>
                  </a:lnTo>
                  <a:lnTo>
                    <a:pt x="1456266" y="364067"/>
                  </a:lnTo>
                  <a:lnTo>
                    <a:pt x="1727200" y="304800"/>
                  </a:lnTo>
                  <a:lnTo>
                    <a:pt x="2048933" y="33867"/>
                  </a:lnTo>
                  <a:lnTo>
                    <a:pt x="2353733" y="338667"/>
                  </a:lnTo>
                  <a:cubicBezTo>
                    <a:pt x="2438400" y="299156"/>
                    <a:pt x="2506133" y="245533"/>
                    <a:pt x="2607733" y="220133"/>
                  </a:cubicBezTo>
                  <a:cubicBezTo>
                    <a:pt x="2709333" y="194733"/>
                    <a:pt x="2844800" y="197556"/>
                    <a:pt x="2963334" y="186267"/>
                  </a:cubicBezTo>
                  <a:lnTo>
                    <a:pt x="3234266" y="254000"/>
                  </a:lnTo>
                  <a:lnTo>
                    <a:pt x="3505200" y="0"/>
                  </a:lnTo>
                  <a:lnTo>
                    <a:pt x="3810000" y="186267"/>
                  </a:lnTo>
                  <a:lnTo>
                    <a:pt x="4097866" y="93133"/>
                  </a:lnTo>
                  <a:lnTo>
                    <a:pt x="4368800" y="169333"/>
                  </a:lnTo>
                </a:path>
              </a:pathLst>
            </a:custGeom>
            <a:ln>
              <a:solidFill>
                <a:schemeClr val="bg1">
                  <a:lumMod val="5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grpSp>
        <p:nvGrpSpPr>
          <p:cNvPr id="214" name="그룹 213">
            <a:extLst>
              <a:ext uri="{FF2B5EF4-FFF2-40B4-BE49-F238E27FC236}">
                <a16:creationId xmlns:a16="http://schemas.microsoft.com/office/drawing/2014/main" id="{2F32BCDB-16C3-417B-9670-993A79916E05}"/>
              </a:ext>
            </a:extLst>
          </p:cNvPr>
          <p:cNvGrpSpPr/>
          <p:nvPr/>
        </p:nvGrpSpPr>
        <p:grpSpPr>
          <a:xfrm>
            <a:off x="3188979" y="5347287"/>
            <a:ext cx="2430416" cy="190268"/>
            <a:chOff x="3418761" y="4940755"/>
            <a:chExt cx="2430416" cy="190268"/>
          </a:xfrm>
        </p:grpSpPr>
        <p:grpSp>
          <p:nvGrpSpPr>
            <p:cNvPr id="215" name="그룹 214">
              <a:extLst>
                <a:ext uri="{FF2B5EF4-FFF2-40B4-BE49-F238E27FC236}">
                  <a16:creationId xmlns:a16="http://schemas.microsoft.com/office/drawing/2014/main" id="{DC959AD5-B9EE-4568-A7C6-408C224231D0}"/>
                </a:ext>
              </a:extLst>
            </p:cNvPr>
            <p:cNvGrpSpPr/>
            <p:nvPr/>
          </p:nvGrpSpPr>
          <p:grpSpPr>
            <a:xfrm>
              <a:off x="3418761" y="4940755"/>
              <a:ext cx="1835844" cy="184666"/>
              <a:chOff x="3535608" y="4989368"/>
              <a:chExt cx="1835844" cy="184666"/>
            </a:xfrm>
          </p:grpSpPr>
          <p:sp>
            <p:nvSpPr>
              <p:cNvPr id="218" name="사각형: 둥근 모서리 217">
                <a:extLst>
                  <a:ext uri="{FF2B5EF4-FFF2-40B4-BE49-F238E27FC236}">
                    <a16:creationId xmlns:a16="http://schemas.microsoft.com/office/drawing/2014/main" id="{7650601B-1BD7-4088-88DF-3352D5BF31D2}"/>
                  </a:ext>
                </a:extLst>
              </p:cNvPr>
              <p:cNvSpPr/>
              <p:nvPr/>
            </p:nvSpPr>
            <p:spPr>
              <a:xfrm>
                <a:off x="3535608" y="5016742"/>
                <a:ext cx="257502" cy="129918"/>
              </a:xfrm>
              <a:prstGeom prst="roundRect">
                <a:avLst/>
              </a:prstGeom>
              <a:solidFill>
                <a:schemeClr val="tx2">
                  <a:lumMod val="60000"/>
                  <a:lumOff val="40000"/>
                </a:schemeClr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19" name="TextBox 218">
                <a:extLst>
                  <a:ext uri="{FF2B5EF4-FFF2-40B4-BE49-F238E27FC236}">
                    <a16:creationId xmlns:a16="http://schemas.microsoft.com/office/drawing/2014/main" id="{F72EA73D-AC73-4521-B5C1-06B1173E0AF5}"/>
                  </a:ext>
                </a:extLst>
              </p:cNvPr>
              <p:cNvSpPr txBox="1"/>
              <p:nvPr/>
            </p:nvSpPr>
            <p:spPr>
              <a:xfrm>
                <a:off x="3694256" y="4989368"/>
                <a:ext cx="418353" cy="18466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600" dirty="0">
                    <a:solidFill>
                      <a:schemeClr val="bg1"/>
                    </a:solidFill>
                  </a:rPr>
                  <a:t>PCS</a:t>
                </a:r>
                <a:endParaRPr lang="ko-KR" altLang="en-US" sz="600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220" name="사각형: 둥근 모서리 219">
                <a:extLst>
                  <a:ext uri="{FF2B5EF4-FFF2-40B4-BE49-F238E27FC236}">
                    <a16:creationId xmlns:a16="http://schemas.microsoft.com/office/drawing/2014/main" id="{8CF6A5A7-4EB6-4461-A989-51960F4FF31B}"/>
                  </a:ext>
                </a:extLst>
              </p:cNvPr>
              <p:cNvSpPr/>
              <p:nvPr/>
            </p:nvSpPr>
            <p:spPr>
              <a:xfrm>
                <a:off x="4158568" y="5016742"/>
                <a:ext cx="257502" cy="129918"/>
              </a:xfrm>
              <a:prstGeom prst="roundRect">
                <a:avLst/>
              </a:prstGeom>
              <a:solidFill>
                <a:schemeClr val="accent3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21" name="TextBox 220">
                <a:extLst>
                  <a:ext uri="{FF2B5EF4-FFF2-40B4-BE49-F238E27FC236}">
                    <a16:creationId xmlns:a16="http://schemas.microsoft.com/office/drawing/2014/main" id="{D8500DC4-44AF-445D-8F28-9E2236B27FF1}"/>
                  </a:ext>
                </a:extLst>
              </p:cNvPr>
              <p:cNvSpPr txBox="1"/>
              <p:nvPr/>
            </p:nvSpPr>
            <p:spPr>
              <a:xfrm>
                <a:off x="4317216" y="4989368"/>
                <a:ext cx="418353" cy="18466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600" dirty="0">
                    <a:solidFill>
                      <a:schemeClr val="bg1"/>
                    </a:solidFill>
                  </a:rPr>
                  <a:t>BMS</a:t>
                </a:r>
                <a:endParaRPr lang="ko-KR" altLang="en-US" sz="600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222" name="사각형: 둥근 모서리 221">
                <a:extLst>
                  <a:ext uri="{FF2B5EF4-FFF2-40B4-BE49-F238E27FC236}">
                    <a16:creationId xmlns:a16="http://schemas.microsoft.com/office/drawing/2014/main" id="{F85DE41F-E16A-40D0-977A-F88C996B6AFC}"/>
                  </a:ext>
                </a:extLst>
              </p:cNvPr>
              <p:cNvSpPr/>
              <p:nvPr/>
            </p:nvSpPr>
            <p:spPr>
              <a:xfrm>
                <a:off x="4794451" y="5016742"/>
                <a:ext cx="257502" cy="129918"/>
              </a:xfrm>
              <a:prstGeom prst="roundRect">
                <a:avLst/>
              </a:prstGeom>
              <a:solidFill>
                <a:srgbClr val="FFC0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23" name="TextBox 222">
                <a:extLst>
                  <a:ext uri="{FF2B5EF4-FFF2-40B4-BE49-F238E27FC236}">
                    <a16:creationId xmlns:a16="http://schemas.microsoft.com/office/drawing/2014/main" id="{1CBFBAC4-3AA7-47AC-AEC6-FDA30892D24A}"/>
                  </a:ext>
                </a:extLst>
              </p:cNvPr>
              <p:cNvSpPr txBox="1"/>
              <p:nvPr/>
            </p:nvSpPr>
            <p:spPr>
              <a:xfrm>
                <a:off x="4953099" y="4989368"/>
                <a:ext cx="418353" cy="18466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600" dirty="0">
                    <a:solidFill>
                      <a:schemeClr val="bg1"/>
                    </a:solidFill>
                  </a:rPr>
                  <a:t>PV</a:t>
                </a:r>
                <a:endParaRPr lang="ko-KR" altLang="en-US" sz="600" dirty="0">
                  <a:solidFill>
                    <a:schemeClr val="bg1"/>
                  </a:solidFill>
                </a:endParaRPr>
              </a:p>
            </p:txBody>
          </p:sp>
        </p:grpSp>
        <p:sp>
          <p:nvSpPr>
            <p:cNvPr id="216" name="사각형: 둥근 모서리 215">
              <a:extLst>
                <a:ext uri="{FF2B5EF4-FFF2-40B4-BE49-F238E27FC236}">
                  <a16:creationId xmlns:a16="http://schemas.microsoft.com/office/drawing/2014/main" id="{7608AB04-5FB6-43BA-8E50-980B01AF1969}"/>
                </a:ext>
              </a:extLst>
            </p:cNvPr>
            <p:cNvSpPr/>
            <p:nvPr/>
          </p:nvSpPr>
          <p:spPr>
            <a:xfrm>
              <a:off x="5272176" y="4973731"/>
              <a:ext cx="257502" cy="129918"/>
            </a:xfrm>
            <a:prstGeom prst="roundRect">
              <a:avLst/>
            </a:prstGeom>
            <a:solidFill>
              <a:schemeClr val="accent4">
                <a:lumMod val="75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17" name="TextBox 216">
              <a:extLst>
                <a:ext uri="{FF2B5EF4-FFF2-40B4-BE49-F238E27FC236}">
                  <a16:creationId xmlns:a16="http://schemas.microsoft.com/office/drawing/2014/main" id="{5F73DC63-4B35-4E3C-B288-5B1170B08AA0}"/>
                </a:ext>
              </a:extLst>
            </p:cNvPr>
            <p:cNvSpPr txBox="1"/>
            <p:nvPr/>
          </p:nvSpPr>
          <p:spPr>
            <a:xfrm>
              <a:off x="5430824" y="4946357"/>
              <a:ext cx="41835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600" dirty="0">
                  <a:solidFill>
                    <a:schemeClr val="bg1"/>
                  </a:solidFill>
                </a:rPr>
                <a:t>IOE</a:t>
              </a:r>
              <a:endParaRPr lang="ko-KR" altLang="en-US" sz="600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224" name="그룹 223">
            <a:extLst>
              <a:ext uri="{FF2B5EF4-FFF2-40B4-BE49-F238E27FC236}">
                <a16:creationId xmlns:a16="http://schemas.microsoft.com/office/drawing/2014/main" id="{8DE4101C-9076-426F-A570-DC060E0E8E0A}"/>
              </a:ext>
            </a:extLst>
          </p:cNvPr>
          <p:cNvGrpSpPr/>
          <p:nvPr/>
        </p:nvGrpSpPr>
        <p:grpSpPr>
          <a:xfrm>
            <a:off x="4945064" y="4437064"/>
            <a:ext cx="869295" cy="376502"/>
            <a:chOff x="4137026" y="5220442"/>
            <a:chExt cx="869295" cy="376502"/>
          </a:xfrm>
        </p:grpSpPr>
        <p:sp>
          <p:nvSpPr>
            <p:cNvPr id="225" name="TextBox 224">
              <a:extLst>
                <a:ext uri="{FF2B5EF4-FFF2-40B4-BE49-F238E27FC236}">
                  <a16:creationId xmlns:a16="http://schemas.microsoft.com/office/drawing/2014/main" id="{64CBFC85-61C1-4ED5-82A9-597B35B563E6}"/>
                </a:ext>
              </a:extLst>
            </p:cNvPr>
            <p:cNvSpPr txBox="1"/>
            <p:nvPr/>
          </p:nvSpPr>
          <p:spPr>
            <a:xfrm>
              <a:off x="4179571" y="5220442"/>
              <a:ext cx="41835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600" dirty="0">
                  <a:solidFill>
                    <a:schemeClr val="bg1"/>
                  </a:solidFill>
                </a:rPr>
                <a:t>PV_1</a:t>
              </a:r>
              <a:endParaRPr lang="ko-KR" altLang="en-US" sz="600" dirty="0">
                <a:solidFill>
                  <a:schemeClr val="bg1"/>
                </a:solidFill>
              </a:endParaRPr>
            </a:p>
          </p:txBody>
        </p:sp>
        <p:sp>
          <p:nvSpPr>
            <p:cNvPr id="228" name="TextBox 227">
              <a:extLst>
                <a:ext uri="{FF2B5EF4-FFF2-40B4-BE49-F238E27FC236}">
                  <a16:creationId xmlns:a16="http://schemas.microsoft.com/office/drawing/2014/main" id="{E30D835F-33D1-4079-82F5-7780F0C06A44}"/>
                </a:ext>
              </a:extLst>
            </p:cNvPr>
            <p:cNvSpPr txBox="1"/>
            <p:nvPr/>
          </p:nvSpPr>
          <p:spPr>
            <a:xfrm>
              <a:off x="4407707" y="5327235"/>
              <a:ext cx="59861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500" dirty="0">
                  <a:solidFill>
                    <a:schemeClr val="bg1"/>
                  </a:solidFill>
                </a:rPr>
                <a:t>0 kWh</a:t>
              </a:r>
              <a:endParaRPr lang="ko-KR" altLang="en-US" sz="500" dirty="0">
                <a:solidFill>
                  <a:schemeClr val="bg1"/>
                </a:solidFill>
              </a:endParaRPr>
            </a:p>
          </p:txBody>
        </p:sp>
        <p:sp>
          <p:nvSpPr>
            <p:cNvPr id="229" name="TextBox 228">
              <a:extLst>
                <a:ext uri="{FF2B5EF4-FFF2-40B4-BE49-F238E27FC236}">
                  <a16:creationId xmlns:a16="http://schemas.microsoft.com/office/drawing/2014/main" id="{75BD2265-90B4-4017-AB04-A5D8064C366E}"/>
                </a:ext>
              </a:extLst>
            </p:cNvPr>
            <p:cNvSpPr txBox="1"/>
            <p:nvPr/>
          </p:nvSpPr>
          <p:spPr>
            <a:xfrm>
              <a:off x="4407707" y="5427667"/>
              <a:ext cx="59861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500" dirty="0">
                  <a:solidFill>
                    <a:schemeClr val="bg1"/>
                  </a:solidFill>
                </a:rPr>
                <a:t>0 kWh</a:t>
              </a:r>
              <a:endParaRPr lang="ko-KR" altLang="en-US" sz="500" dirty="0">
                <a:solidFill>
                  <a:schemeClr val="bg1"/>
                </a:solidFill>
              </a:endParaRPr>
            </a:p>
          </p:txBody>
        </p:sp>
        <p:sp>
          <p:nvSpPr>
            <p:cNvPr id="230" name="TextBox 229">
              <a:extLst>
                <a:ext uri="{FF2B5EF4-FFF2-40B4-BE49-F238E27FC236}">
                  <a16:creationId xmlns:a16="http://schemas.microsoft.com/office/drawing/2014/main" id="{6B764FCC-0D65-46B6-896F-B3703617BF5D}"/>
                </a:ext>
              </a:extLst>
            </p:cNvPr>
            <p:cNvSpPr txBox="1"/>
            <p:nvPr/>
          </p:nvSpPr>
          <p:spPr>
            <a:xfrm>
              <a:off x="4142240" y="5323645"/>
              <a:ext cx="52680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500" dirty="0">
                  <a:solidFill>
                    <a:schemeClr val="bg1"/>
                  </a:solidFill>
                </a:rPr>
                <a:t>누적 발전량</a:t>
              </a:r>
            </a:p>
          </p:txBody>
        </p:sp>
        <p:sp>
          <p:nvSpPr>
            <p:cNvPr id="231" name="TextBox 230">
              <a:extLst>
                <a:ext uri="{FF2B5EF4-FFF2-40B4-BE49-F238E27FC236}">
                  <a16:creationId xmlns:a16="http://schemas.microsoft.com/office/drawing/2014/main" id="{0CEE2281-B466-4753-81FF-FF77BF710754}"/>
                </a:ext>
              </a:extLst>
            </p:cNvPr>
            <p:cNvSpPr txBox="1"/>
            <p:nvPr/>
          </p:nvSpPr>
          <p:spPr>
            <a:xfrm>
              <a:off x="4137026" y="5425750"/>
              <a:ext cx="5426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500" dirty="0">
                  <a:solidFill>
                    <a:schemeClr val="bg1"/>
                  </a:solidFill>
                </a:rPr>
                <a:t>예측 발전량</a:t>
              </a:r>
            </a:p>
          </p:txBody>
        </p:sp>
      </p:grpSp>
      <p:grpSp>
        <p:nvGrpSpPr>
          <p:cNvPr id="232" name="그룹 231">
            <a:extLst>
              <a:ext uri="{FF2B5EF4-FFF2-40B4-BE49-F238E27FC236}">
                <a16:creationId xmlns:a16="http://schemas.microsoft.com/office/drawing/2014/main" id="{8079280D-0E84-4855-A5D0-D7F4D55441E7}"/>
              </a:ext>
            </a:extLst>
          </p:cNvPr>
          <p:cNvGrpSpPr/>
          <p:nvPr/>
        </p:nvGrpSpPr>
        <p:grpSpPr>
          <a:xfrm>
            <a:off x="3642372" y="4446930"/>
            <a:ext cx="776403" cy="451529"/>
            <a:chOff x="4137026" y="5220442"/>
            <a:chExt cx="542695" cy="451529"/>
          </a:xfrm>
        </p:grpSpPr>
        <p:sp>
          <p:nvSpPr>
            <p:cNvPr id="233" name="TextBox 232">
              <a:extLst>
                <a:ext uri="{FF2B5EF4-FFF2-40B4-BE49-F238E27FC236}">
                  <a16:creationId xmlns:a16="http://schemas.microsoft.com/office/drawing/2014/main" id="{05C902A6-CDC5-444C-A525-A03C76CA75C1}"/>
                </a:ext>
              </a:extLst>
            </p:cNvPr>
            <p:cNvSpPr txBox="1"/>
            <p:nvPr/>
          </p:nvSpPr>
          <p:spPr>
            <a:xfrm>
              <a:off x="4179571" y="5220442"/>
              <a:ext cx="41835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dirty="0">
                  <a:solidFill>
                    <a:schemeClr val="bg1"/>
                  </a:solidFill>
                </a:rPr>
                <a:t>IOT_2</a:t>
              </a:r>
              <a:endParaRPr lang="ko-KR" altLang="en-US" sz="600" dirty="0">
                <a:solidFill>
                  <a:schemeClr val="bg1"/>
                </a:solidFill>
              </a:endParaRPr>
            </a:p>
          </p:txBody>
        </p:sp>
        <p:sp>
          <p:nvSpPr>
            <p:cNvPr id="234" name="TextBox 233">
              <a:extLst>
                <a:ext uri="{FF2B5EF4-FFF2-40B4-BE49-F238E27FC236}">
                  <a16:creationId xmlns:a16="http://schemas.microsoft.com/office/drawing/2014/main" id="{4553383F-4A99-472C-8659-D4F21DFE97AE}"/>
                </a:ext>
              </a:extLst>
            </p:cNvPr>
            <p:cNvSpPr txBox="1"/>
            <p:nvPr/>
          </p:nvSpPr>
          <p:spPr>
            <a:xfrm>
              <a:off x="4142240" y="5323645"/>
              <a:ext cx="52680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500" b="1" dirty="0">
                  <a:solidFill>
                    <a:srgbClr val="92D050"/>
                  </a:solidFill>
                </a:rPr>
                <a:t>Connected</a:t>
              </a:r>
              <a:endParaRPr lang="ko-KR" altLang="en-US" sz="500" b="1" dirty="0">
                <a:solidFill>
                  <a:srgbClr val="92D050"/>
                </a:solidFill>
              </a:endParaRPr>
            </a:p>
          </p:txBody>
        </p:sp>
        <p:sp>
          <p:nvSpPr>
            <p:cNvPr id="235" name="TextBox 234">
              <a:extLst>
                <a:ext uri="{FF2B5EF4-FFF2-40B4-BE49-F238E27FC236}">
                  <a16:creationId xmlns:a16="http://schemas.microsoft.com/office/drawing/2014/main" id="{3E082308-7186-4D49-B468-7939DC10C312}"/>
                </a:ext>
              </a:extLst>
            </p:cNvPr>
            <p:cNvSpPr txBox="1"/>
            <p:nvPr/>
          </p:nvSpPr>
          <p:spPr>
            <a:xfrm>
              <a:off x="4137026" y="5425750"/>
              <a:ext cx="54269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500" dirty="0">
                  <a:solidFill>
                    <a:schemeClr val="bg1"/>
                  </a:solidFill>
                </a:rPr>
                <a:t>2018-07-01 1:12:12</a:t>
              </a:r>
              <a:endParaRPr lang="ko-KR" altLang="en-US" sz="500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236" name="그룹 235">
            <a:extLst>
              <a:ext uri="{FF2B5EF4-FFF2-40B4-BE49-F238E27FC236}">
                <a16:creationId xmlns:a16="http://schemas.microsoft.com/office/drawing/2014/main" id="{549280AD-7504-4C08-9BA2-8362B73C1C60}"/>
              </a:ext>
            </a:extLst>
          </p:cNvPr>
          <p:cNvGrpSpPr/>
          <p:nvPr/>
        </p:nvGrpSpPr>
        <p:grpSpPr>
          <a:xfrm>
            <a:off x="4290161" y="4446217"/>
            <a:ext cx="776403" cy="451529"/>
            <a:chOff x="4137026" y="5220442"/>
            <a:chExt cx="542695" cy="451529"/>
          </a:xfrm>
        </p:grpSpPr>
        <p:sp>
          <p:nvSpPr>
            <p:cNvPr id="237" name="TextBox 236">
              <a:extLst>
                <a:ext uri="{FF2B5EF4-FFF2-40B4-BE49-F238E27FC236}">
                  <a16:creationId xmlns:a16="http://schemas.microsoft.com/office/drawing/2014/main" id="{8D0D3963-51BB-4AE4-8420-A9154F7DB14C}"/>
                </a:ext>
              </a:extLst>
            </p:cNvPr>
            <p:cNvSpPr txBox="1"/>
            <p:nvPr/>
          </p:nvSpPr>
          <p:spPr>
            <a:xfrm>
              <a:off x="4179571" y="5220442"/>
              <a:ext cx="41835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dirty="0">
                  <a:solidFill>
                    <a:schemeClr val="bg1"/>
                  </a:solidFill>
                </a:rPr>
                <a:t>IOT_3</a:t>
              </a:r>
              <a:endParaRPr lang="ko-KR" altLang="en-US" sz="600" dirty="0">
                <a:solidFill>
                  <a:schemeClr val="bg1"/>
                </a:solidFill>
              </a:endParaRPr>
            </a:p>
          </p:txBody>
        </p:sp>
        <p:sp>
          <p:nvSpPr>
            <p:cNvPr id="238" name="TextBox 237">
              <a:extLst>
                <a:ext uri="{FF2B5EF4-FFF2-40B4-BE49-F238E27FC236}">
                  <a16:creationId xmlns:a16="http://schemas.microsoft.com/office/drawing/2014/main" id="{3F1E6AA9-200D-4BC3-9DB3-8399A021C6BE}"/>
                </a:ext>
              </a:extLst>
            </p:cNvPr>
            <p:cNvSpPr txBox="1"/>
            <p:nvPr/>
          </p:nvSpPr>
          <p:spPr>
            <a:xfrm>
              <a:off x="4142240" y="5323645"/>
              <a:ext cx="52680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500" b="1" dirty="0">
                  <a:solidFill>
                    <a:srgbClr val="92D050"/>
                  </a:solidFill>
                </a:rPr>
                <a:t>Connected</a:t>
              </a:r>
              <a:endParaRPr lang="ko-KR" altLang="en-US" sz="500" b="1" dirty="0">
                <a:solidFill>
                  <a:srgbClr val="92D050"/>
                </a:solidFill>
              </a:endParaRPr>
            </a:p>
          </p:txBody>
        </p:sp>
        <p:sp>
          <p:nvSpPr>
            <p:cNvPr id="239" name="TextBox 238">
              <a:extLst>
                <a:ext uri="{FF2B5EF4-FFF2-40B4-BE49-F238E27FC236}">
                  <a16:creationId xmlns:a16="http://schemas.microsoft.com/office/drawing/2014/main" id="{EC73987D-564E-4B77-B241-C44223B775CD}"/>
                </a:ext>
              </a:extLst>
            </p:cNvPr>
            <p:cNvSpPr txBox="1"/>
            <p:nvPr/>
          </p:nvSpPr>
          <p:spPr>
            <a:xfrm>
              <a:off x="4137026" y="5425750"/>
              <a:ext cx="54269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500" dirty="0">
                  <a:solidFill>
                    <a:schemeClr val="bg1"/>
                  </a:solidFill>
                </a:rPr>
                <a:t>2018-07-01 1:12:12</a:t>
              </a:r>
              <a:endParaRPr lang="ko-KR" altLang="en-US" sz="500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240" name="그룹 239">
            <a:extLst>
              <a:ext uri="{FF2B5EF4-FFF2-40B4-BE49-F238E27FC236}">
                <a16:creationId xmlns:a16="http://schemas.microsoft.com/office/drawing/2014/main" id="{67F329F7-C7AE-491D-8441-5783A85BC61E}"/>
              </a:ext>
            </a:extLst>
          </p:cNvPr>
          <p:cNvGrpSpPr/>
          <p:nvPr/>
        </p:nvGrpSpPr>
        <p:grpSpPr>
          <a:xfrm>
            <a:off x="6162489" y="3290071"/>
            <a:ext cx="1997715" cy="363942"/>
            <a:chOff x="2987840" y="283425"/>
            <a:chExt cx="1933365" cy="363942"/>
          </a:xfrm>
        </p:grpSpPr>
        <p:cxnSp>
          <p:nvCxnSpPr>
            <p:cNvPr id="241" name="직선 연결선 240">
              <a:extLst>
                <a:ext uri="{FF2B5EF4-FFF2-40B4-BE49-F238E27FC236}">
                  <a16:creationId xmlns:a16="http://schemas.microsoft.com/office/drawing/2014/main" id="{EC31AF4D-BB73-419D-8CF4-6EB50DF8B50E}"/>
                </a:ext>
              </a:extLst>
            </p:cNvPr>
            <p:cNvCxnSpPr/>
            <p:nvPr/>
          </p:nvCxnSpPr>
          <p:spPr>
            <a:xfrm>
              <a:off x="2987840" y="392891"/>
              <a:ext cx="144000" cy="0"/>
            </a:xfrm>
            <a:prstGeom prst="line">
              <a:avLst/>
            </a:prstGeom>
            <a:ln w="19050">
              <a:solidFill>
                <a:schemeClr val="accent6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2" name="직사각형 241">
              <a:extLst>
                <a:ext uri="{FF2B5EF4-FFF2-40B4-BE49-F238E27FC236}">
                  <a16:creationId xmlns:a16="http://schemas.microsoft.com/office/drawing/2014/main" id="{2F555A4E-2545-47FB-B287-AA9F7F7D95D2}"/>
                </a:ext>
              </a:extLst>
            </p:cNvPr>
            <p:cNvSpPr/>
            <p:nvPr/>
          </p:nvSpPr>
          <p:spPr>
            <a:xfrm>
              <a:off x="3072010" y="285820"/>
              <a:ext cx="1008112" cy="36004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>
                <a:lnSpc>
                  <a:spcPct val="150000"/>
                </a:lnSpc>
              </a:pPr>
              <a:r>
                <a:rPr lang="ko-KR" altLang="en-US" sz="5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충전</a:t>
              </a:r>
            </a:p>
          </p:txBody>
        </p:sp>
        <p:cxnSp>
          <p:nvCxnSpPr>
            <p:cNvPr id="243" name="직선 연결선 242">
              <a:extLst>
                <a:ext uri="{FF2B5EF4-FFF2-40B4-BE49-F238E27FC236}">
                  <a16:creationId xmlns:a16="http://schemas.microsoft.com/office/drawing/2014/main" id="{2CA159E9-D4F7-4613-9795-531688CC0116}"/>
                </a:ext>
              </a:extLst>
            </p:cNvPr>
            <p:cNvCxnSpPr/>
            <p:nvPr/>
          </p:nvCxnSpPr>
          <p:spPr>
            <a:xfrm>
              <a:off x="3410158" y="392891"/>
              <a:ext cx="144000" cy="0"/>
            </a:xfrm>
            <a:prstGeom prst="line">
              <a:avLst/>
            </a:prstGeom>
            <a:noFill/>
            <a:ln w="19050">
              <a:solidFill>
                <a:schemeClr val="tx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49" name="직사각형 248">
              <a:extLst>
                <a:ext uri="{FF2B5EF4-FFF2-40B4-BE49-F238E27FC236}">
                  <a16:creationId xmlns:a16="http://schemas.microsoft.com/office/drawing/2014/main" id="{4A8696FD-64C2-42AC-8776-16B99E2253AE}"/>
                </a:ext>
              </a:extLst>
            </p:cNvPr>
            <p:cNvSpPr/>
            <p:nvPr/>
          </p:nvSpPr>
          <p:spPr>
            <a:xfrm>
              <a:off x="3497913" y="283425"/>
              <a:ext cx="1008112" cy="36004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>
                <a:lnSpc>
                  <a:spcPct val="150000"/>
                </a:lnSpc>
              </a:pPr>
              <a:r>
                <a:rPr lang="ko-KR" altLang="en-US" sz="5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방전</a:t>
              </a:r>
            </a:p>
          </p:txBody>
        </p:sp>
        <p:cxnSp>
          <p:nvCxnSpPr>
            <p:cNvPr id="250" name="직선 연결선 249">
              <a:extLst>
                <a:ext uri="{FF2B5EF4-FFF2-40B4-BE49-F238E27FC236}">
                  <a16:creationId xmlns:a16="http://schemas.microsoft.com/office/drawing/2014/main" id="{072F361B-804F-4AA7-B138-76FBEAA14FC0}"/>
                </a:ext>
              </a:extLst>
            </p:cNvPr>
            <p:cNvCxnSpPr/>
            <p:nvPr/>
          </p:nvCxnSpPr>
          <p:spPr>
            <a:xfrm>
              <a:off x="4357958" y="392891"/>
              <a:ext cx="144000" cy="0"/>
            </a:xfrm>
            <a:prstGeom prst="line">
              <a:avLst/>
            </a:prstGeom>
            <a:ln w="12700">
              <a:solidFill>
                <a:schemeClr val="accent3">
                  <a:lumMod val="7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1" name="직사각형 250">
              <a:extLst>
                <a:ext uri="{FF2B5EF4-FFF2-40B4-BE49-F238E27FC236}">
                  <a16:creationId xmlns:a16="http://schemas.microsoft.com/office/drawing/2014/main" id="{CF14E13D-1B3E-45C8-A275-5A59CDB79988}"/>
                </a:ext>
              </a:extLst>
            </p:cNvPr>
            <p:cNvSpPr/>
            <p:nvPr/>
          </p:nvSpPr>
          <p:spPr>
            <a:xfrm>
              <a:off x="4433158" y="287327"/>
              <a:ext cx="459790" cy="36004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>
                <a:lnSpc>
                  <a:spcPct val="150000"/>
                </a:lnSpc>
              </a:pPr>
              <a:r>
                <a:rPr lang="ko-KR" altLang="en-US" sz="5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방전 계획</a:t>
              </a:r>
            </a:p>
          </p:txBody>
        </p:sp>
        <p:cxnSp>
          <p:nvCxnSpPr>
            <p:cNvPr id="252" name="직선 연결선 251">
              <a:extLst>
                <a:ext uri="{FF2B5EF4-FFF2-40B4-BE49-F238E27FC236}">
                  <a16:creationId xmlns:a16="http://schemas.microsoft.com/office/drawing/2014/main" id="{4BC42591-7216-4B99-AB64-BD013EB3A369}"/>
                </a:ext>
              </a:extLst>
            </p:cNvPr>
            <p:cNvCxnSpPr/>
            <p:nvPr/>
          </p:nvCxnSpPr>
          <p:spPr>
            <a:xfrm>
              <a:off x="3842877" y="392891"/>
              <a:ext cx="144000" cy="0"/>
            </a:xfrm>
            <a:prstGeom prst="line">
              <a:avLst/>
            </a:prstGeom>
            <a:ln w="12700">
              <a:solidFill>
                <a:schemeClr val="tx1">
                  <a:lumMod val="65000"/>
                  <a:lumOff val="3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3" name="직사각형 252">
              <a:extLst>
                <a:ext uri="{FF2B5EF4-FFF2-40B4-BE49-F238E27FC236}">
                  <a16:creationId xmlns:a16="http://schemas.microsoft.com/office/drawing/2014/main" id="{ABC66FF9-0F7D-4DCA-96C1-70EEA8135441}"/>
                </a:ext>
              </a:extLst>
            </p:cNvPr>
            <p:cNvSpPr/>
            <p:nvPr/>
          </p:nvSpPr>
          <p:spPr>
            <a:xfrm>
              <a:off x="3913093" y="285103"/>
              <a:ext cx="1008112" cy="36004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>
                <a:lnSpc>
                  <a:spcPct val="150000"/>
                </a:lnSpc>
              </a:pPr>
              <a:r>
                <a:rPr lang="ko-KR" altLang="en-US" sz="5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충전 계획</a:t>
              </a:r>
            </a:p>
          </p:txBody>
        </p:sp>
      </p:grpSp>
      <p:grpSp>
        <p:nvGrpSpPr>
          <p:cNvPr id="255" name="그룹 254">
            <a:extLst>
              <a:ext uri="{FF2B5EF4-FFF2-40B4-BE49-F238E27FC236}">
                <a16:creationId xmlns:a16="http://schemas.microsoft.com/office/drawing/2014/main" id="{B0A013A4-7660-406E-A269-4BD18D610531}"/>
              </a:ext>
            </a:extLst>
          </p:cNvPr>
          <p:cNvGrpSpPr/>
          <p:nvPr/>
        </p:nvGrpSpPr>
        <p:grpSpPr>
          <a:xfrm>
            <a:off x="563396" y="3823768"/>
            <a:ext cx="2230525" cy="380169"/>
            <a:chOff x="1530621" y="2825422"/>
            <a:chExt cx="7060643" cy="1737220"/>
          </a:xfrm>
        </p:grpSpPr>
        <p:sp>
          <p:nvSpPr>
            <p:cNvPr id="256" name="자유형 83">
              <a:extLst>
                <a:ext uri="{FF2B5EF4-FFF2-40B4-BE49-F238E27FC236}">
                  <a16:creationId xmlns:a16="http://schemas.microsoft.com/office/drawing/2014/main" id="{101F247F-CB60-4D9D-8C54-7833E3EA7347}"/>
                </a:ext>
              </a:extLst>
            </p:cNvPr>
            <p:cNvSpPr/>
            <p:nvPr/>
          </p:nvSpPr>
          <p:spPr>
            <a:xfrm>
              <a:off x="1530621" y="2831921"/>
              <a:ext cx="3422156" cy="1730721"/>
            </a:xfrm>
            <a:custGeom>
              <a:avLst/>
              <a:gdLst>
                <a:gd name="connsiteX0" fmla="*/ 0 w 4368800"/>
                <a:gd name="connsiteY0" fmla="*/ 389467 h 414867"/>
                <a:gd name="connsiteX1" fmla="*/ 270933 w 4368800"/>
                <a:gd name="connsiteY1" fmla="*/ 321733 h 414867"/>
                <a:gd name="connsiteX2" fmla="*/ 575733 w 4368800"/>
                <a:gd name="connsiteY2" fmla="*/ 414867 h 414867"/>
                <a:gd name="connsiteX3" fmla="*/ 880533 w 4368800"/>
                <a:gd name="connsiteY3" fmla="*/ 355600 h 414867"/>
                <a:gd name="connsiteX4" fmla="*/ 1134533 w 4368800"/>
                <a:gd name="connsiteY4" fmla="*/ 203200 h 414867"/>
                <a:gd name="connsiteX5" fmla="*/ 1456266 w 4368800"/>
                <a:gd name="connsiteY5" fmla="*/ 313267 h 414867"/>
                <a:gd name="connsiteX6" fmla="*/ 1727200 w 4368800"/>
                <a:gd name="connsiteY6" fmla="*/ 254000 h 414867"/>
                <a:gd name="connsiteX7" fmla="*/ 1998133 w 4368800"/>
                <a:gd name="connsiteY7" fmla="*/ 135467 h 414867"/>
                <a:gd name="connsiteX8" fmla="*/ 2353733 w 4368800"/>
                <a:gd name="connsiteY8" fmla="*/ 287867 h 414867"/>
                <a:gd name="connsiteX9" fmla="*/ 2607733 w 4368800"/>
                <a:gd name="connsiteY9" fmla="*/ 169333 h 414867"/>
                <a:gd name="connsiteX10" fmla="*/ 2946400 w 4368800"/>
                <a:gd name="connsiteY10" fmla="*/ 211667 h 414867"/>
                <a:gd name="connsiteX11" fmla="*/ 3234266 w 4368800"/>
                <a:gd name="connsiteY11" fmla="*/ 203200 h 414867"/>
                <a:gd name="connsiteX12" fmla="*/ 3505200 w 4368800"/>
                <a:gd name="connsiteY12" fmla="*/ 0 h 414867"/>
                <a:gd name="connsiteX13" fmla="*/ 3810000 w 4368800"/>
                <a:gd name="connsiteY13" fmla="*/ 135467 h 414867"/>
                <a:gd name="connsiteX14" fmla="*/ 4097866 w 4368800"/>
                <a:gd name="connsiteY14" fmla="*/ 42333 h 414867"/>
                <a:gd name="connsiteX15" fmla="*/ 4368800 w 4368800"/>
                <a:gd name="connsiteY15" fmla="*/ 118533 h 414867"/>
                <a:gd name="connsiteX0" fmla="*/ 0 w 4368800"/>
                <a:gd name="connsiteY0" fmla="*/ 524934 h 524934"/>
                <a:gd name="connsiteX1" fmla="*/ 270933 w 4368800"/>
                <a:gd name="connsiteY1" fmla="*/ 321733 h 524934"/>
                <a:gd name="connsiteX2" fmla="*/ 575733 w 4368800"/>
                <a:gd name="connsiteY2" fmla="*/ 414867 h 524934"/>
                <a:gd name="connsiteX3" fmla="*/ 880533 w 4368800"/>
                <a:gd name="connsiteY3" fmla="*/ 355600 h 524934"/>
                <a:gd name="connsiteX4" fmla="*/ 1134533 w 4368800"/>
                <a:gd name="connsiteY4" fmla="*/ 203200 h 524934"/>
                <a:gd name="connsiteX5" fmla="*/ 1456266 w 4368800"/>
                <a:gd name="connsiteY5" fmla="*/ 313267 h 524934"/>
                <a:gd name="connsiteX6" fmla="*/ 1727200 w 4368800"/>
                <a:gd name="connsiteY6" fmla="*/ 254000 h 524934"/>
                <a:gd name="connsiteX7" fmla="*/ 1998133 w 4368800"/>
                <a:gd name="connsiteY7" fmla="*/ 135467 h 524934"/>
                <a:gd name="connsiteX8" fmla="*/ 2353733 w 4368800"/>
                <a:gd name="connsiteY8" fmla="*/ 287867 h 524934"/>
                <a:gd name="connsiteX9" fmla="*/ 2607733 w 4368800"/>
                <a:gd name="connsiteY9" fmla="*/ 169333 h 524934"/>
                <a:gd name="connsiteX10" fmla="*/ 2946400 w 4368800"/>
                <a:gd name="connsiteY10" fmla="*/ 211667 h 524934"/>
                <a:gd name="connsiteX11" fmla="*/ 3234266 w 4368800"/>
                <a:gd name="connsiteY11" fmla="*/ 203200 h 524934"/>
                <a:gd name="connsiteX12" fmla="*/ 3505200 w 4368800"/>
                <a:gd name="connsiteY12" fmla="*/ 0 h 524934"/>
                <a:gd name="connsiteX13" fmla="*/ 3810000 w 4368800"/>
                <a:gd name="connsiteY13" fmla="*/ 135467 h 524934"/>
                <a:gd name="connsiteX14" fmla="*/ 4097866 w 4368800"/>
                <a:gd name="connsiteY14" fmla="*/ 42333 h 524934"/>
                <a:gd name="connsiteX15" fmla="*/ 4368800 w 4368800"/>
                <a:gd name="connsiteY15" fmla="*/ 118533 h 524934"/>
                <a:gd name="connsiteX0" fmla="*/ 0 w 4368800"/>
                <a:gd name="connsiteY0" fmla="*/ 541867 h 541867"/>
                <a:gd name="connsiteX1" fmla="*/ 270933 w 4368800"/>
                <a:gd name="connsiteY1" fmla="*/ 338666 h 541867"/>
                <a:gd name="connsiteX2" fmla="*/ 575733 w 4368800"/>
                <a:gd name="connsiteY2" fmla="*/ 431800 h 541867"/>
                <a:gd name="connsiteX3" fmla="*/ 880533 w 4368800"/>
                <a:gd name="connsiteY3" fmla="*/ 372533 h 541867"/>
                <a:gd name="connsiteX4" fmla="*/ 1134533 w 4368800"/>
                <a:gd name="connsiteY4" fmla="*/ 220133 h 541867"/>
                <a:gd name="connsiteX5" fmla="*/ 1456266 w 4368800"/>
                <a:gd name="connsiteY5" fmla="*/ 330200 h 541867"/>
                <a:gd name="connsiteX6" fmla="*/ 1727200 w 4368800"/>
                <a:gd name="connsiteY6" fmla="*/ 270933 h 541867"/>
                <a:gd name="connsiteX7" fmla="*/ 2048933 w 4368800"/>
                <a:gd name="connsiteY7" fmla="*/ 0 h 541867"/>
                <a:gd name="connsiteX8" fmla="*/ 2353733 w 4368800"/>
                <a:gd name="connsiteY8" fmla="*/ 304800 h 541867"/>
                <a:gd name="connsiteX9" fmla="*/ 2607733 w 4368800"/>
                <a:gd name="connsiteY9" fmla="*/ 186266 h 541867"/>
                <a:gd name="connsiteX10" fmla="*/ 2946400 w 4368800"/>
                <a:gd name="connsiteY10" fmla="*/ 228600 h 541867"/>
                <a:gd name="connsiteX11" fmla="*/ 3234266 w 4368800"/>
                <a:gd name="connsiteY11" fmla="*/ 220133 h 541867"/>
                <a:gd name="connsiteX12" fmla="*/ 3505200 w 4368800"/>
                <a:gd name="connsiteY12" fmla="*/ 16933 h 541867"/>
                <a:gd name="connsiteX13" fmla="*/ 3810000 w 4368800"/>
                <a:gd name="connsiteY13" fmla="*/ 152400 h 541867"/>
                <a:gd name="connsiteX14" fmla="*/ 4097866 w 4368800"/>
                <a:gd name="connsiteY14" fmla="*/ 59266 h 541867"/>
                <a:gd name="connsiteX15" fmla="*/ 4368800 w 4368800"/>
                <a:gd name="connsiteY15" fmla="*/ 135466 h 541867"/>
                <a:gd name="connsiteX0" fmla="*/ 0 w 4368800"/>
                <a:gd name="connsiteY0" fmla="*/ 541867 h 541867"/>
                <a:gd name="connsiteX1" fmla="*/ 270933 w 4368800"/>
                <a:gd name="connsiteY1" fmla="*/ 338666 h 541867"/>
                <a:gd name="connsiteX2" fmla="*/ 575733 w 4368800"/>
                <a:gd name="connsiteY2" fmla="*/ 431800 h 541867"/>
                <a:gd name="connsiteX3" fmla="*/ 880533 w 4368800"/>
                <a:gd name="connsiteY3" fmla="*/ 372533 h 541867"/>
                <a:gd name="connsiteX4" fmla="*/ 1134533 w 4368800"/>
                <a:gd name="connsiteY4" fmla="*/ 220133 h 541867"/>
                <a:gd name="connsiteX5" fmla="*/ 1456266 w 4368800"/>
                <a:gd name="connsiteY5" fmla="*/ 330200 h 541867"/>
                <a:gd name="connsiteX6" fmla="*/ 1727200 w 4368800"/>
                <a:gd name="connsiteY6" fmla="*/ 270933 h 541867"/>
                <a:gd name="connsiteX7" fmla="*/ 2048933 w 4368800"/>
                <a:gd name="connsiteY7" fmla="*/ 0 h 541867"/>
                <a:gd name="connsiteX8" fmla="*/ 2353733 w 4368800"/>
                <a:gd name="connsiteY8" fmla="*/ 304800 h 541867"/>
                <a:gd name="connsiteX9" fmla="*/ 2607733 w 4368800"/>
                <a:gd name="connsiteY9" fmla="*/ 186266 h 541867"/>
                <a:gd name="connsiteX10" fmla="*/ 2963334 w 4368800"/>
                <a:gd name="connsiteY10" fmla="*/ 152400 h 541867"/>
                <a:gd name="connsiteX11" fmla="*/ 3234266 w 4368800"/>
                <a:gd name="connsiteY11" fmla="*/ 220133 h 541867"/>
                <a:gd name="connsiteX12" fmla="*/ 3505200 w 4368800"/>
                <a:gd name="connsiteY12" fmla="*/ 16933 h 541867"/>
                <a:gd name="connsiteX13" fmla="*/ 3810000 w 4368800"/>
                <a:gd name="connsiteY13" fmla="*/ 152400 h 541867"/>
                <a:gd name="connsiteX14" fmla="*/ 4097866 w 4368800"/>
                <a:gd name="connsiteY14" fmla="*/ 59266 h 541867"/>
                <a:gd name="connsiteX15" fmla="*/ 4368800 w 4368800"/>
                <a:gd name="connsiteY15" fmla="*/ 135466 h 541867"/>
                <a:gd name="connsiteX0" fmla="*/ 0 w 4368800"/>
                <a:gd name="connsiteY0" fmla="*/ 575734 h 575734"/>
                <a:gd name="connsiteX1" fmla="*/ 270933 w 4368800"/>
                <a:gd name="connsiteY1" fmla="*/ 372533 h 575734"/>
                <a:gd name="connsiteX2" fmla="*/ 575733 w 4368800"/>
                <a:gd name="connsiteY2" fmla="*/ 465667 h 575734"/>
                <a:gd name="connsiteX3" fmla="*/ 880533 w 4368800"/>
                <a:gd name="connsiteY3" fmla="*/ 406400 h 575734"/>
                <a:gd name="connsiteX4" fmla="*/ 1134533 w 4368800"/>
                <a:gd name="connsiteY4" fmla="*/ 254000 h 575734"/>
                <a:gd name="connsiteX5" fmla="*/ 1456266 w 4368800"/>
                <a:gd name="connsiteY5" fmla="*/ 364067 h 575734"/>
                <a:gd name="connsiteX6" fmla="*/ 1727200 w 4368800"/>
                <a:gd name="connsiteY6" fmla="*/ 304800 h 575734"/>
                <a:gd name="connsiteX7" fmla="*/ 2048933 w 4368800"/>
                <a:gd name="connsiteY7" fmla="*/ 33867 h 575734"/>
                <a:gd name="connsiteX8" fmla="*/ 2353733 w 4368800"/>
                <a:gd name="connsiteY8" fmla="*/ 338667 h 575734"/>
                <a:gd name="connsiteX9" fmla="*/ 2607733 w 4368800"/>
                <a:gd name="connsiteY9" fmla="*/ 220133 h 575734"/>
                <a:gd name="connsiteX10" fmla="*/ 2963334 w 4368800"/>
                <a:gd name="connsiteY10" fmla="*/ 186267 h 575734"/>
                <a:gd name="connsiteX11" fmla="*/ 3234266 w 4368800"/>
                <a:gd name="connsiteY11" fmla="*/ 254000 h 575734"/>
                <a:gd name="connsiteX12" fmla="*/ 3505200 w 4368800"/>
                <a:gd name="connsiteY12" fmla="*/ 0 h 575734"/>
                <a:gd name="connsiteX13" fmla="*/ 3810000 w 4368800"/>
                <a:gd name="connsiteY13" fmla="*/ 186267 h 575734"/>
                <a:gd name="connsiteX14" fmla="*/ 4097866 w 4368800"/>
                <a:gd name="connsiteY14" fmla="*/ 93133 h 575734"/>
                <a:gd name="connsiteX15" fmla="*/ 4368800 w 4368800"/>
                <a:gd name="connsiteY15" fmla="*/ 169333 h 575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368800" h="575734">
                  <a:moveTo>
                    <a:pt x="0" y="575734"/>
                  </a:moveTo>
                  <a:lnTo>
                    <a:pt x="270933" y="372533"/>
                  </a:lnTo>
                  <a:lnTo>
                    <a:pt x="575733" y="465667"/>
                  </a:lnTo>
                  <a:lnTo>
                    <a:pt x="880533" y="406400"/>
                  </a:lnTo>
                  <a:lnTo>
                    <a:pt x="1134533" y="254000"/>
                  </a:lnTo>
                  <a:lnTo>
                    <a:pt x="1456266" y="364067"/>
                  </a:lnTo>
                  <a:lnTo>
                    <a:pt x="1727200" y="304800"/>
                  </a:lnTo>
                  <a:lnTo>
                    <a:pt x="2048933" y="33867"/>
                  </a:lnTo>
                  <a:lnTo>
                    <a:pt x="2353733" y="338667"/>
                  </a:lnTo>
                  <a:cubicBezTo>
                    <a:pt x="2438400" y="299156"/>
                    <a:pt x="2506133" y="245533"/>
                    <a:pt x="2607733" y="220133"/>
                  </a:cubicBezTo>
                  <a:cubicBezTo>
                    <a:pt x="2709333" y="194733"/>
                    <a:pt x="2844800" y="197556"/>
                    <a:pt x="2963334" y="186267"/>
                  </a:cubicBezTo>
                  <a:lnTo>
                    <a:pt x="3234266" y="254000"/>
                  </a:lnTo>
                  <a:lnTo>
                    <a:pt x="3505200" y="0"/>
                  </a:lnTo>
                  <a:lnTo>
                    <a:pt x="3810000" y="186267"/>
                  </a:lnTo>
                  <a:lnTo>
                    <a:pt x="4097866" y="93133"/>
                  </a:lnTo>
                  <a:lnTo>
                    <a:pt x="4368800" y="169333"/>
                  </a:lnTo>
                </a:path>
              </a:pathLst>
            </a:custGeom>
            <a:ln>
              <a:solidFill>
                <a:schemeClr val="bg1">
                  <a:lumMod val="5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257" name="자유형 33">
              <a:extLst>
                <a:ext uri="{FF2B5EF4-FFF2-40B4-BE49-F238E27FC236}">
                  <a16:creationId xmlns:a16="http://schemas.microsoft.com/office/drawing/2014/main" id="{B88589FD-B497-4D75-959D-699AEE27C114}"/>
                </a:ext>
              </a:extLst>
            </p:cNvPr>
            <p:cNvSpPr/>
            <p:nvPr/>
          </p:nvSpPr>
          <p:spPr>
            <a:xfrm flipH="1">
              <a:off x="4907819" y="2825422"/>
              <a:ext cx="3683445" cy="1730721"/>
            </a:xfrm>
            <a:custGeom>
              <a:avLst/>
              <a:gdLst>
                <a:gd name="connsiteX0" fmla="*/ 0 w 4368800"/>
                <a:gd name="connsiteY0" fmla="*/ 389467 h 414867"/>
                <a:gd name="connsiteX1" fmla="*/ 270933 w 4368800"/>
                <a:gd name="connsiteY1" fmla="*/ 321733 h 414867"/>
                <a:gd name="connsiteX2" fmla="*/ 575733 w 4368800"/>
                <a:gd name="connsiteY2" fmla="*/ 414867 h 414867"/>
                <a:gd name="connsiteX3" fmla="*/ 880533 w 4368800"/>
                <a:gd name="connsiteY3" fmla="*/ 355600 h 414867"/>
                <a:gd name="connsiteX4" fmla="*/ 1134533 w 4368800"/>
                <a:gd name="connsiteY4" fmla="*/ 203200 h 414867"/>
                <a:gd name="connsiteX5" fmla="*/ 1456266 w 4368800"/>
                <a:gd name="connsiteY5" fmla="*/ 313267 h 414867"/>
                <a:gd name="connsiteX6" fmla="*/ 1727200 w 4368800"/>
                <a:gd name="connsiteY6" fmla="*/ 254000 h 414867"/>
                <a:gd name="connsiteX7" fmla="*/ 1998133 w 4368800"/>
                <a:gd name="connsiteY7" fmla="*/ 135467 h 414867"/>
                <a:gd name="connsiteX8" fmla="*/ 2353733 w 4368800"/>
                <a:gd name="connsiteY8" fmla="*/ 287867 h 414867"/>
                <a:gd name="connsiteX9" fmla="*/ 2607733 w 4368800"/>
                <a:gd name="connsiteY9" fmla="*/ 169333 h 414867"/>
                <a:gd name="connsiteX10" fmla="*/ 2946400 w 4368800"/>
                <a:gd name="connsiteY10" fmla="*/ 211667 h 414867"/>
                <a:gd name="connsiteX11" fmla="*/ 3234266 w 4368800"/>
                <a:gd name="connsiteY11" fmla="*/ 203200 h 414867"/>
                <a:gd name="connsiteX12" fmla="*/ 3505200 w 4368800"/>
                <a:gd name="connsiteY12" fmla="*/ 0 h 414867"/>
                <a:gd name="connsiteX13" fmla="*/ 3810000 w 4368800"/>
                <a:gd name="connsiteY13" fmla="*/ 135467 h 414867"/>
                <a:gd name="connsiteX14" fmla="*/ 4097866 w 4368800"/>
                <a:gd name="connsiteY14" fmla="*/ 42333 h 414867"/>
                <a:gd name="connsiteX15" fmla="*/ 4368800 w 4368800"/>
                <a:gd name="connsiteY15" fmla="*/ 118533 h 414867"/>
                <a:gd name="connsiteX0" fmla="*/ 0 w 4368800"/>
                <a:gd name="connsiteY0" fmla="*/ 524934 h 524934"/>
                <a:gd name="connsiteX1" fmla="*/ 270933 w 4368800"/>
                <a:gd name="connsiteY1" fmla="*/ 321733 h 524934"/>
                <a:gd name="connsiteX2" fmla="*/ 575733 w 4368800"/>
                <a:gd name="connsiteY2" fmla="*/ 414867 h 524934"/>
                <a:gd name="connsiteX3" fmla="*/ 880533 w 4368800"/>
                <a:gd name="connsiteY3" fmla="*/ 355600 h 524934"/>
                <a:gd name="connsiteX4" fmla="*/ 1134533 w 4368800"/>
                <a:gd name="connsiteY4" fmla="*/ 203200 h 524934"/>
                <a:gd name="connsiteX5" fmla="*/ 1456266 w 4368800"/>
                <a:gd name="connsiteY5" fmla="*/ 313267 h 524934"/>
                <a:gd name="connsiteX6" fmla="*/ 1727200 w 4368800"/>
                <a:gd name="connsiteY6" fmla="*/ 254000 h 524934"/>
                <a:gd name="connsiteX7" fmla="*/ 1998133 w 4368800"/>
                <a:gd name="connsiteY7" fmla="*/ 135467 h 524934"/>
                <a:gd name="connsiteX8" fmla="*/ 2353733 w 4368800"/>
                <a:gd name="connsiteY8" fmla="*/ 287867 h 524934"/>
                <a:gd name="connsiteX9" fmla="*/ 2607733 w 4368800"/>
                <a:gd name="connsiteY9" fmla="*/ 169333 h 524934"/>
                <a:gd name="connsiteX10" fmla="*/ 2946400 w 4368800"/>
                <a:gd name="connsiteY10" fmla="*/ 211667 h 524934"/>
                <a:gd name="connsiteX11" fmla="*/ 3234266 w 4368800"/>
                <a:gd name="connsiteY11" fmla="*/ 203200 h 524934"/>
                <a:gd name="connsiteX12" fmla="*/ 3505200 w 4368800"/>
                <a:gd name="connsiteY12" fmla="*/ 0 h 524934"/>
                <a:gd name="connsiteX13" fmla="*/ 3810000 w 4368800"/>
                <a:gd name="connsiteY13" fmla="*/ 135467 h 524934"/>
                <a:gd name="connsiteX14" fmla="*/ 4097866 w 4368800"/>
                <a:gd name="connsiteY14" fmla="*/ 42333 h 524934"/>
                <a:gd name="connsiteX15" fmla="*/ 4368800 w 4368800"/>
                <a:gd name="connsiteY15" fmla="*/ 118533 h 524934"/>
                <a:gd name="connsiteX0" fmla="*/ 0 w 4368800"/>
                <a:gd name="connsiteY0" fmla="*/ 541867 h 541867"/>
                <a:gd name="connsiteX1" fmla="*/ 270933 w 4368800"/>
                <a:gd name="connsiteY1" fmla="*/ 338666 h 541867"/>
                <a:gd name="connsiteX2" fmla="*/ 575733 w 4368800"/>
                <a:gd name="connsiteY2" fmla="*/ 431800 h 541867"/>
                <a:gd name="connsiteX3" fmla="*/ 880533 w 4368800"/>
                <a:gd name="connsiteY3" fmla="*/ 372533 h 541867"/>
                <a:gd name="connsiteX4" fmla="*/ 1134533 w 4368800"/>
                <a:gd name="connsiteY4" fmla="*/ 220133 h 541867"/>
                <a:gd name="connsiteX5" fmla="*/ 1456266 w 4368800"/>
                <a:gd name="connsiteY5" fmla="*/ 330200 h 541867"/>
                <a:gd name="connsiteX6" fmla="*/ 1727200 w 4368800"/>
                <a:gd name="connsiteY6" fmla="*/ 270933 h 541867"/>
                <a:gd name="connsiteX7" fmla="*/ 2048933 w 4368800"/>
                <a:gd name="connsiteY7" fmla="*/ 0 h 541867"/>
                <a:gd name="connsiteX8" fmla="*/ 2353733 w 4368800"/>
                <a:gd name="connsiteY8" fmla="*/ 304800 h 541867"/>
                <a:gd name="connsiteX9" fmla="*/ 2607733 w 4368800"/>
                <a:gd name="connsiteY9" fmla="*/ 186266 h 541867"/>
                <a:gd name="connsiteX10" fmla="*/ 2946400 w 4368800"/>
                <a:gd name="connsiteY10" fmla="*/ 228600 h 541867"/>
                <a:gd name="connsiteX11" fmla="*/ 3234266 w 4368800"/>
                <a:gd name="connsiteY11" fmla="*/ 220133 h 541867"/>
                <a:gd name="connsiteX12" fmla="*/ 3505200 w 4368800"/>
                <a:gd name="connsiteY12" fmla="*/ 16933 h 541867"/>
                <a:gd name="connsiteX13" fmla="*/ 3810000 w 4368800"/>
                <a:gd name="connsiteY13" fmla="*/ 152400 h 541867"/>
                <a:gd name="connsiteX14" fmla="*/ 4097866 w 4368800"/>
                <a:gd name="connsiteY14" fmla="*/ 59266 h 541867"/>
                <a:gd name="connsiteX15" fmla="*/ 4368800 w 4368800"/>
                <a:gd name="connsiteY15" fmla="*/ 135466 h 541867"/>
                <a:gd name="connsiteX0" fmla="*/ 0 w 4368800"/>
                <a:gd name="connsiteY0" fmla="*/ 541867 h 541867"/>
                <a:gd name="connsiteX1" fmla="*/ 270933 w 4368800"/>
                <a:gd name="connsiteY1" fmla="*/ 338666 h 541867"/>
                <a:gd name="connsiteX2" fmla="*/ 575733 w 4368800"/>
                <a:gd name="connsiteY2" fmla="*/ 431800 h 541867"/>
                <a:gd name="connsiteX3" fmla="*/ 880533 w 4368800"/>
                <a:gd name="connsiteY3" fmla="*/ 372533 h 541867"/>
                <a:gd name="connsiteX4" fmla="*/ 1134533 w 4368800"/>
                <a:gd name="connsiteY4" fmla="*/ 220133 h 541867"/>
                <a:gd name="connsiteX5" fmla="*/ 1456266 w 4368800"/>
                <a:gd name="connsiteY5" fmla="*/ 330200 h 541867"/>
                <a:gd name="connsiteX6" fmla="*/ 1727200 w 4368800"/>
                <a:gd name="connsiteY6" fmla="*/ 270933 h 541867"/>
                <a:gd name="connsiteX7" fmla="*/ 2048933 w 4368800"/>
                <a:gd name="connsiteY7" fmla="*/ 0 h 541867"/>
                <a:gd name="connsiteX8" fmla="*/ 2353733 w 4368800"/>
                <a:gd name="connsiteY8" fmla="*/ 304800 h 541867"/>
                <a:gd name="connsiteX9" fmla="*/ 2607733 w 4368800"/>
                <a:gd name="connsiteY9" fmla="*/ 186266 h 541867"/>
                <a:gd name="connsiteX10" fmla="*/ 2963334 w 4368800"/>
                <a:gd name="connsiteY10" fmla="*/ 152400 h 541867"/>
                <a:gd name="connsiteX11" fmla="*/ 3234266 w 4368800"/>
                <a:gd name="connsiteY11" fmla="*/ 220133 h 541867"/>
                <a:gd name="connsiteX12" fmla="*/ 3505200 w 4368800"/>
                <a:gd name="connsiteY12" fmla="*/ 16933 h 541867"/>
                <a:gd name="connsiteX13" fmla="*/ 3810000 w 4368800"/>
                <a:gd name="connsiteY13" fmla="*/ 152400 h 541867"/>
                <a:gd name="connsiteX14" fmla="*/ 4097866 w 4368800"/>
                <a:gd name="connsiteY14" fmla="*/ 59266 h 541867"/>
                <a:gd name="connsiteX15" fmla="*/ 4368800 w 4368800"/>
                <a:gd name="connsiteY15" fmla="*/ 135466 h 541867"/>
                <a:gd name="connsiteX0" fmla="*/ 0 w 4368800"/>
                <a:gd name="connsiteY0" fmla="*/ 575734 h 575734"/>
                <a:gd name="connsiteX1" fmla="*/ 270933 w 4368800"/>
                <a:gd name="connsiteY1" fmla="*/ 372533 h 575734"/>
                <a:gd name="connsiteX2" fmla="*/ 575733 w 4368800"/>
                <a:gd name="connsiteY2" fmla="*/ 465667 h 575734"/>
                <a:gd name="connsiteX3" fmla="*/ 880533 w 4368800"/>
                <a:gd name="connsiteY3" fmla="*/ 406400 h 575734"/>
                <a:gd name="connsiteX4" fmla="*/ 1134533 w 4368800"/>
                <a:gd name="connsiteY4" fmla="*/ 254000 h 575734"/>
                <a:gd name="connsiteX5" fmla="*/ 1456266 w 4368800"/>
                <a:gd name="connsiteY5" fmla="*/ 364067 h 575734"/>
                <a:gd name="connsiteX6" fmla="*/ 1727200 w 4368800"/>
                <a:gd name="connsiteY6" fmla="*/ 304800 h 575734"/>
                <a:gd name="connsiteX7" fmla="*/ 2048933 w 4368800"/>
                <a:gd name="connsiteY7" fmla="*/ 33867 h 575734"/>
                <a:gd name="connsiteX8" fmla="*/ 2353733 w 4368800"/>
                <a:gd name="connsiteY8" fmla="*/ 338667 h 575734"/>
                <a:gd name="connsiteX9" fmla="*/ 2607733 w 4368800"/>
                <a:gd name="connsiteY9" fmla="*/ 220133 h 575734"/>
                <a:gd name="connsiteX10" fmla="*/ 2963334 w 4368800"/>
                <a:gd name="connsiteY10" fmla="*/ 186267 h 575734"/>
                <a:gd name="connsiteX11" fmla="*/ 3234266 w 4368800"/>
                <a:gd name="connsiteY11" fmla="*/ 254000 h 575734"/>
                <a:gd name="connsiteX12" fmla="*/ 3505200 w 4368800"/>
                <a:gd name="connsiteY12" fmla="*/ 0 h 575734"/>
                <a:gd name="connsiteX13" fmla="*/ 3810000 w 4368800"/>
                <a:gd name="connsiteY13" fmla="*/ 186267 h 575734"/>
                <a:gd name="connsiteX14" fmla="*/ 4097866 w 4368800"/>
                <a:gd name="connsiteY14" fmla="*/ 93133 h 575734"/>
                <a:gd name="connsiteX15" fmla="*/ 4368800 w 4368800"/>
                <a:gd name="connsiteY15" fmla="*/ 169333 h 575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368800" h="575734">
                  <a:moveTo>
                    <a:pt x="0" y="575734"/>
                  </a:moveTo>
                  <a:lnTo>
                    <a:pt x="270933" y="372533"/>
                  </a:lnTo>
                  <a:lnTo>
                    <a:pt x="575733" y="465667"/>
                  </a:lnTo>
                  <a:lnTo>
                    <a:pt x="880533" y="406400"/>
                  </a:lnTo>
                  <a:lnTo>
                    <a:pt x="1134533" y="254000"/>
                  </a:lnTo>
                  <a:lnTo>
                    <a:pt x="1456266" y="364067"/>
                  </a:lnTo>
                  <a:lnTo>
                    <a:pt x="1727200" y="304800"/>
                  </a:lnTo>
                  <a:lnTo>
                    <a:pt x="2048933" y="33867"/>
                  </a:lnTo>
                  <a:lnTo>
                    <a:pt x="2353733" y="338667"/>
                  </a:lnTo>
                  <a:cubicBezTo>
                    <a:pt x="2438400" y="299156"/>
                    <a:pt x="2506133" y="245533"/>
                    <a:pt x="2607733" y="220133"/>
                  </a:cubicBezTo>
                  <a:cubicBezTo>
                    <a:pt x="2709333" y="194733"/>
                    <a:pt x="2844800" y="197556"/>
                    <a:pt x="2963334" y="186267"/>
                  </a:cubicBezTo>
                  <a:lnTo>
                    <a:pt x="3234266" y="254000"/>
                  </a:lnTo>
                  <a:lnTo>
                    <a:pt x="3505200" y="0"/>
                  </a:lnTo>
                  <a:lnTo>
                    <a:pt x="3810000" y="186267"/>
                  </a:lnTo>
                  <a:lnTo>
                    <a:pt x="4097866" y="93133"/>
                  </a:lnTo>
                  <a:lnTo>
                    <a:pt x="4368800" y="169333"/>
                  </a:lnTo>
                </a:path>
              </a:pathLst>
            </a:custGeom>
            <a:ln>
              <a:solidFill>
                <a:schemeClr val="accent3">
                  <a:lumMod val="75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grpSp>
        <p:nvGrpSpPr>
          <p:cNvPr id="259" name="그룹 258">
            <a:extLst>
              <a:ext uri="{FF2B5EF4-FFF2-40B4-BE49-F238E27FC236}">
                <a16:creationId xmlns:a16="http://schemas.microsoft.com/office/drawing/2014/main" id="{0941AC10-78F4-4AAE-A932-0CF060D383EB}"/>
              </a:ext>
            </a:extLst>
          </p:cNvPr>
          <p:cNvGrpSpPr/>
          <p:nvPr/>
        </p:nvGrpSpPr>
        <p:grpSpPr>
          <a:xfrm>
            <a:off x="1181749" y="3130502"/>
            <a:ext cx="1683019" cy="157480"/>
            <a:chOff x="4730291" y="2929429"/>
            <a:chExt cx="1683019" cy="157480"/>
          </a:xfrm>
        </p:grpSpPr>
        <p:cxnSp>
          <p:nvCxnSpPr>
            <p:cNvPr id="263" name="직선 연결선 262">
              <a:extLst>
                <a:ext uri="{FF2B5EF4-FFF2-40B4-BE49-F238E27FC236}">
                  <a16:creationId xmlns:a16="http://schemas.microsoft.com/office/drawing/2014/main" id="{05065CF1-8B50-452F-9BAC-3D16D95F577C}"/>
                </a:ext>
              </a:extLst>
            </p:cNvPr>
            <p:cNvCxnSpPr/>
            <p:nvPr/>
          </p:nvCxnSpPr>
          <p:spPr>
            <a:xfrm>
              <a:off x="4730291" y="3015425"/>
              <a:ext cx="149996" cy="0"/>
            </a:xfrm>
            <a:prstGeom prst="line">
              <a:avLst/>
            </a:prstGeom>
            <a:ln w="12700">
              <a:solidFill>
                <a:schemeClr val="accent6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4" name="직사각형 263">
              <a:extLst>
                <a:ext uri="{FF2B5EF4-FFF2-40B4-BE49-F238E27FC236}">
                  <a16:creationId xmlns:a16="http://schemas.microsoft.com/office/drawing/2014/main" id="{DBDC6453-0FB5-45BF-AD70-BD86C3924018}"/>
                </a:ext>
              </a:extLst>
            </p:cNvPr>
            <p:cNvSpPr/>
            <p:nvPr/>
          </p:nvSpPr>
          <p:spPr>
            <a:xfrm>
              <a:off x="4808469" y="2931990"/>
              <a:ext cx="550418" cy="154919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0"/>
            <a:lstStyle/>
            <a:p>
              <a:pPr algn="ctr">
                <a:lnSpc>
                  <a:spcPct val="150000"/>
                </a:lnSpc>
              </a:pPr>
              <a:r>
                <a:rPr lang="ko-KR" altLang="en-US" sz="5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실제 사용량</a:t>
              </a:r>
            </a:p>
          </p:txBody>
        </p:sp>
        <p:cxnSp>
          <p:nvCxnSpPr>
            <p:cNvPr id="265" name="직선 연결선 264">
              <a:extLst>
                <a:ext uri="{FF2B5EF4-FFF2-40B4-BE49-F238E27FC236}">
                  <a16:creationId xmlns:a16="http://schemas.microsoft.com/office/drawing/2014/main" id="{6BB4A104-87C2-4022-97F6-726066D073DF}"/>
                </a:ext>
              </a:extLst>
            </p:cNvPr>
            <p:cNvCxnSpPr/>
            <p:nvPr/>
          </p:nvCxnSpPr>
          <p:spPr>
            <a:xfrm>
              <a:off x="5280128" y="3009449"/>
              <a:ext cx="149996" cy="0"/>
            </a:xfrm>
            <a:prstGeom prst="line">
              <a:avLst/>
            </a:prstGeom>
            <a:solidFill>
              <a:schemeClr val="accent3">
                <a:lumMod val="40000"/>
                <a:lumOff val="60000"/>
              </a:schemeClr>
            </a:solidFill>
            <a:ln w="12700">
              <a:solidFill>
                <a:schemeClr val="accent3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67" name="직사각형 266">
              <a:extLst>
                <a:ext uri="{FF2B5EF4-FFF2-40B4-BE49-F238E27FC236}">
                  <a16:creationId xmlns:a16="http://schemas.microsoft.com/office/drawing/2014/main" id="{755EB8E2-53ED-4767-8EE1-7EE5406A5C18}"/>
                </a:ext>
              </a:extLst>
            </p:cNvPr>
            <p:cNvSpPr/>
            <p:nvPr/>
          </p:nvSpPr>
          <p:spPr>
            <a:xfrm>
              <a:off x="5358305" y="2929429"/>
              <a:ext cx="548985" cy="148088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0"/>
            <a:lstStyle/>
            <a:p>
              <a:pPr algn="ctr">
                <a:lnSpc>
                  <a:spcPct val="150000"/>
                </a:lnSpc>
              </a:pPr>
              <a:r>
                <a:rPr lang="en-US" altLang="ko-KR" sz="5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ESS </a:t>
              </a:r>
              <a:r>
                <a:rPr lang="ko-KR" altLang="en-US" sz="5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사용량</a:t>
              </a:r>
            </a:p>
          </p:txBody>
        </p:sp>
        <p:cxnSp>
          <p:nvCxnSpPr>
            <p:cNvPr id="268" name="직선 연결선 267">
              <a:extLst>
                <a:ext uri="{FF2B5EF4-FFF2-40B4-BE49-F238E27FC236}">
                  <a16:creationId xmlns:a16="http://schemas.microsoft.com/office/drawing/2014/main" id="{BEF4ECF7-4151-401A-B57E-7DC67588D5CD}"/>
                </a:ext>
              </a:extLst>
            </p:cNvPr>
            <p:cNvCxnSpPr/>
            <p:nvPr/>
          </p:nvCxnSpPr>
          <p:spPr>
            <a:xfrm>
              <a:off x="5832767" y="3009449"/>
              <a:ext cx="149996" cy="0"/>
            </a:xfrm>
            <a:prstGeom prst="line">
              <a:avLst/>
            </a:prstGeom>
            <a:solidFill>
              <a:schemeClr val="accent2">
                <a:lumMod val="60000"/>
                <a:lumOff val="40000"/>
              </a:schemeClr>
            </a:solidFill>
            <a:ln w="127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69" name="직사각형 268">
              <a:extLst>
                <a:ext uri="{FF2B5EF4-FFF2-40B4-BE49-F238E27FC236}">
                  <a16:creationId xmlns:a16="http://schemas.microsoft.com/office/drawing/2014/main" id="{6806B26D-0E4C-452B-8F96-8A0A75CDBBE3}"/>
                </a:ext>
              </a:extLst>
            </p:cNvPr>
            <p:cNvSpPr/>
            <p:nvPr/>
          </p:nvSpPr>
          <p:spPr>
            <a:xfrm>
              <a:off x="5927483" y="2929429"/>
              <a:ext cx="485827" cy="148088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0"/>
            <a:lstStyle/>
            <a:p>
              <a:pPr algn="ctr">
                <a:lnSpc>
                  <a:spcPct val="150000"/>
                </a:lnSpc>
              </a:pPr>
              <a:r>
                <a:rPr lang="en-US" altLang="ko-KR" sz="5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PV </a:t>
              </a:r>
              <a:r>
                <a:rPr lang="ko-KR" altLang="en-US" sz="5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사용량</a:t>
              </a:r>
            </a:p>
          </p:txBody>
        </p:sp>
      </p:grpSp>
      <p:sp>
        <p:nvSpPr>
          <p:cNvPr id="2" name="직사각형 1">
            <a:extLst>
              <a:ext uri="{FF2B5EF4-FFF2-40B4-BE49-F238E27FC236}">
                <a16:creationId xmlns:a16="http://schemas.microsoft.com/office/drawing/2014/main" id="{A48D83A0-7C30-416F-B54C-E18F6506702E}"/>
              </a:ext>
            </a:extLst>
          </p:cNvPr>
          <p:cNvSpPr/>
          <p:nvPr/>
        </p:nvSpPr>
        <p:spPr>
          <a:xfrm>
            <a:off x="200472" y="1177007"/>
            <a:ext cx="1386918" cy="3077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ko-KR" altLang="en-US" sz="14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롯데 정밀 화학</a:t>
            </a:r>
          </a:p>
        </p:txBody>
      </p:sp>
      <p:sp>
        <p:nvSpPr>
          <p:cNvPr id="244" name="타원형 설명선 243"/>
          <p:cNvSpPr/>
          <p:nvPr/>
        </p:nvSpPr>
        <p:spPr>
          <a:xfrm>
            <a:off x="5584785" y="3080622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14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6" name="타원형 설명선 245"/>
          <p:cNvSpPr/>
          <p:nvPr/>
        </p:nvSpPr>
        <p:spPr>
          <a:xfrm>
            <a:off x="5591954" y="4572109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15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3" name="타원형 설명선 225">
            <a:extLst>
              <a:ext uri="{FF2B5EF4-FFF2-40B4-BE49-F238E27FC236}">
                <a16:creationId xmlns:a16="http://schemas.microsoft.com/office/drawing/2014/main" id="{93402A8C-F86A-4207-9226-F02BE6AB6E19}"/>
              </a:ext>
            </a:extLst>
          </p:cNvPr>
          <p:cNvSpPr/>
          <p:nvPr/>
        </p:nvSpPr>
        <p:spPr>
          <a:xfrm>
            <a:off x="5585578" y="1726779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13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266" name="직선 연결선 265">
            <a:extLst>
              <a:ext uri="{FF2B5EF4-FFF2-40B4-BE49-F238E27FC236}">
                <a16:creationId xmlns:a16="http://schemas.microsoft.com/office/drawing/2014/main" id="{B34371EE-5570-4F21-AD2A-EC3AA0AE4A52}"/>
              </a:ext>
            </a:extLst>
          </p:cNvPr>
          <p:cNvCxnSpPr>
            <a:cxnSpLocks/>
          </p:cNvCxnSpPr>
          <p:nvPr/>
        </p:nvCxnSpPr>
        <p:spPr>
          <a:xfrm flipV="1">
            <a:off x="3399665" y="3111662"/>
            <a:ext cx="1284355" cy="283010"/>
          </a:xfrm>
          <a:prstGeom prst="line">
            <a:avLst/>
          </a:prstGeom>
          <a:ln>
            <a:solidFill>
              <a:srgbClr val="FF0000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0" name="직사각형 269">
            <a:extLst>
              <a:ext uri="{FF2B5EF4-FFF2-40B4-BE49-F238E27FC236}">
                <a16:creationId xmlns:a16="http://schemas.microsoft.com/office/drawing/2014/main" id="{A83A6059-9D42-4F63-9DAF-8B0E15FC4551}"/>
              </a:ext>
            </a:extLst>
          </p:cNvPr>
          <p:cNvSpPr/>
          <p:nvPr/>
        </p:nvSpPr>
        <p:spPr>
          <a:xfrm>
            <a:off x="3727201" y="1892114"/>
            <a:ext cx="725954" cy="18235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150000"/>
              </a:lnSpc>
            </a:pPr>
            <a:r>
              <a:rPr lang="en-US" altLang="ko-KR" sz="500" b="1" dirty="0">
                <a:solidFill>
                  <a:schemeClr val="accent6">
                    <a:lumMod val="75000"/>
                  </a:schemeClr>
                </a:solidFill>
                <a:latin typeface="맑은 고딕" pitchFamily="50" charset="-127"/>
                <a:ea typeface="맑은 고딕" pitchFamily="50" charset="-127"/>
              </a:rPr>
              <a:t>YYYY-MM-DD hh:mm</a:t>
            </a:r>
            <a:endParaRPr lang="ko-KR" altLang="en-US" sz="500" b="1" dirty="0">
              <a:solidFill>
                <a:schemeClr val="accent6">
                  <a:lumMod val="7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71" name="직사각형 270">
            <a:extLst>
              <a:ext uri="{FF2B5EF4-FFF2-40B4-BE49-F238E27FC236}">
                <a16:creationId xmlns:a16="http://schemas.microsoft.com/office/drawing/2014/main" id="{8FA37CD4-B875-46B1-8BE7-1180883497A1}"/>
              </a:ext>
            </a:extLst>
          </p:cNvPr>
          <p:cNvSpPr/>
          <p:nvPr/>
        </p:nvSpPr>
        <p:spPr>
          <a:xfrm>
            <a:off x="6344923" y="1801922"/>
            <a:ext cx="725954" cy="18235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150000"/>
              </a:lnSpc>
            </a:pPr>
            <a:r>
              <a:rPr lang="en-US" altLang="ko-KR" sz="500" b="1" dirty="0">
                <a:solidFill>
                  <a:schemeClr val="accent6">
                    <a:lumMod val="75000"/>
                  </a:schemeClr>
                </a:solidFill>
                <a:latin typeface="맑은 고딕" pitchFamily="50" charset="-127"/>
                <a:ea typeface="맑은 고딕" pitchFamily="50" charset="-127"/>
              </a:rPr>
              <a:t>YYYY-MM-DD hh:mm</a:t>
            </a:r>
            <a:endParaRPr lang="ko-KR" altLang="en-US" sz="500" b="1" dirty="0">
              <a:solidFill>
                <a:schemeClr val="accent6">
                  <a:lumMod val="7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72" name="직사각형 271">
            <a:extLst>
              <a:ext uri="{FF2B5EF4-FFF2-40B4-BE49-F238E27FC236}">
                <a16:creationId xmlns:a16="http://schemas.microsoft.com/office/drawing/2014/main" id="{8A5DCF45-DE0D-44EF-9470-AB688E3F8B13}"/>
              </a:ext>
            </a:extLst>
          </p:cNvPr>
          <p:cNvSpPr/>
          <p:nvPr/>
        </p:nvSpPr>
        <p:spPr>
          <a:xfrm>
            <a:off x="2141719" y="1908879"/>
            <a:ext cx="725954" cy="18235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150000"/>
              </a:lnSpc>
            </a:pPr>
            <a:r>
              <a:rPr lang="en-US" altLang="ko-KR" sz="500" b="1" dirty="0">
                <a:solidFill>
                  <a:schemeClr val="accent6">
                    <a:lumMod val="75000"/>
                  </a:schemeClr>
                </a:solidFill>
                <a:latin typeface="맑은 고딕" pitchFamily="50" charset="-127"/>
                <a:ea typeface="맑은 고딕" pitchFamily="50" charset="-127"/>
              </a:rPr>
              <a:t>YYYY-MM-DD hh:mm</a:t>
            </a:r>
            <a:endParaRPr lang="ko-KR" altLang="en-US" sz="500" b="1" dirty="0">
              <a:solidFill>
                <a:schemeClr val="accent6">
                  <a:lumMod val="7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73" name="직사각형 272">
            <a:extLst>
              <a:ext uri="{FF2B5EF4-FFF2-40B4-BE49-F238E27FC236}">
                <a16:creationId xmlns:a16="http://schemas.microsoft.com/office/drawing/2014/main" id="{4FBECBF2-D3ED-4625-87B1-EBD1CCE4EF6F}"/>
              </a:ext>
            </a:extLst>
          </p:cNvPr>
          <p:cNvSpPr/>
          <p:nvPr/>
        </p:nvSpPr>
        <p:spPr>
          <a:xfrm>
            <a:off x="6326562" y="3093933"/>
            <a:ext cx="725954" cy="18235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150000"/>
              </a:lnSpc>
            </a:pPr>
            <a:r>
              <a:rPr lang="en-US" altLang="ko-KR" sz="500" b="1" dirty="0">
                <a:solidFill>
                  <a:schemeClr val="accent6">
                    <a:lumMod val="75000"/>
                  </a:schemeClr>
                </a:solidFill>
                <a:latin typeface="맑은 고딕" pitchFamily="50" charset="-127"/>
                <a:ea typeface="맑은 고딕" pitchFamily="50" charset="-127"/>
              </a:rPr>
              <a:t>YYYY-MM-DD hh:mm</a:t>
            </a:r>
            <a:endParaRPr lang="ko-KR" altLang="en-US" sz="500" b="1" dirty="0">
              <a:solidFill>
                <a:schemeClr val="accent6">
                  <a:lumMod val="7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74" name="TextBox 273">
            <a:extLst>
              <a:ext uri="{FF2B5EF4-FFF2-40B4-BE49-F238E27FC236}">
                <a16:creationId xmlns:a16="http://schemas.microsoft.com/office/drawing/2014/main" id="{6A771870-0E93-458C-8EE5-9376A2B13F00}"/>
              </a:ext>
            </a:extLst>
          </p:cNvPr>
          <p:cNvSpPr txBox="1"/>
          <p:nvPr/>
        </p:nvSpPr>
        <p:spPr>
          <a:xfrm>
            <a:off x="3017135" y="3927225"/>
            <a:ext cx="986079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>
              <a:defRPr sz="800" b="1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</a:lstStyle>
          <a:p>
            <a:r>
              <a:rPr lang="ko-KR" altLang="en-US" dirty="0"/>
              <a:t>장치 현황</a:t>
            </a:r>
          </a:p>
        </p:txBody>
      </p:sp>
      <p:sp>
        <p:nvSpPr>
          <p:cNvPr id="275" name="직사각형 274">
            <a:extLst>
              <a:ext uri="{FF2B5EF4-FFF2-40B4-BE49-F238E27FC236}">
                <a16:creationId xmlns:a16="http://schemas.microsoft.com/office/drawing/2014/main" id="{ECE4E3A8-F0B0-4242-8E98-682ED8FE2A66}"/>
              </a:ext>
            </a:extLst>
          </p:cNvPr>
          <p:cNvSpPr/>
          <p:nvPr/>
        </p:nvSpPr>
        <p:spPr>
          <a:xfrm>
            <a:off x="3574542" y="3922417"/>
            <a:ext cx="725954" cy="18235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150000"/>
              </a:lnSpc>
            </a:pPr>
            <a:r>
              <a:rPr lang="en-US" altLang="ko-KR" sz="500" b="1" dirty="0">
                <a:solidFill>
                  <a:schemeClr val="accent6">
                    <a:lumMod val="75000"/>
                  </a:schemeClr>
                </a:solidFill>
                <a:latin typeface="맑은 고딕" pitchFamily="50" charset="-127"/>
                <a:ea typeface="맑은 고딕" pitchFamily="50" charset="-127"/>
              </a:rPr>
              <a:t>YYYY-MM-DD hh:mm</a:t>
            </a:r>
            <a:endParaRPr lang="ko-KR" altLang="en-US" sz="500" b="1" dirty="0">
              <a:solidFill>
                <a:schemeClr val="accent6">
                  <a:lumMod val="7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76" name="TextBox 275">
            <a:extLst>
              <a:ext uri="{FF2B5EF4-FFF2-40B4-BE49-F238E27FC236}">
                <a16:creationId xmlns:a16="http://schemas.microsoft.com/office/drawing/2014/main" id="{785290EB-6768-48D0-ADC8-56DFC2B9BC0F}"/>
              </a:ext>
            </a:extLst>
          </p:cNvPr>
          <p:cNvSpPr txBox="1"/>
          <p:nvPr/>
        </p:nvSpPr>
        <p:spPr>
          <a:xfrm>
            <a:off x="3248495" y="2082103"/>
            <a:ext cx="2420399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지금은 </a:t>
            </a:r>
            <a:r>
              <a:rPr lang="ko-KR" altLang="en-US" sz="800" b="1" dirty="0">
                <a:solidFill>
                  <a:srgbClr val="FF0000"/>
                </a:solidFill>
              </a:rPr>
              <a:t>요금적용전력</a:t>
            </a:r>
            <a:r>
              <a:rPr lang="ko-KR" altLang="en-US" sz="700" b="1" dirty="0">
                <a:solidFill>
                  <a:schemeClr val="bg1"/>
                </a:solidFill>
              </a:rPr>
              <a:t> 갱신구간 입니다</a:t>
            </a:r>
            <a:r>
              <a:rPr lang="en-US" altLang="ko-KR" sz="700" b="1" dirty="0">
                <a:solidFill>
                  <a:schemeClr val="bg1"/>
                </a:solidFill>
              </a:rPr>
              <a:t>. (08:00 ~ 12:00)</a:t>
            </a:r>
            <a:endParaRPr lang="ko-KR" altLang="en-US" sz="700" b="1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75291473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9104309" y="6645875"/>
            <a:ext cx="140029" cy="138499"/>
          </a:xfrm>
        </p:spPr>
        <p:txBody>
          <a:bodyPr/>
          <a:lstStyle/>
          <a:p>
            <a:pPr>
              <a:defRPr/>
            </a:pPr>
            <a:fld id="{9E41B634-5682-4388-99E7-FE44DCFD254B}" type="slidenum">
              <a:rPr lang="ko-KR" altLang="en-US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>
                <a:defRPr/>
              </a:pPr>
              <a:t>15</a:t>
            </a:fld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텍스트 개체 틀 8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Site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 (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대시보드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" name="텍스트 개체 틀 9"/>
          <p:cNvSpPr>
            <a:spLocks noGrp="1"/>
          </p:cNvSpPr>
          <p:nvPr>
            <p:ph type="body" sz="quarter" idx="10"/>
          </p:nvPr>
        </p:nvSpPr>
        <p:spPr>
          <a:xfrm>
            <a:off x="6023595" y="44624"/>
            <a:ext cx="1233661" cy="196974"/>
          </a:xfrm>
        </p:spPr>
        <p:txBody>
          <a:bodyPr/>
          <a:lstStyle/>
          <a:p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Site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02" name="Group 15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33801795"/>
              </p:ext>
            </p:extLst>
          </p:nvPr>
        </p:nvGraphicFramePr>
        <p:xfrm>
          <a:off x="8469313" y="276225"/>
          <a:ext cx="1404000" cy="576960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3002"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Description</a:t>
                      </a: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8304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메뉴 팝업 표시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78" name="TextBox 77"/>
          <p:cNvSpPr txBox="1"/>
          <p:nvPr/>
        </p:nvSpPr>
        <p:spPr>
          <a:xfrm>
            <a:off x="7121707" y="21349"/>
            <a:ext cx="567597" cy="2308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화면</a:t>
            </a:r>
            <a:r>
              <a:rPr lang="en-US" altLang="ko-KR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ID</a:t>
            </a:r>
            <a:endParaRPr lang="ko-KR" altLang="en-US" sz="9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7689304" y="43659"/>
            <a:ext cx="792088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itchFamily="50" charset="-127"/>
                <a:ea typeface="맑은 고딕" pitchFamily="50" charset="-127"/>
              </a:rPr>
              <a:t>ewpsp_scr_008</a:t>
            </a:r>
            <a:endParaRPr lang="ko-KR" altLang="en-US" sz="700" dirty="0">
              <a:latin typeface="맑은 고딕" pitchFamily="50" charset="-127"/>
              <a:ea typeface="맑은 고딕" pitchFamily="50" charset="-127"/>
            </a:endParaRPr>
          </a:p>
        </p:txBody>
      </p:sp>
      <p:graphicFrame>
        <p:nvGraphicFramePr>
          <p:cNvPr id="27" name="표 26">
            <a:extLst>
              <a:ext uri="{FF2B5EF4-FFF2-40B4-BE49-F238E27FC236}">
                <a16:creationId xmlns:a16="http://schemas.microsoft.com/office/drawing/2014/main" id="{75FA8982-6CAC-4C63-9CB3-F9B5F4CAF5F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52642004"/>
              </p:ext>
            </p:extLst>
          </p:nvPr>
        </p:nvGraphicFramePr>
        <p:xfrm>
          <a:off x="3036493" y="1837072"/>
          <a:ext cx="2626669" cy="151054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893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</a:tblGrid>
              <a:tr h="13894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/>
                        <a:t>kW</a:t>
                      </a:r>
                      <a:endParaRPr lang="ko-KR" altLang="en-US" sz="7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3894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2,000</a:t>
                      </a:r>
                      <a:endParaRPr lang="ko-KR" altLang="en-US" sz="6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38945">
                <a:tc>
                  <a:txBody>
                    <a:bodyPr/>
                    <a:lstStyle/>
                    <a:p>
                      <a:pPr algn="ctr" latinLnBrk="1"/>
                      <a:endParaRPr lang="ko-KR" altLang="en-US" sz="6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38945">
                <a:tc>
                  <a:txBody>
                    <a:bodyPr/>
                    <a:lstStyle/>
                    <a:p>
                      <a:pPr algn="ctr" latinLnBrk="1"/>
                      <a:endParaRPr lang="ko-KR" altLang="en-US" sz="6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3894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500</a:t>
                      </a:r>
                      <a:endParaRPr lang="ko-KR" altLang="en-US" sz="6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3894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450</a:t>
                      </a:r>
                      <a:endParaRPr lang="ko-KR" altLang="en-US" sz="6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38945">
                <a:tc>
                  <a:txBody>
                    <a:bodyPr/>
                    <a:lstStyle/>
                    <a:p>
                      <a:pPr algn="ctr" latinLnBrk="1"/>
                      <a:endParaRPr lang="ko-KR" altLang="en-US" sz="6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38945">
                <a:tc>
                  <a:txBody>
                    <a:bodyPr/>
                    <a:lstStyle/>
                    <a:p>
                      <a:pPr algn="ctr" latinLnBrk="1"/>
                      <a:endParaRPr lang="ko-KR" altLang="en-US" sz="6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3894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6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38945">
                <a:tc>
                  <a:txBody>
                    <a:bodyPr/>
                    <a:lstStyle/>
                    <a:p>
                      <a:pPr algn="ctr" latinLnBrk="1"/>
                      <a:endParaRPr lang="ko-KR" altLang="en-US" sz="6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01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02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03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04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05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06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07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08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09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10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11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12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13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14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15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cxnSp>
        <p:nvCxnSpPr>
          <p:cNvPr id="34" name="직선 연결선 33">
            <a:extLst>
              <a:ext uri="{FF2B5EF4-FFF2-40B4-BE49-F238E27FC236}">
                <a16:creationId xmlns:a16="http://schemas.microsoft.com/office/drawing/2014/main" id="{2937C41E-B4F6-4B39-946B-624ADBD286B9}"/>
              </a:ext>
            </a:extLst>
          </p:cNvPr>
          <p:cNvCxnSpPr>
            <a:cxnSpLocks/>
          </p:cNvCxnSpPr>
          <p:nvPr/>
        </p:nvCxnSpPr>
        <p:spPr>
          <a:xfrm>
            <a:off x="5745088" y="1635718"/>
            <a:ext cx="0" cy="4140000"/>
          </a:xfrm>
          <a:prstGeom prst="line">
            <a:avLst/>
          </a:prstGeom>
          <a:ln w="3175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4" name="직선 연결선 93">
            <a:extLst>
              <a:ext uri="{FF2B5EF4-FFF2-40B4-BE49-F238E27FC236}">
                <a16:creationId xmlns:a16="http://schemas.microsoft.com/office/drawing/2014/main" id="{C8A6AD4A-1A6B-49CE-961C-0BDBC3BF9A32}"/>
              </a:ext>
            </a:extLst>
          </p:cNvPr>
          <p:cNvCxnSpPr>
            <a:cxnSpLocks/>
          </p:cNvCxnSpPr>
          <p:nvPr/>
        </p:nvCxnSpPr>
        <p:spPr>
          <a:xfrm>
            <a:off x="2938810" y="1635718"/>
            <a:ext cx="0" cy="4140000"/>
          </a:xfrm>
          <a:prstGeom prst="line">
            <a:avLst/>
          </a:prstGeom>
          <a:ln w="3175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96" name="표 95">
            <a:extLst>
              <a:ext uri="{FF2B5EF4-FFF2-40B4-BE49-F238E27FC236}">
                <a16:creationId xmlns:a16="http://schemas.microsoft.com/office/drawing/2014/main" id="{6370467D-C785-4D8C-97A0-F1ADD5C4F12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67505362"/>
              </p:ext>
            </p:extLst>
          </p:nvPr>
        </p:nvGraphicFramePr>
        <p:xfrm>
          <a:off x="5849513" y="1733328"/>
          <a:ext cx="2295059" cy="10058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253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221454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14727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/>
                        <a:t>kW</a:t>
                      </a:r>
                      <a:endParaRPr lang="ko-KR" altLang="en-US" sz="6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4727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500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4727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400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4727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300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4727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200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781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100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7818"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01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02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03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04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05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06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07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08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09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10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11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12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pic>
        <p:nvPicPr>
          <p:cNvPr id="303" name="Picture 3">
            <a:extLst>
              <a:ext uri="{FF2B5EF4-FFF2-40B4-BE49-F238E27FC236}">
                <a16:creationId xmlns:a16="http://schemas.microsoft.com/office/drawing/2014/main" id="{C9413466-BC46-457C-B824-0FAD107022D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1531" y="796962"/>
            <a:ext cx="8266177" cy="5440349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  <a:extLst/>
        </p:spPr>
      </p:pic>
      <p:pic>
        <p:nvPicPr>
          <p:cNvPr id="304" name="Picture 2">
            <a:extLst>
              <a:ext uri="{FF2B5EF4-FFF2-40B4-BE49-F238E27FC236}">
                <a16:creationId xmlns:a16="http://schemas.microsoft.com/office/drawing/2014/main" id="{B86358B6-FA3E-47A1-AD7F-0CBC18D1897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1532" y="804375"/>
            <a:ext cx="8266176" cy="3512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305" name="직선 연결선 304">
            <a:extLst>
              <a:ext uri="{FF2B5EF4-FFF2-40B4-BE49-F238E27FC236}">
                <a16:creationId xmlns:a16="http://schemas.microsoft.com/office/drawing/2014/main" id="{2FDD9D83-4D19-4A60-AE48-D4573C0AEA85}"/>
              </a:ext>
            </a:extLst>
          </p:cNvPr>
          <p:cNvCxnSpPr>
            <a:cxnSpLocks/>
          </p:cNvCxnSpPr>
          <p:nvPr/>
        </p:nvCxnSpPr>
        <p:spPr>
          <a:xfrm>
            <a:off x="117727" y="1143681"/>
            <a:ext cx="8187172" cy="0"/>
          </a:xfrm>
          <a:prstGeom prst="line">
            <a:avLst/>
          </a:prstGeom>
          <a:ln w="9525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6" name="직사각형 305">
            <a:extLst>
              <a:ext uri="{FF2B5EF4-FFF2-40B4-BE49-F238E27FC236}">
                <a16:creationId xmlns:a16="http://schemas.microsoft.com/office/drawing/2014/main" id="{E689BE8C-0306-4220-B7B1-8F124EBDAF1E}"/>
              </a:ext>
            </a:extLst>
          </p:cNvPr>
          <p:cNvSpPr/>
          <p:nvPr/>
        </p:nvSpPr>
        <p:spPr>
          <a:xfrm>
            <a:off x="184430" y="1557880"/>
            <a:ext cx="8020800" cy="4465954"/>
          </a:xfrm>
          <a:prstGeom prst="rect">
            <a:avLst/>
          </a:prstGeom>
          <a:solidFill>
            <a:srgbClr val="262645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BD964619-8031-4E19-B07D-8C4616B5C20C}"/>
              </a:ext>
            </a:extLst>
          </p:cNvPr>
          <p:cNvGrpSpPr/>
          <p:nvPr/>
        </p:nvGrpSpPr>
        <p:grpSpPr>
          <a:xfrm>
            <a:off x="184526" y="1505937"/>
            <a:ext cx="8024876" cy="260092"/>
            <a:chOff x="184526" y="1505937"/>
            <a:chExt cx="8024876" cy="260092"/>
          </a:xfrm>
        </p:grpSpPr>
        <p:sp>
          <p:nvSpPr>
            <p:cNvPr id="95" name="직사각형 94">
              <a:extLst>
                <a:ext uri="{FF2B5EF4-FFF2-40B4-BE49-F238E27FC236}">
                  <a16:creationId xmlns:a16="http://schemas.microsoft.com/office/drawing/2014/main" id="{9B744BAA-4F17-4FDE-AA6F-AC20C526EFF3}"/>
                </a:ext>
              </a:extLst>
            </p:cNvPr>
            <p:cNvSpPr/>
            <p:nvPr/>
          </p:nvSpPr>
          <p:spPr>
            <a:xfrm>
              <a:off x="5810955" y="1550585"/>
              <a:ext cx="1820532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수익 현황</a:t>
              </a:r>
            </a:p>
          </p:txBody>
        </p:sp>
        <p:sp>
          <p:nvSpPr>
            <p:cNvPr id="307" name="직사각형 306">
              <a:extLst>
                <a:ext uri="{FF2B5EF4-FFF2-40B4-BE49-F238E27FC236}">
                  <a16:creationId xmlns:a16="http://schemas.microsoft.com/office/drawing/2014/main" id="{D49E4D27-F5B9-4E6F-A658-A996ADA2CCC3}"/>
                </a:ext>
              </a:extLst>
            </p:cNvPr>
            <p:cNvSpPr/>
            <p:nvPr/>
          </p:nvSpPr>
          <p:spPr>
            <a:xfrm>
              <a:off x="184526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에너지 모니터링</a:t>
              </a:r>
            </a:p>
          </p:txBody>
        </p:sp>
        <p:sp>
          <p:nvSpPr>
            <p:cNvPr id="308" name="직사각형 307">
              <a:extLst>
                <a:ext uri="{FF2B5EF4-FFF2-40B4-BE49-F238E27FC236}">
                  <a16:creationId xmlns:a16="http://schemas.microsoft.com/office/drawing/2014/main" id="{4AD18146-795F-48A2-B746-EC82750C53BC}"/>
                </a:ext>
              </a:extLst>
            </p:cNvPr>
            <p:cNvSpPr/>
            <p:nvPr/>
          </p:nvSpPr>
          <p:spPr>
            <a:xfrm>
              <a:off x="2191085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장치 모니터링</a:t>
              </a:r>
            </a:p>
          </p:txBody>
        </p:sp>
        <p:sp>
          <p:nvSpPr>
            <p:cNvPr id="309" name="직사각형 308">
              <a:extLst>
                <a:ext uri="{FF2B5EF4-FFF2-40B4-BE49-F238E27FC236}">
                  <a16:creationId xmlns:a16="http://schemas.microsoft.com/office/drawing/2014/main" id="{5A5627C0-8B3D-4E48-8F7F-2249FA7C5482}"/>
                </a:ext>
              </a:extLst>
            </p:cNvPr>
            <p:cNvSpPr/>
            <p:nvPr/>
          </p:nvSpPr>
          <p:spPr>
            <a:xfrm>
              <a:off x="4197644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상황</a:t>
              </a:r>
              <a:r>
                <a:rPr lang="en-US" altLang="ko-KR" sz="700" dirty="0"/>
                <a:t> </a:t>
              </a:r>
              <a:r>
                <a:rPr lang="ko-KR" altLang="en-US" sz="700" dirty="0"/>
                <a:t>관제</a:t>
              </a:r>
            </a:p>
          </p:txBody>
        </p:sp>
        <p:sp>
          <p:nvSpPr>
            <p:cNvPr id="310" name="직사각형 309">
              <a:extLst>
                <a:ext uri="{FF2B5EF4-FFF2-40B4-BE49-F238E27FC236}">
                  <a16:creationId xmlns:a16="http://schemas.microsoft.com/office/drawing/2014/main" id="{D7A14DF0-22ED-4715-BD5A-64C469DD7118}"/>
                </a:ext>
              </a:extLst>
            </p:cNvPr>
            <p:cNvSpPr/>
            <p:nvPr/>
          </p:nvSpPr>
          <p:spPr>
            <a:xfrm>
              <a:off x="6204202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요금</a:t>
              </a:r>
              <a:r>
                <a:rPr lang="en-US" altLang="ko-KR" sz="700" dirty="0"/>
                <a:t>/</a:t>
              </a:r>
              <a:r>
                <a:rPr lang="ko-KR" altLang="en-US" sz="700" dirty="0"/>
                <a:t>수익</a:t>
              </a:r>
            </a:p>
          </p:txBody>
        </p:sp>
      </p:grpSp>
      <p:graphicFrame>
        <p:nvGraphicFramePr>
          <p:cNvPr id="311" name="표 310">
            <a:extLst>
              <a:ext uri="{FF2B5EF4-FFF2-40B4-BE49-F238E27FC236}">
                <a16:creationId xmlns:a16="http://schemas.microsoft.com/office/drawing/2014/main" id="{F2BE9F78-38AD-4B6E-A553-DF12B4DDF275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3036493" y="2089084"/>
          <a:ext cx="2626669" cy="151054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893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</a:tblGrid>
              <a:tr h="13894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/>
                        <a:t>kW</a:t>
                      </a:r>
                      <a:endParaRPr lang="ko-KR" altLang="en-US" sz="7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3894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2,000</a:t>
                      </a:r>
                      <a:endParaRPr lang="ko-KR" altLang="en-US" sz="6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38945">
                <a:tc>
                  <a:txBody>
                    <a:bodyPr/>
                    <a:lstStyle/>
                    <a:p>
                      <a:pPr algn="ctr" latinLnBrk="1"/>
                      <a:endParaRPr lang="ko-KR" altLang="en-US" sz="6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38945">
                <a:tc>
                  <a:txBody>
                    <a:bodyPr/>
                    <a:lstStyle/>
                    <a:p>
                      <a:pPr algn="ctr" latinLnBrk="1"/>
                      <a:endParaRPr lang="ko-KR" altLang="en-US" sz="6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3894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500</a:t>
                      </a:r>
                      <a:endParaRPr lang="ko-KR" altLang="en-US" sz="6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3894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450</a:t>
                      </a:r>
                      <a:endParaRPr lang="ko-KR" altLang="en-US" sz="6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38945">
                <a:tc>
                  <a:txBody>
                    <a:bodyPr/>
                    <a:lstStyle/>
                    <a:p>
                      <a:pPr algn="ctr" latinLnBrk="1"/>
                      <a:endParaRPr lang="ko-KR" altLang="en-US" sz="6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38945">
                <a:tc>
                  <a:txBody>
                    <a:bodyPr/>
                    <a:lstStyle/>
                    <a:p>
                      <a:pPr algn="ctr" latinLnBrk="1"/>
                      <a:endParaRPr lang="ko-KR" altLang="en-US" sz="6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3894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6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38945">
                <a:tc>
                  <a:txBody>
                    <a:bodyPr/>
                    <a:lstStyle/>
                    <a:p>
                      <a:pPr algn="ctr" latinLnBrk="1"/>
                      <a:endParaRPr lang="ko-KR" altLang="en-US" sz="6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01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02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03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04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05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06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07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08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09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10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11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12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13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14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15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cxnSp>
        <p:nvCxnSpPr>
          <p:cNvPr id="313" name="직선 연결선 312">
            <a:extLst>
              <a:ext uri="{FF2B5EF4-FFF2-40B4-BE49-F238E27FC236}">
                <a16:creationId xmlns:a16="http://schemas.microsoft.com/office/drawing/2014/main" id="{39627037-57CE-42F4-8F72-786169CEF5A7}"/>
              </a:ext>
            </a:extLst>
          </p:cNvPr>
          <p:cNvCxnSpPr>
            <a:cxnSpLocks/>
          </p:cNvCxnSpPr>
          <p:nvPr/>
        </p:nvCxnSpPr>
        <p:spPr>
          <a:xfrm>
            <a:off x="3201134" y="2315023"/>
            <a:ext cx="2400905" cy="0"/>
          </a:xfrm>
          <a:prstGeom prst="line">
            <a:avLst/>
          </a:prstGeom>
          <a:ln/>
        </p:spPr>
        <p:style>
          <a:lnRef idx="1">
            <a:schemeClr val="accent2"/>
          </a:lnRef>
          <a:fillRef idx="0">
            <a:schemeClr val="accent2"/>
          </a:fillRef>
          <a:effectRef idx="0">
            <a:schemeClr val="accent2"/>
          </a:effectRef>
          <a:fontRef idx="minor">
            <a:schemeClr val="tx1"/>
          </a:fontRef>
        </p:style>
      </p:cxnSp>
      <p:cxnSp>
        <p:nvCxnSpPr>
          <p:cNvPr id="314" name="직선 연결선 313">
            <a:extLst>
              <a:ext uri="{FF2B5EF4-FFF2-40B4-BE49-F238E27FC236}">
                <a16:creationId xmlns:a16="http://schemas.microsoft.com/office/drawing/2014/main" id="{FF2241E3-D756-474A-8DFE-699F58D3BDAF}"/>
              </a:ext>
            </a:extLst>
          </p:cNvPr>
          <p:cNvCxnSpPr>
            <a:cxnSpLocks/>
          </p:cNvCxnSpPr>
          <p:nvPr/>
        </p:nvCxnSpPr>
        <p:spPr>
          <a:xfrm>
            <a:off x="3201134" y="2776761"/>
            <a:ext cx="2400905" cy="0"/>
          </a:xfrm>
          <a:prstGeom prst="line">
            <a:avLst/>
          </a:prstGeom>
          <a:ln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2"/>
          </a:lnRef>
          <a:fillRef idx="0">
            <a:schemeClr val="accent2"/>
          </a:fillRef>
          <a:effectRef idx="0">
            <a:schemeClr val="accent2"/>
          </a:effectRef>
          <a:fontRef idx="minor">
            <a:schemeClr val="tx1"/>
          </a:fontRef>
        </p:style>
      </p:cxnSp>
      <p:cxnSp>
        <p:nvCxnSpPr>
          <p:cNvPr id="316" name="직선 연결선 315">
            <a:extLst>
              <a:ext uri="{FF2B5EF4-FFF2-40B4-BE49-F238E27FC236}">
                <a16:creationId xmlns:a16="http://schemas.microsoft.com/office/drawing/2014/main" id="{12B75C21-5BB1-42EA-833E-E66D08E94821}"/>
              </a:ext>
            </a:extLst>
          </p:cNvPr>
          <p:cNvCxnSpPr>
            <a:cxnSpLocks/>
          </p:cNvCxnSpPr>
          <p:nvPr/>
        </p:nvCxnSpPr>
        <p:spPr>
          <a:xfrm>
            <a:off x="4708264" y="2089084"/>
            <a:ext cx="0" cy="1510545"/>
          </a:xfrm>
          <a:prstGeom prst="line">
            <a:avLst/>
          </a:prstGeom>
          <a:ln w="3175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7" name="TextBox 316">
            <a:extLst>
              <a:ext uri="{FF2B5EF4-FFF2-40B4-BE49-F238E27FC236}">
                <a16:creationId xmlns:a16="http://schemas.microsoft.com/office/drawing/2014/main" id="{55E4CC6A-373C-4361-B7AF-404205323548}"/>
              </a:ext>
            </a:extLst>
          </p:cNvPr>
          <p:cNvSpPr txBox="1"/>
          <p:nvPr/>
        </p:nvSpPr>
        <p:spPr>
          <a:xfrm>
            <a:off x="2933296" y="1880452"/>
            <a:ext cx="1013626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피크 전력 현황</a:t>
            </a:r>
          </a:p>
        </p:txBody>
      </p:sp>
      <p:cxnSp>
        <p:nvCxnSpPr>
          <p:cNvPr id="318" name="직선 연결선 317">
            <a:extLst>
              <a:ext uri="{FF2B5EF4-FFF2-40B4-BE49-F238E27FC236}">
                <a16:creationId xmlns:a16="http://schemas.microsoft.com/office/drawing/2014/main" id="{3F4EE2E7-BBD6-40D4-90A0-2A7AFFCF7884}"/>
              </a:ext>
            </a:extLst>
          </p:cNvPr>
          <p:cNvCxnSpPr>
            <a:cxnSpLocks/>
          </p:cNvCxnSpPr>
          <p:nvPr/>
        </p:nvCxnSpPr>
        <p:spPr>
          <a:xfrm>
            <a:off x="5741146" y="1866501"/>
            <a:ext cx="0" cy="4140000"/>
          </a:xfrm>
          <a:prstGeom prst="line">
            <a:avLst/>
          </a:prstGeom>
          <a:ln w="3175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319" name="표 318">
            <a:extLst>
              <a:ext uri="{FF2B5EF4-FFF2-40B4-BE49-F238E27FC236}">
                <a16:creationId xmlns:a16="http://schemas.microsoft.com/office/drawing/2014/main" id="{FF2B9A09-35DA-4406-B374-CAF26563D4CB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5849512" y="3272858"/>
          <a:ext cx="2275628" cy="14478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957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19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20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21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22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23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24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25"/>
                    </a:ext>
                  </a:extLst>
                </a:gridCol>
              </a:tblGrid>
              <a:tr h="279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dirty="0"/>
                        <a:t>kWh</a:t>
                      </a:r>
                      <a:endParaRPr lang="ko-KR" altLang="en-US" sz="5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9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4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1000</a:t>
                      </a:r>
                      <a:endParaRPr lang="ko-KR" altLang="en-US" sz="4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7987"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4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500</a:t>
                      </a:r>
                      <a:endParaRPr lang="ko-KR" altLang="en-US" sz="4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7987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4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79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4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4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987">
                <a:tc>
                  <a:txBody>
                    <a:bodyPr/>
                    <a:lstStyle/>
                    <a:p>
                      <a:pPr algn="ctr" latinLnBrk="1"/>
                      <a:endParaRPr lang="ko-KR" altLang="en-US" sz="4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79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4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500</a:t>
                      </a:r>
                      <a:endParaRPr lang="ko-KR" altLang="en-US" sz="4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7987">
                <a:tc>
                  <a:txBody>
                    <a:bodyPr/>
                    <a:lstStyle/>
                    <a:p>
                      <a:pPr algn="ctr" latinLnBrk="1"/>
                      <a:endParaRPr lang="ko-KR" altLang="en-US" sz="4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79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4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1000</a:t>
                      </a:r>
                      <a:endParaRPr lang="ko-KR" altLang="en-US" sz="4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endParaRPr lang="ko-KR" altLang="en-US" sz="4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00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01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02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03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04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05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06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07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08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09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10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11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12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13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14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15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16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17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18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19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20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21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22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23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24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sp>
        <p:nvSpPr>
          <p:cNvPr id="320" name="TextBox 319">
            <a:extLst>
              <a:ext uri="{FF2B5EF4-FFF2-40B4-BE49-F238E27FC236}">
                <a16:creationId xmlns:a16="http://schemas.microsoft.com/office/drawing/2014/main" id="{07350133-97A4-45EC-AA1D-03B67CA121C8}"/>
              </a:ext>
            </a:extLst>
          </p:cNvPr>
          <p:cNvSpPr txBox="1"/>
          <p:nvPr/>
        </p:nvSpPr>
        <p:spPr>
          <a:xfrm>
            <a:off x="5769155" y="3098741"/>
            <a:ext cx="986079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>
              <a:defRPr sz="800" b="1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</a:lstStyle>
          <a:p>
            <a:r>
              <a:rPr lang="ko-KR" altLang="en-US" dirty="0"/>
              <a:t>충</a:t>
            </a:r>
            <a:r>
              <a:rPr lang="en-US" altLang="ko-KR" dirty="0"/>
              <a:t>/</a:t>
            </a:r>
            <a:r>
              <a:rPr lang="ko-KR" altLang="en-US" dirty="0" err="1"/>
              <a:t>방전량</a:t>
            </a:r>
            <a:endParaRPr lang="ko-KR" altLang="en-US" dirty="0"/>
          </a:p>
        </p:txBody>
      </p:sp>
      <p:sp>
        <p:nvSpPr>
          <p:cNvPr id="321" name="AutoShape 182">
            <a:extLst>
              <a:ext uri="{FF2B5EF4-FFF2-40B4-BE49-F238E27FC236}">
                <a16:creationId xmlns:a16="http://schemas.microsoft.com/office/drawing/2014/main" id="{66AF9E48-4990-45A6-8006-C87842F05FD3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5851306" y="4753820"/>
            <a:ext cx="2273814" cy="1261824"/>
          </a:xfrm>
          <a:prstGeom prst="roundRect">
            <a:avLst>
              <a:gd name="adj" fmla="val 1769"/>
            </a:avLst>
          </a:prstGeom>
          <a:solidFill>
            <a:srgbClr val="262645"/>
          </a:solidFill>
          <a:ln w="3175">
            <a:solidFill>
              <a:schemeClr val="bg1"/>
            </a:solidFill>
          </a:ln>
        </p:spPr>
        <p:txBody>
          <a:bodyPr wrap="none" anchor="ctr"/>
          <a:lstStyle/>
          <a:p>
            <a:pPr latinLnBrk="1"/>
            <a:endParaRPr lang="ko-KR" altLang="en-US" sz="1600" dirty="0"/>
          </a:p>
        </p:txBody>
      </p:sp>
      <p:cxnSp>
        <p:nvCxnSpPr>
          <p:cNvPr id="322" name="직선 연결선 321">
            <a:extLst>
              <a:ext uri="{FF2B5EF4-FFF2-40B4-BE49-F238E27FC236}">
                <a16:creationId xmlns:a16="http://schemas.microsoft.com/office/drawing/2014/main" id="{4236A186-A811-4156-A183-4BE19A8DC723}"/>
              </a:ext>
            </a:extLst>
          </p:cNvPr>
          <p:cNvCxnSpPr>
            <a:cxnSpLocks/>
          </p:cNvCxnSpPr>
          <p:nvPr/>
        </p:nvCxnSpPr>
        <p:spPr>
          <a:xfrm>
            <a:off x="5993828" y="4925311"/>
            <a:ext cx="2160000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3" name="TextBox 322">
            <a:extLst>
              <a:ext uri="{FF2B5EF4-FFF2-40B4-BE49-F238E27FC236}">
                <a16:creationId xmlns:a16="http://schemas.microsoft.com/office/drawing/2014/main" id="{4CA54214-F444-4928-A91A-5F2B393ECEA2}"/>
              </a:ext>
            </a:extLst>
          </p:cNvPr>
          <p:cNvSpPr txBox="1"/>
          <p:nvPr/>
        </p:nvSpPr>
        <p:spPr>
          <a:xfrm>
            <a:off x="5958346" y="4771035"/>
            <a:ext cx="709061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500" dirty="0">
                <a:solidFill>
                  <a:schemeClr val="bg1"/>
                </a:solidFill>
              </a:rPr>
              <a:t>오늘 충</a:t>
            </a:r>
            <a:r>
              <a:rPr lang="en-US" altLang="ko-KR" sz="500" dirty="0">
                <a:solidFill>
                  <a:schemeClr val="bg1"/>
                </a:solidFill>
              </a:rPr>
              <a:t>/</a:t>
            </a:r>
            <a:r>
              <a:rPr lang="ko-KR" altLang="en-US" sz="500" dirty="0" err="1">
                <a:solidFill>
                  <a:schemeClr val="bg1"/>
                </a:solidFill>
              </a:rPr>
              <a:t>방전량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324" name="TextBox 323">
            <a:extLst>
              <a:ext uri="{FF2B5EF4-FFF2-40B4-BE49-F238E27FC236}">
                <a16:creationId xmlns:a16="http://schemas.microsoft.com/office/drawing/2014/main" id="{CFB78D4A-104B-4C27-BDED-14BB1418C067}"/>
              </a:ext>
            </a:extLst>
          </p:cNvPr>
          <p:cNvSpPr txBox="1"/>
          <p:nvPr/>
        </p:nvSpPr>
        <p:spPr>
          <a:xfrm>
            <a:off x="6935425" y="4753107"/>
            <a:ext cx="37714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</a:rPr>
              <a:t>kWh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325" name="TextBox 324">
            <a:extLst>
              <a:ext uri="{FF2B5EF4-FFF2-40B4-BE49-F238E27FC236}">
                <a16:creationId xmlns:a16="http://schemas.microsoft.com/office/drawing/2014/main" id="{16E097BE-7008-4100-B91D-34CFA025E609}"/>
              </a:ext>
            </a:extLst>
          </p:cNvPr>
          <p:cNvSpPr txBox="1"/>
          <p:nvPr/>
        </p:nvSpPr>
        <p:spPr>
          <a:xfrm>
            <a:off x="7591323" y="4753107"/>
            <a:ext cx="37714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500" dirty="0">
                <a:solidFill>
                  <a:schemeClr val="bg1"/>
                </a:solidFill>
              </a:rPr>
              <a:t>수익</a:t>
            </a:r>
          </a:p>
        </p:txBody>
      </p:sp>
      <p:sp>
        <p:nvSpPr>
          <p:cNvPr id="326" name="TextBox 325">
            <a:extLst>
              <a:ext uri="{FF2B5EF4-FFF2-40B4-BE49-F238E27FC236}">
                <a16:creationId xmlns:a16="http://schemas.microsoft.com/office/drawing/2014/main" id="{6CAD39A4-B2FF-4148-9C53-A8ACD816998B}"/>
              </a:ext>
            </a:extLst>
          </p:cNvPr>
          <p:cNvSpPr txBox="1"/>
          <p:nvPr/>
        </p:nvSpPr>
        <p:spPr>
          <a:xfrm>
            <a:off x="6223369" y="4925311"/>
            <a:ext cx="418353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ko-KR" altLang="en-US" sz="500" dirty="0" err="1">
                <a:solidFill>
                  <a:schemeClr val="bg1"/>
                </a:solidFill>
              </a:rPr>
              <a:t>충전량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327" name="TextBox 326">
            <a:extLst>
              <a:ext uri="{FF2B5EF4-FFF2-40B4-BE49-F238E27FC236}">
                <a16:creationId xmlns:a16="http://schemas.microsoft.com/office/drawing/2014/main" id="{1AA7001D-52AA-490E-BC5E-BE9E0471CB98}"/>
              </a:ext>
            </a:extLst>
          </p:cNvPr>
          <p:cNvSpPr txBox="1"/>
          <p:nvPr/>
        </p:nvSpPr>
        <p:spPr>
          <a:xfrm>
            <a:off x="6223369" y="5041896"/>
            <a:ext cx="418353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ko-KR" altLang="en-US" sz="500" dirty="0" err="1">
                <a:solidFill>
                  <a:schemeClr val="bg1"/>
                </a:solidFill>
              </a:rPr>
              <a:t>방전량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328" name="TextBox 327">
            <a:extLst>
              <a:ext uri="{FF2B5EF4-FFF2-40B4-BE49-F238E27FC236}">
                <a16:creationId xmlns:a16="http://schemas.microsoft.com/office/drawing/2014/main" id="{DF0FAAD8-F42B-4BD3-B6BA-637D93CBF374}"/>
              </a:ext>
            </a:extLst>
          </p:cNvPr>
          <p:cNvSpPr txBox="1"/>
          <p:nvPr/>
        </p:nvSpPr>
        <p:spPr>
          <a:xfrm>
            <a:off x="6850640" y="4925311"/>
            <a:ext cx="54671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</a:rPr>
              <a:t>1,350.5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329" name="TextBox 328">
            <a:extLst>
              <a:ext uri="{FF2B5EF4-FFF2-40B4-BE49-F238E27FC236}">
                <a16:creationId xmlns:a16="http://schemas.microsoft.com/office/drawing/2014/main" id="{7A5507CD-66DD-4905-8F52-3D144542618A}"/>
              </a:ext>
            </a:extLst>
          </p:cNvPr>
          <p:cNvSpPr txBox="1"/>
          <p:nvPr/>
        </p:nvSpPr>
        <p:spPr>
          <a:xfrm>
            <a:off x="6850640" y="5041896"/>
            <a:ext cx="54671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</a:rPr>
              <a:t>850.5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330" name="TextBox 329">
            <a:extLst>
              <a:ext uri="{FF2B5EF4-FFF2-40B4-BE49-F238E27FC236}">
                <a16:creationId xmlns:a16="http://schemas.microsoft.com/office/drawing/2014/main" id="{5AD50B8B-078B-478B-A133-ACDB53F62A34}"/>
              </a:ext>
            </a:extLst>
          </p:cNvPr>
          <p:cNvSpPr txBox="1"/>
          <p:nvPr/>
        </p:nvSpPr>
        <p:spPr>
          <a:xfrm>
            <a:off x="7570720" y="4978797"/>
            <a:ext cx="418353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600" dirty="0">
                <a:solidFill>
                  <a:schemeClr val="bg1"/>
                </a:solidFill>
              </a:rPr>
              <a:t>2.1</a:t>
            </a:r>
            <a:endParaRPr lang="ko-KR" altLang="en-US" sz="600" dirty="0">
              <a:solidFill>
                <a:schemeClr val="bg1"/>
              </a:solidFill>
            </a:endParaRPr>
          </a:p>
        </p:txBody>
      </p:sp>
      <p:cxnSp>
        <p:nvCxnSpPr>
          <p:cNvPr id="331" name="직선 연결선 330">
            <a:extLst>
              <a:ext uri="{FF2B5EF4-FFF2-40B4-BE49-F238E27FC236}">
                <a16:creationId xmlns:a16="http://schemas.microsoft.com/office/drawing/2014/main" id="{5BCCDE6B-A752-4A71-95A5-C207E66EA34A}"/>
              </a:ext>
            </a:extLst>
          </p:cNvPr>
          <p:cNvCxnSpPr>
            <a:cxnSpLocks/>
          </p:cNvCxnSpPr>
          <p:nvPr/>
        </p:nvCxnSpPr>
        <p:spPr>
          <a:xfrm>
            <a:off x="5993828" y="5353201"/>
            <a:ext cx="2160000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2" name="TextBox 331">
            <a:extLst>
              <a:ext uri="{FF2B5EF4-FFF2-40B4-BE49-F238E27FC236}">
                <a16:creationId xmlns:a16="http://schemas.microsoft.com/office/drawing/2014/main" id="{43BC9EE5-DED5-46AD-9262-41114276C542}"/>
              </a:ext>
            </a:extLst>
          </p:cNvPr>
          <p:cNvSpPr txBox="1"/>
          <p:nvPr/>
        </p:nvSpPr>
        <p:spPr>
          <a:xfrm>
            <a:off x="5958346" y="5204901"/>
            <a:ext cx="796888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500" dirty="0" err="1">
                <a:solidFill>
                  <a:schemeClr val="bg1"/>
                </a:solidFill>
              </a:rPr>
              <a:t>이번달</a:t>
            </a:r>
            <a:r>
              <a:rPr lang="ko-KR" altLang="en-US" sz="500" dirty="0">
                <a:solidFill>
                  <a:schemeClr val="bg1"/>
                </a:solidFill>
              </a:rPr>
              <a:t> 충</a:t>
            </a:r>
            <a:r>
              <a:rPr lang="en-US" altLang="ko-KR" sz="500" dirty="0">
                <a:solidFill>
                  <a:schemeClr val="bg1"/>
                </a:solidFill>
              </a:rPr>
              <a:t>/</a:t>
            </a:r>
            <a:r>
              <a:rPr lang="ko-KR" altLang="en-US" sz="500" dirty="0" err="1">
                <a:solidFill>
                  <a:schemeClr val="bg1"/>
                </a:solidFill>
              </a:rPr>
              <a:t>방전량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333" name="TextBox 332">
            <a:extLst>
              <a:ext uri="{FF2B5EF4-FFF2-40B4-BE49-F238E27FC236}">
                <a16:creationId xmlns:a16="http://schemas.microsoft.com/office/drawing/2014/main" id="{47E35248-1D14-4D7A-8D98-43E68DEFEAEE}"/>
              </a:ext>
            </a:extLst>
          </p:cNvPr>
          <p:cNvSpPr txBox="1"/>
          <p:nvPr/>
        </p:nvSpPr>
        <p:spPr>
          <a:xfrm>
            <a:off x="6935425" y="5180997"/>
            <a:ext cx="37714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</a:rPr>
              <a:t>MWh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334" name="TextBox 333">
            <a:extLst>
              <a:ext uri="{FF2B5EF4-FFF2-40B4-BE49-F238E27FC236}">
                <a16:creationId xmlns:a16="http://schemas.microsoft.com/office/drawing/2014/main" id="{F5F67606-D55B-4412-8B03-378F96FD7BD2}"/>
              </a:ext>
            </a:extLst>
          </p:cNvPr>
          <p:cNvSpPr txBox="1"/>
          <p:nvPr/>
        </p:nvSpPr>
        <p:spPr>
          <a:xfrm>
            <a:off x="7591323" y="5180997"/>
            <a:ext cx="37714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500" dirty="0">
                <a:solidFill>
                  <a:schemeClr val="bg1"/>
                </a:solidFill>
              </a:rPr>
              <a:t>수익</a:t>
            </a:r>
          </a:p>
        </p:txBody>
      </p:sp>
      <p:sp>
        <p:nvSpPr>
          <p:cNvPr id="335" name="TextBox 334">
            <a:extLst>
              <a:ext uri="{FF2B5EF4-FFF2-40B4-BE49-F238E27FC236}">
                <a16:creationId xmlns:a16="http://schemas.microsoft.com/office/drawing/2014/main" id="{B00B7231-9434-4BE7-B11D-CB097CFF842C}"/>
              </a:ext>
            </a:extLst>
          </p:cNvPr>
          <p:cNvSpPr txBox="1"/>
          <p:nvPr/>
        </p:nvSpPr>
        <p:spPr>
          <a:xfrm>
            <a:off x="6223369" y="5353201"/>
            <a:ext cx="418353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ko-KR" altLang="en-US" sz="500">
                <a:solidFill>
                  <a:schemeClr val="bg1"/>
                </a:solidFill>
              </a:rPr>
              <a:t>충전량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336" name="TextBox 335">
            <a:extLst>
              <a:ext uri="{FF2B5EF4-FFF2-40B4-BE49-F238E27FC236}">
                <a16:creationId xmlns:a16="http://schemas.microsoft.com/office/drawing/2014/main" id="{2EBD8F01-E998-422E-9356-CB30DAECCF18}"/>
              </a:ext>
            </a:extLst>
          </p:cNvPr>
          <p:cNvSpPr txBox="1"/>
          <p:nvPr/>
        </p:nvSpPr>
        <p:spPr>
          <a:xfrm>
            <a:off x="6223369" y="5469786"/>
            <a:ext cx="418353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ko-KR" altLang="en-US" sz="500" dirty="0" err="1">
                <a:solidFill>
                  <a:schemeClr val="bg1"/>
                </a:solidFill>
              </a:rPr>
              <a:t>방전량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337" name="TextBox 336">
            <a:extLst>
              <a:ext uri="{FF2B5EF4-FFF2-40B4-BE49-F238E27FC236}">
                <a16:creationId xmlns:a16="http://schemas.microsoft.com/office/drawing/2014/main" id="{4D681B3E-1FC3-4BFA-B3E5-EE7E8002ADCC}"/>
              </a:ext>
            </a:extLst>
          </p:cNvPr>
          <p:cNvSpPr txBox="1"/>
          <p:nvPr/>
        </p:nvSpPr>
        <p:spPr>
          <a:xfrm>
            <a:off x="6850640" y="5353201"/>
            <a:ext cx="54671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</a:rPr>
              <a:t>8.9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338" name="TextBox 337">
            <a:extLst>
              <a:ext uri="{FF2B5EF4-FFF2-40B4-BE49-F238E27FC236}">
                <a16:creationId xmlns:a16="http://schemas.microsoft.com/office/drawing/2014/main" id="{CD3A40FB-9FA9-4C65-A894-09F9F133F754}"/>
              </a:ext>
            </a:extLst>
          </p:cNvPr>
          <p:cNvSpPr txBox="1"/>
          <p:nvPr/>
        </p:nvSpPr>
        <p:spPr>
          <a:xfrm>
            <a:off x="6850640" y="5469786"/>
            <a:ext cx="54671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</a:rPr>
              <a:t>12.1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339" name="TextBox 338">
            <a:extLst>
              <a:ext uri="{FF2B5EF4-FFF2-40B4-BE49-F238E27FC236}">
                <a16:creationId xmlns:a16="http://schemas.microsoft.com/office/drawing/2014/main" id="{2D4E36AF-F107-4D1E-9D07-3DA8B9F3819E}"/>
              </a:ext>
            </a:extLst>
          </p:cNvPr>
          <p:cNvSpPr txBox="1"/>
          <p:nvPr/>
        </p:nvSpPr>
        <p:spPr>
          <a:xfrm>
            <a:off x="7570720" y="5407818"/>
            <a:ext cx="418353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600" dirty="0">
                <a:solidFill>
                  <a:schemeClr val="bg1"/>
                </a:solidFill>
              </a:rPr>
              <a:t>64.9</a:t>
            </a:r>
            <a:endParaRPr lang="ko-KR" altLang="en-US" sz="600" dirty="0">
              <a:solidFill>
                <a:schemeClr val="bg1"/>
              </a:solidFill>
            </a:endParaRPr>
          </a:p>
        </p:txBody>
      </p:sp>
      <p:cxnSp>
        <p:nvCxnSpPr>
          <p:cNvPr id="340" name="직선 연결선 339">
            <a:extLst>
              <a:ext uri="{FF2B5EF4-FFF2-40B4-BE49-F238E27FC236}">
                <a16:creationId xmlns:a16="http://schemas.microsoft.com/office/drawing/2014/main" id="{FA14A887-248C-4BAA-9DE8-195A2D215FDE}"/>
              </a:ext>
            </a:extLst>
          </p:cNvPr>
          <p:cNvCxnSpPr>
            <a:cxnSpLocks/>
          </p:cNvCxnSpPr>
          <p:nvPr/>
        </p:nvCxnSpPr>
        <p:spPr>
          <a:xfrm>
            <a:off x="5993828" y="5771414"/>
            <a:ext cx="2160000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1" name="TextBox 340">
            <a:extLst>
              <a:ext uri="{FF2B5EF4-FFF2-40B4-BE49-F238E27FC236}">
                <a16:creationId xmlns:a16="http://schemas.microsoft.com/office/drawing/2014/main" id="{7007078E-EDB8-4B9E-90A5-41158B018AFE}"/>
              </a:ext>
            </a:extLst>
          </p:cNvPr>
          <p:cNvSpPr txBox="1"/>
          <p:nvPr/>
        </p:nvSpPr>
        <p:spPr>
          <a:xfrm>
            <a:off x="5932914" y="5623114"/>
            <a:ext cx="796888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500" dirty="0">
                <a:solidFill>
                  <a:schemeClr val="bg1"/>
                </a:solidFill>
              </a:rPr>
              <a:t>올해 충</a:t>
            </a:r>
            <a:r>
              <a:rPr lang="en-US" altLang="ko-KR" sz="500" dirty="0">
                <a:solidFill>
                  <a:schemeClr val="bg1"/>
                </a:solidFill>
              </a:rPr>
              <a:t>/</a:t>
            </a:r>
            <a:r>
              <a:rPr lang="ko-KR" altLang="en-US" sz="500" dirty="0" err="1">
                <a:solidFill>
                  <a:schemeClr val="bg1"/>
                </a:solidFill>
              </a:rPr>
              <a:t>방전량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342" name="TextBox 341">
            <a:extLst>
              <a:ext uri="{FF2B5EF4-FFF2-40B4-BE49-F238E27FC236}">
                <a16:creationId xmlns:a16="http://schemas.microsoft.com/office/drawing/2014/main" id="{CCC2070C-E5FB-4E61-9DF6-663FC9696D2B}"/>
              </a:ext>
            </a:extLst>
          </p:cNvPr>
          <p:cNvSpPr txBox="1"/>
          <p:nvPr/>
        </p:nvSpPr>
        <p:spPr>
          <a:xfrm>
            <a:off x="6909993" y="5599210"/>
            <a:ext cx="37714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</a:rPr>
              <a:t>MWh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343" name="TextBox 342">
            <a:extLst>
              <a:ext uri="{FF2B5EF4-FFF2-40B4-BE49-F238E27FC236}">
                <a16:creationId xmlns:a16="http://schemas.microsoft.com/office/drawing/2014/main" id="{78005D9B-D4DE-46E4-A44D-68C33769A094}"/>
              </a:ext>
            </a:extLst>
          </p:cNvPr>
          <p:cNvSpPr txBox="1"/>
          <p:nvPr/>
        </p:nvSpPr>
        <p:spPr>
          <a:xfrm>
            <a:off x="7565891" y="5599210"/>
            <a:ext cx="37714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500" dirty="0">
                <a:solidFill>
                  <a:schemeClr val="bg1"/>
                </a:solidFill>
              </a:rPr>
              <a:t>수익</a:t>
            </a:r>
          </a:p>
        </p:txBody>
      </p:sp>
      <p:sp>
        <p:nvSpPr>
          <p:cNvPr id="344" name="TextBox 343">
            <a:extLst>
              <a:ext uri="{FF2B5EF4-FFF2-40B4-BE49-F238E27FC236}">
                <a16:creationId xmlns:a16="http://schemas.microsoft.com/office/drawing/2014/main" id="{AEEA15ED-BF39-4349-BC09-B2129DFD5337}"/>
              </a:ext>
            </a:extLst>
          </p:cNvPr>
          <p:cNvSpPr txBox="1"/>
          <p:nvPr/>
        </p:nvSpPr>
        <p:spPr>
          <a:xfrm>
            <a:off x="6197937" y="5771414"/>
            <a:ext cx="418353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ko-KR" altLang="en-US" sz="500">
                <a:solidFill>
                  <a:schemeClr val="bg1"/>
                </a:solidFill>
              </a:rPr>
              <a:t>충전량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345" name="TextBox 344">
            <a:extLst>
              <a:ext uri="{FF2B5EF4-FFF2-40B4-BE49-F238E27FC236}">
                <a16:creationId xmlns:a16="http://schemas.microsoft.com/office/drawing/2014/main" id="{D074875C-F525-4360-9009-C6B4F31955B1}"/>
              </a:ext>
            </a:extLst>
          </p:cNvPr>
          <p:cNvSpPr txBox="1"/>
          <p:nvPr/>
        </p:nvSpPr>
        <p:spPr>
          <a:xfrm>
            <a:off x="6197937" y="5887999"/>
            <a:ext cx="418353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ko-KR" altLang="en-US" sz="500" dirty="0" err="1">
                <a:solidFill>
                  <a:schemeClr val="bg1"/>
                </a:solidFill>
              </a:rPr>
              <a:t>방전량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346" name="TextBox 345">
            <a:extLst>
              <a:ext uri="{FF2B5EF4-FFF2-40B4-BE49-F238E27FC236}">
                <a16:creationId xmlns:a16="http://schemas.microsoft.com/office/drawing/2014/main" id="{A7EA31FF-5267-4A4E-A32F-0C2C417CCAEE}"/>
              </a:ext>
            </a:extLst>
          </p:cNvPr>
          <p:cNvSpPr txBox="1"/>
          <p:nvPr/>
        </p:nvSpPr>
        <p:spPr>
          <a:xfrm>
            <a:off x="6825208" y="5771414"/>
            <a:ext cx="54671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</a:rPr>
              <a:t>58.9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347" name="TextBox 346">
            <a:extLst>
              <a:ext uri="{FF2B5EF4-FFF2-40B4-BE49-F238E27FC236}">
                <a16:creationId xmlns:a16="http://schemas.microsoft.com/office/drawing/2014/main" id="{7E5F8E77-9571-47A5-B4EF-674B40D7E61C}"/>
              </a:ext>
            </a:extLst>
          </p:cNvPr>
          <p:cNvSpPr txBox="1"/>
          <p:nvPr/>
        </p:nvSpPr>
        <p:spPr>
          <a:xfrm>
            <a:off x="6825208" y="5887999"/>
            <a:ext cx="54671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</a:rPr>
              <a:t>192.1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348" name="TextBox 347">
            <a:extLst>
              <a:ext uri="{FF2B5EF4-FFF2-40B4-BE49-F238E27FC236}">
                <a16:creationId xmlns:a16="http://schemas.microsoft.com/office/drawing/2014/main" id="{4C7A79E9-04A9-4C4C-B0D6-6E1C7329F891}"/>
              </a:ext>
            </a:extLst>
          </p:cNvPr>
          <p:cNvSpPr txBox="1"/>
          <p:nvPr/>
        </p:nvSpPr>
        <p:spPr>
          <a:xfrm>
            <a:off x="7545288" y="5825376"/>
            <a:ext cx="418353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600" dirty="0">
                <a:solidFill>
                  <a:schemeClr val="bg1"/>
                </a:solidFill>
              </a:rPr>
              <a:t>464.9</a:t>
            </a:r>
            <a:endParaRPr lang="ko-KR" altLang="en-US" sz="600" dirty="0">
              <a:solidFill>
                <a:schemeClr val="bg1"/>
              </a:solidFill>
            </a:endParaRPr>
          </a:p>
        </p:txBody>
      </p:sp>
      <p:grpSp>
        <p:nvGrpSpPr>
          <p:cNvPr id="349" name="그룹 348">
            <a:extLst>
              <a:ext uri="{FF2B5EF4-FFF2-40B4-BE49-F238E27FC236}">
                <a16:creationId xmlns:a16="http://schemas.microsoft.com/office/drawing/2014/main" id="{E51DF9ED-0DD4-4FE0-959C-92AFF7FF7C50}"/>
              </a:ext>
            </a:extLst>
          </p:cNvPr>
          <p:cNvGrpSpPr/>
          <p:nvPr/>
        </p:nvGrpSpPr>
        <p:grpSpPr>
          <a:xfrm>
            <a:off x="4776098" y="3649023"/>
            <a:ext cx="500020" cy="169277"/>
            <a:chOff x="5008084" y="3585093"/>
            <a:chExt cx="500020" cy="169277"/>
          </a:xfrm>
        </p:grpSpPr>
        <p:cxnSp>
          <p:nvCxnSpPr>
            <p:cNvPr id="350" name="직선 연결선 349">
              <a:extLst>
                <a:ext uri="{FF2B5EF4-FFF2-40B4-BE49-F238E27FC236}">
                  <a16:creationId xmlns:a16="http://schemas.microsoft.com/office/drawing/2014/main" id="{F0DAB497-15B5-43A1-B98F-F4D9DD835ACD}"/>
                </a:ext>
              </a:extLst>
            </p:cNvPr>
            <p:cNvCxnSpPr>
              <a:cxnSpLocks/>
            </p:cNvCxnSpPr>
            <p:nvPr/>
          </p:nvCxnSpPr>
          <p:spPr>
            <a:xfrm>
              <a:off x="5008084" y="3669731"/>
              <a:ext cx="108000" cy="0"/>
            </a:xfrm>
            <a:prstGeom prst="line">
              <a:avLst/>
            </a:prstGeom>
            <a:ln w="9525">
              <a:solidFill>
                <a:schemeClr val="accent6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1" name="직사각형 350">
              <a:extLst>
                <a:ext uri="{FF2B5EF4-FFF2-40B4-BE49-F238E27FC236}">
                  <a16:creationId xmlns:a16="http://schemas.microsoft.com/office/drawing/2014/main" id="{EE48945F-51DC-4BE0-ADED-900BD7D9D784}"/>
                </a:ext>
              </a:extLst>
            </p:cNvPr>
            <p:cNvSpPr/>
            <p:nvPr/>
          </p:nvSpPr>
          <p:spPr>
            <a:xfrm>
              <a:off x="5044076" y="3585093"/>
              <a:ext cx="46402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500" dirty="0">
                  <a:solidFill>
                    <a:schemeClr val="bg1"/>
                  </a:solidFill>
                </a:rPr>
                <a:t>현재 부하</a:t>
              </a:r>
            </a:p>
          </p:txBody>
        </p:sp>
      </p:grpSp>
      <p:grpSp>
        <p:nvGrpSpPr>
          <p:cNvPr id="352" name="그룹 351">
            <a:extLst>
              <a:ext uri="{FF2B5EF4-FFF2-40B4-BE49-F238E27FC236}">
                <a16:creationId xmlns:a16="http://schemas.microsoft.com/office/drawing/2014/main" id="{ADD27786-64CB-48B3-8781-0B35BAAEE454}"/>
              </a:ext>
            </a:extLst>
          </p:cNvPr>
          <p:cNvGrpSpPr/>
          <p:nvPr/>
        </p:nvGrpSpPr>
        <p:grpSpPr>
          <a:xfrm>
            <a:off x="5241125" y="3649023"/>
            <a:ext cx="500021" cy="169277"/>
            <a:chOff x="5440131" y="3585093"/>
            <a:chExt cx="500021" cy="169277"/>
          </a:xfrm>
        </p:grpSpPr>
        <p:cxnSp>
          <p:nvCxnSpPr>
            <p:cNvPr id="353" name="직선 연결선 352">
              <a:extLst>
                <a:ext uri="{FF2B5EF4-FFF2-40B4-BE49-F238E27FC236}">
                  <a16:creationId xmlns:a16="http://schemas.microsoft.com/office/drawing/2014/main" id="{48765069-031C-4843-BA8C-52222B3F7251}"/>
                </a:ext>
              </a:extLst>
            </p:cNvPr>
            <p:cNvCxnSpPr>
              <a:cxnSpLocks/>
            </p:cNvCxnSpPr>
            <p:nvPr/>
          </p:nvCxnSpPr>
          <p:spPr>
            <a:xfrm>
              <a:off x="5440131" y="3669731"/>
              <a:ext cx="108000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4" name="직사각형 353">
              <a:extLst>
                <a:ext uri="{FF2B5EF4-FFF2-40B4-BE49-F238E27FC236}">
                  <a16:creationId xmlns:a16="http://schemas.microsoft.com/office/drawing/2014/main" id="{7AADB48A-0131-40DA-B6D2-1EC38881B9FD}"/>
                </a:ext>
              </a:extLst>
            </p:cNvPr>
            <p:cNvSpPr/>
            <p:nvPr/>
          </p:nvSpPr>
          <p:spPr>
            <a:xfrm>
              <a:off x="5476123" y="3585093"/>
              <a:ext cx="46402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500" dirty="0">
                  <a:solidFill>
                    <a:schemeClr val="bg1"/>
                  </a:solidFill>
                </a:rPr>
                <a:t>예측 부하</a:t>
              </a:r>
            </a:p>
          </p:txBody>
        </p:sp>
      </p:grpSp>
      <p:grpSp>
        <p:nvGrpSpPr>
          <p:cNvPr id="355" name="그룹 354">
            <a:extLst>
              <a:ext uri="{FF2B5EF4-FFF2-40B4-BE49-F238E27FC236}">
                <a16:creationId xmlns:a16="http://schemas.microsoft.com/office/drawing/2014/main" id="{0977180A-09C5-4145-BEB9-C3F8ADD99689}"/>
              </a:ext>
            </a:extLst>
          </p:cNvPr>
          <p:cNvGrpSpPr/>
          <p:nvPr/>
        </p:nvGrpSpPr>
        <p:grpSpPr>
          <a:xfrm>
            <a:off x="3566480" y="3649023"/>
            <a:ext cx="652770" cy="169277"/>
            <a:chOff x="3318237" y="3585093"/>
            <a:chExt cx="652770" cy="169277"/>
          </a:xfrm>
        </p:grpSpPr>
        <p:cxnSp>
          <p:nvCxnSpPr>
            <p:cNvPr id="356" name="직선 연결선 355">
              <a:extLst>
                <a:ext uri="{FF2B5EF4-FFF2-40B4-BE49-F238E27FC236}">
                  <a16:creationId xmlns:a16="http://schemas.microsoft.com/office/drawing/2014/main" id="{CFD9EC14-DF04-4178-99AA-D48B870E04C0}"/>
                </a:ext>
              </a:extLst>
            </p:cNvPr>
            <p:cNvCxnSpPr>
              <a:cxnSpLocks/>
            </p:cNvCxnSpPr>
            <p:nvPr/>
          </p:nvCxnSpPr>
          <p:spPr>
            <a:xfrm>
              <a:off x="3318237" y="3669731"/>
              <a:ext cx="108000" cy="0"/>
            </a:xfrm>
            <a:prstGeom prst="line">
              <a:avLst/>
            </a:prstGeom>
            <a:ln/>
          </p:spPr>
          <p:style>
            <a:lnRef idx="1">
              <a:schemeClr val="accent2"/>
            </a:lnRef>
            <a:fillRef idx="0">
              <a:schemeClr val="accent2"/>
            </a:fillRef>
            <a:effectRef idx="0">
              <a:schemeClr val="accent2"/>
            </a:effectRef>
            <a:fontRef idx="minor">
              <a:schemeClr val="tx1"/>
            </a:fontRef>
          </p:style>
        </p:cxnSp>
        <p:sp>
          <p:nvSpPr>
            <p:cNvPr id="357" name="직사각형 356">
              <a:extLst>
                <a:ext uri="{FF2B5EF4-FFF2-40B4-BE49-F238E27FC236}">
                  <a16:creationId xmlns:a16="http://schemas.microsoft.com/office/drawing/2014/main" id="{F29E143A-30CE-42FD-A136-5EF5070DE4D6}"/>
                </a:ext>
              </a:extLst>
            </p:cNvPr>
            <p:cNvSpPr/>
            <p:nvPr/>
          </p:nvSpPr>
          <p:spPr>
            <a:xfrm>
              <a:off x="3368549" y="3585093"/>
              <a:ext cx="60245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500" dirty="0">
                  <a:solidFill>
                    <a:schemeClr val="bg1"/>
                  </a:solidFill>
                </a:rPr>
                <a:t>한전계약 전력</a:t>
              </a:r>
            </a:p>
          </p:txBody>
        </p:sp>
      </p:grpSp>
      <p:grpSp>
        <p:nvGrpSpPr>
          <p:cNvPr id="358" name="그룹 357">
            <a:extLst>
              <a:ext uri="{FF2B5EF4-FFF2-40B4-BE49-F238E27FC236}">
                <a16:creationId xmlns:a16="http://schemas.microsoft.com/office/drawing/2014/main" id="{0614E279-ABFB-4B2D-BECD-DC876B48F09D}"/>
              </a:ext>
            </a:extLst>
          </p:cNvPr>
          <p:cNvGrpSpPr/>
          <p:nvPr/>
        </p:nvGrpSpPr>
        <p:grpSpPr>
          <a:xfrm>
            <a:off x="4184256" y="3649023"/>
            <a:ext cx="626762" cy="169277"/>
            <a:chOff x="3908621" y="3585093"/>
            <a:chExt cx="626762" cy="169277"/>
          </a:xfrm>
        </p:grpSpPr>
        <p:cxnSp>
          <p:nvCxnSpPr>
            <p:cNvPr id="359" name="직선 연결선 358">
              <a:extLst>
                <a:ext uri="{FF2B5EF4-FFF2-40B4-BE49-F238E27FC236}">
                  <a16:creationId xmlns:a16="http://schemas.microsoft.com/office/drawing/2014/main" id="{8A9100F4-19EB-47C2-BABE-5BBDD1D4EF6C}"/>
                </a:ext>
              </a:extLst>
            </p:cNvPr>
            <p:cNvCxnSpPr>
              <a:cxnSpLocks/>
            </p:cNvCxnSpPr>
            <p:nvPr/>
          </p:nvCxnSpPr>
          <p:spPr>
            <a:xfrm>
              <a:off x="3908621" y="3669731"/>
              <a:ext cx="108000" cy="0"/>
            </a:xfrm>
            <a:prstGeom prst="line">
              <a:avLst/>
            </a:prstGeom>
            <a:ln>
              <a:solidFill>
                <a:schemeClr val="accent3">
                  <a:lumMod val="75000"/>
                </a:schemeClr>
              </a:solidFill>
            </a:ln>
          </p:spPr>
          <p:style>
            <a:lnRef idx="1">
              <a:schemeClr val="accent2"/>
            </a:lnRef>
            <a:fillRef idx="0">
              <a:schemeClr val="accent2"/>
            </a:fillRef>
            <a:effectRef idx="0">
              <a:schemeClr val="accent2"/>
            </a:effectRef>
            <a:fontRef idx="minor">
              <a:schemeClr val="tx1"/>
            </a:fontRef>
          </p:style>
        </p:cxnSp>
        <p:sp>
          <p:nvSpPr>
            <p:cNvPr id="360" name="직사각형 359">
              <a:extLst>
                <a:ext uri="{FF2B5EF4-FFF2-40B4-BE49-F238E27FC236}">
                  <a16:creationId xmlns:a16="http://schemas.microsoft.com/office/drawing/2014/main" id="{3522D2A6-3959-475C-96EC-0A71F5C91C05}"/>
                </a:ext>
              </a:extLst>
            </p:cNvPr>
            <p:cNvSpPr/>
            <p:nvPr/>
          </p:nvSpPr>
          <p:spPr>
            <a:xfrm>
              <a:off x="3944613" y="3585093"/>
              <a:ext cx="59077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500" dirty="0">
                  <a:solidFill>
                    <a:schemeClr val="bg1"/>
                  </a:solidFill>
                </a:rPr>
                <a:t>요금적용 전력</a:t>
              </a:r>
            </a:p>
          </p:txBody>
        </p:sp>
      </p:grpSp>
      <p:grpSp>
        <p:nvGrpSpPr>
          <p:cNvPr id="361" name="그룹 360">
            <a:extLst>
              <a:ext uri="{FF2B5EF4-FFF2-40B4-BE49-F238E27FC236}">
                <a16:creationId xmlns:a16="http://schemas.microsoft.com/office/drawing/2014/main" id="{58D0446A-DEDD-46BB-9184-861C1C7E0AAE}"/>
              </a:ext>
            </a:extLst>
          </p:cNvPr>
          <p:cNvGrpSpPr/>
          <p:nvPr/>
        </p:nvGrpSpPr>
        <p:grpSpPr>
          <a:xfrm>
            <a:off x="273944" y="1885169"/>
            <a:ext cx="2528690" cy="835005"/>
            <a:chOff x="6177167" y="1700808"/>
            <a:chExt cx="2528690" cy="835005"/>
          </a:xfrm>
        </p:grpSpPr>
        <p:grpSp>
          <p:nvGrpSpPr>
            <p:cNvPr id="362" name="그룹 361">
              <a:extLst>
                <a:ext uri="{FF2B5EF4-FFF2-40B4-BE49-F238E27FC236}">
                  <a16:creationId xmlns:a16="http://schemas.microsoft.com/office/drawing/2014/main" id="{453DF077-691F-4760-9615-E493C99B1764}"/>
                </a:ext>
              </a:extLst>
            </p:cNvPr>
            <p:cNvGrpSpPr/>
            <p:nvPr/>
          </p:nvGrpSpPr>
          <p:grpSpPr>
            <a:xfrm>
              <a:off x="6177167" y="1700808"/>
              <a:ext cx="1926022" cy="721431"/>
              <a:chOff x="5692418" y="1753651"/>
              <a:chExt cx="3074464" cy="721431"/>
            </a:xfrm>
          </p:grpSpPr>
          <p:sp>
            <p:nvSpPr>
              <p:cNvPr id="369" name="직사각형 368">
                <a:extLst>
                  <a:ext uri="{FF2B5EF4-FFF2-40B4-BE49-F238E27FC236}">
                    <a16:creationId xmlns:a16="http://schemas.microsoft.com/office/drawing/2014/main" id="{CD4005FC-8D86-4A47-84D9-DFECE3881EA8}"/>
                  </a:ext>
                </a:extLst>
              </p:cNvPr>
              <p:cNvSpPr/>
              <p:nvPr/>
            </p:nvSpPr>
            <p:spPr>
              <a:xfrm>
                <a:off x="5822353" y="2045047"/>
                <a:ext cx="2880000" cy="72008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 w="6350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70" name="직사각형 369">
                <a:extLst>
                  <a:ext uri="{FF2B5EF4-FFF2-40B4-BE49-F238E27FC236}">
                    <a16:creationId xmlns:a16="http://schemas.microsoft.com/office/drawing/2014/main" id="{86119FE8-ADA6-43C0-9C14-B7DFE24D47E3}"/>
                  </a:ext>
                </a:extLst>
              </p:cNvPr>
              <p:cNvSpPr/>
              <p:nvPr/>
            </p:nvSpPr>
            <p:spPr>
              <a:xfrm>
                <a:off x="5822353" y="2403074"/>
                <a:ext cx="2880000" cy="72008"/>
              </a:xfrm>
              <a:prstGeom prst="rect">
                <a:avLst/>
              </a:prstGeom>
              <a:solidFill>
                <a:schemeClr val="accent6">
                  <a:lumMod val="75000"/>
                </a:schemeClr>
              </a:solidFill>
              <a:ln w="6350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71" name="TextBox 370">
                <a:extLst>
                  <a:ext uri="{FF2B5EF4-FFF2-40B4-BE49-F238E27FC236}">
                    <a16:creationId xmlns:a16="http://schemas.microsoft.com/office/drawing/2014/main" id="{23C52C03-352D-4CE1-99F1-38941E7FE395}"/>
                  </a:ext>
                </a:extLst>
              </p:cNvPr>
              <p:cNvSpPr txBox="1"/>
              <p:nvPr/>
            </p:nvSpPr>
            <p:spPr>
              <a:xfrm>
                <a:off x="5692418" y="1843641"/>
                <a:ext cx="1124403" cy="20005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ko-KR" altLang="en-US" sz="700" b="1" dirty="0">
                    <a:solidFill>
                      <a:schemeClr val="accent5">
                        <a:lumMod val="75000"/>
                      </a:scheme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오늘</a:t>
                </a:r>
                <a:r>
                  <a:rPr lang="en-US" altLang="ko-KR" sz="700" b="1" dirty="0">
                    <a:solidFill>
                      <a:schemeClr val="accent5">
                        <a:lumMod val="75000"/>
                      </a:scheme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r>
                  <a:rPr lang="ko-KR" altLang="en-US" sz="700" b="1" dirty="0" err="1">
                    <a:solidFill>
                      <a:schemeClr val="accent5">
                        <a:lumMod val="75000"/>
                      </a:scheme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충전량</a:t>
                </a:r>
                <a:endParaRPr lang="ko-KR" altLang="en-US" sz="700" b="1" dirty="0">
                  <a:solidFill>
                    <a:schemeClr val="accent5">
                      <a:lumMod val="7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72" name="TextBox 371">
                <a:extLst>
                  <a:ext uri="{FF2B5EF4-FFF2-40B4-BE49-F238E27FC236}">
                    <a16:creationId xmlns:a16="http://schemas.microsoft.com/office/drawing/2014/main" id="{2D5C1B57-E943-45A1-B78E-98BAF3244F32}"/>
                  </a:ext>
                </a:extLst>
              </p:cNvPr>
              <p:cNvSpPr txBox="1"/>
              <p:nvPr/>
            </p:nvSpPr>
            <p:spPr>
              <a:xfrm>
                <a:off x="5692418" y="2201668"/>
                <a:ext cx="1134900" cy="20005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ko-KR" altLang="en-US" sz="700" b="1" dirty="0">
                    <a:solidFill>
                      <a:schemeClr val="accent6">
                        <a:lumMod val="75000"/>
                      </a:scheme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오늘</a:t>
                </a:r>
                <a:r>
                  <a:rPr lang="en-US" altLang="ko-KR" sz="700" b="1" dirty="0">
                    <a:solidFill>
                      <a:schemeClr val="accent6">
                        <a:lumMod val="75000"/>
                      </a:scheme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r>
                  <a:rPr lang="ko-KR" altLang="en-US" sz="700" b="1" dirty="0" err="1">
                    <a:solidFill>
                      <a:schemeClr val="accent6">
                        <a:lumMod val="75000"/>
                      </a:scheme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방전량</a:t>
                </a:r>
                <a:endParaRPr lang="ko-KR" altLang="en-US" sz="700" b="1" dirty="0">
                  <a:solidFill>
                    <a:schemeClr val="accent6">
                      <a:lumMod val="7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73" name="TextBox 372">
                <a:extLst>
                  <a:ext uri="{FF2B5EF4-FFF2-40B4-BE49-F238E27FC236}">
                    <a16:creationId xmlns:a16="http://schemas.microsoft.com/office/drawing/2014/main" id="{8A2BE4AA-7ECD-47F9-A201-33339614F439}"/>
                  </a:ext>
                </a:extLst>
              </p:cNvPr>
              <p:cNvSpPr txBox="1"/>
              <p:nvPr/>
            </p:nvSpPr>
            <p:spPr>
              <a:xfrm>
                <a:off x="7270746" y="1753651"/>
                <a:ext cx="1496136" cy="27699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r"/>
                <a:r>
                  <a:rPr lang="en-US" altLang="ko-KR" sz="1200" b="1" dirty="0">
                    <a:solidFill>
                      <a:schemeClr val="bg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1,350.5</a:t>
                </a:r>
                <a:r>
                  <a:rPr lang="en-US" altLang="ko-KR" sz="700" b="1" dirty="0">
                    <a:solidFill>
                      <a:schemeClr val="bg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r>
                  <a:rPr lang="en-US" altLang="ko-KR" sz="700" b="1" dirty="0">
                    <a:solidFill>
                      <a:schemeClr val="accent5">
                        <a:lumMod val="75000"/>
                      </a:scheme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kWh</a:t>
                </a:r>
                <a:endParaRPr lang="ko-KR" altLang="en-US" sz="800" b="1" dirty="0">
                  <a:solidFill>
                    <a:schemeClr val="accent5">
                      <a:lumMod val="7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74" name="TextBox 373">
                <a:extLst>
                  <a:ext uri="{FF2B5EF4-FFF2-40B4-BE49-F238E27FC236}">
                    <a16:creationId xmlns:a16="http://schemas.microsoft.com/office/drawing/2014/main" id="{0363BEAD-CD0D-49AA-B41E-2DE41D13ACB8}"/>
                  </a:ext>
                </a:extLst>
              </p:cNvPr>
              <p:cNvSpPr txBox="1"/>
              <p:nvPr/>
            </p:nvSpPr>
            <p:spPr>
              <a:xfrm>
                <a:off x="7419971" y="2115095"/>
                <a:ext cx="1346908" cy="27699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r"/>
                <a:r>
                  <a:rPr lang="en-US" altLang="ko-KR" sz="1200" b="1" dirty="0">
                    <a:solidFill>
                      <a:schemeClr val="bg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850.5</a:t>
                </a:r>
                <a:r>
                  <a:rPr lang="en-US" altLang="ko-KR" sz="700" b="1" dirty="0">
                    <a:solidFill>
                      <a:schemeClr val="bg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r>
                  <a:rPr lang="en-US" altLang="ko-KR" sz="700" b="1" dirty="0">
                    <a:solidFill>
                      <a:schemeClr val="accent6">
                        <a:lumMod val="75000"/>
                      </a:scheme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kWh</a:t>
                </a:r>
                <a:endParaRPr lang="ko-KR" altLang="en-US" sz="800" b="1" dirty="0">
                  <a:solidFill>
                    <a:schemeClr val="accent6">
                      <a:lumMod val="7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36D3BC9A-C7E5-4A88-B440-0A5016DA18E0}"/>
                </a:ext>
              </a:extLst>
            </p:cNvPr>
            <p:cNvGrpSpPr/>
            <p:nvPr/>
          </p:nvGrpSpPr>
          <p:grpSpPr>
            <a:xfrm>
              <a:off x="8123038" y="1772816"/>
              <a:ext cx="582819" cy="762997"/>
              <a:chOff x="8066098" y="1891729"/>
              <a:chExt cx="639759" cy="762997"/>
            </a:xfrm>
          </p:grpSpPr>
          <p:pic>
            <p:nvPicPr>
              <p:cNvPr id="366" name="Picture 6" descr="batteryì ëí ì´ë¯¸ì§ ê²ìê²°ê³¼">
                <a:extLst>
                  <a:ext uri="{FF2B5EF4-FFF2-40B4-BE49-F238E27FC236}">
                    <a16:creationId xmlns:a16="http://schemas.microsoft.com/office/drawing/2014/main" id="{10CDD023-2465-4D83-93B7-41D220E69C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04661" y="2092093"/>
                <a:ext cx="562633" cy="562633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367" name="TextBox 366">
                <a:extLst>
                  <a:ext uri="{FF2B5EF4-FFF2-40B4-BE49-F238E27FC236}">
                    <a16:creationId xmlns:a16="http://schemas.microsoft.com/office/drawing/2014/main" id="{51100BED-48B4-48DB-99E8-F6753646E571}"/>
                  </a:ext>
                </a:extLst>
              </p:cNvPr>
              <p:cNvSpPr txBox="1"/>
              <p:nvPr/>
            </p:nvSpPr>
            <p:spPr>
              <a:xfrm>
                <a:off x="8087885" y="1891729"/>
                <a:ext cx="596185" cy="18466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600" b="1" dirty="0">
                    <a:solidFill>
                      <a:schemeClr val="accent5">
                        <a:lumMod val="75000"/>
                      </a:scheme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SOC(</a:t>
                </a:r>
                <a:r>
                  <a:rPr lang="ko-KR" altLang="en-US" sz="600" b="1" dirty="0">
                    <a:solidFill>
                      <a:schemeClr val="accent5">
                        <a:lumMod val="75000"/>
                      </a:scheme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잔량</a:t>
                </a:r>
                <a:r>
                  <a:rPr lang="en-US" altLang="ko-KR" sz="600" b="1" dirty="0">
                    <a:solidFill>
                      <a:schemeClr val="accent5">
                        <a:lumMod val="75000"/>
                      </a:scheme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)</a:t>
                </a:r>
                <a:endParaRPr lang="ko-KR" altLang="en-US" sz="600" b="1" dirty="0">
                  <a:solidFill>
                    <a:schemeClr val="accent5">
                      <a:lumMod val="7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68" name="TextBox 367">
                <a:extLst>
                  <a:ext uri="{FF2B5EF4-FFF2-40B4-BE49-F238E27FC236}">
                    <a16:creationId xmlns:a16="http://schemas.microsoft.com/office/drawing/2014/main" id="{41899839-873B-498F-A638-14A76E6F74B2}"/>
                  </a:ext>
                </a:extLst>
              </p:cNvPr>
              <p:cNvSpPr txBox="1"/>
              <p:nvPr/>
            </p:nvSpPr>
            <p:spPr>
              <a:xfrm>
                <a:off x="8066098" y="2016579"/>
                <a:ext cx="639759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1100" b="1" dirty="0">
                    <a:solidFill>
                      <a:schemeClr val="bg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85.5</a:t>
                </a:r>
                <a:r>
                  <a:rPr lang="en-US" altLang="ko-KR" sz="600" b="1" dirty="0">
                    <a:solidFill>
                      <a:schemeClr val="bg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r>
                  <a:rPr lang="en-US" altLang="ko-KR" sz="700" b="1" dirty="0">
                    <a:solidFill>
                      <a:schemeClr val="accent5">
                        <a:lumMod val="75000"/>
                      </a:scheme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%</a:t>
                </a:r>
                <a:endParaRPr lang="ko-KR" altLang="en-US" sz="700" b="1" dirty="0">
                  <a:solidFill>
                    <a:schemeClr val="accent5">
                      <a:lumMod val="7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364" name="직사각형 363">
              <a:extLst>
                <a:ext uri="{FF2B5EF4-FFF2-40B4-BE49-F238E27FC236}">
                  <a16:creationId xmlns:a16="http://schemas.microsoft.com/office/drawing/2014/main" id="{68E97839-BFEB-40A4-B8FD-DA8248A5ED5D}"/>
                </a:ext>
              </a:extLst>
            </p:cNvPr>
            <p:cNvSpPr/>
            <p:nvPr/>
          </p:nvSpPr>
          <p:spPr>
            <a:xfrm>
              <a:off x="7703543" y="1990090"/>
              <a:ext cx="360000" cy="6840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65" name="직사각형 364">
              <a:extLst>
                <a:ext uri="{FF2B5EF4-FFF2-40B4-BE49-F238E27FC236}">
                  <a16:creationId xmlns:a16="http://schemas.microsoft.com/office/drawing/2014/main" id="{7AB456CF-BD76-464C-B9E7-37F09CDABC18}"/>
                </a:ext>
              </a:extLst>
            </p:cNvPr>
            <p:cNvSpPr/>
            <p:nvPr/>
          </p:nvSpPr>
          <p:spPr>
            <a:xfrm>
              <a:off x="7524536" y="2351662"/>
              <a:ext cx="540000" cy="6840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cxnSp>
        <p:nvCxnSpPr>
          <p:cNvPr id="375" name="직선 연결선 374">
            <a:extLst>
              <a:ext uri="{FF2B5EF4-FFF2-40B4-BE49-F238E27FC236}">
                <a16:creationId xmlns:a16="http://schemas.microsoft.com/office/drawing/2014/main" id="{99AA585E-6AEF-4D90-B988-06491799E652}"/>
              </a:ext>
            </a:extLst>
          </p:cNvPr>
          <p:cNvCxnSpPr>
            <a:cxnSpLocks/>
          </p:cNvCxnSpPr>
          <p:nvPr/>
        </p:nvCxnSpPr>
        <p:spPr>
          <a:xfrm>
            <a:off x="2938810" y="1887730"/>
            <a:ext cx="0" cy="4140000"/>
          </a:xfrm>
          <a:prstGeom prst="line">
            <a:avLst/>
          </a:prstGeom>
          <a:ln w="3175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6" name="직사각형 375">
            <a:extLst>
              <a:ext uri="{FF2B5EF4-FFF2-40B4-BE49-F238E27FC236}">
                <a16:creationId xmlns:a16="http://schemas.microsoft.com/office/drawing/2014/main" id="{CF3A05A2-5353-4DB5-8180-604741616927}"/>
              </a:ext>
            </a:extLst>
          </p:cNvPr>
          <p:cNvSpPr/>
          <p:nvPr/>
        </p:nvSpPr>
        <p:spPr>
          <a:xfrm>
            <a:off x="5810955" y="1802597"/>
            <a:ext cx="1820532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수익 현황</a:t>
            </a:r>
          </a:p>
        </p:txBody>
      </p:sp>
      <p:graphicFrame>
        <p:nvGraphicFramePr>
          <p:cNvPr id="377" name="표 376">
            <a:extLst>
              <a:ext uri="{FF2B5EF4-FFF2-40B4-BE49-F238E27FC236}">
                <a16:creationId xmlns:a16="http://schemas.microsoft.com/office/drawing/2014/main" id="{C78788E2-E2DB-4797-BDBD-CF85D2510A43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5849513" y="1985340"/>
          <a:ext cx="2295059" cy="10058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253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221454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14727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/>
                        <a:t>kW</a:t>
                      </a:r>
                      <a:endParaRPr lang="ko-KR" altLang="en-US" sz="6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4727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500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4727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400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4727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300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4727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200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781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100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7818"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01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02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03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04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05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06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07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08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09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10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11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12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grpSp>
        <p:nvGrpSpPr>
          <p:cNvPr id="378" name="그룹 377">
            <a:extLst>
              <a:ext uri="{FF2B5EF4-FFF2-40B4-BE49-F238E27FC236}">
                <a16:creationId xmlns:a16="http://schemas.microsoft.com/office/drawing/2014/main" id="{DA28C214-4E6D-4E6D-AFF2-06D085D9430F}"/>
              </a:ext>
            </a:extLst>
          </p:cNvPr>
          <p:cNvGrpSpPr/>
          <p:nvPr/>
        </p:nvGrpSpPr>
        <p:grpSpPr>
          <a:xfrm>
            <a:off x="6127556" y="2541597"/>
            <a:ext cx="114467" cy="310233"/>
            <a:chOff x="1234728" y="4790879"/>
            <a:chExt cx="144016" cy="310233"/>
          </a:xfrm>
        </p:grpSpPr>
        <p:sp>
          <p:nvSpPr>
            <p:cNvPr id="379" name="직사각형 378">
              <a:extLst>
                <a:ext uri="{FF2B5EF4-FFF2-40B4-BE49-F238E27FC236}">
                  <a16:creationId xmlns:a16="http://schemas.microsoft.com/office/drawing/2014/main" id="{8DB2CE7B-DA36-4295-8C70-9359209DB898}"/>
                </a:ext>
              </a:extLst>
            </p:cNvPr>
            <p:cNvSpPr/>
            <p:nvPr/>
          </p:nvSpPr>
          <p:spPr>
            <a:xfrm>
              <a:off x="1234728" y="4836597"/>
              <a:ext cx="144016" cy="264515"/>
            </a:xfrm>
            <a:prstGeom prst="rect">
              <a:avLst/>
            </a:prstGeom>
            <a:solidFill>
              <a:srgbClr val="FFC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380" name="직사각형 379">
              <a:extLst>
                <a:ext uri="{FF2B5EF4-FFF2-40B4-BE49-F238E27FC236}">
                  <a16:creationId xmlns:a16="http://schemas.microsoft.com/office/drawing/2014/main" id="{F0F4C649-3CFD-4A94-92FC-E9B4112835D8}"/>
                </a:ext>
              </a:extLst>
            </p:cNvPr>
            <p:cNvSpPr/>
            <p:nvPr/>
          </p:nvSpPr>
          <p:spPr>
            <a:xfrm>
              <a:off x="1234728" y="4790879"/>
              <a:ext cx="144016" cy="175215"/>
            </a:xfrm>
            <a:prstGeom prst="rect">
              <a:avLst/>
            </a:prstGeom>
            <a:solidFill>
              <a:schemeClr val="tx2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sp>
        <p:nvSpPr>
          <p:cNvPr id="381" name="직사각형 380">
            <a:extLst>
              <a:ext uri="{FF2B5EF4-FFF2-40B4-BE49-F238E27FC236}">
                <a16:creationId xmlns:a16="http://schemas.microsoft.com/office/drawing/2014/main" id="{8E8F9DDC-E639-4232-A096-9DB6A715FDA7}"/>
              </a:ext>
            </a:extLst>
          </p:cNvPr>
          <p:cNvSpPr/>
          <p:nvPr/>
        </p:nvSpPr>
        <p:spPr>
          <a:xfrm>
            <a:off x="6295753" y="2515389"/>
            <a:ext cx="115200" cy="336441"/>
          </a:xfrm>
          <a:prstGeom prst="rect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grpSp>
        <p:nvGrpSpPr>
          <p:cNvPr id="382" name="그룹 381">
            <a:extLst>
              <a:ext uri="{FF2B5EF4-FFF2-40B4-BE49-F238E27FC236}">
                <a16:creationId xmlns:a16="http://schemas.microsoft.com/office/drawing/2014/main" id="{4E4B43F2-3687-44AC-9ADA-C52C755BCD55}"/>
              </a:ext>
            </a:extLst>
          </p:cNvPr>
          <p:cNvGrpSpPr/>
          <p:nvPr/>
        </p:nvGrpSpPr>
        <p:grpSpPr>
          <a:xfrm>
            <a:off x="6463950" y="2585693"/>
            <a:ext cx="114467" cy="266137"/>
            <a:chOff x="1907704" y="3275281"/>
            <a:chExt cx="288032" cy="535432"/>
          </a:xfrm>
        </p:grpSpPr>
        <p:sp>
          <p:nvSpPr>
            <p:cNvPr id="383" name="직사각형 382">
              <a:extLst>
                <a:ext uri="{FF2B5EF4-FFF2-40B4-BE49-F238E27FC236}">
                  <a16:creationId xmlns:a16="http://schemas.microsoft.com/office/drawing/2014/main" id="{1338770A-300E-4DA2-9027-79ABB20131C3}"/>
                </a:ext>
              </a:extLst>
            </p:cNvPr>
            <p:cNvSpPr/>
            <p:nvPr/>
          </p:nvSpPr>
          <p:spPr>
            <a:xfrm>
              <a:off x="1907704" y="3321001"/>
              <a:ext cx="288032" cy="489712"/>
            </a:xfrm>
            <a:prstGeom prst="rect">
              <a:avLst/>
            </a:prstGeom>
            <a:solidFill>
              <a:srgbClr val="FFC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384" name="직사각형 383">
              <a:extLst>
                <a:ext uri="{FF2B5EF4-FFF2-40B4-BE49-F238E27FC236}">
                  <a16:creationId xmlns:a16="http://schemas.microsoft.com/office/drawing/2014/main" id="{C7C6B041-74B5-4CEC-9B40-94857B45B360}"/>
                </a:ext>
              </a:extLst>
            </p:cNvPr>
            <p:cNvSpPr/>
            <p:nvPr/>
          </p:nvSpPr>
          <p:spPr>
            <a:xfrm>
              <a:off x="1907704" y="3275281"/>
              <a:ext cx="288032" cy="289487"/>
            </a:xfrm>
            <a:prstGeom prst="rect">
              <a:avLst/>
            </a:prstGeom>
            <a:solidFill>
              <a:schemeClr val="tx2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sp>
        <p:nvSpPr>
          <p:cNvPr id="385" name="직사각형 384">
            <a:extLst>
              <a:ext uri="{FF2B5EF4-FFF2-40B4-BE49-F238E27FC236}">
                <a16:creationId xmlns:a16="http://schemas.microsoft.com/office/drawing/2014/main" id="{1BF6D5C8-9D93-4193-82D1-F3F56AA8612B}"/>
              </a:ext>
            </a:extLst>
          </p:cNvPr>
          <p:cNvSpPr/>
          <p:nvPr/>
        </p:nvSpPr>
        <p:spPr>
          <a:xfrm>
            <a:off x="6593218" y="2707940"/>
            <a:ext cx="114467" cy="143890"/>
          </a:xfrm>
          <a:prstGeom prst="rect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graphicFrame>
        <p:nvGraphicFramePr>
          <p:cNvPr id="386" name="표 385">
            <a:extLst>
              <a:ext uri="{FF2B5EF4-FFF2-40B4-BE49-F238E27FC236}">
                <a16:creationId xmlns:a16="http://schemas.microsoft.com/office/drawing/2014/main" id="{95AF5A99-73E3-4CE9-8A3E-431571397DF9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291742" y="3055006"/>
          <a:ext cx="2547265" cy="150563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579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19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20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21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22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23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24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25"/>
                    </a:ext>
                  </a:extLst>
                </a:gridCol>
              </a:tblGrid>
              <a:tr h="1574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/>
                        <a:t>kWh</a:t>
                      </a:r>
                      <a:endParaRPr lang="ko-KR" altLang="en-US" sz="6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574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2000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57410"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57410"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574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1000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57410"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574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500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57410"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574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88949"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00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01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02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03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04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05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06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07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08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09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10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11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12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13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14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15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16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17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18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19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20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21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22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23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24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grpSp>
        <p:nvGrpSpPr>
          <p:cNvPr id="387" name="그룹 386">
            <a:extLst>
              <a:ext uri="{FF2B5EF4-FFF2-40B4-BE49-F238E27FC236}">
                <a16:creationId xmlns:a16="http://schemas.microsoft.com/office/drawing/2014/main" id="{79AE1FCF-DC3A-42DA-8571-3A9419EEC869}"/>
              </a:ext>
            </a:extLst>
          </p:cNvPr>
          <p:cNvGrpSpPr/>
          <p:nvPr/>
        </p:nvGrpSpPr>
        <p:grpSpPr>
          <a:xfrm>
            <a:off x="574906" y="3980766"/>
            <a:ext cx="1526152" cy="367021"/>
            <a:chOff x="1354667" y="3680460"/>
            <a:chExt cx="4732866" cy="586740"/>
          </a:xfrm>
        </p:grpSpPr>
        <p:sp>
          <p:nvSpPr>
            <p:cNvPr id="388" name="자유형 5">
              <a:extLst>
                <a:ext uri="{FF2B5EF4-FFF2-40B4-BE49-F238E27FC236}">
                  <a16:creationId xmlns:a16="http://schemas.microsoft.com/office/drawing/2014/main" id="{5F0289D6-838E-45CA-B95B-D651009E9CA9}"/>
                </a:ext>
              </a:extLst>
            </p:cNvPr>
            <p:cNvSpPr/>
            <p:nvPr/>
          </p:nvSpPr>
          <p:spPr>
            <a:xfrm>
              <a:off x="2286000" y="3680460"/>
              <a:ext cx="1733550" cy="453390"/>
            </a:xfrm>
            <a:custGeom>
              <a:avLst/>
              <a:gdLst>
                <a:gd name="connsiteX0" fmla="*/ 0 w 1733550"/>
                <a:gd name="connsiteY0" fmla="*/ 171450 h 453390"/>
                <a:gd name="connsiteX1" fmla="*/ 582930 w 1733550"/>
                <a:gd name="connsiteY1" fmla="*/ 430530 h 453390"/>
                <a:gd name="connsiteX2" fmla="*/ 864870 w 1733550"/>
                <a:gd name="connsiteY2" fmla="*/ 453390 h 453390"/>
                <a:gd name="connsiteX3" fmla="*/ 1165860 w 1733550"/>
                <a:gd name="connsiteY3" fmla="*/ 419100 h 453390"/>
                <a:gd name="connsiteX4" fmla="*/ 1482090 w 1733550"/>
                <a:gd name="connsiteY4" fmla="*/ 106680 h 453390"/>
                <a:gd name="connsiteX5" fmla="*/ 1733550 w 1733550"/>
                <a:gd name="connsiteY5" fmla="*/ 0 h 453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33550" h="453390">
                  <a:moveTo>
                    <a:pt x="0" y="171450"/>
                  </a:moveTo>
                  <a:lnTo>
                    <a:pt x="582930" y="430530"/>
                  </a:lnTo>
                  <a:lnTo>
                    <a:pt x="864870" y="453390"/>
                  </a:lnTo>
                  <a:lnTo>
                    <a:pt x="1165860" y="419100"/>
                  </a:lnTo>
                  <a:lnTo>
                    <a:pt x="1482090" y="106680"/>
                  </a:lnTo>
                  <a:lnTo>
                    <a:pt x="1733550" y="0"/>
                  </a:lnTo>
                </a:path>
              </a:pathLst>
            </a:custGeom>
            <a:solidFill>
              <a:schemeClr val="accent3">
                <a:lumMod val="40000"/>
                <a:lumOff val="60000"/>
              </a:schemeClr>
            </a:solidFill>
            <a:ln>
              <a:solidFill>
                <a:schemeClr val="accent3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389" name="자유형 4">
              <a:extLst>
                <a:ext uri="{FF2B5EF4-FFF2-40B4-BE49-F238E27FC236}">
                  <a16:creationId xmlns:a16="http://schemas.microsoft.com/office/drawing/2014/main" id="{9660A6A1-43A9-4735-A51C-048D2B45B0B6}"/>
                </a:ext>
              </a:extLst>
            </p:cNvPr>
            <p:cNvSpPr/>
            <p:nvPr/>
          </p:nvSpPr>
          <p:spPr>
            <a:xfrm rot="10259621">
              <a:off x="2260738" y="3727732"/>
              <a:ext cx="1757660" cy="90164"/>
            </a:xfrm>
            <a:custGeom>
              <a:avLst/>
              <a:gdLst>
                <a:gd name="connsiteX0" fmla="*/ 0 w 1761066"/>
                <a:gd name="connsiteY0" fmla="*/ 177800 h 228600"/>
                <a:gd name="connsiteX1" fmla="*/ 601133 w 1761066"/>
                <a:gd name="connsiteY1" fmla="*/ 228600 h 228600"/>
                <a:gd name="connsiteX2" fmla="*/ 905933 w 1761066"/>
                <a:gd name="connsiteY2" fmla="*/ 177800 h 228600"/>
                <a:gd name="connsiteX3" fmla="*/ 1159933 w 1761066"/>
                <a:gd name="connsiteY3" fmla="*/ 127000 h 228600"/>
                <a:gd name="connsiteX4" fmla="*/ 1498600 w 1761066"/>
                <a:gd name="connsiteY4" fmla="*/ 59267 h 228600"/>
                <a:gd name="connsiteX5" fmla="*/ 1761066 w 1761066"/>
                <a:gd name="connsiteY5" fmla="*/ 0 h 228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61066" h="228600">
                  <a:moveTo>
                    <a:pt x="0" y="177800"/>
                  </a:moveTo>
                  <a:lnTo>
                    <a:pt x="601133" y="228600"/>
                  </a:lnTo>
                  <a:lnTo>
                    <a:pt x="905933" y="177800"/>
                  </a:lnTo>
                  <a:lnTo>
                    <a:pt x="1159933" y="127000"/>
                  </a:lnTo>
                  <a:lnTo>
                    <a:pt x="1498600" y="59267"/>
                  </a:lnTo>
                  <a:lnTo>
                    <a:pt x="1761066" y="0"/>
                  </a:lnTo>
                </a:path>
              </a:pathLst>
            </a:custGeom>
            <a:solidFill>
              <a:schemeClr val="accent3">
                <a:lumMod val="40000"/>
                <a:lumOff val="60000"/>
              </a:schemeClr>
            </a:solidFill>
            <a:ln>
              <a:solidFill>
                <a:schemeClr val="accent3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390" name="자유형 7">
              <a:extLst>
                <a:ext uri="{FF2B5EF4-FFF2-40B4-BE49-F238E27FC236}">
                  <a16:creationId xmlns:a16="http://schemas.microsoft.com/office/drawing/2014/main" id="{91DE735D-2613-4A38-B0DB-631A18FF3B20}"/>
                </a:ext>
              </a:extLst>
            </p:cNvPr>
            <p:cNvSpPr/>
            <p:nvPr/>
          </p:nvSpPr>
          <p:spPr>
            <a:xfrm>
              <a:off x="4023360" y="3699510"/>
              <a:ext cx="2049780" cy="567690"/>
            </a:xfrm>
            <a:custGeom>
              <a:avLst/>
              <a:gdLst>
                <a:gd name="connsiteX0" fmla="*/ 0 w 2049780"/>
                <a:gd name="connsiteY0" fmla="*/ 0 h 567690"/>
                <a:gd name="connsiteX1" fmla="*/ 331470 w 2049780"/>
                <a:gd name="connsiteY1" fmla="*/ 60960 h 567690"/>
                <a:gd name="connsiteX2" fmla="*/ 640080 w 2049780"/>
                <a:gd name="connsiteY2" fmla="*/ 220980 h 567690"/>
                <a:gd name="connsiteX3" fmla="*/ 1242060 w 2049780"/>
                <a:gd name="connsiteY3" fmla="*/ 236220 h 567690"/>
                <a:gd name="connsiteX4" fmla="*/ 1684020 w 2049780"/>
                <a:gd name="connsiteY4" fmla="*/ 144780 h 567690"/>
                <a:gd name="connsiteX5" fmla="*/ 2049780 w 2049780"/>
                <a:gd name="connsiteY5" fmla="*/ 19050 h 567690"/>
                <a:gd name="connsiteX6" fmla="*/ 1779270 w 2049780"/>
                <a:gd name="connsiteY6" fmla="*/ 346710 h 567690"/>
                <a:gd name="connsiteX7" fmla="*/ 1249680 w 2049780"/>
                <a:gd name="connsiteY7" fmla="*/ 567690 h 567690"/>
                <a:gd name="connsiteX8" fmla="*/ 621030 w 2049780"/>
                <a:gd name="connsiteY8" fmla="*/ 563880 h 567690"/>
                <a:gd name="connsiteX9" fmla="*/ 308610 w 2049780"/>
                <a:gd name="connsiteY9" fmla="*/ 419100 h 567690"/>
                <a:gd name="connsiteX10" fmla="*/ 0 w 2049780"/>
                <a:gd name="connsiteY10" fmla="*/ 0 h 567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49780" h="567690">
                  <a:moveTo>
                    <a:pt x="0" y="0"/>
                  </a:moveTo>
                  <a:lnTo>
                    <a:pt x="331470" y="60960"/>
                  </a:lnTo>
                  <a:lnTo>
                    <a:pt x="640080" y="220980"/>
                  </a:lnTo>
                  <a:lnTo>
                    <a:pt x="1242060" y="236220"/>
                  </a:lnTo>
                  <a:lnTo>
                    <a:pt x="1684020" y="144780"/>
                  </a:lnTo>
                  <a:lnTo>
                    <a:pt x="2049780" y="19050"/>
                  </a:lnTo>
                  <a:lnTo>
                    <a:pt x="1779270" y="346710"/>
                  </a:lnTo>
                  <a:lnTo>
                    <a:pt x="1249680" y="567690"/>
                  </a:lnTo>
                  <a:lnTo>
                    <a:pt x="621030" y="563880"/>
                  </a:lnTo>
                  <a:lnTo>
                    <a:pt x="308610" y="4191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391" name="자유형 1">
              <a:extLst>
                <a:ext uri="{FF2B5EF4-FFF2-40B4-BE49-F238E27FC236}">
                  <a16:creationId xmlns:a16="http://schemas.microsoft.com/office/drawing/2014/main" id="{BD890435-BD18-47FF-93CB-3E2F6CC22099}"/>
                </a:ext>
              </a:extLst>
            </p:cNvPr>
            <p:cNvSpPr/>
            <p:nvPr/>
          </p:nvSpPr>
          <p:spPr>
            <a:xfrm>
              <a:off x="1354667" y="3683000"/>
              <a:ext cx="4732866" cy="584200"/>
            </a:xfrm>
            <a:custGeom>
              <a:avLst/>
              <a:gdLst>
                <a:gd name="connsiteX0" fmla="*/ 0 w 4732866"/>
                <a:gd name="connsiteY0" fmla="*/ 330200 h 584200"/>
                <a:gd name="connsiteX1" fmla="*/ 262466 w 4732866"/>
                <a:gd name="connsiteY1" fmla="*/ 169333 h 584200"/>
                <a:gd name="connsiteX2" fmla="*/ 575733 w 4732866"/>
                <a:gd name="connsiteY2" fmla="*/ 279400 h 584200"/>
                <a:gd name="connsiteX3" fmla="*/ 905933 w 4732866"/>
                <a:gd name="connsiteY3" fmla="*/ 169333 h 584200"/>
                <a:gd name="connsiteX4" fmla="*/ 1193800 w 4732866"/>
                <a:gd name="connsiteY4" fmla="*/ 296333 h 584200"/>
                <a:gd name="connsiteX5" fmla="*/ 1507066 w 4732866"/>
                <a:gd name="connsiteY5" fmla="*/ 431800 h 584200"/>
                <a:gd name="connsiteX6" fmla="*/ 1794933 w 4732866"/>
                <a:gd name="connsiteY6" fmla="*/ 457200 h 584200"/>
                <a:gd name="connsiteX7" fmla="*/ 2091266 w 4732866"/>
                <a:gd name="connsiteY7" fmla="*/ 423333 h 584200"/>
                <a:gd name="connsiteX8" fmla="*/ 2413000 w 4732866"/>
                <a:gd name="connsiteY8" fmla="*/ 101600 h 584200"/>
                <a:gd name="connsiteX9" fmla="*/ 2667000 w 4732866"/>
                <a:gd name="connsiteY9" fmla="*/ 0 h 584200"/>
                <a:gd name="connsiteX10" fmla="*/ 2971800 w 4732866"/>
                <a:gd name="connsiteY10" fmla="*/ 431800 h 584200"/>
                <a:gd name="connsiteX11" fmla="*/ 3293533 w 4732866"/>
                <a:gd name="connsiteY11" fmla="*/ 567267 h 584200"/>
                <a:gd name="connsiteX12" fmla="*/ 3615266 w 4732866"/>
                <a:gd name="connsiteY12" fmla="*/ 558800 h 584200"/>
                <a:gd name="connsiteX13" fmla="*/ 3911600 w 4732866"/>
                <a:gd name="connsiteY13" fmla="*/ 584200 h 584200"/>
                <a:gd name="connsiteX14" fmla="*/ 4199466 w 4732866"/>
                <a:gd name="connsiteY14" fmla="*/ 440267 h 584200"/>
                <a:gd name="connsiteX15" fmla="*/ 4453466 w 4732866"/>
                <a:gd name="connsiteY15" fmla="*/ 364067 h 584200"/>
                <a:gd name="connsiteX16" fmla="*/ 4732866 w 4732866"/>
                <a:gd name="connsiteY16" fmla="*/ 16933 h 584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732866" h="584200">
                  <a:moveTo>
                    <a:pt x="0" y="330200"/>
                  </a:moveTo>
                  <a:lnTo>
                    <a:pt x="262466" y="169333"/>
                  </a:lnTo>
                  <a:lnTo>
                    <a:pt x="575733" y="279400"/>
                  </a:lnTo>
                  <a:lnTo>
                    <a:pt x="905933" y="169333"/>
                  </a:lnTo>
                  <a:lnTo>
                    <a:pt x="1193800" y="296333"/>
                  </a:lnTo>
                  <a:lnTo>
                    <a:pt x="1507066" y="431800"/>
                  </a:lnTo>
                  <a:lnTo>
                    <a:pt x="1794933" y="457200"/>
                  </a:lnTo>
                  <a:lnTo>
                    <a:pt x="2091266" y="423333"/>
                  </a:lnTo>
                  <a:lnTo>
                    <a:pt x="2413000" y="101600"/>
                  </a:lnTo>
                  <a:lnTo>
                    <a:pt x="2667000" y="0"/>
                  </a:lnTo>
                  <a:lnTo>
                    <a:pt x="2971800" y="431800"/>
                  </a:lnTo>
                  <a:lnTo>
                    <a:pt x="3293533" y="567267"/>
                  </a:lnTo>
                  <a:lnTo>
                    <a:pt x="3615266" y="558800"/>
                  </a:lnTo>
                  <a:lnTo>
                    <a:pt x="3911600" y="584200"/>
                  </a:lnTo>
                  <a:lnTo>
                    <a:pt x="4199466" y="440267"/>
                  </a:lnTo>
                  <a:lnTo>
                    <a:pt x="4453466" y="364067"/>
                  </a:lnTo>
                  <a:lnTo>
                    <a:pt x="4732866" y="16933"/>
                  </a:lnTo>
                </a:path>
              </a:pathLst>
            </a:custGeom>
            <a:ln w="22225">
              <a:solidFill>
                <a:schemeClr val="accent6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grpSp>
        <p:nvGrpSpPr>
          <p:cNvPr id="393" name="그룹 392">
            <a:extLst>
              <a:ext uri="{FF2B5EF4-FFF2-40B4-BE49-F238E27FC236}">
                <a16:creationId xmlns:a16="http://schemas.microsoft.com/office/drawing/2014/main" id="{FAC32452-02BB-4003-A7E0-563F3CCDF1A5}"/>
              </a:ext>
            </a:extLst>
          </p:cNvPr>
          <p:cNvGrpSpPr/>
          <p:nvPr/>
        </p:nvGrpSpPr>
        <p:grpSpPr>
          <a:xfrm>
            <a:off x="512960" y="4519346"/>
            <a:ext cx="2088232" cy="254366"/>
            <a:chOff x="766046" y="3528551"/>
            <a:chExt cx="2088232" cy="254366"/>
          </a:xfrm>
        </p:grpSpPr>
        <p:grpSp>
          <p:nvGrpSpPr>
            <p:cNvPr id="394" name="그룹 393">
              <a:extLst>
                <a:ext uri="{FF2B5EF4-FFF2-40B4-BE49-F238E27FC236}">
                  <a16:creationId xmlns:a16="http://schemas.microsoft.com/office/drawing/2014/main" id="{444A5638-C4D0-4D69-BD82-43D25C31A5C9}"/>
                </a:ext>
              </a:extLst>
            </p:cNvPr>
            <p:cNvGrpSpPr/>
            <p:nvPr/>
          </p:nvGrpSpPr>
          <p:grpSpPr>
            <a:xfrm>
              <a:off x="1558134" y="3547722"/>
              <a:ext cx="631876" cy="216024"/>
              <a:chOff x="1187624" y="4744315"/>
              <a:chExt cx="631876" cy="216024"/>
            </a:xfrm>
          </p:grpSpPr>
          <p:sp>
            <p:nvSpPr>
              <p:cNvPr id="401" name="직사각형 400">
                <a:extLst>
                  <a:ext uri="{FF2B5EF4-FFF2-40B4-BE49-F238E27FC236}">
                    <a16:creationId xmlns:a16="http://schemas.microsoft.com/office/drawing/2014/main" id="{C7979E3B-050B-4857-A074-A8ED72EB1B23}"/>
                  </a:ext>
                </a:extLst>
              </p:cNvPr>
              <p:cNvSpPr/>
              <p:nvPr/>
            </p:nvSpPr>
            <p:spPr>
              <a:xfrm>
                <a:off x="1187624" y="4781396"/>
                <a:ext cx="270595" cy="141862"/>
              </a:xfrm>
              <a:prstGeom prst="rect">
                <a:avLst/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altLang="ko-KR" sz="500" b="1" dirty="0">
                    <a:solidFill>
                      <a:schemeClr val="accent3">
                        <a:lumMod val="60000"/>
                        <a:lumOff val="40000"/>
                      </a:schemeClr>
                    </a:solidFill>
                    <a:latin typeface="맑은 고딕" pitchFamily="50" charset="-127"/>
                    <a:ea typeface="맑은 고딕" pitchFamily="50" charset="-127"/>
                  </a:rPr>
                  <a:t>ESS</a:t>
                </a:r>
                <a:endParaRPr lang="ko-KR" altLang="en-US" sz="500" b="1" dirty="0">
                  <a:solidFill>
                    <a:schemeClr val="accent3">
                      <a:lumMod val="60000"/>
                      <a:lumOff val="40000"/>
                    </a:schemeClr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  <p:sp>
            <p:nvSpPr>
              <p:cNvPr id="402" name="직사각형 401">
                <a:extLst>
                  <a:ext uri="{FF2B5EF4-FFF2-40B4-BE49-F238E27FC236}">
                    <a16:creationId xmlns:a16="http://schemas.microsoft.com/office/drawing/2014/main" id="{1FE83B60-9684-4B75-96C3-D764AAF51EB2}"/>
                  </a:ext>
                </a:extLst>
              </p:cNvPr>
              <p:cNvSpPr/>
              <p:nvPr/>
            </p:nvSpPr>
            <p:spPr>
              <a:xfrm>
                <a:off x="1475656" y="4744315"/>
                <a:ext cx="343844" cy="216024"/>
              </a:xfrm>
              <a:prstGeom prst="rect">
                <a:avLst/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ko-KR" sz="1000" b="1" dirty="0">
                    <a:solidFill>
                      <a:schemeClr val="bg1"/>
                    </a:solidFill>
                    <a:latin typeface="맑은 고딕" pitchFamily="50" charset="-127"/>
                    <a:ea typeface="맑은 고딕" pitchFamily="50" charset="-127"/>
                  </a:rPr>
                  <a:t>10%</a:t>
                </a:r>
                <a:endParaRPr lang="ko-KR" altLang="en-US" sz="10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</p:grpSp>
        <p:grpSp>
          <p:nvGrpSpPr>
            <p:cNvPr id="395" name="그룹 394">
              <a:extLst>
                <a:ext uri="{FF2B5EF4-FFF2-40B4-BE49-F238E27FC236}">
                  <a16:creationId xmlns:a16="http://schemas.microsoft.com/office/drawing/2014/main" id="{6FF2190E-941A-4121-865E-3DE83A8AECC0}"/>
                </a:ext>
              </a:extLst>
            </p:cNvPr>
            <p:cNvGrpSpPr/>
            <p:nvPr/>
          </p:nvGrpSpPr>
          <p:grpSpPr>
            <a:xfrm>
              <a:off x="2278214" y="3528551"/>
              <a:ext cx="576064" cy="254366"/>
              <a:chOff x="1907704" y="4725144"/>
              <a:chExt cx="576064" cy="254366"/>
            </a:xfrm>
          </p:grpSpPr>
          <p:sp>
            <p:nvSpPr>
              <p:cNvPr id="399" name="직사각형 398">
                <a:extLst>
                  <a:ext uri="{FF2B5EF4-FFF2-40B4-BE49-F238E27FC236}">
                    <a16:creationId xmlns:a16="http://schemas.microsoft.com/office/drawing/2014/main" id="{67D77876-1098-4F7E-9721-AAD17A521482}"/>
                  </a:ext>
                </a:extLst>
              </p:cNvPr>
              <p:cNvSpPr/>
              <p:nvPr/>
            </p:nvSpPr>
            <p:spPr>
              <a:xfrm>
                <a:off x="1907704" y="4781396"/>
                <a:ext cx="270595" cy="141862"/>
              </a:xfrm>
              <a:prstGeom prst="rect">
                <a:avLst/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altLang="ko-KR" sz="500" b="1" dirty="0">
                    <a:solidFill>
                      <a:schemeClr val="accent2">
                        <a:lumMod val="40000"/>
                        <a:lumOff val="60000"/>
                      </a:schemeClr>
                    </a:solidFill>
                    <a:latin typeface="맑은 고딕" pitchFamily="50" charset="-127"/>
                    <a:ea typeface="맑은 고딕" pitchFamily="50" charset="-127"/>
                  </a:rPr>
                  <a:t>PV</a:t>
                </a:r>
                <a:endParaRPr lang="ko-KR" altLang="en-US" sz="500" b="1" dirty="0">
                  <a:solidFill>
                    <a:schemeClr val="accent2">
                      <a:lumMod val="40000"/>
                      <a:lumOff val="60000"/>
                    </a:schemeClr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  <p:sp>
            <p:nvSpPr>
              <p:cNvPr id="400" name="직사각형 399">
                <a:extLst>
                  <a:ext uri="{FF2B5EF4-FFF2-40B4-BE49-F238E27FC236}">
                    <a16:creationId xmlns:a16="http://schemas.microsoft.com/office/drawing/2014/main" id="{3E15668C-B9B1-49FC-8480-97B2161D0867}"/>
                  </a:ext>
                </a:extLst>
              </p:cNvPr>
              <p:cNvSpPr/>
              <p:nvPr/>
            </p:nvSpPr>
            <p:spPr>
              <a:xfrm>
                <a:off x="2213173" y="4725144"/>
                <a:ext cx="270595" cy="254366"/>
              </a:xfrm>
              <a:prstGeom prst="rect">
                <a:avLst/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ko-KR" sz="1000" b="1" dirty="0">
                    <a:solidFill>
                      <a:schemeClr val="bg1"/>
                    </a:solidFill>
                    <a:latin typeface="맑은 고딕" pitchFamily="50" charset="-127"/>
                    <a:ea typeface="맑은 고딕" pitchFamily="50" charset="-127"/>
                  </a:rPr>
                  <a:t>9%</a:t>
                </a:r>
                <a:endParaRPr lang="ko-KR" altLang="en-US" sz="10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</p:grpSp>
        <p:grpSp>
          <p:nvGrpSpPr>
            <p:cNvPr id="396" name="그룹 395">
              <a:extLst>
                <a:ext uri="{FF2B5EF4-FFF2-40B4-BE49-F238E27FC236}">
                  <a16:creationId xmlns:a16="http://schemas.microsoft.com/office/drawing/2014/main" id="{445C6553-887E-4986-8749-E5A663D95FCC}"/>
                </a:ext>
              </a:extLst>
            </p:cNvPr>
            <p:cNvGrpSpPr/>
            <p:nvPr/>
          </p:nvGrpSpPr>
          <p:grpSpPr>
            <a:xfrm>
              <a:off x="766046" y="3547722"/>
              <a:ext cx="703884" cy="216024"/>
              <a:chOff x="395536" y="4744315"/>
              <a:chExt cx="703884" cy="216024"/>
            </a:xfrm>
          </p:grpSpPr>
          <p:sp>
            <p:nvSpPr>
              <p:cNvPr id="397" name="직사각형 396">
                <a:extLst>
                  <a:ext uri="{FF2B5EF4-FFF2-40B4-BE49-F238E27FC236}">
                    <a16:creationId xmlns:a16="http://schemas.microsoft.com/office/drawing/2014/main" id="{2E1C4A2B-4661-4850-AAF6-A5C99443DD6C}"/>
                  </a:ext>
                </a:extLst>
              </p:cNvPr>
              <p:cNvSpPr/>
              <p:nvPr/>
            </p:nvSpPr>
            <p:spPr>
              <a:xfrm>
                <a:off x="395536" y="4781396"/>
                <a:ext cx="356537" cy="141862"/>
              </a:xfrm>
              <a:prstGeom prst="rect">
                <a:avLst/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ko-KR" altLang="en-US" sz="500" b="1" dirty="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맑은 고딕" pitchFamily="50" charset="-127"/>
                    <a:ea typeface="맑은 고딕" pitchFamily="50" charset="-127"/>
                  </a:rPr>
                  <a:t>한전</a:t>
                </a:r>
              </a:p>
            </p:txBody>
          </p:sp>
          <p:sp>
            <p:nvSpPr>
              <p:cNvPr id="398" name="직사각형 397">
                <a:extLst>
                  <a:ext uri="{FF2B5EF4-FFF2-40B4-BE49-F238E27FC236}">
                    <a16:creationId xmlns:a16="http://schemas.microsoft.com/office/drawing/2014/main" id="{F44CFE06-84AE-4739-A5E0-81DB5E971389}"/>
                  </a:ext>
                </a:extLst>
              </p:cNvPr>
              <p:cNvSpPr/>
              <p:nvPr/>
            </p:nvSpPr>
            <p:spPr>
              <a:xfrm>
                <a:off x="755576" y="4744315"/>
                <a:ext cx="343844" cy="216024"/>
              </a:xfrm>
              <a:prstGeom prst="rect">
                <a:avLst/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ko-KR" sz="1000" b="1" dirty="0">
                    <a:solidFill>
                      <a:srgbClr val="FF0000"/>
                    </a:solidFill>
                    <a:latin typeface="맑은 고딕" pitchFamily="50" charset="-127"/>
                    <a:ea typeface="맑은 고딕" pitchFamily="50" charset="-127"/>
                  </a:rPr>
                  <a:t>81%</a:t>
                </a:r>
                <a:endParaRPr lang="ko-KR" altLang="en-US" sz="1000" b="1" dirty="0">
                  <a:solidFill>
                    <a:srgbClr val="FF0000"/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</p:grpSp>
      </p:grpSp>
      <p:grpSp>
        <p:nvGrpSpPr>
          <p:cNvPr id="403" name="그룹 402">
            <a:extLst>
              <a:ext uri="{FF2B5EF4-FFF2-40B4-BE49-F238E27FC236}">
                <a16:creationId xmlns:a16="http://schemas.microsoft.com/office/drawing/2014/main" id="{3E0C2959-7945-407B-AD8D-46ACEE205C66}"/>
              </a:ext>
            </a:extLst>
          </p:cNvPr>
          <p:cNvGrpSpPr/>
          <p:nvPr/>
        </p:nvGrpSpPr>
        <p:grpSpPr>
          <a:xfrm>
            <a:off x="1210790" y="2810709"/>
            <a:ext cx="1673038" cy="254348"/>
            <a:chOff x="6419190" y="4725153"/>
            <a:chExt cx="1673038" cy="254348"/>
          </a:xfrm>
        </p:grpSpPr>
        <p:sp>
          <p:nvSpPr>
            <p:cNvPr id="404" name="직사각형 403">
              <a:extLst>
                <a:ext uri="{FF2B5EF4-FFF2-40B4-BE49-F238E27FC236}">
                  <a16:creationId xmlns:a16="http://schemas.microsoft.com/office/drawing/2014/main" id="{1FAF7E3B-C77B-4D13-BBB4-A48A1262F9DB}"/>
                </a:ext>
              </a:extLst>
            </p:cNvPr>
            <p:cNvSpPr/>
            <p:nvPr/>
          </p:nvSpPr>
          <p:spPr>
            <a:xfrm>
              <a:off x="7139098" y="4776288"/>
              <a:ext cx="390541" cy="182339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150000"/>
                </a:lnSpc>
              </a:pPr>
              <a:r>
                <a:rPr lang="ko-KR" altLang="en-US" sz="500" b="1" dirty="0">
                  <a:solidFill>
                    <a:schemeClr val="accent6">
                      <a:lumMod val="75000"/>
                    </a:schemeClr>
                  </a:solidFill>
                  <a:latin typeface="맑은 고딕" pitchFamily="50" charset="-127"/>
                  <a:ea typeface="맑은 고딕" pitchFamily="50" charset="-127"/>
                </a:rPr>
                <a:t>현재 사용량</a:t>
              </a:r>
            </a:p>
          </p:txBody>
        </p:sp>
        <p:sp>
          <p:nvSpPr>
            <p:cNvPr id="405" name="직사각형 404">
              <a:extLst>
                <a:ext uri="{FF2B5EF4-FFF2-40B4-BE49-F238E27FC236}">
                  <a16:creationId xmlns:a16="http://schemas.microsoft.com/office/drawing/2014/main" id="{A4D39852-FB42-4840-B8BD-E4C5B48AB914}"/>
                </a:ext>
              </a:extLst>
            </p:cNvPr>
            <p:cNvSpPr/>
            <p:nvPr/>
          </p:nvSpPr>
          <p:spPr>
            <a:xfrm>
              <a:off x="7494198" y="4725153"/>
              <a:ext cx="462178" cy="254348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900</a:t>
              </a:r>
              <a:endParaRPr lang="ko-KR" altLang="en-US" sz="14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406" name="직사각형 405">
              <a:extLst>
                <a:ext uri="{FF2B5EF4-FFF2-40B4-BE49-F238E27FC236}">
                  <a16:creationId xmlns:a16="http://schemas.microsoft.com/office/drawing/2014/main" id="{C5037554-0083-4DDF-8348-E9E8598AC592}"/>
                </a:ext>
              </a:extLst>
            </p:cNvPr>
            <p:cNvSpPr/>
            <p:nvPr/>
          </p:nvSpPr>
          <p:spPr>
            <a:xfrm>
              <a:off x="7876204" y="4795451"/>
              <a:ext cx="216024" cy="144013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 anchorCtr="0"/>
            <a:lstStyle/>
            <a:p>
              <a:pPr algn="ctr">
                <a:lnSpc>
                  <a:spcPct val="150000"/>
                </a:lnSpc>
              </a:pPr>
              <a:r>
                <a:rPr lang="en-US" altLang="ko-KR" sz="500" b="1" dirty="0">
                  <a:solidFill>
                    <a:schemeClr val="accent6">
                      <a:lumMod val="75000"/>
                    </a:schemeClr>
                  </a:solidFill>
                  <a:latin typeface="맑은 고딕" pitchFamily="50" charset="-127"/>
                  <a:ea typeface="맑은 고딕" pitchFamily="50" charset="-127"/>
                </a:rPr>
                <a:t>kWh</a:t>
              </a:r>
              <a:endParaRPr lang="ko-KR" altLang="en-US" sz="500" b="1" dirty="0">
                <a:solidFill>
                  <a:schemeClr val="accent6">
                    <a:lumMod val="75000"/>
                  </a:schemeClr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407" name="직사각형 406">
              <a:extLst>
                <a:ext uri="{FF2B5EF4-FFF2-40B4-BE49-F238E27FC236}">
                  <a16:creationId xmlns:a16="http://schemas.microsoft.com/office/drawing/2014/main" id="{C4ECDB85-9468-468D-809A-74CFF6589D42}"/>
                </a:ext>
              </a:extLst>
            </p:cNvPr>
            <p:cNvSpPr/>
            <p:nvPr/>
          </p:nvSpPr>
          <p:spPr>
            <a:xfrm>
              <a:off x="6419190" y="4775713"/>
              <a:ext cx="725954" cy="18235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altLang="ko-KR" sz="500" b="1" dirty="0">
                  <a:solidFill>
                    <a:schemeClr val="accent6">
                      <a:lumMod val="75000"/>
                    </a:schemeClr>
                  </a:solidFill>
                  <a:latin typeface="맑은 고딕" pitchFamily="50" charset="-127"/>
                  <a:ea typeface="맑은 고딕" pitchFamily="50" charset="-127"/>
                </a:rPr>
                <a:t>YYYY-MM-DD hh:mm</a:t>
              </a:r>
              <a:endParaRPr lang="ko-KR" altLang="en-US" sz="500" b="1" dirty="0">
                <a:solidFill>
                  <a:schemeClr val="accent6">
                    <a:lumMod val="75000"/>
                  </a:schemeClr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grpSp>
        <p:nvGrpSpPr>
          <p:cNvPr id="408" name="그룹 407">
            <a:extLst>
              <a:ext uri="{FF2B5EF4-FFF2-40B4-BE49-F238E27FC236}">
                <a16:creationId xmlns:a16="http://schemas.microsoft.com/office/drawing/2014/main" id="{B08BA0C0-B88D-4230-A888-28B7F3589BB7}"/>
              </a:ext>
            </a:extLst>
          </p:cNvPr>
          <p:cNvGrpSpPr/>
          <p:nvPr/>
        </p:nvGrpSpPr>
        <p:grpSpPr>
          <a:xfrm>
            <a:off x="7354339" y="1196752"/>
            <a:ext cx="943186" cy="181080"/>
            <a:chOff x="5772819" y="420208"/>
            <a:chExt cx="943186" cy="207079"/>
          </a:xfrm>
        </p:grpSpPr>
        <p:sp>
          <p:nvSpPr>
            <p:cNvPr id="409" name="TextBox 408">
              <a:extLst>
                <a:ext uri="{FF2B5EF4-FFF2-40B4-BE49-F238E27FC236}">
                  <a16:creationId xmlns:a16="http://schemas.microsoft.com/office/drawing/2014/main" id="{ED0A09A6-79CB-4416-AD18-77FB4EC97634}"/>
                </a:ext>
              </a:extLst>
            </p:cNvPr>
            <p:cNvSpPr txBox="1"/>
            <p:nvPr/>
          </p:nvSpPr>
          <p:spPr>
            <a:xfrm>
              <a:off x="5772819" y="420208"/>
              <a:ext cx="943186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7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군관리로 돌아가기</a:t>
              </a:r>
            </a:p>
          </p:txBody>
        </p:sp>
        <p:sp>
          <p:nvSpPr>
            <p:cNvPr id="410" name="사각형: 둥근 모서리 409">
              <a:extLst>
                <a:ext uri="{FF2B5EF4-FFF2-40B4-BE49-F238E27FC236}">
                  <a16:creationId xmlns:a16="http://schemas.microsoft.com/office/drawing/2014/main" id="{5DD614A7-8FF5-4BED-931F-E705D7843780}"/>
                </a:ext>
              </a:extLst>
            </p:cNvPr>
            <p:cNvSpPr/>
            <p:nvPr/>
          </p:nvSpPr>
          <p:spPr>
            <a:xfrm>
              <a:off x="5797598" y="454187"/>
              <a:ext cx="893629" cy="173100"/>
            </a:xfrm>
            <a:prstGeom prst="roundRect">
              <a:avLst/>
            </a:prstGeom>
            <a:noFill/>
            <a:ln w="127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411" name="말풍선: 사각형 410">
            <a:extLst>
              <a:ext uri="{FF2B5EF4-FFF2-40B4-BE49-F238E27FC236}">
                <a16:creationId xmlns:a16="http://schemas.microsoft.com/office/drawing/2014/main" id="{ACF2BF91-FBF4-4497-9A2D-01509527F542}"/>
              </a:ext>
            </a:extLst>
          </p:cNvPr>
          <p:cNvSpPr/>
          <p:nvPr/>
        </p:nvSpPr>
        <p:spPr>
          <a:xfrm>
            <a:off x="4578120" y="2513673"/>
            <a:ext cx="615731" cy="360039"/>
          </a:xfrm>
          <a:prstGeom prst="wedgeRectCallout">
            <a:avLst>
              <a:gd name="adj1" fmla="val -30620"/>
              <a:gd name="adj2" fmla="val 109426"/>
            </a:avLst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2018.03.05</a:t>
            </a:r>
          </a:p>
          <a:p>
            <a:pPr algn="ctr"/>
            <a:r>
              <a:rPr lang="en-US" altLang="ko-KR" sz="6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03:15:00</a:t>
            </a:r>
          </a:p>
          <a:p>
            <a:pPr algn="ctr"/>
            <a:r>
              <a:rPr lang="en-US" altLang="ko-KR" sz="600" b="1" dirty="0">
                <a:solidFill>
                  <a:srgbClr val="FF0000"/>
                </a:solidFill>
              </a:rPr>
              <a:t>210 kW</a:t>
            </a:r>
            <a:endParaRPr lang="ko-KR" altLang="en-US" sz="600" b="1" dirty="0">
              <a:solidFill>
                <a:srgbClr val="FF0000"/>
              </a:solidFill>
            </a:endParaRPr>
          </a:p>
        </p:txBody>
      </p:sp>
      <p:sp>
        <p:nvSpPr>
          <p:cNvPr id="412" name="사각형: 둥근 모서리 411">
            <a:extLst>
              <a:ext uri="{FF2B5EF4-FFF2-40B4-BE49-F238E27FC236}">
                <a16:creationId xmlns:a16="http://schemas.microsoft.com/office/drawing/2014/main" id="{0759CBF9-4B04-4A36-80C8-3E56FB93C9B0}"/>
              </a:ext>
            </a:extLst>
          </p:cNvPr>
          <p:cNvSpPr/>
          <p:nvPr/>
        </p:nvSpPr>
        <p:spPr>
          <a:xfrm>
            <a:off x="3073112" y="4138270"/>
            <a:ext cx="599739" cy="307364"/>
          </a:xfrm>
          <a:prstGeom prst="roundRect">
            <a:avLst/>
          </a:prstGeom>
          <a:solidFill>
            <a:schemeClr val="tx2">
              <a:lumMod val="60000"/>
              <a:lumOff val="40000"/>
            </a:schemeClr>
          </a:solidFill>
          <a:ln w="19050">
            <a:solidFill>
              <a:srgbClr val="92D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13" name="사각형: 둥근 모서리 412">
            <a:extLst>
              <a:ext uri="{FF2B5EF4-FFF2-40B4-BE49-F238E27FC236}">
                <a16:creationId xmlns:a16="http://schemas.microsoft.com/office/drawing/2014/main" id="{C4754BEB-47C0-45AC-997F-A176DE7FB7F2}"/>
              </a:ext>
            </a:extLst>
          </p:cNvPr>
          <p:cNvSpPr/>
          <p:nvPr/>
        </p:nvSpPr>
        <p:spPr>
          <a:xfrm>
            <a:off x="3723621" y="4145558"/>
            <a:ext cx="599739" cy="292788"/>
          </a:xfrm>
          <a:prstGeom prst="roundRect">
            <a:avLst/>
          </a:prstGeom>
          <a:solidFill>
            <a:schemeClr val="tx2">
              <a:lumMod val="60000"/>
              <a:lumOff val="40000"/>
            </a:schemeClr>
          </a:solidFill>
          <a:ln w="19050">
            <a:solidFill>
              <a:srgbClr val="92D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14" name="사각형: 둥근 모서리 413">
            <a:extLst>
              <a:ext uri="{FF2B5EF4-FFF2-40B4-BE49-F238E27FC236}">
                <a16:creationId xmlns:a16="http://schemas.microsoft.com/office/drawing/2014/main" id="{1741F187-7179-42BC-B52C-2294B224FE67}"/>
              </a:ext>
            </a:extLst>
          </p:cNvPr>
          <p:cNvSpPr/>
          <p:nvPr/>
        </p:nvSpPr>
        <p:spPr>
          <a:xfrm>
            <a:off x="4374130" y="4138270"/>
            <a:ext cx="599739" cy="307364"/>
          </a:xfrm>
          <a:prstGeom prst="roundRect">
            <a:avLst/>
          </a:prstGeom>
          <a:solidFill>
            <a:schemeClr val="accent3"/>
          </a:solidFill>
          <a:ln w="19050">
            <a:solidFill>
              <a:srgbClr val="92D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15" name="사각형: 둥근 모서리 414">
            <a:extLst>
              <a:ext uri="{FF2B5EF4-FFF2-40B4-BE49-F238E27FC236}">
                <a16:creationId xmlns:a16="http://schemas.microsoft.com/office/drawing/2014/main" id="{6ED4B4B1-6854-4B15-AF56-C0E99F1D5823}"/>
              </a:ext>
            </a:extLst>
          </p:cNvPr>
          <p:cNvSpPr/>
          <p:nvPr/>
        </p:nvSpPr>
        <p:spPr>
          <a:xfrm>
            <a:off x="5024639" y="4138270"/>
            <a:ext cx="599739" cy="307364"/>
          </a:xfrm>
          <a:prstGeom prst="roundRect">
            <a:avLst/>
          </a:prstGeom>
          <a:solidFill>
            <a:schemeClr val="accent3"/>
          </a:solidFill>
          <a:ln w="19050">
            <a:solidFill>
              <a:srgbClr val="92D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16" name="사각형: 둥근 모서리 415">
            <a:extLst>
              <a:ext uri="{FF2B5EF4-FFF2-40B4-BE49-F238E27FC236}">
                <a16:creationId xmlns:a16="http://schemas.microsoft.com/office/drawing/2014/main" id="{AA403FFE-4122-496E-9DE2-FA7A021C4340}"/>
              </a:ext>
            </a:extLst>
          </p:cNvPr>
          <p:cNvSpPr/>
          <p:nvPr/>
        </p:nvSpPr>
        <p:spPr>
          <a:xfrm>
            <a:off x="3073112" y="4478797"/>
            <a:ext cx="599739" cy="307364"/>
          </a:xfrm>
          <a:prstGeom prst="roundRect">
            <a:avLst/>
          </a:prstGeom>
          <a:solidFill>
            <a:schemeClr val="accent4">
              <a:lumMod val="75000"/>
            </a:schemeClr>
          </a:solidFill>
          <a:ln w="19050">
            <a:solidFill>
              <a:srgbClr val="92D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17" name="사각형: 둥근 모서리 416">
            <a:extLst>
              <a:ext uri="{FF2B5EF4-FFF2-40B4-BE49-F238E27FC236}">
                <a16:creationId xmlns:a16="http://schemas.microsoft.com/office/drawing/2014/main" id="{732DC6B3-755D-42C2-B1E2-15F424601BAB}"/>
              </a:ext>
            </a:extLst>
          </p:cNvPr>
          <p:cNvSpPr/>
          <p:nvPr/>
        </p:nvSpPr>
        <p:spPr>
          <a:xfrm>
            <a:off x="3723621" y="4478797"/>
            <a:ext cx="599739" cy="307364"/>
          </a:xfrm>
          <a:prstGeom prst="roundRect">
            <a:avLst/>
          </a:prstGeom>
          <a:solidFill>
            <a:schemeClr val="accent4">
              <a:lumMod val="75000"/>
            </a:schemeClr>
          </a:solidFill>
          <a:ln w="19050">
            <a:solidFill>
              <a:srgbClr val="92D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18" name="사각형: 둥근 모서리 417">
            <a:extLst>
              <a:ext uri="{FF2B5EF4-FFF2-40B4-BE49-F238E27FC236}">
                <a16:creationId xmlns:a16="http://schemas.microsoft.com/office/drawing/2014/main" id="{29208C11-51B2-4D42-994A-C5F7AA2FD759}"/>
              </a:ext>
            </a:extLst>
          </p:cNvPr>
          <p:cNvSpPr/>
          <p:nvPr/>
        </p:nvSpPr>
        <p:spPr>
          <a:xfrm>
            <a:off x="4374130" y="4478797"/>
            <a:ext cx="599739" cy="307364"/>
          </a:xfrm>
          <a:prstGeom prst="roundRect">
            <a:avLst/>
          </a:prstGeom>
          <a:solidFill>
            <a:schemeClr val="accent4">
              <a:lumMod val="75000"/>
            </a:schemeClr>
          </a:solidFill>
          <a:ln w="19050">
            <a:solidFill>
              <a:srgbClr val="92D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19" name="사각형: 둥근 모서리 418">
            <a:extLst>
              <a:ext uri="{FF2B5EF4-FFF2-40B4-BE49-F238E27FC236}">
                <a16:creationId xmlns:a16="http://schemas.microsoft.com/office/drawing/2014/main" id="{281FEFEE-122A-4D31-89EB-D59C75FDD4D7}"/>
              </a:ext>
            </a:extLst>
          </p:cNvPr>
          <p:cNvSpPr/>
          <p:nvPr/>
        </p:nvSpPr>
        <p:spPr>
          <a:xfrm>
            <a:off x="5024639" y="4478797"/>
            <a:ext cx="599739" cy="307364"/>
          </a:xfrm>
          <a:prstGeom prst="roundRect">
            <a:avLst/>
          </a:prstGeom>
          <a:solidFill>
            <a:schemeClr val="bg1">
              <a:lumMod val="50000"/>
            </a:schemeClr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20" name="TextBox 419">
            <a:extLst>
              <a:ext uri="{FF2B5EF4-FFF2-40B4-BE49-F238E27FC236}">
                <a16:creationId xmlns:a16="http://schemas.microsoft.com/office/drawing/2014/main" id="{AC0024C4-FB4D-4F8E-B56E-43B8E6F1E13F}"/>
              </a:ext>
            </a:extLst>
          </p:cNvPr>
          <p:cNvSpPr txBox="1"/>
          <p:nvPr/>
        </p:nvSpPr>
        <p:spPr>
          <a:xfrm>
            <a:off x="3018000" y="4105367"/>
            <a:ext cx="418353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600" dirty="0">
                <a:solidFill>
                  <a:schemeClr val="bg1"/>
                </a:solidFill>
              </a:rPr>
              <a:t>PCS_1</a:t>
            </a:r>
            <a:endParaRPr lang="ko-KR" altLang="en-US" sz="600" dirty="0">
              <a:solidFill>
                <a:schemeClr val="bg1"/>
              </a:solidFill>
            </a:endParaRPr>
          </a:p>
        </p:txBody>
      </p:sp>
      <p:sp>
        <p:nvSpPr>
          <p:cNvPr id="421" name="TextBox 420">
            <a:extLst>
              <a:ext uri="{FF2B5EF4-FFF2-40B4-BE49-F238E27FC236}">
                <a16:creationId xmlns:a16="http://schemas.microsoft.com/office/drawing/2014/main" id="{DD2D08E5-A9F3-4488-A9FB-5E97FF04C4E1}"/>
              </a:ext>
            </a:extLst>
          </p:cNvPr>
          <p:cNvSpPr txBox="1"/>
          <p:nvPr/>
        </p:nvSpPr>
        <p:spPr>
          <a:xfrm>
            <a:off x="3180791" y="4218984"/>
            <a:ext cx="598614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</a:rPr>
              <a:t>458.3 kWh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422" name="TextBox 421">
            <a:extLst>
              <a:ext uri="{FF2B5EF4-FFF2-40B4-BE49-F238E27FC236}">
                <a16:creationId xmlns:a16="http://schemas.microsoft.com/office/drawing/2014/main" id="{F381FB52-FD3C-434C-A290-2FF77AE7F522}"/>
              </a:ext>
            </a:extLst>
          </p:cNvPr>
          <p:cNvSpPr txBox="1"/>
          <p:nvPr/>
        </p:nvSpPr>
        <p:spPr>
          <a:xfrm>
            <a:off x="3179049" y="4305768"/>
            <a:ext cx="598614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</a:rPr>
              <a:t>458.3 kWh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423" name="TextBox 422">
            <a:extLst>
              <a:ext uri="{FF2B5EF4-FFF2-40B4-BE49-F238E27FC236}">
                <a16:creationId xmlns:a16="http://schemas.microsoft.com/office/drawing/2014/main" id="{3CD2BFAD-3606-43BE-AF59-46CB854C5B5C}"/>
              </a:ext>
            </a:extLst>
          </p:cNvPr>
          <p:cNvSpPr txBox="1"/>
          <p:nvPr/>
        </p:nvSpPr>
        <p:spPr>
          <a:xfrm>
            <a:off x="2980670" y="4217298"/>
            <a:ext cx="468850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500" dirty="0" err="1">
                <a:solidFill>
                  <a:schemeClr val="bg1"/>
                </a:solidFill>
              </a:rPr>
              <a:t>충전량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424" name="TextBox 423">
            <a:extLst>
              <a:ext uri="{FF2B5EF4-FFF2-40B4-BE49-F238E27FC236}">
                <a16:creationId xmlns:a16="http://schemas.microsoft.com/office/drawing/2014/main" id="{613665E2-76F0-475C-894D-6305BE75A2E6}"/>
              </a:ext>
            </a:extLst>
          </p:cNvPr>
          <p:cNvSpPr txBox="1"/>
          <p:nvPr/>
        </p:nvSpPr>
        <p:spPr>
          <a:xfrm>
            <a:off x="2975456" y="4307743"/>
            <a:ext cx="468850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500" dirty="0" err="1">
                <a:solidFill>
                  <a:schemeClr val="bg1"/>
                </a:solidFill>
              </a:rPr>
              <a:t>방전량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425" name="TextBox 424">
            <a:extLst>
              <a:ext uri="{FF2B5EF4-FFF2-40B4-BE49-F238E27FC236}">
                <a16:creationId xmlns:a16="http://schemas.microsoft.com/office/drawing/2014/main" id="{9C91EE2A-EA61-47A2-9C87-036ED384C2A6}"/>
              </a:ext>
            </a:extLst>
          </p:cNvPr>
          <p:cNvSpPr txBox="1"/>
          <p:nvPr/>
        </p:nvSpPr>
        <p:spPr>
          <a:xfrm>
            <a:off x="3829581" y="4214743"/>
            <a:ext cx="598614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</a:rPr>
              <a:t>458.3 kWh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426" name="TextBox 425">
            <a:extLst>
              <a:ext uri="{FF2B5EF4-FFF2-40B4-BE49-F238E27FC236}">
                <a16:creationId xmlns:a16="http://schemas.microsoft.com/office/drawing/2014/main" id="{13AB4E92-517D-44B2-AD81-D6121136829D}"/>
              </a:ext>
            </a:extLst>
          </p:cNvPr>
          <p:cNvSpPr txBox="1"/>
          <p:nvPr/>
        </p:nvSpPr>
        <p:spPr>
          <a:xfrm>
            <a:off x="3827839" y="4301527"/>
            <a:ext cx="598614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</a:rPr>
              <a:t>458.3 kWh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427" name="TextBox 426">
            <a:extLst>
              <a:ext uri="{FF2B5EF4-FFF2-40B4-BE49-F238E27FC236}">
                <a16:creationId xmlns:a16="http://schemas.microsoft.com/office/drawing/2014/main" id="{D3350140-D70F-4884-A520-748644AEB055}"/>
              </a:ext>
            </a:extLst>
          </p:cNvPr>
          <p:cNvSpPr txBox="1"/>
          <p:nvPr/>
        </p:nvSpPr>
        <p:spPr>
          <a:xfrm>
            <a:off x="3629460" y="4204329"/>
            <a:ext cx="468850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500" dirty="0" err="1">
                <a:solidFill>
                  <a:schemeClr val="bg1"/>
                </a:solidFill>
              </a:rPr>
              <a:t>충전량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428" name="TextBox 427">
            <a:extLst>
              <a:ext uri="{FF2B5EF4-FFF2-40B4-BE49-F238E27FC236}">
                <a16:creationId xmlns:a16="http://schemas.microsoft.com/office/drawing/2014/main" id="{31EF200B-3CF8-4E1C-98ED-91FC401EEB5F}"/>
              </a:ext>
            </a:extLst>
          </p:cNvPr>
          <p:cNvSpPr txBox="1"/>
          <p:nvPr/>
        </p:nvSpPr>
        <p:spPr>
          <a:xfrm>
            <a:off x="3624246" y="4306434"/>
            <a:ext cx="468850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500" dirty="0" err="1">
                <a:solidFill>
                  <a:schemeClr val="bg1"/>
                </a:solidFill>
              </a:rPr>
              <a:t>방전량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429" name="TextBox 428">
            <a:extLst>
              <a:ext uri="{FF2B5EF4-FFF2-40B4-BE49-F238E27FC236}">
                <a16:creationId xmlns:a16="http://schemas.microsoft.com/office/drawing/2014/main" id="{3A519547-0DDB-4500-B2D9-58E5CBF83FC0}"/>
              </a:ext>
            </a:extLst>
          </p:cNvPr>
          <p:cNvSpPr txBox="1"/>
          <p:nvPr/>
        </p:nvSpPr>
        <p:spPr>
          <a:xfrm>
            <a:off x="3674559" y="4115684"/>
            <a:ext cx="418353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600" dirty="0">
                <a:solidFill>
                  <a:schemeClr val="bg1"/>
                </a:solidFill>
              </a:rPr>
              <a:t>PCS_2</a:t>
            </a:r>
            <a:endParaRPr lang="ko-KR" altLang="en-US" sz="600" dirty="0">
              <a:solidFill>
                <a:schemeClr val="bg1"/>
              </a:solidFill>
            </a:endParaRPr>
          </a:p>
        </p:txBody>
      </p:sp>
      <p:grpSp>
        <p:nvGrpSpPr>
          <p:cNvPr id="430" name="그룹 429">
            <a:extLst>
              <a:ext uri="{FF2B5EF4-FFF2-40B4-BE49-F238E27FC236}">
                <a16:creationId xmlns:a16="http://schemas.microsoft.com/office/drawing/2014/main" id="{B08B4EFA-DC4C-4D80-8AFC-9824DBF1BDEE}"/>
              </a:ext>
            </a:extLst>
          </p:cNvPr>
          <p:cNvGrpSpPr/>
          <p:nvPr/>
        </p:nvGrpSpPr>
        <p:grpSpPr>
          <a:xfrm>
            <a:off x="4271903" y="4105535"/>
            <a:ext cx="805559" cy="374585"/>
            <a:chOff x="4135417" y="5220442"/>
            <a:chExt cx="805559" cy="374585"/>
          </a:xfrm>
        </p:grpSpPr>
        <p:sp>
          <p:nvSpPr>
            <p:cNvPr id="431" name="TextBox 430">
              <a:extLst>
                <a:ext uri="{FF2B5EF4-FFF2-40B4-BE49-F238E27FC236}">
                  <a16:creationId xmlns:a16="http://schemas.microsoft.com/office/drawing/2014/main" id="{DDCFD7AA-8874-43AB-B47A-2F8E57DFCA58}"/>
                </a:ext>
              </a:extLst>
            </p:cNvPr>
            <p:cNvSpPr txBox="1"/>
            <p:nvPr/>
          </p:nvSpPr>
          <p:spPr>
            <a:xfrm>
              <a:off x="4179571" y="5220442"/>
              <a:ext cx="41835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600" dirty="0">
                  <a:solidFill>
                    <a:schemeClr val="bg1"/>
                  </a:solidFill>
                </a:rPr>
                <a:t>BMS_1</a:t>
              </a:r>
              <a:endParaRPr lang="ko-KR" altLang="en-US" sz="600" dirty="0">
                <a:solidFill>
                  <a:schemeClr val="bg1"/>
                </a:solidFill>
              </a:endParaRPr>
            </a:p>
          </p:txBody>
        </p:sp>
        <p:sp>
          <p:nvSpPr>
            <p:cNvPr id="432" name="TextBox 431">
              <a:extLst>
                <a:ext uri="{FF2B5EF4-FFF2-40B4-BE49-F238E27FC236}">
                  <a16:creationId xmlns:a16="http://schemas.microsoft.com/office/drawing/2014/main" id="{9BBD66E8-DB7D-4CAA-9815-C33EEFF7FA48}"/>
                </a:ext>
              </a:extLst>
            </p:cNvPr>
            <p:cNvSpPr txBox="1"/>
            <p:nvPr/>
          </p:nvSpPr>
          <p:spPr>
            <a:xfrm>
              <a:off x="4342362" y="5334059"/>
              <a:ext cx="59861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500" dirty="0">
                  <a:solidFill>
                    <a:schemeClr val="bg1"/>
                  </a:solidFill>
                </a:rPr>
                <a:t>680.000 V</a:t>
              </a:r>
              <a:endParaRPr lang="ko-KR" altLang="en-US" sz="500" dirty="0">
                <a:solidFill>
                  <a:schemeClr val="bg1"/>
                </a:solidFill>
              </a:endParaRPr>
            </a:p>
          </p:txBody>
        </p:sp>
        <p:sp>
          <p:nvSpPr>
            <p:cNvPr id="433" name="TextBox 432">
              <a:extLst>
                <a:ext uri="{FF2B5EF4-FFF2-40B4-BE49-F238E27FC236}">
                  <a16:creationId xmlns:a16="http://schemas.microsoft.com/office/drawing/2014/main" id="{6C8FC9FB-2EB3-4C43-B41E-5F29D57F2A95}"/>
                </a:ext>
              </a:extLst>
            </p:cNvPr>
            <p:cNvSpPr txBox="1"/>
            <p:nvPr/>
          </p:nvSpPr>
          <p:spPr>
            <a:xfrm>
              <a:off x="4340620" y="5420843"/>
              <a:ext cx="59861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500" dirty="0">
                  <a:solidFill>
                    <a:schemeClr val="bg1"/>
                  </a:solidFill>
                </a:rPr>
                <a:t>0.000 V</a:t>
              </a:r>
              <a:endParaRPr lang="ko-KR" altLang="en-US" sz="500" dirty="0">
                <a:solidFill>
                  <a:schemeClr val="bg1"/>
                </a:solidFill>
              </a:endParaRPr>
            </a:p>
          </p:txBody>
        </p:sp>
        <p:sp>
          <p:nvSpPr>
            <p:cNvPr id="434" name="TextBox 433">
              <a:extLst>
                <a:ext uri="{FF2B5EF4-FFF2-40B4-BE49-F238E27FC236}">
                  <a16:creationId xmlns:a16="http://schemas.microsoft.com/office/drawing/2014/main" id="{E938A480-F462-4A20-A5F1-2AEE9A7AFBD1}"/>
                </a:ext>
              </a:extLst>
            </p:cNvPr>
            <p:cNvSpPr txBox="1"/>
            <p:nvPr/>
          </p:nvSpPr>
          <p:spPr>
            <a:xfrm>
              <a:off x="4135417" y="5323645"/>
              <a:ext cx="46885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500">
                  <a:solidFill>
                    <a:schemeClr val="bg1"/>
                  </a:solidFill>
                </a:rPr>
                <a:t>전압</a:t>
              </a:r>
              <a:endParaRPr lang="ko-KR" altLang="en-US" sz="500" dirty="0">
                <a:solidFill>
                  <a:schemeClr val="bg1"/>
                </a:solidFill>
              </a:endParaRPr>
            </a:p>
          </p:txBody>
        </p:sp>
        <p:sp>
          <p:nvSpPr>
            <p:cNvPr id="435" name="TextBox 434">
              <a:extLst>
                <a:ext uri="{FF2B5EF4-FFF2-40B4-BE49-F238E27FC236}">
                  <a16:creationId xmlns:a16="http://schemas.microsoft.com/office/drawing/2014/main" id="{D3F5CA57-5E47-46DD-B370-5BC373342475}"/>
                </a:ext>
              </a:extLst>
            </p:cNvPr>
            <p:cNvSpPr txBox="1"/>
            <p:nvPr/>
          </p:nvSpPr>
          <p:spPr>
            <a:xfrm>
              <a:off x="4137027" y="5425750"/>
              <a:ext cx="46885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500" dirty="0">
                  <a:solidFill>
                    <a:schemeClr val="bg1"/>
                  </a:solidFill>
                </a:rPr>
                <a:t>전류</a:t>
              </a:r>
            </a:p>
          </p:txBody>
        </p:sp>
      </p:grpSp>
      <p:grpSp>
        <p:nvGrpSpPr>
          <p:cNvPr id="436" name="그룹 435">
            <a:extLst>
              <a:ext uri="{FF2B5EF4-FFF2-40B4-BE49-F238E27FC236}">
                <a16:creationId xmlns:a16="http://schemas.microsoft.com/office/drawing/2014/main" id="{B4CF9D69-E66E-46FA-A0AA-95D9E32E1A94}"/>
              </a:ext>
            </a:extLst>
          </p:cNvPr>
          <p:cNvGrpSpPr/>
          <p:nvPr/>
        </p:nvGrpSpPr>
        <p:grpSpPr>
          <a:xfrm>
            <a:off x="4928848" y="4105535"/>
            <a:ext cx="805559" cy="374585"/>
            <a:chOff x="4135417" y="5220442"/>
            <a:chExt cx="805559" cy="374585"/>
          </a:xfrm>
        </p:grpSpPr>
        <p:sp>
          <p:nvSpPr>
            <p:cNvPr id="437" name="TextBox 436">
              <a:extLst>
                <a:ext uri="{FF2B5EF4-FFF2-40B4-BE49-F238E27FC236}">
                  <a16:creationId xmlns:a16="http://schemas.microsoft.com/office/drawing/2014/main" id="{46A6162F-7322-4FDF-999D-ECEBAB0E33E6}"/>
                </a:ext>
              </a:extLst>
            </p:cNvPr>
            <p:cNvSpPr txBox="1"/>
            <p:nvPr/>
          </p:nvSpPr>
          <p:spPr>
            <a:xfrm>
              <a:off x="4179571" y="5220442"/>
              <a:ext cx="41835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600" dirty="0">
                  <a:solidFill>
                    <a:schemeClr val="bg1"/>
                  </a:solidFill>
                </a:rPr>
                <a:t>BMS_2</a:t>
              </a:r>
              <a:endParaRPr lang="ko-KR" altLang="en-US" sz="600" dirty="0">
                <a:solidFill>
                  <a:schemeClr val="bg1"/>
                </a:solidFill>
              </a:endParaRPr>
            </a:p>
          </p:txBody>
        </p:sp>
        <p:sp>
          <p:nvSpPr>
            <p:cNvPr id="438" name="TextBox 437">
              <a:extLst>
                <a:ext uri="{FF2B5EF4-FFF2-40B4-BE49-F238E27FC236}">
                  <a16:creationId xmlns:a16="http://schemas.microsoft.com/office/drawing/2014/main" id="{B9285299-4A4A-4DCF-8364-E7EF890A3CD5}"/>
                </a:ext>
              </a:extLst>
            </p:cNvPr>
            <p:cNvSpPr txBox="1"/>
            <p:nvPr/>
          </p:nvSpPr>
          <p:spPr>
            <a:xfrm>
              <a:off x="4342362" y="5334059"/>
              <a:ext cx="59861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500" dirty="0">
                  <a:solidFill>
                    <a:schemeClr val="bg1"/>
                  </a:solidFill>
                </a:rPr>
                <a:t>680.000 V</a:t>
              </a:r>
              <a:endParaRPr lang="ko-KR" altLang="en-US" sz="500" dirty="0">
                <a:solidFill>
                  <a:schemeClr val="bg1"/>
                </a:solidFill>
              </a:endParaRPr>
            </a:p>
          </p:txBody>
        </p:sp>
        <p:sp>
          <p:nvSpPr>
            <p:cNvPr id="439" name="TextBox 438">
              <a:extLst>
                <a:ext uri="{FF2B5EF4-FFF2-40B4-BE49-F238E27FC236}">
                  <a16:creationId xmlns:a16="http://schemas.microsoft.com/office/drawing/2014/main" id="{E833D090-BE10-4DE4-87F4-1CF184324E34}"/>
                </a:ext>
              </a:extLst>
            </p:cNvPr>
            <p:cNvSpPr txBox="1"/>
            <p:nvPr/>
          </p:nvSpPr>
          <p:spPr>
            <a:xfrm>
              <a:off x="4340620" y="5420843"/>
              <a:ext cx="59861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500" dirty="0">
                  <a:solidFill>
                    <a:schemeClr val="bg1"/>
                  </a:solidFill>
                </a:rPr>
                <a:t>0.000 V</a:t>
              </a:r>
              <a:endParaRPr lang="ko-KR" altLang="en-US" sz="500" dirty="0">
                <a:solidFill>
                  <a:schemeClr val="bg1"/>
                </a:solidFill>
              </a:endParaRPr>
            </a:p>
          </p:txBody>
        </p:sp>
        <p:sp>
          <p:nvSpPr>
            <p:cNvPr id="440" name="TextBox 439">
              <a:extLst>
                <a:ext uri="{FF2B5EF4-FFF2-40B4-BE49-F238E27FC236}">
                  <a16:creationId xmlns:a16="http://schemas.microsoft.com/office/drawing/2014/main" id="{B0F38BB0-CF3F-43CF-B9FD-3EE6E4A0C543}"/>
                </a:ext>
              </a:extLst>
            </p:cNvPr>
            <p:cNvSpPr txBox="1"/>
            <p:nvPr/>
          </p:nvSpPr>
          <p:spPr>
            <a:xfrm>
              <a:off x="4135417" y="5323645"/>
              <a:ext cx="46885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500">
                  <a:solidFill>
                    <a:schemeClr val="bg1"/>
                  </a:solidFill>
                </a:rPr>
                <a:t>전압</a:t>
              </a:r>
              <a:endParaRPr lang="ko-KR" altLang="en-US" sz="500" dirty="0">
                <a:solidFill>
                  <a:schemeClr val="bg1"/>
                </a:solidFill>
              </a:endParaRPr>
            </a:p>
          </p:txBody>
        </p:sp>
        <p:sp>
          <p:nvSpPr>
            <p:cNvPr id="441" name="TextBox 440">
              <a:extLst>
                <a:ext uri="{FF2B5EF4-FFF2-40B4-BE49-F238E27FC236}">
                  <a16:creationId xmlns:a16="http://schemas.microsoft.com/office/drawing/2014/main" id="{2B9D8D0A-A9BA-4698-9DCC-7C933518D7A1}"/>
                </a:ext>
              </a:extLst>
            </p:cNvPr>
            <p:cNvSpPr txBox="1"/>
            <p:nvPr/>
          </p:nvSpPr>
          <p:spPr>
            <a:xfrm>
              <a:off x="4137027" y="5425750"/>
              <a:ext cx="46885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500" dirty="0">
                  <a:solidFill>
                    <a:schemeClr val="bg1"/>
                  </a:solidFill>
                </a:rPr>
                <a:t>전류</a:t>
              </a:r>
            </a:p>
          </p:txBody>
        </p:sp>
      </p:grpSp>
      <p:grpSp>
        <p:nvGrpSpPr>
          <p:cNvPr id="442" name="그룹 441">
            <a:extLst>
              <a:ext uri="{FF2B5EF4-FFF2-40B4-BE49-F238E27FC236}">
                <a16:creationId xmlns:a16="http://schemas.microsoft.com/office/drawing/2014/main" id="{CD396AC9-A042-4125-96D7-3A6807E12473}"/>
              </a:ext>
            </a:extLst>
          </p:cNvPr>
          <p:cNvGrpSpPr/>
          <p:nvPr/>
        </p:nvGrpSpPr>
        <p:grpSpPr>
          <a:xfrm>
            <a:off x="2987545" y="4447583"/>
            <a:ext cx="776403" cy="451529"/>
            <a:chOff x="4137026" y="5220442"/>
            <a:chExt cx="542695" cy="451529"/>
          </a:xfrm>
        </p:grpSpPr>
        <p:sp>
          <p:nvSpPr>
            <p:cNvPr id="443" name="TextBox 442">
              <a:extLst>
                <a:ext uri="{FF2B5EF4-FFF2-40B4-BE49-F238E27FC236}">
                  <a16:creationId xmlns:a16="http://schemas.microsoft.com/office/drawing/2014/main" id="{C1406C38-2327-4378-86C1-18472C11D25E}"/>
                </a:ext>
              </a:extLst>
            </p:cNvPr>
            <p:cNvSpPr txBox="1"/>
            <p:nvPr/>
          </p:nvSpPr>
          <p:spPr>
            <a:xfrm>
              <a:off x="4179571" y="5220442"/>
              <a:ext cx="41835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dirty="0">
                  <a:solidFill>
                    <a:schemeClr val="bg1"/>
                  </a:solidFill>
                </a:rPr>
                <a:t>IOT_1</a:t>
              </a:r>
              <a:endParaRPr lang="ko-KR" altLang="en-US" sz="600" dirty="0">
                <a:solidFill>
                  <a:schemeClr val="bg1"/>
                </a:solidFill>
              </a:endParaRPr>
            </a:p>
          </p:txBody>
        </p:sp>
        <p:sp>
          <p:nvSpPr>
            <p:cNvPr id="444" name="TextBox 443">
              <a:extLst>
                <a:ext uri="{FF2B5EF4-FFF2-40B4-BE49-F238E27FC236}">
                  <a16:creationId xmlns:a16="http://schemas.microsoft.com/office/drawing/2014/main" id="{5D100E09-0B5A-44D6-944B-77FEE97B3CA3}"/>
                </a:ext>
              </a:extLst>
            </p:cNvPr>
            <p:cNvSpPr txBox="1"/>
            <p:nvPr/>
          </p:nvSpPr>
          <p:spPr>
            <a:xfrm>
              <a:off x="4142240" y="5323645"/>
              <a:ext cx="52680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500" b="1" dirty="0">
                  <a:solidFill>
                    <a:srgbClr val="92D050"/>
                  </a:solidFill>
                </a:rPr>
                <a:t>Connected</a:t>
              </a:r>
              <a:endParaRPr lang="ko-KR" altLang="en-US" sz="500" b="1" dirty="0">
                <a:solidFill>
                  <a:srgbClr val="92D050"/>
                </a:solidFill>
              </a:endParaRPr>
            </a:p>
          </p:txBody>
        </p:sp>
        <p:sp>
          <p:nvSpPr>
            <p:cNvPr id="445" name="TextBox 444">
              <a:extLst>
                <a:ext uri="{FF2B5EF4-FFF2-40B4-BE49-F238E27FC236}">
                  <a16:creationId xmlns:a16="http://schemas.microsoft.com/office/drawing/2014/main" id="{C8BE1A52-7A3B-42CC-A725-15CED43409AA}"/>
                </a:ext>
              </a:extLst>
            </p:cNvPr>
            <p:cNvSpPr txBox="1"/>
            <p:nvPr/>
          </p:nvSpPr>
          <p:spPr>
            <a:xfrm>
              <a:off x="4137026" y="5425750"/>
              <a:ext cx="54269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500" dirty="0">
                  <a:solidFill>
                    <a:schemeClr val="bg1"/>
                  </a:solidFill>
                </a:rPr>
                <a:t>2018-07-01 1:12:12</a:t>
              </a:r>
              <a:endParaRPr lang="ko-KR" altLang="en-US" sz="500" dirty="0">
                <a:solidFill>
                  <a:schemeClr val="bg1"/>
                </a:solidFill>
              </a:endParaRPr>
            </a:p>
          </p:txBody>
        </p:sp>
      </p:grpSp>
      <p:sp>
        <p:nvSpPr>
          <p:cNvPr id="446" name="사각형: 둥근 모서리 445">
            <a:extLst>
              <a:ext uri="{FF2B5EF4-FFF2-40B4-BE49-F238E27FC236}">
                <a16:creationId xmlns:a16="http://schemas.microsoft.com/office/drawing/2014/main" id="{5C7858E1-2AF8-43E0-ACD3-983D4FEC84B4}"/>
              </a:ext>
            </a:extLst>
          </p:cNvPr>
          <p:cNvSpPr/>
          <p:nvPr/>
        </p:nvSpPr>
        <p:spPr>
          <a:xfrm>
            <a:off x="3718638" y="4828332"/>
            <a:ext cx="599739" cy="307364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7" name="사각형: 둥근 모서리 446">
            <a:extLst>
              <a:ext uri="{FF2B5EF4-FFF2-40B4-BE49-F238E27FC236}">
                <a16:creationId xmlns:a16="http://schemas.microsoft.com/office/drawing/2014/main" id="{65425591-75A2-41CC-BD48-3AE894521459}"/>
              </a:ext>
            </a:extLst>
          </p:cNvPr>
          <p:cNvSpPr/>
          <p:nvPr/>
        </p:nvSpPr>
        <p:spPr>
          <a:xfrm>
            <a:off x="4369147" y="4828332"/>
            <a:ext cx="599739" cy="307364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8" name="사각형: 둥근 모서리 447">
            <a:extLst>
              <a:ext uri="{FF2B5EF4-FFF2-40B4-BE49-F238E27FC236}">
                <a16:creationId xmlns:a16="http://schemas.microsoft.com/office/drawing/2014/main" id="{5633C3B0-E239-4F7A-AED1-BBE24BD53263}"/>
              </a:ext>
            </a:extLst>
          </p:cNvPr>
          <p:cNvSpPr/>
          <p:nvPr/>
        </p:nvSpPr>
        <p:spPr>
          <a:xfrm>
            <a:off x="5019656" y="4828332"/>
            <a:ext cx="599739" cy="307364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9" name="사각형: 둥근 모서리 448">
            <a:extLst>
              <a:ext uri="{FF2B5EF4-FFF2-40B4-BE49-F238E27FC236}">
                <a16:creationId xmlns:a16="http://schemas.microsoft.com/office/drawing/2014/main" id="{4A6CF58A-3142-4A32-AD32-4AC0E71199F6}"/>
              </a:ext>
            </a:extLst>
          </p:cNvPr>
          <p:cNvSpPr/>
          <p:nvPr/>
        </p:nvSpPr>
        <p:spPr>
          <a:xfrm>
            <a:off x="3079907" y="4831035"/>
            <a:ext cx="599739" cy="307364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450" name="그룹 449">
            <a:extLst>
              <a:ext uri="{FF2B5EF4-FFF2-40B4-BE49-F238E27FC236}">
                <a16:creationId xmlns:a16="http://schemas.microsoft.com/office/drawing/2014/main" id="{6002517A-3BC1-41B3-B90C-1A00B0691E45}"/>
              </a:ext>
            </a:extLst>
          </p:cNvPr>
          <p:cNvGrpSpPr/>
          <p:nvPr/>
        </p:nvGrpSpPr>
        <p:grpSpPr>
          <a:xfrm>
            <a:off x="5779878" y="2893179"/>
            <a:ext cx="2492869" cy="314700"/>
            <a:chOff x="475933" y="4908190"/>
            <a:chExt cx="2804731" cy="314700"/>
          </a:xfrm>
        </p:grpSpPr>
        <p:sp>
          <p:nvSpPr>
            <p:cNvPr id="451" name="직사각형 450">
              <a:extLst>
                <a:ext uri="{FF2B5EF4-FFF2-40B4-BE49-F238E27FC236}">
                  <a16:creationId xmlns:a16="http://schemas.microsoft.com/office/drawing/2014/main" id="{FC237B28-FB14-4D6A-A87A-1BBC3A6D95F0}"/>
                </a:ext>
              </a:extLst>
            </p:cNvPr>
            <p:cNvSpPr/>
            <p:nvPr/>
          </p:nvSpPr>
          <p:spPr>
            <a:xfrm>
              <a:off x="475933" y="4929265"/>
              <a:ext cx="436148" cy="28800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altLang="ko-KR" sz="400" b="1">
                  <a:solidFill>
                    <a:srgbClr val="FFC000"/>
                  </a:solidFill>
                  <a:latin typeface="맑은 고딕" pitchFamily="50" charset="-127"/>
                  <a:ea typeface="맑은 고딕" pitchFamily="50" charset="-127"/>
                </a:rPr>
                <a:t>ESS</a:t>
              </a:r>
              <a:r>
                <a:rPr lang="ko-KR" altLang="en-US" sz="400" b="1">
                  <a:solidFill>
                    <a:srgbClr val="FFC000"/>
                  </a:solidFill>
                  <a:latin typeface="맑은 고딕" pitchFamily="50" charset="-127"/>
                  <a:ea typeface="맑은 고딕" pitchFamily="50" charset="-127"/>
                </a:rPr>
                <a:t> </a:t>
              </a:r>
              <a:r>
                <a:rPr lang="ko-KR" altLang="en-US" sz="400" b="1" dirty="0">
                  <a:solidFill>
                    <a:srgbClr val="FFC000"/>
                  </a:solidFill>
                  <a:latin typeface="맑은 고딕" pitchFamily="50" charset="-127"/>
                  <a:ea typeface="맑은 고딕" pitchFamily="50" charset="-127"/>
                </a:rPr>
                <a:t>수익</a:t>
              </a:r>
            </a:p>
          </p:txBody>
        </p:sp>
        <p:sp>
          <p:nvSpPr>
            <p:cNvPr id="452" name="직사각형 451">
              <a:extLst>
                <a:ext uri="{FF2B5EF4-FFF2-40B4-BE49-F238E27FC236}">
                  <a16:creationId xmlns:a16="http://schemas.microsoft.com/office/drawing/2014/main" id="{B80A5F55-CEE9-47A6-A5A8-96064AFBC61E}"/>
                </a:ext>
              </a:extLst>
            </p:cNvPr>
            <p:cNvSpPr/>
            <p:nvPr/>
          </p:nvSpPr>
          <p:spPr>
            <a:xfrm>
              <a:off x="753539" y="4915601"/>
              <a:ext cx="606962" cy="288032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0"/>
            <a:lstStyle/>
            <a:p>
              <a:pPr>
                <a:lnSpc>
                  <a:spcPct val="150000"/>
                </a:lnSpc>
              </a:pPr>
              <a:r>
                <a:rPr lang="en-US" altLang="ko-KR" sz="700" b="1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80,000</a:t>
              </a:r>
              <a:endParaRPr lang="ko-KR" altLang="en-US" sz="7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453" name="직사각형 452">
              <a:extLst>
                <a:ext uri="{FF2B5EF4-FFF2-40B4-BE49-F238E27FC236}">
                  <a16:creationId xmlns:a16="http://schemas.microsoft.com/office/drawing/2014/main" id="{F3372CB3-457F-4FFF-9FDF-D9D1720A8CE7}"/>
                </a:ext>
              </a:extLst>
            </p:cNvPr>
            <p:cNvSpPr/>
            <p:nvPr/>
          </p:nvSpPr>
          <p:spPr>
            <a:xfrm>
              <a:off x="1098838" y="4929265"/>
              <a:ext cx="436148" cy="28800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altLang="ko-KR" sz="400" b="1">
                  <a:solidFill>
                    <a:srgbClr val="00B0F0"/>
                  </a:solidFill>
                  <a:latin typeface="맑은 고딕" pitchFamily="50" charset="-127"/>
                  <a:ea typeface="맑은 고딕" pitchFamily="50" charset="-127"/>
                </a:rPr>
                <a:t>DR</a:t>
              </a:r>
              <a:r>
                <a:rPr lang="ko-KR" altLang="en-US" sz="400" b="1">
                  <a:solidFill>
                    <a:srgbClr val="00B0F0"/>
                  </a:solidFill>
                  <a:latin typeface="맑은 고딕" pitchFamily="50" charset="-127"/>
                  <a:ea typeface="맑은 고딕" pitchFamily="50" charset="-127"/>
                </a:rPr>
                <a:t> </a:t>
              </a:r>
              <a:r>
                <a:rPr lang="ko-KR" altLang="en-US" sz="400" b="1" dirty="0">
                  <a:solidFill>
                    <a:srgbClr val="00B0F0"/>
                  </a:solidFill>
                  <a:latin typeface="맑은 고딕" pitchFamily="50" charset="-127"/>
                  <a:ea typeface="맑은 고딕" pitchFamily="50" charset="-127"/>
                </a:rPr>
                <a:t>수익</a:t>
              </a:r>
            </a:p>
          </p:txBody>
        </p:sp>
        <p:sp>
          <p:nvSpPr>
            <p:cNvPr id="454" name="직사각형 453">
              <a:extLst>
                <a:ext uri="{FF2B5EF4-FFF2-40B4-BE49-F238E27FC236}">
                  <a16:creationId xmlns:a16="http://schemas.microsoft.com/office/drawing/2014/main" id="{36834FAD-D3F5-44A0-8AC0-AF51161B5AD6}"/>
                </a:ext>
              </a:extLst>
            </p:cNvPr>
            <p:cNvSpPr/>
            <p:nvPr/>
          </p:nvSpPr>
          <p:spPr>
            <a:xfrm>
              <a:off x="1364833" y="4915601"/>
              <a:ext cx="598101" cy="288032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0"/>
            <a:lstStyle/>
            <a:p>
              <a:pPr>
                <a:lnSpc>
                  <a:spcPct val="150000"/>
                </a:lnSpc>
              </a:pPr>
              <a:r>
                <a:rPr lang="en-US" altLang="ko-KR" sz="700" b="1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25,000</a:t>
              </a:r>
              <a:endParaRPr lang="ko-KR" altLang="en-US" sz="7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455" name="직사각형 454">
              <a:extLst>
                <a:ext uri="{FF2B5EF4-FFF2-40B4-BE49-F238E27FC236}">
                  <a16:creationId xmlns:a16="http://schemas.microsoft.com/office/drawing/2014/main" id="{75F5740F-BD95-4DB7-AB9D-8C04B6542EBC}"/>
                </a:ext>
              </a:extLst>
            </p:cNvPr>
            <p:cNvSpPr/>
            <p:nvPr/>
          </p:nvSpPr>
          <p:spPr>
            <a:xfrm>
              <a:off x="2134425" y="4934890"/>
              <a:ext cx="825695" cy="28800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150000"/>
                </a:lnSpc>
              </a:pPr>
              <a:r>
                <a:rPr lang="ko-KR" altLang="en-US" sz="400" b="1" dirty="0">
                  <a:solidFill>
                    <a:schemeClr val="accent6">
                      <a:lumMod val="75000"/>
                    </a:schemeClr>
                  </a:solidFill>
                  <a:latin typeface="맑은 고딕" pitchFamily="50" charset="-127"/>
                  <a:ea typeface="맑은 고딕" pitchFamily="50" charset="-127"/>
                </a:rPr>
                <a:t>전체 수익</a:t>
              </a:r>
            </a:p>
          </p:txBody>
        </p:sp>
        <p:sp>
          <p:nvSpPr>
            <p:cNvPr id="456" name="직사각형 455">
              <a:extLst>
                <a:ext uri="{FF2B5EF4-FFF2-40B4-BE49-F238E27FC236}">
                  <a16:creationId xmlns:a16="http://schemas.microsoft.com/office/drawing/2014/main" id="{094AC2F3-30E1-489F-9823-ED05F4A07CCA}"/>
                </a:ext>
              </a:extLst>
            </p:cNvPr>
            <p:cNvSpPr/>
            <p:nvPr/>
          </p:nvSpPr>
          <p:spPr>
            <a:xfrm>
              <a:off x="2615847" y="4921226"/>
              <a:ext cx="664817" cy="288032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0"/>
            <a:lstStyle/>
            <a:p>
              <a:pPr>
                <a:lnSpc>
                  <a:spcPct val="150000"/>
                </a:lnSpc>
              </a:pPr>
              <a:r>
                <a:rPr lang="en-US" altLang="ko-KR" sz="700" b="1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120,000</a:t>
              </a:r>
              <a:endParaRPr lang="ko-KR" altLang="en-US" sz="7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457" name="직사각형 456">
              <a:extLst>
                <a:ext uri="{FF2B5EF4-FFF2-40B4-BE49-F238E27FC236}">
                  <a16:creationId xmlns:a16="http://schemas.microsoft.com/office/drawing/2014/main" id="{89B6A0BE-DC83-4E1F-B5DF-0097C73D9B60}"/>
                </a:ext>
              </a:extLst>
            </p:cNvPr>
            <p:cNvSpPr/>
            <p:nvPr/>
          </p:nvSpPr>
          <p:spPr>
            <a:xfrm>
              <a:off x="1708458" y="4921854"/>
              <a:ext cx="436148" cy="28800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altLang="ko-KR" sz="400" b="1">
                  <a:solidFill>
                    <a:srgbClr val="00B050"/>
                  </a:solidFill>
                  <a:latin typeface="맑은 고딕" pitchFamily="50" charset="-127"/>
                  <a:ea typeface="맑은 고딕" pitchFamily="50" charset="-127"/>
                </a:rPr>
                <a:t>PV</a:t>
              </a:r>
              <a:r>
                <a:rPr lang="ko-KR" altLang="en-US" sz="400" b="1">
                  <a:solidFill>
                    <a:srgbClr val="00B050"/>
                  </a:solidFill>
                  <a:latin typeface="맑은 고딕" pitchFamily="50" charset="-127"/>
                  <a:ea typeface="맑은 고딕" pitchFamily="50" charset="-127"/>
                </a:rPr>
                <a:t> </a:t>
              </a:r>
              <a:r>
                <a:rPr lang="ko-KR" altLang="en-US" sz="400" b="1" dirty="0">
                  <a:solidFill>
                    <a:srgbClr val="00B050"/>
                  </a:solidFill>
                  <a:latin typeface="맑은 고딕" pitchFamily="50" charset="-127"/>
                  <a:ea typeface="맑은 고딕" pitchFamily="50" charset="-127"/>
                </a:rPr>
                <a:t>수익</a:t>
              </a:r>
            </a:p>
          </p:txBody>
        </p:sp>
        <p:sp>
          <p:nvSpPr>
            <p:cNvPr id="458" name="직사각형 457">
              <a:extLst>
                <a:ext uri="{FF2B5EF4-FFF2-40B4-BE49-F238E27FC236}">
                  <a16:creationId xmlns:a16="http://schemas.microsoft.com/office/drawing/2014/main" id="{3B5700DA-C1E6-48D0-91E4-4ACA810A7AA4}"/>
                </a:ext>
              </a:extLst>
            </p:cNvPr>
            <p:cNvSpPr/>
            <p:nvPr/>
          </p:nvSpPr>
          <p:spPr>
            <a:xfrm>
              <a:off x="1972163" y="4908190"/>
              <a:ext cx="598101" cy="288032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0"/>
            <a:lstStyle/>
            <a:p>
              <a:pPr>
                <a:lnSpc>
                  <a:spcPct val="150000"/>
                </a:lnSpc>
              </a:pPr>
              <a:r>
                <a:rPr lang="en-US" altLang="ko-KR" sz="700" b="1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15,000</a:t>
              </a:r>
              <a:endParaRPr lang="ko-KR" altLang="en-US" sz="7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pic>
        <p:nvPicPr>
          <p:cNvPr id="459" name="그림 458">
            <a:extLst>
              <a:ext uri="{FF2B5EF4-FFF2-40B4-BE49-F238E27FC236}">
                <a16:creationId xmlns:a16="http://schemas.microsoft.com/office/drawing/2014/main" id="{060517E4-FE68-4987-9EA6-A21888D93CA4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98623" y="4914501"/>
            <a:ext cx="2540384" cy="1109333"/>
          </a:xfrm>
          <a:prstGeom prst="rect">
            <a:avLst/>
          </a:prstGeom>
        </p:spPr>
      </p:pic>
      <p:pic>
        <p:nvPicPr>
          <p:cNvPr id="460" name="Picture 2" descr="ì¤ì ì ëí ì´ë¯¸ì§ ê²ìê²°ê³¼">
            <a:extLst>
              <a:ext uri="{FF2B5EF4-FFF2-40B4-BE49-F238E27FC236}">
                <a16:creationId xmlns:a16="http://schemas.microsoft.com/office/drawing/2014/main" id="{D99997BE-93A2-4996-ADC1-7BE1DBC0BF7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13240" y="875775"/>
            <a:ext cx="198592" cy="19859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61" name="직사각형 460">
            <a:extLst>
              <a:ext uri="{FF2B5EF4-FFF2-40B4-BE49-F238E27FC236}">
                <a16:creationId xmlns:a16="http://schemas.microsoft.com/office/drawing/2014/main" id="{D129DD39-D513-4E60-976E-32FEFDFA0989}"/>
              </a:ext>
            </a:extLst>
          </p:cNvPr>
          <p:cNvSpPr/>
          <p:nvPr/>
        </p:nvSpPr>
        <p:spPr>
          <a:xfrm>
            <a:off x="6295753" y="2514956"/>
            <a:ext cx="115200" cy="143890"/>
          </a:xfrm>
          <a:prstGeom prst="rect">
            <a:avLst/>
          </a:prstGeom>
          <a:solidFill>
            <a:srgbClr val="00B05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grpSp>
        <p:nvGrpSpPr>
          <p:cNvPr id="462" name="그룹 461">
            <a:extLst>
              <a:ext uri="{FF2B5EF4-FFF2-40B4-BE49-F238E27FC236}">
                <a16:creationId xmlns:a16="http://schemas.microsoft.com/office/drawing/2014/main" id="{6414EDAA-7DA0-4551-B071-8429CA708790}"/>
              </a:ext>
            </a:extLst>
          </p:cNvPr>
          <p:cNvGrpSpPr/>
          <p:nvPr/>
        </p:nvGrpSpPr>
        <p:grpSpPr>
          <a:xfrm>
            <a:off x="6129387" y="3492583"/>
            <a:ext cx="1912013" cy="1068681"/>
            <a:chOff x="1180851" y="2959945"/>
            <a:chExt cx="7495605" cy="1884776"/>
          </a:xfrm>
        </p:grpSpPr>
        <p:cxnSp>
          <p:nvCxnSpPr>
            <p:cNvPr id="463" name="직선 연결선 462">
              <a:extLst>
                <a:ext uri="{FF2B5EF4-FFF2-40B4-BE49-F238E27FC236}">
                  <a16:creationId xmlns:a16="http://schemas.microsoft.com/office/drawing/2014/main" id="{4E438C50-280A-4E8A-8979-82BA65F2FCA9}"/>
                </a:ext>
              </a:extLst>
            </p:cNvPr>
            <p:cNvCxnSpPr/>
            <p:nvPr/>
          </p:nvCxnSpPr>
          <p:spPr>
            <a:xfrm>
              <a:off x="1187624" y="2959945"/>
              <a:ext cx="7488832" cy="0"/>
            </a:xfrm>
            <a:prstGeom prst="line">
              <a:avLst/>
            </a:prstGeom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4" name="직선 연결선 463">
              <a:extLst>
                <a:ext uri="{FF2B5EF4-FFF2-40B4-BE49-F238E27FC236}">
                  <a16:creationId xmlns:a16="http://schemas.microsoft.com/office/drawing/2014/main" id="{2F4FF69F-6D91-403A-8585-523E6F5A14D6}"/>
                </a:ext>
              </a:extLst>
            </p:cNvPr>
            <p:cNvCxnSpPr/>
            <p:nvPr/>
          </p:nvCxnSpPr>
          <p:spPr>
            <a:xfrm>
              <a:off x="1187624" y="3935861"/>
              <a:ext cx="7488832" cy="0"/>
            </a:xfrm>
            <a:prstGeom prst="line">
              <a:avLst/>
            </a:prstGeom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65" name="그룹 464">
              <a:extLst>
                <a:ext uri="{FF2B5EF4-FFF2-40B4-BE49-F238E27FC236}">
                  <a16:creationId xmlns:a16="http://schemas.microsoft.com/office/drawing/2014/main" id="{35E28C3F-5563-4821-A243-F99D301DFE85}"/>
                </a:ext>
              </a:extLst>
            </p:cNvPr>
            <p:cNvGrpSpPr/>
            <p:nvPr/>
          </p:nvGrpSpPr>
          <p:grpSpPr>
            <a:xfrm flipH="1" flipV="1">
              <a:off x="4357435" y="3939476"/>
              <a:ext cx="2688227" cy="652703"/>
              <a:chOff x="1501760" y="2998490"/>
              <a:chExt cx="2520272" cy="1366614"/>
            </a:xfrm>
          </p:grpSpPr>
          <p:sp>
            <p:nvSpPr>
              <p:cNvPr id="484" name="직사각형 483">
                <a:extLst>
                  <a:ext uri="{FF2B5EF4-FFF2-40B4-BE49-F238E27FC236}">
                    <a16:creationId xmlns:a16="http://schemas.microsoft.com/office/drawing/2014/main" id="{8839EC80-14B3-4A07-95C9-B62F5F872953}"/>
                  </a:ext>
                </a:extLst>
              </p:cNvPr>
              <p:cNvSpPr/>
              <p:nvPr/>
            </p:nvSpPr>
            <p:spPr>
              <a:xfrm>
                <a:off x="1501760" y="4217882"/>
                <a:ext cx="72000" cy="147222"/>
              </a:xfrm>
              <a:prstGeom prst="rect">
                <a:avLst/>
              </a:prstGeom>
              <a:solidFill>
                <a:schemeClr val="tx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485" name="직사각형 484">
                <a:extLst>
                  <a:ext uri="{FF2B5EF4-FFF2-40B4-BE49-F238E27FC236}">
                    <a16:creationId xmlns:a16="http://schemas.microsoft.com/office/drawing/2014/main" id="{17051889-0764-472E-BBA3-12211AA49976}"/>
                  </a:ext>
                </a:extLst>
              </p:cNvPr>
              <p:cNvSpPr/>
              <p:nvPr/>
            </p:nvSpPr>
            <p:spPr>
              <a:xfrm>
                <a:off x="3950032" y="2998490"/>
                <a:ext cx="72000" cy="1366614"/>
              </a:xfrm>
              <a:prstGeom prst="rect">
                <a:avLst/>
              </a:prstGeom>
              <a:solidFill>
                <a:schemeClr val="tx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486" name="직사각형 485">
                <a:extLst>
                  <a:ext uri="{FF2B5EF4-FFF2-40B4-BE49-F238E27FC236}">
                    <a16:creationId xmlns:a16="http://schemas.microsoft.com/office/drawing/2014/main" id="{C86FC7A2-319A-4B25-9EA7-E181D861A467}"/>
                  </a:ext>
                </a:extLst>
              </p:cNvPr>
              <p:cNvSpPr/>
              <p:nvPr/>
            </p:nvSpPr>
            <p:spPr>
              <a:xfrm>
                <a:off x="3638317" y="3069104"/>
                <a:ext cx="72000" cy="1296000"/>
              </a:xfrm>
              <a:prstGeom prst="rect">
                <a:avLst/>
              </a:prstGeom>
              <a:solidFill>
                <a:schemeClr val="tx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487" name="직사각형 486">
                <a:extLst>
                  <a:ext uri="{FF2B5EF4-FFF2-40B4-BE49-F238E27FC236}">
                    <a16:creationId xmlns:a16="http://schemas.microsoft.com/office/drawing/2014/main" id="{4C1D79D9-4668-4E6C-8775-D8749033BC27}"/>
                  </a:ext>
                </a:extLst>
              </p:cNvPr>
              <p:cNvSpPr/>
              <p:nvPr/>
            </p:nvSpPr>
            <p:spPr>
              <a:xfrm>
                <a:off x="3327361" y="3214514"/>
                <a:ext cx="72000" cy="1150590"/>
              </a:xfrm>
              <a:prstGeom prst="rect">
                <a:avLst/>
              </a:prstGeom>
              <a:solidFill>
                <a:schemeClr val="tx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488" name="직사각형 487">
                <a:extLst>
                  <a:ext uri="{FF2B5EF4-FFF2-40B4-BE49-F238E27FC236}">
                    <a16:creationId xmlns:a16="http://schemas.microsoft.com/office/drawing/2014/main" id="{6F83FEB5-F899-498C-83E9-E5BF9DB42513}"/>
                  </a:ext>
                </a:extLst>
              </p:cNvPr>
              <p:cNvSpPr/>
              <p:nvPr/>
            </p:nvSpPr>
            <p:spPr>
              <a:xfrm>
                <a:off x="3013928" y="3575612"/>
                <a:ext cx="72000" cy="789492"/>
              </a:xfrm>
              <a:prstGeom prst="rect">
                <a:avLst/>
              </a:prstGeom>
              <a:solidFill>
                <a:schemeClr val="tx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489" name="직사각형 488">
                <a:extLst>
                  <a:ext uri="{FF2B5EF4-FFF2-40B4-BE49-F238E27FC236}">
                    <a16:creationId xmlns:a16="http://schemas.microsoft.com/office/drawing/2014/main" id="{189BE6F7-91B0-470A-A0F0-FEFFE3C53D45}"/>
                  </a:ext>
                </a:extLst>
              </p:cNvPr>
              <p:cNvSpPr/>
              <p:nvPr/>
            </p:nvSpPr>
            <p:spPr>
              <a:xfrm>
                <a:off x="2748848" y="3681104"/>
                <a:ext cx="72000" cy="684000"/>
              </a:xfrm>
              <a:prstGeom prst="rect">
                <a:avLst/>
              </a:prstGeom>
              <a:solidFill>
                <a:schemeClr val="tx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490" name="직사각형 489">
                <a:extLst>
                  <a:ext uri="{FF2B5EF4-FFF2-40B4-BE49-F238E27FC236}">
                    <a16:creationId xmlns:a16="http://schemas.microsoft.com/office/drawing/2014/main" id="{9A2FAEA2-BAD3-4C50-A651-9DD92A3B5AD7}"/>
                  </a:ext>
                </a:extLst>
              </p:cNvPr>
              <p:cNvSpPr/>
              <p:nvPr/>
            </p:nvSpPr>
            <p:spPr>
              <a:xfrm>
                <a:off x="2437864" y="3807104"/>
                <a:ext cx="72000" cy="558000"/>
              </a:xfrm>
              <a:prstGeom prst="rect">
                <a:avLst/>
              </a:prstGeom>
              <a:solidFill>
                <a:schemeClr val="tx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491" name="직사각형 490">
                <a:extLst>
                  <a:ext uri="{FF2B5EF4-FFF2-40B4-BE49-F238E27FC236}">
                    <a16:creationId xmlns:a16="http://schemas.microsoft.com/office/drawing/2014/main" id="{24523943-27EC-4A64-AD17-44891C083199}"/>
                  </a:ext>
                </a:extLst>
              </p:cNvPr>
              <p:cNvSpPr/>
              <p:nvPr/>
            </p:nvSpPr>
            <p:spPr>
              <a:xfrm>
                <a:off x="2123923" y="3862586"/>
                <a:ext cx="72000" cy="502518"/>
              </a:xfrm>
              <a:prstGeom prst="rect">
                <a:avLst/>
              </a:prstGeom>
              <a:solidFill>
                <a:schemeClr val="tx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492" name="직사각형 491">
                <a:extLst>
                  <a:ext uri="{FF2B5EF4-FFF2-40B4-BE49-F238E27FC236}">
                    <a16:creationId xmlns:a16="http://schemas.microsoft.com/office/drawing/2014/main" id="{29095B68-5F99-46B0-96BC-A3F8EA895993}"/>
                  </a:ext>
                </a:extLst>
              </p:cNvPr>
              <p:cNvSpPr/>
              <p:nvPr/>
            </p:nvSpPr>
            <p:spPr>
              <a:xfrm>
                <a:off x="1789792" y="4059104"/>
                <a:ext cx="72000" cy="306000"/>
              </a:xfrm>
              <a:prstGeom prst="rect">
                <a:avLst/>
              </a:prstGeom>
              <a:solidFill>
                <a:schemeClr val="tx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</p:grpSp>
        <p:grpSp>
          <p:nvGrpSpPr>
            <p:cNvPr id="466" name="그룹 465">
              <a:extLst>
                <a:ext uri="{FF2B5EF4-FFF2-40B4-BE49-F238E27FC236}">
                  <a16:creationId xmlns:a16="http://schemas.microsoft.com/office/drawing/2014/main" id="{F2EEA1DA-8027-44F4-9C6D-5020FD8B7836}"/>
                </a:ext>
              </a:extLst>
            </p:cNvPr>
            <p:cNvGrpSpPr/>
            <p:nvPr/>
          </p:nvGrpSpPr>
          <p:grpSpPr>
            <a:xfrm>
              <a:off x="1403648" y="3249056"/>
              <a:ext cx="2520272" cy="684000"/>
              <a:chOff x="1403648" y="2780928"/>
              <a:chExt cx="2520272" cy="1584176"/>
            </a:xfrm>
          </p:grpSpPr>
          <p:sp>
            <p:nvSpPr>
              <p:cNvPr id="475" name="직사각형 474">
                <a:extLst>
                  <a:ext uri="{FF2B5EF4-FFF2-40B4-BE49-F238E27FC236}">
                    <a16:creationId xmlns:a16="http://schemas.microsoft.com/office/drawing/2014/main" id="{A353202F-C31F-4BE0-8605-EB8571781B5C}"/>
                  </a:ext>
                </a:extLst>
              </p:cNvPr>
              <p:cNvSpPr/>
              <p:nvPr/>
            </p:nvSpPr>
            <p:spPr>
              <a:xfrm>
                <a:off x="1403648" y="4185104"/>
                <a:ext cx="72000" cy="180000"/>
              </a:xfrm>
              <a:prstGeom prst="rect">
                <a:avLst/>
              </a:pr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476" name="직사각형 475">
                <a:extLst>
                  <a:ext uri="{FF2B5EF4-FFF2-40B4-BE49-F238E27FC236}">
                    <a16:creationId xmlns:a16="http://schemas.microsoft.com/office/drawing/2014/main" id="{EACABA88-0725-43BA-84A5-ED0A0AA53195}"/>
                  </a:ext>
                </a:extLst>
              </p:cNvPr>
              <p:cNvSpPr/>
              <p:nvPr/>
            </p:nvSpPr>
            <p:spPr>
              <a:xfrm>
                <a:off x="3540205" y="2998490"/>
                <a:ext cx="72000" cy="1366614"/>
              </a:xfrm>
              <a:prstGeom prst="rect">
                <a:avLst/>
              </a:pr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477" name="직사각형 476">
                <a:extLst>
                  <a:ext uri="{FF2B5EF4-FFF2-40B4-BE49-F238E27FC236}">
                    <a16:creationId xmlns:a16="http://schemas.microsoft.com/office/drawing/2014/main" id="{B8B55730-266D-49B8-AEC8-0795FB952262}"/>
                  </a:ext>
                </a:extLst>
              </p:cNvPr>
              <p:cNvSpPr/>
              <p:nvPr/>
            </p:nvSpPr>
            <p:spPr>
              <a:xfrm>
                <a:off x="3229249" y="3249104"/>
                <a:ext cx="72000" cy="1116000"/>
              </a:xfrm>
              <a:prstGeom prst="rect">
                <a:avLst/>
              </a:pr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478" name="직사각형 477">
                <a:extLst>
                  <a:ext uri="{FF2B5EF4-FFF2-40B4-BE49-F238E27FC236}">
                    <a16:creationId xmlns:a16="http://schemas.microsoft.com/office/drawing/2014/main" id="{D93401C5-6627-45CD-9FB8-F3A36F2C97E9}"/>
                  </a:ext>
                </a:extLst>
              </p:cNvPr>
              <p:cNvSpPr/>
              <p:nvPr/>
            </p:nvSpPr>
            <p:spPr>
              <a:xfrm>
                <a:off x="2915816" y="3429104"/>
                <a:ext cx="72000" cy="936000"/>
              </a:xfrm>
              <a:prstGeom prst="rect">
                <a:avLst/>
              </a:pr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479" name="직사각형 478">
                <a:extLst>
                  <a:ext uri="{FF2B5EF4-FFF2-40B4-BE49-F238E27FC236}">
                    <a16:creationId xmlns:a16="http://schemas.microsoft.com/office/drawing/2014/main" id="{714BFE09-26A2-448B-B896-C43C34840654}"/>
                  </a:ext>
                </a:extLst>
              </p:cNvPr>
              <p:cNvSpPr/>
              <p:nvPr/>
            </p:nvSpPr>
            <p:spPr>
              <a:xfrm>
                <a:off x="2650736" y="3575612"/>
                <a:ext cx="72000" cy="789492"/>
              </a:xfrm>
              <a:prstGeom prst="rect">
                <a:avLst/>
              </a:pr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480" name="직사각형 479">
                <a:extLst>
                  <a:ext uri="{FF2B5EF4-FFF2-40B4-BE49-F238E27FC236}">
                    <a16:creationId xmlns:a16="http://schemas.microsoft.com/office/drawing/2014/main" id="{D0DFEA01-835C-4AC7-B287-DB252E30B907}"/>
                  </a:ext>
                </a:extLst>
              </p:cNvPr>
              <p:cNvSpPr/>
              <p:nvPr/>
            </p:nvSpPr>
            <p:spPr>
              <a:xfrm>
                <a:off x="2339752" y="3753104"/>
                <a:ext cx="72000" cy="612000"/>
              </a:xfrm>
              <a:prstGeom prst="rect">
                <a:avLst/>
              </a:pr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481" name="직사각형 480">
                <a:extLst>
                  <a:ext uri="{FF2B5EF4-FFF2-40B4-BE49-F238E27FC236}">
                    <a16:creationId xmlns:a16="http://schemas.microsoft.com/office/drawing/2014/main" id="{03C4ECA9-3682-4285-AAB9-BBD3D029A7BE}"/>
                  </a:ext>
                </a:extLst>
              </p:cNvPr>
              <p:cNvSpPr/>
              <p:nvPr/>
            </p:nvSpPr>
            <p:spPr>
              <a:xfrm>
                <a:off x="2025811" y="3933104"/>
                <a:ext cx="72000" cy="432000"/>
              </a:xfrm>
              <a:prstGeom prst="rect">
                <a:avLst/>
              </a:pr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482" name="직사각형 481">
                <a:extLst>
                  <a:ext uri="{FF2B5EF4-FFF2-40B4-BE49-F238E27FC236}">
                    <a16:creationId xmlns:a16="http://schemas.microsoft.com/office/drawing/2014/main" id="{58272A6E-C84D-4156-80DD-360DA4A879B7}"/>
                  </a:ext>
                </a:extLst>
              </p:cNvPr>
              <p:cNvSpPr/>
              <p:nvPr/>
            </p:nvSpPr>
            <p:spPr>
              <a:xfrm>
                <a:off x="1691680" y="4005104"/>
                <a:ext cx="72000" cy="360000"/>
              </a:xfrm>
              <a:prstGeom prst="rect">
                <a:avLst/>
              </a:pr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483" name="직사각형 482">
                <a:extLst>
                  <a:ext uri="{FF2B5EF4-FFF2-40B4-BE49-F238E27FC236}">
                    <a16:creationId xmlns:a16="http://schemas.microsoft.com/office/drawing/2014/main" id="{5B8E3EF5-207B-412C-A3F4-005D3ABDCB17}"/>
                  </a:ext>
                </a:extLst>
              </p:cNvPr>
              <p:cNvSpPr/>
              <p:nvPr/>
            </p:nvSpPr>
            <p:spPr>
              <a:xfrm>
                <a:off x="3851920" y="2780928"/>
                <a:ext cx="72000" cy="1584176"/>
              </a:xfrm>
              <a:prstGeom prst="rect">
                <a:avLst/>
              </a:pr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</p:grpSp>
        <p:grpSp>
          <p:nvGrpSpPr>
            <p:cNvPr id="467" name="그룹 466">
              <a:extLst>
                <a:ext uri="{FF2B5EF4-FFF2-40B4-BE49-F238E27FC236}">
                  <a16:creationId xmlns:a16="http://schemas.microsoft.com/office/drawing/2014/main" id="{E63B3EAB-76A1-4DD7-B0B8-273973E079E0}"/>
                </a:ext>
              </a:extLst>
            </p:cNvPr>
            <p:cNvGrpSpPr/>
            <p:nvPr/>
          </p:nvGrpSpPr>
          <p:grpSpPr>
            <a:xfrm>
              <a:off x="7308297" y="3782267"/>
              <a:ext cx="353772" cy="155437"/>
              <a:chOff x="1403648" y="4005104"/>
              <a:chExt cx="360032" cy="360000"/>
            </a:xfrm>
          </p:grpSpPr>
          <p:sp>
            <p:nvSpPr>
              <p:cNvPr id="473" name="직사각형 472">
                <a:extLst>
                  <a:ext uri="{FF2B5EF4-FFF2-40B4-BE49-F238E27FC236}">
                    <a16:creationId xmlns:a16="http://schemas.microsoft.com/office/drawing/2014/main" id="{192018BB-ECC9-4125-BB01-CB63F12CA426}"/>
                  </a:ext>
                </a:extLst>
              </p:cNvPr>
              <p:cNvSpPr/>
              <p:nvPr/>
            </p:nvSpPr>
            <p:spPr>
              <a:xfrm>
                <a:off x="1403648" y="4185104"/>
                <a:ext cx="72000" cy="180000"/>
              </a:xfrm>
              <a:prstGeom prst="rect">
                <a:avLst/>
              </a:pr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474" name="직사각형 473">
                <a:extLst>
                  <a:ext uri="{FF2B5EF4-FFF2-40B4-BE49-F238E27FC236}">
                    <a16:creationId xmlns:a16="http://schemas.microsoft.com/office/drawing/2014/main" id="{70DDEEBD-35A8-498E-A699-8B171417EB94}"/>
                  </a:ext>
                </a:extLst>
              </p:cNvPr>
              <p:cNvSpPr/>
              <p:nvPr/>
            </p:nvSpPr>
            <p:spPr>
              <a:xfrm>
                <a:off x="1691680" y="4005104"/>
                <a:ext cx="72000" cy="360000"/>
              </a:xfrm>
              <a:prstGeom prst="rect">
                <a:avLst/>
              </a:pr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</p:grpSp>
        <p:cxnSp>
          <p:nvCxnSpPr>
            <p:cNvPr id="468" name="직선 연결선 467">
              <a:extLst>
                <a:ext uri="{FF2B5EF4-FFF2-40B4-BE49-F238E27FC236}">
                  <a16:creationId xmlns:a16="http://schemas.microsoft.com/office/drawing/2014/main" id="{B375C60D-D2C9-4EA1-8478-A2F4454CD769}"/>
                </a:ext>
              </a:extLst>
            </p:cNvPr>
            <p:cNvCxnSpPr/>
            <p:nvPr/>
          </p:nvCxnSpPr>
          <p:spPr>
            <a:xfrm>
              <a:off x="1180851" y="4316387"/>
              <a:ext cx="7488832" cy="0"/>
            </a:xfrm>
            <a:prstGeom prst="line">
              <a:avLst/>
            </a:prstGeom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9" name="직선 연결선 468">
              <a:extLst>
                <a:ext uri="{FF2B5EF4-FFF2-40B4-BE49-F238E27FC236}">
                  <a16:creationId xmlns:a16="http://schemas.microsoft.com/office/drawing/2014/main" id="{2827D82E-F4C1-491A-A7A1-44A01AC780D9}"/>
                </a:ext>
              </a:extLst>
            </p:cNvPr>
            <p:cNvCxnSpPr/>
            <p:nvPr/>
          </p:nvCxnSpPr>
          <p:spPr>
            <a:xfrm>
              <a:off x="1180851" y="3376982"/>
              <a:ext cx="7488832" cy="0"/>
            </a:xfrm>
            <a:prstGeom prst="line">
              <a:avLst/>
            </a:prstGeom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0" name="직선 연결선 469">
              <a:extLst>
                <a:ext uri="{FF2B5EF4-FFF2-40B4-BE49-F238E27FC236}">
                  <a16:creationId xmlns:a16="http://schemas.microsoft.com/office/drawing/2014/main" id="{DDA2EA01-ADFA-48C8-8C11-34473F3AE2D8}"/>
                </a:ext>
              </a:extLst>
            </p:cNvPr>
            <p:cNvCxnSpPr/>
            <p:nvPr/>
          </p:nvCxnSpPr>
          <p:spPr>
            <a:xfrm>
              <a:off x="1180851" y="4844721"/>
              <a:ext cx="7488832" cy="0"/>
            </a:xfrm>
            <a:prstGeom prst="line">
              <a:avLst/>
            </a:prstGeom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71" name="자유형 33">
              <a:extLst>
                <a:ext uri="{FF2B5EF4-FFF2-40B4-BE49-F238E27FC236}">
                  <a16:creationId xmlns:a16="http://schemas.microsoft.com/office/drawing/2014/main" id="{33744CBA-A90A-4475-8822-9A4CFB9A61BB}"/>
                </a:ext>
              </a:extLst>
            </p:cNvPr>
            <p:cNvSpPr/>
            <p:nvPr/>
          </p:nvSpPr>
          <p:spPr>
            <a:xfrm flipH="1" flipV="1">
              <a:off x="4353593" y="3937702"/>
              <a:ext cx="2689623" cy="684001"/>
            </a:xfrm>
            <a:custGeom>
              <a:avLst/>
              <a:gdLst>
                <a:gd name="connsiteX0" fmla="*/ 0 w 4368800"/>
                <a:gd name="connsiteY0" fmla="*/ 389467 h 414867"/>
                <a:gd name="connsiteX1" fmla="*/ 270933 w 4368800"/>
                <a:gd name="connsiteY1" fmla="*/ 321733 h 414867"/>
                <a:gd name="connsiteX2" fmla="*/ 575733 w 4368800"/>
                <a:gd name="connsiteY2" fmla="*/ 414867 h 414867"/>
                <a:gd name="connsiteX3" fmla="*/ 880533 w 4368800"/>
                <a:gd name="connsiteY3" fmla="*/ 355600 h 414867"/>
                <a:gd name="connsiteX4" fmla="*/ 1134533 w 4368800"/>
                <a:gd name="connsiteY4" fmla="*/ 203200 h 414867"/>
                <a:gd name="connsiteX5" fmla="*/ 1456266 w 4368800"/>
                <a:gd name="connsiteY5" fmla="*/ 313267 h 414867"/>
                <a:gd name="connsiteX6" fmla="*/ 1727200 w 4368800"/>
                <a:gd name="connsiteY6" fmla="*/ 254000 h 414867"/>
                <a:gd name="connsiteX7" fmla="*/ 1998133 w 4368800"/>
                <a:gd name="connsiteY7" fmla="*/ 135467 h 414867"/>
                <a:gd name="connsiteX8" fmla="*/ 2353733 w 4368800"/>
                <a:gd name="connsiteY8" fmla="*/ 287867 h 414867"/>
                <a:gd name="connsiteX9" fmla="*/ 2607733 w 4368800"/>
                <a:gd name="connsiteY9" fmla="*/ 169333 h 414867"/>
                <a:gd name="connsiteX10" fmla="*/ 2946400 w 4368800"/>
                <a:gd name="connsiteY10" fmla="*/ 211667 h 414867"/>
                <a:gd name="connsiteX11" fmla="*/ 3234266 w 4368800"/>
                <a:gd name="connsiteY11" fmla="*/ 203200 h 414867"/>
                <a:gd name="connsiteX12" fmla="*/ 3505200 w 4368800"/>
                <a:gd name="connsiteY12" fmla="*/ 0 h 414867"/>
                <a:gd name="connsiteX13" fmla="*/ 3810000 w 4368800"/>
                <a:gd name="connsiteY13" fmla="*/ 135467 h 414867"/>
                <a:gd name="connsiteX14" fmla="*/ 4097866 w 4368800"/>
                <a:gd name="connsiteY14" fmla="*/ 42333 h 414867"/>
                <a:gd name="connsiteX15" fmla="*/ 4368800 w 4368800"/>
                <a:gd name="connsiteY15" fmla="*/ 118533 h 414867"/>
                <a:gd name="connsiteX0" fmla="*/ 0 w 4368800"/>
                <a:gd name="connsiteY0" fmla="*/ 524934 h 524934"/>
                <a:gd name="connsiteX1" fmla="*/ 270933 w 4368800"/>
                <a:gd name="connsiteY1" fmla="*/ 321733 h 524934"/>
                <a:gd name="connsiteX2" fmla="*/ 575733 w 4368800"/>
                <a:gd name="connsiteY2" fmla="*/ 414867 h 524934"/>
                <a:gd name="connsiteX3" fmla="*/ 880533 w 4368800"/>
                <a:gd name="connsiteY3" fmla="*/ 355600 h 524934"/>
                <a:gd name="connsiteX4" fmla="*/ 1134533 w 4368800"/>
                <a:gd name="connsiteY4" fmla="*/ 203200 h 524934"/>
                <a:gd name="connsiteX5" fmla="*/ 1456266 w 4368800"/>
                <a:gd name="connsiteY5" fmla="*/ 313267 h 524934"/>
                <a:gd name="connsiteX6" fmla="*/ 1727200 w 4368800"/>
                <a:gd name="connsiteY6" fmla="*/ 254000 h 524934"/>
                <a:gd name="connsiteX7" fmla="*/ 1998133 w 4368800"/>
                <a:gd name="connsiteY7" fmla="*/ 135467 h 524934"/>
                <a:gd name="connsiteX8" fmla="*/ 2353733 w 4368800"/>
                <a:gd name="connsiteY8" fmla="*/ 287867 h 524934"/>
                <a:gd name="connsiteX9" fmla="*/ 2607733 w 4368800"/>
                <a:gd name="connsiteY9" fmla="*/ 169333 h 524934"/>
                <a:gd name="connsiteX10" fmla="*/ 2946400 w 4368800"/>
                <a:gd name="connsiteY10" fmla="*/ 211667 h 524934"/>
                <a:gd name="connsiteX11" fmla="*/ 3234266 w 4368800"/>
                <a:gd name="connsiteY11" fmla="*/ 203200 h 524934"/>
                <a:gd name="connsiteX12" fmla="*/ 3505200 w 4368800"/>
                <a:gd name="connsiteY12" fmla="*/ 0 h 524934"/>
                <a:gd name="connsiteX13" fmla="*/ 3810000 w 4368800"/>
                <a:gd name="connsiteY13" fmla="*/ 135467 h 524934"/>
                <a:gd name="connsiteX14" fmla="*/ 4097866 w 4368800"/>
                <a:gd name="connsiteY14" fmla="*/ 42333 h 524934"/>
                <a:gd name="connsiteX15" fmla="*/ 4368800 w 4368800"/>
                <a:gd name="connsiteY15" fmla="*/ 118533 h 524934"/>
                <a:gd name="connsiteX0" fmla="*/ 0 w 4368800"/>
                <a:gd name="connsiteY0" fmla="*/ 541867 h 541867"/>
                <a:gd name="connsiteX1" fmla="*/ 270933 w 4368800"/>
                <a:gd name="connsiteY1" fmla="*/ 338666 h 541867"/>
                <a:gd name="connsiteX2" fmla="*/ 575733 w 4368800"/>
                <a:gd name="connsiteY2" fmla="*/ 431800 h 541867"/>
                <a:gd name="connsiteX3" fmla="*/ 880533 w 4368800"/>
                <a:gd name="connsiteY3" fmla="*/ 372533 h 541867"/>
                <a:gd name="connsiteX4" fmla="*/ 1134533 w 4368800"/>
                <a:gd name="connsiteY4" fmla="*/ 220133 h 541867"/>
                <a:gd name="connsiteX5" fmla="*/ 1456266 w 4368800"/>
                <a:gd name="connsiteY5" fmla="*/ 330200 h 541867"/>
                <a:gd name="connsiteX6" fmla="*/ 1727200 w 4368800"/>
                <a:gd name="connsiteY6" fmla="*/ 270933 h 541867"/>
                <a:gd name="connsiteX7" fmla="*/ 2048933 w 4368800"/>
                <a:gd name="connsiteY7" fmla="*/ 0 h 541867"/>
                <a:gd name="connsiteX8" fmla="*/ 2353733 w 4368800"/>
                <a:gd name="connsiteY8" fmla="*/ 304800 h 541867"/>
                <a:gd name="connsiteX9" fmla="*/ 2607733 w 4368800"/>
                <a:gd name="connsiteY9" fmla="*/ 186266 h 541867"/>
                <a:gd name="connsiteX10" fmla="*/ 2946400 w 4368800"/>
                <a:gd name="connsiteY10" fmla="*/ 228600 h 541867"/>
                <a:gd name="connsiteX11" fmla="*/ 3234266 w 4368800"/>
                <a:gd name="connsiteY11" fmla="*/ 220133 h 541867"/>
                <a:gd name="connsiteX12" fmla="*/ 3505200 w 4368800"/>
                <a:gd name="connsiteY12" fmla="*/ 16933 h 541867"/>
                <a:gd name="connsiteX13" fmla="*/ 3810000 w 4368800"/>
                <a:gd name="connsiteY13" fmla="*/ 152400 h 541867"/>
                <a:gd name="connsiteX14" fmla="*/ 4097866 w 4368800"/>
                <a:gd name="connsiteY14" fmla="*/ 59266 h 541867"/>
                <a:gd name="connsiteX15" fmla="*/ 4368800 w 4368800"/>
                <a:gd name="connsiteY15" fmla="*/ 135466 h 541867"/>
                <a:gd name="connsiteX0" fmla="*/ 0 w 4368800"/>
                <a:gd name="connsiteY0" fmla="*/ 541867 h 541867"/>
                <a:gd name="connsiteX1" fmla="*/ 270933 w 4368800"/>
                <a:gd name="connsiteY1" fmla="*/ 338666 h 541867"/>
                <a:gd name="connsiteX2" fmla="*/ 575733 w 4368800"/>
                <a:gd name="connsiteY2" fmla="*/ 431800 h 541867"/>
                <a:gd name="connsiteX3" fmla="*/ 880533 w 4368800"/>
                <a:gd name="connsiteY3" fmla="*/ 372533 h 541867"/>
                <a:gd name="connsiteX4" fmla="*/ 1134533 w 4368800"/>
                <a:gd name="connsiteY4" fmla="*/ 220133 h 541867"/>
                <a:gd name="connsiteX5" fmla="*/ 1456266 w 4368800"/>
                <a:gd name="connsiteY5" fmla="*/ 330200 h 541867"/>
                <a:gd name="connsiteX6" fmla="*/ 1727200 w 4368800"/>
                <a:gd name="connsiteY6" fmla="*/ 270933 h 541867"/>
                <a:gd name="connsiteX7" fmla="*/ 2048933 w 4368800"/>
                <a:gd name="connsiteY7" fmla="*/ 0 h 541867"/>
                <a:gd name="connsiteX8" fmla="*/ 2353733 w 4368800"/>
                <a:gd name="connsiteY8" fmla="*/ 304800 h 541867"/>
                <a:gd name="connsiteX9" fmla="*/ 2607733 w 4368800"/>
                <a:gd name="connsiteY9" fmla="*/ 186266 h 541867"/>
                <a:gd name="connsiteX10" fmla="*/ 2963334 w 4368800"/>
                <a:gd name="connsiteY10" fmla="*/ 152400 h 541867"/>
                <a:gd name="connsiteX11" fmla="*/ 3234266 w 4368800"/>
                <a:gd name="connsiteY11" fmla="*/ 220133 h 541867"/>
                <a:gd name="connsiteX12" fmla="*/ 3505200 w 4368800"/>
                <a:gd name="connsiteY12" fmla="*/ 16933 h 541867"/>
                <a:gd name="connsiteX13" fmla="*/ 3810000 w 4368800"/>
                <a:gd name="connsiteY13" fmla="*/ 152400 h 541867"/>
                <a:gd name="connsiteX14" fmla="*/ 4097866 w 4368800"/>
                <a:gd name="connsiteY14" fmla="*/ 59266 h 541867"/>
                <a:gd name="connsiteX15" fmla="*/ 4368800 w 4368800"/>
                <a:gd name="connsiteY15" fmla="*/ 135466 h 541867"/>
                <a:gd name="connsiteX0" fmla="*/ 0 w 4368800"/>
                <a:gd name="connsiteY0" fmla="*/ 575734 h 575734"/>
                <a:gd name="connsiteX1" fmla="*/ 270933 w 4368800"/>
                <a:gd name="connsiteY1" fmla="*/ 372533 h 575734"/>
                <a:gd name="connsiteX2" fmla="*/ 575733 w 4368800"/>
                <a:gd name="connsiteY2" fmla="*/ 465667 h 575734"/>
                <a:gd name="connsiteX3" fmla="*/ 880533 w 4368800"/>
                <a:gd name="connsiteY3" fmla="*/ 406400 h 575734"/>
                <a:gd name="connsiteX4" fmla="*/ 1134533 w 4368800"/>
                <a:gd name="connsiteY4" fmla="*/ 254000 h 575734"/>
                <a:gd name="connsiteX5" fmla="*/ 1456266 w 4368800"/>
                <a:gd name="connsiteY5" fmla="*/ 364067 h 575734"/>
                <a:gd name="connsiteX6" fmla="*/ 1727200 w 4368800"/>
                <a:gd name="connsiteY6" fmla="*/ 304800 h 575734"/>
                <a:gd name="connsiteX7" fmla="*/ 2048933 w 4368800"/>
                <a:gd name="connsiteY7" fmla="*/ 33867 h 575734"/>
                <a:gd name="connsiteX8" fmla="*/ 2353733 w 4368800"/>
                <a:gd name="connsiteY8" fmla="*/ 338667 h 575734"/>
                <a:gd name="connsiteX9" fmla="*/ 2607733 w 4368800"/>
                <a:gd name="connsiteY9" fmla="*/ 220133 h 575734"/>
                <a:gd name="connsiteX10" fmla="*/ 2963334 w 4368800"/>
                <a:gd name="connsiteY10" fmla="*/ 186267 h 575734"/>
                <a:gd name="connsiteX11" fmla="*/ 3234266 w 4368800"/>
                <a:gd name="connsiteY11" fmla="*/ 254000 h 575734"/>
                <a:gd name="connsiteX12" fmla="*/ 3505200 w 4368800"/>
                <a:gd name="connsiteY12" fmla="*/ 0 h 575734"/>
                <a:gd name="connsiteX13" fmla="*/ 3810000 w 4368800"/>
                <a:gd name="connsiteY13" fmla="*/ 186267 h 575734"/>
                <a:gd name="connsiteX14" fmla="*/ 4097866 w 4368800"/>
                <a:gd name="connsiteY14" fmla="*/ 93133 h 575734"/>
                <a:gd name="connsiteX15" fmla="*/ 4368800 w 4368800"/>
                <a:gd name="connsiteY15" fmla="*/ 169333 h 575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368800" h="575734">
                  <a:moveTo>
                    <a:pt x="0" y="575734"/>
                  </a:moveTo>
                  <a:lnTo>
                    <a:pt x="270933" y="372533"/>
                  </a:lnTo>
                  <a:lnTo>
                    <a:pt x="575733" y="465667"/>
                  </a:lnTo>
                  <a:lnTo>
                    <a:pt x="880533" y="406400"/>
                  </a:lnTo>
                  <a:lnTo>
                    <a:pt x="1134533" y="254000"/>
                  </a:lnTo>
                  <a:lnTo>
                    <a:pt x="1456266" y="364067"/>
                  </a:lnTo>
                  <a:lnTo>
                    <a:pt x="1727200" y="304800"/>
                  </a:lnTo>
                  <a:lnTo>
                    <a:pt x="2048933" y="33867"/>
                  </a:lnTo>
                  <a:lnTo>
                    <a:pt x="2353733" y="338667"/>
                  </a:lnTo>
                  <a:cubicBezTo>
                    <a:pt x="2438400" y="299156"/>
                    <a:pt x="2506133" y="245533"/>
                    <a:pt x="2607733" y="220133"/>
                  </a:cubicBezTo>
                  <a:cubicBezTo>
                    <a:pt x="2709333" y="194733"/>
                    <a:pt x="2844800" y="197556"/>
                    <a:pt x="2963334" y="186267"/>
                  </a:cubicBezTo>
                  <a:lnTo>
                    <a:pt x="3234266" y="254000"/>
                  </a:lnTo>
                  <a:lnTo>
                    <a:pt x="3505200" y="0"/>
                  </a:lnTo>
                  <a:lnTo>
                    <a:pt x="3810000" y="186267"/>
                  </a:lnTo>
                  <a:lnTo>
                    <a:pt x="4097866" y="93133"/>
                  </a:lnTo>
                  <a:lnTo>
                    <a:pt x="4368800" y="169333"/>
                  </a:lnTo>
                </a:path>
              </a:pathLst>
            </a:custGeom>
            <a:ln>
              <a:solidFill>
                <a:schemeClr val="accent3">
                  <a:lumMod val="75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472" name="자유형 83">
              <a:extLst>
                <a:ext uri="{FF2B5EF4-FFF2-40B4-BE49-F238E27FC236}">
                  <a16:creationId xmlns:a16="http://schemas.microsoft.com/office/drawing/2014/main" id="{7BE8069E-3D1D-4F20-ADEC-F142A19610C2}"/>
                </a:ext>
              </a:extLst>
            </p:cNvPr>
            <p:cNvSpPr/>
            <p:nvPr/>
          </p:nvSpPr>
          <p:spPr>
            <a:xfrm>
              <a:off x="1397086" y="3160835"/>
              <a:ext cx="2742866" cy="770368"/>
            </a:xfrm>
            <a:custGeom>
              <a:avLst/>
              <a:gdLst>
                <a:gd name="connsiteX0" fmla="*/ 0 w 4368800"/>
                <a:gd name="connsiteY0" fmla="*/ 389467 h 414867"/>
                <a:gd name="connsiteX1" fmla="*/ 270933 w 4368800"/>
                <a:gd name="connsiteY1" fmla="*/ 321733 h 414867"/>
                <a:gd name="connsiteX2" fmla="*/ 575733 w 4368800"/>
                <a:gd name="connsiteY2" fmla="*/ 414867 h 414867"/>
                <a:gd name="connsiteX3" fmla="*/ 880533 w 4368800"/>
                <a:gd name="connsiteY3" fmla="*/ 355600 h 414867"/>
                <a:gd name="connsiteX4" fmla="*/ 1134533 w 4368800"/>
                <a:gd name="connsiteY4" fmla="*/ 203200 h 414867"/>
                <a:gd name="connsiteX5" fmla="*/ 1456266 w 4368800"/>
                <a:gd name="connsiteY5" fmla="*/ 313267 h 414867"/>
                <a:gd name="connsiteX6" fmla="*/ 1727200 w 4368800"/>
                <a:gd name="connsiteY6" fmla="*/ 254000 h 414867"/>
                <a:gd name="connsiteX7" fmla="*/ 1998133 w 4368800"/>
                <a:gd name="connsiteY7" fmla="*/ 135467 h 414867"/>
                <a:gd name="connsiteX8" fmla="*/ 2353733 w 4368800"/>
                <a:gd name="connsiteY8" fmla="*/ 287867 h 414867"/>
                <a:gd name="connsiteX9" fmla="*/ 2607733 w 4368800"/>
                <a:gd name="connsiteY9" fmla="*/ 169333 h 414867"/>
                <a:gd name="connsiteX10" fmla="*/ 2946400 w 4368800"/>
                <a:gd name="connsiteY10" fmla="*/ 211667 h 414867"/>
                <a:gd name="connsiteX11" fmla="*/ 3234266 w 4368800"/>
                <a:gd name="connsiteY11" fmla="*/ 203200 h 414867"/>
                <a:gd name="connsiteX12" fmla="*/ 3505200 w 4368800"/>
                <a:gd name="connsiteY12" fmla="*/ 0 h 414867"/>
                <a:gd name="connsiteX13" fmla="*/ 3810000 w 4368800"/>
                <a:gd name="connsiteY13" fmla="*/ 135467 h 414867"/>
                <a:gd name="connsiteX14" fmla="*/ 4097866 w 4368800"/>
                <a:gd name="connsiteY14" fmla="*/ 42333 h 414867"/>
                <a:gd name="connsiteX15" fmla="*/ 4368800 w 4368800"/>
                <a:gd name="connsiteY15" fmla="*/ 118533 h 414867"/>
                <a:gd name="connsiteX0" fmla="*/ 0 w 4368800"/>
                <a:gd name="connsiteY0" fmla="*/ 524934 h 524934"/>
                <a:gd name="connsiteX1" fmla="*/ 270933 w 4368800"/>
                <a:gd name="connsiteY1" fmla="*/ 321733 h 524934"/>
                <a:gd name="connsiteX2" fmla="*/ 575733 w 4368800"/>
                <a:gd name="connsiteY2" fmla="*/ 414867 h 524934"/>
                <a:gd name="connsiteX3" fmla="*/ 880533 w 4368800"/>
                <a:gd name="connsiteY3" fmla="*/ 355600 h 524934"/>
                <a:gd name="connsiteX4" fmla="*/ 1134533 w 4368800"/>
                <a:gd name="connsiteY4" fmla="*/ 203200 h 524934"/>
                <a:gd name="connsiteX5" fmla="*/ 1456266 w 4368800"/>
                <a:gd name="connsiteY5" fmla="*/ 313267 h 524934"/>
                <a:gd name="connsiteX6" fmla="*/ 1727200 w 4368800"/>
                <a:gd name="connsiteY6" fmla="*/ 254000 h 524934"/>
                <a:gd name="connsiteX7" fmla="*/ 1998133 w 4368800"/>
                <a:gd name="connsiteY7" fmla="*/ 135467 h 524934"/>
                <a:gd name="connsiteX8" fmla="*/ 2353733 w 4368800"/>
                <a:gd name="connsiteY8" fmla="*/ 287867 h 524934"/>
                <a:gd name="connsiteX9" fmla="*/ 2607733 w 4368800"/>
                <a:gd name="connsiteY9" fmla="*/ 169333 h 524934"/>
                <a:gd name="connsiteX10" fmla="*/ 2946400 w 4368800"/>
                <a:gd name="connsiteY10" fmla="*/ 211667 h 524934"/>
                <a:gd name="connsiteX11" fmla="*/ 3234266 w 4368800"/>
                <a:gd name="connsiteY11" fmla="*/ 203200 h 524934"/>
                <a:gd name="connsiteX12" fmla="*/ 3505200 w 4368800"/>
                <a:gd name="connsiteY12" fmla="*/ 0 h 524934"/>
                <a:gd name="connsiteX13" fmla="*/ 3810000 w 4368800"/>
                <a:gd name="connsiteY13" fmla="*/ 135467 h 524934"/>
                <a:gd name="connsiteX14" fmla="*/ 4097866 w 4368800"/>
                <a:gd name="connsiteY14" fmla="*/ 42333 h 524934"/>
                <a:gd name="connsiteX15" fmla="*/ 4368800 w 4368800"/>
                <a:gd name="connsiteY15" fmla="*/ 118533 h 524934"/>
                <a:gd name="connsiteX0" fmla="*/ 0 w 4368800"/>
                <a:gd name="connsiteY0" fmla="*/ 541867 h 541867"/>
                <a:gd name="connsiteX1" fmla="*/ 270933 w 4368800"/>
                <a:gd name="connsiteY1" fmla="*/ 338666 h 541867"/>
                <a:gd name="connsiteX2" fmla="*/ 575733 w 4368800"/>
                <a:gd name="connsiteY2" fmla="*/ 431800 h 541867"/>
                <a:gd name="connsiteX3" fmla="*/ 880533 w 4368800"/>
                <a:gd name="connsiteY3" fmla="*/ 372533 h 541867"/>
                <a:gd name="connsiteX4" fmla="*/ 1134533 w 4368800"/>
                <a:gd name="connsiteY4" fmla="*/ 220133 h 541867"/>
                <a:gd name="connsiteX5" fmla="*/ 1456266 w 4368800"/>
                <a:gd name="connsiteY5" fmla="*/ 330200 h 541867"/>
                <a:gd name="connsiteX6" fmla="*/ 1727200 w 4368800"/>
                <a:gd name="connsiteY6" fmla="*/ 270933 h 541867"/>
                <a:gd name="connsiteX7" fmla="*/ 2048933 w 4368800"/>
                <a:gd name="connsiteY7" fmla="*/ 0 h 541867"/>
                <a:gd name="connsiteX8" fmla="*/ 2353733 w 4368800"/>
                <a:gd name="connsiteY8" fmla="*/ 304800 h 541867"/>
                <a:gd name="connsiteX9" fmla="*/ 2607733 w 4368800"/>
                <a:gd name="connsiteY9" fmla="*/ 186266 h 541867"/>
                <a:gd name="connsiteX10" fmla="*/ 2946400 w 4368800"/>
                <a:gd name="connsiteY10" fmla="*/ 228600 h 541867"/>
                <a:gd name="connsiteX11" fmla="*/ 3234266 w 4368800"/>
                <a:gd name="connsiteY11" fmla="*/ 220133 h 541867"/>
                <a:gd name="connsiteX12" fmla="*/ 3505200 w 4368800"/>
                <a:gd name="connsiteY12" fmla="*/ 16933 h 541867"/>
                <a:gd name="connsiteX13" fmla="*/ 3810000 w 4368800"/>
                <a:gd name="connsiteY13" fmla="*/ 152400 h 541867"/>
                <a:gd name="connsiteX14" fmla="*/ 4097866 w 4368800"/>
                <a:gd name="connsiteY14" fmla="*/ 59266 h 541867"/>
                <a:gd name="connsiteX15" fmla="*/ 4368800 w 4368800"/>
                <a:gd name="connsiteY15" fmla="*/ 135466 h 541867"/>
                <a:gd name="connsiteX0" fmla="*/ 0 w 4368800"/>
                <a:gd name="connsiteY0" fmla="*/ 541867 h 541867"/>
                <a:gd name="connsiteX1" fmla="*/ 270933 w 4368800"/>
                <a:gd name="connsiteY1" fmla="*/ 338666 h 541867"/>
                <a:gd name="connsiteX2" fmla="*/ 575733 w 4368800"/>
                <a:gd name="connsiteY2" fmla="*/ 431800 h 541867"/>
                <a:gd name="connsiteX3" fmla="*/ 880533 w 4368800"/>
                <a:gd name="connsiteY3" fmla="*/ 372533 h 541867"/>
                <a:gd name="connsiteX4" fmla="*/ 1134533 w 4368800"/>
                <a:gd name="connsiteY4" fmla="*/ 220133 h 541867"/>
                <a:gd name="connsiteX5" fmla="*/ 1456266 w 4368800"/>
                <a:gd name="connsiteY5" fmla="*/ 330200 h 541867"/>
                <a:gd name="connsiteX6" fmla="*/ 1727200 w 4368800"/>
                <a:gd name="connsiteY6" fmla="*/ 270933 h 541867"/>
                <a:gd name="connsiteX7" fmla="*/ 2048933 w 4368800"/>
                <a:gd name="connsiteY7" fmla="*/ 0 h 541867"/>
                <a:gd name="connsiteX8" fmla="*/ 2353733 w 4368800"/>
                <a:gd name="connsiteY8" fmla="*/ 304800 h 541867"/>
                <a:gd name="connsiteX9" fmla="*/ 2607733 w 4368800"/>
                <a:gd name="connsiteY9" fmla="*/ 186266 h 541867"/>
                <a:gd name="connsiteX10" fmla="*/ 2963334 w 4368800"/>
                <a:gd name="connsiteY10" fmla="*/ 152400 h 541867"/>
                <a:gd name="connsiteX11" fmla="*/ 3234266 w 4368800"/>
                <a:gd name="connsiteY11" fmla="*/ 220133 h 541867"/>
                <a:gd name="connsiteX12" fmla="*/ 3505200 w 4368800"/>
                <a:gd name="connsiteY12" fmla="*/ 16933 h 541867"/>
                <a:gd name="connsiteX13" fmla="*/ 3810000 w 4368800"/>
                <a:gd name="connsiteY13" fmla="*/ 152400 h 541867"/>
                <a:gd name="connsiteX14" fmla="*/ 4097866 w 4368800"/>
                <a:gd name="connsiteY14" fmla="*/ 59266 h 541867"/>
                <a:gd name="connsiteX15" fmla="*/ 4368800 w 4368800"/>
                <a:gd name="connsiteY15" fmla="*/ 135466 h 541867"/>
                <a:gd name="connsiteX0" fmla="*/ 0 w 4368800"/>
                <a:gd name="connsiteY0" fmla="*/ 575734 h 575734"/>
                <a:gd name="connsiteX1" fmla="*/ 270933 w 4368800"/>
                <a:gd name="connsiteY1" fmla="*/ 372533 h 575734"/>
                <a:gd name="connsiteX2" fmla="*/ 575733 w 4368800"/>
                <a:gd name="connsiteY2" fmla="*/ 465667 h 575734"/>
                <a:gd name="connsiteX3" fmla="*/ 880533 w 4368800"/>
                <a:gd name="connsiteY3" fmla="*/ 406400 h 575734"/>
                <a:gd name="connsiteX4" fmla="*/ 1134533 w 4368800"/>
                <a:gd name="connsiteY4" fmla="*/ 254000 h 575734"/>
                <a:gd name="connsiteX5" fmla="*/ 1456266 w 4368800"/>
                <a:gd name="connsiteY5" fmla="*/ 364067 h 575734"/>
                <a:gd name="connsiteX6" fmla="*/ 1727200 w 4368800"/>
                <a:gd name="connsiteY6" fmla="*/ 304800 h 575734"/>
                <a:gd name="connsiteX7" fmla="*/ 2048933 w 4368800"/>
                <a:gd name="connsiteY7" fmla="*/ 33867 h 575734"/>
                <a:gd name="connsiteX8" fmla="*/ 2353733 w 4368800"/>
                <a:gd name="connsiteY8" fmla="*/ 338667 h 575734"/>
                <a:gd name="connsiteX9" fmla="*/ 2607733 w 4368800"/>
                <a:gd name="connsiteY9" fmla="*/ 220133 h 575734"/>
                <a:gd name="connsiteX10" fmla="*/ 2963334 w 4368800"/>
                <a:gd name="connsiteY10" fmla="*/ 186267 h 575734"/>
                <a:gd name="connsiteX11" fmla="*/ 3234266 w 4368800"/>
                <a:gd name="connsiteY11" fmla="*/ 254000 h 575734"/>
                <a:gd name="connsiteX12" fmla="*/ 3505200 w 4368800"/>
                <a:gd name="connsiteY12" fmla="*/ 0 h 575734"/>
                <a:gd name="connsiteX13" fmla="*/ 3810000 w 4368800"/>
                <a:gd name="connsiteY13" fmla="*/ 186267 h 575734"/>
                <a:gd name="connsiteX14" fmla="*/ 4097866 w 4368800"/>
                <a:gd name="connsiteY14" fmla="*/ 93133 h 575734"/>
                <a:gd name="connsiteX15" fmla="*/ 4368800 w 4368800"/>
                <a:gd name="connsiteY15" fmla="*/ 169333 h 575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368800" h="575734">
                  <a:moveTo>
                    <a:pt x="0" y="575734"/>
                  </a:moveTo>
                  <a:lnTo>
                    <a:pt x="270933" y="372533"/>
                  </a:lnTo>
                  <a:lnTo>
                    <a:pt x="575733" y="465667"/>
                  </a:lnTo>
                  <a:lnTo>
                    <a:pt x="880533" y="406400"/>
                  </a:lnTo>
                  <a:lnTo>
                    <a:pt x="1134533" y="254000"/>
                  </a:lnTo>
                  <a:lnTo>
                    <a:pt x="1456266" y="364067"/>
                  </a:lnTo>
                  <a:lnTo>
                    <a:pt x="1727200" y="304800"/>
                  </a:lnTo>
                  <a:lnTo>
                    <a:pt x="2048933" y="33867"/>
                  </a:lnTo>
                  <a:lnTo>
                    <a:pt x="2353733" y="338667"/>
                  </a:lnTo>
                  <a:cubicBezTo>
                    <a:pt x="2438400" y="299156"/>
                    <a:pt x="2506133" y="245533"/>
                    <a:pt x="2607733" y="220133"/>
                  </a:cubicBezTo>
                  <a:cubicBezTo>
                    <a:pt x="2709333" y="194733"/>
                    <a:pt x="2844800" y="197556"/>
                    <a:pt x="2963334" y="186267"/>
                  </a:cubicBezTo>
                  <a:lnTo>
                    <a:pt x="3234266" y="254000"/>
                  </a:lnTo>
                  <a:lnTo>
                    <a:pt x="3505200" y="0"/>
                  </a:lnTo>
                  <a:lnTo>
                    <a:pt x="3810000" y="186267"/>
                  </a:lnTo>
                  <a:lnTo>
                    <a:pt x="4097866" y="93133"/>
                  </a:lnTo>
                  <a:lnTo>
                    <a:pt x="4368800" y="169333"/>
                  </a:lnTo>
                </a:path>
              </a:pathLst>
            </a:custGeom>
            <a:ln>
              <a:solidFill>
                <a:schemeClr val="bg1">
                  <a:lumMod val="5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grpSp>
        <p:nvGrpSpPr>
          <p:cNvPr id="493" name="그룹 492">
            <a:extLst>
              <a:ext uri="{FF2B5EF4-FFF2-40B4-BE49-F238E27FC236}">
                <a16:creationId xmlns:a16="http://schemas.microsoft.com/office/drawing/2014/main" id="{A78155BE-64E0-4ABE-A025-6C612F435CAE}"/>
              </a:ext>
            </a:extLst>
          </p:cNvPr>
          <p:cNvGrpSpPr/>
          <p:nvPr/>
        </p:nvGrpSpPr>
        <p:grpSpPr>
          <a:xfrm>
            <a:off x="3188979" y="5347287"/>
            <a:ext cx="2430416" cy="190268"/>
            <a:chOff x="3418761" y="4940755"/>
            <a:chExt cx="2430416" cy="190268"/>
          </a:xfrm>
        </p:grpSpPr>
        <p:grpSp>
          <p:nvGrpSpPr>
            <p:cNvPr id="494" name="그룹 493">
              <a:extLst>
                <a:ext uri="{FF2B5EF4-FFF2-40B4-BE49-F238E27FC236}">
                  <a16:creationId xmlns:a16="http://schemas.microsoft.com/office/drawing/2014/main" id="{365DCAA8-AFD0-4B49-B67C-7995AA76BBA8}"/>
                </a:ext>
              </a:extLst>
            </p:cNvPr>
            <p:cNvGrpSpPr/>
            <p:nvPr/>
          </p:nvGrpSpPr>
          <p:grpSpPr>
            <a:xfrm>
              <a:off x="3418761" y="4940755"/>
              <a:ext cx="1835844" cy="184666"/>
              <a:chOff x="3535608" y="4989368"/>
              <a:chExt cx="1835844" cy="184666"/>
            </a:xfrm>
          </p:grpSpPr>
          <p:sp>
            <p:nvSpPr>
              <p:cNvPr id="497" name="사각형: 둥근 모서리 496">
                <a:extLst>
                  <a:ext uri="{FF2B5EF4-FFF2-40B4-BE49-F238E27FC236}">
                    <a16:creationId xmlns:a16="http://schemas.microsoft.com/office/drawing/2014/main" id="{D69D6759-0539-46C1-B609-1B93A4016E6F}"/>
                  </a:ext>
                </a:extLst>
              </p:cNvPr>
              <p:cNvSpPr/>
              <p:nvPr/>
            </p:nvSpPr>
            <p:spPr>
              <a:xfrm>
                <a:off x="3535608" y="5016742"/>
                <a:ext cx="257502" cy="129918"/>
              </a:xfrm>
              <a:prstGeom prst="roundRect">
                <a:avLst/>
              </a:prstGeom>
              <a:solidFill>
                <a:schemeClr val="tx2">
                  <a:lumMod val="60000"/>
                  <a:lumOff val="40000"/>
                </a:schemeClr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498" name="TextBox 497">
                <a:extLst>
                  <a:ext uri="{FF2B5EF4-FFF2-40B4-BE49-F238E27FC236}">
                    <a16:creationId xmlns:a16="http://schemas.microsoft.com/office/drawing/2014/main" id="{58842000-52F3-46B8-B859-068E0172FA25}"/>
                  </a:ext>
                </a:extLst>
              </p:cNvPr>
              <p:cNvSpPr txBox="1"/>
              <p:nvPr/>
            </p:nvSpPr>
            <p:spPr>
              <a:xfrm>
                <a:off x="3694256" y="4989368"/>
                <a:ext cx="418353" cy="18466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600" dirty="0">
                    <a:solidFill>
                      <a:schemeClr val="bg1"/>
                    </a:solidFill>
                  </a:rPr>
                  <a:t>PCS</a:t>
                </a:r>
                <a:endParaRPr lang="ko-KR" altLang="en-US" sz="600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499" name="사각형: 둥근 모서리 498">
                <a:extLst>
                  <a:ext uri="{FF2B5EF4-FFF2-40B4-BE49-F238E27FC236}">
                    <a16:creationId xmlns:a16="http://schemas.microsoft.com/office/drawing/2014/main" id="{7061B6D8-DAF5-4124-A899-7E2A1C71D65F}"/>
                  </a:ext>
                </a:extLst>
              </p:cNvPr>
              <p:cNvSpPr/>
              <p:nvPr/>
            </p:nvSpPr>
            <p:spPr>
              <a:xfrm>
                <a:off x="4158568" y="5016742"/>
                <a:ext cx="257502" cy="129918"/>
              </a:xfrm>
              <a:prstGeom prst="roundRect">
                <a:avLst/>
              </a:prstGeom>
              <a:solidFill>
                <a:schemeClr val="accent3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500" name="TextBox 499">
                <a:extLst>
                  <a:ext uri="{FF2B5EF4-FFF2-40B4-BE49-F238E27FC236}">
                    <a16:creationId xmlns:a16="http://schemas.microsoft.com/office/drawing/2014/main" id="{9C6E0FAC-F586-47B8-BD12-83728AF51878}"/>
                  </a:ext>
                </a:extLst>
              </p:cNvPr>
              <p:cNvSpPr txBox="1"/>
              <p:nvPr/>
            </p:nvSpPr>
            <p:spPr>
              <a:xfrm>
                <a:off x="4317216" y="4989368"/>
                <a:ext cx="418353" cy="18466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600" dirty="0">
                    <a:solidFill>
                      <a:schemeClr val="bg1"/>
                    </a:solidFill>
                  </a:rPr>
                  <a:t>BMS</a:t>
                </a:r>
                <a:endParaRPr lang="ko-KR" altLang="en-US" sz="600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501" name="사각형: 둥근 모서리 500">
                <a:extLst>
                  <a:ext uri="{FF2B5EF4-FFF2-40B4-BE49-F238E27FC236}">
                    <a16:creationId xmlns:a16="http://schemas.microsoft.com/office/drawing/2014/main" id="{412EEE04-7C30-4D0F-A62B-F0121A91E1C5}"/>
                  </a:ext>
                </a:extLst>
              </p:cNvPr>
              <p:cNvSpPr/>
              <p:nvPr/>
            </p:nvSpPr>
            <p:spPr>
              <a:xfrm>
                <a:off x="4794451" y="5016742"/>
                <a:ext cx="257502" cy="129918"/>
              </a:xfrm>
              <a:prstGeom prst="roundRect">
                <a:avLst/>
              </a:prstGeom>
              <a:solidFill>
                <a:srgbClr val="FFC0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502" name="TextBox 501">
                <a:extLst>
                  <a:ext uri="{FF2B5EF4-FFF2-40B4-BE49-F238E27FC236}">
                    <a16:creationId xmlns:a16="http://schemas.microsoft.com/office/drawing/2014/main" id="{5536C490-D078-4126-9DB4-0AA8273FFF06}"/>
                  </a:ext>
                </a:extLst>
              </p:cNvPr>
              <p:cNvSpPr txBox="1"/>
              <p:nvPr/>
            </p:nvSpPr>
            <p:spPr>
              <a:xfrm>
                <a:off x="4953099" y="4989368"/>
                <a:ext cx="418353" cy="18466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600" dirty="0">
                    <a:solidFill>
                      <a:schemeClr val="bg1"/>
                    </a:solidFill>
                  </a:rPr>
                  <a:t>PV</a:t>
                </a:r>
                <a:endParaRPr lang="ko-KR" altLang="en-US" sz="600" dirty="0">
                  <a:solidFill>
                    <a:schemeClr val="bg1"/>
                  </a:solidFill>
                </a:endParaRPr>
              </a:p>
            </p:txBody>
          </p:sp>
        </p:grpSp>
        <p:sp>
          <p:nvSpPr>
            <p:cNvPr id="495" name="사각형: 둥근 모서리 494">
              <a:extLst>
                <a:ext uri="{FF2B5EF4-FFF2-40B4-BE49-F238E27FC236}">
                  <a16:creationId xmlns:a16="http://schemas.microsoft.com/office/drawing/2014/main" id="{F485D149-9F2E-47EA-9263-9D3502EF4091}"/>
                </a:ext>
              </a:extLst>
            </p:cNvPr>
            <p:cNvSpPr/>
            <p:nvPr/>
          </p:nvSpPr>
          <p:spPr>
            <a:xfrm>
              <a:off x="5272176" y="4973731"/>
              <a:ext cx="257502" cy="129918"/>
            </a:xfrm>
            <a:prstGeom prst="roundRect">
              <a:avLst/>
            </a:prstGeom>
            <a:solidFill>
              <a:schemeClr val="accent4">
                <a:lumMod val="75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96" name="TextBox 495">
              <a:extLst>
                <a:ext uri="{FF2B5EF4-FFF2-40B4-BE49-F238E27FC236}">
                  <a16:creationId xmlns:a16="http://schemas.microsoft.com/office/drawing/2014/main" id="{8EE366C4-7C85-479A-9D81-1251501214EC}"/>
                </a:ext>
              </a:extLst>
            </p:cNvPr>
            <p:cNvSpPr txBox="1"/>
            <p:nvPr/>
          </p:nvSpPr>
          <p:spPr>
            <a:xfrm>
              <a:off x="5430824" y="4946357"/>
              <a:ext cx="41835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600" dirty="0">
                  <a:solidFill>
                    <a:schemeClr val="bg1"/>
                  </a:solidFill>
                </a:rPr>
                <a:t>IOE</a:t>
              </a:r>
              <a:endParaRPr lang="ko-KR" altLang="en-US" sz="600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503" name="그룹 502">
            <a:extLst>
              <a:ext uri="{FF2B5EF4-FFF2-40B4-BE49-F238E27FC236}">
                <a16:creationId xmlns:a16="http://schemas.microsoft.com/office/drawing/2014/main" id="{FFFEBFB2-3A4C-4094-95E9-35495F1B46FC}"/>
              </a:ext>
            </a:extLst>
          </p:cNvPr>
          <p:cNvGrpSpPr/>
          <p:nvPr/>
        </p:nvGrpSpPr>
        <p:grpSpPr>
          <a:xfrm>
            <a:off x="4945064" y="4437064"/>
            <a:ext cx="869295" cy="376502"/>
            <a:chOff x="4137026" y="5220442"/>
            <a:chExt cx="869295" cy="376502"/>
          </a:xfrm>
        </p:grpSpPr>
        <p:sp>
          <p:nvSpPr>
            <p:cNvPr id="504" name="TextBox 503">
              <a:extLst>
                <a:ext uri="{FF2B5EF4-FFF2-40B4-BE49-F238E27FC236}">
                  <a16:creationId xmlns:a16="http://schemas.microsoft.com/office/drawing/2014/main" id="{FCC87D42-414F-43CB-97C5-035A8BCBC016}"/>
                </a:ext>
              </a:extLst>
            </p:cNvPr>
            <p:cNvSpPr txBox="1"/>
            <p:nvPr/>
          </p:nvSpPr>
          <p:spPr>
            <a:xfrm>
              <a:off x="4179571" y="5220442"/>
              <a:ext cx="41835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600" dirty="0">
                  <a:solidFill>
                    <a:schemeClr val="bg1"/>
                  </a:solidFill>
                </a:rPr>
                <a:t>PV_1</a:t>
              </a:r>
              <a:endParaRPr lang="ko-KR" altLang="en-US" sz="600" dirty="0">
                <a:solidFill>
                  <a:schemeClr val="bg1"/>
                </a:solidFill>
              </a:endParaRPr>
            </a:p>
          </p:txBody>
        </p:sp>
        <p:sp>
          <p:nvSpPr>
            <p:cNvPr id="505" name="TextBox 504">
              <a:extLst>
                <a:ext uri="{FF2B5EF4-FFF2-40B4-BE49-F238E27FC236}">
                  <a16:creationId xmlns:a16="http://schemas.microsoft.com/office/drawing/2014/main" id="{3D899CFA-7BC2-4A31-BB08-FC6613D35729}"/>
                </a:ext>
              </a:extLst>
            </p:cNvPr>
            <p:cNvSpPr txBox="1"/>
            <p:nvPr/>
          </p:nvSpPr>
          <p:spPr>
            <a:xfrm>
              <a:off x="4407707" y="5327235"/>
              <a:ext cx="59861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500" dirty="0">
                  <a:solidFill>
                    <a:schemeClr val="bg1"/>
                  </a:solidFill>
                </a:rPr>
                <a:t>0 kWh</a:t>
              </a:r>
              <a:endParaRPr lang="ko-KR" altLang="en-US" sz="500" dirty="0">
                <a:solidFill>
                  <a:schemeClr val="bg1"/>
                </a:solidFill>
              </a:endParaRPr>
            </a:p>
          </p:txBody>
        </p:sp>
        <p:sp>
          <p:nvSpPr>
            <p:cNvPr id="506" name="TextBox 505">
              <a:extLst>
                <a:ext uri="{FF2B5EF4-FFF2-40B4-BE49-F238E27FC236}">
                  <a16:creationId xmlns:a16="http://schemas.microsoft.com/office/drawing/2014/main" id="{304B54E4-6008-4FCB-9DB8-6057A7545143}"/>
                </a:ext>
              </a:extLst>
            </p:cNvPr>
            <p:cNvSpPr txBox="1"/>
            <p:nvPr/>
          </p:nvSpPr>
          <p:spPr>
            <a:xfrm>
              <a:off x="4407707" y="5427667"/>
              <a:ext cx="59861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500" dirty="0">
                  <a:solidFill>
                    <a:schemeClr val="bg1"/>
                  </a:solidFill>
                </a:rPr>
                <a:t>0 kWh</a:t>
              </a:r>
              <a:endParaRPr lang="ko-KR" altLang="en-US" sz="500" dirty="0">
                <a:solidFill>
                  <a:schemeClr val="bg1"/>
                </a:solidFill>
              </a:endParaRPr>
            </a:p>
          </p:txBody>
        </p:sp>
        <p:sp>
          <p:nvSpPr>
            <p:cNvPr id="507" name="TextBox 506">
              <a:extLst>
                <a:ext uri="{FF2B5EF4-FFF2-40B4-BE49-F238E27FC236}">
                  <a16:creationId xmlns:a16="http://schemas.microsoft.com/office/drawing/2014/main" id="{E69E55A7-3B23-4F65-9FAB-A9014349626B}"/>
                </a:ext>
              </a:extLst>
            </p:cNvPr>
            <p:cNvSpPr txBox="1"/>
            <p:nvPr/>
          </p:nvSpPr>
          <p:spPr>
            <a:xfrm>
              <a:off x="4142240" y="5323645"/>
              <a:ext cx="52680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500" dirty="0">
                  <a:solidFill>
                    <a:schemeClr val="bg1"/>
                  </a:solidFill>
                </a:rPr>
                <a:t>누적 발전량</a:t>
              </a:r>
            </a:p>
          </p:txBody>
        </p:sp>
        <p:sp>
          <p:nvSpPr>
            <p:cNvPr id="508" name="TextBox 507">
              <a:extLst>
                <a:ext uri="{FF2B5EF4-FFF2-40B4-BE49-F238E27FC236}">
                  <a16:creationId xmlns:a16="http://schemas.microsoft.com/office/drawing/2014/main" id="{32A07FFE-F079-4F0C-B272-2A2B7BDF32D9}"/>
                </a:ext>
              </a:extLst>
            </p:cNvPr>
            <p:cNvSpPr txBox="1"/>
            <p:nvPr/>
          </p:nvSpPr>
          <p:spPr>
            <a:xfrm>
              <a:off x="4137026" y="5425750"/>
              <a:ext cx="5426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500" dirty="0">
                  <a:solidFill>
                    <a:schemeClr val="bg1"/>
                  </a:solidFill>
                </a:rPr>
                <a:t>예측 발전량</a:t>
              </a:r>
            </a:p>
          </p:txBody>
        </p:sp>
      </p:grpSp>
      <p:grpSp>
        <p:nvGrpSpPr>
          <p:cNvPr id="509" name="그룹 508">
            <a:extLst>
              <a:ext uri="{FF2B5EF4-FFF2-40B4-BE49-F238E27FC236}">
                <a16:creationId xmlns:a16="http://schemas.microsoft.com/office/drawing/2014/main" id="{D6DAB584-1151-4A43-B161-105DA0C81614}"/>
              </a:ext>
            </a:extLst>
          </p:cNvPr>
          <p:cNvGrpSpPr/>
          <p:nvPr/>
        </p:nvGrpSpPr>
        <p:grpSpPr>
          <a:xfrm>
            <a:off x="3642372" y="4446930"/>
            <a:ext cx="776403" cy="451529"/>
            <a:chOff x="4137026" y="5220442"/>
            <a:chExt cx="542695" cy="451529"/>
          </a:xfrm>
        </p:grpSpPr>
        <p:sp>
          <p:nvSpPr>
            <p:cNvPr id="510" name="TextBox 509">
              <a:extLst>
                <a:ext uri="{FF2B5EF4-FFF2-40B4-BE49-F238E27FC236}">
                  <a16:creationId xmlns:a16="http://schemas.microsoft.com/office/drawing/2014/main" id="{C7F59D9B-8589-4A33-B390-A208E83F84E4}"/>
                </a:ext>
              </a:extLst>
            </p:cNvPr>
            <p:cNvSpPr txBox="1"/>
            <p:nvPr/>
          </p:nvSpPr>
          <p:spPr>
            <a:xfrm>
              <a:off x="4179571" y="5220442"/>
              <a:ext cx="41835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dirty="0">
                  <a:solidFill>
                    <a:schemeClr val="bg1"/>
                  </a:solidFill>
                </a:rPr>
                <a:t>IOT_2</a:t>
              </a:r>
              <a:endParaRPr lang="ko-KR" altLang="en-US" sz="600" dirty="0">
                <a:solidFill>
                  <a:schemeClr val="bg1"/>
                </a:solidFill>
              </a:endParaRPr>
            </a:p>
          </p:txBody>
        </p:sp>
        <p:sp>
          <p:nvSpPr>
            <p:cNvPr id="511" name="TextBox 510">
              <a:extLst>
                <a:ext uri="{FF2B5EF4-FFF2-40B4-BE49-F238E27FC236}">
                  <a16:creationId xmlns:a16="http://schemas.microsoft.com/office/drawing/2014/main" id="{F915C0A2-C2B4-49BD-8A06-3371152A388C}"/>
                </a:ext>
              </a:extLst>
            </p:cNvPr>
            <p:cNvSpPr txBox="1"/>
            <p:nvPr/>
          </p:nvSpPr>
          <p:spPr>
            <a:xfrm>
              <a:off x="4142240" y="5323645"/>
              <a:ext cx="52680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500" b="1" dirty="0">
                  <a:solidFill>
                    <a:srgbClr val="92D050"/>
                  </a:solidFill>
                </a:rPr>
                <a:t>Connected</a:t>
              </a:r>
              <a:endParaRPr lang="ko-KR" altLang="en-US" sz="500" b="1" dirty="0">
                <a:solidFill>
                  <a:srgbClr val="92D050"/>
                </a:solidFill>
              </a:endParaRPr>
            </a:p>
          </p:txBody>
        </p:sp>
        <p:sp>
          <p:nvSpPr>
            <p:cNvPr id="512" name="TextBox 511">
              <a:extLst>
                <a:ext uri="{FF2B5EF4-FFF2-40B4-BE49-F238E27FC236}">
                  <a16:creationId xmlns:a16="http://schemas.microsoft.com/office/drawing/2014/main" id="{B2FCFC23-1BD5-4B52-84AA-A04294985A61}"/>
                </a:ext>
              </a:extLst>
            </p:cNvPr>
            <p:cNvSpPr txBox="1"/>
            <p:nvPr/>
          </p:nvSpPr>
          <p:spPr>
            <a:xfrm>
              <a:off x="4137026" y="5425750"/>
              <a:ext cx="54269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500" dirty="0">
                  <a:solidFill>
                    <a:schemeClr val="bg1"/>
                  </a:solidFill>
                </a:rPr>
                <a:t>2018-07-01 1:12:12</a:t>
              </a:r>
              <a:endParaRPr lang="ko-KR" altLang="en-US" sz="500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513" name="그룹 512">
            <a:extLst>
              <a:ext uri="{FF2B5EF4-FFF2-40B4-BE49-F238E27FC236}">
                <a16:creationId xmlns:a16="http://schemas.microsoft.com/office/drawing/2014/main" id="{B688AD10-071B-4A93-9489-90A52F285F63}"/>
              </a:ext>
            </a:extLst>
          </p:cNvPr>
          <p:cNvGrpSpPr/>
          <p:nvPr/>
        </p:nvGrpSpPr>
        <p:grpSpPr>
          <a:xfrm>
            <a:off x="4290161" y="4446217"/>
            <a:ext cx="776403" cy="451529"/>
            <a:chOff x="4137026" y="5220442"/>
            <a:chExt cx="542695" cy="451529"/>
          </a:xfrm>
        </p:grpSpPr>
        <p:sp>
          <p:nvSpPr>
            <p:cNvPr id="514" name="TextBox 513">
              <a:extLst>
                <a:ext uri="{FF2B5EF4-FFF2-40B4-BE49-F238E27FC236}">
                  <a16:creationId xmlns:a16="http://schemas.microsoft.com/office/drawing/2014/main" id="{74A3678A-B2FE-4113-99A3-4E648634DB84}"/>
                </a:ext>
              </a:extLst>
            </p:cNvPr>
            <p:cNvSpPr txBox="1"/>
            <p:nvPr/>
          </p:nvSpPr>
          <p:spPr>
            <a:xfrm>
              <a:off x="4179571" y="5220442"/>
              <a:ext cx="41835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dirty="0">
                  <a:solidFill>
                    <a:schemeClr val="bg1"/>
                  </a:solidFill>
                </a:rPr>
                <a:t>IOT_3</a:t>
              </a:r>
              <a:endParaRPr lang="ko-KR" altLang="en-US" sz="600" dirty="0">
                <a:solidFill>
                  <a:schemeClr val="bg1"/>
                </a:solidFill>
              </a:endParaRPr>
            </a:p>
          </p:txBody>
        </p:sp>
        <p:sp>
          <p:nvSpPr>
            <p:cNvPr id="515" name="TextBox 514">
              <a:extLst>
                <a:ext uri="{FF2B5EF4-FFF2-40B4-BE49-F238E27FC236}">
                  <a16:creationId xmlns:a16="http://schemas.microsoft.com/office/drawing/2014/main" id="{A6C432BB-699F-40B9-A443-43D86D86A4DA}"/>
                </a:ext>
              </a:extLst>
            </p:cNvPr>
            <p:cNvSpPr txBox="1"/>
            <p:nvPr/>
          </p:nvSpPr>
          <p:spPr>
            <a:xfrm>
              <a:off x="4142240" y="5323645"/>
              <a:ext cx="52680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500" b="1" dirty="0">
                  <a:solidFill>
                    <a:srgbClr val="92D050"/>
                  </a:solidFill>
                </a:rPr>
                <a:t>Connected</a:t>
              </a:r>
              <a:endParaRPr lang="ko-KR" altLang="en-US" sz="500" b="1" dirty="0">
                <a:solidFill>
                  <a:srgbClr val="92D050"/>
                </a:solidFill>
              </a:endParaRPr>
            </a:p>
          </p:txBody>
        </p:sp>
        <p:sp>
          <p:nvSpPr>
            <p:cNvPr id="516" name="TextBox 515">
              <a:extLst>
                <a:ext uri="{FF2B5EF4-FFF2-40B4-BE49-F238E27FC236}">
                  <a16:creationId xmlns:a16="http://schemas.microsoft.com/office/drawing/2014/main" id="{FD04EBAC-FA21-4606-8241-2472C69CBC69}"/>
                </a:ext>
              </a:extLst>
            </p:cNvPr>
            <p:cNvSpPr txBox="1"/>
            <p:nvPr/>
          </p:nvSpPr>
          <p:spPr>
            <a:xfrm>
              <a:off x="4137026" y="5425750"/>
              <a:ext cx="54269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500" dirty="0">
                  <a:solidFill>
                    <a:schemeClr val="bg1"/>
                  </a:solidFill>
                </a:rPr>
                <a:t>2018-07-01 1:12:12</a:t>
              </a:r>
              <a:endParaRPr lang="ko-KR" altLang="en-US" sz="500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517" name="그룹 516">
            <a:extLst>
              <a:ext uri="{FF2B5EF4-FFF2-40B4-BE49-F238E27FC236}">
                <a16:creationId xmlns:a16="http://schemas.microsoft.com/office/drawing/2014/main" id="{1189C07A-CE42-466B-A476-F6058C87C50E}"/>
              </a:ext>
            </a:extLst>
          </p:cNvPr>
          <p:cNvGrpSpPr/>
          <p:nvPr/>
        </p:nvGrpSpPr>
        <p:grpSpPr>
          <a:xfrm>
            <a:off x="6162489" y="3290071"/>
            <a:ext cx="1997715" cy="363942"/>
            <a:chOff x="2987840" y="283425"/>
            <a:chExt cx="1933365" cy="363942"/>
          </a:xfrm>
        </p:grpSpPr>
        <p:cxnSp>
          <p:nvCxnSpPr>
            <p:cNvPr id="518" name="직선 연결선 517">
              <a:extLst>
                <a:ext uri="{FF2B5EF4-FFF2-40B4-BE49-F238E27FC236}">
                  <a16:creationId xmlns:a16="http://schemas.microsoft.com/office/drawing/2014/main" id="{A004500C-F589-4875-8323-01ECA0E1CA34}"/>
                </a:ext>
              </a:extLst>
            </p:cNvPr>
            <p:cNvCxnSpPr/>
            <p:nvPr/>
          </p:nvCxnSpPr>
          <p:spPr>
            <a:xfrm>
              <a:off x="2987840" y="392891"/>
              <a:ext cx="144000" cy="0"/>
            </a:xfrm>
            <a:prstGeom prst="line">
              <a:avLst/>
            </a:prstGeom>
            <a:ln w="19050">
              <a:solidFill>
                <a:schemeClr val="accent6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9" name="직사각형 518">
              <a:extLst>
                <a:ext uri="{FF2B5EF4-FFF2-40B4-BE49-F238E27FC236}">
                  <a16:creationId xmlns:a16="http://schemas.microsoft.com/office/drawing/2014/main" id="{BD569CD7-FCAF-4BE5-A2CE-676D8D61B057}"/>
                </a:ext>
              </a:extLst>
            </p:cNvPr>
            <p:cNvSpPr/>
            <p:nvPr/>
          </p:nvSpPr>
          <p:spPr>
            <a:xfrm>
              <a:off x="3072010" y="285820"/>
              <a:ext cx="1008112" cy="36004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>
                <a:lnSpc>
                  <a:spcPct val="150000"/>
                </a:lnSpc>
              </a:pPr>
              <a:r>
                <a:rPr lang="ko-KR" altLang="en-US" sz="5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충전</a:t>
              </a:r>
            </a:p>
          </p:txBody>
        </p:sp>
        <p:cxnSp>
          <p:nvCxnSpPr>
            <p:cNvPr id="520" name="직선 연결선 519">
              <a:extLst>
                <a:ext uri="{FF2B5EF4-FFF2-40B4-BE49-F238E27FC236}">
                  <a16:creationId xmlns:a16="http://schemas.microsoft.com/office/drawing/2014/main" id="{AB698FB8-5449-4D49-8BDB-BDB0B6F4ADD8}"/>
                </a:ext>
              </a:extLst>
            </p:cNvPr>
            <p:cNvCxnSpPr/>
            <p:nvPr/>
          </p:nvCxnSpPr>
          <p:spPr>
            <a:xfrm>
              <a:off x="3410158" y="392891"/>
              <a:ext cx="144000" cy="0"/>
            </a:xfrm>
            <a:prstGeom prst="line">
              <a:avLst/>
            </a:prstGeom>
            <a:noFill/>
            <a:ln w="19050">
              <a:solidFill>
                <a:schemeClr val="tx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521" name="직사각형 520">
              <a:extLst>
                <a:ext uri="{FF2B5EF4-FFF2-40B4-BE49-F238E27FC236}">
                  <a16:creationId xmlns:a16="http://schemas.microsoft.com/office/drawing/2014/main" id="{67D488E1-F15F-4254-9127-BD260183D2DC}"/>
                </a:ext>
              </a:extLst>
            </p:cNvPr>
            <p:cNvSpPr/>
            <p:nvPr/>
          </p:nvSpPr>
          <p:spPr>
            <a:xfrm>
              <a:off x="3497913" y="283425"/>
              <a:ext cx="1008112" cy="36004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>
                <a:lnSpc>
                  <a:spcPct val="150000"/>
                </a:lnSpc>
              </a:pPr>
              <a:r>
                <a:rPr lang="ko-KR" altLang="en-US" sz="5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방전</a:t>
              </a:r>
            </a:p>
          </p:txBody>
        </p:sp>
        <p:cxnSp>
          <p:nvCxnSpPr>
            <p:cNvPr id="522" name="직선 연결선 521">
              <a:extLst>
                <a:ext uri="{FF2B5EF4-FFF2-40B4-BE49-F238E27FC236}">
                  <a16:creationId xmlns:a16="http://schemas.microsoft.com/office/drawing/2014/main" id="{548F94F7-0C1A-4B57-8551-1FE39B9CFB3A}"/>
                </a:ext>
              </a:extLst>
            </p:cNvPr>
            <p:cNvCxnSpPr/>
            <p:nvPr/>
          </p:nvCxnSpPr>
          <p:spPr>
            <a:xfrm>
              <a:off x="4357958" y="392891"/>
              <a:ext cx="144000" cy="0"/>
            </a:xfrm>
            <a:prstGeom prst="line">
              <a:avLst/>
            </a:prstGeom>
            <a:ln w="12700">
              <a:solidFill>
                <a:schemeClr val="accent3">
                  <a:lumMod val="7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23" name="직사각형 522">
              <a:extLst>
                <a:ext uri="{FF2B5EF4-FFF2-40B4-BE49-F238E27FC236}">
                  <a16:creationId xmlns:a16="http://schemas.microsoft.com/office/drawing/2014/main" id="{2D70729C-6E46-41E2-BD1A-98A0233053B7}"/>
                </a:ext>
              </a:extLst>
            </p:cNvPr>
            <p:cNvSpPr/>
            <p:nvPr/>
          </p:nvSpPr>
          <p:spPr>
            <a:xfrm>
              <a:off x="4433158" y="287327"/>
              <a:ext cx="459790" cy="36004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>
                <a:lnSpc>
                  <a:spcPct val="150000"/>
                </a:lnSpc>
              </a:pPr>
              <a:r>
                <a:rPr lang="ko-KR" altLang="en-US" sz="5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방전 계획</a:t>
              </a:r>
            </a:p>
          </p:txBody>
        </p:sp>
        <p:cxnSp>
          <p:nvCxnSpPr>
            <p:cNvPr id="524" name="직선 연결선 523">
              <a:extLst>
                <a:ext uri="{FF2B5EF4-FFF2-40B4-BE49-F238E27FC236}">
                  <a16:creationId xmlns:a16="http://schemas.microsoft.com/office/drawing/2014/main" id="{18446705-4C14-4D9A-B059-327665CE1CFC}"/>
                </a:ext>
              </a:extLst>
            </p:cNvPr>
            <p:cNvCxnSpPr/>
            <p:nvPr/>
          </p:nvCxnSpPr>
          <p:spPr>
            <a:xfrm>
              <a:off x="3842877" y="392891"/>
              <a:ext cx="144000" cy="0"/>
            </a:xfrm>
            <a:prstGeom prst="line">
              <a:avLst/>
            </a:prstGeom>
            <a:ln w="12700">
              <a:solidFill>
                <a:schemeClr val="tx1">
                  <a:lumMod val="65000"/>
                  <a:lumOff val="3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25" name="직사각형 524">
              <a:extLst>
                <a:ext uri="{FF2B5EF4-FFF2-40B4-BE49-F238E27FC236}">
                  <a16:creationId xmlns:a16="http://schemas.microsoft.com/office/drawing/2014/main" id="{ED640FCF-BE22-4185-987E-FD267B3A7794}"/>
                </a:ext>
              </a:extLst>
            </p:cNvPr>
            <p:cNvSpPr/>
            <p:nvPr/>
          </p:nvSpPr>
          <p:spPr>
            <a:xfrm>
              <a:off x="3913093" y="285103"/>
              <a:ext cx="1008112" cy="36004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>
                <a:lnSpc>
                  <a:spcPct val="150000"/>
                </a:lnSpc>
              </a:pPr>
              <a:r>
                <a:rPr lang="ko-KR" altLang="en-US" sz="5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충전 계획</a:t>
              </a:r>
            </a:p>
          </p:txBody>
        </p:sp>
      </p:grpSp>
      <p:grpSp>
        <p:nvGrpSpPr>
          <p:cNvPr id="527" name="그룹 526">
            <a:extLst>
              <a:ext uri="{FF2B5EF4-FFF2-40B4-BE49-F238E27FC236}">
                <a16:creationId xmlns:a16="http://schemas.microsoft.com/office/drawing/2014/main" id="{E4EBEDE8-5A4D-4C5F-82E3-D1386DD47074}"/>
              </a:ext>
            </a:extLst>
          </p:cNvPr>
          <p:cNvGrpSpPr/>
          <p:nvPr/>
        </p:nvGrpSpPr>
        <p:grpSpPr>
          <a:xfrm>
            <a:off x="563396" y="3823768"/>
            <a:ext cx="2230525" cy="380169"/>
            <a:chOff x="1530621" y="2825422"/>
            <a:chExt cx="7060643" cy="1737220"/>
          </a:xfrm>
        </p:grpSpPr>
        <p:sp>
          <p:nvSpPr>
            <p:cNvPr id="528" name="자유형 83">
              <a:extLst>
                <a:ext uri="{FF2B5EF4-FFF2-40B4-BE49-F238E27FC236}">
                  <a16:creationId xmlns:a16="http://schemas.microsoft.com/office/drawing/2014/main" id="{63CA63B8-9E88-46A0-8BAF-EB28D7DB38F3}"/>
                </a:ext>
              </a:extLst>
            </p:cNvPr>
            <p:cNvSpPr/>
            <p:nvPr/>
          </p:nvSpPr>
          <p:spPr>
            <a:xfrm>
              <a:off x="1530621" y="2831921"/>
              <a:ext cx="3422156" cy="1730721"/>
            </a:xfrm>
            <a:custGeom>
              <a:avLst/>
              <a:gdLst>
                <a:gd name="connsiteX0" fmla="*/ 0 w 4368800"/>
                <a:gd name="connsiteY0" fmla="*/ 389467 h 414867"/>
                <a:gd name="connsiteX1" fmla="*/ 270933 w 4368800"/>
                <a:gd name="connsiteY1" fmla="*/ 321733 h 414867"/>
                <a:gd name="connsiteX2" fmla="*/ 575733 w 4368800"/>
                <a:gd name="connsiteY2" fmla="*/ 414867 h 414867"/>
                <a:gd name="connsiteX3" fmla="*/ 880533 w 4368800"/>
                <a:gd name="connsiteY3" fmla="*/ 355600 h 414867"/>
                <a:gd name="connsiteX4" fmla="*/ 1134533 w 4368800"/>
                <a:gd name="connsiteY4" fmla="*/ 203200 h 414867"/>
                <a:gd name="connsiteX5" fmla="*/ 1456266 w 4368800"/>
                <a:gd name="connsiteY5" fmla="*/ 313267 h 414867"/>
                <a:gd name="connsiteX6" fmla="*/ 1727200 w 4368800"/>
                <a:gd name="connsiteY6" fmla="*/ 254000 h 414867"/>
                <a:gd name="connsiteX7" fmla="*/ 1998133 w 4368800"/>
                <a:gd name="connsiteY7" fmla="*/ 135467 h 414867"/>
                <a:gd name="connsiteX8" fmla="*/ 2353733 w 4368800"/>
                <a:gd name="connsiteY8" fmla="*/ 287867 h 414867"/>
                <a:gd name="connsiteX9" fmla="*/ 2607733 w 4368800"/>
                <a:gd name="connsiteY9" fmla="*/ 169333 h 414867"/>
                <a:gd name="connsiteX10" fmla="*/ 2946400 w 4368800"/>
                <a:gd name="connsiteY10" fmla="*/ 211667 h 414867"/>
                <a:gd name="connsiteX11" fmla="*/ 3234266 w 4368800"/>
                <a:gd name="connsiteY11" fmla="*/ 203200 h 414867"/>
                <a:gd name="connsiteX12" fmla="*/ 3505200 w 4368800"/>
                <a:gd name="connsiteY12" fmla="*/ 0 h 414867"/>
                <a:gd name="connsiteX13" fmla="*/ 3810000 w 4368800"/>
                <a:gd name="connsiteY13" fmla="*/ 135467 h 414867"/>
                <a:gd name="connsiteX14" fmla="*/ 4097866 w 4368800"/>
                <a:gd name="connsiteY14" fmla="*/ 42333 h 414867"/>
                <a:gd name="connsiteX15" fmla="*/ 4368800 w 4368800"/>
                <a:gd name="connsiteY15" fmla="*/ 118533 h 414867"/>
                <a:gd name="connsiteX0" fmla="*/ 0 w 4368800"/>
                <a:gd name="connsiteY0" fmla="*/ 524934 h 524934"/>
                <a:gd name="connsiteX1" fmla="*/ 270933 w 4368800"/>
                <a:gd name="connsiteY1" fmla="*/ 321733 h 524934"/>
                <a:gd name="connsiteX2" fmla="*/ 575733 w 4368800"/>
                <a:gd name="connsiteY2" fmla="*/ 414867 h 524934"/>
                <a:gd name="connsiteX3" fmla="*/ 880533 w 4368800"/>
                <a:gd name="connsiteY3" fmla="*/ 355600 h 524934"/>
                <a:gd name="connsiteX4" fmla="*/ 1134533 w 4368800"/>
                <a:gd name="connsiteY4" fmla="*/ 203200 h 524934"/>
                <a:gd name="connsiteX5" fmla="*/ 1456266 w 4368800"/>
                <a:gd name="connsiteY5" fmla="*/ 313267 h 524934"/>
                <a:gd name="connsiteX6" fmla="*/ 1727200 w 4368800"/>
                <a:gd name="connsiteY6" fmla="*/ 254000 h 524934"/>
                <a:gd name="connsiteX7" fmla="*/ 1998133 w 4368800"/>
                <a:gd name="connsiteY7" fmla="*/ 135467 h 524934"/>
                <a:gd name="connsiteX8" fmla="*/ 2353733 w 4368800"/>
                <a:gd name="connsiteY8" fmla="*/ 287867 h 524934"/>
                <a:gd name="connsiteX9" fmla="*/ 2607733 w 4368800"/>
                <a:gd name="connsiteY9" fmla="*/ 169333 h 524934"/>
                <a:gd name="connsiteX10" fmla="*/ 2946400 w 4368800"/>
                <a:gd name="connsiteY10" fmla="*/ 211667 h 524934"/>
                <a:gd name="connsiteX11" fmla="*/ 3234266 w 4368800"/>
                <a:gd name="connsiteY11" fmla="*/ 203200 h 524934"/>
                <a:gd name="connsiteX12" fmla="*/ 3505200 w 4368800"/>
                <a:gd name="connsiteY12" fmla="*/ 0 h 524934"/>
                <a:gd name="connsiteX13" fmla="*/ 3810000 w 4368800"/>
                <a:gd name="connsiteY13" fmla="*/ 135467 h 524934"/>
                <a:gd name="connsiteX14" fmla="*/ 4097866 w 4368800"/>
                <a:gd name="connsiteY14" fmla="*/ 42333 h 524934"/>
                <a:gd name="connsiteX15" fmla="*/ 4368800 w 4368800"/>
                <a:gd name="connsiteY15" fmla="*/ 118533 h 524934"/>
                <a:gd name="connsiteX0" fmla="*/ 0 w 4368800"/>
                <a:gd name="connsiteY0" fmla="*/ 541867 h 541867"/>
                <a:gd name="connsiteX1" fmla="*/ 270933 w 4368800"/>
                <a:gd name="connsiteY1" fmla="*/ 338666 h 541867"/>
                <a:gd name="connsiteX2" fmla="*/ 575733 w 4368800"/>
                <a:gd name="connsiteY2" fmla="*/ 431800 h 541867"/>
                <a:gd name="connsiteX3" fmla="*/ 880533 w 4368800"/>
                <a:gd name="connsiteY3" fmla="*/ 372533 h 541867"/>
                <a:gd name="connsiteX4" fmla="*/ 1134533 w 4368800"/>
                <a:gd name="connsiteY4" fmla="*/ 220133 h 541867"/>
                <a:gd name="connsiteX5" fmla="*/ 1456266 w 4368800"/>
                <a:gd name="connsiteY5" fmla="*/ 330200 h 541867"/>
                <a:gd name="connsiteX6" fmla="*/ 1727200 w 4368800"/>
                <a:gd name="connsiteY6" fmla="*/ 270933 h 541867"/>
                <a:gd name="connsiteX7" fmla="*/ 2048933 w 4368800"/>
                <a:gd name="connsiteY7" fmla="*/ 0 h 541867"/>
                <a:gd name="connsiteX8" fmla="*/ 2353733 w 4368800"/>
                <a:gd name="connsiteY8" fmla="*/ 304800 h 541867"/>
                <a:gd name="connsiteX9" fmla="*/ 2607733 w 4368800"/>
                <a:gd name="connsiteY9" fmla="*/ 186266 h 541867"/>
                <a:gd name="connsiteX10" fmla="*/ 2946400 w 4368800"/>
                <a:gd name="connsiteY10" fmla="*/ 228600 h 541867"/>
                <a:gd name="connsiteX11" fmla="*/ 3234266 w 4368800"/>
                <a:gd name="connsiteY11" fmla="*/ 220133 h 541867"/>
                <a:gd name="connsiteX12" fmla="*/ 3505200 w 4368800"/>
                <a:gd name="connsiteY12" fmla="*/ 16933 h 541867"/>
                <a:gd name="connsiteX13" fmla="*/ 3810000 w 4368800"/>
                <a:gd name="connsiteY13" fmla="*/ 152400 h 541867"/>
                <a:gd name="connsiteX14" fmla="*/ 4097866 w 4368800"/>
                <a:gd name="connsiteY14" fmla="*/ 59266 h 541867"/>
                <a:gd name="connsiteX15" fmla="*/ 4368800 w 4368800"/>
                <a:gd name="connsiteY15" fmla="*/ 135466 h 541867"/>
                <a:gd name="connsiteX0" fmla="*/ 0 w 4368800"/>
                <a:gd name="connsiteY0" fmla="*/ 541867 h 541867"/>
                <a:gd name="connsiteX1" fmla="*/ 270933 w 4368800"/>
                <a:gd name="connsiteY1" fmla="*/ 338666 h 541867"/>
                <a:gd name="connsiteX2" fmla="*/ 575733 w 4368800"/>
                <a:gd name="connsiteY2" fmla="*/ 431800 h 541867"/>
                <a:gd name="connsiteX3" fmla="*/ 880533 w 4368800"/>
                <a:gd name="connsiteY3" fmla="*/ 372533 h 541867"/>
                <a:gd name="connsiteX4" fmla="*/ 1134533 w 4368800"/>
                <a:gd name="connsiteY4" fmla="*/ 220133 h 541867"/>
                <a:gd name="connsiteX5" fmla="*/ 1456266 w 4368800"/>
                <a:gd name="connsiteY5" fmla="*/ 330200 h 541867"/>
                <a:gd name="connsiteX6" fmla="*/ 1727200 w 4368800"/>
                <a:gd name="connsiteY6" fmla="*/ 270933 h 541867"/>
                <a:gd name="connsiteX7" fmla="*/ 2048933 w 4368800"/>
                <a:gd name="connsiteY7" fmla="*/ 0 h 541867"/>
                <a:gd name="connsiteX8" fmla="*/ 2353733 w 4368800"/>
                <a:gd name="connsiteY8" fmla="*/ 304800 h 541867"/>
                <a:gd name="connsiteX9" fmla="*/ 2607733 w 4368800"/>
                <a:gd name="connsiteY9" fmla="*/ 186266 h 541867"/>
                <a:gd name="connsiteX10" fmla="*/ 2963334 w 4368800"/>
                <a:gd name="connsiteY10" fmla="*/ 152400 h 541867"/>
                <a:gd name="connsiteX11" fmla="*/ 3234266 w 4368800"/>
                <a:gd name="connsiteY11" fmla="*/ 220133 h 541867"/>
                <a:gd name="connsiteX12" fmla="*/ 3505200 w 4368800"/>
                <a:gd name="connsiteY12" fmla="*/ 16933 h 541867"/>
                <a:gd name="connsiteX13" fmla="*/ 3810000 w 4368800"/>
                <a:gd name="connsiteY13" fmla="*/ 152400 h 541867"/>
                <a:gd name="connsiteX14" fmla="*/ 4097866 w 4368800"/>
                <a:gd name="connsiteY14" fmla="*/ 59266 h 541867"/>
                <a:gd name="connsiteX15" fmla="*/ 4368800 w 4368800"/>
                <a:gd name="connsiteY15" fmla="*/ 135466 h 541867"/>
                <a:gd name="connsiteX0" fmla="*/ 0 w 4368800"/>
                <a:gd name="connsiteY0" fmla="*/ 575734 h 575734"/>
                <a:gd name="connsiteX1" fmla="*/ 270933 w 4368800"/>
                <a:gd name="connsiteY1" fmla="*/ 372533 h 575734"/>
                <a:gd name="connsiteX2" fmla="*/ 575733 w 4368800"/>
                <a:gd name="connsiteY2" fmla="*/ 465667 h 575734"/>
                <a:gd name="connsiteX3" fmla="*/ 880533 w 4368800"/>
                <a:gd name="connsiteY3" fmla="*/ 406400 h 575734"/>
                <a:gd name="connsiteX4" fmla="*/ 1134533 w 4368800"/>
                <a:gd name="connsiteY4" fmla="*/ 254000 h 575734"/>
                <a:gd name="connsiteX5" fmla="*/ 1456266 w 4368800"/>
                <a:gd name="connsiteY5" fmla="*/ 364067 h 575734"/>
                <a:gd name="connsiteX6" fmla="*/ 1727200 w 4368800"/>
                <a:gd name="connsiteY6" fmla="*/ 304800 h 575734"/>
                <a:gd name="connsiteX7" fmla="*/ 2048933 w 4368800"/>
                <a:gd name="connsiteY7" fmla="*/ 33867 h 575734"/>
                <a:gd name="connsiteX8" fmla="*/ 2353733 w 4368800"/>
                <a:gd name="connsiteY8" fmla="*/ 338667 h 575734"/>
                <a:gd name="connsiteX9" fmla="*/ 2607733 w 4368800"/>
                <a:gd name="connsiteY9" fmla="*/ 220133 h 575734"/>
                <a:gd name="connsiteX10" fmla="*/ 2963334 w 4368800"/>
                <a:gd name="connsiteY10" fmla="*/ 186267 h 575734"/>
                <a:gd name="connsiteX11" fmla="*/ 3234266 w 4368800"/>
                <a:gd name="connsiteY11" fmla="*/ 254000 h 575734"/>
                <a:gd name="connsiteX12" fmla="*/ 3505200 w 4368800"/>
                <a:gd name="connsiteY12" fmla="*/ 0 h 575734"/>
                <a:gd name="connsiteX13" fmla="*/ 3810000 w 4368800"/>
                <a:gd name="connsiteY13" fmla="*/ 186267 h 575734"/>
                <a:gd name="connsiteX14" fmla="*/ 4097866 w 4368800"/>
                <a:gd name="connsiteY14" fmla="*/ 93133 h 575734"/>
                <a:gd name="connsiteX15" fmla="*/ 4368800 w 4368800"/>
                <a:gd name="connsiteY15" fmla="*/ 169333 h 575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368800" h="575734">
                  <a:moveTo>
                    <a:pt x="0" y="575734"/>
                  </a:moveTo>
                  <a:lnTo>
                    <a:pt x="270933" y="372533"/>
                  </a:lnTo>
                  <a:lnTo>
                    <a:pt x="575733" y="465667"/>
                  </a:lnTo>
                  <a:lnTo>
                    <a:pt x="880533" y="406400"/>
                  </a:lnTo>
                  <a:lnTo>
                    <a:pt x="1134533" y="254000"/>
                  </a:lnTo>
                  <a:lnTo>
                    <a:pt x="1456266" y="364067"/>
                  </a:lnTo>
                  <a:lnTo>
                    <a:pt x="1727200" y="304800"/>
                  </a:lnTo>
                  <a:lnTo>
                    <a:pt x="2048933" y="33867"/>
                  </a:lnTo>
                  <a:lnTo>
                    <a:pt x="2353733" y="338667"/>
                  </a:lnTo>
                  <a:cubicBezTo>
                    <a:pt x="2438400" y="299156"/>
                    <a:pt x="2506133" y="245533"/>
                    <a:pt x="2607733" y="220133"/>
                  </a:cubicBezTo>
                  <a:cubicBezTo>
                    <a:pt x="2709333" y="194733"/>
                    <a:pt x="2844800" y="197556"/>
                    <a:pt x="2963334" y="186267"/>
                  </a:cubicBezTo>
                  <a:lnTo>
                    <a:pt x="3234266" y="254000"/>
                  </a:lnTo>
                  <a:lnTo>
                    <a:pt x="3505200" y="0"/>
                  </a:lnTo>
                  <a:lnTo>
                    <a:pt x="3810000" y="186267"/>
                  </a:lnTo>
                  <a:lnTo>
                    <a:pt x="4097866" y="93133"/>
                  </a:lnTo>
                  <a:lnTo>
                    <a:pt x="4368800" y="169333"/>
                  </a:lnTo>
                </a:path>
              </a:pathLst>
            </a:custGeom>
            <a:ln>
              <a:solidFill>
                <a:schemeClr val="bg1">
                  <a:lumMod val="5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529" name="자유형 33">
              <a:extLst>
                <a:ext uri="{FF2B5EF4-FFF2-40B4-BE49-F238E27FC236}">
                  <a16:creationId xmlns:a16="http://schemas.microsoft.com/office/drawing/2014/main" id="{D77FFD63-625E-4CBE-856A-927C459BCEB5}"/>
                </a:ext>
              </a:extLst>
            </p:cNvPr>
            <p:cNvSpPr/>
            <p:nvPr/>
          </p:nvSpPr>
          <p:spPr>
            <a:xfrm flipH="1">
              <a:off x="4907819" y="2825422"/>
              <a:ext cx="3683445" cy="1730721"/>
            </a:xfrm>
            <a:custGeom>
              <a:avLst/>
              <a:gdLst>
                <a:gd name="connsiteX0" fmla="*/ 0 w 4368800"/>
                <a:gd name="connsiteY0" fmla="*/ 389467 h 414867"/>
                <a:gd name="connsiteX1" fmla="*/ 270933 w 4368800"/>
                <a:gd name="connsiteY1" fmla="*/ 321733 h 414867"/>
                <a:gd name="connsiteX2" fmla="*/ 575733 w 4368800"/>
                <a:gd name="connsiteY2" fmla="*/ 414867 h 414867"/>
                <a:gd name="connsiteX3" fmla="*/ 880533 w 4368800"/>
                <a:gd name="connsiteY3" fmla="*/ 355600 h 414867"/>
                <a:gd name="connsiteX4" fmla="*/ 1134533 w 4368800"/>
                <a:gd name="connsiteY4" fmla="*/ 203200 h 414867"/>
                <a:gd name="connsiteX5" fmla="*/ 1456266 w 4368800"/>
                <a:gd name="connsiteY5" fmla="*/ 313267 h 414867"/>
                <a:gd name="connsiteX6" fmla="*/ 1727200 w 4368800"/>
                <a:gd name="connsiteY6" fmla="*/ 254000 h 414867"/>
                <a:gd name="connsiteX7" fmla="*/ 1998133 w 4368800"/>
                <a:gd name="connsiteY7" fmla="*/ 135467 h 414867"/>
                <a:gd name="connsiteX8" fmla="*/ 2353733 w 4368800"/>
                <a:gd name="connsiteY8" fmla="*/ 287867 h 414867"/>
                <a:gd name="connsiteX9" fmla="*/ 2607733 w 4368800"/>
                <a:gd name="connsiteY9" fmla="*/ 169333 h 414867"/>
                <a:gd name="connsiteX10" fmla="*/ 2946400 w 4368800"/>
                <a:gd name="connsiteY10" fmla="*/ 211667 h 414867"/>
                <a:gd name="connsiteX11" fmla="*/ 3234266 w 4368800"/>
                <a:gd name="connsiteY11" fmla="*/ 203200 h 414867"/>
                <a:gd name="connsiteX12" fmla="*/ 3505200 w 4368800"/>
                <a:gd name="connsiteY12" fmla="*/ 0 h 414867"/>
                <a:gd name="connsiteX13" fmla="*/ 3810000 w 4368800"/>
                <a:gd name="connsiteY13" fmla="*/ 135467 h 414867"/>
                <a:gd name="connsiteX14" fmla="*/ 4097866 w 4368800"/>
                <a:gd name="connsiteY14" fmla="*/ 42333 h 414867"/>
                <a:gd name="connsiteX15" fmla="*/ 4368800 w 4368800"/>
                <a:gd name="connsiteY15" fmla="*/ 118533 h 414867"/>
                <a:gd name="connsiteX0" fmla="*/ 0 w 4368800"/>
                <a:gd name="connsiteY0" fmla="*/ 524934 h 524934"/>
                <a:gd name="connsiteX1" fmla="*/ 270933 w 4368800"/>
                <a:gd name="connsiteY1" fmla="*/ 321733 h 524934"/>
                <a:gd name="connsiteX2" fmla="*/ 575733 w 4368800"/>
                <a:gd name="connsiteY2" fmla="*/ 414867 h 524934"/>
                <a:gd name="connsiteX3" fmla="*/ 880533 w 4368800"/>
                <a:gd name="connsiteY3" fmla="*/ 355600 h 524934"/>
                <a:gd name="connsiteX4" fmla="*/ 1134533 w 4368800"/>
                <a:gd name="connsiteY4" fmla="*/ 203200 h 524934"/>
                <a:gd name="connsiteX5" fmla="*/ 1456266 w 4368800"/>
                <a:gd name="connsiteY5" fmla="*/ 313267 h 524934"/>
                <a:gd name="connsiteX6" fmla="*/ 1727200 w 4368800"/>
                <a:gd name="connsiteY6" fmla="*/ 254000 h 524934"/>
                <a:gd name="connsiteX7" fmla="*/ 1998133 w 4368800"/>
                <a:gd name="connsiteY7" fmla="*/ 135467 h 524934"/>
                <a:gd name="connsiteX8" fmla="*/ 2353733 w 4368800"/>
                <a:gd name="connsiteY8" fmla="*/ 287867 h 524934"/>
                <a:gd name="connsiteX9" fmla="*/ 2607733 w 4368800"/>
                <a:gd name="connsiteY9" fmla="*/ 169333 h 524934"/>
                <a:gd name="connsiteX10" fmla="*/ 2946400 w 4368800"/>
                <a:gd name="connsiteY10" fmla="*/ 211667 h 524934"/>
                <a:gd name="connsiteX11" fmla="*/ 3234266 w 4368800"/>
                <a:gd name="connsiteY11" fmla="*/ 203200 h 524934"/>
                <a:gd name="connsiteX12" fmla="*/ 3505200 w 4368800"/>
                <a:gd name="connsiteY12" fmla="*/ 0 h 524934"/>
                <a:gd name="connsiteX13" fmla="*/ 3810000 w 4368800"/>
                <a:gd name="connsiteY13" fmla="*/ 135467 h 524934"/>
                <a:gd name="connsiteX14" fmla="*/ 4097866 w 4368800"/>
                <a:gd name="connsiteY14" fmla="*/ 42333 h 524934"/>
                <a:gd name="connsiteX15" fmla="*/ 4368800 w 4368800"/>
                <a:gd name="connsiteY15" fmla="*/ 118533 h 524934"/>
                <a:gd name="connsiteX0" fmla="*/ 0 w 4368800"/>
                <a:gd name="connsiteY0" fmla="*/ 541867 h 541867"/>
                <a:gd name="connsiteX1" fmla="*/ 270933 w 4368800"/>
                <a:gd name="connsiteY1" fmla="*/ 338666 h 541867"/>
                <a:gd name="connsiteX2" fmla="*/ 575733 w 4368800"/>
                <a:gd name="connsiteY2" fmla="*/ 431800 h 541867"/>
                <a:gd name="connsiteX3" fmla="*/ 880533 w 4368800"/>
                <a:gd name="connsiteY3" fmla="*/ 372533 h 541867"/>
                <a:gd name="connsiteX4" fmla="*/ 1134533 w 4368800"/>
                <a:gd name="connsiteY4" fmla="*/ 220133 h 541867"/>
                <a:gd name="connsiteX5" fmla="*/ 1456266 w 4368800"/>
                <a:gd name="connsiteY5" fmla="*/ 330200 h 541867"/>
                <a:gd name="connsiteX6" fmla="*/ 1727200 w 4368800"/>
                <a:gd name="connsiteY6" fmla="*/ 270933 h 541867"/>
                <a:gd name="connsiteX7" fmla="*/ 2048933 w 4368800"/>
                <a:gd name="connsiteY7" fmla="*/ 0 h 541867"/>
                <a:gd name="connsiteX8" fmla="*/ 2353733 w 4368800"/>
                <a:gd name="connsiteY8" fmla="*/ 304800 h 541867"/>
                <a:gd name="connsiteX9" fmla="*/ 2607733 w 4368800"/>
                <a:gd name="connsiteY9" fmla="*/ 186266 h 541867"/>
                <a:gd name="connsiteX10" fmla="*/ 2946400 w 4368800"/>
                <a:gd name="connsiteY10" fmla="*/ 228600 h 541867"/>
                <a:gd name="connsiteX11" fmla="*/ 3234266 w 4368800"/>
                <a:gd name="connsiteY11" fmla="*/ 220133 h 541867"/>
                <a:gd name="connsiteX12" fmla="*/ 3505200 w 4368800"/>
                <a:gd name="connsiteY12" fmla="*/ 16933 h 541867"/>
                <a:gd name="connsiteX13" fmla="*/ 3810000 w 4368800"/>
                <a:gd name="connsiteY13" fmla="*/ 152400 h 541867"/>
                <a:gd name="connsiteX14" fmla="*/ 4097866 w 4368800"/>
                <a:gd name="connsiteY14" fmla="*/ 59266 h 541867"/>
                <a:gd name="connsiteX15" fmla="*/ 4368800 w 4368800"/>
                <a:gd name="connsiteY15" fmla="*/ 135466 h 541867"/>
                <a:gd name="connsiteX0" fmla="*/ 0 w 4368800"/>
                <a:gd name="connsiteY0" fmla="*/ 541867 h 541867"/>
                <a:gd name="connsiteX1" fmla="*/ 270933 w 4368800"/>
                <a:gd name="connsiteY1" fmla="*/ 338666 h 541867"/>
                <a:gd name="connsiteX2" fmla="*/ 575733 w 4368800"/>
                <a:gd name="connsiteY2" fmla="*/ 431800 h 541867"/>
                <a:gd name="connsiteX3" fmla="*/ 880533 w 4368800"/>
                <a:gd name="connsiteY3" fmla="*/ 372533 h 541867"/>
                <a:gd name="connsiteX4" fmla="*/ 1134533 w 4368800"/>
                <a:gd name="connsiteY4" fmla="*/ 220133 h 541867"/>
                <a:gd name="connsiteX5" fmla="*/ 1456266 w 4368800"/>
                <a:gd name="connsiteY5" fmla="*/ 330200 h 541867"/>
                <a:gd name="connsiteX6" fmla="*/ 1727200 w 4368800"/>
                <a:gd name="connsiteY6" fmla="*/ 270933 h 541867"/>
                <a:gd name="connsiteX7" fmla="*/ 2048933 w 4368800"/>
                <a:gd name="connsiteY7" fmla="*/ 0 h 541867"/>
                <a:gd name="connsiteX8" fmla="*/ 2353733 w 4368800"/>
                <a:gd name="connsiteY8" fmla="*/ 304800 h 541867"/>
                <a:gd name="connsiteX9" fmla="*/ 2607733 w 4368800"/>
                <a:gd name="connsiteY9" fmla="*/ 186266 h 541867"/>
                <a:gd name="connsiteX10" fmla="*/ 2963334 w 4368800"/>
                <a:gd name="connsiteY10" fmla="*/ 152400 h 541867"/>
                <a:gd name="connsiteX11" fmla="*/ 3234266 w 4368800"/>
                <a:gd name="connsiteY11" fmla="*/ 220133 h 541867"/>
                <a:gd name="connsiteX12" fmla="*/ 3505200 w 4368800"/>
                <a:gd name="connsiteY12" fmla="*/ 16933 h 541867"/>
                <a:gd name="connsiteX13" fmla="*/ 3810000 w 4368800"/>
                <a:gd name="connsiteY13" fmla="*/ 152400 h 541867"/>
                <a:gd name="connsiteX14" fmla="*/ 4097866 w 4368800"/>
                <a:gd name="connsiteY14" fmla="*/ 59266 h 541867"/>
                <a:gd name="connsiteX15" fmla="*/ 4368800 w 4368800"/>
                <a:gd name="connsiteY15" fmla="*/ 135466 h 541867"/>
                <a:gd name="connsiteX0" fmla="*/ 0 w 4368800"/>
                <a:gd name="connsiteY0" fmla="*/ 575734 h 575734"/>
                <a:gd name="connsiteX1" fmla="*/ 270933 w 4368800"/>
                <a:gd name="connsiteY1" fmla="*/ 372533 h 575734"/>
                <a:gd name="connsiteX2" fmla="*/ 575733 w 4368800"/>
                <a:gd name="connsiteY2" fmla="*/ 465667 h 575734"/>
                <a:gd name="connsiteX3" fmla="*/ 880533 w 4368800"/>
                <a:gd name="connsiteY3" fmla="*/ 406400 h 575734"/>
                <a:gd name="connsiteX4" fmla="*/ 1134533 w 4368800"/>
                <a:gd name="connsiteY4" fmla="*/ 254000 h 575734"/>
                <a:gd name="connsiteX5" fmla="*/ 1456266 w 4368800"/>
                <a:gd name="connsiteY5" fmla="*/ 364067 h 575734"/>
                <a:gd name="connsiteX6" fmla="*/ 1727200 w 4368800"/>
                <a:gd name="connsiteY6" fmla="*/ 304800 h 575734"/>
                <a:gd name="connsiteX7" fmla="*/ 2048933 w 4368800"/>
                <a:gd name="connsiteY7" fmla="*/ 33867 h 575734"/>
                <a:gd name="connsiteX8" fmla="*/ 2353733 w 4368800"/>
                <a:gd name="connsiteY8" fmla="*/ 338667 h 575734"/>
                <a:gd name="connsiteX9" fmla="*/ 2607733 w 4368800"/>
                <a:gd name="connsiteY9" fmla="*/ 220133 h 575734"/>
                <a:gd name="connsiteX10" fmla="*/ 2963334 w 4368800"/>
                <a:gd name="connsiteY10" fmla="*/ 186267 h 575734"/>
                <a:gd name="connsiteX11" fmla="*/ 3234266 w 4368800"/>
                <a:gd name="connsiteY11" fmla="*/ 254000 h 575734"/>
                <a:gd name="connsiteX12" fmla="*/ 3505200 w 4368800"/>
                <a:gd name="connsiteY12" fmla="*/ 0 h 575734"/>
                <a:gd name="connsiteX13" fmla="*/ 3810000 w 4368800"/>
                <a:gd name="connsiteY13" fmla="*/ 186267 h 575734"/>
                <a:gd name="connsiteX14" fmla="*/ 4097866 w 4368800"/>
                <a:gd name="connsiteY14" fmla="*/ 93133 h 575734"/>
                <a:gd name="connsiteX15" fmla="*/ 4368800 w 4368800"/>
                <a:gd name="connsiteY15" fmla="*/ 169333 h 575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368800" h="575734">
                  <a:moveTo>
                    <a:pt x="0" y="575734"/>
                  </a:moveTo>
                  <a:lnTo>
                    <a:pt x="270933" y="372533"/>
                  </a:lnTo>
                  <a:lnTo>
                    <a:pt x="575733" y="465667"/>
                  </a:lnTo>
                  <a:lnTo>
                    <a:pt x="880533" y="406400"/>
                  </a:lnTo>
                  <a:lnTo>
                    <a:pt x="1134533" y="254000"/>
                  </a:lnTo>
                  <a:lnTo>
                    <a:pt x="1456266" y="364067"/>
                  </a:lnTo>
                  <a:lnTo>
                    <a:pt x="1727200" y="304800"/>
                  </a:lnTo>
                  <a:lnTo>
                    <a:pt x="2048933" y="33867"/>
                  </a:lnTo>
                  <a:lnTo>
                    <a:pt x="2353733" y="338667"/>
                  </a:lnTo>
                  <a:cubicBezTo>
                    <a:pt x="2438400" y="299156"/>
                    <a:pt x="2506133" y="245533"/>
                    <a:pt x="2607733" y="220133"/>
                  </a:cubicBezTo>
                  <a:cubicBezTo>
                    <a:pt x="2709333" y="194733"/>
                    <a:pt x="2844800" y="197556"/>
                    <a:pt x="2963334" y="186267"/>
                  </a:cubicBezTo>
                  <a:lnTo>
                    <a:pt x="3234266" y="254000"/>
                  </a:lnTo>
                  <a:lnTo>
                    <a:pt x="3505200" y="0"/>
                  </a:lnTo>
                  <a:lnTo>
                    <a:pt x="3810000" y="186267"/>
                  </a:lnTo>
                  <a:lnTo>
                    <a:pt x="4097866" y="93133"/>
                  </a:lnTo>
                  <a:lnTo>
                    <a:pt x="4368800" y="169333"/>
                  </a:lnTo>
                </a:path>
              </a:pathLst>
            </a:custGeom>
            <a:ln>
              <a:solidFill>
                <a:schemeClr val="accent3">
                  <a:lumMod val="75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grpSp>
        <p:nvGrpSpPr>
          <p:cNvPr id="531" name="그룹 530">
            <a:extLst>
              <a:ext uri="{FF2B5EF4-FFF2-40B4-BE49-F238E27FC236}">
                <a16:creationId xmlns:a16="http://schemas.microsoft.com/office/drawing/2014/main" id="{2E438CA8-E6D0-4085-A605-FB56A7000767}"/>
              </a:ext>
            </a:extLst>
          </p:cNvPr>
          <p:cNvGrpSpPr/>
          <p:nvPr/>
        </p:nvGrpSpPr>
        <p:grpSpPr>
          <a:xfrm>
            <a:off x="1181749" y="3130502"/>
            <a:ext cx="1683019" cy="157480"/>
            <a:chOff x="4730291" y="2929429"/>
            <a:chExt cx="1683019" cy="157480"/>
          </a:xfrm>
        </p:grpSpPr>
        <p:cxnSp>
          <p:nvCxnSpPr>
            <p:cNvPr id="535" name="직선 연결선 534">
              <a:extLst>
                <a:ext uri="{FF2B5EF4-FFF2-40B4-BE49-F238E27FC236}">
                  <a16:creationId xmlns:a16="http://schemas.microsoft.com/office/drawing/2014/main" id="{79090AAD-6B57-44C4-BF13-E48CCCDDEEAC}"/>
                </a:ext>
              </a:extLst>
            </p:cNvPr>
            <p:cNvCxnSpPr/>
            <p:nvPr/>
          </p:nvCxnSpPr>
          <p:spPr>
            <a:xfrm>
              <a:off x="4730291" y="3015425"/>
              <a:ext cx="149996" cy="0"/>
            </a:xfrm>
            <a:prstGeom prst="line">
              <a:avLst/>
            </a:prstGeom>
            <a:ln w="12700">
              <a:solidFill>
                <a:schemeClr val="accent6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36" name="직사각형 535">
              <a:extLst>
                <a:ext uri="{FF2B5EF4-FFF2-40B4-BE49-F238E27FC236}">
                  <a16:creationId xmlns:a16="http://schemas.microsoft.com/office/drawing/2014/main" id="{D4728E59-E06B-429A-9050-BE3F11E7A9AA}"/>
                </a:ext>
              </a:extLst>
            </p:cNvPr>
            <p:cNvSpPr/>
            <p:nvPr/>
          </p:nvSpPr>
          <p:spPr>
            <a:xfrm>
              <a:off x="4808469" y="2931990"/>
              <a:ext cx="550418" cy="154919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0"/>
            <a:lstStyle/>
            <a:p>
              <a:pPr algn="ctr">
                <a:lnSpc>
                  <a:spcPct val="150000"/>
                </a:lnSpc>
              </a:pPr>
              <a:r>
                <a:rPr lang="ko-KR" altLang="en-US" sz="5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실제 사용량</a:t>
              </a:r>
            </a:p>
          </p:txBody>
        </p:sp>
        <p:cxnSp>
          <p:nvCxnSpPr>
            <p:cNvPr id="537" name="직선 연결선 536">
              <a:extLst>
                <a:ext uri="{FF2B5EF4-FFF2-40B4-BE49-F238E27FC236}">
                  <a16:creationId xmlns:a16="http://schemas.microsoft.com/office/drawing/2014/main" id="{E7242B32-8571-41ED-BEDB-F754A52E58D6}"/>
                </a:ext>
              </a:extLst>
            </p:cNvPr>
            <p:cNvCxnSpPr/>
            <p:nvPr/>
          </p:nvCxnSpPr>
          <p:spPr>
            <a:xfrm>
              <a:off x="5280128" y="3009449"/>
              <a:ext cx="149996" cy="0"/>
            </a:xfrm>
            <a:prstGeom prst="line">
              <a:avLst/>
            </a:prstGeom>
            <a:solidFill>
              <a:schemeClr val="accent3">
                <a:lumMod val="40000"/>
                <a:lumOff val="60000"/>
              </a:schemeClr>
            </a:solidFill>
            <a:ln w="12700">
              <a:solidFill>
                <a:schemeClr val="accent3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538" name="직사각형 537">
              <a:extLst>
                <a:ext uri="{FF2B5EF4-FFF2-40B4-BE49-F238E27FC236}">
                  <a16:creationId xmlns:a16="http://schemas.microsoft.com/office/drawing/2014/main" id="{50491D2B-C703-47BE-9526-932FCE5B3064}"/>
                </a:ext>
              </a:extLst>
            </p:cNvPr>
            <p:cNvSpPr/>
            <p:nvPr/>
          </p:nvSpPr>
          <p:spPr>
            <a:xfrm>
              <a:off x="5358305" y="2929429"/>
              <a:ext cx="548985" cy="148088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0"/>
            <a:lstStyle/>
            <a:p>
              <a:pPr algn="ctr">
                <a:lnSpc>
                  <a:spcPct val="150000"/>
                </a:lnSpc>
              </a:pPr>
              <a:r>
                <a:rPr lang="en-US" altLang="ko-KR" sz="5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ESS </a:t>
              </a:r>
              <a:r>
                <a:rPr lang="ko-KR" altLang="en-US" sz="5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사용량</a:t>
              </a:r>
            </a:p>
          </p:txBody>
        </p:sp>
        <p:cxnSp>
          <p:nvCxnSpPr>
            <p:cNvPr id="539" name="직선 연결선 538">
              <a:extLst>
                <a:ext uri="{FF2B5EF4-FFF2-40B4-BE49-F238E27FC236}">
                  <a16:creationId xmlns:a16="http://schemas.microsoft.com/office/drawing/2014/main" id="{B58361FB-2149-4591-B937-D192E2CFB372}"/>
                </a:ext>
              </a:extLst>
            </p:cNvPr>
            <p:cNvCxnSpPr/>
            <p:nvPr/>
          </p:nvCxnSpPr>
          <p:spPr>
            <a:xfrm>
              <a:off x="5832767" y="3009449"/>
              <a:ext cx="149996" cy="0"/>
            </a:xfrm>
            <a:prstGeom prst="line">
              <a:avLst/>
            </a:prstGeom>
            <a:solidFill>
              <a:schemeClr val="accent2">
                <a:lumMod val="60000"/>
                <a:lumOff val="40000"/>
              </a:schemeClr>
            </a:solidFill>
            <a:ln w="127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540" name="직사각형 539">
              <a:extLst>
                <a:ext uri="{FF2B5EF4-FFF2-40B4-BE49-F238E27FC236}">
                  <a16:creationId xmlns:a16="http://schemas.microsoft.com/office/drawing/2014/main" id="{D00A7E91-FD5C-4B66-9AB0-2F12C7A10BD9}"/>
                </a:ext>
              </a:extLst>
            </p:cNvPr>
            <p:cNvSpPr/>
            <p:nvPr/>
          </p:nvSpPr>
          <p:spPr>
            <a:xfrm>
              <a:off x="5927483" y="2929429"/>
              <a:ext cx="485827" cy="148088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0"/>
            <a:lstStyle/>
            <a:p>
              <a:pPr algn="ctr">
                <a:lnSpc>
                  <a:spcPct val="150000"/>
                </a:lnSpc>
              </a:pPr>
              <a:r>
                <a:rPr lang="en-US" altLang="ko-KR" sz="5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PV </a:t>
              </a:r>
              <a:r>
                <a:rPr lang="ko-KR" altLang="en-US" sz="5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사용량</a:t>
              </a:r>
            </a:p>
          </p:txBody>
        </p:sp>
      </p:grpSp>
      <p:sp>
        <p:nvSpPr>
          <p:cNvPr id="541" name="직사각형 540">
            <a:extLst>
              <a:ext uri="{FF2B5EF4-FFF2-40B4-BE49-F238E27FC236}">
                <a16:creationId xmlns:a16="http://schemas.microsoft.com/office/drawing/2014/main" id="{6A83722D-9D32-4626-B09F-A5AB4B62E7AC}"/>
              </a:ext>
            </a:extLst>
          </p:cNvPr>
          <p:cNvSpPr/>
          <p:nvPr/>
        </p:nvSpPr>
        <p:spPr>
          <a:xfrm>
            <a:off x="200472" y="1177007"/>
            <a:ext cx="1386918" cy="3077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ko-KR" altLang="en-US" sz="14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롯데 정밀 화학</a:t>
            </a: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47033D04-1EC5-4D6D-8A2B-45BBFBFA22A5}"/>
              </a:ext>
            </a:extLst>
          </p:cNvPr>
          <p:cNvGrpSpPr/>
          <p:nvPr/>
        </p:nvGrpSpPr>
        <p:grpSpPr>
          <a:xfrm>
            <a:off x="183483" y="1752577"/>
            <a:ext cx="2014293" cy="1316384"/>
            <a:chOff x="183483" y="1752577"/>
            <a:chExt cx="2014293" cy="1316384"/>
          </a:xfrm>
        </p:grpSpPr>
        <p:sp>
          <p:nvSpPr>
            <p:cNvPr id="392" name="TextBox 391">
              <a:extLst>
                <a:ext uri="{FF2B5EF4-FFF2-40B4-BE49-F238E27FC236}">
                  <a16:creationId xmlns:a16="http://schemas.microsoft.com/office/drawing/2014/main" id="{E98EC361-DC78-4BF7-97E1-24E2636F3E7B}"/>
                </a:ext>
              </a:extLst>
            </p:cNvPr>
            <p:cNvSpPr txBox="1"/>
            <p:nvPr/>
          </p:nvSpPr>
          <p:spPr>
            <a:xfrm>
              <a:off x="222795" y="2700094"/>
              <a:ext cx="101362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사용량</a:t>
              </a:r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ko-KR" altLang="en-US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구성 </a:t>
              </a:r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(DER)</a:t>
              </a:r>
              <a:endParaRPr lang="ko-KR" altLang="en-US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89" name="직사각형 288">
              <a:extLst>
                <a:ext uri="{FF2B5EF4-FFF2-40B4-BE49-F238E27FC236}">
                  <a16:creationId xmlns:a16="http://schemas.microsoft.com/office/drawing/2014/main" id="{289F2E0D-7A6F-474B-B095-574DFC53789B}"/>
                </a:ext>
              </a:extLst>
            </p:cNvPr>
            <p:cNvSpPr/>
            <p:nvPr/>
          </p:nvSpPr>
          <p:spPr>
            <a:xfrm>
              <a:off x="216470" y="1752577"/>
              <a:ext cx="1947399" cy="131638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3200" b="1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B818D8A7-5EA9-42D6-9244-6A4A420A8508}"/>
                </a:ext>
              </a:extLst>
            </p:cNvPr>
            <p:cNvCxnSpPr/>
            <p:nvPr/>
          </p:nvCxnSpPr>
          <p:spPr>
            <a:xfrm>
              <a:off x="565329" y="2432047"/>
              <a:ext cx="1249679" cy="0"/>
            </a:xfrm>
            <a:prstGeom prst="line">
              <a:avLst/>
            </a:prstGeom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1" name="TextBox 290">
              <a:extLst>
                <a:ext uri="{FF2B5EF4-FFF2-40B4-BE49-F238E27FC236}">
                  <a16:creationId xmlns:a16="http://schemas.microsoft.com/office/drawing/2014/main" id="{8733564F-B979-469F-8AD5-73F33A0093E2}"/>
                </a:ext>
              </a:extLst>
            </p:cNvPr>
            <p:cNvSpPr txBox="1"/>
            <p:nvPr/>
          </p:nvSpPr>
          <p:spPr>
            <a:xfrm>
              <a:off x="183483" y="1767888"/>
              <a:ext cx="2013371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9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사용량 현황</a:t>
              </a:r>
            </a:p>
          </p:txBody>
        </p: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F212987C-830B-4CEA-AAF1-9003EEEC1850}"/>
                </a:ext>
              </a:extLst>
            </p:cNvPr>
            <p:cNvCxnSpPr/>
            <p:nvPr/>
          </p:nvCxnSpPr>
          <p:spPr>
            <a:xfrm>
              <a:off x="565329" y="2628936"/>
              <a:ext cx="1249679" cy="0"/>
            </a:xfrm>
            <a:prstGeom prst="line">
              <a:avLst/>
            </a:prstGeom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A1392B1B-C389-4BFD-9BC2-A7C25FBFF3A7}"/>
                </a:ext>
              </a:extLst>
            </p:cNvPr>
            <p:cNvCxnSpPr/>
            <p:nvPr/>
          </p:nvCxnSpPr>
          <p:spPr>
            <a:xfrm>
              <a:off x="565329" y="2825825"/>
              <a:ext cx="1249679" cy="0"/>
            </a:xfrm>
            <a:prstGeom prst="line">
              <a:avLst/>
            </a:prstGeom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CDA8A6C8-DC9E-4A01-AAAF-E6D8220F0881}"/>
                </a:ext>
              </a:extLst>
            </p:cNvPr>
            <p:cNvCxnSpPr/>
            <p:nvPr/>
          </p:nvCxnSpPr>
          <p:spPr>
            <a:xfrm>
              <a:off x="565329" y="1981841"/>
              <a:ext cx="1249679" cy="0"/>
            </a:xfrm>
            <a:prstGeom prst="line">
              <a:avLst/>
            </a:prstGeom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5" name="직선 연결선 294">
              <a:extLst>
                <a:ext uri="{FF2B5EF4-FFF2-40B4-BE49-F238E27FC236}">
                  <a16:creationId xmlns:a16="http://schemas.microsoft.com/office/drawing/2014/main" id="{CE2406FA-D074-4CAC-80F4-620C26433CF2}"/>
                </a:ext>
              </a:extLst>
            </p:cNvPr>
            <p:cNvCxnSpPr/>
            <p:nvPr/>
          </p:nvCxnSpPr>
          <p:spPr>
            <a:xfrm>
              <a:off x="565329" y="2178730"/>
              <a:ext cx="1249679" cy="0"/>
            </a:xfrm>
            <a:prstGeom prst="line">
              <a:avLst/>
            </a:prstGeom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7" name="TextBox 296">
              <a:extLst>
                <a:ext uri="{FF2B5EF4-FFF2-40B4-BE49-F238E27FC236}">
                  <a16:creationId xmlns:a16="http://schemas.microsoft.com/office/drawing/2014/main" id="{A4A06B7F-4141-4466-B90E-1809BC3BC979}"/>
                </a:ext>
              </a:extLst>
            </p:cNvPr>
            <p:cNvSpPr txBox="1"/>
            <p:nvPr/>
          </p:nvSpPr>
          <p:spPr>
            <a:xfrm>
              <a:off x="183483" y="1977285"/>
              <a:ext cx="2013371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9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피크 전력 현황</a:t>
              </a:r>
            </a:p>
          </p:txBody>
        </p:sp>
        <p:sp>
          <p:nvSpPr>
            <p:cNvPr id="299" name="TextBox 298">
              <a:extLst>
                <a:ext uri="{FF2B5EF4-FFF2-40B4-BE49-F238E27FC236}">
                  <a16:creationId xmlns:a16="http://schemas.microsoft.com/office/drawing/2014/main" id="{0A72CBED-5A6C-4DCE-BDDA-05AC19D3694E}"/>
                </a:ext>
              </a:extLst>
            </p:cNvPr>
            <p:cNvSpPr txBox="1"/>
            <p:nvPr/>
          </p:nvSpPr>
          <p:spPr>
            <a:xfrm>
              <a:off x="184405" y="2190056"/>
              <a:ext cx="2013371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9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ESS </a:t>
              </a:r>
              <a:r>
                <a:rPr lang="ko-KR" altLang="en-US" sz="900" b="1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충방전량</a:t>
              </a:r>
              <a:r>
                <a:rPr lang="ko-KR" altLang="en-US" sz="9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조회</a:t>
              </a:r>
            </a:p>
          </p:txBody>
        </p:sp>
        <p:sp>
          <p:nvSpPr>
            <p:cNvPr id="300" name="TextBox 299">
              <a:extLst>
                <a:ext uri="{FF2B5EF4-FFF2-40B4-BE49-F238E27FC236}">
                  <a16:creationId xmlns:a16="http://schemas.microsoft.com/office/drawing/2014/main" id="{2347E7F5-A73A-4802-9C43-6762090A7BDD}"/>
                </a:ext>
              </a:extLst>
            </p:cNvPr>
            <p:cNvSpPr txBox="1"/>
            <p:nvPr/>
          </p:nvSpPr>
          <p:spPr>
            <a:xfrm>
              <a:off x="183483" y="2426044"/>
              <a:ext cx="2013371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9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PV </a:t>
              </a:r>
              <a:r>
                <a:rPr lang="ko-KR" altLang="en-US" sz="9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발전량 조회</a:t>
              </a:r>
            </a:p>
          </p:txBody>
        </p:sp>
        <p:sp>
          <p:nvSpPr>
            <p:cNvPr id="301" name="TextBox 300">
              <a:extLst>
                <a:ext uri="{FF2B5EF4-FFF2-40B4-BE49-F238E27FC236}">
                  <a16:creationId xmlns:a16="http://schemas.microsoft.com/office/drawing/2014/main" id="{BF702DB8-00D1-4405-A087-1AA0A56A1421}"/>
                </a:ext>
              </a:extLst>
            </p:cNvPr>
            <p:cNvSpPr txBox="1"/>
            <p:nvPr/>
          </p:nvSpPr>
          <p:spPr>
            <a:xfrm>
              <a:off x="183483" y="2622104"/>
              <a:ext cx="2013371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9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DR </a:t>
              </a:r>
              <a:r>
                <a:rPr lang="ko-KR" altLang="en-US" sz="9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실적 조회</a:t>
              </a:r>
            </a:p>
          </p:txBody>
        </p:sp>
        <p:sp>
          <p:nvSpPr>
            <p:cNvPr id="302" name="TextBox 301">
              <a:extLst>
                <a:ext uri="{FF2B5EF4-FFF2-40B4-BE49-F238E27FC236}">
                  <a16:creationId xmlns:a16="http://schemas.microsoft.com/office/drawing/2014/main" id="{83DB06B7-2453-46C7-BB6C-2E8DB56015A0}"/>
                </a:ext>
              </a:extLst>
            </p:cNvPr>
            <p:cNvSpPr txBox="1"/>
            <p:nvPr/>
          </p:nvSpPr>
          <p:spPr>
            <a:xfrm>
              <a:off x="183483" y="2838128"/>
              <a:ext cx="2013371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9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사용량 구성</a:t>
              </a:r>
            </a:p>
          </p:txBody>
        </p:sp>
      </p:grpSp>
      <p:cxnSp>
        <p:nvCxnSpPr>
          <p:cNvPr id="288" name="직선 연결선 287">
            <a:extLst>
              <a:ext uri="{FF2B5EF4-FFF2-40B4-BE49-F238E27FC236}">
                <a16:creationId xmlns:a16="http://schemas.microsoft.com/office/drawing/2014/main" id="{27F1E9CC-036A-4EA6-987E-9EFF416B58C3}"/>
              </a:ext>
            </a:extLst>
          </p:cNvPr>
          <p:cNvCxnSpPr>
            <a:cxnSpLocks/>
          </p:cNvCxnSpPr>
          <p:nvPr/>
        </p:nvCxnSpPr>
        <p:spPr>
          <a:xfrm flipV="1">
            <a:off x="3399665" y="3111662"/>
            <a:ext cx="1284355" cy="283010"/>
          </a:xfrm>
          <a:prstGeom prst="line">
            <a:avLst/>
          </a:prstGeom>
          <a:ln>
            <a:solidFill>
              <a:srgbClr val="FF0000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42" name="TextBox 541">
            <a:extLst>
              <a:ext uri="{FF2B5EF4-FFF2-40B4-BE49-F238E27FC236}">
                <a16:creationId xmlns:a16="http://schemas.microsoft.com/office/drawing/2014/main" id="{A425ECFD-8815-43E9-9F81-5B7E437766A8}"/>
              </a:ext>
            </a:extLst>
          </p:cNvPr>
          <p:cNvSpPr txBox="1"/>
          <p:nvPr/>
        </p:nvSpPr>
        <p:spPr>
          <a:xfrm>
            <a:off x="3017135" y="3927225"/>
            <a:ext cx="986079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>
              <a:defRPr sz="800" b="1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</a:lstStyle>
          <a:p>
            <a:r>
              <a:rPr lang="ko-KR" altLang="en-US" dirty="0"/>
              <a:t>장치 현황</a:t>
            </a:r>
          </a:p>
        </p:txBody>
      </p:sp>
      <p:sp>
        <p:nvSpPr>
          <p:cNvPr id="543" name="직사각형 542">
            <a:extLst>
              <a:ext uri="{FF2B5EF4-FFF2-40B4-BE49-F238E27FC236}">
                <a16:creationId xmlns:a16="http://schemas.microsoft.com/office/drawing/2014/main" id="{2723EF62-1774-46A1-A087-AB4488C9B8AB}"/>
              </a:ext>
            </a:extLst>
          </p:cNvPr>
          <p:cNvSpPr/>
          <p:nvPr/>
        </p:nvSpPr>
        <p:spPr>
          <a:xfrm>
            <a:off x="3574542" y="3922417"/>
            <a:ext cx="725954" cy="18235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150000"/>
              </a:lnSpc>
            </a:pPr>
            <a:r>
              <a:rPr lang="en-US" altLang="ko-KR" sz="500" b="1" dirty="0">
                <a:solidFill>
                  <a:schemeClr val="accent6">
                    <a:lumMod val="75000"/>
                  </a:schemeClr>
                </a:solidFill>
                <a:latin typeface="맑은 고딕" pitchFamily="50" charset="-127"/>
                <a:ea typeface="맑은 고딕" pitchFamily="50" charset="-127"/>
              </a:rPr>
              <a:t>YYYY-MM-DD hh:mm</a:t>
            </a:r>
            <a:endParaRPr lang="ko-KR" altLang="en-US" sz="500" b="1" dirty="0">
              <a:solidFill>
                <a:schemeClr val="accent6">
                  <a:lumMod val="7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544" name="직사각형 543">
            <a:extLst>
              <a:ext uri="{FF2B5EF4-FFF2-40B4-BE49-F238E27FC236}">
                <a16:creationId xmlns:a16="http://schemas.microsoft.com/office/drawing/2014/main" id="{2E2A41A5-2793-42C4-AB91-FBE0BE48478A}"/>
              </a:ext>
            </a:extLst>
          </p:cNvPr>
          <p:cNvSpPr/>
          <p:nvPr/>
        </p:nvSpPr>
        <p:spPr>
          <a:xfrm>
            <a:off x="3727201" y="1892114"/>
            <a:ext cx="725954" cy="18235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150000"/>
              </a:lnSpc>
            </a:pPr>
            <a:r>
              <a:rPr lang="en-US" altLang="ko-KR" sz="500" b="1" dirty="0">
                <a:solidFill>
                  <a:schemeClr val="accent6">
                    <a:lumMod val="75000"/>
                  </a:schemeClr>
                </a:solidFill>
                <a:latin typeface="맑은 고딕" pitchFamily="50" charset="-127"/>
                <a:ea typeface="맑은 고딕" pitchFamily="50" charset="-127"/>
              </a:rPr>
              <a:t>YYYY-MM-DD hh:mm</a:t>
            </a:r>
            <a:endParaRPr lang="ko-KR" altLang="en-US" sz="500" b="1" dirty="0">
              <a:solidFill>
                <a:schemeClr val="accent6">
                  <a:lumMod val="7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545" name="직사각형 544">
            <a:extLst>
              <a:ext uri="{FF2B5EF4-FFF2-40B4-BE49-F238E27FC236}">
                <a16:creationId xmlns:a16="http://schemas.microsoft.com/office/drawing/2014/main" id="{65B1674D-2F92-4419-9064-3760365DE3F6}"/>
              </a:ext>
            </a:extLst>
          </p:cNvPr>
          <p:cNvSpPr/>
          <p:nvPr/>
        </p:nvSpPr>
        <p:spPr>
          <a:xfrm>
            <a:off x="6344923" y="1801922"/>
            <a:ext cx="725954" cy="18235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150000"/>
              </a:lnSpc>
            </a:pPr>
            <a:r>
              <a:rPr lang="en-US" altLang="ko-KR" sz="500" b="1" dirty="0">
                <a:solidFill>
                  <a:schemeClr val="accent6">
                    <a:lumMod val="75000"/>
                  </a:schemeClr>
                </a:solidFill>
                <a:latin typeface="맑은 고딕" pitchFamily="50" charset="-127"/>
                <a:ea typeface="맑은 고딕" pitchFamily="50" charset="-127"/>
              </a:rPr>
              <a:t>YYYY-MM-DD hh:mm</a:t>
            </a:r>
            <a:endParaRPr lang="ko-KR" altLang="en-US" sz="500" b="1" dirty="0">
              <a:solidFill>
                <a:schemeClr val="accent6">
                  <a:lumMod val="7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546" name="직사각형 545">
            <a:extLst>
              <a:ext uri="{FF2B5EF4-FFF2-40B4-BE49-F238E27FC236}">
                <a16:creationId xmlns:a16="http://schemas.microsoft.com/office/drawing/2014/main" id="{29441AE0-2600-461A-AD6C-4B8FDEB0DEE2}"/>
              </a:ext>
            </a:extLst>
          </p:cNvPr>
          <p:cNvSpPr/>
          <p:nvPr/>
        </p:nvSpPr>
        <p:spPr>
          <a:xfrm>
            <a:off x="2141719" y="1908879"/>
            <a:ext cx="725954" cy="18235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150000"/>
              </a:lnSpc>
            </a:pPr>
            <a:r>
              <a:rPr lang="en-US" altLang="ko-KR" sz="500" b="1" dirty="0">
                <a:solidFill>
                  <a:schemeClr val="accent6">
                    <a:lumMod val="75000"/>
                  </a:schemeClr>
                </a:solidFill>
                <a:latin typeface="맑은 고딕" pitchFamily="50" charset="-127"/>
                <a:ea typeface="맑은 고딕" pitchFamily="50" charset="-127"/>
              </a:rPr>
              <a:t>YYYY-MM-DD hh:mm</a:t>
            </a:r>
            <a:endParaRPr lang="ko-KR" altLang="en-US" sz="500" b="1" dirty="0">
              <a:solidFill>
                <a:schemeClr val="accent6">
                  <a:lumMod val="7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547" name="직사각형 546">
            <a:extLst>
              <a:ext uri="{FF2B5EF4-FFF2-40B4-BE49-F238E27FC236}">
                <a16:creationId xmlns:a16="http://schemas.microsoft.com/office/drawing/2014/main" id="{D0F53D82-FDD1-4F1E-9334-765BB85E8780}"/>
              </a:ext>
            </a:extLst>
          </p:cNvPr>
          <p:cNvSpPr/>
          <p:nvPr/>
        </p:nvSpPr>
        <p:spPr>
          <a:xfrm>
            <a:off x="6326562" y="3093933"/>
            <a:ext cx="725954" cy="18235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150000"/>
              </a:lnSpc>
            </a:pPr>
            <a:r>
              <a:rPr lang="en-US" altLang="ko-KR" sz="500" b="1" dirty="0">
                <a:solidFill>
                  <a:schemeClr val="accent6">
                    <a:lumMod val="75000"/>
                  </a:schemeClr>
                </a:solidFill>
                <a:latin typeface="맑은 고딕" pitchFamily="50" charset="-127"/>
                <a:ea typeface="맑은 고딕" pitchFamily="50" charset="-127"/>
              </a:rPr>
              <a:t>YYYY-MM-DD hh:mm</a:t>
            </a:r>
            <a:endParaRPr lang="ko-KR" altLang="en-US" sz="500" b="1" dirty="0">
              <a:solidFill>
                <a:schemeClr val="accent6">
                  <a:lumMod val="7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grpSp>
        <p:nvGrpSpPr>
          <p:cNvPr id="279" name="그룹 278">
            <a:extLst>
              <a:ext uri="{FF2B5EF4-FFF2-40B4-BE49-F238E27FC236}">
                <a16:creationId xmlns:a16="http://schemas.microsoft.com/office/drawing/2014/main" id="{46BC89A5-8F9E-4814-AC92-5FD3D582DD6D}"/>
              </a:ext>
            </a:extLst>
          </p:cNvPr>
          <p:cNvGrpSpPr/>
          <p:nvPr/>
        </p:nvGrpSpPr>
        <p:grpSpPr>
          <a:xfrm>
            <a:off x="6076331" y="1762087"/>
            <a:ext cx="2228568" cy="848471"/>
            <a:chOff x="5986543" y="6211594"/>
            <a:chExt cx="1044000" cy="848471"/>
          </a:xfrm>
        </p:grpSpPr>
        <p:sp>
          <p:nvSpPr>
            <p:cNvPr id="280" name="직사각형 279">
              <a:extLst>
                <a:ext uri="{FF2B5EF4-FFF2-40B4-BE49-F238E27FC236}">
                  <a16:creationId xmlns:a16="http://schemas.microsoft.com/office/drawing/2014/main" id="{0B00157D-B0CA-4FB1-960D-365CD1CEB388}"/>
                </a:ext>
              </a:extLst>
            </p:cNvPr>
            <p:cNvSpPr/>
            <p:nvPr/>
          </p:nvSpPr>
          <p:spPr>
            <a:xfrm>
              <a:off x="6052050" y="6211594"/>
              <a:ext cx="912986" cy="833083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3200" b="1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81" name="TextBox 280">
              <a:extLst>
                <a:ext uri="{FF2B5EF4-FFF2-40B4-BE49-F238E27FC236}">
                  <a16:creationId xmlns:a16="http://schemas.microsoft.com/office/drawing/2014/main" id="{E505084C-39BB-4393-B51B-2AEBED9E65CE}"/>
                </a:ext>
              </a:extLst>
            </p:cNvPr>
            <p:cNvSpPr txBox="1"/>
            <p:nvPr/>
          </p:nvSpPr>
          <p:spPr>
            <a:xfrm>
              <a:off x="5986543" y="6226906"/>
              <a:ext cx="1044000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9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한전 요금 조회</a:t>
              </a:r>
            </a:p>
          </p:txBody>
        </p: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88AC4104-2408-40B5-8D38-DB181A4825A2}"/>
                </a:ext>
              </a:extLst>
            </p:cNvPr>
            <p:cNvCxnSpPr/>
            <p:nvPr/>
          </p:nvCxnSpPr>
          <p:spPr>
            <a:xfrm>
              <a:off x="6184543" y="6440859"/>
              <a:ext cx="648000" cy="0"/>
            </a:xfrm>
            <a:prstGeom prst="line">
              <a:avLst/>
            </a:prstGeom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AE1D761B-2F88-484E-A0AA-7E460DEDDFC2}"/>
                </a:ext>
              </a:extLst>
            </p:cNvPr>
            <p:cNvCxnSpPr/>
            <p:nvPr/>
          </p:nvCxnSpPr>
          <p:spPr>
            <a:xfrm>
              <a:off x="6184543" y="6637748"/>
              <a:ext cx="648000" cy="0"/>
            </a:xfrm>
            <a:prstGeom prst="line">
              <a:avLst/>
            </a:prstGeom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81B53536-057E-4D7C-BB7E-E728F67B7328}"/>
                </a:ext>
              </a:extLst>
            </p:cNvPr>
            <p:cNvCxnSpPr/>
            <p:nvPr/>
          </p:nvCxnSpPr>
          <p:spPr>
            <a:xfrm>
              <a:off x="6184543" y="6834637"/>
              <a:ext cx="648000" cy="0"/>
            </a:xfrm>
            <a:prstGeom prst="line">
              <a:avLst/>
            </a:prstGeom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5" name="TextBox 284">
              <a:extLst>
                <a:ext uri="{FF2B5EF4-FFF2-40B4-BE49-F238E27FC236}">
                  <a16:creationId xmlns:a16="http://schemas.microsoft.com/office/drawing/2014/main" id="{7902655A-1E3E-4A0C-8915-D89DD8A02679}"/>
                </a:ext>
              </a:extLst>
            </p:cNvPr>
            <p:cNvSpPr txBox="1"/>
            <p:nvPr/>
          </p:nvSpPr>
          <p:spPr>
            <a:xfrm>
              <a:off x="5986543" y="6436303"/>
              <a:ext cx="1044000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9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ESS </a:t>
              </a:r>
              <a:r>
                <a:rPr lang="ko-KR" altLang="en-US" sz="9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수익 조회</a:t>
              </a:r>
            </a:p>
          </p:txBody>
        </p:sp>
        <p:sp>
          <p:nvSpPr>
            <p:cNvPr id="286" name="TextBox 285">
              <a:extLst>
                <a:ext uri="{FF2B5EF4-FFF2-40B4-BE49-F238E27FC236}">
                  <a16:creationId xmlns:a16="http://schemas.microsoft.com/office/drawing/2014/main" id="{58C1C21B-AD92-4C35-ADCA-39D8917C9DBF}"/>
                </a:ext>
              </a:extLst>
            </p:cNvPr>
            <p:cNvSpPr txBox="1"/>
            <p:nvPr/>
          </p:nvSpPr>
          <p:spPr>
            <a:xfrm>
              <a:off x="5986543" y="6632593"/>
              <a:ext cx="1044000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>
              <a:defPPr>
                <a:defRPr lang="ko-KR"/>
              </a:defPPr>
              <a:lvl1pPr algn="ctr">
                <a:defRPr sz="800">
                  <a:solidFill>
                    <a:schemeClr val="tx1">
                      <a:lumMod val="65000"/>
                      <a:lumOff val="35000"/>
                    </a:schemeClr>
                  </a:solidFill>
                </a:defRPr>
              </a:lvl1pPr>
            </a:lstStyle>
            <a:p>
              <a:r>
                <a:rPr lang="en-US" altLang="ko-KR" sz="9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DR </a:t>
              </a:r>
              <a:r>
                <a:rPr lang="ko-KR" altLang="en-US" sz="9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수익 조회</a:t>
              </a:r>
            </a:p>
          </p:txBody>
        </p:sp>
        <p:sp>
          <p:nvSpPr>
            <p:cNvPr id="287" name="TextBox 286">
              <a:extLst>
                <a:ext uri="{FF2B5EF4-FFF2-40B4-BE49-F238E27FC236}">
                  <a16:creationId xmlns:a16="http://schemas.microsoft.com/office/drawing/2014/main" id="{BC7A0A9C-1C61-4143-B779-B17CAB5F2629}"/>
                </a:ext>
              </a:extLst>
            </p:cNvPr>
            <p:cNvSpPr txBox="1"/>
            <p:nvPr/>
          </p:nvSpPr>
          <p:spPr>
            <a:xfrm>
              <a:off x="5986543" y="6829233"/>
              <a:ext cx="1044000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9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PV </a:t>
              </a:r>
              <a:r>
                <a:rPr lang="ko-KR" altLang="en-US" sz="9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수익 조회</a:t>
              </a:r>
            </a:p>
          </p:txBody>
        </p:sp>
      </p:grpSp>
      <p:sp>
        <p:nvSpPr>
          <p:cNvPr id="549" name="TextBox 548">
            <a:extLst>
              <a:ext uri="{FF2B5EF4-FFF2-40B4-BE49-F238E27FC236}">
                <a16:creationId xmlns:a16="http://schemas.microsoft.com/office/drawing/2014/main" id="{E957FA18-8467-4831-8083-E61694EB1FE6}"/>
              </a:ext>
            </a:extLst>
          </p:cNvPr>
          <p:cNvSpPr txBox="1"/>
          <p:nvPr/>
        </p:nvSpPr>
        <p:spPr>
          <a:xfrm>
            <a:off x="3248495" y="2082103"/>
            <a:ext cx="2420399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지금은 </a:t>
            </a:r>
            <a:r>
              <a:rPr lang="ko-KR" altLang="en-US" sz="800" b="1" dirty="0">
                <a:solidFill>
                  <a:srgbClr val="FF0000"/>
                </a:solidFill>
              </a:rPr>
              <a:t>요금적용전력</a:t>
            </a:r>
            <a:r>
              <a:rPr lang="ko-KR" altLang="en-US" sz="700" b="1" dirty="0">
                <a:solidFill>
                  <a:schemeClr val="bg1"/>
                </a:solidFill>
              </a:rPr>
              <a:t> 갱신구간 입니다</a:t>
            </a:r>
            <a:r>
              <a:rPr lang="en-US" altLang="ko-KR" sz="700" b="1" dirty="0">
                <a:solidFill>
                  <a:schemeClr val="bg1"/>
                </a:solidFill>
              </a:rPr>
              <a:t>. (08:00 ~ 12:00)</a:t>
            </a:r>
            <a:endParaRPr lang="ko-KR" altLang="en-US" sz="700" b="1" dirty="0">
              <a:solidFill>
                <a:schemeClr val="bg1"/>
              </a:solidFill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7322408D-A973-45AE-B7D7-B14205A98110}"/>
              </a:ext>
            </a:extLst>
          </p:cNvPr>
          <p:cNvGrpSpPr/>
          <p:nvPr/>
        </p:nvGrpSpPr>
        <p:grpSpPr>
          <a:xfrm>
            <a:off x="2202204" y="1754184"/>
            <a:ext cx="1962507" cy="1082883"/>
            <a:chOff x="3102516" y="5709792"/>
            <a:chExt cx="1962507" cy="1082883"/>
          </a:xfrm>
        </p:grpSpPr>
        <p:sp>
          <p:nvSpPr>
            <p:cNvPr id="271" name="직사각형 270">
              <a:extLst>
                <a:ext uri="{FF2B5EF4-FFF2-40B4-BE49-F238E27FC236}">
                  <a16:creationId xmlns:a16="http://schemas.microsoft.com/office/drawing/2014/main" id="{AE06468A-333F-409F-BD34-5DB59C055284}"/>
                </a:ext>
              </a:extLst>
            </p:cNvPr>
            <p:cNvSpPr/>
            <p:nvPr/>
          </p:nvSpPr>
          <p:spPr>
            <a:xfrm>
              <a:off x="3102516" y="5709792"/>
              <a:ext cx="1962507" cy="1082883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3200" b="1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72" name="TextBox 271">
              <a:extLst>
                <a:ext uri="{FF2B5EF4-FFF2-40B4-BE49-F238E27FC236}">
                  <a16:creationId xmlns:a16="http://schemas.microsoft.com/office/drawing/2014/main" id="{2C54889D-6DC8-4115-A8F5-B28E19490486}"/>
                </a:ext>
              </a:extLst>
            </p:cNvPr>
            <p:cNvSpPr txBox="1"/>
            <p:nvPr/>
          </p:nvSpPr>
          <p:spPr>
            <a:xfrm>
              <a:off x="3273995" y="5725104"/>
              <a:ext cx="162651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9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IOE </a:t>
              </a:r>
              <a:r>
                <a:rPr lang="ko-KR" altLang="en-US" sz="9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통신상태</a:t>
              </a:r>
            </a:p>
          </p:txBody>
        </p:sp>
        <p:cxnSp>
          <p:nvCxnSpPr>
            <p:cNvPr id="273" name="직선 연결선 272">
              <a:extLst>
                <a:ext uri="{FF2B5EF4-FFF2-40B4-BE49-F238E27FC236}">
                  <a16:creationId xmlns:a16="http://schemas.microsoft.com/office/drawing/2014/main" id="{CD86CC7F-8036-4D2E-AF9C-01DAB14E6408}"/>
                </a:ext>
              </a:extLst>
            </p:cNvPr>
            <p:cNvCxnSpPr/>
            <p:nvPr/>
          </p:nvCxnSpPr>
          <p:spPr>
            <a:xfrm>
              <a:off x="3354038" y="5939057"/>
              <a:ext cx="1459461" cy="0"/>
            </a:xfrm>
            <a:prstGeom prst="line">
              <a:avLst/>
            </a:prstGeom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4" name="직선 연결선 273">
              <a:extLst>
                <a:ext uri="{FF2B5EF4-FFF2-40B4-BE49-F238E27FC236}">
                  <a16:creationId xmlns:a16="http://schemas.microsoft.com/office/drawing/2014/main" id="{8F2EC423-9748-46A0-91DA-B0CA10FB1F67}"/>
                </a:ext>
              </a:extLst>
            </p:cNvPr>
            <p:cNvCxnSpPr/>
            <p:nvPr/>
          </p:nvCxnSpPr>
          <p:spPr>
            <a:xfrm>
              <a:off x="3354038" y="6135946"/>
              <a:ext cx="1459461" cy="0"/>
            </a:xfrm>
            <a:prstGeom prst="line">
              <a:avLst/>
            </a:prstGeom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5" name="직선 연결선 274">
              <a:extLst>
                <a:ext uri="{FF2B5EF4-FFF2-40B4-BE49-F238E27FC236}">
                  <a16:creationId xmlns:a16="http://schemas.microsoft.com/office/drawing/2014/main" id="{2A8ED896-01C2-475F-89DA-D56ACC502AED}"/>
                </a:ext>
              </a:extLst>
            </p:cNvPr>
            <p:cNvCxnSpPr/>
            <p:nvPr/>
          </p:nvCxnSpPr>
          <p:spPr>
            <a:xfrm>
              <a:off x="3354038" y="6332835"/>
              <a:ext cx="1459461" cy="0"/>
            </a:xfrm>
            <a:prstGeom prst="line">
              <a:avLst/>
            </a:prstGeom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6" name="TextBox 275">
              <a:extLst>
                <a:ext uri="{FF2B5EF4-FFF2-40B4-BE49-F238E27FC236}">
                  <a16:creationId xmlns:a16="http://schemas.microsoft.com/office/drawing/2014/main" id="{4D399DDF-334F-4EDF-96E1-7234FB28D6D5}"/>
                </a:ext>
              </a:extLst>
            </p:cNvPr>
            <p:cNvSpPr txBox="1"/>
            <p:nvPr/>
          </p:nvSpPr>
          <p:spPr>
            <a:xfrm>
              <a:off x="3273995" y="5934501"/>
              <a:ext cx="162651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9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PCS </a:t>
              </a:r>
              <a:r>
                <a:rPr lang="ko-KR" altLang="en-US" sz="9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운전상태</a:t>
              </a:r>
            </a:p>
          </p:txBody>
        </p:sp>
        <p:sp>
          <p:nvSpPr>
            <p:cNvPr id="277" name="TextBox 276">
              <a:extLst>
                <a:ext uri="{FF2B5EF4-FFF2-40B4-BE49-F238E27FC236}">
                  <a16:creationId xmlns:a16="http://schemas.microsoft.com/office/drawing/2014/main" id="{C0669245-B77E-4DCF-B795-05F201CF6B2B}"/>
                </a:ext>
              </a:extLst>
            </p:cNvPr>
            <p:cNvSpPr txBox="1"/>
            <p:nvPr/>
          </p:nvSpPr>
          <p:spPr>
            <a:xfrm>
              <a:off x="3273995" y="6130791"/>
              <a:ext cx="162651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>
              <a:defPPr>
                <a:defRPr lang="ko-KR"/>
              </a:defPPr>
              <a:lvl1pPr algn="ctr">
                <a:defRPr sz="800">
                  <a:solidFill>
                    <a:schemeClr val="tx1">
                      <a:lumMod val="65000"/>
                      <a:lumOff val="35000"/>
                    </a:schemeClr>
                  </a:solidFill>
                </a:defRPr>
              </a:lvl1pPr>
            </a:lstStyle>
            <a:p>
              <a:r>
                <a:rPr lang="en-US" altLang="ko-KR" sz="9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BMS </a:t>
              </a:r>
              <a:r>
                <a:rPr lang="ko-KR" altLang="en-US" sz="9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운전상태</a:t>
              </a:r>
            </a:p>
          </p:txBody>
        </p:sp>
        <p:sp>
          <p:nvSpPr>
            <p:cNvPr id="278" name="TextBox 277">
              <a:extLst>
                <a:ext uri="{FF2B5EF4-FFF2-40B4-BE49-F238E27FC236}">
                  <a16:creationId xmlns:a16="http://schemas.microsoft.com/office/drawing/2014/main" id="{321551A7-3B15-47F1-83C8-BA209224EC98}"/>
                </a:ext>
              </a:extLst>
            </p:cNvPr>
            <p:cNvSpPr txBox="1"/>
            <p:nvPr/>
          </p:nvSpPr>
          <p:spPr>
            <a:xfrm>
              <a:off x="3273995" y="6327431"/>
              <a:ext cx="162651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9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PV </a:t>
              </a:r>
              <a:r>
                <a:rPr lang="ko-KR" altLang="en-US" sz="9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운전상태</a:t>
              </a:r>
            </a:p>
          </p:txBody>
        </p:sp>
        <p:cxnSp>
          <p:nvCxnSpPr>
            <p:cNvPr id="296" name="직선 연결선 295">
              <a:extLst>
                <a:ext uri="{FF2B5EF4-FFF2-40B4-BE49-F238E27FC236}">
                  <a16:creationId xmlns:a16="http://schemas.microsoft.com/office/drawing/2014/main" id="{86C56984-3B4E-44EA-9B46-D292E8EA1ECF}"/>
                </a:ext>
              </a:extLst>
            </p:cNvPr>
            <p:cNvCxnSpPr/>
            <p:nvPr/>
          </p:nvCxnSpPr>
          <p:spPr>
            <a:xfrm>
              <a:off x="3351557" y="6558263"/>
              <a:ext cx="1459461" cy="0"/>
            </a:xfrm>
            <a:prstGeom prst="line">
              <a:avLst/>
            </a:prstGeom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8" name="TextBox 297">
              <a:extLst>
                <a:ext uri="{FF2B5EF4-FFF2-40B4-BE49-F238E27FC236}">
                  <a16:creationId xmlns:a16="http://schemas.microsoft.com/office/drawing/2014/main" id="{019258D7-A0A6-490C-8731-2DFB3ACF61C2}"/>
                </a:ext>
              </a:extLst>
            </p:cNvPr>
            <p:cNvSpPr txBox="1"/>
            <p:nvPr/>
          </p:nvSpPr>
          <p:spPr>
            <a:xfrm>
              <a:off x="3276437" y="6530301"/>
              <a:ext cx="162651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9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장치 그룹 현황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702400239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" name="Picture 3">
            <a:extLst>
              <a:ext uri="{FF2B5EF4-FFF2-40B4-BE49-F238E27FC236}">
                <a16:creationId xmlns:a16="http://schemas.microsoft.com/office/drawing/2014/main" id="{30C7996B-507A-4D77-B121-3E3A9AD2B46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0693" y="748920"/>
            <a:ext cx="8208912" cy="4905646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  <a:extLst/>
        </p:spPr>
      </p:pic>
      <p:grpSp>
        <p:nvGrpSpPr>
          <p:cNvPr id="81" name="그룹 80">
            <a:extLst>
              <a:ext uri="{FF2B5EF4-FFF2-40B4-BE49-F238E27FC236}">
                <a16:creationId xmlns:a16="http://schemas.microsoft.com/office/drawing/2014/main" id="{4A59795B-3463-4D99-9ECC-4FA0B285389E}"/>
              </a:ext>
            </a:extLst>
          </p:cNvPr>
          <p:cNvGrpSpPr/>
          <p:nvPr/>
        </p:nvGrpSpPr>
        <p:grpSpPr>
          <a:xfrm>
            <a:off x="210356" y="1203435"/>
            <a:ext cx="8024876" cy="260092"/>
            <a:chOff x="184526" y="1505937"/>
            <a:chExt cx="8024876" cy="260092"/>
          </a:xfrm>
        </p:grpSpPr>
        <p:sp>
          <p:nvSpPr>
            <p:cNvPr id="82" name="직사각형 81">
              <a:extLst>
                <a:ext uri="{FF2B5EF4-FFF2-40B4-BE49-F238E27FC236}">
                  <a16:creationId xmlns:a16="http://schemas.microsoft.com/office/drawing/2014/main" id="{1601754B-9F48-4F81-9364-FF4E53C7010A}"/>
                </a:ext>
              </a:extLst>
            </p:cNvPr>
            <p:cNvSpPr/>
            <p:nvPr/>
          </p:nvSpPr>
          <p:spPr>
            <a:xfrm>
              <a:off x="5810955" y="1550585"/>
              <a:ext cx="1820532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수익 현황</a:t>
              </a:r>
            </a:p>
          </p:txBody>
        </p:sp>
        <p:sp>
          <p:nvSpPr>
            <p:cNvPr id="83" name="직사각형 82">
              <a:extLst>
                <a:ext uri="{FF2B5EF4-FFF2-40B4-BE49-F238E27FC236}">
                  <a16:creationId xmlns:a16="http://schemas.microsoft.com/office/drawing/2014/main" id="{D8207F64-C291-4C21-BE06-0579F16574C1}"/>
                </a:ext>
              </a:extLst>
            </p:cNvPr>
            <p:cNvSpPr/>
            <p:nvPr/>
          </p:nvSpPr>
          <p:spPr>
            <a:xfrm>
              <a:off x="184526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에너지 모니터링</a:t>
              </a:r>
            </a:p>
          </p:txBody>
        </p:sp>
        <p:sp>
          <p:nvSpPr>
            <p:cNvPr id="84" name="직사각형 83">
              <a:extLst>
                <a:ext uri="{FF2B5EF4-FFF2-40B4-BE49-F238E27FC236}">
                  <a16:creationId xmlns:a16="http://schemas.microsoft.com/office/drawing/2014/main" id="{4989A223-57F0-43EA-9893-A8BA1B7A6AA6}"/>
                </a:ext>
              </a:extLst>
            </p:cNvPr>
            <p:cNvSpPr/>
            <p:nvPr/>
          </p:nvSpPr>
          <p:spPr>
            <a:xfrm>
              <a:off x="2191085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장치 모니터링</a:t>
              </a:r>
            </a:p>
          </p:txBody>
        </p:sp>
        <p:sp>
          <p:nvSpPr>
            <p:cNvPr id="85" name="직사각형 84">
              <a:extLst>
                <a:ext uri="{FF2B5EF4-FFF2-40B4-BE49-F238E27FC236}">
                  <a16:creationId xmlns:a16="http://schemas.microsoft.com/office/drawing/2014/main" id="{D063DEA1-1C19-44CA-A628-FE49AE1435B1}"/>
                </a:ext>
              </a:extLst>
            </p:cNvPr>
            <p:cNvSpPr/>
            <p:nvPr/>
          </p:nvSpPr>
          <p:spPr>
            <a:xfrm>
              <a:off x="4197644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상황</a:t>
              </a:r>
              <a:r>
                <a:rPr lang="en-US" altLang="ko-KR" sz="700" dirty="0"/>
                <a:t> </a:t>
              </a:r>
              <a:r>
                <a:rPr lang="ko-KR" altLang="en-US" sz="700" dirty="0"/>
                <a:t>관제</a:t>
              </a:r>
            </a:p>
          </p:txBody>
        </p:sp>
        <p:sp>
          <p:nvSpPr>
            <p:cNvPr id="86" name="직사각형 85">
              <a:extLst>
                <a:ext uri="{FF2B5EF4-FFF2-40B4-BE49-F238E27FC236}">
                  <a16:creationId xmlns:a16="http://schemas.microsoft.com/office/drawing/2014/main" id="{436A406E-4A14-45F6-878D-51E48190C0E1}"/>
                </a:ext>
              </a:extLst>
            </p:cNvPr>
            <p:cNvSpPr/>
            <p:nvPr/>
          </p:nvSpPr>
          <p:spPr>
            <a:xfrm>
              <a:off x="6204202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요금</a:t>
              </a:r>
              <a:r>
                <a:rPr lang="en-US" altLang="ko-KR" sz="700" dirty="0"/>
                <a:t>/</a:t>
              </a:r>
              <a:r>
                <a:rPr lang="ko-KR" altLang="en-US" sz="700" dirty="0"/>
                <a:t>수익</a:t>
              </a:r>
            </a:p>
          </p:txBody>
        </p:sp>
      </p:grpSp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9104309" y="6645875"/>
            <a:ext cx="140029" cy="138499"/>
          </a:xfrm>
        </p:spPr>
        <p:txBody>
          <a:bodyPr/>
          <a:lstStyle/>
          <a:p>
            <a:pPr>
              <a:defRPr/>
            </a:pPr>
            <a:fld id="{9E41B634-5682-4388-99E7-FE44DCFD254B}" type="slidenum">
              <a:rPr lang="ko-KR" altLang="en-US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>
                <a:defRPr/>
              </a:pPr>
              <a:t>16</a:t>
            </a:fld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텍스트 개체 틀 8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Site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 &gt;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에너지 모니터링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&gt;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사용량 현황</a:t>
            </a:r>
          </a:p>
        </p:txBody>
      </p:sp>
      <p:sp>
        <p:nvSpPr>
          <p:cNvPr id="10" name="텍스트 개체 틀 9"/>
          <p:cNvSpPr>
            <a:spLocks noGrp="1"/>
          </p:cNvSpPr>
          <p:nvPr>
            <p:ph type="body" sz="quarter" idx="10"/>
          </p:nvPr>
        </p:nvSpPr>
        <p:spPr>
          <a:xfrm>
            <a:off x="6023595" y="44624"/>
            <a:ext cx="1233661" cy="196974"/>
          </a:xfrm>
        </p:spPr>
        <p:txBody>
          <a:bodyPr/>
          <a:lstStyle/>
          <a:p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사용량 현황</a:t>
            </a:r>
          </a:p>
        </p:txBody>
      </p:sp>
      <p:graphicFrame>
        <p:nvGraphicFramePr>
          <p:cNvPr id="102" name="Group 15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53542036"/>
              </p:ext>
            </p:extLst>
          </p:nvPr>
        </p:nvGraphicFramePr>
        <p:xfrm>
          <a:off x="8469313" y="276225"/>
          <a:ext cx="1404000" cy="6087936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91537"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Description</a:t>
                      </a: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기간 설정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기간의 시작과 끝 시점을 설정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기간 별 시작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종료 시간은 표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참고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sng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* </a:t>
                      </a:r>
                      <a:r>
                        <a:rPr kumimoji="1" lang="ko-KR" altLang="en-US" sz="800" b="0" i="0" u="none" strike="sng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예측량은 </a:t>
                      </a:r>
                      <a:r>
                        <a:rPr kumimoji="1" lang="en-US" altLang="ko-KR" sz="800" b="0" i="0" u="none" strike="sng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  <a:r>
                        <a:rPr kumimoji="1" lang="ko-KR" altLang="en-US" sz="800" b="0" i="0" u="none" strike="sng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시간 단위로만 확인 가능</a:t>
                      </a:r>
                      <a:endParaRPr kumimoji="1" lang="en-US" altLang="ko-KR" sz="800" b="0" i="0" u="none" strike="sng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2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간격 설정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번에서 지정된 기간 내 데이터의 조회 간격을 설정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1)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간격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en-US" altLang="ko-KR" sz="800" b="0" i="0" u="none" strike="sng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  <a:r>
                        <a:rPr kumimoji="1" lang="ko-KR" altLang="en-US" sz="800" b="0" i="0" u="none" strike="sng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분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15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분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30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분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1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시간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1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일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1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월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2)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기간 별 선택 가능한 조회 간격은 표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2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참고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3) 1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일이 선택된 경우에는 오늘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00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시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~24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시로 조회하고 표시하며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그 외의 경우 지금 시간부터 지정된 과거의 기간만큼 조회하고 표시한다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.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3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조회 기간 시작 설정</a:t>
                      </a:r>
                      <a:endParaRPr lang="en-US" altLang="ko-KR" sz="800" b="1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조회 기간의 시작 날짜를 직접 입력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시간은 현재시간으로 고정되며 날짜만 지정 가능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4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조회 기간 종료 설정</a:t>
                      </a:r>
                      <a:endParaRPr lang="en-US" altLang="ko-KR" sz="800" b="1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조회 기간의 종료 날짜를 직접 입력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시간은 현재시간으로 고정되며 날짜만 지정 가능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5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기간 설정 적용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3, 4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항목에서 지정된 시작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종료 일정에 따라 사용량과 예측 사용량을 조회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8304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6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데이터 갱신 시간 표시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지정된 설정에 따라 조회가 진행된 시간표시</a:t>
                      </a:r>
                      <a:endParaRPr lang="en-US" altLang="ko-KR" sz="800" b="0" u="non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78" name="TextBox 77"/>
          <p:cNvSpPr txBox="1"/>
          <p:nvPr/>
        </p:nvSpPr>
        <p:spPr>
          <a:xfrm>
            <a:off x="7121707" y="21349"/>
            <a:ext cx="567597" cy="2308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화면</a:t>
            </a:r>
            <a:r>
              <a:rPr lang="en-US" altLang="ko-KR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ID</a:t>
            </a:r>
            <a:endParaRPr lang="ko-KR" altLang="en-US" sz="9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7689304" y="43659"/>
            <a:ext cx="792088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itchFamily="50" charset="-127"/>
                <a:ea typeface="맑은 고딕" pitchFamily="50" charset="-127"/>
              </a:rPr>
              <a:t>ewpsp_scr_009</a:t>
            </a:r>
            <a:endParaRPr lang="ko-KR" altLang="en-US" sz="700" dirty="0">
              <a:latin typeface="맑은 고딕" pitchFamily="50" charset="-127"/>
              <a:ea typeface="맑은 고딕" pitchFamily="50" charset="-127"/>
            </a:endParaRPr>
          </a:p>
        </p:txBody>
      </p:sp>
      <p:pic>
        <p:nvPicPr>
          <p:cNvPr id="19" name="Picture 2">
            <a:extLst>
              <a:ext uri="{FF2B5EF4-FFF2-40B4-BE49-F238E27FC236}">
                <a16:creationId xmlns:a16="http://schemas.microsoft.com/office/drawing/2014/main" id="{A5A4328E-C6EA-49AE-A83D-F3BD29B91A6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464" y="762442"/>
            <a:ext cx="8208912" cy="3487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20" name="직선 연결선 19">
            <a:extLst>
              <a:ext uri="{FF2B5EF4-FFF2-40B4-BE49-F238E27FC236}">
                <a16:creationId xmlns:a16="http://schemas.microsoft.com/office/drawing/2014/main" id="{CBB7637B-68CB-4271-863D-C039EE6A4DD8}"/>
              </a:ext>
            </a:extLst>
          </p:cNvPr>
          <p:cNvCxnSpPr>
            <a:cxnSpLocks/>
          </p:cNvCxnSpPr>
          <p:nvPr/>
        </p:nvCxnSpPr>
        <p:spPr>
          <a:xfrm>
            <a:off x="128463" y="1124744"/>
            <a:ext cx="8208912" cy="0"/>
          </a:xfrm>
          <a:prstGeom prst="line">
            <a:avLst/>
          </a:prstGeom>
          <a:ln w="9525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F5AAE406-37F5-49EA-8C72-5BDEE600B5A4}"/>
              </a:ext>
            </a:extLst>
          </p:cNvPr>
          <p:cNvSpPr/>
          <p:nvPr/>
        </p:nvSpPr>
        <p:spPr>
          <a:xfrm>
            <a:off x="120419" y="1842984"/>
            <a:ext cx="1510265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150000"/>
              </a:lnSpc>
            </a:pPr>
            <a:r>
              <a:rPr lang="en-US" altLang="ko-KR" sz="900" b="1" dirty="0">
                <a:solidFill>
                  <a:schemeClr val="bg1">
                    <a:lumMod val="65000"/>
                  </a:schemeClr>
                </a:solidFill>
                <a:latin typeface="맑은 고딕" pitchFamily="50" charset="-127"/>
                <a:ea typeface="맑은 고딕" pitchFamily="50" charset="-127"/>
              </a:rPr>
              <a:t>YYYY-MM-DD hh:mm</a:t>
            </a:r>
            <a:endParaRPr lang="ko-KR" altLang="en-US" sz="900" b="1" dirty="0">
              <a:solidFill>
                <a:schemeClr val="bg1">
                  <a:lumMod val="6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FD8D1D08-1BD2-4A0A-BFDB-7E18F6BB3656}"/>
              </a:ext>
            </a:extLst>
          </p:cNvPr>
          <p:cNvSpPr/>
          <p:nvPr/>
        </p:nvSpPr>
        <p:spPr>
          <a:xfrm>
            <a:off x="3584848" y="1643370"/>
            <a:ext cx="1224136" cy="288033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기간 설정</a:t>
            </a: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3D01D5A5-3F68-416F-AD61-4CCC7C1CE4FD}"/>
              </a:ext>
            </a:extLst>
          </p:cNvPr>
          <p:cNvSpPr/>
          <p:nvPr/>
        </p:nvSpPr>
        <p:spPr>
          <a:xfrm>
            <a:off x="4304928" y="1643370"/>
            <a:ext cx="1262753" cy="288033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YYY-MM</a:t>
            </a:r>
            <a:endParaRPr lang="ko-KR" altLang="en-US" sz="90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BE88B8C0-437F-49E6-8640-25D76C3BDC1D}"/>
              </a:ext>
            </a:extLst>
          </p:cNvPr>
          <p:cNvSpPr/>
          <p:nvPr/>
        </p:nvSpPr>
        <p:spPr>
          <a:xfrm>
            <a:off x="5567681" y="1643370"/>
            <a:ext cx="288032" cy="288033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▼</a:t>
            </a:r>
          </a:p>
        </p:txBody>
      </p: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237713BB-EE4E-4A4E-BCF8-FF160F368697}"/>
              </a:ext>
            </a:extLst>
          </p:cNvPr>
          <p:cNvSpPr/>
          <p:nvPr/>
        </p:nvSpPr>
        <p:spPr>
          <a:xfrm>
            <a:off x="5855713" y="1643370"/>
            <a:ext cx="249415" cy="288033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~</a:t>
            </a:r>
            <a:endParaRPr lang="ko-KR" altLang="en-US" sz="900" b="1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6D0A783A-455B-4479-8BB3-67E498D5F934}"/>
              </a:ext>
            </a:extLst>
          </p:cNvPr>
          <p:cNvSpPr/>
          <p:nvPr/>
        </p:nvSpPr>
        <p:spPr>
          <a:xfrm>
            <a:off x="6105128" y="1643370"/>
            <a:ext cx="1262753" cy="288033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YYYY-MM</a:t>
            </a:r>
            <a:endParaRPr lang="ko-KR" altLang="en-US" sz="90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E5C8C1D8-A0E7-4A72-A938-A93101859F9A}"/>
              </a:ext>
            </a:extLst>
          </p:cNvPr>
          <p:cNvSpPr/>
          <p:nvPr/>
        </p:nvSpPr>
        <p:spPr>
          <a:xfrm>
            <a:off x="7367881" y="1643370"/>
            <a:ext cx="288032" cy="288033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▼</a:t>
            </a:r>
          </a:p>
        </p:txBody>
      </p:sp>
      <p:pic>
        <p:nvPicPr>
          <p:cNvPr id="32" name="Picture 2" descr="ì¤ì ì ëí ì´ë¯¸ì§ ê²ìê²°ê³¼">
            <a:extLst>
              <a:ext uri="{FF2B5EF4-FFF2-40B4-BE49-F238E27FC236}">
                <a16:creationId xmlns:a16="http://schemas.microsoft.com/office/drawing/2014/main" id="{2D2B0597-DE16-4B75-A420-9B7F45B5810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05865" y="844086"/>
            <a:ext cx="198592" cy="19859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3" name="사각형: 둥근 모서리 32">
            <a:extLst>
              <a:ext uri="{FF2B5EF4-FFF2-40B4-BE49-F238E27FC236}">
                <a16:creationId xmlns:a16="http://schemas.microsoft.com/office/drawing/2014/main" id="{8F9F64A4-D5B4-4033-BD73-810A97991BE0}"/>
              </a:ext>
            </a:extLst>
          </p:cNvPr>
          <p:cNvSpPr/>
          <p:nvPr/>
        </p:nvSpPr>
        <p:spPr>
          <a:xfrm>
            <a:off x="1239315" y="1711078"/>
            <a:ext cx="1013369" cy="180000"/>
          </a:xfrm>
          <a:prstGeom prst="roundRect">
            <a:avLst/>
          </a:prstGeom>
          <a:solidFill>
            <a:schemeClr val="bg1"/>
          </a:solidFill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altLang="ko-KR" sz="900" dirty="0">
                <a:solidFill>
                  <a:schemeClr val="tx1"/>
                </a:solidFill>
              </a:rPr>
              <a:t>1</a:t>
            </a:r>
            <a:r>
              <a:rPr lang="ko-KR" altLang="en-US" sz="900" dirty="0">
                <a:solidFill>
                  <a:schemeClr val="tx1"/>
                </a:solidFill>
              </a:rPr>
              <a:t>일 </a:t>
            </a:r>
            <a:r>
              <a:rPr lang="en-US" altLang="ko-KR" sz="900" dirty="0">
                <a:solidFill>
                  <a:schemeClr val="tx1"/>
                </a:solidFill>
              </a:rPr>
              <a:t>(</a:t>
            </a:r>
            <a:r>
              <a:rPr lang="ko-KR" altLang="en-US" sz="900" dirty="0">
                <a:solidFill>
                  <a:schemeClr val="tx1"/>
                </a:solidFill>
              </a:rPr>
              <a:t>오늘</a:t>
            </a:r>
            <a:r>
              <a:rPr lang="en-US" altLang="ko-KR" sz="900" dirty="0">
                <a:solidFill>
                  <a:schemeClr val="tx1"/>
                </a:solidFill>
              </a:rPr>
              <a:t>)   </a:t>
            </a:r>
            <a:r>
              <a:rPr lang="ko-KR" altLang="en-US" sz="900" dirty="0">
                <a:solidFill>
                  <a:schemeClr val="tx1"/>
                </a:solidFill>
              </a:rPr>
              <a:t>▼</a:t>
            </a:r>
          </a:p>
        </p:txBody>
      </p:sp>
      <p:sp>
        <p:nvSpPr>
          <p:cNvPr id="34" name="사각형: 둥근 모서리 33">
            <a:extLst>
              <a:ext uri="{FF2B5EF4-FFF2-40B4-BE49-F238E27FC236}">
                <a16:creationId xmlns:a16="http://schemas.microsoft.com/office/drawing/2014/main" id="{E6B8ED62-B897-4808-A51D-E6A57F193C19}"/>
              </a:ext>
            </a:extLst>
          </p:cNvPr>
          <p:cNvSpPr/>
          <p:nvPr/>
        </p:nvSpPr>
        <p:spPr>
          <a:xfrm>
            <a:off x="2297791" y="1710233"/>
            <a:ext cx="1013369" cy="180000"/>
          </a:xfrm>
          <a:prstGeom prst="roundRect">
            <a:avLst/>
          </a:prstGeom>
          <a:solidFill>
            <a:schemeClr val="bg1"/>
          </a:solidFill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altLang="ko-KR" sz="900" dirty="0">
                <a:solidFill>
                  <a:schemeClr val="tx1"/>
                </a:solidFill>
              </a:rPr>
              <a:t>15</a:t>
            </a:r>
            <a:r>
              <a:rPr lang="ko-KR" altLang="en-US" sz="900" dirty="0">
                <a:solidFill>
                  <a:schemeClr val="tx1"/>
                </a:solidFill>
              </a:rPr>
              <a:t>분       ▼</a:t>
            </a: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08F4634D-DE8F-42B0-B735-5E8AB0F7ED85}"/>
              </a:ext>
            </a:extLst>
          </p:cNvPr>
          <p:cNvSpPr/>
          <p:nvPr/>
        </p:nvSpPr>
        <p:spPr>
          <a:xfrm>
            <a:off x="302238" y="1625550"/>
            <a:ext cx="873292" cy="288032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10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사용량 현황</a:t>
            </a:r>
          </a:p>
        </p:txBody>
      </p:sp>
      <p:graphicFrame>
        <p:nvGraphicFramePr>
          <p:cNvPr id="38" name="표 37">
            <a:extLst>
              <a:ext uri="{FF2B5EF4-FFF2-40B4-BE49-F238E27FC236}">
                <a16:creationId xmlns:a16="http://schemas.microsoft.com/office/drawing/2014/main" id="{7FD92239-2616-41E2-A902-58275B702A6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7055267"/>
              </p:ext>
            </p:extLst>
          </p:nvPr>
        </p:nvGraphicFramePr>
        <p:xfrm>
          <a:off x="306388" y="2283775"/>
          <a:ext cx="7886976" cy="235343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3020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9403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9403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9403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9403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9403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9403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29403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9403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294032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294032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294032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294032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294032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294032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294032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294032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294032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294032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  <a:gridCol w="294032">
                  <a:extLst>
                    <a:ext uri="{9D8B030D-6E8A-4147-A177-3AD203B41FA5}">
                      <a16:colId xmlns:a16="http://schemas.microsoft.com/office/drawing/2014/main" val="20019"/>
                    </a:ext>
                  </a:extLst>
                </a:gridCol>
                <a:gridCol w="294032">
                  <a:extLst>
                    <a:ext uri="{9D8B030D-6E8A-4147-A177-3AD203B41FA5}">
                      <a16:colId xmlns:a16="http://schemas.microsoft.com/office/drawing/2014/main" val="20020"/>
                    </a:ext>
                  </a:extLst>
                </a:gridCol>
                <a:gridCol w="294032">
                  <a:extLst>
                    <a:ext uri="{9D8B030D-6E8A-4147-A177-3AD203B41FA5}">
                      <a16:colId xmlns:a16="http://schemas.microsoft.com/office/drawing/2014/main" val="20021"/>
                    </a:ext>
                  </a:extLst>
                </a:gridCol>
                <a:gridCol w="294032">
                  <a:extLst>
                    <a:ext uri="{9D8B030D-6E8A-4147-A177-3AD203B41FA5}">
                      <a16:colId xmlns:a16="http://schemas.microsoft.com/office/drawing/2014/main" val="20022"/>
                    </a:ext>
                  </a:extLst>
                </a:gridCol>
                <a:gridCol w="294032">
                  <a:extLst>
                    <a:ext uri="{9D8B030D-6E8A-4147-A177-3AD203B41FA5}">
                      <a16:colId xmlns:a16="http://schemas.microsoft.com/office/drawing/2014/main" val="20023"/>
                    </a:ext>
                  </a:extLst>
                </a:gridCol>
                <a:gridCol w="294032">
                  <a:extLst>
                    <a:ext uri="{9D8B030D-6E8A-4147-A177-3AD203B41FA5}">
                      <a16:colId xmlns:a16="http://schemas.microsoft.com/office/drawing/2014/main" val="20024"/>
                    </a:ext>
                  </a:extLst>
                </a:gridCol>
              </a:tblGrid>
              <a:tr h="23534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/>
                        <a:t>kWh</a:t>
                      </a:r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534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1,000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5343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5343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5343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3534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500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35343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35343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3534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35343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01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02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03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04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05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06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07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08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09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10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11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12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13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14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15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16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17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18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19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20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21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22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23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24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B303CB75-BA82-4083-870C-5BA6EFB1432D}"/>
              </a:ext>
            </a:extLst>
          </p:cNvPr>
          <p:cNvCxnSpPr>
            <a:cxnSpLocks/>
          </p:cNvCxnSpPr>
          <p:nvPr/>
        </p:nvCxnSpPr>
        <p:spPr>
          <a:xfrm>
            <a:off x="1026468" y="2640780"/>
            <a:ext cx="7164639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직선 연결선 39">
            <a:extLst>
              <a:ext uri="{FF2B5EF4-FFF2-40B4-BE49-F238E27FC236}">
                <a16:creationId xmlns:a16="http://schemas.microsoft.com/office/drawing/2014/main" id="{42899B62-231A-4C26-A360-FDAC103664A8}"/>
              </a:ext>
            </a:extLst>
          </p:cNvPr>
          <p:cNvCxnSpPr>
            <a:cxnSpLocks/>
          </p:cNvCxnSpPr>
          <p:nvPr/>
        </p:nvCxnSpPr>
        <p:spPr>
          <a:xfrm>
            <a:off x="1026468" y="3576884"/>
            <a:ext cx="7164639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직선 연결선 40">
            <a:extLst>
              <a:ext uri="{FF2B5EF4-FFF2-40B4-BE49-F238E27FC236}">
                <a16:creationId xmlns:a16="http://schemas.microsoft.com/office/drawing/2014/main" id="{519E5EFE-B765-4CC0-A654-89A35CEA44B4}"/>
              </a:ext>
            </a:extLst>
          </p:cNvPr>
          <p:cNvCxnSpPr>
            <a:cxnSpLocks/>
          </p:cNvCxnSpPr>
          <p:nvPr/>
        </p:nvCxnSpPr>
        <p:spPr>
          <a:xfrm>
            <a:off x="3822994" y="2283776"/>
            <a:ext cx="0" cy="2157204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2" name="그룹 41">
            <a:extLst>
              <a:ext uri="{FF2B5EF4-FFF2-40B4-BE49-F238E27FC236}">
                <a16:creationId xmlns:a16="http://schemas.microsoft.com/office/drawing/2014/main" id="{CAB8C200-A8D4-47EA-BD6A-3934DE386149}"/>
              </a:ext>
            </a:extLst>
          </p:cNvPr>
          <p:cNvGrpSpPr/>
          <p:nvPr/>
        </p:nvGrpSpPr>
        <p:grpSpPr>
          <a:xfrm>
            <a:off x="317412" y="4748899"/>
            <a:ext cx="862386" cy="211955"/>
            <a:chOff x="4861742" y="3907374"/>
            <a:chExt cx="862386" cy="211955"/>
          </a:xfrm>
        </p:grpSpPr>
        <p:pic>
          <p:nvPicPr>
            <p:cNvPr id="43" name="Picture 6" descr="ìì ë¤ì´ë¡ëì ëí ì´ë¯¸ì§ ê²ìê²°ê³¼">
              <a:extLst>
                <a:ext uri="{FF2B5EF4-FFF2-40B4-BE49-F238E27FC236}">
                  <a16:creationId xmlns:a16="http://schemas.microsoft.com/office/drawing/2014/main" id="{753604D2-F5EC-41A4-A824-3472B1F771B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861742" y="3907374"/>
              <a:ext cx="211955" cy="21195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16B6DFC4-6102-4BA3-87CD-D8C5349FB8B2}"/>
                </a:ext>
              </a:extLst>
            </p:cNvPr>
            <p:cNvSpPr txBox="1"/>
            <p:nvPr/>
          </p:nvSpPr>
          <p:spPr>
            <a:xfrm>
              <a:off x="4949189" y="3921018"/>
              <a:ext cx="7749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600" b="1" dirty="0">
                  <a:solidFill>
                    <a:schemeClr val="bg1"/>
                  </a:solidFill>
                </a:rPr>
                <a:t>데이터 저장하기</a:t>
              </a:r>
            </a:p>
          </p:txBody>
        </p:sp>
      </p:grpSp>
      <p:grpSp>
        <p:nvGrpSpPr>
          <p:cNvPr id="45" name="그룹 44">
            <a:extLst>
              <a:ext uri="{FF2B5EF4-FFF2-40B4-BE49-F238E27FC236}">
                <a16:creationId xmlns:a16="http://schemas.microsoft.com/office/drawing/2014/main" id="{B0524D38-1958-428F-A781-69F0580431F4}"/>
              </a:ext>
            </a:extLst>
          </p:cNvPr>
          <p:cNvGrpSpPr/>
          <p:nvPr/>
        </p:nvGrpSpPr>
        <p:grpSpPr>
          <a:xfrm>
            <a:off x="1252778" y="2541258"/>
            <a:ext cx="6778887" cy="1755929"/>
            <a:chOff x="1413934" y="2825423"/>
            <a:chExt cx="7084586" cy="1548992"/>
          </a:xfrm>
        </p:grpSpPr>
        <p:sp>
          <p:nvSpPr>
            <p:cNvPr id="46" name="자유형 10">
              <a:extLst>
                <a:ext uri="{FF2B5EF4-FFF2-40B4-BE49-F238E27FC236}">
                  <a16:creationId xmlns:a16="http://schemas.microsoft.com/office/drawing/2014/main" id="{7A5EC0C2-FE1F-43BD-A2E8-2566F9E09740}"/>
                </a:ext>
              </a:extLst>
            </p:cNvPr>
            <p:cNvSpPr/>
            <p:nvPr/>
          </p:nvSpPr>
          <p:spPr>
            <a:xfrm>
              <a:off x="1413934" y="3166369"/>
              <a:ext cx="2687266" cy="1208046"/>
            </a:xfrm>
            <a:custGeom>
              <a:avLst/>
              <a:gdLst>
                <a:gd name="connsiteX0" fmla="*/ 0 w 6477000"/>
                <a:gd name="connsiteY0" fmla="*/ 1208046 h 1208046"/>
                <a:gd name="connsiteX1" fmla="*/ 33867 w 6477000"/>
                <a:gd name="connsiteY1" fmla="*/ 1157246 h 1208046"/>
                <a:gd name="connsiteX2" fmla="*/ 67734 w 6477000"/>
                <a:gd name="connsiteY2" fmla="*/ 1140313 h 1208046"/>
                <a:gd name="connsiteX3" fmla="*/ 101600 w 6477000"/>
                <a:gd name="connsiteY3" fmla="*/ 1072580 h 1208046"/>
                <a:gd name="connsiteX4" fmla="*/ 118534 w 6477000"/>
                <a:gd name="connsiteY4" fmla="*/ 1055646 h 1208046"/>
                <a:gd name="connsiteX5" fmla="*/ 152400 w 6477000"/>
                <a:gd name="connsiteY5" fmla="*/ 937113 h 1208046"/>
                <a:gd name="connsiteX6" fmla="*/ 169334 w 6477000"/>
                <a:gd name="connsiteY6" fmla="*/ 903246 h 1208046"/>
                <a:gd name="connsiteX7" fmla="*/ 203200 w 6477000"/>
                <a:gd name="connsiteY7" fmla="*/ 818580 h 1208046"/>
                <a:gd name="connsiteX8" fmla="*/ 220134 w 6477000"/>
                <a:gd name="connsiteY8" fmla="*/ 801646 h 1208046"/>
                <a:gd name="connsiteX9" fmla="*/ 237067 w 6477000"/>
                <a:gd name="connsiteY9" fmla="*/ 750846 h 1208046"/>
                <a:gd name="connsiteX10" fmla="*/ 304800 w 6477000"/>
                <a:gd name="connsiteY10" fmla="*/ 750846 h 1208046"/>
                <a:gd name="connsiteX11" fmla="*/ 321734 w 6477000"/>
                <a:gd name="connsiteY11" fmla="*/ 767780 h 1208046"/>
                <a:gd name="connsiteX12" fmla="*/ 355600 w 6477000"/>
                <a:gd name="connsiteY12" fmla="*/ 784713 h 1208046"/>
                <a:gd name="connsiteX13" fmla="*/ 508000 w 6477000"/>
                <a:gd name="connsiteY13" fmla="*/ 750846 h 1208046"/>
                <a:gd name="connsiteX14" fmla="*/ 575734 w 6477000"/>
                <a:gd name="connsiteY14" fmla="*/ 716980 h 1208046"/>
                <a:gd name="connsiteX15" fmla="*/ 643467 w 6477000"/>
                <a:gd name="connsiteY15" fmla="*/ 683113 h 1208046"/>
                <a:gd name="connsiteX16" fmla="*/ 677334 w 6477000"/>
                <a:gd name="connsiteY16" fmla="*/ 666180 h 1208046"/>
                <a:gd name="connsiteX17" fmla="*/ 762000 w 6477000"/>
                <a:gd name="connsiteY17" fmla="*/ 615380 h 1208046"/>
                <a:gd name="connsiteX18" fmla="*/ 778934 w 6477000"/>
                <a:gd name="connsiteY18" fmla="*/ 598446 h 1208046"/>
                <a:gd name="connsiteX19" fmla="*/ 812800 w 6477000"/>
                <a:gd name="connsiteY19" fmla="*/ 581513 h 1208046"/>
                <a:gd name="connsiteX20" fmla="*/ 965200 w 6477000"/>
                <a:gd name="connsiteY20" fmla="*/ 598446 h 1208046"/>
                <a:gd name="connsiteX21" fmla="*/ 1032934 w 6477000"/>
                <a:gd name="connsiteY21" fmla="*/ 615380 h 1208046"/>
                <a:gd name="connsiteX22" fmla="*/ 1202267 w 6477000"/>
                <a:gd name="connsiteY22" fmla="*/ 598446 h 1208046"/>
                <a:gd name="connsiteX23" fmla="*/ 1270000 w 6477000"/>
                <a:gd name="connsiteY23" fmla="*/ 564580 h 1208046"/>
                <a:gd name="connsiteX24" fmla="*/ 1303867 w 6477000"/>
                <a:gd name="connsiteY24" fmla="*/ 547646 h 1208046"/>
                <a:gd name="connsiteX25" fmla="*/ 1354667 w 6477000"/>
                <a:gd name="connsiteY25" fmla="*/ 530713 h 1208046"/>
                <a:gd name="connsiteX26" fmla="*/ 1388534 w 6477000"/>
                <a:gd name="connsiteY26" fmla="*/ 513780 h 1208046"/>
                <a:gd name="connsiteX27" fmla="*/ 1557867 w 6477000"/>
                <a:gd name="connsiteY27" fmla="*/ 496846 h 1208046"/>
                <a:gd name="connsiteX28" fmla="*/ 1964267 w 6477000"/>
                <a:gd name="connsiteY28" fmla="*/ 462980 h 1208046"/>
                <a:gd name="connsiteX29" fmla="*/ 2082800 w 6477000"/>
                <a:gd name="connsiteY29" fmla="*/ 412180 h 1208046"/>
                <a:gd name="connsiteX30" fmla="*/ 2133600 w 6477000"/>
                <a:gd name="connsiteY30" fmla="*/ 361380 h 1208046"/>
                <a:gd name="connsiteX31" fmla="*/ 2150534 w 6477000"/>
                <a:gd name="connsiteY31" fmla="*/ 344446 h 1208046"/>
                <a:gd name="connsiteX32" fmla="*/ 2201334 w 6477000"/>
                <a:gd name="connsiteY32" fmla="*/ 310580 h 1208046"/>
                <a:gd name="connsiteX33" fmla="*/ 2455334 w 6477000"/>
                <a:gd name="connsiteY33" fmla="*/ 327513 h 1208046"/>
                <a:gd name="connsiteX34" fmla="*/ 2489200 w 6477000"/>
                <a:gd name="connsiteY34" fmla="*/ 361380 h 1208046"/>
                <a:gd name="connsiteX35" fmla="*/ 2624667 w 6477000"/>
                <a:gd name="connsiteY35" fmla="*/ 378313 h 1208046"/>
                <a:gd name="connsiteX36" fmla="*/ 2726267 w 6477000"/>
                <a:gd name="connsiteY36" fmla="*/ 395246 h 1208046"/>
                <a:gd name="connsiteX37" fmla="*/ 2980267 w 6477000"/>
                <a:gd name="connsiteY37" fmla="*/ 378313 h 1208046"/>
                <a:gd name="connsiteX38" fmla="*/ 3149600 w 6477000"/>
                <a:gd name="connsiteY38" fmla="*/ 344446 h 1208046"/>
                <a:gd name="connsiteX39" fmla="*/ 3183467 w 6477000"/>
                <a:gd name="connsiteY39" fmla="*/ 327513 h 1208046"/>
                <a:gd name="connsiteX40" fmla="*/ 3420534 w 6477000"/>
                <a:gd name="connsiteY40" fmla="*/ 344446 h 1208046"/>
                <a:gd name="connsiteX41" fmla="*/ 3589867 w 6477000"/>
                <a:gd name="connsiteY41" fmla="*/ 378313 h 1208046"/>
                <a:gd name="connsiteX42" fmla="*/ 3674534 w 6477000"/>
                <a:gd name="connsiteY42" fmla="*/ 395246 h 1208046"/>
                <a:gd name="connsiteX43" fmla="*/ 3877734 w 6477000"/>
                <a:gd name="connsiteY43" fmla="*/ 429113 h 1208046"/>
                <a:gd name="connsiteX44" fmla="*/ 4047067 w 6477000"/>
                <a:gd name="connsiteY44" fmla="*/ 462980 h 1208046"/>
                <a:gd name="connsiteX45" fmla="*/ 4284134 w 6477000"/>
                <a:gd name="connsiteY45" fmla="*/ 446046 h 1208046"/>
                <a:gd name="connsiteX46" fmla="*/ 4402667 w 6477000"/>
                <a:gd name="connsiteY46" fmla="*/ 412180 h 1208046"/>
                <a:gd name="connsiteX47" fmla="*/ 4436534 w 6477000"/>
                <a:gd name="connsiteY47" fmla="*/ 395246 h 1208046"/>
                <a:gd name="connsiteX48" fmla="*/ 4521200 w 6477000"/>
                <a:gd name="connsiteY48" fmla="*/ 378313 h 1208046"/>
                <a:gd name="connsiteX49" fmla="*/ 4605867 w 6477000"/>
                <a:gd name="connsiteY49" fmla="*/ 395246 h 1208046"/>
                <a:gd name="connsiteX50" fmla="*/ 4673600 w 6477000"/>
                <a:gd name="connsiteY50" fmla="*/ 412180 h 1208046"/>
                <a:gd name="connsiteX51" fmla="*/ 4859867 w 6477000"/>
                <a:gd name="connsiteY51" fmla="*/ 395246 h 1208046"/>
                <a:gd name="connsiteX52" fmla="*/ 4978400 w 6477000"/>
                <a:gd name="connsiteY52" fmla="*/ 361380 h 1208046"/>
                <a:gd name="connsiteX53" fmla="*/ 5080000 w 6477000"/>
                <a:gd name="connsiteY53" fmla="*/ 310580 h 1208046"/>
                <a:gd name="connsiteX54" fmla="*/ 5096934 w 6477000"/>
                <a:gd name="connsiteY54" fmla="*/ 293646 h 1208046"/>
                <a:gd name="connsiteX55" fmla="*/ 5130800 w 6477000"/>
                <a:gd name="connsiteY55" fmla="*/ 276713 h 1208046"/>
                <a:gd name="connsiteX56" fmla="*/ 5164667 w 6477000"/>
                <a:gd name="connsiteY56" fmla="*/ 242846 h 1208046"/>
                <a:gd name="connsiteX57" fmla="*/ 5181600 w 6477000"/>
                <a:gd name="connsiteY57" fmla="*/ 208980 h 1208046"/>
                <a:gd name="connsiteX58" fmla="*/ 5232400 w 6477000"/>
                <a:gd name="connsiteY58" fmla="*/ 192046 h 1208046"/>
                <a:gd name="connsiteX59" fmla="*/ 5401734 w 6477000"/>
                <a:gd name="connsiteY59" fmla="*/ 141246 h 1208046"/>
                <a:gd name="connsiteX60" fmla="*/ 5486400 w 6477000"/>
                <a:gd name="connsiteY60" fmla="*/ 107380 h 1208046"/>
                <a:gd name="connsiteX61" fmla="*/ 5537200 w 6477000"/>
                <a:gd name="connsiteY61" fmla="*/ 90446 h 1208046"/>
                <a:gd name="connsiteX62" fmla="*/ 5638800 w 6477000"/>
                <a:gd name="connsiteY62" fmla="*/ 107380 h 1208046"/>
                <a:gd name="connsiteX63" fmla="*/ 5672667 w 6477000"/>
                <a:gd name="connsiteY63" fmla="*/ 124313 h 1208046"/>
                <a:gd name="connsiteX64" fmla="*/ 5723467 w 6477000"/>
                <a:gd name="connsiteY64" fmla="*/ 141246 h 1208046"/>
                <a:gd name="connsiteX65" fmla="*/ 5757334 w 6477000"/>
                <a:gd name="connsiteY65" fmla="*/ 158180 h 1208046"/>
                <a:gd name="connsiteX66" fmla="*/ 5926667 w 6477000"/>
                <a:gd name="connsiteY66" fmla="*/ 175113 h 1208046"/>
                <a:gd name="connsiteX67" fmla="*/ 5994400 w 6477000"/>
                <a:gd name="connsiteY67" fmla="*/ 141246 h 1208046"/>
                <a:gd name="connsiteX68" fmla="*/ 6011334 w 6477000"/>
                <a:gd name="connsiteY68" fmla="*/ 124313 h 1208046"/>
                <a:gd name="connsiteX69" fmla="*/ 6079067 w 6477000"/>
                <a:gd name="connsiteY69" fmla="*/ 90446 h 1208046"/>
                <a:gd name="connsiteX70" fmla="*/ 6180667 w 6477000"/>
                <a:gd name="connsiteY70" fmla="*/ 39646 h 1208046"/>
                <a:gd name="connsiteX71" fmla="*/ 6316134 w 6477000"/>
                <a:gd name="connsiteY71" fmla="*/ 5780 h 1208046"/>
                <a:gd name="connsiteX72" fmla="*/ 6477000 w 6477000"/>
                <a:gd name="connsiteY72" fmla="*/ 5780 h 1208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</a:cxnLst>
              <a:rect l="l" t="t" r="r" b="b"/>
              <a:pathLst>
                <a:path w="6477000" h="1208046">
                  <a:moveTo>
                    <a:pt x="0" y="1208046"/>
                  </a:moveTo>
                  <a:cubicBezTo>
                    <a:pt x="11289" y="1191113"/>
                    <a:pt x="19476" y="1171637"/>
                    <a:pt x="33867" y="1157246"/>
                  </a:cubicBezTo>
                  <a:cubicBezTo>
                    <a:pt x="42792" y="1148321"/>
                    <a:pt x="59849" y="1150169"/>
                    <a:pt x="67734" y="1140313"/>
                  </a:cubicBezTo>
                  <a:cubicBezTo>
                    <a:pt x="83503" y="1120602"/>
                    <a:pt x="83751" y="1090429"/>
                    <a:pt x="101600" y="1072580"/>
                  </a:cubicBezTo>
                  <a:lnTo>
                    <a:pt x="118534" y="1055646"/>
                  </a:lnTo>
                  <a:cubicBezTo>
                    <a:pt x="129237" y="1012832"/>
                    <a:pt x="136206" y="977598"/>
                    <a:pt x="152400" y="937113"/>
                  </a:cubicBezTo>
                  <a:cubicBezTo>
                    <a:pt x="157088" y="925394"/>
                    <a:pt x="164646" y="914965"/>
                    <a:pt x="169334" y="903246"/>
                  </a:cubicBezTo>
                  <a:cubicBezTo>
                    <a:pt x="183103" y="868824"/>
                    <a:pt x="183344" y="848364"/>
                    <a:pt x="203200" y="818580"/>
                  </a:cubicBezTo>
                  <a:cubicBezTo>
                    <a:pt x="207628" y="811938"/>
                    <a:pt x="214489" y="807291"/>
                    <a:pt x="220134" y="801646"/>
                  </a:cubicBezTo>
                  <a:cubicBezTo>
                    <a:pt x="225778" y="784713"/>
                    <a:pt x="226357" y="765125"/>
                    <a:pt x="237067" y="750846"/>
                  </a:cubicBezTo>
                  <a:cubicBezTo>
                    <a:pt x="259645" y="720743"/>
                    <a:pt x="282223" y="735794"/>
                    <a:pt x="304800" y="750846"/>
                  </a:cubicBezTo>
                  <a:cubicBezTo>
                    <a:pt x="311442" y="755274"/>
                    <a:pt x="315092" y="763352"/>
                    <a:pt x="321734" y="767780"/>
                  </a:cubicBezTo>
                  <a:cubicBezTo>
                    <a:pt x="332235" y="774781"/>
                    <a:pt x="344311" y="779069"/>
                    <a:pt x="355600" y="784713"/>
                  </a:cubicBezTo>
                  <a:cubicBezTo>
                    <a:pt x="378600" y="780113"/>
                    <a:pt x="480662" y="761098"/>
                    <a:pt x="508000" y="750846"/>
                  </a:cubicBezTo>
                  <a:cubicBezTo>
                    <a:pt x="531636" y="741983"/>
                    <a:pt x="553156" y="728269"/>
                    <a:pt x="575734" y="716980"/>
                  </a:cubicBezTo>
                  <a:lnTo>
                    <a:pt x="643467" y="683113"/>
                  </a:lnTo>
                  <a:lnTo>
                    <a:pt x="677334" y="666180"/>
                  </a:lnTo>
                  <a:cubicBezTo>
                    <a:pt x="712116" y="631396"/>
                    <a:pt x="687127" y="652816"/>
                    <a:pt x="762000" y="615380"/>
                  </a:cubicBezTo>
                  <a:cubicBezTo>
                    <a:pt x="769140" y="611810"/>
                    <a:pt x="772292" y="602874"/>
                    <a:pt x="778934" y="598446"/>
                  </a:cubicBezTo>
                  <a:cubicBezTo>
                    <a:pt x="789435" y="591445"/>
                    <a:pt x="801511" y="587157"/>
                    <a:pt x="812800" y="581513"/>
                  </a:cubicBezTo>
                  <a:cubicBezTo>
                    <a:pt x="863600" y="587157"/>
                    <a:pt x="914682" y="590674"/>
                    <a:pt x="965200" y="598446"/>
                  </a:cubicBezTo>
                  <a:cubicBezTo>
                    <a:pt x="988202" y="601985"/>
                    <a:pt x="1009661" y="615380"/>
                    <a:pt x="1032934" y="615380"/>
                  </a:cubicBezTo>
                  <a:cubicBezTo>
                    <a:pt x="1089660" y="615380"/>
                    <a:pt x="1145823" y="604091"/>
                    <a:pt x="1202267" y="598446"/>
                  </a:cubicBezTo>
                  <a:lnTo>
                    <a:pt x="1270000" y="564580"/>
                  </a:lnTo>
                  <a:cubicBezTo>
                    <a:pt x="1281289" y="558935"/>
                    <a:pt x="1291893" y="551637"/>
                    <a:pt x="1303867" y="547646"/>
                  </a:cubicBezTo>
                  <a:cubicBezTo>
                    <a:pt x="1320800" y="542002"/>
                    <a:pt x="1338094" y="537342"/>
                    <a:pt x="1354667" y="530713"/>
                  </a:cubicBezTo>
                  <a:cubicBezTo>
                    <a:pt x="1366386" y="526026"/>
                    <a:pt x="1376084" y="515855"/>
                    <a:pt x="1388534" y="513780"/>
                  </a:cubicBezTo>
                  <a:cubicBezTo>
                    <a:pt x="1444488" y="504454"/>
                    <a:pt x="1501488" y="503110"/>
                    <a:pt x="1557867" y="496846"/>
                  </a:cubicBezTo>
                  <a:cubicBezTo>
                    <a:pt x="1847460" y="464669"/>
                    <a:pt x="1519985" y="490747"/>
                    <a:pt x="1964267" y="462980"/>
                  </a:cubicBezTo>
                  <a:cubicBezTo>
                    <a:pt x="1994624" y="452860"/>
                    <a:pt x="2061878" y="433102"/>
                    <a:pt x="2082800" y="412180"/>
                  </a:cubicBezTo>
                  <a:lnTo>
                    <a:pt x="2133600" y="361380"/>
                  </a:lnTo>
                  <a:cubicBezTo>
                    <a:pt x="2139245" y="355735"/>
                    <a:pt x="2143394" y="348016"/>
                    <a:pt x="2150534" y="344446"/>
                  </a:cubicBezTo>
                  <a:cubicBezTo>
                    <a:pt x="2191540" y="323943"/>
                    <a:pt x="2175475" y="336437"/>
                    <a:pt x="2201334" y="310580"/>
                  </a:cubicBezTo>
                  <a:cubicBezTo>
                    <a:pt x="2286001" y="316224"/>
                    <a:pt x="2371771" y="312766"/>
                    <a:pt x="2455334" y="327513"/>
                  </a:cubicBezTo>
                  <a:cubicBezTo>
                    <a:pt x="2471056" y="330287"/>
                    <a:pt x="2473908" y="356793"/>
                    <a:pt x="2489200" y="361380"/>
                  </a:cubicBezTo>
                  <a:cubicBezTo>
                    <a:pt x="2532788" y="374456"/>
                    <a:pt x="2579617" y="371877"/>
                    <a:pt x="2624667" y="378313"/>
                  </a:cubicBezTo>
                  <a:cubicBezTo>
                    <a:pt x="2658656" y="383168"/>
                    <a:pt x="2692400" y="389602"/>
                    <a:pt x="2726267" y="395246"/>
                  </a:cubicBezTo>
                  <a:cubicBezTo>
                    <a:pt x="2810934" y="389602"/>
                    <a:pt x="2895761" y="385995"/>
                    <a:pt x="2980267" y="378313"/>
                  </a:cubicBezTo>
                  <a:cubicBezTo>
                    <a:pt x="3050826" y="371899"/>
                    <a:pt x="3090293" y="368169"/>
                    <a:pt x="3149600" y="344446"/>
                  </a:cubicBezTo>
                  <a:cubicBezTo>
                    <a:pt x="3161319" y="339759"/>
                    <a:pt x="3172178" y="333157"/>
                    <a:pt x="3183467" y="327513"/>
                  </a:cubicBezTo>
                  <a:cubicBezTo>
                    <a:pt x="3262489" y="333157"/>
                    <a:pt x="3341922" y="334620"/>
                    <a:pt x="3420534" y="344446"/>
                  </a:cubicBezTo>
                  <a:cubicBezTo>
                    <a:pt x="3477652" y="351586"/>
                    <a:pt x="3533423" y="367024"/>
                    <a:pt x="3589867" y="378313"/>
                  </a:cubicBezTo>
                  <a:lnTo>
                    <a:pt x="3674534" y="395246"/>
                  </a:lnTo>
                  <a:cubicBezTo>
                    <a:pt x="3741868" y="408713"/>
                    <a:pt x="3812590" y="407399"/>
                    <a:pt x="3877734" y="429113"/>
                  </a:cubicBezTo>
                  <a:cubicBezTo>
                    <a:pt x="3966398" y="458667"/>
                    <a:pt x="3910864" y="443522"/>
                    <a:pt x="4047067" y="462980"/>
                  </a:cubicBezTo>
                  <a:cubicBezTo>
                    <a:pt x="4126089" y="457335"/>
                    <a:pt x="4205395" y="454795"/>
                    <a:pt x="4284134" y="446046"/>
                  </a:cubicBezTo>
                  <a:cubicBezTo>
                    <a:pt x="4306365" y="443576"/>
                    <a:pt x="4377968" y="422060"/>
                    <a:pt x="4402667" y="412180"/>
                  </a:cubicBezTo>
                  <a:cubicBezTo>
                    <a:pt x="4414386" y="407492"/>
                    <a:pt x="4424398" y="398713"/>
                    <a:pt x="4436534" y="395246"/>
                  </a:cubicBezTo>
                  <a:cubicBezTo>
                    <a:pt x="4464207" y="387339"/>
                    <a:pt x="4492978" y="383957"/>
                    <a:pt x="4521200" y="378313"/>
                  </a:cubicBezTo>
                  <a:cubicBezTo>
                    <a:pt x="4549422" y="383957"/>
                    <a:pt x="4577771" y="389002"/>
                    <a:pt x="4605867" y="395246"/>
                  </a:cubicBezTo>
                  <a:cubicBezTo>
                    <a:pt x="4628585" y="400295"/>
                    <a:pt x="4650327" y="412180"/>
                    <a:pt x="4673600" y="412180"/>
                  </a:cubicBezTo>
                  <a:cubicBezTo>
                    <a:pt x="4735945" y="412180"/>
                    <a:pt x="4797778" y="400891"/>
                    <a:pt x="4859867" y="395246"/>
                  </a:cubicBezTo>
                  <a:cubicBezTo>
                    <a:pt x="4894236" y="386654"/>
                    <a:pt x="4944392" y="375955"/>
                    <a:pt x="4978400" y="361380"/>
                  </a:cubicBezTo>
                  <a:lnTo>
                    <a:pt x="5080000" y="310580"/>
                  </a:lnTo>
                  <a:cubicBezTo>
                    <a:pt x="5087140" y="307010"/>
                    <a:pt x="5090292" y="298074"/>
                    <a:pt x="5096934" y="293646"/>
                  </a:cubicBezTo>
                  <a:cubicBezTo>
                    <a:pt x="5107435" y="286645"/>
                    <a:pt x="5120703" y="284286"/>
                    <a:pt x="5130800" y="276713"/>
                  </a:cubicBezTo>
                  <a:cubicBezTo>
                    <a:pt x="5143572" y="267134"/>
                    <a:pt x="5157527" y="257126"/>
                    <a:pt x="5164667" y="242846"/>
                  </a:cubicBezTo>
                  <a:cubicBezTo>
                    <a:pt x="5170311" y="231557"/>
                    <a:pt x="5171503" y="216553"/>
                    <a:pt x="5181600" y="208980"/>
                  </a:cubicBezTo>
                  <a:cubicBezTo>
                    <a:pt x="5195879" y="198270"/>
                    <a:pt x="5215994" y="199077"/>
                    <a:pt x="5232400" y="192046"/>
                  </a:cubicBezTo>
                  <a:cubicBezTo>
                    <a:pt x="5389953" y="124524"/>
                    <a:pt x="5194837" y="187224"/>
                    <a:pt x="5401734" y="141246"/>
                  </a:cubicBezTo>
                  <a:cubicBezTo>
                    <a:pt x="5464915" y="127206"/>
                    <a:pt x="5436281" y="127428"/>
                    <a:pt x="5486400" y="107380"/>
                  </a:cubicBezTo>
                  <a:cubicBezTo>
                    <a:pt x="5502973" y="100751"/>
                    <a:pt x="5520267" y="96091"/>
                    <a:pt x="5537200" y="90446"/>
                  </a:cubicBezTo>
                  <a:cubicBezTo>
                    <a:pt x="5571067" y="96091"/>
                    <a:pt x="5605491" y="99053"/>
                    <a:pt x="5638800" y="107380"/>
                  </a:cubicBezTo>
                  <a:cubicBezTo>
                    <a:pt x="5651045" y="110441"/>
                    <a:pt x="5660948" y="119626"/>
                    <a:pt x="5672667" y="124313"/>
                  </a:cubicBezTo>
                  <a:cubicBezTo>
                    <a:pt x="5689240" y="130942"/>
                    <a:pt x="5706894" y="134617"/>
                    <a:pt x="5723467" y="141246"/>
                  </a:cubicBezTo>
                  <a:cubicBezTo>
                    <a:pt x="5735186" y="145934"/>
                    <a:pt x="5744884" y="156105"/>
                    <a:pt x="5757334" y="158180"/>
                  </a:cubicBezTo>
                  <a:cubicBezTo>
                    <a:pt x="5813288" y="167506"/>
                    <a:pt x="5870223" y="169469"/>
                    <a:pt x="5926667" y="175113"/>
                  </a:cubicBezTo>
                  <a:cubicBezTo>
                    <a:pt x="5949245" y="163824"/>
                    <a:pt x="5976550" y="159095"/>
                    <a:pt x="5994400" y="141246"/>
                  </a:cubicBezTo>
                  <a:cubicBezTo>
                    <a:pt x="6000045" y="135602"/>
                    <a:pt x="6004489" y="128420"/>
                    <a:pt x="6011334" y="124313"/>
                  </a:cubicBezTo>
                  <a:cubicBezTo>
                    <a:pt x="6032979" y="111326"/>
                    <a:pt x="6056489" y="101735"/>
                    <a:pt x="6079067" y="90446"/>
                  </a:cubicBezTo>
                  <a:lnTo>
                    <a:pt x="6180667" y="39646"/>
                  </a:lnTo>
                  <a:cubicBezTo>
                    <a:pt x="6222298" y="18830"/>
                    <a:pt x="6270978" y="17069"/>
                    <a:pt x="6316134" y="5780"/>
                  </a:cubicBezTo>
                  <a:cubicBezTo>
                    <a:pt x="6368155" y="-7225"/>
                    <a:pt x="6423378" y="5780"/>
                    <a:pt x="6477000" y="5780"/>
                  </a:cubicBezTo>
                </a:path>
              </a:pathLst>
            </a:custGeom>
            <a:ln w="12700">
              <a:solidFill>
                <a:srgbClr val="FF6600"/>
              </a:solidFill>
            </a:ln>
          </p:spPr>
          <p:style>
            <a:lnRef idx="1">
              <a:schemeClr val="accent6"/>
            </a:lnRef>
            <a:fillRef idx="0">
              <a:schemeClr val="accent6"/>
            </a:fillRef>
            <a:effectRef idx="0">
              <a:schemeClr val="accent6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47" name="자유형 83">
              <a:extLst>
                <a:ext uri="{FF2B5EF4-FFF2-40B4-BE49-F238E27FC236}">
                  <a16:creationId xmlns:a16="http://schemas.microsoft.com/office/drawing/2014/main" id="{91FE3F3F-F0A6-4EB7-A5CE-8BC3FDE7893E}"/>
                </a:ext>
              </a:extLst>
            </p:cNvPr>
            <p:cNvSpPr/>
            <p:nvPr/>
          </p:nvSpPr>
          <p:spPr>
            <a:xfrm>
              <a:off x="1437877" y="2831156"/>
              <a:ext cx="3422156" cy="1526755"/>
            </a:xfrm>
            <a:custGeom>
              <a:avLst/>
              <a:gdLst>
                <a:gd name="connsiteX0" fmla="*/ 0 w 4368800"/>
                <a:gd name="connsiteY0" fmla="*/ 389467 h 414867"/>
                <a:gd name="connsiteX1" fmla="*/ 270933 w 4368800"/>
                <a:gd name="connsiteY1" fmla="*/ 321733 h 414867"/>
                <a:gd name="connsiteX2" fmla="*/ 575733 w 4368800"/>
                <a:gd name="connsiteY2" fmla="*/ 414867 h 414867"/>
                <a:gd name="connsiteX3" fmla="*/ 880533 w 4368800"/>
                <a:gd name="connsiteY3" fmla="*/ 355600 h 414867"/>
                <a:gd name="connsiteX4" fmla="*/ 1134533 w 4368800"/>
                <a:gd name="connsiteY4" fmla="*/ 203200 h 414867"/>
                <a:gd name="connsiteX5" fmla="*/ 1456266 w 4368800"/>
                <a:gd name="connsiteY5" fmla="*/ 313267 h 414867"/>
                <a:gd name="connsiteX6" fmla="*/ 1727200 w 4368800"/>
                <a:gd name="connsiteY6" fmla="*/ 254000 h 414867"/>
                <a:gd name="connsiteX7" fmla="*/ 1998133 w 4368800"/>
                <a:gd name="connsiteY7" fmla="*/ 135467 h 414867"/>
                <a:gd name="connsiteX8" fmla="*/ 2353733 w 4368800"/>
                <a:gd name="connsiteY8" fmla="*/ 287867 h 414867"/>
                <a:gd name="connsiteX9" fmla="*/ 2607733 w 4368800"/>
                <a:gd name="connsiteY9" fmla="*/ 169333 h 414867"/>
                <a:gd name="connsiteX10" fmla="*/ 2946400 w 4368800"/>
                <a:gd name="connsiteY10" fmla="*/ 211667 h 414867"/>
                <a:gd name="connsiteX11" fmla="*/ 3234266 w 4368800"/>
                <a:gd name="connsiteY11" fmla="*/ 203200 h 414867"/>
                <a:gd name="connsiteX12" fmla="*/ 3505200 w 4368800"/>
                <a:gd name="connsiteY12" fmla="*/ 0 h 414867"/>
                <a:gd name="connsiteX13" fmla="*/ 3810000 w 4368800"/>
                <a:gd name="connsiteY13" fmla="*/ 135467 h 414867"/>
                <a:gd name="connsiteX14" fmla="*/ 4097866 w 4368800"/>
                <a:gd name="connsiteY14" fmla="*/ 42333 h 414867"/>
                <a:gd name="connsiteX15" fmla="*/ 4368800 w 4368800"/>
                <a:gd name="connsiteY15" fmla="*/ 118533 h 414867"/>
                <a:gd name="connsiteX0" fmla="*/ 0 w 4368800"/>
                <a:gd name="connsiteY0" fmla="*/ 524934 h 524934"/>
                <a:gd name="connsiteX1" fmla="*/ 270933 w 4368800"/>
                <a:gd name="connsiteY1" fmla="*/ 321733 h 524934"/>
                <a:gd name="connsiteX2" fmla="*/ 575733 w 4368800"/>
                <a:gd name="connsiteY2" fmla="*/ 414867 h 524934"/>
                <a:gd name="connsiteX3" fmla="*/ 880533 w 4368800"/>
                <a:gd name="connsiteY3" fmla="*/ 355600 h 524934"/>
                <a:gd name="connsiteX4" fmla="*/ 1134533 w 4368800"/>
                <a:gd name="connsiteY4" fmla="*/ 203200 h 524934"/>
                <a:gd name="connsiteX5" fmla="*/ 1456266 w 4368800"/>
                <a:gd name="connsiteY5" fmla="*/ 313267 h 524934"/>
                <a:gd name="connsiteX6" fmla="*/ 1727200 w 4368800"/>
                <a:gd name="connsiteY6" fmla="*/ 254000 h 524934"/>
                <a:gd name="connsiteX7" fmla="*/ 1998133 w 4368800"/>
                <a:gd name="connsiteY7" fmla="*/ 135467 h 524934"/>
                <a:gd name="connsiteX8" fmla="*/ 2353733 w 4368800"/>
                <a:gd name="connsiteY8" fmla="*/ 287867 h 524934"/>
                <a:gd name="connsiteX9" fmla="*/ 2607733 w 4368800"/>
                <a:gd name="connsiteY9" fmla="*/ 169333 h 524934"/>
                <a:gd name="connsiteX10" fmla="*/ 2946400 w 4368800"/>
                <a:gd name="connsiteY10" fmla="*/ 211667 h 524934"/>
                <a:gd name="connsiteX11" fmla="*/ 3234266 w 4368800"/>
                <a:gd name="connsiteY11" fmla="*/ 203200 h 524934"/>
                <a:gd name="connsiteX12" fmla="*/ 3505200 w 4368800"/>
                <a:gd name="connsiteY12" fmla="*/ 0 h 524934"/>
                <a:gd name="connsiteX13" fmla="*/ 3810000 w 4368800"/>
                <a:gd name="connsiteY13" fmla="*/ 135467 h 524934"/>
                <a:gd name="connsiteX14" fmla="*/ 4097866 w 4368800"/>
                <a:gd name="connsiteY14" fmla="*/ 42333 h 524934"/>
                <a:gd name="connsiteX15" fmla="*/ 4368800 w 4368800"/>
                <a:gd name="connsiteY15" fmla="*/ 118533 h 524934"/>
                <a:gd name="connsiteX0" fmla="*/ 0 w 4368800"/>
                <a:gd name="connsiteY0" fmla="*/ 541867 h 541867"/>
                <a:gd name="connsiteX1" fmla="*/ 270933 w 4368800"/>
                <a:gd name="connsiteY1" fmla="*/ 338666 h 541867"/>
                <a:gd name="connsiteX2" fmla="*/ 575733 w 4368800"/>
                <a:gd name="connsiteY2" fmla="*/ 431800 h 541867"/>
                <a:gd name="connsiteX3" fmla="*/ 880533 w 4368800"/>
                <a:gd name="connsiteY3" fmla="*/ 372533 h 541867"/>
                <a:gd name="connsiteX4" fmla="*/ 1134533 w 4368800"/>
                <a:gd name="connsiteY4" fmla="*/ 220133 h 541867"/>
                <a:gd name="connsiteX5" fmla="*/ 1456266 w 4368800"/>
                <a:gd name="connsiteY5" fmla="*/ 330200 h 541867"/>
                <a:gd name="connsiteX6" fmla="*/ 1727200 w 4368800"/>
                <a:gd name="connsiteY6" fmla="*/ 270933 h 541867"/>
                <a:gd name="connsiteX7" fmla="*/ 2048933 w 4368800"/>
                <a:gd name="connsiteY7" fmla="*/ 0 h 541867"/>
                <a:gd name="connsiteX8" fmla="*/ 2353733 w 4368800"/>
                <a:gd name="connsiteY8" fmla="*/ 304800 h 541867"/>
                <a:gd name="connsiteX9" fmla="*/ 2607733 w 4368800"/>
                <a:gd name="connsiteY9" fmla="*/ 186266 h 541867"/>
                <a:gd name="connsiteX10" fmla="*/ 2946400 w 4368800"/>
                <a:gd name="connsiteY10" fmla="*/ 228600 h 541867"/>
                <a:gd name="connsiteX11" fmla="*/ 3234266 w 4368800"/>
                <a:gd name="connsiteY11" fmla="*/ 220133 h 541867"/>
                <a:gd name="connsiteX12" fmla="*/ 3505200 w 4368800"/>
                <a:gd name="connsiteY12" fmla="*/ 16933 h 541867"/>
                <a:gd name="connsiteX13" fmla="*/ 3810000 w 4368800"/>
                <a:gd name="connsiteY13" fmla="*/ 152400 h 541867"/>
                <a:gd name="connsiteX14" fmla="*/ 4097866 w 4368800"/>
                <a:gd name="connsiteY14" fmla="*/ 59266 h 541867"/>
                <a:gd name="connsiteX15" fmla="*/ 4368800 w 4368800"/>
                <a:gd name="connsiteY15" fmla="*/ 135466 h 541867"/>
                <a:gd name="connsiteX0" fmla="*/ 0 w 4368800"/>
                <a:gd name="connsiteY0" fmla="*/ 541867 h 541867"/>
                <a:gd name="connsiteX1" fmla="*/ 270933 w 4368800"/>
                <a:gd name="connsiteY1" fmla="*/ 338666 h 541867"/>
                <a:gd name="connsiteX2" fmla="*/ 575733 w 4368800"/>
                <a:gd name="connsiteY2" fmla="*/ 431800 h 541867"/>
                <a:gd name="connsiteX3" fmla="*/ 880533 w 4368800"/>
                <a:gd name="connsiteY3" fmla="*/ 372533 h 541867"/>
                <a:gd name="connsiteX4" fmla="*/ 1134533 w 4368800"/>
                <a:gd name="connsiteY4" fmla="*/ 220133 h 541867"/>
                <a:gd name="connsiteX5" fmla="*/ 1456266 w 4368800"/>
                <a:gd name="connsiteY5" fmla="*/ 330200 h 541867"/>
                <a:gd name="connsiteX6" fmla="*/ 1727200 w 4368800"/>
                <a:gd name="connsiteY6" fmla="*/ 270933 h 541867"/>
                <a:gd name="connsiteX7" fmla="*/ 2048933 w 4368800"/>
                <a:gd name="connsiteY7" fmla="*/ 0 h 541867"/>
                <a:gd name="connsiteX8" fmla="*/ 2353733 w 4368800"/>
                <a:gd name="connsiteY8" fmla="*/ 304800 h 541867"/>
                <a:gd name="connsiteX9" fmla="*/ 2607733 w 4368800"/>
                <a:gd name="connsiteY9" fmla="*/ 186266 h 541867"/>
                <a:gd name="connsiteX10" fmla="*/ 2963334 w 4368800"/>
                <a:gd name="connsiteY10" fmla="*/ 152400 h 541867"/>
                <a:gd name="connsiteX11" fmla="*/ 3234266 w 4368800"/>
                <a:gd name="connsiteY11" fmla="*/ 220133 h 541867"/>
                <a:gd name="connsiteX12" fmla="*/ 3505200 w 4368800"/>
                <a:gd name="connsiteY12" fmla="*/ 16933 h 541867"/>
                <a:gd name="connsiteX13" fmla="*/ 3810000 w 4368800"/>
                <a:gd name="connsiteY13" fmla="*/ 152400 h 541867"/>
                <a:gd name="connsiteX14" fmla="*/ 4097866 w 4368800"/>
                <a:gd name="connsiteY14" fmla="*/ 59266 h 541867"/>
                <a:gd name="connsiteX15" fmla="*/ 4368800 w 4368800"/>
                <a:gd name="connsiteY15" fmla="*/ 135466 h 541867"/>
                <a:gd name="connsiteX0" fmla="*/ 0 w 4368800"/>
                <a:gd name="connsiteY0" fmla="*/ 575734 h 575734"/>
                <a:gd name="connsiteX1" fmla="*/ 270933 w 4368800"/>
                <a:gd name="connsiteY1" fmla="*/ 372533 h 575734"/>
                <a:gd name="connsiteX2" fmla="*/ 575733 w 4368800"/>
                <a:gd name="connsiteY2" fmla="*/ 465667 h 575734"/>
                <a:gd name="connsiteX3" fmla="*/ 880533 w 4368800"/>
                <a:gd name="connsiteY3" fmla="*/ 406400 h 575734"/>
                <a:gd name="connsiteX4" fmla="*/ 1134533 w 4368800"/>
                <a:gd name="connsiteY4" fmla="*/ 254000 h 575734"/>
                <a:gd name="connsiteX5" fmla="*/ 1456266 w 4368800"/>
                <a:gd name="connsiteY5" fmla="*/ 364067 h 575734"/>
                <a:gd name="connsiteX6" fmla="*/ 1727200 w 4368800"/>
                <a:gd name="connsiteY6" fmla="*/ 304800 h 575734"/>
                <a:gd name="connsiteX7" fmla="*/ 2048933 w 4368800"/>
                <a:gd name="connsiteY7" fmla="*/ 33867 h 575734"/>
                <a:gd name="connsiteX8" fmla="*/ 2353733 w 4368800"/>
                <a:gd name="connsiteY8" fmla="*/ 338667 h 575734"/>
                <a:gd name="connsiteX9" fmla="*/ 2607733 w 4368800"/>
                <a:gd name="connsiteY9" fmla="*/ 220133 h 575734"/>
                <a:gd name="connsiteX10" fmla="*/ 2963334 w 4368800"/>
                <a:gd name="connsiteY10" fmla="*/ 186267 h 575734"/>
                <a:gd name="connsiteX11" fmla="*/ 3234266 w 4368800"/>
                <a:gd name="connsiteY11" fmla="*/ 254000 h 575734"/>
                <a:gd name="connsiteX12" fmla="*/ 3505200 w 4368800"/>
                <a:gd name="connsiteY12" fmla="*/ 0 h 575734"/>
                <a:gd name="connsiteX13" fmla="*/ 3810000 w 4368800"/>
                <a:gd name="connsiteY13" fmla="*/ 186267 h 575734"/>
                <a:gd name="connsiteX14" fmla="*/ 4097866 w 4368800"/>
                <a:gd name="connsiteY14" fmla="*/ 93133 h 575734"/>
                <a:gd name="connsiteX15" fmla="*/ 4368800 w 4368800"/>
                <a:gd name="connsiteY15" fmla="*/ 169333 h 575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368800" h="575734">
                  <a:moveTo>
                    <a:pt x="0" y="575734"/>
                  </a:moveTo>
                  <a:lnTo>
                    <a:pt x="270933" y="372533"/>
                  </a:lnTo>
                  <a:lnTo>
                    <a:pt x="575733" y="465667"/>
                  </a:lnTo>
                  <a:lnTo>
                    <a:pt x="880533" y="406400"/>
                  </a:lnTo>
                  <a:lnTo>
                    <a:pt x="1134533" y="254000"/>
                  </a:lnTo>
                  <a:lnTo>
                    <a:pt x="1456266" y="364067"/>
                  </a:lnTo>
                  <a:lnTo>
                    <a:pt x="1727200" y="304800"/>
                  </a:lnTo>
                  <a:lnTo>
                    <a:pt x="2048933" y="33867"/>
                  </a:lnTo>
                  <a:lnTo>
                    <a:pt x="2353733" y="338667"/>
                  </a:lnTo>
                  <a:cubicBezTo>
                    <a:pt x="2438400" y="299156"/>
                    <a:pt x="2506133" y="245533"/>
                    <a:pt x="2607733" y="220133"/>
                  </a:cubicBezTo>
                  <a:cubicBezTo>
                    <a:pt x="2709333" y="194733"/>
                    <a:pt x="2844800" y="197556"/>
                    <a:pt x="2963334" y="186267"/>
                  </a:cubicBezTo>
                  <a:lnTo>
                    <a:pt x="3234266" y="254000"/>
                  </a:lnTo>
                  <a:lnTo>
                    <a:pt x="3505200" y="0"/>
                  </a:lnTo>
                  <a:lnTo>
                    <a:pt x="3810000" y="186267"/>
                  </a:lnTo>
                  <a:lnTo>
                    <a:pt x="4097866" y="93133"/>
                  </a:lnTo>
                  <a:lnTo>
                    <a:pt x="4368800" y="169333"/>
                  </a:lnTo>
                </a:path>
              </a:pathLst>
            </a:custGeom>
            <a:ln>
              <a:solidFill>
                <a:srgbClr val="92D050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48" name="자유형 33">
              <a:extLst>
                <a:ext uri="{FF2B5EF4-FFF2-40B4-BE49-F238E27FC236}">
                  <a16:creationId xmlns:a16="http://schemas.microsoft.com/office/drawing/2014/main" id="{41EEF61E-32C6-4758-BC68-75317C8BC4B0}"/>
                </a:ext>
              </a:extLst>
            </p:cNvPr>
            <p:cNvSpPr/>
            <p:nvPr/>
          </p:nvSpPr>
          <p:spPr>
            <a:xfrm flipH="1">
              <a:off x="4815075" y="2825423"/>
              <a:ext cx="3683445" cy="1526755"/>
            </a:xfrm>
            <a:custGeom>
              <a:avLst/>
              <a:gdLst>
                <a:gd name="connsiteX0" fmla="*/ 0 w 4368800"/>
                <a:gd name="connsiteY0" fmla="*/ 389467 h 414867"/>
                <a:gd name="connsiteX1" fmla="*/ 270933 w 4368800"/>
                <a:gd name="connsiteY1" fmla="*/ 321733 h 414867"/>
                <a:gd name="connsiteX2" fmla="*/ 575733 w 4368800"/>
                <a:gd name="connsiteY2" fmla="*/ 414867 h 414867"/>
                <a:gd name="connsiteX3" fmla="*/ 880533 w 4368800"/>
                <a:gd name="connsiteY3" fmla="*/ 355600 h 414867"/>
                <a:gd name="connsiteX4" fmla="*/ 1134533 w 4368800"/>
                <a:gd name="connsiteY4" fmla="*/ 203200 h 414867"/>
                <a:gd name="connsiteX5" fmla="*/ 1456266 w 4368800"/>
                <a:gd name="connsiteY5" fmla="*/ 313267 h 414867"/>
                <a:gd name="connsiteX6" fmla="*/ 1727200 w 4368800"/>
                <a:gd name="connsiteY6" fmla="*/ 254000 h 414867"/>
                <a:gd name="connsiteX7" fmla="*/ 1998133 w 4368800"/>
                <a:gd name="connsiteY7" fmla="*/ 135467 h 414867"/>
                <a:gd name="connsiteX8" fmla="*/ 2353733 w 4368800"/>
                <a:gd name="connsiteY8" fmla="*/ 287867 h 414867"/>
                <a:gd name="connsiteX9" fmla="*/ 2607733 w 4368800"/>
                <a:gd name="connsiteY9" fmla="*/ 169333 h 414867"/>
                <a:gd name="connsiteX10" fmla="*/ 2946400 w 4368800"/>
                <a:gd name="connsiteY10" fmla="*/ 211667 h 414867"/>
                <a:gd name="connsiteX11" fmla="*/ 3234266 w 4368800"/>
                <a:gd name="connsiteY11" fmla="*/ 203200 h 414867"/>
                <a:gd name="connsiteX12" fmla="*/ 3505200 w 4368800"/>
                <a:gd name="connsiteY12" fmla="*/ 0 h 414867"/>
                <a:gd name="connsiteX13" fmla="*/ 3810000 w 4368800"/>
                <a:gd name="connsiteY13" fmla="*/ 135467 h 414867"/>
                <a:gd name="connsiteX14" fmla="*/ 4097866 w 4368800"/>
                <a:gd name="connsiteY14" fmla="*/ 42333 h 414867"/>
                <a:gd name="connsiteX15" fmla="*/ 4368800 w 4368800"/>
                <a:gd name="connsiteY15" fmla="*/ 118533 h 414867"/>
                <a:gd name="connsiteX0" fmla="*/ 0 w 4368800"/>
                <a:gd name="connsiteY0" fmla="*/ 524934 h 524934"/>
                <a:gd name="connsiteX1" fmla="*/ 270933 w 4368800"/>
                <a:gd name="connsiteY1" fmla="*/ 321733 h 524934"/>
                <a:gd name="connsiteX2" fmla="*/ 575733 w 4368800"/>
                <a:gd name="connsiteY2" fmla="*/ 414867 h 524934"/>
                <a:gd name="connsiteX3" fmla="*/ 880533 w 4368800"/>
                <a:gd name="connsiteY3" fmla="*/ 355600 h 524934"/>
                <a:gd name="connsiteX4" fmla="*/ 1134533 w 4368800"/>
                <a:gd name="connsiteY4" fmla="*/ 203200 h 524934"/>
                <a:gd name="connsiteX5" fmla="*/ 1456266 w 4368800"/>
                <a:gd name="connsiteY5" fmla="*/ 313267 h 524934"/>
                <a:gd name="connsiteX6" fmla="*/ 1727200 w 4368800"/>
                <a:gd name="connsiteY6" fmla="*/ 254000 h 524934"/>
                <a:gd name="connsiteX7" fmla="*/ 1998133 w 4368800"/>
                <a:gd name="connsiteY7" fmla="*/ 135467 h 524934"/>
                <a:gd name="connsiteX8" fmla="*/ 2353733 w 4368800"/>
                <a:gd name="connsiteY8" fmla="*/ 287867 h 524934"/>
                <a:gd name="connsiteX9" fmla="*/ 2607733 w 4368800"/>
                <a:gd name="connsiteY9" fmla="*/ 169333 h 524934"/>
                <a:gd name="connsiteX10" fmla="*/ 2946400 w 4368800"/>
                <a:gd name="connsiteY10" fmla="*/ 211667 h 524934"/>
                <a:gd name="connsiteX11" fmla="*/ 3234266 w 4368800"/>
                <a:gd name="connsiteY11" fmla="*/ 203200 h 524934"/>
                <a:gd name="connsiteX12" fmla="*/ 3505200 w 4368800"/>
                <a:gd name="connsiteY12" fmla="*/ 0 h 524934"/>
                <a:gd name="connsiteX13" fmla="*/ 3810000 w 4368800"/>
                <a:gd name="connsiteY13" fmla="*/ 135467 h 524934"/>
                <a:gd name="connsiteX14" fmla="*/ 4097866 w 4368800"/>
                <a:gd name="connsiteY14" fmla="*/ 42333 h 524934"/>
                <a:gd name="connsiteX15" fmla="*/ 4368800 w 4368800"/>
                <a:gd name="connsiteY15" fmla="*/ 118533 h 524934"/>
                <a:gd name="connsiteX0" fmla="*/ 0 w 4368800"/>
                <a:gd name="connsiteY0" fmla="*/ 541867 h 541867"/>
                <a:gd name="connsiteX1" fmla="*/ 270933 w 4368800"/>
                <a:gd name="connsiteY1" fmla="*/ 338666 h 541867"/>
                <a:gd name="connsiteX2" fmla="*/ 575733 w 4368800"/>
                <a:gd name="connsiteY2" fmla="*/ 431800 h 541867"/>
                <a:gd name="connsiteX3" fmla="*/ 880533 w 4368800"/>
                <a:gd name="connsiteY3" fmla="*/ 372533 h 541867"/>
                <a:gd name="connsiteX4" fmla="*/ 1134533 w 4368800"/>
                <a:gd name="connsiteY4" fmla="*/ 220133 h 541867"/>
                <a:gd name="connsiteX5" fmla="*/ 1456266 w 4368800"/>
                <a:gd name="connsiteY5" fmla="*/ 330200 h 541867"/>
                <a:gd name="connsiteX6" fmla="*/ 1727200 w 4368800"/>
                <a:gd name="connsiteY6" fmla="*/ 270933 h 541867"/>
                <a:gd name="connsiteX7" fmla="*/ 2048933 w 4368800"/>
                <a:gd name="connsiteY7" fmla="*/ 0 h 541867"/>
                <a:gd name="connsiteX8" fmla="*/ 2353733 w 4368800"/>
                <a:gd name="connsiteY8" fmla="*/ 304800 h 541867"/>
                <a:gd name="connsiteX9" fmla="*/ 2607733 w 4368800"/>
                <a:gd name="connsiteY9" fmla="*/ 186266 h 541867"/>
                <a:gd name="connsiteX10" fmla="*/ 2946400 w 4368800"/>
                <a:gd name="connsiteY10" fmla="*/ 228600 h 541867"/>
                <a:gd name="connsiteX11" fmla="*/ 3234266 w 4368800"/>
                <a:gd name="connsiteY11" fmla="*/ 220133 h 541867"/>
                <a:gd name="connsiteX12" fmla="*/ 3505200 w 4368800"/>
                <a:gd name="connsiteY12" fmla="*/ 16933 h 541867"/>
                <a:gd name="connsiteX13" fmla="*/ 3810000 w 4368800"/>
                <a:gd name="connsiteY13" fmla="*/ 152400 h 541867"/>
                <a:gd name="connsiteX14" fmla="*/ 4097866 w 4368800"/>
                <a:gd name="connsiteY14" fmla="*/ 59266 h 541867"/>
                <a:gd name="connsiteX15" fmla="*/ 4368800 w 4368800"/>
                <a:gd name="connsiteY15" fmla="*/ 135466 h 541867"/>
                <a:gd name="connsiteX0" fmla="*/ 0 w 4368800"/>
                <a:gd name="connsiteY0" fmla="*/ 541867 h 541867"/>
                <a:gd name="connsiteX1" fmla="*/ 270933 w 4368800"/>
                <a:gd name="connsiteY1" fmla="*/ 338666 h 541867"/>
                <a:gd name="connsiteX2" fmla="*/ 575733 w 4368800"/>
                <a:gd name="connsiteY2" fmla="*/ 431800 h 541867"/>
                <a:gd name="connsiteX3" fmla="*/ 880533 w 4368800"/>
                <a:gd name="connsiteY3" fmla="*/ 372533 h 541867"/>
                <a:gd name="connsiteX4" fmla="*/ 1134533 w 4368800"/>
                <a:gd name="connsiteY4" fmla="*/ 220133 h 541867"/>
                <a:gd name="connsiteX5" fmla="*/ 1456266 w 4368800"/>
                <a:gd name="connsiteY5" fmla="*/ 330200 h 541867"/>
                <a:gd name="connsiteX6" fmla="*/ 1727200 w 4368800"/>
                <a:gd name="connsiteY6" fmla="*/ 270933 h 541867"/>
                <a:gd name="connsiteX7" fmla="*/ 2048933 w 4368800"/>
                <a:gd name="connsiteY7" fmla="*/ 0 h 541867"/>
                <a:gd name="connsiteX8" fmla="*/ 2353733 w 4368800"/>
                <a:gd name="connsiteY8" fmla="*/ 304800 h 541867"/>
                <a:gd name="connsiteX9" fmla="*/ 2607733 w 4368800"/>
                <a:gd name="connsiteY9" fmla="*/ 186266 h 541867"/>
                <a:gd name="connsiteX10" fmla="*/ 2963334 w 4368800"/>
                <a:gd name="connsiteY10" fmla="*/ 152400 h 541867"/>
                <a:gd name="connsiteX11" fmla="*/ 3234266 w 4368800"/>
                <a:gd name="connsiteY11" fmla="*/ 220133 h 541867"/>
                <a:gd name="connsiteX12" fmla="*/ 3505200 w 4368800"/>
                <a:gd name="connsiteY12" fmla="*/ 16933 h 541867"/>
                <a:gd name="connsiteX13" fmla="*/ 3810000 w 4368800"/>
                <a:gd name="connsiteY13" fmla="*/ 152400 h 541867"/>
                <a:gd name="connsiteX14" fmla="*/ 4097866 w 4368800"/>
                <a:gd name="connsiteY14" fmla="*/ 59266 h 541867"/>
                <a:gd name="connsiteX15" fmla="*/ 4368800 w 4368800"/>
                <a:gd name="connsiteY15" fmla="*/ 135466 h 541867"/>
                <a:gd name="connsiteX0" fmla="*/ 0 w 4368800"/>
                <a:gd name="connsiteY0" fmla="*/ 575734 h 575734"/>
                <a:gd name="connsiteX1" fmla="*/ 270933 w 4368800"/>
                <a:gd name="connsiteY1" fmla="*/ 372533 h 575734"/>
                <a:gd name="connsiteX2" fmla="*/ 575733 w 4368800"/>
                <a:gd name="connsiteY2" fmla="*/ 465667 h 575734"/>
                <a:gd name="connsiteX3" fmla="*/ 880533 w 4368800"/>
                <a:gd name="connsiteY3" fmla="*/ 406400 h 575734"/>
                <a:gd name="connsiteX4" fmla="*/ 1134533 w 4368800"/>
                <a:gd name="connsiteY4" fmla="*/ 254000 h 575734"/>
                <a:gd name="connsiteX5" fmla="*/ 1456266 w 4368800"/>
                <a:gd name="connsiteY5" fmla="*/ 364067 h 575734"/>
                <a:gd name="connsiteX6" fmla="*/ 1727200 w 4368800"/>
                <a:gd name="connsiteY6" fmla="*/ 304800 h 575734"/>
                <a:gd name="connsiteX7" fmla="*/ 2048933 w 4368800"/>
                <a:gd name="connsiteY7" fmla="*/ 33867 h 575734"/>
                <a:gd name="connsiteX8" fmla="*/ 2353733 w 4368800"/>
                <a:gd name="connsiteY8" fmla="*/ 338667 h 575734"/>
                <a:gd name="connsiteX9" fmla="*/ 2607733 w 4368800"/>
                <a:gd name="connsiteY9" fmla="*/ 220133 h 575734"/>
                <a:gd name="connsiteX10" fmla="*/ 2963334 w 4368800"/>
                <a:gd name="connsiteY10" fmla="*/ 186267 h 575734"/>
                <a:gd name="connsiteX11" fmla="*/ 3234266 w 4368800"/>
                <a:gd name="connsiteY11" fmla="*/ 254000 h 575734"/>
                <a:gd name="connsiteX12" fmla="*/ 3505200 w 4368800"/>
                <a:gd name="connsiteY12" fmla="*/ 0 h 575734"/>
                <a:gd name="connsiteX13" fmla="*/ 3810000 w 4368800"/>
                <a:gd name="connsiteY13" fmla="*/ 186267 h 575734"/>
                <a:gd name="connsiteX14" fmla="*/ 4097866 w 4368800"/>
                <a:gd name="connsiteY14" fmla="*/ 93133 h 575734"/>
                <a:gd name="connsiteX15" fmla="*/ 4368800 w 4368800"/>
                <a:gd name="connsiteY15" fmla="*/ 169333 h 575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368800" h="575734">
                  <a:moveTo>
                    <a:pt x="0" y="575734"/>
                  </a:moveTo>
                  <a:lnTo>
                    <a:pt x="270933" y="372533"/>
                  </a:lnTo>
                  <a:lnTo>
                    <a:pt x="575733" y="465667"/>
                  </a:lnTo>
                  <a:lnTo>
                    <a:pt x="880533" y="406400"/>
                  </a:lnTo>
                  <a:lnTo>
                    <a:pt x="1134533" y="254000"/>
                  </a:lnTo>
                  <a:lnTo>
                    <a:pt x="1456266" y="364067"/>
                  </a:lnTo>
                  <a:lnTo>
                    <a:pt x="1727200" y="304800"/>
                  </a:lnTo>
                  <a:lnTo>
                    <a:pt x="2048933" y="33867"/>
                  </a:lnTo>
                  <a:lnTo>
                    <a:pt x="2353733" y="338667"/>
                  </a:lnTo>
                  <a:cubicBezTo>
                    <a:pt x="2438400" y="299156"/>
                    <a:pt x="2506133" y="245533"/>
                    <a:pt x="2607733" y="220133"/>
                  </a:cubicBezTo>
                  <a:cubicBezTo>
                    <a:pt x="2709333" y="194733"/>
                    <a:pt x="2844800" y="197556"/>
                    <a:pt x="2963334" y="186267"/>
                  </a:cubicBezTo>
                  <a:lnTo>
                    <a:pt x="3234266" y="254000"/>
                  </a:lnTo>
                  <a:lnTo>
                    <a:pt x="3505200" y="0"/>
                  </a:lnTo>
                  <a:lnTo>
                    <a:pt x="3810000" y="186267"/>
                  </a:lnTo>
                  <a:lnTo>
                    <a:pt x="4097866" y="93133"/>
                  </a:lnTo>
                  <a:lnTo>
                    <a:pt x="4368800" y="169333"/>
                  </a:lnTo>
                </a:path>
              </a:pathLst>
            </a:custGeom>
            <a:ln>
              <a:solidFill>
                <a:srgbClr val="92D050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graphicFrame>
        <p:nvGraphicFramePr>
          <p:cNvPr id="56" name="표 55">
            <a:extLst>
              <a:ext uri="{FF2B5EF4-FFF2-40B4-BE49-F238E27FC236}">
                <a16:creationId xmlns:a16="http://schemas.microsoft.com/office/drawing/2014/main" id="{6CBC5FAF-9C6B-40DC-9F3B-CE4C473D323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30149020"/>
              </p:ext>
            </p:extLst>
          </p:nvPr>
        </p:nvGraphicFramePr>
        <p:xfrm>
          <a:off x="304132" y="5013176"/>
          <a:ext cx="7886969" cy="5342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8326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414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84148">
                  <a:extLst>
                    <a:ext uri="{9D8B030D-6E8A-4147-A177-3AD203B41FA5}">
                      <a16:colId xmlns:a16="http://schemas.microsoft.com/office/drawing/2014/main" val="91379356"/>
                    </a:ext>
                  </a:extLst>
                </a:gridCol>
                <a:gridCol w="28414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84148">
                  <a:extLst>
                    <a:ext uri="{9D8B030D-6E8A-4147-A177-3AD203B41FA5}">
                      <a16:colId xmlns:a16="http://schemas.microsoft.com/office/drawing/2014/main" val="3679891012"/>
                    </a:ext>
                  </a:extLst>
                </a:gridCol>
                <a:gridCol w="28414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84148">
                  <a:extLst>
                    <a:ext uri="{9D8B030D-6E8A-4147-A177-3AD203B41FA5}">
                      <a16:colId xmlns:a16="http://schemas.microsoft.com/office/drawing/2014/main" val="2229935987"/>
                    </a:ext>
                  </a:extLst>
                </a:gridCol>
                <a:gridCol w="28414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84148">
                  <a:extLst>
                    <a:ext uri="{9D8B030D-6E8A-4147-A177-3AD203B41FA5}">
                      <a16:colId xmlns:a16="http://schemas.microsoft.com/office/drawing/2014/main" val="4026812072"/>
                    </a:ext>
                  </a:extLst>
                </a:gridCol>
                <a:gridCol w="28414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84148">
                  <a:extLst>
                    <a:ext uri="{9D8B030D-6E8A-4147-A177-3AD203B41FA5}">
                      <a16:colId xmlns:a16="http://schemas.microsoft.com/office/drawing/2014/main" val="1122824508"/>
                    </a:ext>
                  </a:extLst>
                </a:gridCol>
                <a:gridCol w="28414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284148">
                  <a:extLst>
                    <a:ext uri="{9D8B030D-6E8A-4147-A177-3AD203B41FA5}">
                      <a16:colId xmlns:a16="http://schemas.microsoft.com/office/drawing/2014/main" val="1502902784"/>
                    </a:ext>
                  </a:extLst>
                </a:gridCol>
                <a:gridCol w="284148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84148">
                  <a:extLst>
                    <a:ext uri="{9D8B030D-6E8A-4147-A177-3AD203B41FA5}">
                      <a16:colId xmlns:a16="http://schemas.microsoft.com/office/drawing/2014/main" val="354728812"/>
                    </a:ext>
                  </a:extLst>
                </a:gridCol>
                <a:gridCol w="284148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284148">
                  <a:extLst>
                    <a:ext uri="{9D8B030D-6E8A-4147-A177-3AD203B41FA5}">
                      <a16:colId xmlns:a16="http://schemas.microsoft.com/office/drawing/2014/main" val="914552893"/>
                    </a:ext>
                  </a:extLst>
                </a:gridCol>
                <a:gridCol w="284148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284148">
                  <a:extLst>
                    <a:ext uri="{9D8B030D-6E8A-4147-A177-3AD203B41FA5}">
                      <a16:colId xmlns:a16="http://schemas.microsoft.com/office/drawing/2014/main" val="2643701830"/>
                    </a:ext>
                  </a:extLst>
                </a:gridCol>
                <a:gridCol w="284148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284148">
                  <a:extLst>
                    <a:ext uri="{9D8B030D-6E8A-4147-A177-3AD203B41FA5}">
                      <a16:colId xmlns:a16="http://schemas.microsoft.com/office/drawing/2014/main" val="4156003338"/>
                    </a:ext>
                  </a:extLst>
                </a:gridCol>
                <a:gridCol w="284148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284148">
                  <a:extLst>
                    <a:ext uri="{9D8B030D-6E8A-4147-A177-3AD203B41FA5}">
                      <a16:colId xmlns:a16="http://schemas.microsoft.com/office/drawing/2014/main" val="186923855"/>
                    </a:ext>
                  </a:extLst>
                </a:gridCol>
                <a:gridCol w="284148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284148">
                  <a:extLst>
                    <a:ext uri="{9D8B030D-6E8A-4147-A177-3AD203B41FA5}">
                      <a16:colId xmlns:a16="http://schemas.microsoft.com/office/drawing/2014/main" val="328632746"/>
                    </a:ext>
                  </a:extLst>
                </a:gridCol>
                <a:gridCol w="284148">
                  <a:extLst>
                    <a:ext uri="{9D8B030D-6E8A-4147-A177-3AD203B41FA5}">
                      <a16:colId xmlns:a16="http://schemas.microsoft.com/office/drawing/2014/main" val="296521411"/>
                    </a:ext>
                  </a:extLst>
                </a:gridCol>
              </a:tblGrid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YYYY-MM</a:t>
                      </a:r>
                      <a:endParaRPr lang="en-US" altLang="ko-KR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01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02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03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04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05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06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07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08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09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11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12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13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14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15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16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17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18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19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21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22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23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24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합계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82612050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rgbClr val="FF6600"/>
                          </a:solidFill>
                          <a:latin typeface="+mn-lt"/>
                          <a:ea typeface="+mn-ea"/>
                          <a:cs typeface="+mn-cs"/>
                        </a:rPr>
                        <a:t>실 사용량</a:t>
                      </a:r>
                      <a:endParaRPr lang="en-US" altLang="ko-KR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+mn-lt"/>
                          <a:ea typeface="+mn-ea"/>
                          <a:cs typeface="+mn-cs"/>
                        </a:rPr>
                        <a:t>400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+mn-lt"/>
                          <a:ea typeface="+mn-ea"/>
                          <a:cs typeface="+mn-cs"/>
                        </a:rPr>
                        <a:t>500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+mn-lt"/>
                          <a:ea typeface="+mn-ea"/>
                          <a:cs typeface="+mn-cs"/>
                        </a:rPr>
                        <a:t>550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+mn-lt"/>
                          <a:ea typeface="+mn-ea"/>
                          <a:cs typeface="+mn-cs"/>
                        </a:rPr>
                        <a:t>540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+mn-lt"/>
                          <a:ea typeface="+mn-ea"/>
                          <a:cs typeface="+mn-cs"/>
                        </a:rPr>
                        <a:t>550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+mn-lt"/>
                          <a:ea typeface="+mn-ea"/>
                          <a:cs typeface="+mn-cs"/>
                        </a:rPr>
                        <a:t>520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+mn-lt"/>
                          <a:ea typeface="+mn-ea"/>
                          <a:cs typeface="+mn-cs"/>
                        </a:rPr>
                        <a:t>530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+mn-lt"/>
                          <a:ea typeface="+mn-ea"/>
                          <a:cs typeface="+mn-cs"/>
                        </a:rPr>
                        <a:t>750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+mn-lt"/>
                          <a:ea typeface="+mn-ea"/>
                          <a:cs typeface="+mn-cs"/>
                        </a:rPr>
                        <a:t>800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rgbClr val="92D050"/>
                          </a:solidFill>
                          <a:latin typeface="+mn-lt"/>
                          <a:ea typeface="+mn-ea"/>
                          <a:cs typeface="+mn-cs"/>
                        </a:rPr>
                        <a:t>예측 사용량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92D050"/>
                          </a:solidFill>
                          <a:latin typeface="+mn-lt"/>
                          <a:ea typeface="+mn-ea"/>
                          <a:cs typeface="+mn-cs"/>
                        </a:rPr>
                        <a:t>200</a:t>
                      </a:r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92D050"/>
                          </a:solidFill>
                          <a:latin typeface="+mn-lt"/>
                          <a:ea typeface="+mn-ea"/>
                          <a:cs typeface="+mn-cs"/>
                        </a:rPr>
                        <a:t>400</a:t>
                      </a:r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92D050"/>
                          </a:solidFill>
                          <a:latin typeface="+mn-lt"/>
                          <a:ea typeface="+mn-ea"/>
                          <a:cs typeface="+mn-cs"/>
                        </a:rPr>
                        <a:t>300</a:t>
                      </a:r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92D050"/>
                          </a:solidFill>
                          <a:latin typeface="+mn-lt"/>
                          <a:ea typeface="+mn-ea"/>
                          <a:cs typeface="+mn-cs"/>
                        </a:rPr>
                        <a:t>650</a:t>
                      </a:r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92D050"/>
                          </a:solidFill>
                          <a:latin typeface="+mn-lt"/>
                          <a:ea typeface="+mn-ea"/>
                          <a:cs typeface="+mn-cs"/>
                        </a:rPr>
                        <a:t>480</a:t>
                      </a:r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92D050"/>
                          </a:solidFill>
                          <a:latin typeface="+mn-lt"/>
                          <a:ea typeface="+mn-ea"/>
                          <a:cs typeface="+mn-cs"/>
                        </a:rPr>
                        <a:t>1000</a:t>
                      </a:r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92D050"/>
                          </a:solidFill>
                          <a:latin typeface="+mn-lt"/>
                          <a:ea typeface="+mn-ea"/>
                          <a:cs typeface="+mn-cs"/>
                        </a:rPr>
                        <a:t>500</a:t>
                      </a:r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92D050"/>
                          </a:solidFill>
                          <a:latin typeface="+mn-lt"/>
                          <a:ea typeface="+mn-ea"/>
                          <a:cs typeface="+mn-cs"/>
                        </a:rPr>
                        <a:t>700</a:t>
                      </a:r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92D050"/>
                          </a:solidFill>
                          <a:latin typeface="+mn-lt"/>
                          <a:ea typeface="+mn-ea"/>
                          <a:cs typeface="+mn-cs"/>
                        </a:rPr>
                        <a:t>620</a:t>
                      </a:r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92D050"/>
                          </a:solidFill>
                          <a:latin typeface="+mn-lt"/>
                          <a:ea typeface="+mn-ea"/>
                          <a:cs typeface="+mn-cs"/>
                        </a:rPr>
                        <a:t>1000</a:t>
                      </a:r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92D050"/>
                          </a:solidFill>
                          <a:latin typeface="+mn-lt"/>
                          <a:ea typeface="+mn-ea"/>
                          <a:cs typeface="+mn-cs"/>
                        </a:rPr>
                        <a:t>800</a:t>
                      </a:r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92D050"/>
                          </a:solidFill>
                          <a:latin typeface="+mn-lt"/>
                          <a:ea typeface="+mn-ea"/>
                          <a:cs typeface="+mn-cs"/>
                        </a:rPr>
                        <a:t>700</a:t>
                      </a:r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92D050"/>
                          </a:solidFill>
                          <a:latin typeface="+mn-lt"/>
                          <a:ea typeface="+mn-ea"/>
                          <a:cs typeface="+mn-cs"/>
                        </a:rPr>
                        <a:t>700</a:t>
                      </a:r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92D050"/>
                          </a:solidFill>
                          <a:latin typeface="+mn-lt"/>
                          <a:ea typeface="+mn-ea"/>
                          <a:cs typeface="+mn-cs"/>
                        </a:rPr>
                        <a:t>1050</a:t>
                      </a:r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92D050"/>
                          </a:solidFill>
                          <a:latin typeface="+mn-lt"/>
                          <a:ea typeface="+mn-ea"/>
                          <a:cs typeface="+mn-cs"/>
                        </a:rPr>
                        <a:t>650</a:t>
                      </a:r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92D050"/>
                          </a:solidFill>
                          <a:latin typeface="+mn-lt"/>
                          <a:ea typeface="+mn-ea"/>
                          <a:cs typeface="+mn-cs"/>
                        </a:rPr>
                        <a:t>600</a:t>
                      </a:r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92D050"/>
                          </a:solidFill>
                          <a:latin typeface="+mn-lt"/>
                          <a:ea typeface="+mn-ea"/>
                          <a:cs typeface="+mn-cs"/>
                        </a:rPr>
                        <a:t>500</a:t>
                      </a:r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92D050"/>
                          </a:solidFill>
                          <a:latin typeface="+mn-lt"/>
                          <a:ea typeface="+mn-ea"/>
                          <a:cs typeface="+mn-cs"/>
                        </a:rPr>
                        <a:t>1000</a:t>
                      </a:r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92D050"/>
                          </a:solidFill>
                          <a:latin typeface="+mn-lt"/>
                          <a:ea typeface="+mn-ea"/>
                          <a:cs typeface="+mn-cs"/>
                        </a:rPr>
                        <a:t>550</a:t>
                      </a:r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92D050"/>
                          </a:solidFill>
                          <a:latin typeface="+mn-lt"/>
                          <a:ea typeface="+mn-ea"/>
                          <a:cs typeface="+mn-cs"/>
                        </a:rPr>
                        <a:t>480</a:t>
                      </a:r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92D050"/>
                          </a:solidFill>
                          <a:latin typeface="+mn-lt"/>
                          <a:ea typeface="+mn-ea"/>
                          <a:cs typeface="+mn-cs"/>
                        </a:rPr>
                        <a:t>600</a:t>
                      </a:r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92D050"/>
                          </a:solidFill>
                          <a:latin typeface="+mn-lt"/>
                          <a:ea typeface="+mn-ea"/>
                          <a:cs typeface="+mn-cs"/>
                        </a:rPr>
                        <a:t>350</a:t>
                      </a:r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92D050"/>
                          </a:solidFill>
                          <a:latin typeface="+mn-lt"/>
                          <a:ea typeface="+mn-ea"/>
                          <a:cs typeface="+mn-cs"/>
                        </a:rPr>
                        <a:t>480</a:t>
                      </a:r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92D050"/>
                          </a:solidFill>
                          <a:latin typeface="+mn-lt"/>
                          <a:ea typeface="+mn-ea"/>
                          <a:cs typeface="+mn-cs"/>
                        </a:rPr>
                        <a:t>10</a:t>
                      </a:r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pSp>
        <p:nvGrpSpPr>
          <p:cNvPr id="57" name="그룹 56">
            <a:extLst>
              <a:ext uri="{FF2B5EF4-FFF2-40B4-BE49-F238E27FC236}">
                <a16:creationId xmlns:a16="http://schemas.microsoft.com/office/drawing/2014/main" id="{5BCB447F-9DE7-4CFF-BE67-93A63D5BC6BA}"/>
              </a:ext>
            </a:extLst>
          </p:cNvPr>
          <p:cNvGrpSpPr/>
          <p:nvPr/>
        </p:nvGrpSpPr>
        <p:grpSpPr>
          <a:xfrm>
            <a:off x="1141334" y="4725144"/>
            <a:ext cx="859338" cy="222065"/>
            <a:chOff x="1309112" y="5497546"/>
            <a:chExt cx="859338" cy="222065"/>
          </a:xfrm>
        </p:grpSpPr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C9159D75-C699-4BCF-8683-62B774D63ADB}"/>
                </a:ext>
              </a:extLst>
            </p:cNvPr>
            <p:cNvSpPr txBox="1"/>
            <p:nvPr/>
          </p:nvSpPr>
          <p:spPr>
            <a:xfrm>
              <a:off x="1393511" y="5534945"/>
              <a:ext cx="7749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600" b="1" dirty="0">
                  <a:solidFill>
                    <a:schemeClr val="bg1"/>
                  </a:solidFill>
                </a:rPr>
                <a:t>그래프 변경하기</a:t>
              </a:r>
            </a:p>
          </p:txBody>
        </p:sp>
        <p:pic>
          <p:nvPicPr>
            <p:cNvPr id="59" name="Picture 2" descr="ê·¸ëíì ëí ì´ë¯¸ì§ ê²ìê²°ê³¼">
              <a:extLst>
                <a:ext uri="{FF2B5EF4-FFF2-40B4-BE49-F238E27FC236}">
                  <a16:creationId xmlns:a16="http://schemas.microsoft.com/office/drawing/2014/main" id="{A0DCCD3B-06CF-46B4-9970-A70380E64FC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309112" y="5497546"/>
              <a:ext cx="214956" cy="214956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cxnSp>
        <p:nvCxnSpPr>
          <p:cNvPr id="60" name="직선 연결선 59">
            <a:extLst>
              <a:ext uri="{FF2B5EF4-FFF2-40B4-BE49-F238E27FC236}">
                <a16:creationId xmlns:a16="http://schemas.microsoft.com/office/drawing/2014/main" id="{1234A855-73E9-4FF1-BC7D-6DFB4ABC7381}"/>
              </a:ext>
            </a:extLst>
          </p:cNvPr>
          <p:cNvCxnSpPr/>
          <p:nvPr/>
        </p:nvCxnSpPr>
        <p:spPr>
          <a:xfrm>
            <a:off x="5679180" y="2111068"/>
            <a:ext cx="504056" cy="0"/>
          </a:xfrm>
          <a:prstGeom prst="line">
            <a:avLst/>
          </a:prstGeom>
          <a:ln w="19050">
            <a:solidFill>
              <a:srgbClr val="FF66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8C6C1614-8940-4055-B65B-D2B6A25874F5}"/>
              </a:ext>
            </a:extLst>
          </p:cNvPr>
          <p:cNvSpPr/>
          <p:nvPr/>
        </p:nvSpPr>
        <p:spPr>
          <a:xfrm>
            <a:off x="6255244" y="1988840"/>
            <a:ext cx="1008112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실 사용량</a:t>
            </a:r>
          </a:p>
        </p:txBody>
      </p:sp>
      <p:cxnSp>
        <p:nvCxnSpPr>
          <p:cNvPr id="62" name="직선 연결선 61">
            <a:extLst>
              <a:ext uri="{FF2B5EF4-FFF2-40B4-BE49-F238E27FC236}">
                <a16:creationId xmlns:a16="http://schemas.microsoft.com/office/drawing/2014/main" id="{5BB85F6C-563A-4336-8745-5079DE55E49D}"/>
              </a:ext>
            </a:extLst>
          </p:cNvPr>
          <p:cNvCxnSpPr/>
          <p:nvPr/>
        </p:nvCxnSpPr>
        <p:spPr>
          <a:xfrm>
            <a:off x="6975324" y="2110499"/>
            <a:ext cx="504056" cy="0"/>
          </a:xfrm>
          <a:prstGeom prst="line">
            <a:avLst/>
          </a:prstGeom>
          <a:ln w="9525">
            <a:solidFill>
              <a:schemeClr val="accent3">
                <a:lumMod val="75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C54479CC-B926-4A0B-AF10-962AA314EC62}"/>
              </a:ext>
            </a:extLst>
          </p:cNvPr>
          <p:cNvSpPr/>
          <p:nvPr/>
        </p:nvSpPr>
        <p:spPr>
          <a:xfrm>
            <a:off x="7551388" y="1988271"/>
            <a:ext cx="917924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예측 사용량</a:t>
            </a:r>
          </a:p>
        </p:txBody>
      </p:sp>
      <p:sp>
        <p:nvSpPr>
          <p:cNvPr id="65" name="TextBox 64">
            <a:extLst>
              <a:ext uri="{FF2B5EF4-FFF2-40B4-BE49-F238E27FC236}">
                <a16:creationId xmlns:a16="http://schemas.microsoft.com/office/drawing/2014/main" id="{F92461F0-63AB-419F-B268-16C269F708B6}"/>
              </a:ext>
            </a:extLst>
          </p:cNvPr>
          <p:cNvSpPr txBox="1"/>
          <p:nvPr/>
        </p:nvSpPr>
        <p:spPr>
          <a:xfrm>
            <a:off x="7205161" y="4745410"/>
            <a:ext cx="972108" cy="215444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square" rtlCol="0" anchor="ctr">
            <a:spAutoFit/>
          </a:bodyPr>
          <a:lstStyle/>
          <a:p>
            <a:pPr algn="ctr"/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표 접기</a:t>
            </a:r>
          </a:p>
        </p:txBody>
      </p:sp>
      <p:sp>
        <p:nvSpPr>
          <p:cNvPr id="66" name="말풍선: 사각형 65">
            <a:extLst>
              <a:ext uri="{FF2B5EF4-FFF2-40B4-BE49-F238E27FC236}">
                <a16:creationId xmlns:a16="http://schemas.microsoft.com/office/drawing/2014/main" id="{30D06AA3-D2E8-4D55-B28F-BFFB9BBC1E4D}"/>
              </a:ext>
            </a:extLst>
          </p:cNvPr>
          <p:cNvSpPr/>
          <p:nvPr/>
        </p:nvSpPr>
        <p:spPr>
          <a:xfrm>
            <a:off x="2019706" y="2670195"/>
            <a:ext cx="615731" cy="360039"/>
          </a:xfrm>
          <a:prstGeom prst="wedgeRectCallout">
            <a:avLst>
              <a:gd name="adj1" fmla="val -30620"/>
              <a:gd name="adj2" fmla="val 109426"/>
            </a:avLst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tx1">
                    <a:lumMod val="65000"/>
                    <a:lumOff val="35000"/>
                  </a:schemeClr>
                </a:solidFill>
              </a:rPr>
              <a:t>오늘 사용량</a:t>
            </a:r>
            <a:r>
              <a:rPr lang="en-US" altLang="ko-KR" sz="6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03:15:00</a:t>
            </a:r>
          </a:p>
          <a:p>
            <a:pPr algn="ctr"/>
            <a:r>
              <a:rPr lang="en-US" altLang="ko-KR" sz="600" b="1" dirty="0">
                <a:solidFill>
                  <a:srgbClr val="FF0000"/>
                </a:solidFill>
              </a:rPr>
              <a:t>210 kW</a:t>
            </a:r>
            <a:endParaRPr lang="ko-KR" altLang="en-US" sz="600" b="1" dirty="0">
              <a:solidFill>
                <a:srgbClr val="FF0000"/>
              </a:solidFill>
            </a:endParaRPr>
          </a:p>
        </p:txBody>
      </p:sp>
      <p:sp>
        <p:nvSpPr>
          <p:cNvPr id="227" name="타원형 설명선 226"/>
          <p:cNvSpPr/>
          <p:nvPr/>
        </p:nvSpPr>
        <p:spPr>
          <a:xfrm>
            <a:off x="2158083" y="1508811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4" name="타원형 설명선 243"/>
          <p:cNvSpPr/>
          <p:nvPr/>
        </p:nvSpPr>
        <p:spPr>
          <a:xfrm>
            <a:off x="5946071" y="1398227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5" name="타원형 설명선 244"/>
          <p:cNvSpPr/>
          <p:nvPr/>
        </p:nvSpPr>
        <p:spPr>
          <a:xfrm>
            <a:off x="3970499" y="1398227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6" name="타원형 설명선 245"/>
          <p:cNvSpPr/>
          <p:nvPr/>
        </p:nvSpPr>
        <p:spPr>
          <a:xfrm>
            <a:off x="7439913" y="1398227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66" name="타원형 설명선 265"/>
          <p:cNvSpPr/>
          <p:nvPr/>
        </p:nvSpPr>
        <p:spPr>
          <a:xfrm>
            <a:off x="144465" y="1888924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6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3" name="타원형 설명선 225">
            <a:extLst>
              <a:ext uri="{FF2B5EF4-FFF2-40B4-BE49-F238E27FC236}">
                <a16:creationId xmlns:a16="http://schemas.microsoft.com/office/drawing/2014/main" id="{93402A8C-F86A-4207-9226-F02BE6AB6E19}"/>
              </a:ext>
            </a:extLst>
          </p:cNvPr>
          <p:cNvSpPr/>
          <p:nvPr/>
        </p:nvSpPr>
        <p:spPr>
          <a:xfrm>
            <a:off x="1064592" y="1508811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EEE86E8E-C1DD-46E8-892A-6FBFF3DA8EB1}"/>
              </a:ext>
            </a:extLst>
          </p:cNvPr>
          <p:cNvSpPr/>
          <p:nvPr/>
        </p:nvSpPr>
        <p:spPr>
          <a:xfrm>
            <a:off x="7719699" y="1647250"/>
            <a:ext cx="473661" cy="289182"/>
          </a:xfrm>
          <a:prstGeom prst="rect">
            <a:avLst/>
          </a:prstGeom>
          <a:solidFill>
            <a:srgbClr val="0099FF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>
              <a:lnSpc>
                <a:spcPct val="150000"/>
              </a:lnSpc>
            </a:pPr>
            <a:r>
              <a:rPr lang="ko-KR" altLang="en-US" sz="1050" b="1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조회</a:t>
            </a:r>
            <a:endParaRPr lang="ko-KR" altLang="en-US" sz="1050" b="1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26EFDB71-6E56-42A4-86F6-93528BBDD1D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14989714"/>
              </p:ext>
            </p:extLst>
          </p:nvPr>
        </p:nvGraphicFramePr>
        <p:xfrm>
          <a:off x="333290" y="5799587"/>
          <a:ext cx="4114985" cy="90960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08191">
                  <a:extLst>
                    <a:ext uri="{9D8B030D-6E8A-4147-A177-3AD203B41FA5}">
                      <a16:colId xmlns:a16="http://schemas.microsoft.com/office/drawing/2014/main" val="621667645"/>
                    </a:ext>
                  </a:extLst>
                </a:gridCol>
                <a:gridCol w="429542">
                  <a:extLst>
                    <a:ext uri="{9D8B030D-6E8A-4147-A177-3AD203B41FA5}">
                      <a16:colId xmlns:a16="http://schemas.microsoft.com/office/drawing/2014/main" val="2248332737"/>
                    </a:ext>
                  </a:extLst>
                </a:gridCol>
                <a:gridCol w="429542">
                  <a:extLst>
                    <a:ext uri="{9D8B030D-6E8A-4147-A177-3AD203B41FA5}">
                      <a16:colId xmlns:a16="http://schemas.microsoft.com/office/drawing/2014/main" val="899356341"/>
                    </a:ext>
                  </a:extLst>
                </a:gridCol>
                <a:gridCol w="429542">
                  <a:extLst>
                    <a:ext uri="{9D8B030D-6E8A-4147-A177-3AD203B41FA5}">
                      <a16:colId xmlns:a16="http://schemas.microsoft.com/office/drawing/2014/main" val="2787753370"/>
                    </a:ext>
                  </a:extLst>
                </a:gridCol>
                <a:gridCol w="429542">
                  <a:extLst>
                    <a:ext uri="{9D8B030D-6E8A-4147-A177-3AD203B41FA5}">
                      <a16:colId xmlns:a16="http://schemas.microsoft.com/office/drawing/2014/main" val="75509663"/>
                    </a:ext>
                  </a:extLst>
                </a:gridCol>
                <a:gridCol w="429542">
                  <a:extLst>
                    <a:ext uri="{9D8B030D-6E8A-4147-A177-3AD203B41FA5}">
                      <a16:colId xmlns:a16="http://schemas.microsoft.com/office/drawing/2014/main" val="2371680936"/>
                    </a:ext>
                  </a:extLst>
                </a:gridCol>
                <a:gridCol w="429542">
                  <a:extLst>
                    <a:ext uri="{9D8B030D-6E8A-4147-A177-3AD203B41FA5}">
                      <a16:colId xmlns:a16="http://schemas.microsoft.com/office/drawing/2014/main" val="1293287838"/>
                    </a:ext>
                  </a:extLst>
                </a:gridCol>
                <a:gridCol w="429542">
                  <a:extLst>
                    <a:ext uri="{9D8B030D-6E8A-4147-A177-3AD203B41FA5}">
                      <a16:colId xmlns:a16="http://schemas.microsoft.com/office/drawing/2014/main" val="346575581"/>
                    </a:ext>
                  </a:extLst>
                </a:gridCol>
              </a:tblGrid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조회기간</a:t>
                      </a:r>
                      <a:endParaRPr lang="en-US" altLang="ko-KR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lang="ko-KR" altLang="en-US" sz="800" b="1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기간설정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75581190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사용량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sng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15</a:t>
                      </a:r>
                      <a:r>
                        <a:rPr kumimoji="1" lang="ko-KR" altLang="en-US" sz="800" b="0" i="0" u="none" strike="sng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분 전 </a:t>
                      </a:r>
                      <a:r>
                        <a:rPr kumimoji="1" lang="en-US" altLang="ko-KR" sz="800" b="0" i="0" u="none" strike="sng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~ </a:t>
                      </a:r>
                      <a:r>
                        <a:rPr kumimoji="1" lang="ko-KR" altLang="en-US" sz="800" b="0" i="0" u="none" strike="sng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현재시간</a:t>
                      </a:r>
                      <a:endParaRPr lang="ko-KR" altLang="en-US" sz="800" b="1" strike="sng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시간 전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~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현재시간</a:t>
                      </a:r>
                      <a:endParaRPr lang="ko-KR" altLang="en-US" sz="8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오늘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00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시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~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현재시간</a:t>
                      </a:r>
                      <a:endParaRPr lang="ko-KR" altLang="en-US" sz="8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주 전 </a:t>
                      </a: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~ 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현재시간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달 전 </a:t>
                      </a: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~ 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현재시간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 전</a:t>
                      </a:r>
                      <a:r>
                        <a:rPr lang="en-US" altLang="ko-KR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~ </a:t>
                      </a:r>
                      <a:r>
                        <a:rPr lang="ko-KR" altLang="en-US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현재시간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지정된 시작일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29881618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 err="1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예측량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sng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  <a:r>
                        <a:rPr kumimoji="1" lang="ko-KR" altLang="en-US" sz="800" b="0" i="0" u="none" strike="sng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시간 전</a:t>
                      </a:r>
                      <a:r>
                        <a:rPr kumimoji="1" lang="en-US" altLang="ko-KR" sz="800" b="0" i="0" u="none" strike="sng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~ </a:t>
                      </a:r>
                      <a:r>
                        <a:rPr kumimoji="1" lang="ko-KR" altLang="en-US" sz="800" b="0" i="0" u="none" strike="sng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현재시간</a:t>
                      </a:r>
                      <a:endParaRPr lang="ko-KR" altLang="en-US" sz="800" b="1" strike="sng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시간 전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~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현재시간</a:t>
                      </a:r>
                      <a:endParaRPr lang="ko-KR" altLang="en-US" sz="8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오늘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00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시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~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오늘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24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시</a:t>
                      </a:r>
                      <a:endParaRPr lang="ko-KR" altLang="en-US" sz="8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주 전 </a:t>
                      </a: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~</a:t>
                      </a: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현재시간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달 전 </a:t>
                      </a: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~ 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현재시간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 전 </a:t>
                      </a:r>
                      <a:r>
                        <a:rPr lang="en-US" altLang="ko-KR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~ </a:t>
                      </a:r>
                      <a:r>
                        <a:rPr lang="ko-KR" altLang="en-US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현재시간</a:t>
                      </a:r>
                      <a:endParaRPr lang="en-US" altLang="ko-KR" sz="800" b="0" strike="no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지정된 종료일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34962852"/>
                  </a:ext>
                </a:extLst>
              </a:tr>
            </a:tbl>
          </a:graphicData>
        </a:graphic>
      </p:graphicFrame>
      <p:sp>
        <p:nvSpPr>
          <p:cNvPr id="68" name="타원형 설명선 225">
            <a:extLst>
              <a:ext uri="{FF2B5EF4-FFF2-40B4-BE49-F238E27FC236}">
                <a16:creationId xmlns:a16="http://schemas.microsoft.com/office/drawing/2014/main" id="{71768A76-98FD-494B-8D70-0F5ABCB1716E}"/>
              </a:ext>
            </a:extLst>
          </p:cNvPr>
          <p:cNvSpPr/>
          <p:nvPr/>
        </p:nvSpPr>
        <p:spPr>
          <a:xfrm>
            <a:off x="36465" y="5783564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표</a:t>
            </a:r>
            <a:r>
              <a:rPr lang="en-US" altLang="ko-KR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69" name="표 68">
            <a:extLst>
              <a:ext uri="{FF2B5EF4-FFF2-40B4-BE49-F238E27FC236}">
                <a16:creationId xmlns:a16="http://schemas.microsoft.com/office/drawing/2014/main" id="{29C3A214-0DE0-4D8E-9E31-CE1CE33E172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54149571"/>
              </p:ext>
            </p:extLst>
          </p:nvPr>
        </p:nvGraphicFramePr>
        <p:xfrm>
          <a:off x="4563952" y="5819131"/>
          <a:ext cx="3788722" cy="78768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61864">
                  <a:extLst>
                    <a:ext uri="{9D8B030D-6E8A-4147-A177-3AD203B41FA5}">
                      <a16:colId xmlns:a16="http://schemas.microsoft.com/office/drawing/2014/main" val="621667645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2248332737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899356341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2787753370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75509663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2371680936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1293287838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346575581"/>
                    </a:ext>
                  </a:extLst>
                </a:gridCol>
              </a:tblGrid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조회기간</a:t>
                      </a:r>
                      <a:endParaRPr lang="en-US" altLang="ko-KR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lang="ko-KR" altLang="en-US" sz="800" b="1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기간설정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75581190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조회 간격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strike="sng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strike="sng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  <a:r>
                        <a:rPr lang="ko-KR" altLang="en-US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strike="no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  <a:r>
                        <a:rPr lang="ko-KR" altLang="en-US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strike="no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  <a:r>
                        <a:rPr lang="ko-KR" altLang="en-US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strike="no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  <a:endParaRPr lang="en-US" altLang="ko-KR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lang="ko-KR" altLang="en-US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strike="no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  <a:r>
                        <a:rPr lang="ko-KR" altLang="en-US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strike="no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  <a:endParaRPr lang="en-US" altLang="ko-KR" sz="800" b="0" strike="no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  <a:endParaRPr lang="en-US" altLang="ko-KR" sz="800" b="0" strike="no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지정된 기간에 따라 판단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29881618"/>
                  </a:ext>
                </a:extLst>
              </a:tr>
            </a:tbl>
          </a:graphicData>
        </a:graphic>
      </p:graphicFrame>
      <p:sp>
        <p:nvSpPr>
          <p:cNvPr id="70" name="타원형 설명선 225">
            <a:extLst>
              <a:ext uri="{FF2B5EF4-FFF2-40B4-BE49-F238E27FC236}">
                <a16:creationId xmlns:a16="http://schemas.microsoft.com/office/drawing/2014/main" id="{A6150CA4-E2BC-4441-8A23-4148832F9C09}"/>
              </a:ext>
            </a:extLst>
          </p:cNvPr>
          <p:cNvSpPr/>
          <p:nvPr/>
        </p:nvSpPr>
        <p:spPr>
          <a:xfrm>
            <a:off x="4563284" y="5589240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표</a:t>
            </a:r>
            <a:r>
              <a:rPr lang="en-US" altLang="ko-KR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7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597763323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9104309" y="6645875"/>
            <a:ext cx="140029" cy="138499"/>
          </a:xfrm>
        </p:spPr>
        <p:txBody>
          <a:bodyPr/>
          <a:lstStyle/>
          <a:p>
            <a:pPr>
              <a:defRPr/>
            </a:pPr>
            <a:fld id="{9E41B634-5682-4388-99E7-FE44DCFD254B}" type="slidenum">
              <a:rPr lang="ko-KR" altLang="en-US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>
                <a:defRPr/>
              </a:pPr>
              <a:t>17</a:t>
            </a:fld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텍스트 개체 틀 8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Site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 &gt;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에너지 모니터링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&gt;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사용량 현황</a:t>
            </a:r>
          </a:p>
        </p:txBody>
      </p:sp>
      <p:sp>
        <p:nvSpPr>
          <p:cNvPr id="10" name="텍스트 개체 틀 9"/>
          <p:cNvSpPr>
            <a:spLocks noGrp="1"/>
          </p:cNvSpPr>
          <p:nvPr>
            <p:ph type="body" sz="quarter" idx="10"/>
          </p:nvPr>
        </p:nvSpPr>
        <p:spPr>
          <a:xfrm>
            <a:off x="6023595" y="44624"/>
            <a:ext cx="1233661" cy="196974"/>
          </a:xfrm>
        </p:spPr>
        <p:txBody>
          <a:bodyPr/>
          <a:lstStyle/>
          <a:p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사용량 현황</a:t>
            </a:r>
          </a:p>
        </p:txBody>
      </p:sp>
      <p:graphicFrame>
        <p:nvGraphicFramePr>
          <p:cNvPr id="102" name="Group 15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6738763"/>
              </p:ext>
            </p:extLst>
          </p:nvPr>
        </p:nvGraphicFramePr>
        <p:xfrm>
          <a:off x="8469313" y="276225"/>
          <a:ext cx="1404000" cy="5308800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91537"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Description</a:t>
                      </a: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7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그래프 표시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오늘의 사용량 그래프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1)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꺽은선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그래프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항목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: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실 사용량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예측 사용량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 - Y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축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: </a:t>
                      </a:r>
                      <a:r>
                        <a:rPr kumimoji="1" lang="en-US" altLang="ko-KR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KWh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의 전력량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 - X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축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: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간격 표시 기준은 표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3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참고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2)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툴팁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마우스 커서를 그래프 영역에 위치 시키면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툴팁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팝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툴팁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내용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: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데이터 항목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시간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사용량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8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사용량 데이터 표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조회된 데이터의 그래프 표시 항목을 표로 표현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특정 개수가 넘어 표가 좌우로 넓어질 경우에는 하단으로 표 확장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브라우저 크기를 조정하여 폭이 좁아질 경우에도 하단으로 표 확장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행 최대 칸수는 표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4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참고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9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표 접기</a:t>
                      </a:r>
                      <a:endParaRPr lang="en-US" altLang="ko-KR" sz="800" b="1" u="non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그래프 하단 표 영역 표시의 </a:t>
                      </a:r>
                      <a:r>
                        <a:rPr lang="ko-KR" altLang="en-US" sz="800" b="0" u="none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토글</a:t>
                      </a: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 버튼</a:t>
                      </a:r>
                      <a:endParaRPr lang="en-US" altLang="ko-KR" sz="800" b="0" u="none" kern="120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10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데이터 저장하기</a:t>
                      </a:r>
                      <a:endParaRPr lang="en-US" altLang="ko-KR" sz="800" b="1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조회된 데이터를 </a:t>
                      </a: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csv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형태의 파일로 저장한다</a:t>
                      </a: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.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11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그래프 변경하기</a:t>
                      </a:r>
                      <a:endParaRPr lang="en-US" altLang="ko-KR" sz="800" b="1" u="non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각 꺾은선 그래프를 막대 그래프로 변환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(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토글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형태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)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78" name="TextBox 77"/>
          <p:cNvSpPr txBox="1"/>
          <p:nvPr/>
        </p:nvSpPr>
        <p:spPr>
          <a:xfrm>
            <a:off x="7121707" y="21349"/>
            <a:ext cx="567597" cy="2308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화면</a:t>
            </a:r>
            <a:r>
              <a:rPr lang="en-US" altLang="ko-KR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ID</a:t>
            </a:r>
            <a:endParaRPr lang="ko-KR" altLang="en-US" sz="9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7689304" y="43659"/>
            <a:ext cx="792088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itchFamily="50" charset="-127"/>
                <a:ea typeface="맑은 고딕" pitchFamily="50" charset="-127"/>
              </a:rPr>
              <a:t>ewpsp_scr_009</a:t>
            </a:r>
            <a:endParaRPr lang="ko-KR" altLang="en-US" sz="700" dirty="0">
              <a:latin typeface="맑은 고딕" pitchFamily="50" charset="-127"/>
              <a:ea typeface="맑은 고딕" pitchFamily="50" charset="-127"/>
            </a:endParaRPr>
          </a:p>
        </p:txBody>
      </p:sp>
      <p:pic>
        <p:nvPicPr>
          <p:cNvPr id="18" name="Picture 3">
            <a:extLst>
              <a:ext uri="{FF2B5EF4-FFF2-40B4-BE49-F238E27FC236}">
                <a16:creationId xmlns:a16="http://schemas.microsoft.com/office/drawing/2014/main" id="{30C7996B-507A-4D77-B121-3E3A9AD2B46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0693" y="748920"/>
            <a:ext cx="8208912" cy="4818336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  <a:extLst/>
        </p:spPr>
      </p:pic>
      <p:pic>
        <p:nvPicPr>
          <p:cNvPr id="19" name="Picture 2">
            <a:extLst>
              <a:ext uri="{FF2B5EF4-FFF2-40B4-BE49-F238E27FC236}">
                <a16:creationId xmlns:a16="http://schemas.microsoft.com/office/drawing/2014/main" id="{A5A4328E-C6EA-49AE-A83D-F3BD29B91A6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464" y="762442"/>
            <a:ext cx="8201141" cy="3487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20" name="직선 연결선 19">
            <a:extLst>
              <a:ext uri="{FF2B5EF4-FFF2-40B4-BE49-F238E27FC236}">
                <a16:creationId xmlns:a16="http://schemas.microsoft.com/office/drawing/2014/main" id="{CBB7637B-68CB-4271-863D-C039EE6A4DD8}"/>
              </a:ext>
            </a:extLst>
          </p:cNvPr>
          <p:cNvCxnSpPr>
            <a:cxnSpLocks/>
          </p:cNvCxnSpPr>
          <p:nvPr/>
        </p:nvCxnSpPr>
        <p:spPr>
          <a:xfrm>
            <a:off x="128463" y="1124744"/>
            <a:ext cx="8208912" cy="0"/>
          </a:xfrm>
          <a:prstGeom prst="line">
            <a:avLst/>
          </a:prstGeom>
          <a:ln w="9525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F5AAE406-37F5-49EA-8C72-5BDEE600B5A4}"/>
              </a:ext>
            </a:extLst>
          </p:cNvPr>
          <p:cNvSpPr/>
          <p:nvPr/>
        </p:nvSpPr>
        <p:spPr>
          <a:xfrm>
            <a:off x="120419" y="1772816"/>
            <a:ext cx="1510265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150000"/>
              </a:lnSpc>
            </a:pPr>
            <a:r>
              <a:rPr lang="en-US" altLang="ko-KR" sz="900" b="1" dirty="0">
                <a:solidFill>
                  <a:schemeClr val="bg1">
                    <a:lumMod val="65000"/>
                  </a:schemeClr>
                </a:solidFill>
                <a:latin typeface="맑은 고딕" pitchFamily="50" charset="-127"/>
                <a:ea typeface="맑은 고딕" pitchFamily="50" charset="-127"/>
              </a:rPr>
              <a:t>YYYY-MM-DD hh:mm</a:t>
            </a:r>
            <a:endParaRPr lang="ko-KR" altLang="en-US" sz="900" b="1" dirty="0">
              <a:solidFill>
                <a:schemeClr val="bg1">
                  <a:lumMod val="6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FD8D1D08-1BD2-4A0A-BFDB-7E18F6BB3656}"/>
              </a:ext>
            </a:extLst>
          </p:cNvPr>
          <p:cNvSpPr/>
          <p:nvPr/>
        </p:nvSpPr>
        <p:spPr>
          <a:xfrm>
            <a:off x="3584848" y="1574612"/>
            <a:ext cx="1224136" cy="288033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기간 설정</a:t>
            </a: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3D01D5A5-3F68-416F-AD61-4CCC7C1CE4FD}"/>
              </a:ext>
            </a:extLst>
          </p:cNvPr>
          <p:cNvSpPr/>
          <p:nvPr/>
        </p:nvSpPr>
        <p:spPr>
          <a:xfrm>
            <a:off x="4304928" y="1574612"/>
            <a:ext cx="1262753" cy="288033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YYY-MM</a:t>
            </a:r>
            <a:endParaRPr lang="ko-KR" altLang="en-US" sz="90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BE88B8C0-437F-49E6-8640-25D76C3BDC1D}"/>
              </a:ext>
            </a:extLst>
          </p:cNvPr>
          <p:cNvSpPr/>
          <p:nvPr/>
        </p:nvSpPr>
        <p:spPr>
          <a:xfrm>
            <a:off x="5567681" y="1574612"/>
            <a:ext cx="288032" cy="288033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▼</a:t>
            </a:r>
          </a:p>
        </p:txBody>
      </p: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237713BB-EE4E-4A4E-BCF8-FF160F368697}"/>
              </a:ext>
            </a:extLst>
          </p:cNvPr>
          <p:cNvSpPr/>
          <p:nvPr/>
        </p:nvSpPr>
        <p:spPr>
          <a:xfrm>
            <a:off x="5855713" y="1574612"/>
            <a:ext cx="249415" cy="288033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~</a:t>
            </a:r>
            <a:endParaRPr lang="ko-KR" altLang="en-US" sz="900" b="1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6D0A783A-455B-4479-8BB3-67E498D5F934}"/>
              </a:ext>
            </a:extLst>
          </p:cNvPr>
          <p:cNvSpPr/>
          <p:nvPr/>
        </p:nvSpPr>
        <p:spPr>
          <a:xfrm>
            <a:off x="6105128" y="1574612"/>
            <a:ext cx="1262753" cy="288033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YYYY-MM</a:t>
            </a:r>
            <a:endParaRPr lang="ko-KR" altLang="en-US" sz="90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E5C8C1D8-A0E7-4A72-A938-A93101859F9A}"/>
              </a:ext>
            </a:extLst>
          </p:cNvPr>
          <p:cNvSpPr/>
          <p:nvPr/>
        </p:nvSpPr>
        <p:spPr>
          <a:xfrm>
            <a:off x="7367881" y="1574612"/>
            <a:ext cx="288032" cy="288033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▼</a:t>
            </a:r>
          </a:p>
        </p:txBody>
      </p:sp>
      <p:pic>
        <p:nvPicPr>
          <p:cNvPr id="32" name="Picture 2" descr="ì¤ì ì ëí ì´ë¯¸ì§ ê²ìê²°ê³¼">
            <a:extLst>
              <a:ext uri="{FF2B5EF4-FFF2-40B4-BE49-F238E27FC236}">
                <a16:creationId xmlns:a16="http://schemas.microsoft.com/office/drawing/2014/main" id="{2D2B0597-DE16-4B75-A420-9B7F45B5810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05865" y="844086"/>
            <a:ext cx="198592" cy="19859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3" name="사각형: 둥근 모서리 32">
            <a:extLst>
              <a:ext uri="{FF2B5EF4-FFF2-40B4-BE49-F238E27FC236}">
                <a16:creationId xmlns:a16="http://schemas.microsoft.com/office/drawing/2014/main" id="{8F9F64A4-D5B4-4033-BD73-810A97991BE0}"/>
              </a:ext>
            </a:extLst>
          </p:cNvPr>
          <p:cNvSpPr/>
          <p:nvPr/>
        </p:nvSpPr>
        <p:spPr>
          <a:xfrm>
            <a:off x="1239315" y="1642320"/>
            <a:ext cx="1013369" cy="180000"/>
          </a:xfrm>
          <a:prstGeom prst="roundRect">
            <a:avLst/>
          </a:prstGeom>
          <a:solidFill>
            <a:schemeClr val="bg1"/>
          </a:solidFill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altLang="ko-KR" sz="900" dirty="0">
                <a:solidFill>
                  <a:schemeClr val="tx1"/>
                </a:solidFill>
              </a:rPr>
              <a:t>1</a:t>
            </a:r>
            <a:r>
              <a:rPr lang="ko-KR" altLang="en-US" sz="900" dirty="0">
                <a:solidFill>
                  <a:schemeClr val="tx1"/>
                </a:solidFill>
              </a:rPr>
              <a:t>일 </a:t>
            </a:r>
            <a:r>
              <a:rPr lang="en-US" altLang="ko-KR" sz="900" dirty="0">
                <a:solidFill>
                  <a:schemeClr val="tx1"/>
                </a:solidFill>
              </a:rPr>
              <a:t>(</a:t>
            </a:r>
            <a:r>
              <a:rPr lang="ko-KR" altLang="en-US" sz="900" dirty="0">
                <a:solidFill>
                  <a:schemeClr val="tx1"/>
                </a:solidFill>
              </a:rPr>
              <a:t>오늘</a:t>
            </a:r>
            <a:r>
              <a:rPr lang="en-US" altLang="ko-KR" sz="900" dirty="0">
                <a:solidFill>
                  <a:schemeClr val="tx1"/>
                </a:solidFill>
              </a:rPr>
              <a:t>)   </a:t>
            </a:r>
            <a:r>
              <a:rPr lang="ko-KR" altLang="en-US" sz="900" dirty="0">
                <a:solidFill>
                  <a:schemeClr val="tx1"/>
                </a:solidFill>
              </a:rPr>
              <a:t>▼</a:t>
            </a:r>
          </a:p>
        </p:txBody>
      </p:sp>
      <p:sp>
        <p:nvSpPr>
          <p:cNvPr id="34" name="사각형: 둥근 모서리 33">
            <a:extLst>
              <a:ext uri="{FF2B5EF4-FFF2-40B4-BE49-F238E27FC236}">
                <a16:creationId xmlns:a16="http://schemas.microsoft.com/office/drawing/2014/main" id="{E6B8ED62-B897-4808-A51D-E6A57F193C19}"/>
              </a:ext>
            </a:extLst>
          </p:cNvPr>
          <p:cNvSpPr/>
          <p:nvPr/>
        </p:nvSpPr>
        <p:spPr>
          <a:xfrm>
            <a:off x="2297791" y="1641475"/>
            <a:ext cx="1013369" cy="180000"/>
          </a:xfrm>
          <a:prstGeom prst="roundRect">
            <a:avLst/>
          </a:prstGeom>
          <a:solidFill>
            <a:schemeClr val="bg1"/>
          </a:solidFill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altLang="ko-KR" sz="900" dirty="0">
                <a:solidFill>
                  <a:schemeClr val="tx1"/>
                </a:solidFill>
              </a:rPr>
              <a:t>15</a:t>
            </a:r>
            <a:r>
              <a:rPr lang="ko-KR" altLang="en-US" sz="900" dirty="0">
                <a:solidFill>
                  <a:schemeClr val="tx1"/>
                </a:solidFill>
              </a:rPr>
              <a:t>분       ▼</a:t>
            </a:r>
          </a:p>
        </p:txBody>
      </p:sp>
      <p:graphicFrame>
        <p:nvGraphicFramePr>
          <p:cNvPr id="38" name="표 37">
            <a:extLst>
              <a:ext uri="{FF2B5EF4-FFF2-40B4-BE49-F238E27FC236}">
                <a16:creationId xmlns:a16="http://schemas.microsoft.com/office/drawing/2014/main" id="{7FD92239-2616-41E2-A902-58275B702A6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33766584"/>
              </p:ext>
            </p:extLst>
          </p:nvPr>
        </p:nvGraphicFramePr>
        <p:xfrm>
          <a:off x="306388" y="2213607"/>
          <a:ext cx="7886976" cy="235343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3020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9403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9403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9403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9403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9403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9403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29403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9403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294032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294032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294032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294032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294032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294032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294032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294032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294032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294032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  <a:gridCol w="294032">
                  <a:extLst>
                    <a:ext uri="{9D8B030D-6E8A-4147-A177-3AD203B41FA5}">
                      <a16:colId xmlns:a16="http://schemas.microsoft.com/office/drawing/2014/main" val="20019"/>
                    </a:ext>
                  </a:extLst>
                </a:gridCol>
                <a:gridCol w="294032">
                  <a:extLst>
                    <a:ext uri="{9D8B030D-6E8A-4147-A177-3AD203B41FA5}">
                      <a16:colId xmlns:a16="http://schemas.microsoft.com/office/drawing/2014/main" val="20020"/>
                    </a:ext>
                  </a:extLst>
                </a:gridCol>
                <a:gridCol w="294032">
                  <a:extLst>
                    <a:ext uri="{9D8B030D-6E8A-4147-A177-3AD203B41FA5}">
                      <a16:colId xmlns:a16="http://schemas.microsoft.com/office/drawing/2014/main" val="20021"/>
                    </a:ext>
                  </a:extLst>
                </a:gridCol>
                <a:gridCol w="294032">
                  <a:extLst>
                    <a:ext uri="{9D8B030D-6E8A-4147-A177-3AD203B41FA5}">
                      <a16:colId xmlns:a16="http://schemas.microsoft.com/office/drawing/2014/main" val="20022"/>
                    </a:ext>
                  </a:extLst>
                </a:gridCol>
                <a:gridCol w="294032">
                  <a:extLst>
                    <a:ext uri="{9D8B030D-6E8A-4147-A177-3AD203B41FA5}">
                      <a16:colId xmlns:a16="http://schemas.microsoft.com/office/drawing/2014/main" val="20023"/>
                    </a:ext>
                  </a:extLst>
                </a:gridCol>
                <a:gridCol w="294032">
                  <a:extLst>
                    <a:ext uri="{9D8B030D-6E8A-4147-A177-3AD203B41FA5}">
                      <a16:colId xmlns:a16="http://schemas.microsoft.com/office/drawing/2014/main" val="20024"/>
                    </a:ext>
                  </a:extLst>
                </a:gridCol>
              </a:tblGrid>
              <a:tr h="23534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/>
                        <a:t>kWh</a:t>
                      </a:r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534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1,000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5343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5343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5343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3534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500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35343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35343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3534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35343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01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02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03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04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05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06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07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08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09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10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11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12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13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14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15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16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17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18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19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20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21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22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23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24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B303CB75-BA82-4083-870C-5BA6EFB1432D}"/>
              </a:ext>
            </a:extLst>
          </p:cNvPr>
          <p:cNvCxnSpPr>
            <a:cxnSpLocks/>
          </p:cNvCxnSpPr>
          <p:nvPr/>
        </p:nvCxnSpPr>
        <p:spPr>
          <a:xfrm>
            <a:off x="1026468" y="2570612"/>
            <a:ext cx="7164639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직선 연결선 39">
            <a:extLst>
              <a:ext uri="{FF2B5EF4-FFF2-40B4-BE49-F238E27FC236}">
                <a16:creationId xmlns:a16="http://schemas.microsoft.com/office/drawing/2014/main" id="{42899B62-231A-4C26-A360-FDAC103664A8}"/>
              </a:ext>
            </a:extLst>
          </p:cNvPr>
          <p:cNvCxnSpPr>
            <a:cxnSpLocks/>
          </p:cNvCxnSpPr>
          <p:nvPr/>
        </p:nvCxnSpPr>
        <p:spPr>
          <a:xfrm>
            <a:off x="1026468" y="3506716"/>
            <a:ext cx="7164639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직선 연결선 40">
            <a:extLst>
              <a:ext uri="{FF2B5EF4-FFF2-40B4-BE49-F238E27FC236}">
                <a16:creationId xmlns:a16="http://schemas.microsoft.com/office/drawing/2014/main" id="{519E5EFE-B765-4CC0-A654-89A35CEA44B4}"/>
              </a:ext>
            </a:extLst>
          </p:cNvPr>
          <p:cNvCxnSpPr>
            <a:cxnSpLocks/>
          </p:cNvCxnSpPr>
          <p:nvPr/>
        </p:nvCxnSpPr>
        <p:spPr>
          <a:xfrm>
            <a:off x="3822994" y="2213608"/>
            <a:ext cx="0" cy="2157204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5" name="그룹 44">
            <a:extLst>
              <a:ext uri="{FF2B5EF4-FFF2-40B4-BE49-F238E27FC236}">
                <a16:creationId xmlns:a16="http://schemas.microsoft.com/office/drawing/2014/main" id="{B0524D38-1958-428F-A781-69F0580431F4}"/>
              </a:ext>
            </a:extLst>
          </p:cNvPr>
          <p:cNvGrpSpPr/>
          <p:nvPr/>
        </p:nvGrpSpPr>
        <p:grpSpPr>
          <a:xfrm>
            <a:off x="1252778" y="2471090"/>
            <a:ext cx="6778887" cy="1755929"/>
            <a:chOff x="1413934" y="2825423"/>
            <a:chExt cx="7084586" cy="1548992"/>
          </a:xfrm>
        </p:grpSpPr>
        <p:sp>
          <p:nvSpPr>
            <p:cNvPr id="46" name="자유형 10">
              <a:extLst>
                <a:ext uri="{FF2B5EF4-FFF2-40B4-BE49-F238E27FC236}">
                  <a16:creationId xmlns:a16="http://schemas.microsoft.com/office/drawing/2014/main" id="{7A5EC0C2-FE1F-43BD-A2E8-2566F9E09740}"/>
                </a:ext>
              </a:extLst>
            </p:cNvPr>
            <p:cNvSpPr/>
            <p:nvPr/>
          </p:nvSpPr>
          <p:spPr>
            <a:xfrm>
              <a:off x="1413934" y="3166369"/>
              <a:ext cx="2687266" cy="1208046"/>
            </a:xfrm>
            <a:custGeom>
              <a:avLst/>
              <a:gdLst>
                <a:gd name="connsiteX0" fmla="*/ 0 w 6477000"/>
                <a:gd name="connsiteY0" fmla="*/ 1208046 h 1208046"/>
                <a:gd name="connsiteX1" fmla="*/ 33867 w 6477000"/>
                <a:gd name="connsiteY1" fmla="*/ 1157246 h 1208046"/>
                <a:gd name="connsiteX2" fmla="*/ 67734 w 6477000"/>
                <a:gd name="connsiteY2" fmla="*/ 1140313 h 1208046"/>
                <a:gd name="connsiteX3" fmla="*/ 101600 w 6477000"/>
                <a:gd name="connsiteY3" fmla="*/ 1072580 h 1208046"/>
                <a:gd name="connsiteX4" fmla="*/ 118534 w 6477000"/>
                <a:gd name="connsiteY4" fmla="*/ 1055646 h 1208046"/>
                <a:gd name="connsiteX5" fmla="*/ 152400 w 6477000"/>
                <a:gd name="connsiteY5" fmla="*/ 937113 h 1208046"/>
                <a:gd name="connsiteX6" fmla="*/ 169334 w 6477000"/>
                <a:gd name="connsiteY6" fmla="*/ 903246 h 1208046"/>
                <a:gd name="connsiteX7" fmla="*/ 203200 w 6477000"/>
                <a:gd name="connsiteY7" fmla="*/ 818580 h 1208046"/>
                <a:gd name="connsiteX8" fmla="*/ 220134 w 6477000"/>
                <a:gd name="connsiteY8" fmla="*/ 801646 h 1208046"/>
                <a:gd name="connsiteX9" fmla="*/ 237067 w 6477000"/>
                <a:gd name="connsiteY9" fmla="*/ 750846 h 1208046"/>
                <a:gd name="connsiteX10" fmla="*/ 304800 w 6477000"/>
                <a:gd name="connsiteY10" fmla="*/ 750846 h 1208046"/>
                <a:gd name="connsiteX11" fmla="*/ 321734 w 6477000"/>
                <a:gd name="connsiteY11" fmla="*/ 767780 h 1208046"/>
                <a:gd name="connsiteX12" fmla="*/ 355600 w 6477000"/>
                <a:gd name="connsiteY12" fmla="*/ 784713 h 1208046"/>
                <a:gd name="connsiteX13" fmla="*/ 508000 w 6477000"/>
                <a:gd name="connsiteY13" fmla="*/ 750846 h 1208046"/>
                <a:gd name="connsiteX14" fmla="*/ 575734 w 6477000"/>
                <a:gd name="connsiteY14" fmla="*/ 716980 h 1208046"/>
                <a:gd name="connsiteX15" fmla="*/ 643467 w 6477000"/>
                <a:gd name="connsiteY15" fmla="*/ 683113 h 1208046"/>
                <a:gd name="connsiteX16" fmla="*/ 677334 w 6477000"/>
                <a:gd name="connsiteY16" fmla="*/ 666180 h 1208046"/>
                <a:gd name="connsiteX17" fmla="*/ 762000 w 6477000"/>
                <a:gd name="connsiteY17" fmla="*/ 615380 h 1208046"/>
                <a:gd name="connsiteX18" fmla="*/ 778934 w 6477000"/>
                <a:gd name="connsiteY18" fmla="*/ 598446 h 1208046"/>
                <a:gd name="connsiteX19" fmla="*/ 812800 w 6477000"/>
                <a:gd name="connsiteY19" fmla="*/ 581513 h 1208046"/>
                <a:gd name="connsiteX20" fmla="*/ 965200 w 6477000"/>
                <a:gd name="connsiteY20" fmla="*/ 598446 h 1208046"/>
                <a:gd name="connsiteX21" fmla="*/ 1032934 w 6477000"/>
                <a:gd name="connsiteY21" fmla="*/ 615380 h 1208046"/>
                <a:gd name="connsiteX22" fmla="*/ 1202267 w 6477000"/>
                <a:gd name="connsiteY22" fmla="*/ 598446 h 1208046"/>
                <a:gd name="connsiteX23" fmla="*/ 1270000 w 6477000"/>
                <a:gd name="connsiteY23" fmla="*/ 564580 h 1208046"/>
                <a:gd name="connsiteX24" fmla="*/ 1303867 w 6477000"/>
                <a:gd name="connsiteY24" fmla="*/ 547646 h 1208046"/>
                <a:gd name="connsiteX25" fmla="*/ 1354667 w 6477000"/>
                <a:gd name="connsiteY25" fmla="*/ 530713 h 1208046"/>
                <a:gd name="connsiteX26" fmla="*/ 1388534 w 6477000"/>
                <a:gd name="connsiteY26" fmla="*/ 513780 h 1208046"/>
                <a:gd name="connsiteX27" fmla="*/ 1557867 w 6477000"/>
                <a:gd name="connsiteY27" fmla="*/ 496846 h 1208046"/>
                <a:gd name="connsiteX28" fmla="*/ 1964267 w 6477000"/>
                <a:gd name="connsiteY28" fmla="*/ 462980 h 1208046"/>
                <a:gd name="connsiteX29" fmla="*/ 2082800 w 6477000"/>
                <a:gd name="connsiteY29" fmla="*/ 412180 h 1208046"/>
                <a:gd name="connsiteX30" fmla="*/ 2133600 w 6477000"/>
                <a:gd name="connsiteY30" fmla="*/ 361380 h 1208046"/>
                <a:gd name="connsiteX31" fmla="*/ 2150534 w 6477000"/>
                <a:gd name="connsiteY31" fmla="*/ 344446 h 1208046"/>
                <a:gd name="connsiteX32" fmla="*/ 2201334 w 6477000"/>
                <a:gd name="connsiteY32" fmla="*/ 310580 h 1208046"/>
                <a:gd name="connsiteX33" fmla="*/ 2455334 w 6477000"/>
                <a:gd name="connsiteY33" fmla="*/ 327513 h 1208046"/>
                <a:gd name="connsiteX34" fmla="*/ 2489200 w 6477000"/>
                <a:gd name="connsiteY34" fmla="*/ 361380 h 1208046"/>
                <a:gd name="connsiteX35" fmla="*/ 2624667 w 6477000"/>
                <a:gd name="connsiteY35" fmla="*/ 378313 h 1208046"/>
                <a:gd name="connsiteX36" fmla="*/ 2726267 w 6477000"/>
                <a:gd name="connsiteY36" fmla="*/ 395246 h 1208046"/>
                <a:gd name="connsiteX37" fmla="*/ 2980267 w 6477000"/>
                <a:gd name="connsiteY37" fmla="*/ 378313 h 1208046"/>
                <a:gd name="connsiteX38" fmla="*/ 3149600 w 6477000"/>
                <a:gd name="connsiteY38" fmla="*/ 344446 h 1208046"/>
                <a:gd name="connsiteX39" fmla="*/ 3183467 w 6477000"/>
                <a:gd name="connsiteY39" fmla="*/ 327513 h 1208046"/>
                <a:gd name="connsiteX40" fmla="*/ 3420534 w 6477000"/>
                <a:gd name="connsiteY40" fmla="*/ 344446 h 1208046"/>
                <a:gd name="connsiteX41" fmla="*/ 3589867 w 6477000"/>
                <a:gd name="connsiteY41" fmla="*/ 378313 h 1208046"/>
                <a:gd name="connsiteX42" fmla="*/ 3674534 w 6477000"/>
                <a:gd name="connsiteY42" fmla="*/ 395246 h 1208046"/>
                <a:gd name="connsiteX43" fmla="*/ 3877734 w 6477000"/>
                <a:gd name="connsiteY43" fmla="*/ 429113 h 1208046"/>
                <a:gd name="connsiteX44" fmla="*/ 4047067 w 6477000"/>
                <a:gd name="connsiteY44" fmla="*/ 462980 h 1208046"/>
                <a:gd name="connsiteX45" fmla="*/ 4284134 w 6477000"/>
                <a:gd name="connsiteY45" fmla="*/ 446046 h 1208046"/>
                <a:gd name="connsiteX46" fmla="*/ 4402667 w 6477000"/>
                <a:gd name="connsiteY46" fmla="*/ 412180 h 1208046"/>
                <a:gd name="connsiteX47" fmla="*/ 4436534 w 6477000"/>
                <a:gd name="connsiteY47" fmla="*/ 395246 h 1208046"/>
                <a:gd name="connsiteX48" fmla="*/ 4521200 w 6477000"/>
                <a:gd name="connsiteY48" fmla="*/ 378313 h 1208046"/>
                <a:gd name="connsiteX49" fmla="*/ 4605867 w 6477000"/>
                <a:gd name="connsiteY49" fmla="*/ 395246 h 1208046"/>
                <a:gd name="connsiteX50" fmla="*/ 4673600 w 6477000"/>
                <a:gd name="connsiteY50" fmla="*/ 412180 h 1208046"/>
                <a:gd name="connsiteX51" fmla="*/ 4859867 w 6477000"/>
                <a:gd name="connsiteY51" fmla="*/ 395246 h 1208046"/>
                <a:gd name="connsiteX52" fmla="*/ 4978400 w 6477000"/>
                <a:gd name="connsiteY52" fmla="*/ 361380 h 1208046"/>
                <a:gd name="connsiteX53" fmla="*/ 5080000 w 6477000"/>
                <a:gd name="connsiteY53" fmla="*/ 310580 h 1208046"/>
                <a:gd name="connsiteX54" fmla="*/ 5096934 w 6477000"/>
                <a:gd name="connsiteY54" fmla="*/ 293646 h 1208046"/>
                <a:gd name="connsiteX55" fmla="*/ 5130800 w 6477000"/>
                <a:gd name="connsiteY55" fmla="*/ 276713 h 1208046"/>
                <a:gd name="connsiteX56" fmla="*/ 5164667 w 6477000"/>
                <a:gd name="connsiteY56" fmla="*/ 242846 h 1208046"/>
                <a:gd name="connsiteX57" fmla="*/ 5181600 w 6477000"/>
                <a:gd name="connsiteY57" fmla="*/ 208980 h 1208046"/>
                <a:gd name="connsiteX58" fmla="*/ 5232400 w 6477000"/>
                <a:gd name="connsiteY58" fmla="*/ 192046 h 1208046"/>
                <a:gd name="connsiteX59" fmla="*/ 5401734 w 6477000"/>
                <a:gd name="connsiteY59" fmla="*/ 141246 h 1208046"/>
                <a:gd name="connsiteX60" fmla="*/ 5486400 w 6477000"/>
                <a:gd name="connsiteY60" fmla="*/ 107380 h 1208046"/>
                <a:gd name="connsiteX61" fmla="*/ 5537200 w 6477000"/>
                <a:gd name="connsiteY61" fmla="*/ 90446 h 1208046"/>
                <a:gd name="connsiteX62" fmla="*/ 5638800 w 6477000"/>
                <a:gd name="connsiteY62" fmla="*/ 107380 h 1208046"/>
                <a:gd name="connsiteX63" fmla="*/ 5672667 w 6477000"/>
                <a:gd name="connsiteY63" fmla="*/ 124313 h 1208046"/>
                <a:gd name="connsiteX64" fmla="*/ 5723467 w 6477000"/>
                <a:gd name="connsiteY64" fmla="*/ 141246 h 1208046"/>
                <a:gd name="connsiteX65" fmla="*/ 5757334 w 6477000"/>
                <a:gd name="connsiteY65" fmla="*/ 158180 h 1208046"/>
                <a:gd name="connsiteX66" fmla="*/ 5926667 w 6477000"/>
                <a:gd name="connsiteY66" fmla="*/ 175113 h 1208046"/>
                <a:gd name="connsiteX67" fmla="*/ 5994400 w 6477000"/>
                <a:gd name="connsiteY67" fmla="*/ 141246 h 1208046"/>
                <a:gd name="connsiteX68" fmla="*/ 6011334 w 6477000"/>
                <a:gd name="connsiteY68" fmla="*/ 124313 h 1208046"/>
                <a:gd name="connsiteX69" fmla="*/ 6079067 w 6477000"/>
                <a:gd name="connsiteY69" fmla="*/ 90446 h 1208046"/>
                <a:gd name="connsiteX70" fmla="*/ 6180667 w 6477000"/>
                <a:gd name="connsiteY70" fmla="*/ 39646 h 1208046"/>
                <a:gd name="connsiteX71" fmla="*/ 6316134 w 6477000"/>
                <a:gd name="connsiteY71" fmla="*/ 5780 h 1208046"/>
                <a:gd name="connsiteX72" fmla="*/ 6477000 w 6477000"/>
                <a:gd name="connsiteY72" fmla="*/ 5780 h 1208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</a:cxnLst>
              <a:rect l="l" t="t" r="r" b="b"/>
              <a:pathLst>
                <a:path w="6477000" h="1208046">
                  <a:moveTo>
                    <a:pt x="0" y="1208046"/>
                  </a:moveTo>
                  <a:cubicBezTo>
                    <a:pt x="11289" y="1191113"/>
                    <a:pt x="19476" y="1171637"/>
                    <a:pt x="33867" y="1157246"/>
                  </a:cubicBezTo>
                  <a:cubicBezTo>
                    <a:pt x="42792" y="1148321"/>
                    <a:pt x="59849" y="1150169"/>
                    <a:pt x="67734" y="1140313"/>
                  </a:cubicBezTo>
                  <a:cubicBezTo>
                    <a:pt x="83503" y="1120602"/>
                    <a:pt x="83751" y="1090429"/>
                    <a:pt x="101600" y="1072580"/>
                  </a:cubicBezTo>
                  <a:lnTo>
                    <a:pt x="118534" y="1055646"/>
                  </a:lnTo>
                  <a:cubicBezTo>
                    <a:pt x="129237" y="1012832"/>
                    <a:pt x="136206" y="977598"/>
                    <a:pt x="152400" y="937113"/>
                  </a:cubicBezTo>
                  <a:cubicBezTo>
                    <a:pt x="157088" y="925394"/>
                    <a:pt x="164646" y="914965"/>
                    <a:pt x="169334" y="903246"/>
                  </a:cubicBezTo>
                  <a:cubicBezTo>
                    <a:pt x="183103" y="868824"/>
                    <a:pt x="183344" y="848364"/>
                    <a:pt x="203200" y="818580"/>
                  </a:cubicBezTo>
                  <a:cubicBezTo>
                    <a:pt x="207628" y="811938"/>
                    <a:pt x="214489" y="807291"/>
                    <a:pt x="220134" y="801646"/>
                  </a:cubicBezTo>
                  <a:cubicBezTo>
                    <a:pt x="225778" y="784713"/>
                    <a:pt x="226357" y="765125"/>
                    <a:pt x="237067" y="750846"/>
                  </a:cubicBezTo>
                  <a:cubicBezTo>
                    <a:pt x="259645" y="720743"/>
                    <a:pt x="282223" y="735794"/>
                    <a:pt x="304800" y="750846"/>
                  </a:cubicBezTo>
                  <a:cubicBezTo>
                    <a:pt x="311442" y="755274"/>
                    <a:pt x="315092" y="763352"/>
                    <a:pt x="321734" y="767780"/>
                  </a:cubicBezTo>
                  <a:cubicBezTo>
                    <a:pt x="332235" y="774781"/>
                    <a:pt x="344311" y="779069"/>
                    <a:pt x="355600" y="784713"/>
                  </a:cubicBezTo>
                  <a:cubicBezTo>
                    <a:pt x="378600" y="780113"/>
                    <a:pt x="480662" y="761098"/>
                    <a:pt x="508000" y="750846"/>
                  </a:cubicBezTo>
                  <a:cubicBezTo>
                    <a:pt x="531636" y="741983"/>
                    <a:pt x="553156" y="728269"/>
                    <a:pt x="575734" y="716980"/>
                  </a:cubicBezTo>
                  <a:lnTo>
                    <a:pt x="643467" y="683113"/>
                  </a:lnTo>
                  <a:lnTo>
                    <a:pt x="677334" y="666180"/>
                  </a:lnTo>
                  <a:cubicBezTo>
                    <a:pt x="712116" y="631396"/>
                    <a:pt x="687127" y="652816"/>
                    <a:pt x="762000" y="615380"/>
                  </a:cubicBezTo>
                  <a:cubicBezTo>
                    <a:pt x="769140" y="611810"/>
                    <a:pt x="772292" y="602874"/>
                    <a:pt x="778934" y="598446"/>
                  </a:cubicBezTo>
                  <a:cubicBezTo>
                    <a:pt x="789435" y="591445"/>
                    <a:pt x="801511" y="587157"/>
                    <a:pt x="812800" y="581513"/>
                  </a:cubicBezTo>
                  <a:cubicBezTo>
                    <a:pt x="863600" y="587157"/>
                    <a:pt x="914682" y="590674"/>
                    <a:pt x="965200" y="598446"/>
                  </a:cubicBezTo>
                  <a:cubicBezTo>
                    <a:pt x="988202" y="601985"/>
                    <a:pt x="1009661" y="615380"/>
                    <a:pt x="1032934" y="615380"/>
                  </a:cubicBezTo>
                  <a:cubicBezTo>
                    <a:pt x="1089660" y="615380"/>
                    <a:pt x="1145823" y="604091"/>
                    <a:pt x="1202267" y="598446"/>
                  </a:cubicBezTo>
                  <a:lnTo>
                    <a:pt x="1270000" y="564580"/>
                  </a:lnTo>
                  <a:cubicBezTo>
                    <a:pt x="1281289" y="558935"/>
                    <a:pt x="1291893" y="551637"/>
                    <a:pt x="1303867" y="547646"/>
                  </a:cubicBezTo>
                  <a:cubicBezTo>
                    <a:pt x="1320800" y="542002"/>
                    <a:pt x="1338094" y="537342"/>
                    <a:pt x="1354667" y="530713"/>
                  </a:cubicBezTo>
                  <a:cubicBezTo>
                    <a:pt x="1366386" y="526026"/>
                    <a:pt x="1376084" y="515855"/>
                    <a:pt x="1388534" y="513780"/>
                  </a:cubicBezTo>
                  <a:cubicBezTo>
                    <a:pt x="1444488" y="504454"/>
                    <a:pt x="1501488" y="503110"/>
                    <a:pt x="1557867" y="496846"/>
                  </a:cubicBezTo>
                  <a:cubicBezTo>
                    <a:pt x="1847460" y="464669"/>
                    <a:pt x="1519985" y="490747"/>
                    <a:pt x="1964267" y="462980"/>
                  </a:cubicBezTo>
                  <a:cubicBezTo>
                    <a:pt x="1994624" y="452860"/>
                    <a:pt x="2061878" y="433102"/>
                    <a:pt x="2082800" y="412180"/>
                  </a:cubicBezTo>
                  <a:lnTo>
                    <a:pt x="2133600" y="361380"/>
                  </a:lnTo>
                  <a:cubicBezTo>
                    <a:pt x="2139245" y="355735"/>
                    <a:pt x="2143394" y="348016"/>
                    <a:pt x="2150534" y="344446"/>
                  </a:cubicBezTo>
                  <a:cubicBezTo>
                    <a:pt x="2191540" y="323943"/>
                    <a:pt x="2175475" y="336437"/>
                    <a:pt x="2201334" y="310580"/>
                  </a:cubicBezTo>
                  <a:cubicBezTo>
                    <a:pt x="2286001" y="316224"/>
                    <a:pt x="2371771" y="312766"/>
                    <a:pt x="2455334" y="327513"/>
                  </a:cubicBezTo>
                  <a:cubicBezTo>
                    <a:pt x="2471056" y="330287"/>
                    <a:pt x="2473908" y="356793"/>
                    <a:pt x="2489200" y="361380"/>
                  </a:cubicBezTo>
                  <a:cubicBezTo>
                    <a:pt x="2532788" y="374456"/>
                    <a:pt x="2579617" y="371877"/>
                    <a:pt x="2624667" y="378313"/>
                  </a:cubicBezTo>
                  <a:cubicBezTo>
                    <a:pt x="2658656" y="383168"/>
                    <a:pt x="2692400" y="389602"/>
                    <a:pt x="2726267" y="395246"/>
                  </a:cubicBezTo>
                  <a:cubicBezTo>
                    <a:pt x="2810934" y="389602"/>
                    <a:pt x="2895761" y="385995"/>
                    <a:pt x="2980267" y="378313"/>
                  </a:cubicBezTo>
                  <a:cubicBezTo>
                    <a:pt x="3050826" y="371899"/>
                    <a:pt x="3090293" y="368169"/>
                    <a:pt x="3149600" y="344446"/>
                  </a:cubicBezTo>
                  <a:cubicBezTo>
                    <a:pt x="3161319" y="339759"/>
                    <a:pt x="3172178" y="333157"/>
                    <a:pt x="3183467" y="327513"/>
                  </a:cubicBezTo>
                  <a:cubicBezTo>
                    <a:pt x="3262489" y="333157"/>
                    <a:pt x="3341922" y="334620"/>
                    <a:pt x="3420534" y="344446"/>
                  </a:cubicBezTo>
                  <a:cubicBezTo>
                    <a:pt x="3477652" y="351586"/>
                    <a:pt x="3533423" y="367024"/>
                    <a:pt x="3589867" y="378313"/>
                  </a:cubicBezTo>
                  <a:lnTo>
                    <a:pt x="3674534" y="395246"/>
                  </a:lnTo>
                  <a:cubicBezTo>
                    <a:pt x="3741868" y="408713"/>
                    <a:pt x="3812590" y="407399"/>
                    <a:pt x="3877734" y="429113"/>
                  </a:cubicBezTo>
                  <a:cubicBezTo>
                    <a:pt x="3966398" y="458667"/>
                    <a:pt x="3910864" y="443522"/>
                    <a:pt x="4047067" y="462980"/>
                  </a:cubicBezTo>
                  <a:cubicBezTo>
                    <a:pt x="4126089" y="457335"/>
                    <a:pt x="4205395" y="454795"/>
                    <a:pt x="4284134" y="446046"/>
                  </a:cubicBezTo>
                  <a:cubicBezTo>
                    <a:pt x="4306365" y="443576"/>
                    <a:pt x="4377968" y="422060"/>
                    <a:pt x="4402667" y="412180"/>
                  </a:cubicBezTo>
                  <a:cubicBezTo>
                    <a:pt x="4414386" y="407492"/>
                    <a:pt x="4424398" y="398713"/>
                    <a:pt x="4436534" y="395246"/>
                  </a:cubicBezTo>
                  <a:cubicBezTo>
                    <a:pt x="4464207" y="387339"/>
                    <a:pt x="4492978" y="383957"/>
                    <a:pt x="4521200" y="378313"/>
                  </a:cubicBezTo>
                  <a:cubicBezTo>
                    <a:pt x="4549422" y="383957"/>
                    <a:pt x="4577771" y="389002"/>
                    <a:pt x="4605867" y="395246"/>
                  </a:cubicBezTo>
                  <a:cubicBezTo>
                    <a:pt x="4628585" y="400295"/>
                    <a:pt x="4650327" y="412180"/>
                    <a:pt x="4673600" y="412180"/>
                  </a:cubicBezTo>
                  <a:cubicBezTo>
                    <a:pt x="4735945" y="412180"/>
                    <a:pt x="4797778" y="400891"/>
                    <a:pt x="4859867" y="395246"/>
                  </a:cubicBezTo>
                  <a:cubicBezTo>
                    <a:pt x="4894236" y="386654"/>
                    <a:pt x="4944392" y="375955"/>
                    <a:pt x="4978400" y="361380"/>
                  </a:cubicBezTo>
                  <a:lnTo>
                    <a:pt x="5080000" y="310580"/>
                  </a:lnTo>
                  <a:cubicBezTo>
                    <a:pt x="5087140" y="307010"/>
                    <a:pt x="5090292" y="298074"/>
                    <a:pt x="5096934" y="293646"/>
                  </a:cubicBezTo>
                  <a:cubicBezTo>
                    <a:pt x="5107435" y="286645"/>
                    <a:pt x="5120703" y="284286"/>
                    <a:pt x="5130800" y="276713"/>
                  </a:cubicBezTo>
                  <a:cubicBezTo>
                    <a:pt x="5143572" y="267134"/>
                    <a:pt x="5157527" y="257126"/>
                    <a:pt x="5164667" y="242846"/>
                  </a:cubicBezTo>
                  <a:cubicBezTo>
                    <a:pt x="5170311" y="231557"/>
                    <a:pt x="5171503" y="216553"/>
                    <a:pt x="5181600" y="208980"/>
                  </a:cubicBezTo>
                  <a:cubicBezTo>
                    <a:pt x="5195879" y="198270"/>
                    <a:pt x="5215994" y="199077"/>
                    <a:pt x="5232400" y="192046"/>
                  </a:cubicBezTo>
                  <a:cubicBezTo>
                    <a:pt x="5389953" y="124524"/>
                    <a:pt x="5194837" y="187224"/>
                    <a:pt x="5401734" y="141246"/>
                  </a:cubicBezTo>
                  <a:cubicBezTo>
                    <a:pt x="5464915" y="127206"/>
                    <a:pt x="5436281" y="127428"/>
                    <a:pt x="5486400" y="107380"/>
                  </a:cubicBezTo>
                  <a:cubicBezTo>
                    <a:pt x="5502973" y="100751"/>
                    <a:pt x="5520267" y="96091"/>
                    <a:pt x="5537200" y="90446"/>
                  </a:cubicBezTo>
                  <a:cubicBezTo>
                    <a:pt x="5571067" y="96091"/>
                    <a:pt x="5605491" y="99053"/>
                    <a:pt x="5638800" y="107380"/>
                  </a:cubicBezTo>
                  <a:cubicBezTo>
                    <a:pt x="5651045" y="110441"/>
                    <a:pt x="5660948" y="119626"/>
                    <a:pt x="5672667" y="124313"/>
                  </a:cubicBezTo>
                  <a:cubicBezTo>
                    <a:pt x="5689240" y="130942"/>
                    <a:pt x="5706894" y="134617"/>
                    <a:pt x="5723467" y="141246"/>
                  </a:cubicBezTo>
                  <a:cubicBezTo>
                    <a:pt x="5735186" y="145934"/>
                    <a:pt x="5744884" y="156105"/>
                    <a:pt x="5757334" y="158180"/>
                  </a:cubicBezTo>
                  <a:cubicBezTo>
                    <a:pt x="5813288" y="167506"/>
                    <a:pt x="5870223" y="169469"/>
                    <a:pt x="5926667" y="175113"/>
                  </a:cubicBezTo>
                  <a:cubicBezTo>
                    <a:pt x="5949245" y="163824"/>
                    <a:pt x="5976550" y="159095"/>
                    <a:pt x="5994400" y="141246"/>
                  </a:cubicBezTo>
                  <a:cubicBezTo>
                    <a:pt x="6000045" y="135602"/>
                    <a:pt x="6004489" y="128420"/>
                    <a:pt x="6011334" y="124313"/>
                  </a:cubicBezTo>
                  <a:cubicBezTo>
                    <a:pt x="6032979" y="111326"/>
                    <a:pt x="6056489" y="101735"/>
                    <a:pt x="6079067" y="90446"/>
                  </a:cubicBezTo>
                  <a:lnTo>
                    <a:pt x="6180667" y="39646"/>
                  </a:lnTo>
                  <a:cubicBezTo>
                    <a:pt x="6222298" y="18830"/>
                    <a:pt x="6270978" y="17069"/>
                    <a:pt x="6316134" y="5780"/>
                  </a:cubicBezTo>
                  <a:cubicBezTo>
                    <a:pt x="6368155" y="-7225"/>
                    <a:pt x="6423378" y="5780"/>
                    <a:pt x="6477000" y="5780"/>
                  </a:cubicBezTo>
                </a:path>
              </a:pathLst>
            </a:custGeom>
            <a:ln w="12700">
              <a:solidFill>
                <a:srgbClr val="FF6600"/>
              </a:solidFill>
            </a:ln>
          </p:spPr>
          <p:style>
            <a:lnRef idx="1">
              <a:schemeClr val="accent6"/>
            </a:lnRef>
            <a:fillRef idx="0">
              <a:schemeClr val="accent6"/>
            </a:fillRef>
            <a:effectRef idx="0">
              <a:schemeClr val="accent6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47" name="자유형 83">
              <a:extLst>
                <a:ext uri="{FF2B5EF4-FFF2-40B4-BE49-F238E27FC236}">
                  <a16:creationId xmlns:a16="http://schemas.microsoft.com/office/drawing/2014/main" id="{91FE3F3F-F0A6-4EB7-A5CE-8BC3FDE7893E}"/>
                </a:ext>
              </a:extLst>
            </p:cNvPr>
            <p:cNvSpPr/>
            <p:nvPr/>
          </p:nvSpPr>
          <p:spPr>
            <a:xfrm>
              <a:off x="1437877" y="2831156"/>
              <a:ext cx="3422156" cy="1526755"/>
            </a:xfrm>
            <a:custGeom>
              <a:avLst/>
              <a:gdLst>
                <a:gd name="connsiteX0" fmla="*/ 0 w 4368800"/>
                <a:gd name="connsiteY0" fmla="*/ 389467 h 414867"/>
                <a:gd name="connsiteX1" fmla="*/ 270933 w 4368800"/>
                <a:gd name="connsiteY1" fmla="*/ 321733 h 414867"/>
                <a:gd name="connsiteX2" fmla="*/ 575733 w 4368800"/>
                <a:gd name="connsiteY2" fmla="*/ 414867 h 414867"/>
                <a:gd name="connsiteX3" fmla="*/ 880533 w 4368800"/>
                <a:gd name="connsiteY3" fmla="*/ 355600 h 414867"/>
                <a:gd name="connsiteX4" fmla="*/ 1134533 w 4368800"/>
                <a:gd name="connsiteY4" fmla="*/ 203200 h 414867"/>
                <a:gd name="connsiteX5" fmla="*/ 1456266 w 4368800"/>
                <a:gd name="connsiteY5" fmla="*/ 313267 h 414867"/>
                <a:gd name="connsiteX6" fmla="*/ 1727200 w 4368800"/>
                <a:gd name="connsiteY6" fmla="*/ 254000 h 414867"/>
                <a:gd name="connsiteX7" fmla="*/ 1998133 w 4368800"/>
                <a:gd name="connsiteY7" fmla="*/ 135467 h 414867"/>
                <a:gd name="connsiteX8" fmla="*/ 2353733 w 4368800"/>
                <a:gd name="connsiteY8" fmla="*/ 287867 h 414867"/>
                <a:gd name="connsiteX9" fmla="*/ 2607733 w 4368800"/>
                <a:gd name="connsiteY9" fmla="*/ 169333 h 414867"/>
                <a:gd name="connsiteX10" fmla="*/ 2946400 w 4368800"/>
                <a:gd name="connsiteY10" fmla="*/ 211667 h 414867"/>
                <a:gd name="connsiteX11" fmla="*/ 3234266 w 4368800"/>
                <a:gd name="connsiteY11" fmla="*/ 203200 h 414867"/>
                <a:gd name="connsiteX12" fmla="*/ 3505200 w 4368800"/>
                <a:gd name="connsiteY12" fmla="*/ 0 h 414867"/>
                <a:gd name="connsiteX13" fmla="*/ 3810000 w 4368800"/>
                <a:gd name="connsiteY13" fmla="*/ 135467 h 414867"/>
                <a:gd name="connsiteX14" fmla="*/ 4097866 w 4368800"/>
                <a:gd name="connsiteY14" fmla="*/ 42333 h 414867"/>
                <a:gd name="connsiteX15" fmla="*/ 4368800 w 4368800"/>
                <a:gd name="connsiteY15" fmla="*/ 118533 h 414867"/>
                <a:gd name="connsiteX0" fmla="*/ 0 w 4368800"/>
                <a:gd name="connsiteY0" fmla="*/ 524934 h 524934"/>
                <a:gd name="connsiteX1" fmla="*/ 270933 w 4368800"/>
                <a:gd name="connsiteY1" fmla="*/ 321733 h 524934"/>
                <a:gd name="connsiteX2" fmla="*/ 575733 w 4368800"/>
                <a:gd name="connsiteY2" fmla="*/ 414867 h 524934"/>
                <a:gd name="connsiteX3" fmla="*/ 880533 w 4368800"/>
                <a:gd name="connsiteY3" fmla="*/ 355600 h 524934"/>
                <a:gd name="connsiteX4" fmla="*/ 1134533 w 4368800"/>
                <a:gd name="connsiteY4" fmla="*/ 203200 h 524934"/>
                <a:gd name="connsiteX5" fmla="*/ 1456266 w 4368800"/>
                <a:gd name="connsiteY5" fmla="*/ 313267 h 524934"/>
                <a:gd name="connsiteX6" fmla="*/ 1727200 w 4368800"/>
                <a:gd name="connsiteY6" fmla="*/ 254000 h 524934"/>
                <a:gd name="connsiteX7" fmla="*/ 1998133 w 4368800"/>
                <a:gd name="connsiteY7" fmla="*/ 135467 h 524934"/>
                <a:gd name="connsiteX8" fmla="*/ 2353733 w 4368800"/>
                <a:gd name="connsiteY8" fmla="*/ 287867 h 524934"/>
                <a:gd name="connsiteX9" fmla="*/ 2607733 w 4368800"/>
                <a:gd name="connsiteY9" fmla="*/ 169333 h 524934"/>
                <a:gd name="connsiteX10" fmla="*/ 2946400 w 4368800"/>
                <a:gd name="connsiteY10" fmla="*/ 211667 h 524934"/>
                <a:gd name="connsiteX11" fmla="*/ 3234266 w 4368800"/>
                <a:gd name="connsiteY11" fmla="*/ 203200 h 524934"/>
                <a:gd name="connsiteX12" fmla="*/ 3505200 w 4368800"/>
                <a:gd name="connsiteY12" fmla="*/ 0 h 524934"/>
                <a:gd name="connsiteX13" fmla="*/ 3810000 w 4368800"/>
                <a:gd name="connsiteY13" fmla="*/ 135467 h 524934"/>
                <a:gd name="connsiteX14" fmla="*/ 4097866 w 4368800"/>
                <a:gd name="connsiteY14" fmla="*/ 42333 h 524934"/>
                <a:gd name="connsiteX15" fmla="*/ 4368800 w 4368800"/>
                <a:gd name="connsiteY15" fmla="*/ 118533 h 524934"/>
                <a:gd name="connsiteX0" fmla="*/ 0 w 4368800"/>
                <a:gd name="connsiteY0" fmla="*/ 541867 h 541867"/>
                <a:gd name="connsiteX1" fmla="*/ 270933 w 4368800"/>
                <a:gd name="connsiteY1" fmla="*/ 338666 h 541867"/>
                <a:gd name="connsiteX2" fmla="*/ 575733 w 4368800"/>
                <a:gd name="connsiteY2" fmla="*/ 431800 h 541867"/>
                <a:gd name="connsiteX3" fmla="*/ 880533 w 4368800"/>
                <a:gd name="connsiteY3" fmla="*/ 372533 h 541867"/>
                <a:gd name="connsiteX4" fmla="*/ 1134533 w 4368800"/>
                <a:gd name="connsiteY4" fmla="*/ 220133 h 541867"/>
                <a:gd name="connsiteX5" fmla="*/ 1456266 w 4368800"/>
                <a:gd name="connsiteY5" fmla="*/ 330200 h 541867"/>
                <a:gd name="connsiteX6" fmla="*/ 1727200 w 4368800"/>
                <a:gd name="connsiteY6" fmla="*/ 270933 h 541867"/>
                <a:gd name="connsiteX7" fmla="*/ 2048933 w 4368800"/>
                <a:gd name="connsiteY7" fmla="*/ 0 h 541867"/>
                <a:gd name="connsiteX8" fmla="*/ 2353733 w 4368800"/>
                <a:gd name="connsiteY8" fmla="*/ 304800 h 541867"/>
                <a:gd name="connsiteX9" fmla="*/ 2607733 w 4368800"/>
                <a:gd name="connsiteY9" fmla="*/ 186266 h 541867"/>
                <a:gd name="connsiteX10" fmla="*/ 2946400 w 4368800"/>
                <a:gd name="connsiteY10" fmla="*/ 228600 h 541867"/>
                <a:gd name="connsiteX11" fmla="*/ 3234266 w 4368800"/>
                <a:gd name="connsiteY11" fmla="*/ 220133 h 541867"/>
                <a:gd name="connsiteX12" fmla="*/ 3505200 w 4368800"/>
                <a:gd name="connsiteY12" fmla="*/ 16933 h 541867"/>
                <a:gd name="connsiteX13" fmla="*/ 3810000 w 4368800"/>
                <a:gd name="connsiteY13" fmla="*/ 152400 h 541867"/>
                <a:gd name="connsiteX14" fmla="*/ 4097866 w 4368800"/>
                <a:gd name="connsiteY14" fmla="*/ 59266 h 541867"/>
                <a:gd name="connsiteX15" fmla="*/ 4368800 w 4368800"/>
                <a:gd name="connsiteY15" fmla="*/ 135466 h 541867"/>
                <a:gd name="connsiteX0" fmla="*/ 0 w 4368800"/>
                <a:gd name="connsiteY0" fmla="*/ 541867 h 541867"/>
                <a:gd name="connsiteX1" fmla="*/ 270933 w 4368800"/>
                <a:gd name="connsiteY1" fmla="*/ 338666 h 541867"/>
                <a:gd name="connsiteX2" fmla="*/ 575733 w 4368800"/>
                <a:gd name="connsiteY2" fmla="*/ 431800 h 541867"/>
                <a:gd name="connsiteX3" fmla="*/ 880533 w 4368800"/>
                <a:gd name="connsiteY3" fmla="*/ 372533 h 541867"/>
                <a:gd name="connsiteX4" fmla="*/ 1134533 w 4368800"/>
                <a:gd name="connsiteY4" fmla="*/ 220133 h 541867"/>
                <a:gd name="connsiteX5" fmla="*/ 1456266 w 4368800"/>
                <a:gd name="connsiteY5" fmla="*/ 330200 h 541867"/>
                <a:gd name="connsiteX6" fmla="*/ 1727200 w 4368800"/>
                <a:gd name="connsiteY6" fmla="*/ 270933 h 541867"/>
                <a:gd name="connsiteX7" fmla="*/ 2048933 w 4368800"/>
                <a:gd name="connsiteY7" fmla="*/ 0 h 541867"/>
                <a:gd name="connsiteX8" fmla="*/ 2353733 w 4368800"/>
                <a:gd name="connsiteY8" fmla="*/ 304800 h 541867"/>
                <a:gd name="connsiteX9" fmla="*/ 2607733 w 4368800"/>
                <a:gd name="connsiteY9" fmla="*/ 186266 h 541867"/>
                <a:gd name="connsiteX10" fmla="*/ 2963334 w 4368800"/>
                <a:gd name="connsiteY10" fmla="*/ 152400 h 541867"/>
                <a:gd name="connsiteX11" fmla="*/ 3234266 w 4368800"/>
                <a:gd name="connsiteY11" fmla="*/ 220133 h 541867"/>
                <a:gd name="connsiteX12" fmla="*/ 3505200 w 4368800"/>
                <a:gd name="connsiteY12" fmla="*/ 16933 h 541867"/>
                <a:gd name="connsiteX13" fmla="*/ 3810000 w 4368800"/>
                <a:gd name="connsiteY13" fmla="*/ 152400 h 541867"/>
                <a:gd name="connsiteX14" fmla="*/ 4097866 w 4368800"/>
                <a:gd name="connsiteY14" fmla="*/ 59266 h 541867"/>
                <a:gd name="connsiteX15" fmla="*/ 4368800 w 4368800"/>
                <a:gd name="connsiteY15" fmla="*/ 135466 h 541867"/>
                <a:gd name="connsiteX0" fmla="*/ 0 w 4368800"/>
                <a:gd name="connsiteY0" fmla="*/ 575734 h 575734"/>
                <a:gd name="connsiteX1" fmla="*/ 270933 w 4368800"/>
                <a:gd name="connsiteY1" fmla="*/ 372533 h 575734"/>
                <a:gd name="connsiteX2" fmla="*/ 575733 w 4368800"/>
                <a:gd name="connsiteY2" fmla="*/ 465667 h 575734"/>
                <a:gd name="connsiteX3" fmla="*/ 880533 w 4368800"/>
                <a:gd name="connsiteY3" fmla="*/ 406400 h 575734"/>
                <a:gd name="connsiteX4" fmla="*/ 1134533 w 4368800"/>
                <a:gd name="connsiteY4" fmla="*/ 254000 h 575734"/>
                <a:gd name="connsiteX5" fmla="*/ 1456266 w 4368800"/>
                <a:gd name="connsiteY5" fmla="*/ 364067 h 575734"/>
                <a:gd name="connsiteX6" fmla="*/ 1727200 w 4368800"/>
                <a:gd name="connsiteY6" fmla="*/ 304800 h 575734"/>
                <a:gd name="connsiteX7" fmla="*/ 2048933 w 4368800"/>
                <a:gd name="connsiteY7" fmla="*/ 33867 h 575734"/>
                <a:gd name="connsiteX8" fmla="*/ 2353733 w 4368800"/>
                <a:gd name="connsiteY8" fmla="*/ 338667 h 575734"/>
                <a:gd name="connsiteX9" fmla="*/ 2607733 w 4368800"/>
                <a:gd name="connsiteY9" fmla="*/ 220133 h 575734"/>
                <a:gd name="connsiteX10" fmla="*/ 2963334 w 4368800"/>
                <a:gd name="connsiteY10" fmla="*/ 186267 h 575734"/>
                <a:gd name="connsiteX11" fmla="*/ 3234266 w 4368800"/>
                <a:gd name="connsiteY11" fmla="*/ 254000 h 575734"/>
                <a:gd name="connsiteX12" fmla="*/ 3505200 w 4368800"/>
                <a:gd name="connsiteY12" fmla="*/ 0 h 575734"/>
                <a:gd name="connsiteX13" fmla="*/ 3810000 w 4368800"/>
                <a:gd name="connsiteY13" fmla="*/ 186267 h 575734"/>
                <a:gd name="connsiteX14" fmla="*/ 4097866 w 4368800"/>
                <a:gd name="connsiteY14" fmla="*/ 93133 h 575734"/>
                <a:gd name="connsiteX15" fmla="*/ 4368800 w 4368800"/>
                <a:gd name="connsiteY15" fmla="*/ 169333 h 575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368800" h="575734">
                  <a:moveTo>
                    <a:pt x="0" y="575734"/>
                  </a:moveTo>
                  <a:lnTo>
                    <a:pt x="270933" y="372533"/>
                  </a:lnTo>
                  <a:lnTo>
                    <a:pt x="575733" y="465667"/>
                  </a:lnTo>
                  <a:lnTo>
                    <a:pt x="880533" y="406400"/>
                  </a:lnTo>
                  <a:lnTo>
                    <a:pt x="1134533" y="254000"/>
                  </a:lnTo>
                  <a:lnTo>
                    <a:pt x="1456266" y="364067"/>
                  </a:lnTo>
                  <a:lnTo>
                    <a:pt x="1727200" y="304800"/>
                  </a:lnTo>
                  <a:lnTo>
                    <a:pt x="2048933" y="33867"/>
                  </a:lnTo>
                  <a:lnTo>
                    <a:pt x="2353733" y="338667"/>
                  </a:lnTo>
                  <a:cubicBezTo>
                    <a:pt x="2438400" y="299156"/>
                    <a:pt x="2506133" y="245533"/>
                    <a:pt x="2607733" y="220133"/>
                  </a:cubicBezTo>
                  <a:cubicBezTo>
                    <a:pt x="2709333" y="194733"/>
                    <a:pt x="2844800" y="197556"/>
                    <a:pt x="2963334" y="186267"/>
                  </a:cubicBezTo>
                  <a:lnTo>
                    <a:pt x="3234266" y="254000"/>
                  </a:lnTo>
                  <a:lnTo>
                    <a:pt x="3505200" y="0"/>
                  </a:lnTo>
                  <a:lnTo>
                    <a:pt x="3810000" y="186267"/>
                  </a:lnTo>
                  <a:lnTo>
                    <a:pt x="4097866" y="93133"/>
                  </a:lnTo>
                  <a:lnTo>
                    <a:pt x="4368800" y="169333"/>
                  </a:lnTo>
                </a:path>
              </a:pathLst>
            </a:custGeom>
            <a:ln>
              <a:solidFill>
                <a:srgbClr val="92D050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48" name="자유형 33">
              <a:extLst>
                <a:ext uri="{FF2B5EF4-FFF2-40B4-BE49-F238E27FC236}">
                  <a16:creationId xmlns:a16="http://schemas.microsoft.com/office/drawing/2014/main" id="{41EEF61E-32C6-4758-BC68-75317C8BC4B0}"/>
                </a:ext>
              </a:extLst>
            </p:cNvPr>
            <p:cNvSpPr/>
            <p:nvPr/>
          </p:nvSpPr>
          <p:spPr>
            <a:xfrm flipH="1">
              <a:off x="4815075" y="2825423"/>
              <a:ext cx="3683445" cy="1526755"/>
            </a:xfrm>
            <a:custGeom>
              <a:avLst/>
              <a:gdLst>
                <a:gd name="connsiteX0" fmla="*/ 0 w 4368800"/>
                <a:gd name="connsiteY0" fmla="*/ 389467 h 414867"/>
                <a:gd name="connsiteX1" fmla="*/ 270933 w 4368800"/>
                <a:gd name="connsiteY1" fmla="*/ 321733 h 414867"/>
                <a:gd name="connsiteX2" fmla="*/ 575733 w 4368800"/>
                <a:gd name="connsiteY2" fmla="*/ 414867 h 414867"/>
                <a:gd name="connsiteX3" fmla="*/ 880533 w 4368800"/>
                <a:gd name="connsiteY3" fmla="*/ 355600 h 414867"/>
                <a:gd name="connsiteX4" fmla="*/ 1134533 w 4368800"/>
                <a:gd name="connsiteY4" fmla="*/ 203200 h 414867"/>
                <a:gd name="connsiteX5" fmla="*/ 1456266 w 4368800"/>
                <a:gd name="connsiteY5" fmla="*/ 313267 h 414867"/>
                <a:gd name="connsiteX6" fmla="*/ 1727200 w 4368800"/>
                <a:gd name="connsiteY6" fmla="*/ 254000 h 414867"/>
                <a:gd name="connsiteX7" fmla="*/ 1998133 w 4368800"/>
                <a:gd name="connsiteY7" fmla="*/ 135467 h 414867"/>
                <a:gd name="connsiteX8" fmla="*/ 2353733 w 4368800"/>
                <a:gd name="connsiteY8" fmla="*/ 287867 h 414867"/>
                <a:gd name="connsiteX9" fmla="*/ 2607733 w 4368800"/>
                <a:gd name="connsiteY9" fmla="*/ 169333 h 414867"/>
                <a:gd name="connsiteX10" fmla="*/ 2946400 w 4368800"/>
                <a:gd name="connsiteY10" fmla="*/ 211667 h 414867"/>
                <a:gd name="connsiteX11" fmla="*/ 3234266 w 4368800"/>
                <a:gd name="connsiteY11" fmla="*/ 203200 h 414867"/>
                <a:gd name="connsiteX12" fmla="*/ 3505200 w 4368800"/>
                <a:gd name="connsiteY12" fmla="*/ 0 h 414867"/>
                <a:gd name="connsiteX13" fmla="*/ 3810000 w 4368800"/>
                <a:gd name="connsiteY13" fmla="*/ 135467 h 414867"/>
                <a:gd name="connsiteX14" fmla="*/ 4097866 w 4368800"/>
                <a:gd name="connsiteY14" fmla="*/ 42333 h 414867"/>
                <a:gd name="connsiteX15" fmla="*/ 4368800 w 4368800"/>
                <a:gd name="connsiteY15" fmla="*/ 118533 h 414867"/>
                <a:gd name="connsiteX0" fmla="*/ 0 w 4368800"/>
                <a:gd name="connsiteY0" fmla="*/ 524934 h 524934"/>
                <a:gd name="connsiteX1" fmla="*/ 270933 w 4368800"/>
                <a:gd name="connsiteY1" fmla="*/ 321733 h 524934"/>
                <a:gd name="connsiteX2" fmla="*/ 575733 w 4368800"/>
                <a:gd name="connsiteY2" fmla="*/ 414867 h 524934"/>
                <a:gd name="connsiteX3" fmla="*/ 880533 w 4368800"/>
                <a:gd name="connsiteY3" fmla="*/ 355600 h 524934"/>
                <a:gd name="connsiteX4" fmla="*/ 1134533 w 4368800"/>
                <a:gd name="connsiteY4" fmla="*/ 203200 h 524934"/>
                <a:gd name="connsiteX5" fmla="*/ 1456266 w 4368800"/>
                <a:gd name="connsiteY5" fmla="*/ 313267 h 524934"/>
                <a:gd name="connsiteX6" fmla="*/ 1727200 w 4368800"/>
                <a:gd name="connsiteY6" fmla="*/ 254000 h 524934"/>
                <a:gd name="connsiteX7" fmla="*/ 1998133 w 4368800"/>
                <a:gd name="connsiteY7" fmla="*/ 135467 h 524934"/>
                <a:gd name="connsiteX8" fmla="*/ 2353733 w 4368800"/>
                <a:gd name="connsiteY8" fmla="*/ 287867 h 524934"/>
                <a:gd name="connsiteX9" fmla="*/ 2607733 w 4368800"/>
                <a:gd name="connsiteY9" fmla="*/ 169333 h 524934"/>
                <a:gd name="connsiteX10" fmla="*/ 2946400 w 4368800"/>
                <a:gd name="connsiteY10" fmla="*/ 211667 h 524934"/>
                <a:gd name="connsiteX11" fmla="*/ 3234266 w 4368800"/>
                <a:gd name="connsiteY11" fmla="*/ 203200 h 524934"/>
                <a:gd name="connsiteX12" fmla="*/ 3505200 w 4368800"/>
                <a:gd name="connsiteY12" fmla="*/ 0 h 524934"/>
                <a:gd name="connsiteX13" fmla="*/ 3810000 w 4368800"/>
                <a:gd name="connsiteY13" fmla="*/ 135467 h 524934"/>
                <a:gd name="connsiteX14" fmla="*/ 4097866 w 4368800"/>
                <a:gd name="connsiteY14" fmla="*/ 42333 h 524934"/>
                <a:gd name="connsiteX15" fmla="*/ 4368800 w 4368800"/>
                <a:gd name="connsiteY15" fmla="*/ 118533 h 524934"/>
                <a:gd name="connsiteX0" fmla="*/ 0 w 4368800"/>
                <a:gd name="connsiteY0" fmla="*/ 541867 h 541867"/>
                <a:gd name="connsiteX1" fmla="*/ 270933 w 4368800"/>
                <a:gd name="connsiteY1" fmla="*/ 338666 h 541867"/>
                <a:gd name="connsiteX2" fmla="*/ 575733 w 4368800"/>
                <a:gd name="connsiteY2" fmla="*/ 431800 h 541867"/>
                <a:gd name="connsiteX3" fmla="*/ 880533 w 4368800"/>
                <a:gd name="connsiteY3" fmla="*/ 372533 h 541867"/>
                <a:gd name="connsiteX4" fmla="*/ 1134533 w 4368800"/>
                <a:gd name="connsiteY4" fmla="*/ 220133 h 541867"/>
                <a:gd name="connsiteX5" fmla="*/ 1456266 w 4368800"/>
                <a:gd name="connsiteY5" fmla="*/ 330200 h 541867"/>
                <a:gd name="connsiteX6" fmla="*/ 1727200 w 4368800"/>
                <a:gd name="connsiteY6" fmla="*/ 270933 h 541867"/>
                <a:gd name="connsiteX7" fmla="*/ 2048933 w 4368800"/>
                <a:gd name="connsiteY7" fmla="*/ 0 h 541867"/>
                <a:gd name="connsiteX8" fmla="*/ 2353733 w 4368800"/>
                <a:gd name="connsiteY8" fmla="*/ 304800 h 541867"/>
                <a:gd name="connsiteX9" fmla="*/ 2607733 w 4368800"/>
                <a:gd name="connsiteY9" fmla="*/ 186266 h 541867"/>
                <a:gd name="connsiteX10" fmla="*/ 2946400 w 4368800"/>
                <a:gd name="connsiteY10" fmla="*/ 228600 h 541867"/>
                <a:gd name="connsiteX11" fmla="*/ 3234266 w 4368800"/>
                <a:gd name="connsiteY11" fmla="*/ 220133 h 541867"/>
                <a:gd name="connsiteX12" fmla="*/ 3505200 w 4368800"/>
                <a:gd name="connsiteY12" fmla="*/ 16933 h 541867"/>
                <a:gd name="connsiteX13" fmla="*/ 3810000 w 4368800"/>
                <a:gd name="connsiteY13" fmla="*/ 152400 h 541867"/>
                <a:gd name="connsiteX14" fmla="*/ 4097866 w 4368800"/>
                <a:gd name="connsiteY14" fmla="*/ 59266 h 541867"/>
                <a:gd name="connsiteX15" fmla="*/ 4368800 w 4368800"/>
                <a:gd name="connsiteY15" fmla="*/ 135466 h 541867"/>
                <a:gd name="connsiteX0" fmla="*/ 0 w 4368800"/>
                <a:gd name="connsiteY0" fmla="*/ 541867 h 541867"/>
                <a:gd name="connsiteX1" fmla="*/ 270933 w 4368800"/>
                <a:gd name="connsiteY1" fmla="*/ 338666 h 541867"/>
                <a:gd name="connsiteX2" fmla="*/ 575733 w 4368800"/>
                <a:gd name="connsiteY2" fmla="*/ 431800 h 541867"/>
                <a:gd name="connsiteX3" fmla="*/ 880533 w 4368800"/>
                <a:gd name="connsiteY3" fmla="*/ 372533 h 541867"/>
                <a:gd name="connsiteX4" fmla="*/ 1134533 w 4368800"/>
                <a:gd name="connsiteY4" fmla="*/ 220133 h 541867"/>
                <a:gd name="connsiteX5" fmla="*/ 1456266 w 4368800"/>
                <a:gd name="connsiteY5" fmla="*/ 330200 h 541867"/>
                <a:gd name="connsiteX6" fmla="*/ 1727200 w 4368800"/>
                <a:gd name="connsiteY6" fmla="*/ 270933 h 541867"/>
                <a:gd name="connsiteX7" fmla="*/ 2048933 w 4368800"/>
                <a:gd name="connsiteY7" fmla="*/ 0 h 541867"/>
                <a:gd name="connsiteX8" fmla="*/ 2353733 w 4368800"/>
                <a:gd name="connsiteY8" fmla="*/ 304800 h 541867"/>
                <a:gd name="connsiteX9" fmla="*/ 2607733 w 4368800"/>
                <a:gd name="connsiteY9" fmla="*/ 186266 h 541867"/>
                <a:gd name="connsiteX10" fmla="*/ 2963334 w 4368800"/>
                <a:gd name="connsiteY10" fmla="*/ 152400 h 541867"/>
                <a:gd name="connsiteX11" fmla="*/ 3234266 w 4368800"/>
                <a:gd name="connsiteY11" fmla="*/ 220133 h 541867"/>
                <a:gd name="connsiteX12" fmla="*/ 3505200 w 4368800"/>
                <a:gd name="connsiteY12" fmla="*/ 16933 h 541867"/>
                <a:gd name="connsiteX13" fmla="*/ 3810000 w 4368800"/>
                <a:gd name="connsiteY13" fmla="*/ 152400 h 541867"/>
                <a:gd name="connsiteX14" fmla="*/ 4097866 w 4368800"/>
                <a:gd name="connsiteY14" fmla="*/ 59266 h 541867"/>
                <a:gd name="connsiteX15" fmla="*/ 4368800 w 4368800"/>
                <a:gd name="connsiteY15" fmla="*/ 135466 h 541867"/>
                <a:gd name="connsiteX0" fmla="*/ 0 w 4368800"/>
                <a:gd name="connsiteY0" fmla="*/ 575734 h 575734"/>
                <a:gd name="connsiteX1" fmla="*/ 270933 w 4368800"/>
                <a:gd name="connsiteY1" fmla="*/ 372533 h 575734"/>
                <a:gd name="connsiteX2" fmla="*/ 575733 w 4368800"/>
                <a:gd name="connsiteY2" fmla="*/ 465667 h 575734"/>
                <a:gd name="connsiteX3" fmla="*/ 880533 w 4368800"/>
                <a:gd name="connsiteY3" fmla="*/ 406400 h 575734"/>
                <a:gd name="connsiteX4" fmla="*/ 1134533 w 4368800"/>
                <a:gd name="connsiteY4" fmla="*/ 254000 h 575734"/>
                <a:gd name="connsiteX5" fmla="*/ 1456266 w 4368800"/>
                <a:gd name="connsiteY5" fmla="*/ 364067 h 575734"/>
                <a:gd name="connsiteX6" fmla="*/ 1727200 w 4368800"/>
                <a:gd name="connsiteY6" fmla="*/ 304800 h 575734"/>
                <a:gd name="connsiteX7" fmla="*/ 2048933 w 4368800"/>
                <a:gd name="connsiteY7" fmla="*/ 33867 h 575734"/>
                <a:gd name="connsiteX8" fmla="*/ 2353733 w 4368800"/>
                <a:gd name="connsiteY8" fmla="*/ 338667 h 575734"/>
                <a:gd name="connsiteX9" fmla="*/ 2607733 w 4368800"/>
                <a:gd name="connsiteY9" fmla="*/ 220133 h 575734"/>
                <a:gd name="connsiteX10" fmla="*/ 2963334 w 4368800"/>
                <a:gd name="connsiteY10" fmla="*/ 186267 h 575734"/>
                <a:gd name="connsiteX11" fmla="*/ 3234266 w 4368800"/>
                <a:gd name="connsiteY11" fmla="*/ 254000 h 575734"/>
                <a:gd name="connsiteX12" fmla="*/ 3505200 w 4368800"/>
                <a:gd name="connsiteY12" fmla="*/ 0 h 575734"/>
                <a:gd name="connsiteX13" fmla="*/ 3810000 w 4368800"/>
                <a:gd name="connsiteY13" fmla="*/ 186267 h 575734"/>
                <a:gd name="connsiteX14" fmla="*/ 4097866 w 4368800"/>
                <a:gd name="connsiteY14" fmla="*/ 93133 h 575734"/>
                <a:gd name="connsiteX15" fmla="*/ 4368800 w 4368800"/>
                <a:gd name="connsiteY15" fmla="*/ 169333 h 575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368800" h="575734">
                  <a:moveTo>
                    <a:pt x="0" y="575734"/>
                  </a:moveTo>
                  <a:lnTo>
                    <a:pt x="270933" y="372533"/>
                  </a:lnTo>
                  <a:lnTo>
                    <a:pt x="575733" y="465667"/>
                  </a:lnTo>
                  <a:lnTo>
                    <a:pt x="880533" y="406400"/>
                  </a:lnTo>
                  <a:lnTo>
                    <a:pt x="1134533" y="254000"/>
                  </a:lnTo>
                  <a:lnTo>
                    <a:pt x="1456266" y="364067"/>
                  </a:lnTo>
                  <a:lnTo>
                    <a:pt x="1727200" y="304800"/>
                  </a:lnTo>
                  <a:lnTo>
                    <a:pt x="2048933" y="33867"/>
                  </a:lnTo>
                  <a:lnTo>
                    <a:pt x="2353733" y="338667"/>
                  </a:lnTo>
                  <a:cubicBezTo>
                    <a:pt x="2438400" y="299156"/>
                    <a:pt x="2506133" y="245533"/>
                    <a:pt x="2607733" y="220133"/>
                  </a:cubicBezTo>
                  <a:cubicBezTo>
                    <a:pt x="2709333" y="194733"/>
                    <a:pt x="2844800" y="197556"/>
                    <a:pt x="2963334" y="186267"/>
                  </a:cubicBezTo>
                  <a:lnTo>
                    <a:pt x="3234266" y="254000"/>
                  </a:lnTo>
                  <a:lnTo>
                    <a:pt x="3505200" y="0"/>
                  </a:lnTo>
                  <a:lnTo>
                    <a:pt x="3810000" y="186267"/>
                  </a:lnTo>
                  <a:lnTo>
                    <a:pt x="4097866" y="93133"/>
                  </a:lnTo>
                  <a:lnTo>
                    <a:pt x="4368800" y="169333"/>
                  </a:lnTo>
                </a:path>
              </a:pathLst>
            </a:custGeom>
            <a:ln>
              <a:solidFill>
                <a:srgbClr val="92D050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cxnSp>
        <p:nvCxnSpPr>
          <p:cNvPr id="60" name="직선 연결선 59">
            <a:extLst>
              <a:ext uri="{FF2B5EF4-FFF2-40B4-BE49-F238E27FC236}">
                <a16:creationId xmlns:a16="http://schemas.microsoft.com/office/drawing/2014/main" id="{1234A855-73E9-4FF1-BC7D-6DFB4ABC7381}"/>
              </a:ext>
            </a:extLst>
          </p:cNvPr>
          <p:cNvCxnSpPr/>
          <p:nvPr/>
        </p:nvCxnSpPr>
        <p:spPr>
          <a:xfrm>
            <a:off x="5679180" y="2008565"/>
            <a:ext cx="504056" cy="0"/>
          </a:xfrm>
          <a:prstGeom prst="line">
            <a:avLst/>
          </a:prstGeom>
          <a:ln w="19050">
            <a:solidFill>
              <a:srgbClr val="FF66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8C6C1614-8940-4055-B65B-D2B6A25874F5}"/>
              </a:ext>
            </a:extLst>
          </p:cNvPr>
          <p:cNvSpPr/>
          <p:nvPr/>
        </p:nvSpPr>
        <p:spPr>
          <a:xfrm>
            <a:off x="6255244" y="1886337"/>
            <a:ext cx="1008112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실 사용량</a:t>
            </a:r>
          </a:p>
        </p:txBody>
      </p:sp>
      <p:cxnSp>
        <p:nvCxnSpPr>
          <p:cNvPr id="62" name="직선 연결선 61">
            <a:extLst>
              <a:ext uri="{FF2B5EF4-FFF2-40B4-BE49-F238E27FC236}">
                <a16:creationId xmlns:a16="http://schemas.microsoft.com/office/drawing/2014/main" id="{5BB85F6C-563A-4336-8745-5079DE55E49D}"/>
              </a:ext>
            </a:extLst>
          </p:cNvPr>
          <p:cNvCxnSpPr/>
          <p:nvPr/>
        </p:nvCxnSpPr>
        <p:spPr>
          <a:xfrm>
            <a:off x="6975324" y="2007996"/>
            <a:ext cx="504056" cy="0"/>
          </a:xfrm>
          <a:prstGeom prst="line">
            <a:avLst/>
          </a:prstGeom>
          <a:ln w="9525">
            <a:solidFill>
              <a:schemeClr val="accent3">
                <a:lumMod val="75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C54479CC-B926-4A0B-AF10-962AA314EC62}"/>
              </a:ext>
            </a:extLst>
          </p:cNvPr>
          <p:cNvSpPr/>
          <p:nvPr/>
        </p:nvSpPr>
        <p:spPr>
          <a:xfrm>
            <a:off x="7551388" y="1882424"/>
            <a:ext cx="917924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예측 사용량</a:t>
            </a:r>
          </a:p>
        </p:txBody>
      </p:sp>
      <p:sp>
        <p:nvSpPr>
          <p:cNvPr id="66" name="말풍선: 사각형 65">
            <a:extLst>
              <a:ext uri="{FF2B5EF4-FFF2-40B4-BE49-F238E27FC236}">
                <a16:creationId xmlns:a16="http://schemas.microsoft.com/office/drawing/2014/main" id="{30D06AA3-D2E8-4D55-B28F-BFFB9BBC1E4D}"/>
              </a:ext>
            </a:extLst>
          </p:cNvPr>
          <p:cNvSpPr/>
          <p:nvPr/>
        </p:nvSpPr>
        <p:spPr>
          <a:xfrm>
            <a:off x="2019706" y="2600027"/>
            <a:ext cx="615731" cy="360039"/>
          </a:xfrm>
          <a:prstGeom prst="wedgeRectCallout">
            <a:avLst>
              <a:gd name="adj1" fmla="val -30620"/>
              <a:gd name="adj2" fmla="val 109426"/>
            </a:avLst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tx1">
                    <a:lumMod val="65000"/>
                    <a:lumOff val="35000"/>
                  </a:schemeClr>
                </a:solidFill>
              </a:rPr>
              <a:t>오늘 사용량</a:t>
            </a:r>
            <a:r>
              <a:rPr lang="en-US" altLang="ko-KR" sz="6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03:15:00</a:t>
            </a:r>
          </a:p>
          <a:p>
            <a:pPr algn="ctr"/>
            <a:r>
              <a:rPr lang="en-US" altLang="ko-KR" sz="600" b="1" dirty="0">
                <a:solidFill>
                  <a:srgbClr val="FF0000"/>
                </a:solidFill>
              </a:rPr>
              <a:t>210 kWh</a:t>
            </a:r>
            <a:endParaRPr lang="ko-KR" altLang="en-US" sz="600" b="1" dirty="0">
              <a:solidFill>
                <a:srgbClr val="FF0000"/>
              </a:solidFill>
            </a:endParaRPr>
          </a:p>
        </p:txBody>
      </p:sp>
      <p:sp>
        <p:nvSpPr>
          <p:cNvPr id="206" name="타원형 설명선 205"/>
          <p:cNvSpPr/>
          <p:nvPr/>
        </p:nvSpPr>
        <p:spPr>
          <a:xfrm>
            <a:off x="46018" y="4762744"/>
            <a:ext cx="216000" cy="216000"/>
          </a:xfrm>
          <a:prstGeom prst="wedgeEllipseCallout">
            <a:avLst>
              <a:gd name="adj1" fmla="val 74230"/>
              <a:gd name="adj2" fmla="val 21822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/>
              <a:t>8</a:t>
            </a:r>
            <a:endParaRPr lang="ko-KR" altLang="en-US" sz="900" b="1" dirty="0"/>
          </a:p>
        </p:txBody>
      </p:sp>
      <p:sp>
        <p:nvSpPr>
          <p:cNvPr id="248" name="타원형 설명선 247"/>
          <p:cNvSpPr/>
          <p:nvPr/>
        </p:nvSpPr>
        <p:spPr>
          <a:xfrm>
            <a:off x="46018" y="2243614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7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EEE86E8E-C1DD-46E8-892A-6FBFF3DA8EB1}"/>
              </a:ext>
            </a:extLst>
          </p:cNvPr>
          <p:cNvSpPr/>
          <p:nvPr/>
        </p:nvSpPr>
        <p:spPr>
          <a:xfrm>
            <a:off x="7719699" y="1578492"/>
            <a:ext cx="473661" cy="289182"/>
          </a:xfrm>
          <a:prstGeom prst="rect">
            <a:avLst/>
          </a:prstGeom>
          <a:solidFill>
            <a:srgbClr val="0099FF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>
              <a:lnSpc>
                <a:spcPct val="150000"/>
              </a:lnSpc>
            </a:pPr>
            <a:r>
              <a:rPr lang="ko-KR" altLang="en-US" sz="105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조회</a:t>
            </a:r>
          </a:p>
        </p:txBody>
      </p:sp>
      <p:graphicFrame>
        <p:nvGraphicFramePr>
          <p:cNvPr id="69" name="표 68">
            <a:extLst>
              <a:ext uri="{FF2B5EF4-FFF2-40B4-BE49-F238E27FC236}">
                <a16:creationId xmlns:a16="http://schemas.microsoft.com/office/drawing/2014/main" id="{29C3A214-0DE0-4D8E-9E31-CE1CE33E172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37188442"/>
              </p:ext>
            </p:extLst>
          </p:nvPr>
        </p:nvGraphicFramePr>
        <p:xfrm>
          <a:off x="412132" y="5589064"/>
          <a:ext cx="3028700" cy="193099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60344">
                  <a:extLst>
                    <a:ext uri="{9D8B030D-6E8A-4147-A177-3AD203B41FA5}">
                      <a16:colId xmlns:a16="http://schemas.microsoft.com/office/drawing/2014/main" val="621667645"/>
                    </a:ext>
                  </a:extLst>
                </a:gridCol>
                <a:gridCol w="747271">
                  <a:extLst>
                    <a:ext uri="{9D8B030D-6E8A-4147-A177-3AD203B41FA5}">
                      <a16:colId xmlns:a16="http://schemas.microsoft.com/office/drawing/2014/main" val="8834736"/>
                    </a:ext>
                  </a:extLst>
                </a:gridCol>
                <a:gridCol w="260155">
                  <a:extLst>
                    <a:ext uri="{9D8B030D-6E8A-4147-A177-3AD203B41FA5}">
                      <a16:colId xmlns:a16="http://schemas.microsoft.com/office/drawing/2014/main" val="2248332737"/>
                    </a:ext>
                  </a:extLst>
                </a:gridCol>
                <a:gridCol w="260155">
                  <a:extLst>
                    <a:ext uri="{9D8B030D-6E8A-4147-A177-3AD203B41FA5}">
                      <a16:colId xmlns:a16="http://schemas.microsoft.com/office/drawing/2014/main" val="701571902"/>
                    </a:ext>
                  </a:extLst>
                </a:gridCol>
                <a:gridCol w="260155">
                  <a:extLst>
                    <a:ext uri="{9D8B030D-6E8A-4147-A177-3AD203B41FA5}">
                      <a16:colId xmlns:a16="http://schemas.microsoft.com/office/drawing/2014/main" val="899356341"/>
                    </a:ext>
                  </a:extLst>
                </a:gridCol>
                <a:gridCol w="260155">
                  <a:extLst>
                    <a:ext uri="{9D8B030D-6E8A-4147-A177-3AD203B41FA5}">
                      <a16:colId xmlns:a16="http://schemas.microsoft.com/office/drawing/2014/main" val="2787753370"/>
                    </a:ext>
                  </a:extLst>
                </a:gridCol>
                <a:gridCol w="260155">
                  <a:extLst>
                    <a:ext uri="{9D8B030D-6E8A-4147-A177-3AD203B41FA5}">
                      <a16:colId xmlns:a16="http://schemas.microsoft.com/office/drawing/2014/main" val="75509663"/>
                    </a:ext>
                  </a:extLst>
                </a:gridCol>
                <a:gridCol w="260155">
                  <a:extLst>
                    <a:ext uri="{9D8B030D-6E8A-4147-A177-3AD203B41FA5}">
                      <a16:colId xmlns:a16="http://schemas.microsoft.com/office/drawing/2014/main" val="2371680936"/>
                    </a:ext>
                  </a:extLst>
                </a:gridCol>
                <a:gridCol w="260155">
                  <a:extLst>
                    <a:ext uri="{9D8B030D-6E8A-4147-A177-3AD203B41FA5}">
                      <a16:colId xmlns:a16="http://schemas.microsoft.com/office/drawing/2014/main" val="1293287838"/>
                    </a:ext>
                  </a:extLst>
                </a:gridCol>
              </a:tblGrid>
              <a:tr h="144032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조회기간</a:t>
                      </a:r>
                      <a:endParaRPr lang="en-US" altLang="ko-KR" sz="7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bg1">
                            <a:lumMod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7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lang="ko-KR" altLang="en-US" sz="7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7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  <a:r>
                        <a:rPr lang="ko-KR" altLang="en-US" sz="7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7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7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7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7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7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7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7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7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7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7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75581190"/>
                  </a:ext>
                </a:extLst>
              </a:tr>
              <a:tr h="144032"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lang="ko-KR" altLang="en-US" sz="700" b="0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 간격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실제  데이터 개수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96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672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2880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5840</a:t>
                      </a:r>
                      <a:endParaRPr lang="ko-KR" altLang="en-US" sz="700" b="0" strike="no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29881618"/>
                  </a:ext>
                </a:extLst>
              </a:tr>
              <a:tr h="144032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하단 캡션 표시 개수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30(</a:t>
                      </a:r>
                      <a:r>
                        <a:rPr lang="ko-KR" altLang="en-US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60(</a:t>
                      </a:r>
                      <a:r>
                        <a:rPr lang="ko-KR" altLang="en-US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96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  <a:endParaRPr lang="ko-KR" altLang="en-US" sz="700" b="0" strike="no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2293162"/>
                  </a:ext>
                </a:extLst>
              </a:tr>
              <a:tr h="144032"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  <a:r>
                        <a:rPr lang="ko-KR" altLang="en-US" sz="700" b="0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 간격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실제  데이터 개수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48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336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1440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2920</a:t>
                      </a:r>
                      <a:endParaRPr lang="ko-KR" altLang="en-US" sz="700" b="0" strike="no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03323599"/>
                  </a:ext>
                </a:extLst>
              </a:tr>
              <a:tr h="144032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하단 캡션 표시 개수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60(</a:t>
                      </a:r>
                      <a:r>
                        <a:rPr lang="ko-KR" altLang="en-US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48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  <a:endParaRPr lang="ko-KR" altLang="en-US" sz="700" b="0" strike="no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75022207"/>
                  </a:ext>
                </a:extLst>
              </a:tr>
              <a:tr h="144032"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700" b="0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 간격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실제  데이터 개수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24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168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720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1460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82961310"/>
                  </a:ext>
                </a:extLst>
              </a:tr>
              <a:tr h="144032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하단 캡션 표시 개수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24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3524359"/>
                  </a:ext>
                </a:extLst>
              </a:tr>
              <a:tr h="144032"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700" b="0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 간격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실제  데이터 개수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365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10281172"/>
                  </a:ext>
                </a:extLst>
              </a:tr>
              <a:tr h="144032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하단 캡션 표시 개수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75500751"/>
                  </a:ext>
                </a:extLst>
              </a:tr>
              <a:tr h="144032"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700" b="0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월 간격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실제  데이터 개수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24993451"/>
                  </a:ext>
                </a:extLst>
              </a:tr>
              <a:tr h="144032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하단 캡션 표시 개수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10841290"/>
                  </a:ext>
                </a:extLst>
              </a:tr>
            </a:tbl>
          </a:graphicData>
        </a:graphic>
      </p:graphicFrame>
      <p:sp>
        <p:nvSpPr>
          <p:cNvPr id="70" name="타원형 설명선 225">
            <a:extLst>
              <a:ext uri="{FF2B5EF4-FFF2-40B4-BE49-F238E27FC236}">
                <a16:creationId xmlns:a16="http://schemas.microsoft.com/office/drawing/2014/main" id="{A6150CA4-E2BC-4441-8A23-4148832F9C09}"/>
              </a:ext>
            </a:extLst>
          </p:cNvPr>
          <p:cNvSpPr/>
          <p:nvPr/>
        </p:nvSpPr>
        <p:spPr>
          <a:xfrm>
            <a:off x="304132" y="5445228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표</a:t>
            </a:r>
            <a:r>
              <a:rPr lang="en-US" altLang="ko-KR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7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75" name="그룹 74">
            <a:extLst>
              <a:ext uri="{FF2B5EF4-FFF2-40B4-BE49-F238E27FC236}">
                <a16:creationId xmlns:a16="http://schemas.microsoft.com/office/drawing/2014/main" id="{912459AA-AE8B-4FEC-AEF3-B04542519A20}"/>
              </a:ext>
            </a:extLst>
          </p:cNvPr>
          <p:cNvGrpSpPr/>
          <p:nvPr/>
        </p:nvGrpSpPr>
        <p:grpSpPr>
          <a:xfrm>
            <a:off x="210356" y="1203435"/>
            <a:ext cx="8024876" cy="260092"/>
            <a:chOff x="184526" y="1505937"/>
            <a:chExt cx="8024876" cy="260092"/>
          </a:xfrm>
        </p:grpSpPr>
        <p:sp>
          <p:nvSpPr>
            <p:cNvPr id="76" name="직사각형 75">
              <a:extLst>
                <a:ext uri="{FF2B5EF4-FFF2-40B4-BE49-F238E27FC236}">
                  <a16:creationId xmlns:a16="http://schemas.microsoft.com/office/drawing/2014/main" id="{B6659FA9-8EC9-41F1-A752-E369F68109F4}"/>
                </a:ext>
              </a:extLst>
            </p:cNvPr>
            <p:cNvSpPr/>
            <p:nvPr/>
          </p:nvSpPr>
          <p:spPr>
            <a:xfrm>
              <a:off x="5810955" y="1550585"/>
              <a:ext cx="1820532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수익 현황</a:t>
              </a:r>
            </a:p>
          </p:txBody>
        </p:sp>
        <p:sp>
          <p:nvSpPr>
            <p:cNvPr id="77" name="직사각형 76">
              <a:extLst>
                <a:ext uri="{FF2B5EF4-FFF2-40B4-BE49-F238E27FC236}">
                  <a16:creationId xmlns:a16="http://schemas.microsoft.com/office/drawing/2014/main" id="{9A47B65A-970F-42C9-B519-D2A1B28EF3C6}"/>
                </a:ext>
              </a:extLst>
            </p:cNvPr>
            <p:cNvSpPr/>
            <p:nvPr/>
          </p:nvSpPr>
          <p:spPr>
            <a:xfrm>
              <a:off x="184526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에너지 모니터링</a:t>
              </a:r>
            </a:p>
          </p:txBody>
        </p:sp>
        <p:sp>
          <p:nvSpPr>
            <p:cNvPr id="80" name="직사각형 79">
              <a:extLst>
                <a:ext uri="{FF2B5EF4-FFF2-40B4-BE49-F238E27FC236}">
                  <a16:creationId xmlns:a16="http://schemas.microsoft.com/office/drawing/2014/main" id="{E0E8B04F-03D8-4E86-990D-6EBDC7CB9E42}"/>
                </a:ext>
              </a:extLst>
            </p:cNvPr>
            <p:cNvSpPr/>
            <p:nvPr/>
          </p:nvSpPr>
          <p:spPr>
            <a:xfrm>
              <a:off x="2191085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장치 모니터링</a:t>
              </a:r>
            </a:p>
          </p:txBody>
        </p:sp>
        <p:sp>
          <p:nvSpPr>
            <p:cNvPr id="81" name="직사각형 80">
              <a:extLst>
                <a:ext uri="{FF2B5EF4-FFF2-40B4-BE49-F238E27FC236}">
                  <a16:creationId xmlns:a16="http://schemas.microsoft.com/office/drawing/2014/main" id="{F90C3FDC-419C-4E8E-8ADC-C2E5717AB828}"/>
                </a:ext>
              </a:extLst>
            </p:cNvPr>
            <p:cNvSpPr/>
            <p:nvPr/>
          </p:nvSpPr>
          <p:spPr>
            <a:xfrm>
              <a:off x="4197644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상황</a:t>
              </a:r>
              <a:r>
                <a:rPr lang="en-US" altLang="ko-KR" sz="700" dirty="0"/>
                <a:t> </a:t>
              </a:r>
              <a:r>
                <a:rPr lang="ko-KR" altLang="en-US" sz="700" dirty="0"/>
                <a:t>관제</a:t>
              </a:r>
            </a:p>
          </p:txBody>
        </p:sp>
        <p:sp>
          <p:nvSpPr>
            <p:cNvPr id="82" name="직사각형 81">
              <a:extLst>
                <a:ext uri="{FF2B5EF4-FFF2-40B4-BE49-F238E27FC236}">
                  <a16:creationId xmlns:a16="http://schemas.microsoft.com/office/drawing/2014/main" id="{31A83F80-D727-4FA4-96B7-219905165F76}"/>
                </a:ext>
              </a:extLst>
            </p:cNvPr>
            <p:cNvSpPr/>
            <p:nvPr/>
          </p:nvSpPr>
          <p:spPr>
            <a:xfrm>
              <a:off x="6204202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요금</a:t>
              </a:r>
              <a:r>
                <a:rPr lang="en-US" altLang="ko-KR" sz="700" dirty="0"/>
                <a:t>/</a:t>
              </a:r>
              <a:r>
                <a:rPr lang="ko-KR" altLang="en-US" sz="700" dirty="0"/>
                <a:t>수익</a:t>
              </a:r>
            </a:p>
          </p:txBody>
        </p:sp>
      </p:grpSp>
      <p:sp>
        <p:nvSpPr>
          <p:cNvPr id="83" name="타원형 설명선 246">
            <a:extLst>
              <a:ext uri="{FF2B5EF4-FFF2-40B4-BE49-F238E27FC236}">
                <a16:creationId xmlns:a16="http://schemas.microsoft.com/office/drawing/2014/main" id="{F89A90AF-027F-42C4-A610-62FA75D40F12}"/>
              </a:ext>
            </a:extLst>
          </p:cNvPr>
          <p:cNvSpPr/>
          <p:nvPr/>
        </p:nvSpPr>
        <p:spPr>
          <a:xfrm>
            <a:off x="6901878" y="4474712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9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3" name="타원형 설명선 205">
            <a:extLst>
              <a:ext uri="{FF2B5EF4-FFF2-40B4-BE49-F238E27FC236}">
                <a16:creationId xmlns:a16="http://schemas.microsoft.com/office/drawing/2014/main" id="{405C694A-CA60-4698-A5DA-BD0C0B872825}"/>
              </a:ext>
            </a:extLst>
          </p:cNvPr>
          <p:cNvSpPr/>
          <p:nvPr/>
        </p:nvSpPr>
        <p:spPr>
          <a:xfrm>
            <a:off x="88132" y="4546720"/>
            <a:ext cx="216000" cy="216000"/>
          </a:xfrm>
          <a:prstGeom prst="wedgeEllipseCallout">
            <a:avLst>
              <a:gd name="adj1" fmla="val 74230"/>
              <a:gd name="adj2" fmla="val 21822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/>
              <a:t>10</a:t>
            </a:r>
            <a:endParaRPr lang="ko-KR" altLang="en-US" sz="900" b="1" dirty="0"/>
          </a:p>
        </p:txBody>
      </p:sp>
      <p:sp>
        <p:nvSpPr>
          <p:cNvPr id="68" name="타원형 설명선 205">
            <a:extLst>
              <a:ext uri="{FF2B5EF4-FFF2-40B4-BE49-F238E27FC236}">
                <a16:creationId xmlns:a16="http://schemas.microsoft.com/office/drawing/2014/main" id="{3BE64E2E-16C5-4EA9-8902-0C1C66E53ADE}"/>
              </a:ext>
            </a:extLst>
          </p:cNvPr>
          <p:cNvSpPr/>
          <p:nvPr/>
        </p:nvSpPr>
        <p:spPr>
          <a:xfrm>
            <a:off x="992560" y="4549719"/>
            <a:ext cx="216000" cy="216000"/>
          </a:xfrm>
          <a:prstGeom prst="wedgeEllipseCallout">
            <a:avLst>
              <a:gd name="adj1" fmla="val 74230"/>
              <a:gd name="adj2" fmla="val 21822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/>
              <a:t>11</a:t>
            </a:r>
            <a:endParaRPr lang="ko-KR" altLang="en-US" sz="900" b="1" dirty="0"/>
          </a:p>
        </p:txBody>
      </p:sp>
      <p:grpSp>
        <p:nvGrpSpPr>
          <p:cNvPr id="84" name="그룹 83">
            <a:extLst>
              <a:ext uri="{FF2B5EF4-FFF2-40B4-BE49-F238E27FC236}">
                <a16:creationId xmlns:a16="http://schemas.microsoft.com/office/drawing/2014/main" id="{E1B0CC61-BAC3-457A-A7AD-7BA60C63A8F9}"/>
              </a:ext>
            </a:extLst>
          </p:cNvPr>
          <p:cNvGrpSpPr/>
          <p:nvPr/>
        </p:nvGrpSpPr>
        <p:grpSpPr>
          <a:xfrm>
            <a:off x="317412" y="4642483"/>
            <a:ext cx="862386" cy="211955"/>
            <a:chOff x="4861742" y="3907374"/>
            <a:chExt cx="862386" cy="211955"/>
          </a:xfrm>
        </p:grpSpPr>
        <p:pic>
          <p:nvPicPr>
            <p:cNvPr id="85" name="Picture 6" descr="ìì ë¤ì´ë¡ëì ëí ì´ë¯¸ì§ ê²ìê²°ê³¼">
              <a:extLst>
                <a:ext uri="{FF2B5EF4-FFF2-40B4-BE49-F238E27FC236}">
                  <a16:creationId xmlns:a16="http://schemas.microsoft.com/office/drawing/2014/main" id="{76D9D225-6D8F-454E-B806-8C2189E9FF6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861742" y="3907374"/>
              <a:ext cx="211955" cy="21195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EDF08557-446F-4D72-AB36-4D899F2D056B}"/>
                </a:ext>
              </a:extLst>
            </p:cNvPr>
            <p:cNvSpPr txBox="1"/>
            <p:nvPr/>
          </p:nvSpPr>
          <p:spPr>
            <a:xfrm>
              <a:off x="4949189" y="3921018"/>
              <a:ext cx="7749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600" b="1" dirty="0">
                  <a:solidFill>
                    <a:schemeClr val="bg1"/>
                  </a:solidFill>
                </a:rPr>
                <a:t>데이터 저장하기</a:t>
              </a:r>
            </a:p>
          </p:txBody>
        </p:sp>
      </p:grpSp>
      <p:graphicFrame>
        <p:nvGraphicFramePr>
          <p:cNvPr id="87" name="표 86">
            <a:extLst>
              <a:ext uri="{FF2B5EF4-FFF2-40B4-BE49-F238E27FC236}">
                <a16:creationId xmlns:a16="http://schemas.microsoft.com/office/drawing/2014/main" id="{D36C2EFA-1207-4D58-BF70-8E17435C30E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60321938"/>
              </p:ext>
            </p:extLst>
          </p:nvPr>
        </p:nvGraphicFramePr>
        <p:xfrm>
          <a:off x="304132" y="4906760"/>
          <a:ext cx="7886969" cy="5342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8326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414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84148">
                  <a:extLst>
                    <a:ext uri="{9D8B030D-6E8A-4147-A177-3AD203B41FA5}">
                      <a16:colId xmlns:a16="http://schemas.microsoft.com/office/drawing/2014/main" val="91379356"/>
                    </a:ext>
                  </a:extLst>
                </a:gridCol>
                <a:gridCol w="28414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84148">
                  <a:extLst>
                    <a:ext uri="{9D8B030D-6E8A-4147-A177-3AD203B41FA5}">
                      <a16:colId xmlns:a16="http://schemas.microsoft.com/office/drawing/2014/main" val="3679891012"/>
                    </a:ext>
                  </a:extLst>
                </a:gridCol>
                <a:gridCol w="28414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84148">
                  <a:extLst>
                    <a:ext uri="{9D8B030D-6E8A-4147-A177-3AD203B41FA5}">
                      <a16:colId xmlns:a16="http://schemas.microsoft.com/office/drawing/2014/main" val="2229935987"/>
                    </a:ext>
                  </a:extLst>
                </a:gridCol>
                <a:gridCol w="28414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84148">
                  <a:extLst>
                    <a:ext uri="{9D8B030D-6E8A-4147-A177-3AD203B41FA5}">
                      <a16:colId xmlns:a16="http://schemas.microsoft.com/office/drawing/2014/main" val="4026812072"/>
                    </a:ext>
                  </a:extLst>
                </a:gridCol>
                <a:gridCol w="28414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84148">
                  <a:extLst>
                    <a:ext uri="{9D8B030D-6E8A-4147-A177-3AD203B41FA5}">
                      <a16:colId xmlns:a16="http://schemas.microsoft.com/office/drawing/2014/main" val="1122824508"/>
                    </a:ext>
                  </a:extLst>
                </a:gridCol>
                <a:gridCol w="28414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284148">
                  <a:extLst>
                    <a:ext uri="{9D8B030D-6E8A-4147-A177-3AD203B41FA5}">
                      <a16:colId xmlns:a16="http://schemas.microsoft.com/office/drawing/2014/main" val="1502902784"/>
                    </a:ext>
                  </a:extLst>
                </a:gridCol>
                <a:gridCol w="284148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84148">
                  <a:extLst>
                    <a:ext uri="{9D8B030D-6E8A-4147-A177-3AD203B41FA5}">
                      <a16:colId xmlns:a16="http://schemas.microsoft.com/office/drawing/2014/main" val="354728812"/>
                    </a:ext>
                  </a:extLst>
                </a:gridCol>
                <a:gridCol w="284148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284148">
                  <a:extLst>
                    <a:ext uri="{9D8B030D-6E8A-4147-A177-3AD203B41FA5}">
                      <a16:colId xmlns:a16="http://schemas.microsoft.com/office/drawing/2014/main" val="914552893"/>
                    </a:ext>
                  </a:extLst>
                </a:gridCol>
                <a:gridCol w="284148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284148">
                  <a:extLst>
                    <a:ext uri="{9D8B030D-6E8A-4147-A177-3AD203B41FA5}">
                      <a16:colId xmlns:a16="http://schemas.microsoft.com/office/drawing/2014/main" val="2643701830"/>
                    </a:ext>
                  </a:extLst>
                </a:gridCol>
                <a:gridCol w="284148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284148">
                  <a:extLst>
                    <a:ext uri="{9D8B030D-6E8A-4147-A177-3AD203B41FA5}">
                      <a16:colId xmlns:a16="http://schemas.microsoft.com/office/drawing/2014/main" val="4156003338"/>
                    </a:ext>
                  </a:extLst>
                </a:gridCol>
                <a:gridCol w="284148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284148">
                  <a:extLst>
                    <a:ext uri="{9D8B030D-6E8A-4147-A177-3AD203B41FA5}">
                      <a16:colId xmlns:a16="http://schemas.microsoft.com/office/drawing/2014/main" val="186923855"/>
                    </a:ext>
                  </a:extLst>
                </a:gridCol>
                <a:gridCol w="284148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284148">
                  <a:extLst>
                    <a:ext uri="{9D8B030D-6E8A-4147-A177-3AD203B41FA5}">
                      <a16:colId xmlns:a16="http://schemas.microsoft.com/office/drawing/2014/main" val="328632746"/>
                    </a:ext>
                  </a:extLst>
                </a:gridCol>
                <a:gridCol w="284148">
                  <a:extLst>
                    <a:ext uri="{9D8B030D-6E8A-4147-A177-3AD203B41FA5}">
                      <a16:colId xmlns:a16="http://schemas.microsoft.com/office/drawing/2014/main" val="1527833119"/>
                    </a:ext>
                  </a:extLst>
                </a:gridCol>
              </a:tblGrid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YYYY-MM</a:t>
                      </a:r>
                      <a:endParaRPr lang="en-US" altLang="ko-KR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01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02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03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04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05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06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07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08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09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11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12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13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14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15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16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17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18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19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21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22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23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24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합계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82612050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rgbClr val="FF6600"/>
                          </a:solidFill>
                          <a:latin typeface="+mn-lt"/>
                          <a:ea typeface="+mn-ea"/>
                          <a:cs typeface="+mn-cs"/>
                        </a:rPr>
                        <a:t>실 사용량</a:t>
                      </a:r>
                      <a:endParaRPr lang="en-US" altLang="ko-KR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+mn-lt"/>
                          <a:ea typeface="+mn-ea"/>
                          <a:cs typeface="+mn-cs"/>
                        </a:rPr>
                        <a:t>400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+mn-lt"/>
                          <a:ea typeface="+mn-ea"/>
                          <a:cs typeface="+mn-cs"/>
                        </a:rPr>
                        <a:t>500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+mn-lt"/>
                          <a:ea typeface="+mn-ea"/>
                          <a:cs typeface="+mn-cs"/>
                        </a:rPr>
                        <a:t>550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+mn-lt"/>
                          <a:ea typeface="+mn-ea"/>
                          <a:cs typeface="+mn-cs"/>
                        </a:rPr>
                        <a:t>540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+mn-lt"/>
                          <a:ea typeface="+mn-ea"/>
                          <a:cs typeface="+mn-cs"/>
                        </a:rPr>
                        <a:t>550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+mn-lt"/>
                          <a:ea typeface="+mn-ea"/>
                          <a:cs typeface="+mn-cs"/>
                        </a:rPr>
                        <a:t>520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+mn-lt"/>
                          <a:ea typeface="+mn-ea"/>
                          <a:cs typeface="+mn-cs"/>
                        </a:rPr>
                        <a:t>530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+mn-lt"/>
                          <a:ea typeface="+mn-ea"/>
                          <a:cs typeface="+mn-cs"/>
                        </a:rPr>
                        <a:t>750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+mn-lt"/>
                          <a:ea typeface="+mn-ea"/>
                          <a:cs typeface="+mn-cs"/>
                        </a:rPr>
                        <a:t>800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rgbClr val="92D050"/>
                          </a:solidFill>
                          <a:latin typeface="+mn-lt"/>
                          <a:ea typeface="+mn-ea"/>
                          <a:cs typeface="+mn-cs"/>
                        </a:rPr>
                        <a:t>예측 사용량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92D050"/>
                          </a:solidFill>
                          <a:latin typeface="+mn-lt"/>
                          <a:ea typeface="+mn-ea"/>
                          <a:cs typeface="+mn-cs"/>
                        </a:rPr>
                        <a:t>200</a:t>
                      </a:r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92D050"/>
                          </a:solidFill>
                          <a:latin typeface="+mn-lt"/>
                          <a:ea typeface="+mn-ea"/>
                          <a:cs typeface="+mn-cs"/>
                        </a:rPr>
                        <a:t>400</a:t>
                      </a:r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92D050"/>
                          </a:solidFill>
                          <a:latin typeface="+mn-lt"/>
                          <a:ea typeface="+mn-ea"/>
                          <a:cs typeface="+mn-cs"/>
                        </a:rPr>
                        <a:t>300</a:t>
                      </a:r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92D050"/>
                          </a:solidFill>
                          <a:latin typeface="+mn-lt"/>
                          <a:ea typeface="+mn-ea"/>
                          <a:cs typeface="+mn-cs"/>
                        </a:rPr>
                        <a:t>650</a:t>
                      </a:r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92D050"/>
                          </a:solidFill>
                          <a:latin typeface="+mn-lt"/>
                          <a:ea typeface="+mn-ea"/>
                          <a:cs typeface="+mn-cs"/>
                        </a:rPr>
                        <a:t>480</a:t>
                      </a:r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92D050"/>
                          </a:solidFill>
                          <a:latin typeface="+mn-lt"/>
                          <a:ea typeface="+mn-ea"/>
                          <a:cs typeface="+mn-cs"/>
                        </a:rPr>
                        <a:t>1000</a:t>
                      </a:r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92D050"/>
                          </a:solidFill>
                          <a:latin typeface="+mn-lt"/>
                          <a:ea typeface="+mn-ea"/>
                          <a:cs typeface="+mn-cs"/>
                        </a:rPr>
                        <a:t>500</a:t>
                      </a:r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92D050"/>
                          </a:solidFill>
                          <a:latin typeface="+mn-lt"/>
                          <a:ea typeface="+mn-ea"/>
                          <a:cs typeface="+mn-cs"/>
                        </a:rPr>
                        <a:t>700</a:t>
                      </a:r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92D050"/>
                          </a:solidFill>
                          <a:latin typeface="+mn-lt"/>
                          <a:ea typeface="+mn-ea"/>
                          <a:cs typeface="+mn-cs"/>
                        </a:rPr>
                        <a:t>620</a:t>
                      </a:r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92D050"/>
                          </a:solidFill>
                          <a:latin typeface="+mn-lt"/>
                          <a:ea typeface="+mn-ea"/>
                          <a:cs typeface="+mn-cs"/>
                        </a:rPr>
                        <a:t>1000</a:t>
                      </a:r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92D050"/>
                          </a:solidFill>
                          <a:latin typeface="+mn-lt"/>
                          <a:ea typeface="+mn-ea"/>
                          <a:cs typeface="+mn-cs"/>
                        </a:rPr>
                        <a:t>800</a:t>
                      </a:r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92D050"/>
                          </a:solidFill>
                          <a:latin typeface="+mn-lt"/>
                          <a:ea typeface="+mn-ea"/>
                          <a:cs typeface="+mn-cs"/>
                        </a:rPr>
                        <a:t>700</a:t>
                      </a:r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92D050"/>
                          </a:solidFill>
                          <a:latin typeface="+mn-lt"/>
                          <a:ea typeface="+mn-ea"/>
                          <a:cs typeface="+mn-cs"/>
                        </a:rPr>
                        <a:t>700</a:t>
                      </a:r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92D050"/>
                          </a:solidFill>
                          <a:latin typeface="+mn-lt"/>
                          <a:ea typeface="+mn-ea"/>
                          <a:cs typeface="+mn-cs"/>
                        </a:rPr>
                        <a:t>1050</a:t>
                      </a:r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92D050"/>
                          </a:solidFill>
                          <a:latin typeface="+mn-lt"/>
                          <a:ea typeface="+mn-ea"/>
                          <a:cs typeface="+mn-cs"/>
                        </a:rPr>
                        <a:t>650</a:t>
                      </a:r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92D050"/>
                          </a:solidFill>
                          <a:latin typeface="+mn-lt"/>
                          <a:ea typeface="+mn-ea"/>
                          <a:cs typeface="+mn-cs"/>
                        </a:rPr>
                        <a:t>600</a:t>
                      </a:r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92D050"/>
                          </a:solidFill>
                          <a:latin typeface="+mn-lt"/>
                          <a:ea typeface="+mn-ea"/>
                          <a:cs typeface="+mn-cs"/>
                        </a:rPr>
                        <a:t>500</a:t>
                      </a:r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92D050"/>
                          </a:solidFill>
                          <a:latin typeface="+mn-lt"/>
                          <a:ea typeface="+mn-ea"/>
                          <a:cs typeface="+mn-cs"/>
                        </a:rPr>
                        <a:t>1000</a:t>
                      </a:r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92D050"/>
                          </a:solidFill>
                          <a:latin typeface="+mn-lt"/>
                          <a:ea typeface="+mn-ea"/>
                          <a:cs typeface="+mn-cs"/>
                        </a:rPr>
                        <a:t>550</a:t>
                      </a:r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92D050"/>
                          </a:solidFill>
                          <a:latin typeface="+mn-lt"/>
                          <a:ea typeface="+mn-ea"/>
                          <a:cs typeface="+mn-cs"/>
                        </a:rPr>
                        <a:t>480</a:t>
                      </a:r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92D050"/>
                          </a:solidFill>
                          <a:latin typeface="+mn-lt"/>
                          <a:ea typeface="+mn-ea"/>
                          <a:cs typeface="+mn-cs"/>
                        </a:rPr>
                        <a:t>600</a:t>
                      </a:r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92D050"/>
                          </a:solidFill>
                          <a:latin typeface="+mn-lt"/>
                          <a:ea typeface="+mn-ea"/>
                          <a:cs typeface="+mn-cs"/>
                        </a:rPr>
                        <a:t>350</a:t>
                      </a:r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92D050"/>
                          </a:solidFill>
                          <a:latin typeface="+mn-lt"/>
                          <a:ea typeface="+mn-ea"/>
                          <a:cs typeface="+mn-cs"/>
                        </a:rPr>
                        <a:t>480</a:t>
                      </a:r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92D050"/>
                          </a:solidFill>
                          <a:latin typeface="+mn-lt"/>
                          <a:ea typeface="+mn-ea"/>
                          <a:cs typeface="+mn-cs"/>
                        </a:rPr>
                        <a:t>10</a:t>
                      </a:r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pSp>
        <p:nvGrpSpPr>
          <p:cNvPr id="88" name="그룹 87">
            <a:extLst>
              <a:ext uri="{FF2B5EF4-FFF2-40B4-BE49-F238E27FC236}">
                <a16:creationId xmlns:a16="http://schemas.microsoft.com/office/drawing/2014/main" id="{93BAFA6A-9AD3-498D-AC53-583EE9B33832}"/>
              </a:ext>
            </a:extLst>
          </p:cNvPr>
          <p:cNvGrpSpPr/>
          <p:nvPr/>
        </p:nvGrpSpPr>
        <p:grpSpPr>
          <a:xfrm>
            <a:off x="1141334" y="4618728"/>
            <a:ext cx="859338" cy="222065"/>
            <a:chOff x="1309112" y="5497546"/>
            <a:chExt cx="859338" cy="222065"/>
          </a:xfrm>
        </p:grpSpPr>
        <p:sp>
          <p:nvSpPr>
            <p:cNvPr id="89" name="TextBox 88">
              <a:extLst>
                <a:ext uri="{FF2B5EF4-FFF2-40B4-BE49-F238E27FC236}">
                  <a16:creationId xmlns:a16="http://schemas.microsoft.com/office/drawing/2014/main" id="{7E6D0E9C-857E-4097-8396-C9901F3A6775}"/>
                </a:ext>
              </a:extLst>
            </p:cNvPr>
            <p:cNvSpPr txBox="1"/>
            <p:nvPr/>
          </p:nvSpPr>
          <p:spPr>
            <a:xfrm>
              <a:off x="1393511" y="5534945"/>
              <a:ext cx="7749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600" b="1" dirty="0">
                  <a:solidFill>
                    <a:schemeClr val="bg1"/>
                  </a:solidFill>
                </a:rPr>
                <a:t>그래프 변경하기</a:t>
              </a:r>
            </a:p>
          </p:txBody>
        </p:sp>
        <p:pic>
          <p:nvPicPr>
            <p:cNvPr id="90" name="Picture 2" descr="ê·¸ëíì ëí ì´ë¯¸ì§ ê²ìê²°ê³¼">
              <a:extLst>
                <a:ext uri="{FF2B5EF4-FFF2-40B4-BE49-F238E27FC236}">
                  <a16:creationId xmlns:a16="http://schemas.microsoft.com/office/drawing/2014/main" id="{D948D2D3-DF6F-4D37-9901-83A71E7439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309112" y="5497546"/>
              <a:ext cx="214956" cy="214956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91" name="TextBox 90">
            <a:extLst>
              <a:ext uri="{FF2B5EF4-FFF2-40B4-BE49-F238E27FC236}">
                <a16:creationId xmlns:a16="http://schemas.microsoft.com/office/drawing/2014/main" id="{2A3D9C6D-050A-4331-BF82-00279B06C2EA}"/>
              </a:ext>
            </a:extLst>
          </p:cNvPr>
          <p:cNvSpPr txBox="1"/>
          <p:nvPr/>
        </p:nvSpPr>
        <p:spPr>
          <a:xfrm>
            <a:off x="7205161" y="4638994"/>
            <a:ext cx="972108" cy="215444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square" rtlCol="0" anchor="ctr">
            <a:spAutoFit/>
          </a:bodyPr>
          <a:lstStyle/>
          <a:p>
            <a:pPr algn="ctr"/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표 접기</a:t>
            </a:r>
          </a:p>
        </p:txBody>
      </p:sp>
      <p:sp>
        <p:nvSpPr>
          <p:cNvPr id="71" name="말풍선: 모서리가 둥근 사각형 70">
            <a:extLst>
              <a:ext uri="{FF2B5EF4-FFF2-40B4-BE49-F238E27FC236}">
                <a16:creationId xmlns:a16="http://schemas.microsoft.com/office/drawing/2014/main" id="{CB3CF49C-C8DA-4BA0-A053-4E34F31BE0B1}"/>
              </a:ext>
            </a:extLst>
          </p:cNvPr>
          <p:cNvSpPr/>
          <p:nvPr/>
        </p:nvSpPr>
        <p:spPr>
          <a:xfrm>
            <a:off x="7598762" y="5839468"/>
            <a:ext cx="2110321" cy="640586"/>
          </a:xfrm>
          <a:prstGeom prst="wedgeRoundRectCallout">
            <a:avLst>
              <a:gd name="adj1" fmla="val -34400"/>
              <a:gd name="adj2" fmla="val -82685"/>
              <a:gd name="adj3" fmla="val 16667"/>
            </a:avLst>
          </a:prstGeom>
          <a:ln>
            <a:solidFill>
              <a:srgbClr val="FF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X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축 최대 라인 수는 </a:t>
            </a: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96 (24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시간을 </a:t>
            </a: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15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분 단위로 표시</a:t>
            </a: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, 24x4)</a:t>
            </a:r>
          </a:p>
          <a:p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따라서</a:t>
            </a: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, 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표는 폰트가 표 간격에 맞춰 자동으로 줄어들도록 구성해야 함</a:t>
            </a: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.</a:t>
            </a:r>
            <a:endParaRPr lang="ko-KR" altLang="en-US" sz="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92" name="표 91">
            <a:extLst>
              <a:ext uri="{FF2B5EF4-FFF2-40B4-BE49-F238E27FC236}">
                <a16:creationId xmlns:a16="http://schemas.microsoft.com/office/drawing/2014/main" id="{4CF083E7-EF36-49EE-9123-66B565DA67F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22330590"/>
              </p:ext>
            </p:extLst>
          </p:nvPr>
        </p:nvGraphicFramePr>
        <p:xfrm>
          <a:off x="4080210" y="5675652"/>
          <a:ext cx="3342026" cy="106851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83830">
                  <a:extLst>
                    <a:ext uri="{9D8B030D-6E8A-4147-A177-3AD203B41FA5}">
                      <a16:colId xmlns:a16="http://schemas.microsoft.com/office/drawing/2014/main" val="621667645"/>
                    </a:ext>
                  </a:extLst>
                </a:gridCol>
                <a:gridCol w="394028">
                  <a:extLst>
                    <a:ext uri="{9D8B030D-6E8A-4147-A177-3AD203B41FA5}">
                      <a16:colId xmlns:a16="http://schemas.microsoft.com/office/drawing/2014/main" val="2248332737"/>
                    </a:ext>
                  </a:extLst>
                </a:gridCol>
                <a:gridCol w="394028">
                  <a:extLst>
                    <a:ext uri="{9D8B030D-6E8A-4147-A177-3AD203B41FA5}">
                      <a16:colId xmlns:a16="http://schemas.microsoft.com/office/drawing/2014/main" val="2333210567"/>
                    </a:ext>
                  </a:extLst>
                </a:gridCol>
                <a:gridCol w="394028">
                  <a:extLst>
                    <a:ext uri="{9D8B030D-6E8A-4147-A177-3AD203B41FA5}">
                      <a16:colId xmlns:a16="http://schemas.microsoft.com/office/drawing/2014/main" val="899356341"/>
                    </a:ext>
                  </a:extLst>
                </a:gridCol>
                <a:gridCol w="394028">
                  <a:extLst>
                    <a:ext uri="{9D8B030D-6E8A-4147-A177-3AD203B41FA5}">
                      <a16:colId xmlns:a16="http://schemas.microsoft.com/office/drawing/2014/main" val="2787753370"/>
                    </a:ext>
                  </a:extLst>
                </a:gridCol>
                <a:gridCol w="394028">
                  <a:extLst>
                    <a:ext uri="{9D8B030D-6E8A-4147-A177-3AD203B41FA5}">
                      <a16:colId xmlns:a16="http://schemas.microsoft.com/office/drawing/2014/main" val="75509663"/>
                    </a:ext>
                  </a:extLst>
                </a:gridCol>
                <a:gridCol w="394028">
                  <a:extLst>
                    <a:ext uri="{9D8B030D-6E8A-4147-A177-3AD203B41FA5}">
                      <a16:colId xmlns:a16="http://schemas.microsoft.com/office/drawing/2014/main" val="2371680936"/>
                    </a:ext>
                  </a:extLst>
                </a:gridCol>
                <a:gridCol w="394028">
                  <a:extLst>
                    <a:ext uri="{9D8B030D-6E8A-4147-A177-3AD203B41FA5}">
                      <a16:colId xmlns:a16="http://schemas.microsoft.com/office/drawing/2014/main" val="1293287838"/>
                    </a:ext>
                  </a:extLst>
                </a:gridCol>
              </a:tblGrid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조회기간</a:t>
                      </a:r>
                      <a:endParaRPr lang="en-US" altLang="ko-KR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lang="ko-KR" altLang="en-US" sz="8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  <a:r>
                        <a:rPr lang="ko-KR" altLang="en-US" sz="8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75581190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 간격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96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96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96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96</a:t>
                      </a:r>
                      <a:endParaRPr lang="ko-KR" altLang="en-US" sz="800" b="0" strike="no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29881618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 간격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48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48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48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48</a:t>
                      </a:r>
                      <a:endParaRPr lang="ko-KR" altLang="en-US" sz="800" b="0" strike="no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03323599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 간격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24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24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24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24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82961310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 간격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10281172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월 간격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24993451"/>
                  </a:ext>
                </a:extLst>
              </a:tr>
            </a:tbl>
          </a:graphicData>
        </a:graphic>
      </p:graphicFrame>
      <p:sp>
        <p:nvSpPr>
          <p:cNvPr id="93" name="타원형 설명선 225">
            <a:extLst>
              <a:ext uri="{FF2B5EF4-FFF2-40B4-BE49-F238E27FC236}">
                <a16:creationId xmlns:a16="http://schemas.microsoft.com/office/drawing/2014/main" id="{3605EA55-9401-41FA-BA3F-4396F9D2ECF6}"/>
              </a:ext>
            </a:extLst>
          </p:cNvPr>
          <p:cNvSpPr/>
          <p:nvPr/>
        </p:nvSpPr>
        <p:spPr>
          <a:xfrm>
            <a:off x="3772491" y="5535678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표</a:t>
            </a:r>
            <a:r>
              <a:rPr lang="en-US" altLang="ko-KR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lang="ko-KR" altLang="en-US" sz="7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E085BC60-127E-42BE-8FEE-68DD87C65CEE}"/>
              </a:ext>
            </a:extLst>
          </p:cNvPr>
          <p:cNvSpPr/>
          <p:nvPr/>
        </p:nvSpPr>
        <p:spPr>
          <a:xfrm>
            <a:off x="302238" y="1556792"/>
            <a:ext cx="873292" cy="288032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10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사용량 현황</a:t>
            </a:r>
          </a:p>
        </p:txBody>
      </p:sp>
    </p:spTree>
    <p:extLst>
      <p:ext uri="{BB962C8B-B14F-4D97-AF65-F5344CB8AC3E}">
        <p14:creationId xmlns:p14="http://schemas.microsoft.com/office/powerpoint/2010/main" val="571603234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9104309" y="6645875"/>
            <a:ext cx="140029" cy="138499"/>
          </a:xfrm>
        </p:spPr>
        <p:txBody>
          <a:bodyPr/>
          <a:lstStyle/>
          <a:p>
            <a:pPr>
              <a:defRPr/>
            </a:pPr>
            <a:fld id="{9E41B634-5682-4388-99E7-FE44DCFD254B}" type="slidenum">
              <a:rPr lang="ko-KR" altLang="en-US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>
                <a:defRPr/>
              </a:pPr>
              <a:t>18</a:t>
            </a:fld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텍스트 개체 틀 8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Site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 &gt;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에너지 모니터링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&gt;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피크 전력 현황</a:t>
            </a:r>
          </a:p>
        </p:txBody>
      </p:sp>
      <p:sp>
        <p:nvSpPr>
          <p:cNvPr id="10" name="텍스트 개체 틀 9"/>
          <p:cNvSpPr>
            <a:spLocks noGrp="1"/>
          </p:cNvSpPr>
          <p:nvPr>
            <p:ph type="body" sz="quarter" idx="10"/>
          </p:nvPr>
        </p:nvSpPr>
        <p:spPr>
          <a:xfrm>
            <a:off x="6023595" y="44624"/>
            <a:ext cx="1233661" cy="196974"/>
          </a:xfrm>
        </p:spPr>
        <p:txBody>
          <a:bodyPr/>
          <a:lstStyle/>
          <a:p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피크 전력 현황</a:t>
            </a:r>
          </a:p>
        </p:txBody>
      </p:sp>
      <p:graphicFrame>
        <p:nvGraphicFramePr>
          <p:cNvPr id="102" name="Group 15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30987191"/>
              </p:ext>
            </p:extLst>
          </p:nvPr>
        </p:nvGraphicFramePr>
        <p:xfrm>
          <a:off x="8469313" y="276225"/>
          <a:ext cx="1404000" cy="5625792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3002"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Description</a:t>
                      </a: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기간 설정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기간의 시작과 끝 시점을 설정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기간 별 시작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종료 시간은 표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참고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2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간격 설정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번에서 지정된 기간 내 데이터의 조회 간격을 설정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1)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간격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- 1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분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15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분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30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분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1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시간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1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일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1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월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2)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기간 별 선택 가능한 조회 간격은 표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2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참고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3) 1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일이 선택된 경우에는 오늘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00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시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~24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시로 조회하고 표시하며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그 외의 경우 지금 시간부터 지정된 과거의 기간만큼 조회하고 표시한다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.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3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조회 기간 시작 설정</a:t>
                      </a:r>
                      <a:endParaRPr lang="en-US" altLang="ko-KR" sz="800" b="1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조회 기간의 시작 날짜를 직접 입력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시간은 현재시간으로 고정되며 날짜만 지정 가능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4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조회 기간 종료 설정</a:t>
                      </a:r>
                      <a:endParaRPr lang="en-US" altLang="ko-KR" sz="800" b="1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1)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조회 기간의 종료 날짜를 직접 입력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-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시간은 현재시간으로  고정되며 날짜만 지정 가능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2)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시작</a:t>
                      </a: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종료 일정 설정하고 우측 조회 버튼 클릭하면 조회 및 갱신 진행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5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데이터 갱신 시간 표시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지정된 설정에 따라 조회가 진행된 시간표시</a:t>
                      </a:r>
                      <a:endParaRPr lang="en-US" altLang="ko-KR" sz="800" b="0" u="non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66946284"/>
                  </a:ext>
                </a:extLst>
              </a:tr>
            </a:tbl>
          </a:graphicData>
        </a:graphic>
      </p:graphicFrame>
      <p:sp>
        <p:nvSpPr>
          <p:cNvPr id="78" name="TextBox 77"/>
          <p:cNvSpPr txBox="1"/>
          <p:nvPr/>
        </p:nvSpPr>
        <p:spPr>
          <a:xfrm>
            <a:off x="7121707" y="21349"/>
            <a:ext cx="567597" cy="2308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화면</a:t>
            </a:r>
            <a:r>
              <a:rPr lang="en-US" altLang="ko-KR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ID</a:t>
            </a:r>
            <a:endParaRPr lang="ko-KR" altLang="en-US" sz="9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7689304" y="43659"/>
            <a:ext cx="792088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itchFamily="50" charset="-127"/>
                <a:ea typeface="맑은 고딕" pitchFamily="50" charset="-127"/>
              </a:rPr>
              <a:t>ewpsp_scr_010</a:t>
            </a:r>
            <a:endParaRPr lang="ko-KR" altLang="en-US" sz="700" dirty="0">
              <a:latin typeface="맑은 고딕" pitchFamily="50" charset="-127"/>
              <a:ea typeface="맑은 고딕" pitchFamily="50" charset="-127"/>
            </a:endParaRPr>
          </a:p>
        </p:txBody>
      </p:sp>
      <p:pic>
        <p:nvPicPr>
          <p:cNvPr id="18" name="Picture 3">
            <a:extLst>
              <a:ext uri="{FF2B5EF4-FFF2-40B4-BE49-F238E27FC236}">
                <a16:creationId xmlns:a16="http://schemas.microsoft.com/office/drawing/2014/main" id="{C53B6F9B-B852-44E9-AD26-3C00436EB81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463" y="764705"/>
            <a:ext cx="8208912" cy="4536503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  <a:extLst/>
        </p:spPr>
      </p:pic>
      <p:pic>
        <p:nvPicPr>
          <p:cNvPr id="19" name="Picture 2">
            <a:extLst>
              <a:ext uri="{FF2B5EF4-FFF2-40B4-BE49-F238E27FC236}">
                <a16:creationId xmlns:a16="http://schemas.microsoft.com/office/drawing/2014/main" id="{3CB063FB-9D03-4FB1-BBCE-9542A796525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464" y="762442"/>
            <a:ext cx="8208912" cy="3487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20" name="직선 연결선 19">
            <a:extLst>
              <a:ext uri="{FF2B5EF4-FFF2-40B4-BE49-F238E27FC236}">
                <a16:creationId xmlns:a16="http://schemas.microsoft.com/office/drawing/2014/main" id="{88B3139A-EBA0-4706-BCCE-DF7A54C88773}"/>
              </a:ext>
            </a:extLst>
          </p:cNvPr>
          <p:cNvCxnSpPr>
            <a:cxnSpLocks/>
          </p:cNvCxnSpPr>
          <p:nvPr/>
        </p:nvCxnSpPr>
        <p:spPr>
          <a:xfrm>
            <a:off x="128463" y="1124744"/>
            <a:ext cx="8208912" cy="0"/>
          </a:xfrm>
          <a:prstGeom prst="line">
            <a:avLst/>
          </a:prstGeom>
          <a:ln w="9525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E0C3090A-E8C1-4504-B2A5-A3C508FC8672}"/>
              </a:ext>
            </a:extLst>
          </p:cNvPr>
          <p:cNvSpPr/>
          <p:nvPr/>
        </p:nvSpPr>
        <p:spPr>
          <a:xfrm>
            <a:off x="216315" y="1611103"/>
            <a:ext cx="1820532" cy="288032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10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피크 전력 현황</a:t>
            </a:r>
          </a:p>
        </p:txBody>
      </p:sp>
      <p:graphicFrame>
        <p:nvGraphicFramePr>
          <p:cNvPr id="22" name="표 21">
            <a:extLst>
              <a:ext uri="{FF2B5EF4-FFF2-40B4-BE49-F238E27FC236}">
                <a16:creationId xmlns:a16="http://schemas.microsoft.com/office/drawing/2014/main" id="{5F5B9ACA-8BAB-45A4-943D-628102BF3E8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60825776"/>
              </p:ext>
            </p:extLst>
          </p:nvPr>
        </p:nvGraphicFramePr>
        <p:xfrm>
          <a:off x="308467" y="2407802"/>
          <a:ext cx="7812883" cy="186539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7228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6937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6937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6937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6937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6937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46937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469373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469373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46937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46937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46937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46937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469373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469373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469373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</a:tblGrid>
              <a:tr h="18653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/>
                        <a:t>kW</a:t>
                      </a:r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653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2,000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86539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86539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8653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500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8653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450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86539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86539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8653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86539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01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02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03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04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05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06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07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08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09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10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11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12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13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14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15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cxnSp>
        <p:nvCxnSpPr>
          <p:cNvPr id="23" name="직선 연결선 22">
            <a:extLst>
              <a:ext uri="{FF2B5EF4-FFF2-40B4-BE49-F238E27FC236}">
                <a16:creationId xmlns:a16="http://schemas.microsoft.com/office/drawing/2014/main" id="{C2D4B861-7FFF-4AB4-9E13-4DB1C044BA3A}"/>
              </a:ext>
            </a:extLst>
          </p:cNvPr>
          <p:cNvCxnSpPr/>
          <p:nvPr/>
        </p:nvCxnSpPr>
        <p:spPr>
          <a:xfrm>
            <a:off x="7106998" y="2227495"/>
            <a:ext cx="468000" cy="0"/>
          </a:xfrm>
          <a:prstGeom prst="line">
            <a:avLst/>
          </a:prstGeom>
          <a:ln w="19050">
            <a:solidFill>
              <a:srgbClr val="FF66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056DD4C7-E5C4-4075-881D-9342C2C0B4E9}"/>
              </a:ext>
            </a:extLst>
          </p:cNvPr>
          <p:cNvSpPr/>
          <p:nvPr/>
        </p:nvSpPr>
        <p:spPr>
          <a:xfrm>
            <a:off x="120419" y="1928384"/>
            <a:ext cx="1510265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150000"/>
              </a:lnSpc>
            </a:pPr>
            <a:r>
              <a:rPr lang="en-US" altLang="ko-KR" sz="900" b="1" dirty="0">
                <a:solidFill>
                  <a:schemeClr val="bg1">
                    <a:lumMod val="65000"/>
                  </a:schemeClr>
                </a:solidFill>
                <a:latin typeface="맑은 고딕" pitchFamily="50" charset="-127"/>
                <a:ea typeface="맑은 고딕" pitchFamily="50" charset="-127"/>
              </a:rPr>
              <a:t>YYYY-MM-DD hh:mm</a:t>
            </a:r>
            <a:endParaRPr lang="ko-KR" altLang="en-US" sz="900" b="1" dirty="0">
              <a:solidFill>
                <a:schemeClr val="bg1">
                  <a:lumMod val="6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31" name="직선 연결선 30">
            <a:extLst>
              <a:ext uri="{FF2B5EF4-FFF2-40B4-BE49-F238E27FC236}">
                <a16:creationId xmlns:a16="http://schemas.microsoft.com/office/drawing/2014/main" id="{D508FA60-BCD2-4789-9FE0-773CF65B8B90}"/>
              </a:ext>
            </a:extLst>
          </p:cNvPr>
          <p:cNvCxnSpPr>
            <a:cxnSpLocks/>
          </p:cNvCxnSpPr>
          <p:nvPr/>
        </p:nvCxnSpPr>
        <p:spPr>
          <a:xfrm>
            <a:off x="1028548" y="2691223"/>
            <a:ext cx="7092804" cy="0"/>
          </a:xfrm>
          <a:prstGeom prst="line">
            <a:avLst/>
          </a:prstGeom>
          <a:ln/>
        </p:spPr>
        <p:style>
          <a:lnRef idx="1">
            <a:schemeClr val="accent2"/>
          </a:lnRef>
          <a:fillRef idx="0">
            <a:schemeClr val="accent2"/>
          </a:fillRef>
          <a:effectRef idx="0">
            <a:schemeClr val="accent2"/>
          </a:effectRef>
          <a:fontRef idx="minor">
            <a:schemeClr val="tx1"/>
          </a:fontRef>
        </p:style>
      </p:cxnSp>
      <p:cxnSp>
        <p:nvCxnSpPr>
          <p:cNvPr id="32" name="직선 연결선 31">
            <a:extLst>
              <a:ext uri="{FF2B5EF4-FFF2-40B4-BE49-F238E27FC236}">
                <a16:creationId xmlns:a16="http://schemas.microsoft.com/office/drawing/2014/main" id="{1D0A5029-3276-42C6-9447-F6FF3341CCE5}"/>
              </a:ext>
            </a:extLst>
          </p:cNvPr>
          <p:cNvCxnSpPr>
            <a:cxnSpLocks/>
          </p:cNvCxnSpPr>
          <p:nvPr/>
        </p:nvCxnSpPr>
        <p:spPr>
          <a:xfrm>
            <a:off x="1028548" y="3250509"/>
            <a:ext cx="7092804" cy="0"/>
          </a:xfrm>
          <a:prstGeom prst="line">
            <a:avLst/>
          </a:prstGeom>
          <a:ln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2"/>
          </a:lnRef>
          <a:fillRef idx="0">
            <a:schemeClr val="accent2"/>
          </a:fillRef>
          <a:effectRef idx="0">
            <a:schemeClr val="accent2"/>
          </a:effectRef>
          <a:fontRef idx="minor">
            <a:schemeClr val="tx1"/>
          </a:fontRef>
        </p:style>
      </p:cxnSp>
      <p:cxnSp>
        <p:nvCxnSpPr>
          <p:cNvPr id="36" name="직선 연결선 35">
            <a:extLst>
              <a:ext uri="{FF2B5EF4-FFF2-40B4-BE49-F238E27FC236}">
                <a16:creationId xmlns:a16="http://schemas.microsoft.com/office/drawing/2014/main" id="{387AEAE6-D135-41B0-9AA0-7A087D442CF4}"/>
              </a:ext>
            </a:extLst>
          </p:cNvPr>
          <p:cNvCxnSpPr>
            <a:cxnSpLocks/>
          </p:cNvCxnSpPr>
          <p:nvPr/>
        </p:nvCxnSpPr>
        <p:spPr>
          <a:xfrm>
            <a:off x="5166793" y="2407802"/>
            <a:ext cx="0" cy="1822234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그룹 36">
            <a:extLst>
              <a:ext uri="{FF2B5EF4-FFF2-40B4-BE49-F238E27FC236}">
                <a16:creationId xmlns:a16="http://schemas.microsoft.com/office/drawing/2014/main" id="{C2614470-1527-4CEA-A2AD-54BCAAF79B08}"/>
              </a:ext>
            </a:extLst>
          </p:cNvPr>
          <p:cNvGrpSpPr/>
          <p:nvPr/>
        </p:nvGrpSpPr>
        <p:grpSpPr>
          <a:xfrm>
            <a:off x="326114" y="4365104"/>
            <a:ext cx="862386" cy="211955"/>
            <a:chOff x="4861742" y="3907374"/>
            <a:chExt cx="862386" cy="211955"/>
          </a:xfrm>
        </p:grpSpPr>
        <p:pic>
          <p:nvPicPr>
            <p:cNvPr id="38" name="Picture 6" descr="ìì ë¤ì´ë¡ëì ëí ì´ë¯¸ì§ ê²ìê²°ê³¼">
              <a:extLst>
                <a:ext uri="{FF2B5EF4-FFF2-40B4-BE49-F238E27FC236}">
                  <a16:creationId xmlns:a16="http://schemas.microsoft.com/office/drawing/2014/main" id="{1CA3EEB1-AC72-48D7-A259-76A1B601433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861742" y="3907374"/>
              <a:ext cx="211955" cy="21195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6B23ABA4-9F0D-45AD-8BA6-8B867D15B7B1}"/>
                </a:ext>
              </a:extLst>
            </p:cNvPr>
            <p:cNvSpPr txBox="1"/>
            <p:nvPr/>
          </p:nvSpPr>
          <p:spPr>
            <a:xfrm>
              <a:off x="4949189" y="3921018"/>
              <a:ext cx="7749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600" b="1" dirty="0">
                  <a:solidFill>
                    <a:schemeClr val="bg1"/>
                  </a:solidFill>
                </a:rPr>
                <a:t>데이터 저장하기</a:t>
              </a:r>
            </a:p>
          </p:txBody>
        </p:sp>
      </p:grpSp>
      <p:sp>
        <p:nvSpPr>
          <p:cNvPr id="40" name="말풍선: 사각형 39">
            <a:extLst>
              <a:ext uri="{FF2B5EF4-FFF2-40B4-BE49-F238E27FC236}">
                <a16:creationId xmlns:a16="http://schemas.microsoft.com/office/drawing/2014/main" id="{5890A3BC-DB2B-4AC4-A2F7-E81C55FD79CE}"/>
              </a:ext>
            </a:extLst>
          </p:cNvPr>
          <p:cNvSpPr/>
          <p:nvPr/>
        </p:nvSpPr>
        <p:spPr>
          <a:xfrm>
            <a:off x="4930076" y="2864840"/>
            <a:ext cx="615731" cy="360039"/>
          </a:xfrm>
          <a:prstGeom prst="wedgeRectCallout">
            <a:avLst>
              <a:gd name="adj1" fmla="val -30620"/>
              <a:gd name="adj2" fmla="val 109426"/>
            </a:avLst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2018.03.05</a:t>
            </a:r>
          </a:p>
          <a:p>
            <a:pPr algn="ctr"/>
            <a:r>
              <a:rPr lang="en-US" altLang="ko-KR" sz="6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03:15:00</a:t>
            </a:r>
          </a:p>
          <a:p>
            <a:pPr algn="ctr"/>
            <a:r>
              <a:rPr lang="en-US" altLang="ko-KR" sz="600" b="1" dirty="0">
                <a:solidFill>
                  <a:srgbClr val="FF0000"/>
                </a:solidFill>
              </a:rPr>
              <a:t>210 kW</a:t>
            </a:r>
            <a:endParaRPr lang="ko-KR" altLang="en-US" sz="600" b="1" dirty="0">
              <a:solidFill>
                <a:srgbClr val="FF0000"/>
              </a:solidFill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F1953316-CF55-4850-B275-3190BDEBE319}"/>
              </a:ext>
            </a:extLst>
          </p:cNvPr>
          <p:cNvSpPr/>
          <p:nvPr/>
        </p:nvSpPr>
        <p:spPr>
          <a:xfrm>
            <a:off x="3512840" y="1623764"/>
            <a:ext cx="1224136" cy="288033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기간 설정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BDB12F6E-F8FA-494E-8425-ADB613B74512}"/>
              </a:ext>
            </a:extLst>
          </p:cNvPr>
          <p:cNvSpPr/>
          <p:nvPr/>
        </p:nvSpPr>
        <p:spPr>
          <a:xfrm>
            <a:off x="4232920" y="1623764"/>
            <a:ext cx="1262753" cy="288033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YYY-MM</a:t>
            </a:r>
            <a:endParaRPr lang="ko-KR" altLang="en-US" sz="90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C97DAAA3-1379-4242-9AD8-914FAC31FFAD}"/>
              </a:ext>
            </a:extLst>
          </p:cNvPr>
          <p:cNvSpPr/>
          <p:nvPr/>
        </p:nvSpPr>
        <p:spPr>
          <a:xfrm>
            <a:off x="5495673" y="1623764"/>
            <a:ext cx="288032" cy="288033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▼</a:t>
            </a: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64363B09-6436-44D5-ADF6-822692724A1A}"/>
              </a:ext>
            </a:extLst>
          </p:cNvPr>
          <p:cNvSpPr/>
          <p:nvPr/>
        </p:nvSpPr>
        <p:spPr>
          <a:xfrm>
            <a:off x="5783705" y="1623764"/>
            <a:ext cx="249415" cy="288033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~</a:t>
            </a:r>
            <a:endParaRPr lang="ko-KR" altLang="en-US" sz="900" b="1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5AFC74EB-9BBF-47A6-8417-8BAAB480D2F6}"/>
              </a:ext>
            </a:extLst>
          </p:cNvPr>
          <p:cNvSpPr/>
          <p:nvPr/>
        </p:nvSpPr>
        <p:spPr>
          <a:xfrm>
            <a:off x="6033120" y="1623764"/>
            <a:ext cx="1262753" cy="288033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YYYY-MM</a:t>
            </a:r>
            <a:endParaRPr lang="ko-KR" altLang="en-US" sz="90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0AD23DBC-7E9F-4C15-8A9F-9C053660C2C9}"/>
              </a:ext>
            </a:extLst>
          </p:cNvPr>
          <p:cNvSpPr/>
          <p:nvPr/>
        </p:nvSpPr>
        <p:spPr>
          <a:xfrm>
            <a:off x="7295873" y="1623764"/>
            <a:ext cx="288032" cy="288033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▼</a:t>
            </a:r>
          </a:p>
        </p:txBody>
      </p:sp>
      <p:pic>
        <p:nvPicPr>
          <p:cNvPr id="47" name="Picture 2" descr="ì¤ì ì ëí ì´ë¯¸ì§ ê²ìê²°ê³¼">
            <a:extLst>
              <a:ext uri="{FF2B5EF4-FFF2-40B4-BE49-F238E27FC236}">
                <a16:creationId xmlns:a16="http://schemas.microsoft.com/office/drawing/2014/main" id="{5561CC1F-7FFC-407E-83D6-9ADCD0443D7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05865" y="844086"/>
            <a:ext cx="198592" cy="19859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8" name="사각형: 둥근 모서리 47">
            <a:extLst>
              <a:ext uri="{FF2B5EF4-FFF2-40B4-BE49-F238E27FC236}">
                <a16:creationId xmlns:a16="http://schemas.microsoft.com/office/drawing/2014/main" id="{98453DFA-937E-4830-9F8D-7C8A36C6F222}"/>
              </a:ext>
            </a:extLst>
          </p:cNvPr>
          <p:cNvSpPr/>
          <p:nvPr/>
        </p:nvSpPr>
        <p:spPr>
          <a:xfrm>
            <a:off x="1239315" y="1691472"/>
            <a:ext cx="1013369" cy="180000"/>
          </a:xfrm>
          <a:prstGeom prst="roundRect">
            <a:avLst/>
          </a:prstGeom>
          <a:solidFill>
            <a:schemeClr val="bg1"/>
          </a:solidFill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ko-KR" altLang="en-US" sz="900" dirty="0">
                <a:solidFill>
                  <a:schemeClr val="tx1"/>
                </a:solidFill>
              </a:rPr>
              <a:t>기간 설정  ▼</a:t>
            </a:r>
          </a:p>
        </p:txBody>
      </p:sp>
      <p:sp>
        <p:nvSpPr>
          <p:cNvPr id="49" name="사각형: 둥근 모서리 48">
            <a:extLst>
              <a:ext uri="{FF2B5EF4-FFF2-40B4-BE49-F238E27FC236}">
                <a16:creationId xmlns:a16="http://schemas.microsoft.com/office/drawing/2014/main" id="{95DB6114-9F42-4030-9384-48482BFA4B52}"/>
              </a:ext>
            </a:extLst>
          </p:cNvPr>
          <p:cNvSpPr/>
          <p:nvPr/>
        </p:nvSpPr>
        <p:spPr>
          <a:xfrm>
            <a:off x="2297791" y="1690627"/>
            <a:ext cx="1013369" cy="180000"/>
          </a:xfrm>
          <a:prstGeom prst="roundRect">
            <a:avLst/>
          </a:prstGeom>
          <a:solidFill>
            <a:schemeClr val="bg1"/>
          </a:solidFill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altLang="ko-KR" sz="900" dirty="0">
                <a:solidFill>
                  <a:schemeClr val="tx1"/>
                </a:solidFill>
              </a:rPr>
              <a:t>15</a:t>
            </a:r>
            <a:r>
              <a:rPr lang="ko-KR" altLang="en-US" sz="900" dirty="0">
                <a:solidFill>
                  <a:schemeClr val="tx1"/>
                </a:solidFill>
              </a:rPr>
              <a:t>분     ▼</a:t>
            </a:r>
          </a:p>
        </p:txBody>
      </p:sp>
      <p:graphicFrame>
        <p:nvGraphicFramePr>
          <p:cNvPr id="52" name="표 51">
            <a:extLst>
              <a:ext uri="{FF2B5EF4-FFF2-40B4-BE49-F238E27FC236}">
                <a16:creationId xmlns:a16="http://schemas.microsoft.com/office/drawing/2014/main" id="{730940F6-EB57-4C2B-9700-3C87FC85E25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34910016"/>
              </p:ext>
            </p:extLst>
          </p:nvPr>
        </p:nvGraphicFramePr>
        <p:xfrm>
          <a:off x="308467" y="4657004"/>
          <a:ext cx="7812877" cy="5342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71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4410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4107">
                  <a:extLst>
                    <a:ext uri="{9D8B030D-6E8A-4147-A177-3AD203B41FA5}">
                      <a16:colId xmlns:a16="http://schemas.microsoft.com/office/drawing/2014/main" val="91379356"/>
                    </a:ext>
                  </a:extLst>
                </a:gridCol>
                <a:gridCol w="44410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44107">
                  <a:extLst>
                    <a:ext uri="{9D8B030D-6E8A-4147-A177-3AD203B41FA5}">
                      <a16:colId xmlns:a16="http://schemas.microsoft.com/office/drawing/2014/main" val="3679891012"/>
                    </a:ext>
                  </a:extLst>
                </a:gridCol>
                <a:gridCol w="44410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44107">
                  <a:extLst>
                    <a:ext uri="{9D8B030D-6E8A-4147-A177-3AD203B41FA5}">
                      <a16:colId xmlns:a16="http://schemas.microsoft.com/office/drawing/2014/main" val="2229935987"/>
                    </a:ext>
                  </a:extLst>
                </a:gridCol>
                <a:gridCol w="44410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44107">
                  <a:extLst>
                    <a:ext uri="{9D8B030D-6E8A-4147-A177-3AD203B41FA5}">
                      <a16:colId xmlns:a16="http://schemas.microsoft.com/office/drawing/2014/main" val="4026812072"/>
                    </a:ext>
                  </a:extLst>
                </a:gridCol>
                <a:gridCol w="44410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444107">
                  <a:extLst>
                    <a:ext uri="{9D8B030D-6E8A-4147-A177-3AD203B41FA5}">
                      <a16:colId xmlns:a16="http://schemas.microsoft.com/office/drawing/2014/main" val="1122824508"/>
                    </a:ext>
                  </a:extLst>
                </a:gridCol>
                <a:gridCol w="44410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444107">
                  <a:extLst>
                    <a:ext uri="{9D8B030D-6E8A-4147-A177-3AD203B41FA5}">
                      <a16:colId xmlns:a16="http://schemas.microsoft.com/office/drawing/2014/main" val="1502902784"/>
                    </a:ext>
                  </a:extLst>
                </a:gridCol>
                <a:gridCol w="44410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444107">
                  <a:extLst>
                    <a:ext uri="{9D8B030D-6E8A-4147-A177-3AD203B41FA5}">
                      <a16:colId xmlns:a16="http://schemas.microsoft.com/office/drawing/2014/main" val="354728812"/>
                    </a:ext>
                  </a:extLst>
                </a:gridCol>
                <a:gridCol w="44410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444107">
                  <a:extLst>
                    <a:ext uri="{9D8B030D-6E8A-4147-A177-3AD203B41FA5}">
                      <a16:colId xmlns:a16="http://schemas.microsoft.com/office/drawing/2014/main" val="3055537566"/>
                    </a:ext>
                  </a:extLst>
                </a:gridCol>
              </a:tblGrid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YYYY-MM</a:t>
                      </a:r>
                      <a:endParaRPr lang="en-US" altLang="ko-KR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01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02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03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04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05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06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07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08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09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11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12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13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14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15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합계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11827301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rgbClr val="FF6600"/>
                          </a:solidFill>
                          <a:latin typeface="+mn-lt"/>
                          <a:ea typeface="+mn-ea"/>
                          <a:cs typeface="+mn-cs"/>
                        </a:rPr>
                        <a:t>현재 부하</a:t>
                      </a:r>
                      <a:endParaRPr lang="en-US" altLang="ko-KR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+mn-lt"/>
                          <a:ea typeface="+mn-ea"/>
                          <a:cs typeface="+mn-cs"/>
                        </a:rPr>
                        <a:t>150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+mn-lt"/>
                          <a:ea typeface="+mn-ea"/>
                          <a:cs typeface="+mn-cs"/>
                        </a:rPr>
                        <a:t>10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+mn-lt"/>
                          <a:ea typeface="+mn-ea"/>
                          <a:cs typeface="+mn-cs"/>
                        </a:rPr>
                        <a:t>210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+mn-lt"/>
                          <a:ea typeface="+mn-ea"/>
                          <a:cs typeface="+mn-cs"/>
                        </a:rPr>
                        <a:t>125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+mn-lt"/>
                          <a:ea typeface="+mn-ea"/>
                          <a:cs typeface="+mn-cs"/>
                        </a:rPr>
                        <a:t>50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+mn-lt"/>
                          <a:ea typeface="+mn-ea"/>
                          <a:cs typeface="+mn-cs"/>
                        </a:rPr>
                        <a:t>30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+mn-lt"/>
                          <a:ea typeface="+mn-ea"/>
                          <a:cs typeface="+mn-cs"/>
                        </a:rPr>
                        <a:t>50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+mn-lt"/>
                          <a:ea typeface="+mn-ea"/>
                          <a:cs typeface="+mn-cs"/>
                        </a:rPr>
                        <a:t>125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예측 부하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30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60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90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120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150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180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210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240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270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300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330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360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390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420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cxnSp>
        <p:nvCxnSpPr>
          <p:cNvPr id="58" name="직선 연결선 57">
            <a:extLst>
              <a:ext uri="{FF2B5EF4-FFF2-40B4-BE49-F238E27FC236}">
                <a16:creationId xmlns:a16="http://schemas.microsoft.com/office/drawing/2014/main" id="{FAC369F9-8FC0-468D-BF8B-244B5D0F4EB0}"/>
              </a:ext>
            </a:extLst>
          </p:cNvPr>
          <p:cNvCxnSpPr>
            <a:cxnSpLocks/>
          </p:cNvCxnSpPr>
          <p:nvPr/>
        </p:nvCxnSpPr>
        <p:spPr>
          <a:xfrm>
            <a:off x="5610749" y="2227495"/>
            <a:ext cx="468000" cy="0"/>
          </a:xfrm>
          <a:prstGeom prst="line">
            <a:avLst/>
          </a:prstGeom>
          <a:ln/>
        </p:spPr>
        <p:style>
          <a:lnRef idx="1">
            <a:schemeClr val="accent2"/>
          </a:lnRef>
          <a:fillRef idx="0">
            <a:schemeClr val="accent2"/>
          </a:fillRef>
          <a:effectRef idx="0">
            <a:schemeClr val="accent2"/>
          </a:effectRef>
          <a:fontRef idx="minor">
            <a:schemeClr val="tx1"/>
          </a:fontRef>
        </p:style>
      </p:cxn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49C8A516-A277-46F7-9650-1BABF6CCF9CE}"/>
              </a:ext>
            </a:extLst>
          </p:cNvPr>
          <p:cNvSpPr/>
          <p:nvPr/>
        </p:nvSpPr>
        <p:spPr>
          <a:xfrm>
            <a:off x="6033224" y="2092462"/>
            <a:ext cx="936000" cy="252028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한전 계약 전력</a:t>
            </a:r>
          </a:p>
        </p:txBody>
      </p:sp>
      <p:cxnSp>
        <p:nvCxnSpPr>
          <p:cNvPr id="61" name="직선 연결선 60">
            <a:extLst>
              <a:ext uri="{FF2B5EF4-FFF2-40B4-BE49-F238E27FC236}">
                <a16:creationId xmlns:a16="http://schemas.microsoft.com/office/drawing/2014/main" id="{4ACD527D-F864-4D1E-A768-DE6E4B78D9A3}"/>
              </a:ext>
            </a:extLst>
          </p:cNvPr>
          <p:cNvCxnSpPr>
            <a:cxnSpLocks/>
          </p:cNvCxnSpPr>
          <p:nvPr/>
        </p:nvCxnSpPr>
        <p:spPr>
          <a:xfrm>
            <a:off x="4160912" y="2227495"/>
            <a:ext cx="468000" cy="0"/>
          </a:xfrm>
          <a:prstGeom prst="line">
            <a:avLst/>
          </a:prstGeom>
          <a:ln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2"/>
          </a:lnRef>
          <a:fillRef idx="0">
            <a:schemeClr val="accent2"/>
          </a:fillRef>
          <a:effectRef idx="0">
            <a:schemeClr val="accent2"/>
          </a:effectRef>
          <a:fontRef idx="minor">
            <a:schemeClr val="tx1"/>
          </a:fontRef>
        </p:style>
      </p:cxn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049C599D-4358-4C4A-8BDA-C0581B76B2E3}"/>
              </a:ext>
            </a:extLst>
          </p:cNvPr>
          <p:cNvSpPr/>
          <p:nvPr/>
        </p:nvSpPr>
        <p:spPr>
          <a:xfrm>
            <a:off x="4611967" y="2092462"/>
            <a:ext cx="936000" cy="252028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요금 적용 전력</a:t>
            </a:r>
          </a:p>
        </p:txBody>
      </p: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F56C53E8-EEA7-4445-A740-940DA921A033}"/>
              </a:ext>
            </a:extLst>
          </p:cNvPr>
          <p:cNvSpPr/>
          <p:nvPr/>
        </p:nvSpPr>
        <p:spPr>
          <a:xfrm>
            <a:off x="7545392" y="2092462"/>
            <a:ext cx="936000" cy="252028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피크 전력</a:t>
            </a:r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085B1735-DF8C-464E-8808-120B70EF9690}"/>
              </a:ext>
            </a:extLst>
          </p:cNvPr>
          <p:cNvSpPr txBox="1"/>
          <p:nvPr/>
        </p:nvSpPr>
        <p:spPr>
          <a:xfrm>
            <a:off x="7116279" y="4365104"/>
            <a:ext cx="972108" cy="215444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square" rtlCol="0" anchor="ctr">
            <a:spAutoFit/>
          </a:bodyPr>
          <a:lstStyle/>
          <a:p>
            <a:pPr algn="ctr"/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표 접기</a:t>
            </a:r>
          </a:p>
        </p:txBody>
      </p:sp>
      <p:grpSp>
        <p:nvGrpSpPr>
          <p:cNvPr id="60" name="그룹 59">
            <a:extLst>
              <a:ext uri="{FF2B5EF4-FFF2-40B4-BE49-F238E27FC236}">
                <a16:creationId xmlns:a16="http://schemas.microsoft.com/office/drawing/2014/main" id="{31EB5E68-77B3-4533-9C43-6B6A1CCA2FDA}"/>
              </a:ext>
            </a:extLst>
          </p:cNvPr>
          <p:cNvGrpSpPr/>
          <p:nvPr/>
        </p:nvGrpSpPr>
        <p:grpSpPr>
          <a:xfrm>
            <a:off x="210356" y="1203435"/>
            <a:ext cx="8024876" cy="260092"/>
            <a:chOff x="184526" y="1505937"/>
            <a:chExt cx="8024876" cy="260092"/>
          </a:xfrm>
        </p:grpSpPr>
        <p:sp>
          <p:nvSpPr>
            <p:cNvPr id="66" name="직사각형 65">
              <a:extLst>
                <a:ext uri="{FF2B5EF4-FFF2-40B4-BE49-F238E27FC236}">
                  <a16:creationId xmlns:a16="http://schemas.microsoft.com/office/drawing/2014/main" id="{B81371B7-B937-4619-AC2A-BB350823FDB7}"/>
                </a:ext>
              </a:extLst>
            </p:cNvPr>
            <p:cNvSpPr/>
            <p:nvPr/>
          </p:nvSpPr>
          <p:spPr>
            <a:xfrm>
              <a:off x="5810955" y="1550585"/>
              <a:ext cx="1820532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수익 현황</a:t>
              </a:r>
            </a:p>
          </p:txBody>
        </p:sp>
        <p:sp>
          <p:nvSpPr>
            <p:cNvPr id="67" name="직사각형 66">
              <a:extLst>
                <a:ext uri="{FF2B5EF4-FFF2-40B4-BE49-F238E27FC236}">
                  <a16:creationId xmlns:a16="http://schemas.microsoft.com/office/drawing/2014/main" id="{5C593014-570C-4F3D-9DFF-2AE464BB3129}"/>
                </a:ext>
              </a:extLst>
            </p:cNvPr>
            <p:cNvSpPr/>
            <p:nvPr/>
          </p:nvSpPr>
          <p:spPr>
            <a:xfrm>
              <a:off x="184526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에너지 모니터링</a:t>
              </a:r>
            </a:p>
          </p:txBody>
        </p:sp>
        <p:sp>
          <p:nvSpPr>
            <p:cNvPr id="68" name="직사각형 67">
              <a:extLst>
                <a:ext uri="{FF2B5EF4-FFF2-40B4-BE49-F238E27FC236}">
                  <a16:creationId xmlns:a16="http://schemas.microsoft.com/office/drawing/2014/main" id="{CCE69BE7-DF34-47C3-96F0-FE75C28828DA}"/>
                </a:ext>
              </a:extLst>
            </p:cNvPr>
            <p:cNvSpPr/>
            <p:nvPr/>
          </p:nvSpPr>
          <p:spPr>
            <a:xfrm>
              <a:off x="2191085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장치 모니터링</a:t>
              </a:r>
            </a:p>
          </p:txBody>
        </p:sp>
        <p:sp>
          <p:nvSpPr>
            <p:cNvPr id="69" name="직사각형 68">
              <a:extLst>
                <a:ext uri="{FF2B5EF4-FFF2-40B4-BE49-F238E27FC236}">
                  <a16:creationId xmlns:a16="http://schemas.microsoft.com/office/drawing/2014/main" id="{F8FF1F75-F1EA-4869-83C9-6EB98B746524}"/>
                </a:ext>
              </a:extLst>
            </p:cNvPr>
            <p:cNvSpPr/>
            <p:nvPr/>
          </p:nvSpPr>
          <p:spPr>
            <a:xfrm>
              <a:off x="4197644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상황</a:t>
              </a:r>
              <a:r>
                <a:rPr lang="en-US" altLang="ko-KR" sz="700" dirty="0"/>
                <a:t> </a:t>
              </a:r>
              <a:r>
                <a:rPr lang="ko-KR" altLang="en-US" sz="700" dirty="0"/>
                <a:t>관제</a:t>
              </a:r>
            </a:p>
          </p:txBody>
        </p:sp>
        <p:sp>
          <p:nvSpPr>
            <p:cNvPr id="70" name="직사각형 69">
              <a:extLst>
                <a:ext uri="{FF2B5EF4-FFF2-40B4-BE49-F238E27FC236}">
                  <a16:creationId xmlns:a16="http://schemas.microsoft.com/office/drawing/2014/main" id="{8CF4CC4B-9120-4643-B3D8-C6D3423B8F41}"/>
                </a:ext>
              </a:extLst>
            </p:cNvPr>
            <p:cNvSpPr/>
            <p:nvPr/>
          </p:nvSpPr>
          <p:spPr>
            <a:xfrm>
              <a:off x="6204202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요금</a:t>
              </a:r>
              <a:r>
                <a:rPr lang="en-US" altLang="ko-KR" sz="700" dirty="0"/>
                <a:t>/</a:t>
              </a:r>
              <a:r>
                <a:rPr lang="ko-KR" altLang="en-US" sz="700" dirty="0"/>
                <a:t>수익</a:t>
              </a:r>
            </a:p>
          </p:txBody>
        </p:sp>
      </p:grpSp>
      <p:sp>
        <p:nvSpPr>
          <p:cNvPr id="227" name="타원형 설명선 226"/>
          <p:cNvSpPr/>
          <p:nvPr/>
        </p:nvSpPr>
        <p:spPr>
          <a:xfrm>
            <a:off x="2288513" y="1454599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4" name="타원형 설명선 243"/>
          <p:cNvSpPr/>
          <p:nvPr/>
        </p:nvSpPr>
        <p:spPr>
          <a:xfrm>
            <a:off x="5799167" y="1456335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5" name="타원형 설명선 244"/>
          <p:cNvSpPr/>
          <p:nvPr/>
        </p:nvSpPr>
        <p:spPr>
          <a:xfrm>
            <a:off x="3969856" y="1452398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3" name="타원형 설명선 225">
            <a:extLst>
              <a:ext uri="{FF2B5EF4-FFF2-40B4-BE49-F238E27FC236}">
                <a16:creationId xmlns:a16="http://schemas.microsoft.com/office/drawing/2014/main" id="{93402A8C-F86A-4207-9226-F02BE6AB6E19}"/>
              </a:ext>
            </a:extLst>
          </p:cNvPr>
          <p:cNvSpPr/>
          <p:nvPr/>
        </p:nvSpPr>
        <p:spPr>
          <a:xfrm>
            <a:off x="1399002" y="1486592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71" name="표 70">
            <a:extLst>
              <a:ext uri="{FF2B5EF4-FFF2-40B4-BE49-F238E27FC236}">
                <a16:creationId xmlns:a16="http://schemas.microsoft.com/office/drawing/2014/main" id="{7613D8EC-439F-4B98-B065-18225BF9D60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72162741"/>
              </p:ext>
            </p:extLst>
          </p:nvPr>
        </p:nvGraphicFramePr>
        <p:xfrm>
          <a:off x="333290" y="5799587"/>
          <a:ext cx="4114985" cy="54384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08191">
                  <a:extLst>
                    <a:ext uri="{9D8B030D-6E8A-4147-A177-3AD203B41FA5}">
                      <a16:colId xmlns:a16="http://schemas.microsoft.com/office/drawing/2014/main" val="621667645"/>
                    </a:ext>
                  </a:extLst>
                </a:gridCol>
                <a:gridCol w="429542">
                  <a:extLst>
                    <a:ext uri="{9D8B030D-6E8A-4147-A177-3AD203B41FA5}">
                      <a16:colId xmlns:a16="http://schemas.microsoft.com/office/drawing/2014/main" val="2248332737"/>
                    </a:ext>
                  </a:extLst>
                </a:gridCol>
                <a:gridCol w="429542">
                  <a:extLst>
                    <a:ext uri="{9D8B030D-6E8A-4147-A177-3AD203B41FA5}">
                      <a16:colId xmlns:a16="http://schemas.microsoft.com/office/drawing/2014/main" val="899356341"/>
                    </a:ext>
                  </a:extLst>
                </a:gridCol>
                <a:gridCol w="429542">
                  <a:extLst>
                    <a:ext uri="{9D8B030D-6E8A-4147-A177-3AD203B41FA5}">
                      <a16:colId xmlns:a16="http://schemas.microsoft.com/office/drawing/2014/main" val="2787753370"/>
                    </a:ext>
                  </a:extLst>
                </a:gridCol>
                <a:gridCol w="429542">
                  <a:extLst>
                    <a:ext uri="{9D8B030D-6E8A-4147-A177-3AD203B41FA5}">
                      <a16:colId xmlns:a16="http://schemas.microsoft.com/office/drawing/2014/main" val="75509663"/>
                    </a:ext>
                  </a:extLst>
                </a:gridCol>
                <a:gridCol w="429542">
                  <a:extLst>
                    <a:ext uri="{9D8B030D-6E8A-4147-A177-3AD203B41FA5}">
                      <a16:colId xmlns:a16="http://schemas.microsoft.com/office/drawing/2014/main" val="2371680936"/>
                    </a:ext>
                  </a:extLst>
                </a:gridCol>
                <a:gridCol w="429542">
                  <a:extLst>
                    <a:ext uri="{9D8B030D-6E8A-4147-A177-3AD203B41FA5}">
                      <a16:colId xmlns:a16="http://schemas.microsoft.com/office/drawing/2014/main" val="1293287838"/>
                    </a:ext>
                  </a:extLst>
                </a:gridCol>
                <a:gridCol w="429542">
                  <a:extLst>
                    <a:ext uri="{9D8B030D-6E8A-4147-A177-3AD203B41FA5}">
                      <a16:colId xmlns:a16="http://schemas.microsoft.com/office/drawing/2014/main" val="346575581"/>
                    </a:ext>
                  </a:extLst>
                </a:gridCol>
              </a:tblGrid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조회기간</a:t>
                      </a:r>
                      <a:endParaRPr lang="en-US" altLang="ko-KR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기간설정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75581190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현재 부하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15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분 전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~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현재시간</a:t>
                      </a:r>
                      <a:endParaRPr lang="ko-KR" altLang="en-US" sz="8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시간 전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~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현재시간</a:t>
                      </a:r>
                      <a:endParaRPr lang="ko-KR" altLang="en-US" sz="8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오늘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00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시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~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현재시간</a:t>
                      </a:r>
                      <a:endParaRPr lang="ko-KR" altLang="en-US" sz="8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주 전 </a:t>
                      </a: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~ 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현재시간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달 전 </a:t>
                      </a: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~ 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현재시간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 전</a:t>
                      </a:r>
                      <a:r>
                        <a:rPr lang="en-US" altLang="ko-KR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~ </a:t>
                      </a:r>
                      <a:r>
                        <a:rPr lang="ko-KR" altLang="en-US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현재시간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지정된 시작일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29881618"/>
                  </a:ext>
                </a:extLst>
              </a:tr>
            </a:tbl>
          </a:graphicData>
        </a:graphic>
      </p:graphicFrame>
      <p:sp>
        <p:nvSpPr>
          <p:cNvPr id="72" name="타원형 설명선 225">
            <a:extLst>
              <a:ext uri="{FF2B5EF4-FFF2-40B4-BE49-F238E27FC236}">
                <a16:creationId xmlns:a16="http://schemas.microsoft.com/office/drawing/2014/main" id="{7B431328-1DFE-4D07-91CF-29D69DE70FEA}"/>
              </a:ext>
            </a:extLst>
          </p:cNvPr>
          <p:cNvSpPr/>
          <p:nvPr/>
        </p:nvSpPr>
        <p:spPr>
          <a:xfrm>
            <a:off x="36465" y="5783564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표</a:t>
            </a:r>
            <a:r>
              <a:rPr lang="en-US" altLang="ko-KR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73" name="표 72">
            <a:extLst>
              <a:ext uri="{FF2B5EF4-FFF2-40B4-BE49-F238E27FC236}">
                <a16:creationId xmlns:a16="http://schemas.microsoft.com/office/drawing/2014/main" id="{CDF63407-2BCD-4D76-AD1D-C1215852DB4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41990429"/>
              </p:ext>
            </p:extLst>
          </p:nvPr>
        </p:nvGraphicFramePr>
        <p:xfrm>
          <a:off x="4563952" y="5675115"/>
          <a:ext cx="3788722" cy="90960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61864">
                  <a:extLst>
                    <a:ext uri="{9D8B030D-6E8A-4147-A177-3AD203B41FA5}">
                      <a16:colId xmlns:a16="http://schemas.microsoft.com/office/drawing/2014/main" val="621667645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2248332737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899356341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2787753370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75509663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2371680936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1293287838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346575581"/>
                    </a:ext>
                  </a:extLst>
                </a:gridCol>
              </a:tblGrid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조회기간</a:t>
                      </a:r>
                      <a:endParaRPr lang="en-US" altLang="ko-KR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기간설정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75581190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조회 간격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  <a:r>
                        <a:rPr lang="ko-KR" altLang="en-US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strike="no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  <a:r>
                        <a:rPr lang="ko-KR" altLang="en-US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strike="no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  <a:r>
                        <a:rPr lang="ko-KR" altLang="en-US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strike="no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  <a:endParaRPr lang="en-US" altLang="ko-KR" sz="800" b="0" strike="no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strike="no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lang="ko-KR" altLang="en-US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strike="no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  <a:r>
                        <a:rPr lang="ko-KR" altLang="en-US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strike="no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  <a:endParaRPr lang="en-US" altLang="ko-KR" sz="800" b="0" strike="no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  <a:endParaRPr lang="en-US" altLang="ko-KR" sz="800" b="0" strike="no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월</a:t>
                      </a:r>
                      <a:endParaRPr lang="en-US" altLang="ko-KR" sz="800" b="0" strike="no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지정된 기간에 따라 판단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29881618"/>
                  </a:ext>
                </a:extLst>
              </a:tr>
            </a:tbl>
          </a:graphicData>
        </a:graphic>
      </p:graphicFrame>
      <p:sp>
        <p:nvSpPr>
          <p:cNvPr id="74" name="타원형 설명선 225">
            <a:extLst>
              <a:ext uri="{FF2B5EF4-FFF2-40B4-BE49-F238E27FC236}">
                <a16:creationId xmlns:a16="http://schemas.microsoft.com/office/drawing/2014/main" id="{4CEDB159-A9F6-49E6-B72C-6E01C8C72E6D}"/>
              </a:ext>
            </a:extLst>
          </p:cNvPr>
          <p:cNvSpPr/>
          <p:nvPr/>
        </p:nvSpPr>
        <p:spPr>
          <a:xfrm>
            <a:off x="4563284" y="5445224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표</a:t>
            </a:r>
            <a:r>
              <a:rPr lang="en-US" altLang="ko-KR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7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6" name="타원형 설명선 245">
            <a:extLst>
              <a:ext uri="{FF2B5EF4-FFF2-40B4-BE49-F238E27FC236}">
                <a16:creationId xmlns:a16="http://schemas.microsoft.com/office/drawing/2014/main" id="{85CEC6C2-65F0-4A29-95DD-53D7692FB632}"/>
              </a:ext>
            </a:extLst>
          </p:cNvPr>
          <p:cNvSpPr/>
          <p:nvPr/>
        </p:nvSpPr>
        <p:spPr>
          <a:xfrm>
            <a:off x="184123" y="1977133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7" name="직사각형 76">
            <a:extLst>
              <a:ext uri="{FF2B5EF4-FFF2-40B4-BE49-F238E27FC236}">
                <a16:creationId xmlns:a16="http://schemas.microsoft.com/office/drawing/2014/main" id="{16A208E1-6E95-454E-99B7-CB04A352A39C}"/>
              </a:ext>
            </a:extLst>
          </p:cNvPr>
          <p:cNvSpPr/>
          <p:nvPr/>
        </p:nvSpPr>
        <p:spPr>
          <a:xfrm>
            <a:off x="7610473" y="1626396"/>
            <a:ext cx="473661" cy="289182"/>
          </a:xfrm>
          <a:prstGeom prst="rect">
            <a:avLst/>
          </a:prstGeom>
          <a:solidFill>
            <a:srgbClr val="0099FF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>
              <a:lnSpc>
                <a:spcPct val="150000"/>
              </a:lnSpc>
            </a:pPr>
            <a:r>
              <a:rPr lang="ko-KR" altLang="en-US" sz="105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조회</a:t>
            </a:r>
          </a:p>
        </p:txBody>
      </p:sp>
      <p:grpSp>
        <p:nvGrpSpPr>
          <p:cNvPr id="81" name="그룹 80">
            <a:extLst>
              <a:ext uri="{FF2B5EF4-FFF2-40B4-BE49-F238E27FC236}">
                <a16:creationId xmlns:a16="http://schemas.microsoft.com/office/drawing/2014/main" id="{E2EA1EA1-1F1A-4960-9EF3-0955FA1C7F9E}"/>
              </a:ext>
            </a:extLst>
          </p:cNvPr>
          <p:cNvGrpSpPr/>
          <p:nvPr/>
        </p:nvGrpSpPr>
        <p:grpSpPr>
          <a:xfrm rot="10800000" flipH="1" flipV="1">
            <a:off x="1271433" y="3502312"/>
            <a:ext cx="3861556" cy="511784"/>
            <a:chOff x="1501760" y="2998490"/>
            <a:chExt cx="2520272" cy="1366614"/>
          </a:xfrm>
          <a:solidFill>
            <a:srgbClr val="FF6600"/>
          </a:solidFill>
        </p:grpSpPr>
        <p:sp>
          <p:nvSpPr>
            <p:cNvPr id="82" name="직사각형 81">
              <a:extLst>
                <a:ext uri="{FF2B5EF4-FFF2-40B4-BE49-F238E27FC236}">
                  <a16:creationId xmlns:a16="http://schemas.microsoft.com/office/drawing/2014/main" id="{9ED04C50-30B8-46D1-A0E0-DC64C74E7A15}"/>
                </a:ext>
              </a:extLst>
            </p:cNvPr>
            <p:cNvSpPr/>
            <p:nvPr/>
          </p:nvSpPr>
          <p:spPr>
            <a:xfrm>
              <a:off x="1501760" y="4217882"/>
              <a:ext cx="72000" cy="147222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83" name="직사각형 82">
              <a:extLst>
                <a:ext uri="{FF2B5EF4-FFF2-40B4-BE49-F238E27FC236}">
                  <a16:creationId xmlns:a16="http://schemas.microsoft.com/office/drawing/2014/main" id="{5D74CD1A-740E-4A72-A133-99DF6C59D140}"/>
                </a:ext>
              </a:extLst>
            </p:cNvPr>
            <p:cNvSpPr/>
            <p:nvPr/>
          </p:nvSpPr>
          <p:spPr>
            <a:xfrm>
              <a:off x="3950032" y="2998490"/>
              <a:ext cx="72000" cy="1366614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84" name="직사각형 83">
              <a:extLst>
                <a:ext uri="{FF2B5EF4-FFF2-40B4-BE49-F238E27FC236}">
                  <a16:creationId xmlns:a16="http://schemas.microsoft.com/office/drawing/2014/main" id="{16FBFF27-8436-4407-9B42-3A66CFE8CD53}"/>
                </a:ext>
              </a:extLst>
            </p:cNvPr>
            <p:cNvSpPr/>
            <p:nvPr/>
          </p:nvSpPr>
          <p:spPr>
            <a:xfrm>
              <a:off x="3638317" y="3069104"/>
              <a:ext cx="72000" cy="1296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85" name="직사각형 84">
              <a:extLst>
                <a:ext uri="{FF2B5EF4-FFF2-40B4-BE49-F238E27FC236}">
                  <a16:creationId xmlns:a16="http://schemas.microsoft.com/office/drawing/2014/main" id="{83B81C13-9D4A-4219-939F-AC6755B57EBF}"/>
                </a:ext>
              </a:extLst>
            </p:cNvPr>
            <p:cNvSpPr/>
            <p:nvPr/>
          </p:nvSpPr>
          <p:spPr>
            <a:xfrm>
              <a:off x="3327361" y="3214514"/>
              <a:ext cx="72000" cy="115059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86" name="직사각형 85">
              <a:extLst>
                <a:ext uri="{FF2B5EF4-FFF2-40B4-BE49-F238E27FC236}">
                  <a16:creationId xmlns:a16="http://schemas.microsoft.com/office/drawing/2014/main" id="{DBEC0ABB-6711-4D24-A388-AC4ADFC47F7F}"/>
                </a:ext>
              </a:extLst>
            </p:cNvPr>
            <p:cNvSpPr/>
            <p:nvPr/>
          </p:nvSpPr>
          <p:spPr>
            <a:xfrm>
              <a:off x="3034940" y="3575613"/>
              <a:ext cx="72000" cy="789491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87" name="직사각형 86">
              <a:extLst>
                <a:ext uri="{FF2B5EF4-FFF2-40B4-BE49-F238E27FC236}">
                  <a16:creationId xmlns:a16="http://schemas.microsoft.com/office/drawing/2014/main" id="{18E55B5F-8AAA-443B-8A5F-6A2C813F6595}"/>
                </a:ext>
              </a:extLst>
            </p:cNvPr>
            <p:cNvSpPr/>
            <p:nvPr/>
          </p:nvSpPr>
          <p:spPr>
            <a:xfrm>
              <a:off x="2732038" y="3681103"/>
              <a:ext cx="72000" cy="684001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88" name="직사각형 87">
              <a:extLst>
                <a:ext uri="{FF2B5EF4-FFF2-40B4-BE49-F238E27FC236}">
                  <a16:creationId xmlns:a16="http://schemas.microsoft.com/office/drawing/2014/main" id="{74210768-ACED-4294-AF3B-28A9D69C0BB5}"/>
                </a:ext>
              </a:extLst>
            </p:cNvPr>
            <p:cNvSpPr/>
            <p:nvPr/>
          </p:nvSpPr>
          <p:spPr>
            <a:xfrm>
              <a:off x="2425257" y="3807103"/>
              <a:ext cx="72000" cy="558001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89" name="직사각형 88">
              <a:extLst>
                <a:ext uri="{FF2B5EF4-FFF2-40B4-BE49-F238E27FC236}">
                  <a16:creationId xmlns:a16="http://schemas.microsoft.com/office/drawing/2014/main" id="{1A025EB8-402B-4559-AE45-FF5D842F95AF}"/>
                </a:ext>
              </a:extLst>
            </p:cNvPr>
            <p:cNvSpPr/>
            <p:nvPr/>
          </p:nvSpPr>
          <p:spPr>
            <a:xfrm>
              <a:off x="2115519" y="3862587"/>
              <a:ext cx="72000" cy="502517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90" name="직사각형 89">
              <a:extLst>
                <a:ext uri="{FF2B5EF4-FFF2-40B4-BE49-F238E27FC236}">
                  <a16:creationId xmlns:a16="http://schemas.microsoft.com/office/drawing/2014/main" id="{6F5AF9B0-B6AD-4C96-A083-E2FEEC61460B}"/>
                </a:ext>
              </a:extLst>
            </p:cNvPr>
            <p:cNvSpPr/>
            <p:nvPr/>
          </p:nvSpPr>
          <p:spPr>
            <a:xfrm>
              <a:off x="1806602" y="4059104"/>
              <a:ext cx="72000" cy="306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3696291907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9104309" y="6645875"/>
            <a:ext cx="140029" cy="138499"/>
          </a:xfrm>
        </p:spPr>
        <p:txBody>
          <a:bodyPr/>
          <a:lstStyle/>
          <a:p>
            <a:pPr>
              <a:defRPr/>
            </a:pPr>
            <a:fld id="{9E41B634-5682-4388-99E7-FE44DCFD254B}" type="slidenum">
              <a:rPr lang="ko-KR" altLang="en-US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>
                <a:defRPr/>
              </a:pPr>
              <a:t>19</a:t>
            </a:fld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텍스트 개체 틀 8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Site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 &gt;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에너지 모니터링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&gt;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피크 전력 현황</a:t>
            </a:r>
          </a:p>
        </p:txBody>
      </p:sp>
      <p:sp>
        <p:nvSpPr>
          <p:cNvPr id="10" name="텍스트 개체 틀 9"/>
          <p:cNvSpPr>
            <a:spLocks noGrp="1"/>
          </p:cNvSpPr>
          <p:nvPr>
            <p:ph type="body" sz="quarter" idx="10"/>
          </p:nvPr>
        </p:nvSpPr>
        <p:spPr>
          <a:xfrm>
            <a:off x="6023595" y="44624"/>
            <a:ext cx="1233661" cy="196974"/>
          </a:xfrm>
        </p:spPr>
        <p:txBody>
          <a:bodyPr/>
          <a:lstStyle/>
          <a:p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피크 전력 현황</a:t>
            </a:r>
          </a:p>
        </p:txBody>
      </p:sp>
      <p:graphicFrame>
        <p:nvGraphicFramePr>
          <p:cNvPr id="102" name="Group 15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02403309"/>
              </p:ext>
            </p:extLst>
          </p:nvPr>
        </p:nvGraphicFramePr>
        <p:xfrm>
          <a:off x="8469313" y="276225"/>
          <a:ext cx="1404000" cy="6429312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3002"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Description</a:t>
                      </a: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6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그래프 표시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1)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피크 전력 그래프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 -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막대 그래프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 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항목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: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피크 전력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 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기간 단위 별 막대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개로 반영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  - Y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축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: </a:t>
                      </a:r>
                      <a:r>
                        <a:rPr kumimoji="1" lang="en-US" altLang="ko-KR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KWh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의 전력량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  - X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축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: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간격 표시 기준은 표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3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참고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2)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직선 그래프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요금적용전력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한전계약전력을 직선 그래프로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7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툴팁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표시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내용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: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날짜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시간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피크 전력량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기간 설정과 상관 없이 그래프 내에서 최고 피크 전력량 위치에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툴팁을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지속적으로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08277552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8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부하 데이터 표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조회된 데이터의 그래프 표시 항목을 표로 표현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특정 개수가 넘어 표가 좌우로 넓어질 경우에는 하단으로 표 확장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브라우저 크기를 조정하여 폭이 좁아질 경우에도 하단으로 표 확장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행 최대 칸수는 표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4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참고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9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표 접기</a:t>
                      </a:r>
                      <a:endParaRPr lang="en-US" altLang="ko-KR" sz="800" b="1" u="non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그래프 하단 표 영역 표시의 </a:t>
                      </a:r>
                      <a:r>
                        <a:rPr lang="ko-KR" altLang="en-US" sz="800" b="0" u="none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토글</a:t>
                      </a: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 버튼</a:t>
                      </a:r>
                      <a:endParaRPr lang="en-US" altLang="ko-KR" sz="800" b="0" u="none" kern="120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05068191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10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데이터 저장하기</a:t>
                      </a:r>
                      <a:endParaRPr lang="en-US" altLang="ko-KR" sz="800" b="1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조회된 데이터를 </a:t>
                      </a: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csv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형태의 파일로 저장한다</a:t>
                      </a: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.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04434396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11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현재 전력 표시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현재 시점의 전력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* </a:t>
                      </a:r>
                      <a:r>
                        <a:rPr kumimoji="1"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기간이 오늘이 아닐 경우에는 기간 內 최고 피크 전력을 표시하고 </a:t>
                      </a:r>
                      <a:r>
                        <a:rPr kumimoji="1"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‘</a:t>
                      </a:r>
                      <a:r>
                        <a:rPr kumimoji="1"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현재 전력</a:t>
                      </a:r>
                      <a:r>
                        <a:rPr kumimoji="1"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’</a:t>
                      </a:r>
                      <a:r>
                        <a:rPr kumimoji="1"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을 </a:t>
                      </a:r>
                      <a:r>
                        <a:rPr kumimoji="1"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‘</a:t>
                      </a:r>
                      <a:r>
                        <a:rPr kumimoji="1"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최고 전력</a:t>
                      </a:r>
                      <a:r>
                        <a:rPr kumimoji="1"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’</a:t>
                      </a:r>
                      <a:r>
                        <a:rPr kumimoji="1"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으로 변경하여 표시</a:t>
                      </a:r>
                      <a:endParaRPr kumimoji="1"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53487849"/>
                  </a:ext>
                </a:extLst>
              </a:tr>
            </a:tbl>
          </a:graphicData>
        </a:graphic>
      </p:graphicFrame>
      <p:sp>
        <p:nvSpPr>
          <p:cNvPr id="78" name="TextBox 77"/>
          <p:cNvSpPr txBox="1"/>
          <p:nvPr/>
        </p:nvSpPr>
        <p:spPr>
          <a:xfrm>
            <a:off x="7121707" y="21349"/>
            <a:ext cx="567597" cy="2308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화면</a:t>
            </a:r>
            <a:r>
              <a:rPr lang="en-US" altLang="ko-KR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ID</a:t>
            </a:r>
            <a:endParaRPr lang="ko-KR" altLang="en-US" sz="9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7689304" y="43659"/>
            <a:ext cx="792088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itchFamily="50" charset="-127"/>
                <a:ea typeface="맑은 고딕" pitchFamily="50" charset="-127"/>
              </a:rPr>
              <a:t>ewpsp_scr_010</a:t>
            </a:r>
            <a:endParaRPr lang="ko-KR" altLang="en-US" sz="700" dirty="0">
              <a:latin typeface="맑은 고딕" pitchFamily="50" charset="-127"/>
              <a:ea typeface="맑은 고딕" pitchFamily="50" charset="-127"/>
            </a:endParaRPr>
          </a:p>
        </p:txBody>
      </p:sp>
      <p:pic>
        <p:nvPicPr>
          <p:cNvPr id="18" name="Picture 3">
            <a:extLst>
              <a:ext uri="{FF2B5EF4-FFF2-40B4-BE49-F238E27FC236}">
                <a16:creationId xmlns:a16="http://schemas.microsoft.com/office/drawing/2014/main" id="{C53B6F9B-B852-44E9-AD26-3C00436EB81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463" y="764704"/>
            <a:ext cx="8208912" cy="4536503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  <a:extLst/>
        </p:spPr>
      </p:pic>
      <p:pic>
        <p:nvPicPr>
          <p:cNvPr id="19" name="Picture 2">
            <a:extLst>
              <a:ext uri="{FF2B5EF4-FFF2-40B4-BE49-F238E27FC236}">
                <a16:creationId xmlns:a16="http://schemas.microsoft.com/office/drawing/2014/main" id="{3CB063FB-9D03-4FB1-BBCE-9542A796525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464" y="762442"/>
            <a:ext cx="8208912" cy="3487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20" name="직선 연결선 19">
            <a:extLst>
              <a:ext uri="{FF2B5EF4-FFF2-40B4-BE49-F238E27FC236}">
                <a16:creationId xmlns:a16="http://schemas.microsoft.com/office/drawing/2014/main" id="{88B3139A-EBA0-4706-BCCE-DF7A54C88773}"/>
              </a:ext>
            </a:extLst>
          </p:cNvPr>
          <p:cNvCxnSpPr>
            <a:cxnSpLocks/>
          </p:cNvCxnSpPr>
          <p:nvPr/>
        </p:nvCxnSpPr>
        <p:spPr>
          <a:xfrm>
            <a:off x="128463" y="1124744"/>
            <a:ext cx="8208912" cy="0"/>
          </a:xfrm>
          <a:prstGeom prst="line">
            <a:avLst/>
          </a:prstGeom>
          <a:ln w="9525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E0C3090A-E8C1-4504-B2A5-A3C508FC8672}"/>
              </a:ext>
            </a:extLst>
          </p:cNvPr>
          <p:cNvSpPr/>
          <p:nvPr/>
        </p:nvSpPr>
        <p:spPr>
          <a:xfrm>
            <a:off x="216315" y="1611103"/>
            <a:ext cx="1820532" cy="288032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10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피크 전력 현황</a:t>
            </a:r>
          </a:p>
        </p:txBody>
      </p:sp>
      <p:graphicFrame>
        <p:nvGraphicFramePr>
          <p:cNvPr id="22" name="표 21">
            <a:extLst>
              <a:ext uri="{FF2B5EF4-FFF2-40B4-BE49-F238E27FC236}">
                <a16:creationId xmlns:a16="http://schemas.microsoft.com/office/drawing/2014/main" id="{5F5B9ACA-8BAB-45A4-943D-628102BF3E86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308467" y="2407802"/>
          <a:ext cx="7812883" cy="186539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7228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6937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6937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6937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6937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6937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46937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469373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469373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46937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46937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46937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46937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469373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469373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469373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</a:tblGrid>
              <a:tr h="18653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/>
                        <a:t>kW</a:t>
                      </a:r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653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2,000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86539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86539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8653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500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8653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450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86539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86539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8653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86539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01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02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03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04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05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06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07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08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09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10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11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12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13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14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15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cxnSp>
        <p:nvCxnSpPr>
          <p:cNvPr id="23" name="직선 연결선 22">
            <a:extLst>
              <a:ext uri="{FF2B5EF4-FFF2-40B4-BE49-F238E27FC236}">
                <a16:creationId xmlns:a16="http://schemas.microsoft.com/office/drawing/2014/main" id="{C2D4B861-7FFF-4AB4-9E13-4DB1C044BA3A}"/>
              </a:ext>
            </a:extLst>
          </p:cNvPr>
          <p:cNvCxnSpPr/>
          <p:nvPr/>
        </p:nvCxnSpPr>
        <p:spPr>
          <a:xfrm>
            <a:off x="7106998" y="2227495"/>
            <a:ext cx="468000" cy="0"/>
          </a:xfrm>
          <a:prstGeom prst="line">
            <a:avLst/>
          </a:prstGeom>
          <a:ln w="19050">
            <a:solidFill>
              <a:srgbClr val="FF66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056DD4C7-E5C4-4075-881D-9342C2C0B4E9}"/>
              </a:ext>
            </a:extLst>
          </p:cNvPr>
          <p:cNvSpPr/>
          <p:nvPr/>
        </p:nvSpPr>
        <p:spPr>
          <a:xfrm>
            <a:off x="120419" y="1928384"/>
            <a:ext cx="1510265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150000"/>
              </a:lnSpc>
            </a:pPr>
            <a:r>
              <a:rPr lang="en-US" altLang="ko-KR" sz="900" b="1" dirty="0">
                <a:solidFill>
                  <a:schemeClr val="bg1">
                    <a:lumMod val="65000"/>
                  </a:schemeClr>
                </a:solidFill>
                <a:latin typeface="맑은 고딕" pitchFamily="50" charset="-127"/>
                <a:ea typeface="맑은 고딕" pitchFamily="50" charset="-127"/>
              </a:rPr>
              <a:t>YYYY-MM-DD hh:mm</a:t>
            </a:r>
            <a:endParaRPr lang="ko-KR" altLang="en-US" sz="900" b="1" dirty="0">
              <a:solidFill>
                <a:schemeClr val="bg1">
                  <a:lumMod val="6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31" name="직선 연결선 30">
            <a:extLst>
              <a:ext uri="{FF2B5EF4-FFF2-40B4-BE49-F238E27FC236}">
                <a16:creationId xmlns:a16="http://schemas.microsoft.com/office/drawing/2014/main" id="{D508FA60-BCD2-4789-9FE0-773CF65B8B90}"/>
              </a:ext>
            </a:extLst>
          </p:cNvPr>
          <p:cNvCxnSpPr>
            <a:cxnSpLocks/>
          </p:cNvCxnSpPr>
          <p:nvPr/>
        </p:nvCxnSpPr>
        <p:spPr>
          <a:xfrm>
            <a:off x="1028548" y="2691223"/>
            <a:ext cx="7092804" cy="0"/>
          </a:xfrm>
          <a:prstGeom prst="line">
            <a:avLst/>
          </a:prstGeom>
          <a:ln/>
        </p:spPr>
        <p:style>
          <a:lnRef idx="1">
            <a:schemeClr val="accent2"/>
          </a:lnRef>
          <a:fillRef idx="0">
            <a:schemeClr val="accent2"/>
          </a:fillRef>
          <a:effectRef idx="0">
            <a:schemeClr val="accent2"/>
          </a:effectRef>
          <a:fontRef idx="minor">
            <a:schemeClr val="tx1"/>
          </a:fontRef>
        </p:style>
      </p:cxnSp>
      <p:cxnSp>
        <p:nvCxnSpPr>
          <p:cNvPr id="32" name="직선 연결선 31">
            <a:extLst>
              <a:ext uri="{FF2B5EF4-FFF2-40B4-BE49-F238E27FC236}">
                <a16:creationId xmlns:a16="http://schemas.microsoft.com/office/drawing/2014/main" id="{1D0A5029-3276-42C6-9447-F6FF3341CCE5}"/>
              </a:ext>
            </a:extLst>
          </p:cNvPr>
          <p:cNvCxnSpPr>
            <a:cxnSpLocks/>
          </p:cNvCxnSpPr>
          <p:nvPr/>
        </p:nvCxnSpPr>
        <p:spPr>
          <a:xfrm>
            <a:off x="1028548" y="3250509"/>
            <a:ext cx="7092804" cy="0"/>
          </a:xfrm>
          <a:prstGeom prst="line">
            <a:avLst/>
          </a:prstGeom>
          <a:ln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2"/>
          </a:lnRef>
          <a:fillRef idx="0">
            <a:schemeClr val="accent2"/>
          </a:fillRef>
          <a:effectRef idx="0">
            <a:schemeClr val="accent2"/>
          </a:effectRef>
          <a:fontRef idx="minor">
            <a:schemeClr val="tx1"/>
          </a:fontRef>
        </p:style>
      </p:cxnSp>
      <p:cxnSp>
        <p:nvCxnSpPr>
          <p:cNvPr id="36" name="직선 연결선 35">
            <a:extLst>
              <a:ext uri="{FF2B5EF4-FFF2-40B4-BE49-F238E27FC236}">
                <a16:creationId xmlns:a16="http://schemas.microsoft.com/office/drawing/2014/main" id="{387AEAE6-D135-41B0-9AA0-7A087D442CF4}"/>
              </a:ext>
            </a:extLst>
          </p:cNvPr>
          <p:cNvCxnSpPr>
            <a:cxnSpLocks/>
          </p:cNvCxnSpPr>
          <p:nvPr/>
        </p:nvCxnSpPr>
        <p:spPr>
          <a:xfrm>
            <a:off x="5166793" y="2407802"/>
            <a:ext cx="0" cy="1822234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0" name="말풍선: 사각형 39">
            <a:extLst>
              <a:ext uri="{FF2B5EF4-FFF2-40B4-BE49-F238E27FC236}">
                <a16:creationId xmlns:a16="http://schemas.microsoft.com/office/drawing/2014/main" id="{5890A3BC-DB2B-4AC4-A2F7-E81C55FD79CE}"/>
              </a:ext>
            </a:extLst>
          </p:cNvPr>
          <p:cNvSpPr/>
          <p:nvPr/>
        </p:nvSpPr>
        <p:spPr>
          <a:xfrm>
            <a:off x="4913333" y="2912067"/>
            <a:ext cx="615731" cy="360039"/>
          </a:xfrm>
          <a:prstGeom prst="wedgeRectCallout">
            <a:avLst>
              <a:gd name="adj1" fmla="val -30620"/>
              <a:gd name="adj2" fmla="val 109426"/>
            </a:avLst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2018.03.05</a:t>
            </a:r>
          </a:p>
          <a:p>
            <a:pPr algn="ctr"/>
            <a:r>
              <a:rPr lang="en-US" altLang="ko-KR" sz="6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03:15:00</a:t>
            </a:r>
          </a:p>
          <a:p>
            <a:pPr algn="ctr"/>
            <a:r>
              <a:rPr lang="en-US" altLang="ko-KR" sz="600" b="1" dirty="0">
                <a:solidFill>
                  <a:srgbClr val="FF0000"/>
                </a:solidFill>
              </a:rPr>
              <a:t>210 kW</a:t>
            </a:r>
            <a:endParaRPr lang="ko-KR" altLang="en-US" sz="600" b="1" dirty="0">
              <a:solidFill>
                <a:srgbClr val="FF0000"/>
              </a:solidFill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F1953316-CF55-4850-B275-3190BDEBE319}"/>
              </a:ext>
            </a:extLst>
          </p:cNvPr>
          <p:cNvSpPr/>
          <p:nvPr/>
        </p:nvSpPr>
        <p:spPr>
          <a:xfrm>
            <a:off x="3512840" y="1623764"/>
            <a:ext cx="1224136" cy="288033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기간 설정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BDB12F6E-F8FA-494E-8425-ADB613B74512}"/>
              </a:ext>
            </a:extLst>
          </p:cNvPr>
          <p:cNvSpPr/>
          <p:nvPr/>
        </p:nvSpPr>
        <p:spPr>
          <a:xfrm>
            <a:off x="4232920" y="1623764"/>
            <a:ext cx="1262753" cy="288033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YYY-MM</a:t>
            </a:r>
            <a:endParaRPr lang="ko-KR" altLang="en-US" sz="90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C97DAAA3-1379-4242-9AD8-914FAC31FFAD}"/>
              </a:ext>
            </a:extLst>
          </p:cNvPr>
          <p:cNvSpPr/>
          <p:nvPr/>
        </p:nvSpPr>
        <p:spPr>
          <a:xfrm>
            <a:off x="5495673" y="1623764"/>
            <a:ext cx="288032" cy="288033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▼</a:t>
            </a: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64363B09-6436-44D5-ADF6-822692724A1A}"/>
              </a:ext>
            </a:extLst>
          </p:cNvPr>
          <p:cNvSpPr/>
          <p:nvPr/>
        </p:nvSpPr>
        <p:spPr>
          <a:xfrm>
            <a:off x="5783705" y="1623764"/>
            <a:ext cx="249415" cy="288033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~</a:t>
            </a:r>
            <a:endParaRPr lang="ko-KR" altLang="en-US" sz="900" b="1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5AFC74EB-9BBF-47A6-8417-8BAAB480D2F6}"/>
              </a:ext>
            </a:extLst>
          </p:cNvPr>
          <p:cNvSpPr/>
          <p:nvPr/>
        </p:nvSpPr>
        <p:spPr>
          <a:xfrm>
            <a:off x="6033120" y="1623764"/>
            <a:ext cx="1262753" cy="288033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YYYY-MM</a:t>
            </a:r>
            <a:endParaRPr lang="ko-KR" altLang="en-US" sz="90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0AD23DBC-7E9F-4C15-8A9F-9C053660C2C9}"/>
              </a:ext>
            </a:extLst>
          </p:cNvPr>
          <p:cNvSpPr/>
          <p:nvPr/>
        </p:nvSpPr>
        <p:spPr>
          <a:xfrm>
            <a:off x="7295873" y="1623764"/>
            <a:ext cx="288032" cy="288033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▼</a:t>
            </a:r>
          </a:p>
        </p:txBody>
      </p:sp>
      <p:pic>
        <p:nvPicPr>
          <p:cNvPr id="47" name="Picture 2" descr="ì¤ì ì ëí ì´ë¯¸ì§ ê²ìê²°ê³¼">
            <a:extLst>
              <a:ext uri="{FF2B5EF4-FFF2-40B4-BE49-F238E27FC236}">
                <a16:creationId xmlns:a16="http://schemas.microsoft.com/office/drawing/2014/main" id="{5561CC1F-7FFC-407E-83D6-9ADCD0443D7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05865" y="844086"/>
            <a:ext cx="198592" cy="19859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8" name="사각형: 둥근 모서리 47">
            <a:extLst>
              <a:ext uri="{FF2B5EF4-FFF2-40B4-BE49-F238E27FC236}">
                <a16:creationId xmlns:a16="http://schemas.microsoft.com/office/drawing/2014/main" id="{98453DFA-937E-4830-9F8D-7C8A36C6F222}"/>
              </a:ext>
            </a:extLst>
          </p:cNvPr>
          <p:cNvSpPr/>
          <p:nvPr/>
        </p:nvSpPr>
        <p:spPr>
          <a:xfrm>
            <a:off x="1239315" y="1691472"/>
            <a:ext cx="1013369" cy="180000"/>
          </a:xfrm>
          <a:prstGeom prst="roundRect">
            <a:avLst/>
          </a:prstGeom>
          <a:solidFill>
            <a:schemeClr val="bg1"/>
          </a:solidFill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ko-KR" altLang="en-US" sz="900" dirty="0">
                <a:solidFill>
                  <a:schemeClr val="tx1"/>
                </a:solidFill>
              </a:rPr>
              <a:t>기간 설정  ▼</a:t>
            </a:r>
          </a:p>
        </p:txBody>
      </p:sp>
      <p:sp>
        <p:nvSpPr>
          <p:cNvPr id="49" name="사각형: 둥근 모서리 48">
            <a:extLst>
              <a:ext uri="{FF2B5EF4-FFF2-40B4-BE49-F238E27FC236}">
                <a16:creationId xmlns:a16="http://schemas.microsoft.com/office/drawing/2014/main" id="{95DB6114-9F42-4030-9384-48482BFA4B52}"/>
              </a:ext>
            </a:extLst>
          </p:cNvPr>
          <p:cNvSpPr/>
          <p:nvPr/>
        </p:nvSpPr>
        <p:spPr>
          <a:xfrm>
            <a:off x="2297791" y="1690627"/>
            <a:ext cx="1013369" cy="180000"/>
          </a:xfrm>
          <a:prstGeom prst="roundRect">
            <a:avLst/>
          </a:prstGeom>
          <a:solidFill>
            <a:schemeClr val="bg1"/>
          </a:solidFill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altLang="ko-KR" sz="900" dirty="0">
                <a:solidFill>
                  <a:schemeClr val="tx1"/>
                </a:solidFill>
              </a:rPr>
              <a:t>15</a:t>
            </a:r>
            <a:r>
              <a:rPr lang="ko-KR" altLang="en-US" sz="900" dirty="0">
                <a:solidFill>
                  <a:schemeClr val="tx1"/>
                </a:solidFill>
              </a:rPr>
              <a:t>분     ▼</a:t>
            </a:r>
          </a:p>
        </p:txBody>
      </p:sp>
      <p:cxnSp>
        <p:nvCxnSpPr>
          <p:cNvPr id="58" name="직선 연결선 57">
            <a:extLst>
              <a:ext uri="{FF2B5EF4-FFF2-40B4-BE49-F238E27FC236}">
                <a16:creationId xmlns:a16="http://schemas.microsoft.com/office/drawing/2014/main" id="{FAC369F9-8FC0-468D-BF8B-244B5D0F4EB0}"/>
              </a:ext>
            </a:extLst>
          </p:cNvPr>
          <p:cNvCxnSpPr>
            <a:cxnSpLocks/>
          </p:cNvCxnSpPr>
          <p:nvPr/>
        </p:nvCxnSpPr>
        <p:spPr>
          <a:xfrm>
            <a:off x="5610749" y="2227495"/>
            <a:ext cx="468000" cy="0"/>
          </a:xfrm>
          <a:prstGeom prst="line">
            <a:avLst/>
          </a:prstGeom>
          <a:ln/>
        </p:spPr>
        <p:style>
          <a:lnRef idx="1">
            <a:schemeClr val="accent2"/>
          </a:lnRef>
          <a:fillRef idx="0">
            <a:schemeClr val="accent2"/>
          </a:fillRef>
          <a:effectRef idx="0">
            <a:schemeClr val="accent2"/>
          </a:effectRef>
          <a:fontRef idx="minor">
            <a:schemeClr val="tx1"/>
          </a:fontRef>
        </p:style>
      </p:cxn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49C8A516-A277-46F7-9650-1BABF6CCF9CE}"/>
              </a:ext>
            </a:extLst>
          </p:cNvPr>
          <p:cNvSpPr/>
          <p:nvPr/>
        </p:nvSpPr>
        <p:spPr>
          <a:xfrm>
            <a:off x="6033224" y="2092462"/>
            <a:ext cx="936000" cy="252028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한전 계약 전력</a:t>
            </a:r>
          </a:p>
        </p:txBody>
      </p:sp>
      <p:cxnSp>
        <p:nvCxnSpPr>
          <p:cNvPr id="61" name="직선 연결선 60">
            <a:extLst>
              <a:ext uri="{FF2B5EF4-FFF2-40B4-BE49-F238E27FC236}">
                <a16:creationId xmlns:a16="http://schemas.microsoft.com/office/drawing/2014/main" id="{4ACD527D-F864-4D1E-A768-DE6E4B78D9A3}"/>
              </a:ext>
            </a:extLst>
          </p:cNvPr>
          <p:cNvCxnSpPr>
            <a:cxnSpLocks/>
          </p:cNvCxnSpPr>
          <p:nvPr/>
        </p:nvCxnSpPr>
        <p:spPr>
          <a:xfrm>
            <a:off x="4160912" y="2227495"/>
            <a:ext cx="468000" cy="0"/>
          </a:xfrm>
          <a:prstGeom prst="line">
            <a:avLst/>
          </a:prstGeom>
          <a:ln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2"/>
          </a:lnRef>
          <a:fillRef idx="0">
            <a:schemeClr val="accent2"/>
          </a:fillRef>
          <a:effectRef idx="0">
            <a:schemeClr val="accent2"/>
          </a:effectRef>
          <a:fontRef idx="minor">
            <a:schemeClr val="tx1"/>
          </a:fontRef>
        </p:style>
      </p:cxn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049C599D-4358-4C4A-8BDA-C0581B76B2E3}"/>
              </a:ext>
            </a:extLst>
          </p:cNvPr>
          <p:cNvSpPr/>
          <p:nvPr/>
        </p:nvSpPr>
        <p:spPr>
          <a:xfrm>
            <a:off x="4611967" y="2092462"/>
            <a:ext cx="936000" cy="252028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요금 적용 전력</a:t>
            </a:r>
          </a:p>
        </p:txBody>
      </p: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F56C53E8-EEA7-4445-A740-940DA921A033}"/>
              </a:ext>
            </a:extLst>
          </p:cNvPr>
          <p:cNvSpPr/>
          <p:nvPr/>
        </p:nvSpPr>
        <p:spPr>
          <a:xfrm>
            <a:off x="7545392" y="2092462"/>
            <a:ext cx="936000" cy="252028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피크 전력</a:t>
            </a:r>
          </a:p>
        </p:txBody>
      </p:sp>
      <p:grpSp>
        <p:nvGrpSpPr>
          <p:cNvPr id="60" name="그룹 59">
            <a:extLst>
              <a:ext uri="{FF2B5EF4-FFF2-40B4-BE49-F238E27FC236}">
                <a16:creationId xmlns:a16="http://schemas.microsoft.com/office/drawing/2014/main" id="{31EB5E68-77B3-4533-9C43-6B6A1CCA2FDA}"/>
              </a:ext>
            </a:extLst>
          </p:cNvPr>
          <p:cNvGrpSpPr/>
          <p:nvPr/>
        </p:nvGrpSpPr>
        <p:grpSpPr>
          <a:xfrm>
            <a:off x="210356" y="1203435"/>
            <a:ext cx="8024876" cy="260092"/>
            <a:chOff x="184526" y="1505937"/>
            <a:chExt cx="8024876" cy="260092"/>
          </a:xfrm>
        </p:grpSpPr>
        <p:sp>
          <p:nvSpPr>
            <p:cNvPr id="66" name="직사각형 65">
              <a:extLst>
                <a:ext uri="{FF2B5EF4-FFF2-40B4-BE49-F238E27FC236}">
                  <a16:creationId xmlns:a16="http://schemas.microsoft.com/office/drawing/2014/main" id="{B81371B7-B937-4619-AC2A-BB350823FDB7}"/>
                </a:ext>
              </a:extLst>
            </p:cNvPr>
            <p:cNvSpPr/>
            <p:nvPr/>
          </p:nvSpPr>
          <p:spPr>
            <a:xfrm>
              <a:off x="5810955" y="1550585"/>
              <a:ext cx="1820532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수익 현황</a:t>
              </a:r>
            </a:p>
          </p:txBody>
        </p:sp>
        <p:sp>
          <p:nvSpPr>
            <p:cNvPr id="67" name="직사각형 66">
              <a:extLst>
                <a:ext uri="{FF2B5EF4-FFF2-40B4-BE49-F238E27FC236}">
                  <a16:creationId xmlns:a16="http://schemas.microsoft.com/office/drawing/2014/main" id="{5C593014-570C-4F3D-9DFF-2AE464BB3129}"/>
                </a:ext>
              </a:extLst>
            </p:cNvPr>
            <p:cNvSpPr/>
            <p:nvPr/>
          </p:nvSpPr>
          <p:spPr>
            <a:xfrm>
              <a:off x="184526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에너지 모니터링</a:t>
              </a:r>
            </a:p>
          </p:txBody>
        </p:sp>
        <p:sp>
          <p:nvSpPr>
            <p:cNvPr id="68" name="직사각형 67">
              <a:extLst>
                <a:ext uri="{FF2B5EF4-FFF2-40B4-BE49-F238E27FC236}">
                  <a16:creationId xmlns:a16="http://schemas.microsoft.com/office/drawing/2014/main" id="{CCE69BE7-DF34-47C3-96F0-FE75C28828DA}"/>
                </a:ext>
              </a:extLst>
            </p:cNvPr>
            <p:cNvSpPr/>
            <p:nvPr/>
          </p:nvSpPr>
          <p:spPr>
            <a:xfrm>
              <a:off x="2191085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장치 모니터링</a:t>
              </a:r>
            </a:p>
          </p:txBody>
        </p:sp>
        <p:sp>
          <p:nvSpPr>
            <p:cNvPr id="69" name="직사각형 68">
              <a:extLst>
                <a:ext uri="{FF2B5EF4-FFF2-40B4-BE49-F238E27FC236}">
                  <a16:creationId xmlns:a16="http://schemas.microsoft.com/office/drawing/2014/main" id="{F8FF1F75-F1EA-4869-83C9-6EB98B746524}"/>
                </a:ext>
              </a:extLst>
            </p:cNvPr>
            <p:cNvSpPr/>
            <p:nvPr/>
          </p:nvSpPr>
          <p:spPr>
            <a:xfrm>
              <a:off x="4197644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상황</a:t>
              </a:r>
              <a:r>
                <a:rPr lang="en-US" altLang="ko-KR" sz="700" dirty="0"/>
                <a:t> </a:t>
              </a:r>
              <a:r>
                <a:rPr lang="ko-KR" altLang="en-US" sz="700" dirty="0"/>
                <a:t>관제</a:t>
              </a:r>
            </a:p>
          </p:txBody>
        </p:sp>
        <p:sp>
          <p:nvSpPr>
            <p:cNvPr id="70" name="직사각형 69">
              <a:extLst>
                <a:ext uri="{FF2B5EF4-FFF2-40B4-BE49-F238E27FC236}">
                  <a16:creationId xmlns:a16="http://schemas.microsoft.com/office/drawing/2014/main" id="{8CF4CC4B-9120-4643-B3D8-C6D3423B8F41}"/>
                </a:ext>
              </a:extLst>
            </p:cNvPr>
            <p:cNvSpPr/>
            <p:nvPr/>
          </p:nvSpPr>
          <p:spPr>
            <a:xfrm>
              <a:off x="6204202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요금</a:t>
              </a:r>
              <a:r>
                <a:rPr lang="en-US" altLang="ko-KR" sz="700" dirty="0"/>
                <a:t>/</a:t>
              </a:r>
              <a:r>
                <a:rPr lang="ko-KR" altLang="en-US" sz="700" dirty="0"/>
                <a:t>수익</a:t>
              </a:r>
            </a:p>
          </p:txBody>
        </p:sp>
      </p:grpSp>
      <p:sp>
        <p:nvSpPr>
          <p:cNvPr id="206" name="타원형 설명선 205"/>
          <p:cNvSpPr/>
          <p:nvPr/>
        </p:nvSpPr>
        <p:spPr>
          <a:xfrm>
            <a:off x="151813" y="4221088"/>
            <a:ext cx="216000" cy="216000"/>
          </a:xfrm>
          <a:prstGeom prst="wedgeEllipseCallout">
            <a:avLst>
              <a:gd name="adj1" fmla="val 74230"/>
              <a:gd name="adj2" fmla="val 21822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/>
              <a:t>10</a:t>
            </a:r>
            <a:endParaRPr lang="ko-KR" altLang="en-US" sz="900" b="1" dirty="0"/>
          </a:p>
        </p:txBody>
      </p:sp>
      <p:sp>
        <p:nvSpPr>
          <p:cNvPr id="246" name="타원형 설명선 245"/>
          <p:cNvSpPr/>
          <p:nvPr/>
        </p:nvSpPr>
        <p:spPr>
          <a:xfrm>
            <a:off x="6298" y="2344490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6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7" name="타원형 설명선 246"/>
          <p:cNvSpPr/>
          <p:nvPr/>
        </p:nvSpPr>
        <p:spPr>
          <a:xfrm>
            <a:off x="4655008" y="2723598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7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8" name="타원형 설명선 247"/>
          <p:cNvSpPr/>
          <p:nvPr/>
        </p:nvSpPr>
        <p:spPr>
          <a:xfrm>
            <a:off x="6810277" y="4221112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9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66" name="타원형 설명선 265"/>
          <p:cNvSpPr/>
          <p:nvPr/>
        </p:nvSpPr>
        <p:spPr>
          <a:xfrm>
            <a:off x="43813" y="4509144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8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434E4F8C-C32F-4D9D-B4D6-56B8DF4D40B6}"/>
              </a:ext>
            </a:extLst>
          </p:cNvPr>
          <p:cNvSpPr/>
          <p:nvPr/>
        </p:nvSpPr>
        <p:spPr>
          <a:xfrm>
            <a:off x="7596731" y="1626396"/>
            <a:ext cx="473661" cy="289182"/>
          </a:xfrm>
          <a:prstGeom prst="rect">
            <a:avLst/>
          </a:prstGeom>
          <a:solidFill>
            <a:srgbClr val="0099FF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>
              <a:lnSpc>
                <a:spcPct val="150000"/>
              </a:lnSpc>
            </a:pPr>
            <a:r>
              <a:rPr lang="ko-KR" altLang="en-US" sz="105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조회</a:t>
            </a:r>
          </a:p>
        </p:txBody>
      </p:sp>
      <p:grpSp>
        <p:nvGrpSpPr>
          <p:cNvPr id="72" name="그룹 71">
            <a:extLst>
              <a:ext uri="{FF2B5EF4-FFF2-40B4-BE49-F238E27FC236}">
                <a16:creationId xmlns:a16="http://schemas.microsoft.com/office/drawing/2014/main" id="{F3EAF87A-862D-46F8-A408-FC21CB81F706}"/>
              </a:ext>
            </a:extLst>
          </p:cNvPr>
          <p:cNvGrpSpPr/>
          <p:nvPr/>
        </p:nvGrpSpPr>
        <p:grpSpPr>
          <a:xfrm>
            <a:off x="326114" y="4365104"/>
            <a:ext cx="862386" cy="211955"/>
            <a:chOff x="4861742" y="3907374"/>
            <a:chExt cx="862386" cy="211955"/>
          </a:xfrm>
        </p:grpSpPr>
        <p:pic>
          <p:nvPicPr>
            <p:cNvPr id="73" name="Picture 6" descr="ìì ë¤ì´ë¡ëì ëí ì´ë¯¸ì§ ê²ìê²°ê³¼">
              <a:extLst>
                <a:ext uri="{FF2B5EF4-FFF2-40B4-BE49-F238E27FC236}">
                  <a16:creationId xmlns:a16="http://schemas.microsoft.com/office/drawing/2014/main" id="{97AE5E31-67A0-472F-AFE3-BCF5A90D3F2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861742" y="3907374"/>
              <a:ext cx="211955" cy="21195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D65C3259-B3CA-4716-B760-9622563D40B2}"/>
                </a:ext>
              </a:extLst>
            </p:cNvPr>
            <p:cNvSpPr txBox="1"/>
            <p:nvPr/>
          </p:nvSpPr>
          <p:spPr>
            <a:xfrm>
              <a:off x="4949189" y="3921018"/>
              <a:ext cx="7749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600" b="1" dirty="0">
                  <a:solidFill>
                    <a:schemeClr val="bg1"/>
                  </a:solidFill>
                </a:rPr>
                <a:t>데이터 저장하기</a:t>
              </a:r>
            </a:p>
          </p:txBody>
        </p:sp>
      </p:grpSp>
      <p:graphicFrame>
        <p:nvGraphicFramePr>
          <p:cNvPr id="75" name="표 74">
            <a:extLst>
              <a:ext uri="{FF2B5EF4-FFF2-40B4-BE49-F238E27FC236}">
                <a16:creationId xmlns:a16="http://schemas.microsoft.com/office/drawing/2014/main" id="{346F75E7-6E48-4BEB-B087-36C86A87841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35005042"/>
              </p:ext>
            </p:extLst>
          </p:nvPr>
        </p:nvGraphicFramePr>
        <p:xfrm>
          <a:off x="308467" y="4657004"/>
          <a:ext cx="7812877" cy="5342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71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4410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4107">
                  <a:extLst>
                    <a:ext uri="{9D8B030D-6E8A-4147-A177-3AD203B41FA5}">
                      <a16:colId xmlns:a16="http://schemas.microsoft.com/office/drawing/2014/main" val="91379356"/>
                    </a:ext>
                  </a:extLst>
                </a:gridCol>
                <a:gridCol w="44410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44107">
                  <a:extLst>
                    <a:ext uri="{9D8B030D-6E8A-4147-A177-3AD203B41FA5}">
                      <a16:colId xmlns:a16="http://schemas.microsoft.com/office/drawing/2014/main" val="3679891012"/>
                    </a:ext>
                  </a:extLst>
                </a:gridCol>
                <a:gridCol w="44410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44107">
                  <a:extLst>
                    <a:ext uri="{9D8B030D-6E8A-4147-A177-3AD203B41FA5}">
                      <a16:colId xmlns:a16="http://schemas.microsoft.com/office/drawing/2014/main" val="2229935987"/>
                    </a:ext>
                  </a:extLst>
                </a:gridCol>
                <a:gridCol w="44410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44107">
                  <a:extLst>
                    <a:ext uri="{9D8B030D-6E8A-4147-A177-3AD203B41FA5}">
                      <a16:colId xmlns:a16="http://schemas.microsoft.com/office/drawing/2014/main" val="4026812072"/>
                    </a:ext>
                  </a:extLst>
                </a:gridCol>
                <a:gridCol w="44410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444107">
                  <a:extLst>
                    <a:ext uri="{9D8B030D-6E8A-4147-A177-3AD203B41FA5}">
                      <a16:colId xmlns:a16="http://schemas.microsoft.com/office/drawing/2014/main" val="1122824508"/>
                    </a:ext>
                  </a:extLst>
                </a:gridCol>
                <a:gridCol w="44410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444107">
                  <a:extLst>
                    <a:ext uri="{9D8B030D-6E8A-4147-A177-3AD203B41FA5}">
                      <a16:colId xmlns:a16="http://schemas.microsoft.com/office/drawing/2014/main" val="1502902784"/>
                    </a:ext>
                  </a:extLst>
                </a:gridCol>
                <a:gridCol w="44410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444107">
                  <a:extLst>
                    <a:ext uri="{9D8B030D-6E8A-4147-A177-3AD203B41FA5}">
                      <a16:colId xmlns:a16="http://schemas.microsoft.com/office/drawing/2014/main" val="354728812"/>
                    </a:ext>
                  </a:extLst>
                </a:gridCol>
                <a:gridCol w="44410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444107">
                  <a:extLst>
                    <a:ext uri="{9D8B030D-6E8A-4147-A177-3AD203B41FA5}">
                      <a16:colId xmlns:a16="http://schemas.microsoft.com/office/drawing/2014/main" val="2990613251"/>
                    </a:ext>
                  </a:extLst>
                </a:gridCol>
              </a:tblGrid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YYYY-MM</a:t>
                      </a:r>
                      <a:endParaRPr lang="en-US" altLang="ko-KR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01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02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03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04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05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06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07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08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09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11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12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13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14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15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합계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3317509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rgbClr val="FF6600"/>
                          </a:solidFill>
                          <a:latin typeface="+mn-lt"/>
                          <a:ea typeface="+mn-ea"/>
                          <a:cs typeface="+mn-cs"/>
                        </a:rPr>
                        <a:t>현재 부하</a:t>
                      </a:r>
                      <a:endParaRPr lang="en-US" altLang="ko-KR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+mn-lt"/>
                          <a:ea typeface="+mn-ea"/>
                          <a:cs typeface="+mn-cs"/>
                        </a:rPr>
                        <a:t>150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+mn-lt"/>
                          <a:ea typeface="+mn-ea"/>
                          <a:cs typeface="+mn-cs"/>
                        </a:rPr>
                        <a:t>10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+mn-lt"/>
                          <a:ea typeface="+mn-ea"/>
                          <a:cs typeface="+mn-cs"/>
                        </a:rPr>
                        <a:t>210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+mn-lt"/>
                          <a:ea typeface="+mn-ea"/>
                          <a:cs typeface="+mn-cs"/>
                        </a:rPr>
                        <a:t>125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+mn-lt"/>
                          <a:ea typeface="+mn-ea"/>
                          <a:cs typeface="+mn-cs"/>
                        </a:rPr>
                        <a:t>50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+mn-lt"/>
                          <a:ea typeface="+mn-ea"/>
                          <a:cs typeface="+mn-cs"/>
                        </a:rPr>
                        <a:t>30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+mn-lt"/>
                          <a:ea typeface="+mn-ea"/>
                          <a:cs typeface="+mn-cs"/>
                        </a:rPr>
                        <a:t>50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+mn-lt"/>
                          <a:ea typeface="+mn-ea"/>
                          <a:cs typeface="+mn-cs"/>
                        </a:rPr>
                        <a:t>125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예측 부하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30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60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90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120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150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180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210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240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270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300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330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360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390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420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80" name="TextBox 79">
            <a:extLst>
              <a:ext uri="{FF2B5EF4-FFF2-40B4-BE49-F238E27FC236}">
                <a16:creationId xmlns:a16="http://schemas.microsoft.com/office/drawing/2014/main" id="{E7DE9EB2-4172-4E6A-930E-198256F97370}"/>
              </a:ext>
            </a:extLst>
          </p:cNvPr>
          <p:cNvSpPr txBox="1"/>
          <p:nvPr/>
        </p:nvSpPr>
        <p:spPr>
          <a:xfrm>
            <a:off x="7116279" y="4365104"/>
            <a:ext cx="972108" cy="215444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square" rtlCol="0" anchor="ctr">
            <a:spAutoFit/>
          </a:bodyPr>
          <a:lstStyle/>
          <a:p>
            <a:pPr algn="ctr"/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표 접기</a:t>
            </a:r>
          </a:p>
        </p:txBody>
      </p:sp>
      <p:grpSp>
        <p:nvGrpSpPr>
          <p:cNvPr id="81" name="그룹 80">
            <a:extLst>
              <a:ext uri="{FF2B5EF4-FFF2-40B4-BE49-F238E27FC236}">
                <a16:creationId xmlns:a16="http://schemas.microsoft.com/office/drawing/2014/main" id="{F60C749D-EA82-413A-BFDB-FB0716230F67}"/>
              </a:ext>
            </a:extLst>
          </p:cNvPr>
          <p:cNvGrpSpPr/>
          <p:nvPr/>
        </p:nvGrpSpPr>
        <p:grpSpPr>
          <a:xfrm rot="10800000" flipH="1" flipV="1">
            <a:off x="1271433" y="3502312"/>
            <a:ext cx="3861556" cy="511784"/>
            <a:chOff x="1501760" y="2998490"/>
            <a:chExt cx="2520272" cy="1366614"/>
          </a:xfrm>
          <a:solidFill>
            <a:srgbClr val="FF6600"/>
          </a:solidFill>
        </p:grpSpPr>
        <p:sp>
          <p:nvSpPr>
            <p:cNvPr id="82" name="직사각형 81">
              <a:extLst>
                <a:ext uri="{FF2B5EF4-FFF2-40B4-BE49-F238E27FC236}">
                  <a16:creationId xmlns:a16="http://schemas.microsoft.com/office/drawing/2014/main" id="{2A4E1530-A64F-4C19-BD4C-B43563C3AADA}"/>
                </a:ext>
              </a:extLst>
            </p:cNvPr>
            <p:cNvSpPr/>
            <p:nvPr/>
          </p:nvSpPr>
          <p:spPr>
            <a:xfrm>
              <a:off x="1501760" y="4217882"/>
              <a:ext cx="72000" cy="147222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83" name="직사각형 82">
              <a:extLst>
                <a:ext uri="{FF2B5EF4-FFF2-40B4-BE49-F238E27FC236}">
                  <a16:creationId xmlns:a16="http://schemas.microsoft.com/office/drawing/2014/main" id="{F23B4B31-ADC8-416B-B966-7E03DD8557C4}"/>
                </a:ext>
              </a:extLst>
            </p:cNvPr>
            <p:cNvSpPr/>
            <p:nvPr/>
          </p:nvSpPr>
          <p:spPr>
            <a:xfrm>
              <a:off x="3950032" y="2998490"/>
              <a:ext cx="72000" cy="1366614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84" name="직사각형 83">
              <a:extLst>
                <a:ext uri="{FF2B5EF4-FFF2-40B4-BE49-F238E27FC236}">
                  <a16:creationId xmlns:a16="http://schemas.microsoft.com/office/drawing/2014/main" id="{1277229C-3BAC-48AF-9041-A10DBE2D11A4}"/>
                </a:ext>
              </a:extLst>
            </p:cNvPr>
            <p:cNvSpPr/>
            <p:nvPr/>
          </p:nvSpPr>
          <p:spPr>
            <a:xfrm>
              <a:off x="3638317" y="3069104"/>
              <a:ext cx="72000" cy="1296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85" name="직사각형 84">
              <a:extLst>
                <a:ext uri="{FF2B5EF4-FFF2-40B4-BE49-F238E27FC236}">
                  <a16:creationId xmlns:a16="http://schemas.microsoft.com/office/drawing/2014/main" id="{564569EE-5D20-4F33-BEC3-665A741B28EC}"/>
                </a:ext>
              </a:extLst>
            </p:cNvPr>
            <p:cNvSpPr/>
            <p:nvPr/>
          </p:nvSpPr>
          <p:spPr>
            <a:xfrm>
              <a:off x="3327361" y="3214514"/>
              <a:ext cx="72000" cy="115059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86" name="직사각형 85">
              <a:extLst>
                <a:ext uri="{FF2B5EF4-FFF2-40B4-BE49-F238E27FC236}">
                  <a16:creationId xmlns:a16="http://schemas.microsoft.com/office/drawing/2014/main" id="{2E10968A-382F-4CE9-A1C5-42947831AB85}"/>
                </a:ext>
              </a:extLst>
            </p:cNvPr>
            <p:cNvSpPr/>
            <p:nvPr/>
          </p:nvSpPr>
          <p:spPr>
            <a:xfrm>
              <a:off x="3034940" y="3575613"/>
              <a:ext cx="72000" cy="789491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87" name="직사각형 86">
              <a:extLst>
                <a:ext uri="{FF2B5EF4-FFF2-40B4-BE49-F238E27FC236}">
                  <a16:creationId xmlns:a16="http://schemas.microsoft.com/office/drawing/2014/main" id="{90A71A39-040F-4FF3-9F95-23237E8BDF17}"/>
                </a:ext>
              </a:extLst>
            </p:cNvPr>
            <p:cNvSpPr/>
            <p:nvPr/>
          </p:nvSpPr>
          <p:spPr>
            <a:xfrm>
              <a:off x="2732038" y="3681103"/>
              <a:ext cx="72000" cy="684001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88" name="직사각형 87">
              <a:extLst>
                <a:ext uri="{FF2B5EF4-FFF2-40B4-BE49-F238E27FC236}">
                  <a16:creationId xmlns:a16="http://schemas.microsoft.com/office/drawing/2014/main" id="{6DCAEB6A-B18B-43FF-B18F-B6EB52017305}"/>
                </a:ext>
              </a:extLst>
            </p:cNvPr>
            <p:cNvSpPr/>
            <p:nvPr/>
          </p:nvSpPr>
          <p:spPr>
            <a:xfrm>
              <a:off x="2425257" y="3807103"/>
              <a:ext cx="72000" cy="558001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89" name="직사각형 88">
              <a:extLst>
                <a:ext uri="{FF2B5EF4-FFF2-40B4-BE49-F238E27FC236}">
                  <a16:creationId xmlns:a16="http://schemas.microsoft.com/office/drawing/2014/main" id="{9A4BA94B-27A6-40F9-9832-F2C679EE81CF}"/>
                </a:ext>
              </a:extLst>
            </p:cNvPr>
            <p:cNvSpPr/>
            <p:nvPr/>
          </p:nvSpPr>
          <p:spPr>
            <a:xfrm>
              <a:off x="2115519" y="3862587"/>
              <a:ext cx="72000" cy="502517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90" name="직사각형 89">
              <a:extLst>
                <a:ext uri="{FF2B5EF4-FFF2-40B4-BE49-F238E27FC236}">
                  <a16:creationId xmlns:a16="http://schemas.microsoft.com/office/drawing/2014/main" id="{D280476A-9D4B-44FA-B293-B7EB7C6B0A6F}"/>
                </a:ext>
              </a:extLst>
            </p:cNvPr>
            <p:cNvSpPr/>
            <p:nvPr/>
          </p:nvSpPr>
          <p:spPr>
            <a:xfrm>
              <a:off x="1806602" y="4059104"/>
              <a:ext cx="72000" cy="306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graphicFrame>
        <p:nvGraphicFramePr>
          <p:cNvPr id="65" name="표 64">
            <a:extLst>
              <a:ext uri="{FF2B5EF4-FFF2-40B4-BE49-F238E27FC236}">
                <a16:creationId xmlns:a16="http://schemas.microsoft.com/office/drawing/2014/main" id="{541D07ED-21CF-46C5-8333-3083250B83B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69636843"/>
              </p:ext>
            </p:extLst>
          </p:nvPr>
        </p:nvGraphicFramePr>
        <p:xfrm>
          <a:off x="151813" y="5473861"/>
          <a:ext cx="3670866" cy="187241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13815">
                  <a:extLst>
                    <a:ext uri="{9D8B030D-6E8A-4147-A177-3AD203B41FA5}">
                      <a16:colId xmlns:a16="http://schemas.microsoft.com/office/drawing/2014/main" val="621667645"/>
                    </a:ext>
                  </a:extLst>
                </a:gridCol>
                <a:gridCol w="834067">
                  <a:extLst>
                    <a:ext uri="{9D8B030D-6E8A-4147-A177-3AD203B41FA5}">
                      <a16:colId xmlns:a16="http://schemas.microsoft.com/office/drawing/2014/main" val="8834736"/>
                    </a:ext>
                  </a:extLst>
                </a:gridCol>
                <a:gridCol w="290373">
                  <a:extLst>
                    <a:ext uri="{9D8B030D-6E8A-4147-A177-3AD203B41FA5}">
                      <a16:colId xmlns:a16="http://schemas.microsoft.com/office/drawing/2014/main" val="1077432929"/>
                    </a:ext>
                  </a:extLst>
                </a:gridCol>
                <a:gridCol w="290373">
                  <a:extLst>
                    <a:ext uri="{9D8B030D-6E8A-4147-A177-3AD203B41FA5}">
                      <a16:colId xmlns:a16="http://schemas.microsoft.com/office/drawing/2014/main" val="2248332737"/>
                    </a:ext>
                  </a:extLst>
                </a:gridCol>
                <a:gridCol w="290373">
                  <a:extLst>
                    <a:ext uri="{9D8B030D-6E8A-4147-A177-3AD203B41FA5}">
                      <a16:colId xmlns:a16="http://schemas.microsoft.com/office/drawing/2014/main" val="701571902"/>
                    </a:ext>
                  </a:extLst>
                </a:gridCol>
                <a:gridCol w="290373">
                  <a:extLst>
                    <a:ext uri="{9D8B030D-6E8A-4147-A177-3AD203B41FA5}">
                      <a16:colId xmlns:a16="http://schemas.microsoft.com/office/drawing/2014/main" val="899356341"/>
                    </a:ext>
                  </a:extLst>
                </a:gridCol>
                <a:gridCol w="290373">
                  <a:extLst>
                    <a:ext uri="{9D8B030D-6E8A-4147-A177-3AD203B41FA5}">
                      <a16:colId xmlns:a16="http://schemas.microsoft.com/office/drawing/2014/main" val="2787753370"/>
                    </a:ext>
                  </a:extLst>
                </a:gridCol>
                <a:gridCol w="290373">
                  <a:extLst>
                    <a:ext uri="{9D8B030D-6E8A-4147-A177-3AD203B41FA5}">
                      <a16:colId xmlns:a16="http://schemas.microsoft.com/office/drawing/2014/main" val="75509663"/>
                    </a:ext>
                  </a:extLst>
                </a:gridCol>
                <a:gridCol w="290373">
                  <a:extLst>
                    <a:ext uri="{9D8B030D-6E8A-4147-A177-3AD203B41FA5}">
                      <a16:colId xmlns:a16="http://schemas.microsoft.com/office/drawing/2014/main" val="2371680936"/>
                    </a:ext>
                  </a:extLst>
                </a:gridCol>
                <a:gridCol w="290373">
                  <a:extLst>
                    <a:ext uri="{9D8B030D-6E8A-4147-A177-3AD203B41FA5}">
                      <a16:colId xmlns:a16="http://schemas.microsoft.com/office/drawing/2014/main" val="1293287838"/>
                    </a:ext>
                  </a:extLst>
                </a:gridCol>
              </a:tblGrid>
              <a:tr h="144032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조회기간</a:t>
                      </a:r>
                      <a:endParaRPr lang="en-US" altLang="ko-KR" sz="7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bg1">
                            <a:lumMod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7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7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7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lang="ko-KR" altLang="en-US" sz="7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7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  <a:r>
                        <a:rPr lang="ko-KR" altLang="en-US" sz="7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7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7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7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7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7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7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7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7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7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7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75581190"/>
                  </a:ext>
                </a:extLst>
              </a:tr>
              <a:tr h="144032"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700" b="0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 간격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실제  데이터 개수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60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1440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10080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43200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525600</a:t>
                      </a:r>
                      <a:endParaRPr lang="ko-KR" altLang="en-US" sz="600" b="0" strike="no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1672409"/>
                  </a:ext>
                </a:extLst>
              </a:tr>
              <a:tr h="144032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700" b="0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하단 캡션 표시 개수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15(</a:t>
                      </a:r>
                      <a:r>
                        <a:rPr lang="ko-KR" altLang="en-US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30(</a:t>
                      </a:r>
                      <a:r>
                        <a:rPr lang="ko-KR" altLang="en-US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60(</a:t>
                      </a:r>
                      <a:r>
                        <a:rPr lang="ko-KR" altLang="en-US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24(</a:t>
                      </a:r>
                      <a:r>
                        <a:rPr lang="ko-KR" altLang="en-US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</a:t>
                      </a: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7(</a:t>
                      </a:r>
                      <a:r>
                        <a:rPr lang="ko-KR" altLang="en-US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30(</a:t>
                      </a:r>
                      <a:r>
                        <a:rPr lang="ko-KR" altLang="en-US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12(</a:t>
                      </a:r>
                      <a:r>
                        <a:rPr lang="ko-KR" altLang="en-US" sz="7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월</a:t>
                      </a:r>
                      <a:r>
                        <a:rPr lang="en-US" altLang="ko-KR" sz="7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R" altLang="en-US" sz="700" b="0" strike="no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07553682"/>
                  </a:ext>
                </a:extLst>
              </a:tr>
              <a:tr h="144032"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lang="ko-KR" altLang="en-US" sz="700" b="0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 간격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실제  데이터 개수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96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672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2880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35040</a:t>
                      </a:r>
                      <a:endParaRPr lang="ko-KR" altLang="en-US" sz="700" b="0" strike="no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29881618"/>
                  </a:ext>
                </a:extLst>
              </a:tr>
              <a:tr h="144032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하단 캡션 표시 개수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30(</a:t>
                      </a:r>
                      <a:r>
                        <a:rPr lang="ko-KR" altLang="en-US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60(</a:t>
                      </a:r>
                      <a:r>
                        <a:rPr lang="ko-KR" altLang="en-US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24(</a:t>
                      </a:r>
                      <a:r>
                        <a:rPr lang="ko-KR" altLang="en-US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</a:t>
                      </a: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7(</a:t>
                      </a:r>
                      <a:r>
                        <a:rPr lang="ko-KR" altLang="en-US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30(</a:t>
                      </a:r>
                      <a:r>
                        <a:rPr lang="ko-KR" altLang="en-US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12(</a:t>
                      </a:r>
                      <a:r>
                        <a:rPr lang="ko-KR" altLang="en-US" sz="7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월</a:t>
                      </a:r>
                      <a:r>
                        <a:rPr lang="en-US" altLang="ko-KR" sz="7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R" altLang="en-US" sz="700" b="0" strike="no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2293162"/>
                  </a:ext>
                </a:extLst>
              </a:tr>
              <a:tr h="144032"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  <a:r>
                        <a:rPr lang="ko-KR" altLang="en-US" sz="700" b="0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 간격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실제  데이터 개수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48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336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1440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17520</a:t>
                      </a:r>
                      <a:endParaRPr lang="ko-KR" altLang="en-US" sz="700" b="0" strike="no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03323599"/>
                  </a:ext>
                </a:extLst>
              </a:tr>
              <a:tr h="144032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하단 캡션 표시 개수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60(</a:t>
                      </a:r>
                      <a:r>
                        <a:rPr lang="ko-KR" altLang="en-US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48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7(</a:t>
                      </a:r>
                      <a:r>
                        <a:rPr lang="ko-KR" altLang="en-US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30(</a:t>
                      </a:r>
                      <a:r>
                        <a:rPr lang="ko-KR" altLang="en-US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12(</a:t>
                      </a:r>
                      <a:r>
                        <a:rPr lang="ko-KR" altLang="en-US" sz="7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월</a:t>
                      </a:r>
                      <a:r>
                        <a:rPr lang="en-US" altLang="ko-KR" sz="7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R" altLang="en-US" sz="700" b="0" strike="no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75022207"/>
                  </a:ext>
                </a:extLst>
              </a:tr>
              <a:tr h="144032"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700" b="0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 간격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실제  데이터 개수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24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168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720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8760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82961310"/>
                  </a:ext>
                </a:extLst>
              </a:tr>
              <a:tr h="144032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하단 캡션 표시 개수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24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7(</a:t>
                      </a:r>
                      <a:r>
                        <a:rPr lang="ko-KR" altLang="en-US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30(</a:t>
                      </a:r>
                      <a:r>
                        <a:rPr lang="ko-KR" altLang="en-US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  <a:r>
                        <a:rPr lang="en-US" altLang="ko-KR" sz="7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7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월</a:t>
                      </a:r>
                      <a:r>
                        <a:rPr lang="en-US" altLang="ko-KR" sz="7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3524359"/>
                  </a:ext>
                </a:extLst>
              </a:tr>
              <a:tr h="144032"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700" b="0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 간격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실제  데이터 개수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365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10281172"/>
                  </a:ext>
                </a:extLst>
              </a:tr>
              <a:tr h="144032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하단 캡션 표시 개수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7(</a:t>
                      </a:r>
                      <a:r>
                        <a:rPr lang="ko-KR" altLang="en-US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30(</a:t>
                      </a:r>
                      <a:r>
                        <a:rPr lang="ko-KR" altLang="en-US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  <a:r>
                        <a:rPr lang="en-US" altLang="ko-KR" sz="7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7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월</a:t>
                      </a:r>
                      <a:r>
                        <a:rPr lang="en-US" altLang="ko-KR" sz="7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75500751"/>
                  </a:ext>
                </a:extLst>
              </a:tr>
              <a:tr h="144032"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700" b="0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월 간격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실제  데이터 개수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24993451"/>
                  </a:ext>
                </a:extLst>
              </a:tr>
              <a:tr h="144032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하단 캡션 표시 개수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  <a:r>
                        <a:rPr lang="en-US" altLang="ko-KR" sz="7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7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월</a:t>
                      </a:r>
                      <a:r>
                        <a:rPr lang="en-US" altLang="ko-KR" sz="7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10841290"/>
                  </a:ext>
                </a:extLst>
              </a:tr>
            </a:tbl>
          </a:graphicData>
        </a:graphic>
      </p:graphicFrame>
      <p:sp>
        <p:nvSpPr>
          <p:cNvPr id="71" name="타원형 설명선 225">
            <a:extLst>
              <a:ext uri="{FF2B5EF4-FFF2-40B4-BE49-F238E27FC236}">
                <a16:creationId xmlns:a16="http://schemas.microsoft.com/office/drawing/2014/main" id="{EC68028D-2393-422D-9A36-A7F620E2CE47}"/>
              </a:ext>
            </a:extLst>
          </p:cNvPr>
          <p:cNvSpPr/>
          <p:nvPr/>
        </p:nvSpPr>
        <p:spPr>
          <a:xfrm>
            <a:off x="-68209" y="5291647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표</a:t>
            </a:r>
            <a:r>
              <a:rPr lang="en-US" altLang="ko-KR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7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91" name="표 90">
            <a:extLst>
              <a:ext uri="{FF2B5EF4-FFF2-40B4-BE49-F238E27FC236}">
                <a16:creationId xmlns:a16="http://schemas.microsoft.com/office/drawing/2014/main" id="{EA1C14B1-19A2-41C8-A78D-4DDD6CEE5E8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74752181"/>
              </p:ext>
            </p:extLst>
          </p:nvPr>
        </p:nvGraphicFramePr>
        <p:xfrm>
          <a:off x="4222115" y="5560449"/>
          <a:ext cx="3342024" cy="124660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22256">
                  <a:extLst>
                    <a:ext uri="{9D8B030D-6E8A-4147-A177-3AD203B41FA5}">
                      <a16:colId xmlns:a16="http://schemas.microsoft.com/office/drawing/2014/main" val="621667645"/>
                    </a:ext>
                  </a:extLst>
                </a:gridCol>
                <a:gridCol w="352471">
                  <a:extLst>
                    <a:ext uri="{9D8B030D-6E8A-4147-A177-3AD203B41FA5}">
                      <a16:colId xmlns:a16="http://schemas.microsoft.com/office/drawing/2014/main" val="1308233075"/>
                    </a:ext>
                  </a:extLst>
                </a:gridCol>
                <a:gridCol w="352471">
                  <a:extLst>
                    <a:ext uri="{9D8B030D-6E8A-4147-A177-3AD203B41FA5}">
                      <a16:colId xmlns:a16="http://schemas.microsoft.com/office/drawing/2014/main" val="2248332737"/>
                    </a:ext>
                  </a:extLst>
                </a:gridCol>
                <a:gridCol w="352471">
                  <a:extLst>
                    <a:ext uri="{9D8B030D-6E8A-4147-A177-3AD203B41FA5}">
                      <a16:colId xmlns:a16="http://schemas.microsoft.com/office/drawing/2014/main" val="2333210567"/>
                    </a:ext>
                  </a:extLst>
                </a:gridCol>
                <a:gridCol w="352471">
                  <a:extLst>
                    <a:ext uri="{9D8B030D-6E8A-4147-A177-3AD203B41FA5}">
                      <a16:colId xmlns:a16="http://schemas.microsoft.com/office/drawing/2014/main" val="899356341"/>
                    </a:ext>
                  </a:extLst>
                </a:gridCol>
                <a:gridCol w="352471">
                  <a:extLst>
                    <a:ext uri="{9D8B030D-6E8A-4147-A177-3AD203B41FA5}">
                      <a16:colId xmlns:a16="http://schemas.microsoft.com/office/drawing/2014/main" val="2787753370"/>
                    </a:ext>
                  </a:extLst>
                </a:gridCol>
                <a:gridCol w="352471">
                  <a:extLst>
                    <a:ext uri="{9D8B030D-6E8A-4147-A177-3AD203B41FA5}">
                      <a16:colId xmlns:a16="http://schemas.microsoft.com/office/drawing/2014/main" val="75509663"/>
                    </a:ext>
                  </a:extLst>
                </a:gridCol>
                <a:gridCol w="352471">
                  <a:extLst>
                    <a:ext uri="{9D8B030D-6E8A-4147-A177-3AD203B41FA5}">
                      <a16:colId xmlns:a16="http://schemas.microsoft.com/office/drawing/2014/main" val="2371680936"/>
                    </a:ext>
                  </a:extLst>
                </a:gridCol>
                <a:gridCol w="352471">
                  <a:extLst>
                    <a:ext uri="{9D8B030D-6E8A-4147-A177-3AD203B41FA5}">
                      <a16:colId xmlns:a16="http://schemas.microsoft.com/office/drawing/2014/main" val="1293287838"/>
                    </a:ext>
                  </a:extLst>
                </a:gridCol>
              </a:tblGrid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조회기간</a:t>
                      </a:r>
                      <a:endParaRPr lang="en-US" altLang="ko-KR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lang="ko-KR" altLang="en-US" sz="8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  <a:r>
                        <a:rPr lang="ko-KR" altLang="en-US" sz="8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75581190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 간격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60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96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96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96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96</a:t>
                      </a:r>
                      <a:endParaRPr lang="ko-KR" altLang="en-US" sz="800" b="0" strike="no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1535181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 간격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96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96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96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96</a:t>
                      </a:r>
                      <a:endParaRPr lang="ko-KR" altLang="en-US" sz="800" b="0" strike="no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29881618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 간격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48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48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48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48</a:t>
                      </a:r>
                      <a:endParaRPr lang="ko-KR" altLang="en-US" sz="800" b="0" strike="no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03323599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 간격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24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24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24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24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82961310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 간격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10281172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월 간격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24993451"/>
                  </a:ext>
                </a:extLst>
              </a:tr>
            </a:tbl>
          </a:graphicData>
        </a:graphic>
      </p:graphicFrame>
      <p:sp>
        <p:nvSpPr>
          <p:cNvPr id="92" name="타원형 설명선 225">
            <a:extLst>
              <a:ext uri="{FF2B5EF4-FFF2-40B4-BE49-F238E27FC236}">
                <a16:creationId xmlns:a16="http://schemas.microsoft.com/office/drawing/2014/main" id="{376570CE-208A-4D58-B0B5-07447BA1CF5B}"/>
              </a:ext>
            </a:extLst>
          </p:cNvPr>
          <p:cNvSpPr/>
          <p:nvPr/>
        </p:nvSpPr>
        <p:spPr>
          <a:xfrm>
            <a:off x="3914396" y="5420475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표</a:t>
            </a:r>
            <a:r>
              <a:rPr lang="en-US" altLang="ko-KR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lang="ko-KR" altLang="en-US" sz="7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605288627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9104309" y="6645875"/>
            <a:ext cx="140029" cy="138499"/>
          </a:xfrm>
        </p:spPr>
        <p:txBody>
          <a:bodyPr/>
          <a:lstStyle/>
          <a:p>
            <a:pPr>
              <a:defRPr/>
            </a:pPr>
            <a:fld id="{9E41B634-5682-4388-99E7-FE44DCFD254B}" type="slidenum">
              <a:rPr lang="ko-KR" altLang="en-US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>
                <a:defRPr/>
              </a:pPr>
              <a:t>20</a:t>
            </a:fld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텍스트 개체 틀 8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Site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 &gt;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에너지 모니터링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&gt;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피크 전력 현황</a:t>
            </a:r>
          </a:p>
        </p:txBody>
      </p:sp>
      <p:sp>
        <p:nvSpPr>
          <p:cNvPr id="10" name="텍스트 개체 틀 9"/>
          <p:cNvSpPr>
            <a:spLocks noGrp="1"/>
          </p:cNvSpPr>
          <p:nvPr>
            <p:ph type="body" sz="quarter" idx="10"/>
          </p:nvPr>
        </p:nvSpPr>
        <p:spPr>
          <a:xfrm>
            <a:off x="6023595" y="44624"/>
            <a:ext cx="1233661" cy="196974"/>
          </a:xfrm>
        </p:spPr>
        <p:txBody>
          <a:bodyPr/>
          <a:lstStyle/>
          <a:p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피크 전력 현황</a:t>
            </a:r>
          </a:p>
        </p:txBody>
      </p:sp>
      <p:graphicFrame>
        <p:nvGraphicFramePr>
          <p:cNvPr id="102" name="Group 15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65692661"/>
              </p:ext>
            </p:extLst>
          </p:nvPr>
        </p:nvGraphicFramePr>
        <p:xfrm>
          <a:off x="8469313" y="276225"/>
          <a:ext cx="1404000" cy="2216640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3002"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Description</a:t>
                      </a: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12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sng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요금적용전력</a:t>
                      </a:r>
                      <a:endParaRPr kumimoji="1" lang="en-US" altLang="ko-KR" sz="800" b="1" i="0" u="none" strike="sng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sng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sng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현재 시간이 요금적용 전력 갱신구간 內에 위치할 경우 다음과 같은 문구를 표시한다</a:t>
                      </a:r>
                      <a:r>
                        <a:rPr kumimoji="1" lang="en-US" altLang="ko-KR" sz="800" b="0" i="0" u="none" strike="sng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.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sng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“</a:t>
                      </a:r>
                      <a:r>
                        <a:rPr kumimoji="1" lang="ko-KR" altLang="en-US" sz="800" b="0" i="0" u="none" strike="sng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지금은 요금적용전력 갱신 구간입니다</a:t>
                      </a:r>
                      <a:r>
                        <a:rPr kumimoji="1" lang="en-US" altLang="ko-KR" sz="800" b="0" i="0" u="none" strike="sng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. (</a:t>
                      </a:r>
                      <a:r>
                        <a:rPr kumimoji="1" lang="ko-KR" altLang="en-US" sz="800" b="0" i="0" u="none" strike="sng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시작시간 </a:t>
                      </a:r>
                      <a:r>
                        <a:rPr kumimoji="1" lang="en-US" altLang="ko-KR" sz="800" b="0" i="0" u="none" strike="sng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~ </a:t>
                      </a:r>
                      <a:r>
                        <a:rPr kumimoji="1" lang="ko-KR" altLang="en-US" sz="800" b="0" i="0" u="none" strike="sng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종료시간</a:t>
                      </a:r>
                      <a:r>
                        <a:rPr kumimoji="1" lang="en-US" altLang="ko-KR" sz="800" b="0" i="0" u="none" strike="sng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)”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sng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sng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현재 시간이 아니라 특정 기간 조회의 경우 해당 표시를 하지 않는다</a:t>
                      </a:r>
                      <a:r>
                        <a:rPr kumimoji="1" lang="en-US" altLang="ko-KR" sz="800" b="0" i="0" u="none" strike="sng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.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sng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* Site Main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에만 요금적용전력 갱신구간을 표시한다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.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8" name="TextBox 77"/>
          <p:cNvSpPr txBox="1"/>
          <p:nvPr/>
        </p:nvSpPr>
        <p:spPr>
          <a:xfrm>
            <a:off x="7121707" y="21349"/>
            <a:ext cx="567597" cy="2308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화면</a:t>
            </a:r>
            <a:r>
              <a:rPr lang="en-US" altLang="ko-KR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ID</a:t>
            </a:r>
            <a:endParaRPr lang="ko-KR" altLang="en-US" sz="9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7689304" y="43659"/>
            <a:ext cx="792088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itchFamily="50" charset="-127"/>
                <a:ea typeface="맑은 고딕" pitchFamily="50" charset="-127"/>
              </a:rPr>
              <a:t>ewpsp_scr_010</a:t>
            </a:r>
            <a:endParaRPr lang="ko-KR" altLang="en-US" sz="700" dirty="0">
              <a:latin typeface="맑은 고딕" pitchFamily="50" charset="-127"/>
              <a:ea typeface="맑은 고딕" pitchFamily="50" charset="-127"/>
            </a:endParaRPr>
          </a:p>
        </p:txBody>
      </p:sp>
      <p:pic>
        <p:nvPicPr>
          <p:cNvPr id="18" name="Picture 3">
            <a:extLst>
              <a:ext uri="{FF2B5EF4-FFF2-40B4-BE49-F238E27FC236}">
                <a16:creationId xmlns:a16="http://schemas.microsoft.com/office/drawing/2014/main" id="{D14E8AEF-8EA8-4944-AE52-FF98A1FB783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463" y="764705"/>
            <a:ext cx="8208912" cy="4456134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  <a:extLst/>
        </p:spPr>
      </p:pic>
      <p:pic>
        <p:nvPicPr>
          <p:cNvPr id="19" name="Picture 2">
            <a:extLst>
              <a:ext uri="{FF2B5EF4-FFF2-40B4-BE49-F238E27FC236}">
                <a16:creationId xmlns:a16="http://schemas.microsoft.com/office/drawing/2014/main" id="{6FBB0165-03FF-4BBD-A158-8DEF923CF53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464" y="762442"/>
            <a:ext cx="8208912" cy="3487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20" name="직선 연결선 19">
            <a:extLst>
              <a:ext uri="{FF2B5EF4-FFF2-40B4-BE49-F238E27FC236}">
                <a16:creationId xmlns:a16="http://schemas.microsoft.com/office/drawing/2014/main" id="{37D07777-30AA-4506-9C18-6F3B4C7D943C}"/>
              </a:ext>
            </a:extLst>
          </p:cNvPr>
          <p:cNvCxnSpPr>
            <a:cxnSpLocks/>
          </p:cNvCxnSpPr>
          <p:nvPr/>
        </p:nvCxnSpPr>
        <p:spPr>
          <a:xfrm>
            <a:off x="128463" y="1124744"/>
            <a:ext cx="8208912" cy="0"/>
          </a:xfrm>
          <a:prstGeom prst="line">
            <a:avLst/>
          </a:prstGeom>
          <a:ln w="9525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5E84417E-CAA5-4FD3-BBB9-7CD5570EF571}"/>
              </a:ext>
            </a:extLst>
          </p:cNvPr>
          <p:cNvSpPr/>
          <p:nvPr/>
        </p:nvSpPr>
        <p:spPr>
          <a:xfrm>
            <a:off x="216315" y="1556792"/>
            <a:ext cx="1820532" cy="288032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10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피크 전력 현황</a:t>
            </a: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180BACBD-4B64-4649-BD7C-E1EE3620FBC6}"/>
              </a:ext>
            </a:extLst>
          </p:cNvPr>
          <p:cNvSpPr/>
          <p:nvPr/>
        </p:nvSpPr>
        <p:spPr>
          <a:xfrm>
            <a:off x="120419" y="1874073"/>
            <a:ext cx="1510265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150000"/>
              </a:lnSpc>
            </a:pPr>
            <a:r>
              <a:rPr lang="en-US" altLang="ko-KR" sz="900" b="1" dirty="0">
                <a:solidFill>
                  <a:schemeClr val="bg1">
                    <a:lumMod val="65000"/>
                  </a:schemeClr>
                </a:solidFill>
                <a:latin typeface="맑은 고딕" pitchFamily="50" charset="-127"/>
                <a:ea typeface="맑은 고딕" pitchFamily="50" charset="-127"/>
              </a:rPr>
              <a:t>YYYY-MM-DD hh:mm</a:t>
            </a:r>
            <a:endParaRPr lang="ko-KR" altLang="en-US" sz="900" b="1" dirty="0">
              <a:solidFill>
                <a:schemeClr val="bg1">
                  <a:lumMod val="6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A27B69D7-2B77-4AF2-A717-2F8B00E5023D}"/>
              </a:ext>
            </a:extLst>
          </p:cNvPr>
          <p:cNvSpPr/>
          <p:nvPr/>
        </p:nvSpPr>
        <p:spPr>
          <a:xfrm>
            <a:off x="3512840" y="1569453"/>
            <a:ext cx="1224136" cy="288033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기간 설정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51E4F555-ACF8-422A-8A4C-263DF5607ED0}"/>
              </a:ext>
            </a:extLst>
          </p:cNvPr>
          <p:cNvSpPr/>
          <p:nvPr/>
        </p:nvSpPr>
        <p:spPr>
          <a:xfrm>
            <a:off x="4232920" y="1569453"/>
            <a:ext cx="1262753" cy="288033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YYY-MM</a:t>
            </a:r>
            <a:endParaRPr lang="ko-KR" altLang="en-US" sz="90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056B85B8-E22D-471D-BF90-7BA59FDE59DA}"/>
              </a:ext>
            </a:extLst>
          </p:cNvPr>
          <p:cNvSpPr/>
          <p:nvPr/>
        </p:nvSpPr>
        <p:spPr>
          <a:xfrm>
            <a:off x="5495673" y="1569453"/>
            <a:ext cx="288032" cy="288033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▼</a:t>
            </a: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5DE85575-6695-43D9-BA78-E72D7749FD5A}"/>
              </a:ext>
            </a:extLst>
          </p:cNvPr>
          <p:cNvSpPr/>
          <p:nvPr/>
        </p:nvSpPr>
        <p:spPr>
          <a:xfrm>
            <a:off x="5783705" y="1569453"/>
            <a:ext cx="249415" cy="288033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~</a:t>
            </a:r>
            <a:endParaRPr lang="ko-KR" altLang="en-US" sz="900" b="1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52DDF82F-9C8F-422F-B328-3979E21AEB5E}"/>
              </a:ext>
            </a:extLst>
          </p:cNvPr>
          <p:cNvSpPr/>
          <p:nvPr/>
        </p:nvSpPr>
        <p:spPr>
          <a:xfrm>
            <a:off x="6033120" y="1569453"/>
            <a:ext cx="1262753" cy="288033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YYYY-MM</a:t>
            </a:r>
            <a:endParaRPr lang="ko-KR" altLang="en-US" sz="90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508668D7-197F-47CF-8003-58499E43E073}"/>
              </a:ext>
            </a:extLst>
          </p:cNvPr>
          <p:cNvSpPr/>
          <p:nvPr/>
        </p:nvSpPr>
        <p:spPr>
          <a:xfrm>
            <a:off x="7295873" y="1569453"/>
            <a:ext cx="288032" cy="288033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▼</a:t>
            </a:r>
          </a:p>
        </p:txBody>
      </p:sp>
      <p:pic>
        <p:nvPicPr>
          <p:cNvPr id="47" name="Picture 2" descr="ì¤ì ì ëí ì´ë¯¸ì§ ê²ìê²°ê³¼">
            <a:extLst>
              <a:ext uri="{FF2B5EF4-FFF2-40B4-BE49-F238E27FC236}">
                <a16:creationId xmlns:a16="http://schemas.microsoft.com/office/drawing/2014/main" id="{90A888AD-844A-4544-B02A-A77BC3397C7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05865" y="844086"/>
            <a:ext cx="198592" cy="19859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8" name="사각형: 둥근 모서리 47">
            <a:extLst>
              <a:ext uri="{FF2B5EF4-FFF2-40B4-BE49-F238E27FC236}">
                <a16:creationId xmlns:a16="http://schemas.microsoft.com/office/drawing/2014/main" id="{119FCE8B-C633-47C3-A0BD-44AD20643BCC}"/>
              </a:ext>
            </a:extLst>
          </p:cNvPr>
          <p:cNvSpPr/>
          <p:nvPr/>
        </p:nvSpPr>
        <p:spPr>
          <a:xfrm>
            <a:off x="1239315" y="1637161"/>
            <a:ext cx="1013369" cy="180000"/>
          </a:xfrm>
          <a:prstGeom prst="roundRect">
            <a:avLst/>
          </a:prstGeom>
          <a:solidFill>
            <a:schemeClr val="bg1"/>
          </a:solidFill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ko-KR" altLang="en-US" sz="900" dirty="0">
                <a:solidFill>
                  <a:schemeClr val="tx1"/>
                </a:solidFill>
              </a:rPr>
              <a:t>기간 설정  ▼</a:t>
            </a:r>
          </a:p>
        </p:txBody>
      </p:sp>
      <p:sp>
        <p:nvSpPr>
          <p:cNvPr id="49" name="사각형: 둥근 모서리 48">
            <a:extLst>
              <a:ext uri="{FF2B5EF4-FFF2-40B4-BE49-F238E27FC236}">
                <a16:creationId xmlns:a16="http://schemas.microsoft.com/office/drawing/2014/main" id="{948F9D44-B814-4AF5-882E-A35193F2E22A}"/>
              </a:ext>
            </a:extLst>
          </p:cNvPr>
          <p:cNvSpPr/>
          <p:nvPr/>
        </p:nvSpPr>
        <p:spPr>
          <a:xfrm>
            <a:off x="2297791" y="1636316"/>
            <a:ext cx="1013369" cy="180000"/>
          </a:xfrm>
          <a:prstGeom prst="roundRect">
            <a:avLst/>
          </a:prstGeom>
          <a:solidFill>
            <a:schemeClr val="bg1"/>
          </a:solidFill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altLang="ko-KR" sz="900" dirty="0">
                <a:solidFill>
                  <a:schemeClr val="tx1"/>
                </a:solidFill>
              </a:rPr>
              <a:t>15</a:t>
            </a:r>
            <a:r>
              <a:rPr lang="ko-KR" altLang="en-US" sz="900" dirty="0">
                <a:solidFill>
                  <a:schemeClr val="tx1"/>
                </a:solidFill>
              </a:rPr>
              <a:t>분     ▼</a:t>
            </a:r>
          </a:p>
        </p:txBody>
      </p:sp>
      <p:graphicFrame>
        <p:nvGraphicFramePr>
          <p:cNvPr id="40" name="표 39">
            <a:extLst>
              <a:ext uri="{FF2B5EF4-FFF2-40B4-BE49-F238E27FC236}">
                <a16:creationId xmlns:a16="http://schemas.microsoft.com/office/drawing/2014/main" id="{D414077D-420F-4382-81AA-4739B9E9BA7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584223"/>
              </p:ext>
            </p:extLst>
          </p:nvPr>
        </p:nvGraphicFramePr>
        <p:xfrm>
          <a:off x="308467" y="2353491"/>
          <a:ext cx="7812883" cy="186539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7228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6937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6937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6937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6937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6937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46937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469373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469373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46937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46937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46937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46937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469373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469373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469373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</a:tblGrid>
              <a:tr h="18653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/>
                        <a:t>kW</a:t>
                      </a:r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653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2,000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86539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86539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8653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500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8653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450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86539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86539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8653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86539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01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02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03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04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05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06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07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08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09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10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11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12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13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14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15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cxnSp>
        <p:nvCxnSpPr>
          <p:cNvPr id="52" name="직선 연결선 51">
            <a:extLst>
              <a:ext uri="{FF2B5EF4-FFF2-40B4-BE49-F238E27FC236}">
                <a16:creationId xmlns:a16="http://schemas.microsoft.com/office/drawing/2014/main" id="{A573A36C-7C15-404A-B5F3-68BC2E063808}"/>
              </a:ext>
            </a:extLst>
          </p:cNvPr>
          <p:cNvCxnSpPr/>
          <p:nvPr/>
        </p:nvCxnSpPr>
        <p:spPr>
          <a:xfrm>
            <a:off x="7106998" y="2173184"/>
            <a:ext cx="468000" cy="0"/>
          </a:xfrm>
          <a:prstGeom prst="line">
            <a:avLst/>
          </a:prstGeom>
          <a:ln w="19050">
            <a:solidFill>
              <a:srgbClr val="FF66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8" name="직선 연결선 57">
            <a:extLst>
              <a:ext uri="{FF2B5EF4-FFF2-40B4-BE49-F238E27FC236}">
                <a16:creationId xmlns:a16="http://schemas.microsoft.com/office/drawing/2014/main" id="{95086C6C-3EB5-4ADD-B377-FC8695890289}"/>
              </a:ext>
            </a:extLst>
          </p:cNvPr>
          <p:cNvCxnSpPr>
            <a:cxnSpLocks/>
          </p:cNvCxnSpPr>
          <p:nvPr/>
        </p:nvCxnSpPr>
        <p:spPr>
          <a:xfrm>
            <a:off x="1028548" y="2636912"/>
            <a:ext cx="7092804" cy="0"/>
          </a:xfrm>
          <a:prstGeom prst="line">
            <a:avLst/>
          </a:prstGeom>
          <a:ln/>
        </p:spPr>
        <p:style>
          <a:lnRef idx="1">
            <a:schemeClr val="accent2"/>
          </a:lnRef>
          <a:fillRef idx="0">
            <a:schemeClr val="accent2"/>
          </a:fillRef>
          <a:effectRef idx="0">
            <a:schemeClr val="accent2"/>
          </a:effectRef>
          <a:fontRef idx="minor">
            <a:schemeClr val="tx1"/>
          </a:fontRef>
        </p:style>
      </p:cxnSp>
      <p:cxnSp>
        <p:nvCxnSpPr>
          <p:cNvPr id="59" name="직선 연결선 58">
            <a:extLst>
              <a:ext uri="{FF2B5EF4-FFF2-40B4-BE49-F238E27FC236}">
                <a16:creationId xmlns:a16="http://schemas.microsoft.com/office/drawing/2014/main" id="{F38C1271-E846-4822-847E-538D40435536}"/>
              </a:ext>
            </a:extLst>
          </p:cNvPr>
          <p:cNvCxnSpPr>
            <a:cxnSpLocks/>
          </p:cNvCxnSpPr>
          <p:nvPr/>
        </p:nvCxnSpPr>
        <p:spPr>
          <a:xfrm>
            <a:off x="1028548" y="3196198"/>
            <a:ext cx="7092804" cy="0"/>
          </a:xfrm>
          <a:prstGeom prst="line">
            <a:avLst/>
          </a:prstGeom>
          <a:ln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2"/>
          </a:lnRef>
          <a:fillRef idx="0">
            <a:schemeClr val="accent2"/>
          </a:fillRef>
          <a:effectRef idx="0">
            <a:schemeClr val="accent2"/>
          </a:effectRef>
          <a:fontRef idx="minor">
            <a:schemeClr val="tx1"/>
          </a:fontRef>
        </p:style>
      </p:cxnSp>
      <p:cxnSp>
        <p:nvCxnSpPr>
          <p:cNvPr id="61" name="직선 연결선 60">
            <a:extLst>
              <a:ext uri="{FF2B5EF4-FFF2-40B4-BE49-F238E27FC236}">
                <a16:creationId xmlns:a16="http://schemas.microsoft.com/office/drawing/2014/main" id="{1FA7DCD4-E666-44B3-ADE9-9BC63E7FC392}"/>
              </a:ext>
            </a:extLst>
          </p:cNvPr>
          <p:cNvCxnSpPr>
            <a:cxnSpLocks/>
          </p:cNvCxnSpPr>
          <p:nvPr/>
        </p:nvCxnSpPr>
        <p:spPr>
          <a:xfrm>
            <a:off x="5166793" y="2353491"/>
            <a:ext cx="0" cy="1822234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6" name="말풍선: 사각형 65">
            <a:extLst>
              <a:ext uri="{FF2B5EF4-FFF2-40B4-BE49-F238E27FC236}">
                <a16:creationId xmlns:a16="http://schemas.microsoft.com/office/drawing/2014/main" id="{D1373ABA-0410-4ABF-B770-0235EAA0013F}"/>
              </a:ext>
            </a:extLst>
          </p:cNvPr>
          <p:cNvSpPr/>
          <p:nvPr/>
        </p:nvSpPr>
        <p:spPr>
          <a:xfrm>
            <a:off x="4920254" y="2917631"/>
            <a:ext cx="615731" cy="360039"/>
          </a:xfrm>
          <a:prstGeom prst="wedgeRectCallout">
            <a:avLst>
              <a:gd name="adj1" fmla="val -30620"/>
              <a:gd name="adj2" fmla="val 109426"/>
            </a:avLst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2018.03.05</a:t>
            </a:r>
          </a:p>
          <a:p>
            <a:pPr algn="ctr"/>
            <a:r>
              <a:rPr lang="en-US" altLang="ko-KR" sz="6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03:15:00</a:t>
            </a:r>
          </a:p>
          <a:p>
            <a:pPr algn="ctr"/>
            <a:r>
              <a:rPr lang="en-US" altLang="ko-KR" sz="600" b="1" dirty="0">
                <a:solidFill>
                  <a:srgbClr val="FF0000"/>
                </a:solidFill>
              </a:rPr>
              <a:t>210 kW</a:t>
            </a:r>
            <a:endParaRPr lang="ko-KR" altLang="en-US" sz="600" b="1" dirty="0">
              <a:solidFill>
                <a:srgbClr val="FF0000"/>
              </a:solidFill>
            </a:endParaRPr>
          </a:p>
        </p:txBody>
      </p: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1FEC896B-88E4-4C63-A9FA-500814C26877}"/>
              </a:ext>
            </a:extLst>
          </p:cNvPr>
          <p:cNvCxnSpPr>
            <a:cxnSpLocks/>
          </p:cNvCxnSpPr>
          <p:nvPr/>
        </p:nvCxnSpPr>
        <p:spPr>
          <a:xfrm>
            <a:off x="5610749" y="2173184"/>
            <a:ext cx="468000" cy="0"/>
          </a:xfrm>
          <a:prstGeom prst="line">
            <a:avLst/>
          </a:prstGeom>
          <a:ln/>
        </p:spPr>
        <p:style>
          <a:lnRef idx="1">
            <a:schemeClr val="accent2"/>
          </a:lnRef>
          <a:fillRef idx="0">
            <a:schemeClr val="accent2"/>
          </a:fillRef>
          <a:effectRef idx="0">
            <a:schemeClr val="accent2"/>
          </a:effectRef>
          <a:fontRef idx="minor">
            <a:schemeClr val="tx1"/>
          </a:fontRef>
        </p:style>
      </p:cxnSp>
      <p:sp>
        <p:nvSpPr>
          <p:cNvPr id="70" name="직사각형 69">
            <a:extLst>
              <a:ext uri="{FF2B5EF4-FFF2-40B4-BE49-F238E27FC236}">
                <a16:creationId xmlns:a16="http://schemas.microsoft.com/office/drawing/2014/main" id="{A13511D5-5D9C-429B-905F-C138B97AB74E}"/>
              </a:ext>
            </a:extLst>
          </p:cNvPr>
          <p:cNvSpPr/>
          <p:nvPr/>
        </p:nvSpPr>
        <p:spPr>
          <a:xfrm>
            <a:off x="6033224" y="2038151"/>
            <a:ext cx="936000" cy="252028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한전 계약 전력</a:t>
            </a:r>
          </a:p>
        </p:txBody>
      </p:sp>
      <p:cxnSp>
        <p:nvCxnSpPr>
          <p:cNvPr id="71" name="직선 연결선 70">
            <a:extLst>
              <a:ext uri="{FF2B5EF4-FFF2-40B4-BE49-F238E27FC236}">
                <a16:creationId xmlns:a16="http://schemas.microsoft.com/office/drawing/2014/main" id="{1B33EB40-7049-44A2-85E4-295D73129D06}"/>
              </a:ext>
            </a:extLst>
          </p:cNvPr>
          <p:cNvCxnSpPr>
            <a:cxnSpLocks/>
          </p:cNvCxnSpPr>
          <p:nvPr/>
        </p:nvCxnSpPr>
        <p:spPr>
          <a:xfrm>
            <a:off x="4160912" y="2173184"/>
            <a:ext cx="468000" cy="0"/>
          </a:xfrm>
          <a:prstGeom prst="line">
            <a:avLst/>
          </a:prstGeom>
          <a:ln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2"/>
          </a:lnRef>
          <a:fillRef idx="0">
            <a:schemeClr val="accent2"/>
          </a:fillRef>
          <a:effectRef idx="0">
            <a:schemeClr val="accent2"/>
          </a:effectRef>
          <a:fontRef idx="minor">
            <a:schemeClr val="tx1"/>
          </a:fontRef>
        </p:style>
      </p:cxn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1DAB4E5F-DEC8-43F4-8CE5-22593B85D9BB}"/>
              </a:ext>
            </a:extLst>
          </p:cNvPr>
          <p:cNvSpPr/>
          <p:nvPr/>
        </p:nvSpPr>
        <p:spPr>
          <a:xfrm>
            <a:off x="4611967" y="2038151"/>
            <a:ext cx="936000" cy="252028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요금 적용 전력</a:t>
            </a: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9A8DAC06-1585-4001-85B4-B2A9949048F2}"/>
              </a:ext>
            </a:extLst>
          </p:cNvPr>
          <p:cNvSpPr/>
          <p:nvPr/>
        </p:nvSpPr>
        <p:spPr>
          <a:xfrm>
            <a:off x="7545392" y="2038151"/>
            <a:ext cx="936000" cy="252028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피크 전력</a:t>
            </a:r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5647C3F8-49B1-40A9-AB5C-4DF9C1D7D83F}"/>
              </a:ext>
            </a:extLst>
          </p:cNvPr>
          <p:cNvSpPr txBox="1"/>
          <p:nvPr/>
        </p:nvSpPr>
        <p:spPr>
          <a:xfrm>
            <a:off x="1367065" y="2675906"/>
            <a:ext cx="3888189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1100" b="1" dirty="0">
                <a:solidFill>
                  <a:schemeClr val="bg1"/>
                </a:solidFill>
              </a:rPr>
              <a:t>지금은 </a:t>
            </a:r>
            <a:r>
              <a:rPr lang="ko-KR" altLang="en-US" sz="1200" b="1" dirty="0">
                <a:solidFill>
                  <a:srgbClr val="FF0000"/>
                </a:solidFill>
              </a:rPr>
              <a:t>요금적용전력</a:t>
            </a:r>
            <a:r>
              <a:rPr lang="ko-KR" altLang="en-US" sz="1100" b="1" dirty="0">
                <a:solidFill>
                  <a:schemeClr val="bg1"/>
                </a:solidFill>
              </a:rPr>
              <a:t> 갱신구간 입니다</a:t>
            </a:r>
            <a:r>
              <a:rPr lang="en-US" altLang="ko-KR" sz="1100" b="1" dirty="0">
                <a:solidFill>
                  <a:schemeClr val="bg1"/>
                </a:solidFill>
              </a:rPr>
              <a:t>. (08:00 ~ 12:00)</a:t>
            </a:r>
            <a:endParaRPr lang="ko-KR" altLang="en-US" sz="1100" b="1" dirty="0">
              <a:solidFill>
                <a:schemeClr val="bg1"/>
              </a:solidFill>
            </a:endParaRPr>
          </a:p>
        </p:txBody>
      </p:sp>
      <p:grpSp>
        <p:nvGrpSpPr>
          <p:cNvPr id="87" name="그룹 86">
            <a:extLst>
              <a:ext uri="{FF2B5EF4-FFF2-40B4-BE49-F238E27FC236}">
                <a16:creationId xmlns:a16="http://schemas.microsoft.com/office/drawing/2014/main" id="{93376086-4485-4099-8796-1DE1E0769DB8}"/>
              </a:ext>
            </a:extLst>
          </p:cNvPr>
          <p:cNvGrpSpPr/>
          <p:nvPr/>
        </p:nvGrpSpPr>
        <p:grpSpPr>
          <a:xfrm>
            <a:off x="210356" y="1203435"/>
            <a:ext cx="8024876" cy="260092"/>
            <a:chOff x="184526" y="1505937"/>
            <a:chExt cx="8024876" cy="260092"/>
          </a:xfrm>
        </p:grpSpPr>
        <p:sp>
          <p:nvSpPr>
            <p:cNvPr id="88" name="직사각형 87">
              <a:extLst>
                <a:ext uri="{FF2B5EF4-FFF2-40B4-BE49-F238E27FC236}">
                  <a16:creationId xmlns:a16="http://schemas.microsoft.com/office/drawing/2014/main" id="{D8823D20-71BA-460C-8AE2-C16FA5DE2376}"/>
                </a:ext>
              </a:extLst>
            </p:cNvPr>
            <p:cNvSpPr/>
            <p:nvPr/>
          </p:nvSpPr>
          <p:spPr>
            <a:xfrm>
              <a:off x="5810955" y="1550585"/>
              <a:ext cx="1820532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수익 현황</a:t>
              </a:r>
            </a:p>
          </p:txBody>
        </p:sp>
        <p:sp>
          <p:nvSpPr>
            <p:cNvPr id="89" name="직사각형 88">
              <a:extLst>
                <a:ext uri="{FF2B5EF4-FFF2-40B4-BE49-F238E27FC236}">
                  <a16:creationId xmlns:a16="http://schemas.microsoft.com/office/drawing/2014/main" id="{03F4F319-13E2-48A1-9794-A4AC5040CFDB}"/>
                </a:ext>
              </a:extLst>
            </p:cNvPr>
            <p:cNvSpPr/>
            <p:nvPr/>
          </p:nvSpPr>
          <p:spPr>
            <a:xfrm>
              <a:off x="184526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에너지 모니터링</a:t>
              </a:r>
            </a:p>
          </p:txBody>
        </p:sp>
        <p:sp>
          <p:nvSpPr>
            <p:cNvPr id="90" name="직사각형 89">
              <a:extLst>
                <a:ext uri="{FF2B5EF4-FFF2-40B4-BE49-F238E27FC236}">
                  <a16:creationId xmlns:a16="http://schemas.microsoft.com/office/drawing/2014/main" id="{06355E48-5008-4B0C-A94D-FCDC6B7073C0}"/>
                </a:ext>
              </a:extLst>
            </p:cNvPr>
            <p:cNvSpPr/>
            <p:nvPr/>
          </p:nvSpPr>
          <p:spPr>
            <a:xfrm>
              <a:off x="2191085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장치 모니터링</a:t>
              </a:r>
            </a:p>
          </p:txBody>
        </p:sp>
        <p:sp>
          <p:nvSpPr>
            <p:cNvPr id="91" name="직사각형 90">
              <a:extLst>
                <a:ext uri="{FF2B5EF4-FFF2-40B4-BE49-F238E27FC236}">
                  <a16:creationId xmlns:a16="http://schemas.microsoft.com/office/drawing/2014/main" id="{CFC65248-9BFE-4A11-B5D9-33741EDF1DBF}"/>
                </a:ext>
              </a:extLst>
            </p:cNvPr>
            <p:cNvSpPr/>
            <p:nvPr/>
          </p:nvSpPr>
          <p:spPr>
            <a:xfrm>
              <a:off x="4197644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상황</a:t>
              </a:r>
              <a:r>
                <a:rPr lang="en-US" altLang="ko-KR" sz="700" dirty="0"/>
                <a:t> </a:t>
              </a:r>
              <a:r>
                <a:rPr lang="ko-KR" altLang="en-US" sz="700" dirty="0"/>
                <a:t>관제</a:t>
              </a:r>
            </a:p>
          </p:txBody>
        </p:sp>
        <p:sp>
          <p:nvSpPr>
            <p:cNvPr id="92" name="직사각형 91">
              <a:extLst>
                <a:ext uri="{FF2B5EF4-FFF2-40B4-BE49-F238E27FC236}">
                  <a16:creationId xmlns:a16="http://schemas.microsoft.com/office/drawing/2014/main" id="{3DD86F47-3ACC-4A15-A9FB-FBC3D340F134}"/>
                </a:ext>
              </a:extLst>
            </p:cNvPr>
            <p:cNvSpPr/>
            <p:nvPr/>
          </p:nvSpPr>
          <p:spPr>
            <a:xfrm>
              <a:off x="6204202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요금</a:t>
              </a:r>
              <a:r>
                <a:rPr lang="en-US" altLang="ko-KR" sz="700" dirty="0"/>
                <a:t>/</a:t>
              </a:r>
              <a:r>
                <a:rPr lang="ko-KR" altLang="en-US" sz="700" dirty="0"/>
                <a:t>수익</a:t>
              </a:r>
            </a:p>
          </p:txBody>
        </p:sp>
      </p:grpSp>
      <p:sp>
        <p:nvSpPr>
          <p:cNvPr id="226" name="타원형 설명선 225"/>
          <p:cNvSpPr/>
          <p:nvPr/>
        </p:nvSpPr>
        <p:spPr>
          <a:xfrm>
            <a:off x="1222498" y="2552995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12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1" name="직사각형 80">
            <a:extLst>
              <a:ext uri="{FF2B5EF4-FFF2-40B4-BE49-F238E27FC236}">
                <a16:creationId xmlns:a16="http://schemas.microsoft.com/office/drawing/2014/main" id="{1671465E-C2E3-47DE-85EE-61D53DEA2B6C}"/>
              </a:ext>
            </a:extLst>
          </p:cNvPr>
          <p:cNvSpPr/>
          <p:nvPr/>
        </p:nvSpPr>
        <p:spPr>
          <a:xfrm>
            <a:off x="1568624" y="2675790"/>
            <a:ext cx="3489773" cy="307651"/>
          </a:xfrm>
          <a:prstGeom prst="rect">
            <a:avLst/>
          </a:prstGeom>
          <a:noFill/>
          <a:ln w="12700">
            <a:solidFill>
              <a:srgbClr val="FF000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199C4029-7959-4D4E-B10E-518954856166}"/>
              </a:ext>
            </a:extLst>
          </p:cNvPr>
          <p:cNvSpPr/>
          <p:nvPr/>
        </p:nvSpPr>
        <p:spPr>
          <a:xfrm>
            <a:off x="7608261" y="1569453"/>
            <a:ext cx="473661" cy="289182"/>
          </a:xfrm>
          <a:prstGeom prst="rect">
            <a:avLst/>
          </a:prstGeom>
          <a:solidFill>
            <a:srgbClr val="0099FF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>
              <a:lnSpc>
                <a:spcPct val="150000"/>
              </a:lnSpc>
            </a:pPr>
            <a:r>
              <a:rPr lang="ko-KR" altLang="en-US" sz="105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조회</a:t>
            </a:r>
          </a:p>
        </p:txBody>
      </p:sp>
      <p:grpSp>
        <p:nvGrpSpPr>
          <p:cNvPr id="76" name="그룹 75">
            <a:extLst>
              <a:ext uri="{FF2B5EF4-FFF2-40B4-BE49-F238E27FC236}">
                <a16:creationId xmlns:a16="http://schemas.microsoft.com/office/drawing/2014/main" id="{7CF0BAEF-75CA-4A6E-9086-4CCEC12FF3E6}"/>
              </a:ext>
            </a:extLst>
          </p:cNvPr>
          <p:cNvGrpSpPr/>
          <p:nvPr/>
        </p:nvGrpSpPr>
        <p:grpSpPr>
          <a:xfrm>
            <a:off x="326114" y="4293096"/>
            <a:ext cx="862386" cy="211955"/>
            <a:chOff x="4861742" y="3907374"/>
            <a:chExt cx="862386" cy="211955"/>
          </a:xfrm>
        </p:grpSpPr>
        <p:pic>
          <p:nvPicPr>
            <p:cNvPr id="77" name="Picture 6" descr="ìì ë¤ì´ë¡ëì ëí ì´ë¯¸ì§ ê²ìê²°ê³¼">
              <a:extLst>
                <a:ext uri="{FF2B5EF4-FFF2-40B4-BE49-F238E27FC236}">
                  <a16:creationId xmlns:a16="http://schemas.microsoft.com/office/drawing/2014/main" id="{E2D255DB-D2FF-4586-870E-5A5A1533456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861742" y="3907374"/>
              <a:ext cx="211955" cy="21195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82" name="TextBox 81">
              <a:extLst>
                <a:ext uri="{FF2B5EF4-FFF2-40B4-BE49-F238E27FC236}">
                  <a16:creationId xmlns:a16="http://schemas.microsoft.com/office/drawing/2014/main" id="{EA9F0AB9-1E23-4BE5-A691-D23509E87BC4}"/>
                </a:ext>
              </a:extLst>
            </p:cNvPr>
            <p:cNvSpPr txBox="1"/>
            <p:nvPr/>
          </p:nvSpPr>
          <p:spPr>
            <a:xfrm>
              <a:off x="4949189" y="3921018"/>
              <a:ext cx="7749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600" b="1" dirty="0">
                  <a:solidFill>
                    <a:schemeClr val="bg1"/>
                  </a:solidFill>
                </a:rPr>
                <a:t>데이터 저장하기</a:t>
              </a:r>
            </a:p>
          </p:txBody>
        </p:sp>
      </p:grpSp>
      <p:graphicFrame>
        <p:nvGraphicFramePr>
          <p:cNvPr id="83" name="표 82">
            <a:extLst>
              <a:ext uri="{FF2B5EF4-FFF2-40B4-BE49-F238E27FC236}">
                <a16:creationId xmlns:a16="http://schemas.microsoft.com/office/drawing/2014/main" id="{B54004A6-E073-42B7-894A-E81EDF14003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02270059"/>
              </p:ext>
            </p:extLst>
          </p:nvPr>
        </p:nvGraphicFramePr>
        <p:xfrm>
          <a:off x="308467" y="4584996"/>
          <a:ext cx="7812877" cy="5342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71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4410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4107">
                  <a:extLst>
                    <a:ext uri="{9D8B030D-6E8A-4147-A177-3AD203B41FA5}">
                      <a16:colId xmlns:a16="http://schemas.microsoft.com/office/drawing/2014/main" val="91379356"/>
                    </a:ext>
                  </a:extLst>
                </a:gridCol>
                <a:gridCol w="44410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44107">
                  <a:extLst>
                    <a:ext uri="{9D8B030D-6E8A-4147-A177-3AD203B41FA5}">
                      <a16:colId xmlns:a16="http://schemas.microsoft.com/office/drawing/2014/main" val="3679891012"/>
                    </a:ext>
                  </a:extLst>
                </a:gridCol>
                <a:gridCol w="44410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44107">
                  <a:extLst>
                    <a:ext uri="{9D8B030D-6E8A-4147-A177-3AD203B41FA5}">
                      <a16:colId xmlns:a16="http://schemas.microsoft.com/office/drawing/2014/main" val="2229935987"/>
                    </a:ext>
                  </a:extLst>
                </a:gridCol>
                <a:gridCol w="44410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44107">
                  <a:extLst>
                    <a:ext uri="{9D8B030D-6E8A-4147-A177-3AD203B41FA5}">
                      <a16:colId xmlns:a16="http://schemas.microsoft.com/office/drawing/2014/main" val="4026812072"/>
                    </a:ext>
                  </a:extLst>
                </a:gridCol>
                <a:gridCol w="44410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444107">
                  <a:extLst>
                    <a:ext uri="{9D8B030D-6E8A-4147-A177-3AD203B41FA5}">
                      <a16:colId xmlns:a16="http://schemas.microsoft.com/office/drawing/2014/main" val="1122824508"/>
                    </a:ext>
                  </a:extLst>
                </a:gridCol>
                <a:gridCol w="44410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444107">
                  <a:extLst>
                    <a:ext uri="{9D8B030D-6E8A-4147-A177-3AD203B41FA5}">
                      <a16:colId xmlns:a16="http://schemas.microsoft.com/office/drawing/2014/main" val="1502902784"/>
                    </a:ext>
                  </a:extLst>
                </a:gridCol>
                <a:gridCol w="44410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444107">
                  <a:extLst>
                    <a:ext uri="{9D8B030D-6E8A-4147-A177-3AD203B41FA5}">
                      <a16:colId xmlns:a16="http://schemas.microsoft.com/office/drawing/2014/main" val="354728812"/>
                    </a:ext>
                  </a:extLst>
                </a:gridCol>
                <a:gridCol w="44410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444107">
                  <a:extLst>
                    <a:ext uri="{9D8B030D-6E8A-4147-A177-3AD203B41FA5}">
                      <a16:colId xmlns:a16="http://schemas.microsoft.com/office/drawing/2014/main" val="3245935667"/>
                    </a:ext>
                  </a:extLst>
                </a:gridCol>
              </a:tblGrid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YYYY-MM</a:t>
                      </a:r>
                      <a:endParaRPr lang="en-US" altLang="ko-KR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01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02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03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04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05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06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07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08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09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11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12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13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14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15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합계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3576794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rgbClr val="FF6600"/>
                          </a:solidFill>
                          <a:latin typeface="+mn-lt"/>
                          <a:ea typeface="+mn-ea"/>
                          <a:cs typeface="+mn-cs"/>
                        </a:rPr>
                        <a:t>현재 부하</a:t>
                      </a:r>
                      <a:endParaRPr lang="en-US" altLang="ko-KR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+mn-lt"/>
                          <a:ea typeface="+mn-ea"/>
                          <a:cs typeface="+mn-cs"/>
                        </a:rPr>
                        <a:t>150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+mn-lt"/>
                          <a:ea typeface="+mn-ea"/>
                          <a:cs typeface="+mn-cs"/>
                        </a:rPr>
                        <a:t>10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+mn-lt"/>
                          <a:ea typeface="+mn-ea"/>
                          <a:cs typeface="+mn-cs"/>
                        </a:rPr>
                        <a:t>210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+mn-lt"/>
                          <a:ea typeface="+mn-ea"/>
                          <a:cs typeface="+mn-cs"/>
                        </a:rPr>
                        <a:t>125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+mn-lt"/>
                          <a:ea typeface="+mn-ea"/>
                          <a:cs typeface="+mn-cs"/>
                        </a:rPr>
                        <a:t>50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+mn-lt"/>
                          <a:ea typeface="+mn-ea"/>
                          <a:cs typeface="+mn-cs"/>
                        </a:rPr>
                        <a:t>30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+mn-lt"/>
                          <a:ea typeface="+mn-ea"/>
                          <a:cs typeface="+mn-cs"/>
                        </a:rPr>
                        <a:t>50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+mn-lt"/>
                          <a:ea typeface="+mn-ea"/>
                          <a:cs typeface="+mn-cs"/>
                        </a:rPr>
                        <a:t>125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예측 부하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30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60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90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120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150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180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210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240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270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300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330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360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390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420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84" name="TextBox 83">
            <a:extLst>
              <a:ext uri="{FF2B5EF4-FFF2-40B4-BE49-F238E27FC236}">
                <a16:creationId xmlns:a16="http://schemas.microsoft.com/office/drawing/2014/main" id="{F7D2E58D-6C29-4720-B9A1-F7F8437C0729}"/>
              </a:ext>
            </a:extLst>
          </p:cNvPr>
          <p:cNvSpPr txBox="1"/>
          <p:nvPr/>
        </p:nvSpPr>
        <p:spPr>
          <a:xfrm>
            <a:off x="7116279" y="4293096"/>
            <a:ext cx="972108" cy="215444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square" rtlCol="0" anchor="ctr">
            <a:spAutoFit/>
          </a:bodyPr>
          <a:lstStyle/>
          <a:p>
            <a:pPr algn="ctr"/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표 접기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C9F63445-4D42-48BF-8FD2-892FD40A15A3}"/>
              </a:ext>
            </a:extLst>
          </p:cNvPr>
          <p:cNvSpPr/>
          <p:nvPr/>
        </p:nvSpPr>
        <p:spPr>
          <a:xfrm>
            <a:off x="1143793" y="2383769"/>
            <a:ext cx="4076283" cy="792088"/>
          </a:xfrm>
          <a:prstGeom prst="rect">
            <a:avLst/>
          </a:prstGeom>
          <a:solidFill>
            <a:schemeClr val="accent1">
              <a:alpha val="68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85" name="그룹 84">
            <a:extLst>
              <a:ext uri="{FF2B5EF4-FFF2-40B4-BE49-F238E27FC236}">
                <a16:creationId xmlns:a16="http://schemas.microsoft.com/office/drawing/2014/main" id="{EFECF550-CCA5-4349-ADE9-3E1F82E27E86}"/>
              </a:ext>
            </a:extLst>
          </p:cNvPr>
          <p:cNvGrpSpPr/>
          <p:nvPr/>
        </p:nvGrpSpPr>
        <p:grpSpPr>
          <a:xfrm rot="10800000" flipH="1" flipV="1">
            <a:off x="1271433" y="3502312"/>
            <a:ext cx="3861556" cy="511784"/>
            <a:chOff x="1501760" y="2998490"/>
            <a:chExt cx="2520272" cy="1366614"/>
          </a:xfrm>
          <a:solidFill>
            <a:srgbClr val="FF6600"/>
          </a:solidFill>
        </p:grpSpPr>
        <p:sp>
          <p:nvSpPr>
            <p:cNvPr id="86" name="직사각형 85">
              <a:extLst>
                <a:ext uri="{FF2B5EF4-FFF2-40B4-BE49-F238E27FC236}">
                  <a16:creationId xmlns:a16="http://schemas.microsoft.com/office/drawing/2014/main" id="{7C0B50B9-E38B-442E-A538-197926D43B3E}"/>
                </a:ext>
              </a:extLst>
            </p:cNvPr>
            <p:cNvSpPr/>
            <p:nvPr/>
          </p:nvSpPr>
          <p:spPr>
            <a:xfrm>
              <a:off x="1501760" y="4217882"/>
              <a:ext cx="72000" cy="147222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93" name="직사각형 92">
              <a:extLst>
                <a:ext uri="{FF2B5EF4-FFF2-40B4-BE49-F238E27FC236}">
                  <a16:creationId xmlns:a16="http://schemas.microsoft.com/office/drawing/2014/main" id="{65E89D2F-56BD-4A9D-82E6-ED420D9BE149}"/>
                </a:ext>
              </a:extLst>
            </p:cNvPr>
            <p:cNvSpPr/>
            <p:nvPr/>
          </p:nvSpPr>
          <p:spPr>
            <a:xfrm>
              <a:off x="3950032" y="2998490"/>
              <a:ext cx="72000" cy="1366614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94" name="직사각형 93">
              <a:extLst>
                <a:ext uri="{FF2B5EF4-FFF2-40B4-BE49-F238E27FC236}">
                  <a16:creationId xmlns:a16="http://schemas.microsoft.com/office/drawing/2014/main" id="{C7DE6A9D-953E-4DC9-9237-81B8A1BB9CE3}"/>
                </a:ext>
              </a:extLst>
            </p:cNvPr>
            <p:cNvSpPr/>
            <p:nvPr/>
          </p:nvSpPr>
          <p:spPr>
            <a:xfrm>
              <a:off x="3638317" y="3069104"/>
              <a:ext cx="72000" cy="1296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95" name="직사각형 94">
              <a:extLst>
                <a:ext uri="{FF2B5EF4-FFF2-40B4-BE49-F238E27FC236}">
                  <a16:creationId xmlns:a16="http://schemas.microsoft.com/office/drawing/2014/main" id="{2AC12CFD-B2DA-47FA-99B5-8A48B6A653D7}"/>
                </a:ext>
              </a:extLst>
            </p:cNvPr>
            <p:cNvSpPr/>
            <p:nvPr/>
          </p:nvSpPr>
          <p:spPr>
            <a:xfrm>
              <a:off x="3327361" y="3214514"/>
              <a:ext cx="72000" cy="115059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96" name="직사각형 95">
              <a:extLst>
                <a:ext uri="{FF2B5EF4-FFF2-40B4-BE49-F238E27FC236}">
                  <a16:creationId xmlns:a16="http://schemas.microsoft.com/office/drawing/2014/main" id="{B8AB2B1C-BDD2-4855-B9B7-E051A4FC7F1B}"/>
                </a:ext>
              </a:extLst>
            </p:cNvPr>
            <p:cNvSpPr/>
            <p:nvPr/>
          </p:nvSpPr>
          <p:spPr>
            <a:xfrm>
              <a:off x="3034940" y="3575613"/>
              <a:ext cx="72000" cy="789491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97" name="직사각형 96">
              <a:extLst>
                <a:ext uri="{FF2B5EF4-FFF2-40B4-BE49-F238E27FC236}">
                  <a16:creationId xmlns:a16="http://schemas.microsoft.com/office/drawing/2014/main" id="{B09E859A-7A08-465F-A9EB-6ADB0D463807}"/>
                </a:ext>
              </a:extLst>
            </p:cNvPr>
            <p:cNvSpPr/>
            <p:nvPr/>
          </p:nvSpPr>
          <p:spPr>
            <a:xfrm>
              <a:off x="2732038" y="3681103"/>
              <a:ext cx="72000" cy="684001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98" name="직사각형 97">
              <a:extLst>
                <a:ext uri="{FF2B5EF4-FFF2-40B4-BE49-F238E27FC236}">
                  <a16:creationId xmlns:a16="http://schemas.microsoft.com/office/drawing/2014/main" id="{6AD59BF1-5AB6-4AEC-A2FE-78BFF2565ACB}"/>
                </a:ext>
              </a:extLst>
            </p:cNvPr>
            <p:cNvSpPr/>
            <p:nvPr/>
          </p:nvSpPr>
          <p:spPr>
            <a:xfrm>
              <a:off x="2425257" y="3807103"/>
              <a:ext cx="72000" cy="558001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99" name="직사각형 98">
              <a:extLst>
                <a:ext uri="{FF2B5EF4-FFF2-40B4-BE49-F238E27FC236}">
                  <a16:creationId xmlns:a16="http://schemas.microsoft.com/office/drawing/2014/main" id="{248D8BB3-82D1-46CA-B25B-7309E813B580}"/>
                </a:ext>
              </a:extLst>
            </p:cNvPr>
            <p:cNvSpPr/>
            <p:nvPr/>
          </p:nvSpPr>
          <p:spPr>
            <a:xfrm>
              <a:off x="2115519" y="3862587"/>
              <a:ext cx="72000" cy="502517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100" name="직사각형 99">
              <a:extLst>
                <a:ext uri="{FF2B5EF4-FFF2-40B4-BE49-F238E27FC236}">
                  <a16:creationId xmlns:a16="http://schemas.microsoft.com/office/drawing/2014/main" id="{8F4D0AC0-C8E2-4FDB-BE47-8DF7AF05926D}"/>
                </a:ext>
              </a:extLst>
            </p:cNvPr>
            <p:cNvSpPr/>
            <p:nvPr/>
          </p:nvSpPr>
          <p:spPr>
            <a:xfrm>
              <a:off x="1806602" y="4059104"/>
              <a:ext cx="72000" cy="306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990713976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9104309" y="6645875"/>
            <a:ext cx="140029" cy="138499"/>
          </a:xfrm>
        </p:spPr>
        <p:txBody>
          <a:bodyPr/>
          <a:lstStyle/>
          <a:p>
            <a:pPr>
              <a:defRPr/>
            </a:pPr>
            <a:fld id="{9E41B634-5682-4388-99E7-FE44DCFD254B}" type="slidenum">
              <a:rPr lang="ko-KR" altLang="en-US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>
                <a:defRPr/>
              </a:pPr>
              <a:t>21</a:t>
            </a:fld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텍스트 개체 틀 8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Site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 &gt;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에너지 모니터링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&gt; ESS </a:t>
            </a:r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충방전량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" name="텍스트 개체 틀 9"/>
          <p:cNvSpPr>
            <a:spLocks noGrp="1"/>
          </p:cNvSpPr>
          <p:nvPr>
            <p:ph type="body" sz="quarter" idx="10"/>
          </p:nvPr>
        </p:nvSpPr>
        <p:spPr>
          <a:xfrm>
            <a:off x="6023595" y="44624"/>
            <a:ext cx="1233661" cy="196974"/>
          </a:xfrm>
        </p:spPr>
        <p:txBody>
          <a:bodyPr/>
          <a:lstStyle/>
          <a:p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ESS </a:t>
            </a:r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충방전량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02" name="Group 15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38203528"/>
              </p:ext>
            </p:extLst>
          </p:nvPr>
        </p:nvGraphicFramePr>
        <p:xfrm>
          <a:off x="8469313" y="276225"/>
          <a:ext cx="1404000" cy="5235648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3002"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Description</a:t>
                      </a: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기간 설정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기간의 시작과 끝 시점을 설정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기간 별 시작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종료 시간은 표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참고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2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간격 설정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번에서 지정된 기간 내 데이터의 조회 간격을 설정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1)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간격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en-US" altLang="ko-KR" sz="800" b="0" i="0" u="none" strike="sng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  <a:r>
                        <a:rPr kumimoji="1" lang="ko-KR" altLang="en-US" sz="800" b="0" i="0" u="none" strike="sng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분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15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분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30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분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1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시간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1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일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1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월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2)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기간 별 선택 가능한 조회 간격은 표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2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참고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3) 1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일이 선택된 경우에는 오늘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00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시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~24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시로 조회하고 표시하며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그 외의 경우 지금 시간부터 지정된 과거의 기간만큼 조회하고 표시한다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.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3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조회 기간 시작 설정</a:t>
                      </a:r>
                      <a:endParaRPr lang="en-US" altLang="ko-KR" sz="800" b="1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조회 기간의 시작 날짜를 직접 입력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시간은 현재시간으로 고정되며 날짜만 지정 가능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4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조회 기간 종료 설정</a:t>
                      </a:r>
                      <a:endParaRPr lang="en-US" altLang="ko-KR" sz="800" b="1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조회 기간의 종료 날짜를 직접 입력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시간은 현재시간으로 고정되며 날짜만 지정 가능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5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데이터 갱신 시간 표시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지정된 설정에 따라 조회가 진행된 시간표시</a:t>
                      </a:r>
                      <a:endParaRPr lang="en-US" altLang="ko-KR" sz="800" b="0" u="non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78" name="TextBox 77"/>
          <p:cNvSpPr txBox="1"/>
          <p:nvPr/>
        </p:nvSpPr>
        <p:spPr>
          <a:xfrm>
            <a:off x="7121707" y="21349"/>
            <a:ext cx="567597" cy="2308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화면</a:t>
            </a:r>
            <a:r>
              <a:rPr lang="en-US" altLang="ko-KR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ID</a:t>
            </a:r>
            <a:endParaRPr lang="ko-KR" altLang="en-US" sz="9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7689304" y="43659"/>
            <a:ext cx="792088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itchFamily="50" charset="-127"/>
                <a:ea typeface="맑은 고딕" pitchFamily="50" charset="-127"/>
              </a:rPr>
              <a:t>ewpsp_scr_011</a:t>
            </a:r>
            <a:endParaRPr lang="ko-KR" altLang="en-US" sz="700" dirty="0">
              <a:latin typeface="맑은 고딕" pitchFamily="50" charset="-127"/>
              <a:ea typeface="맑은 고딕" pitchFamily="50" charset="-127"/>
            </a:endParaRPr>
          </a:p>
        </p:txBody>
      </p:sp>
      <p:pic>
        <p:nvPicPr>
          <p:cNvPr id="18" name="Picture 3">
            <a:extLst>
              <a:ext uri="{FF2B5EF4-FFF2-40B4-BE49-F238E27FC236}">
                <a16:creationId xmlns:a16="http://schemas.microsoft.com/office/drawing/2014/main" id="{D14E8AEF-8EA8-4944-AE52-FF98A1FB783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464" y="772657"/>
            <a:ext cx="8208912" cy="4881904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  <a:extLst/>
        </p:spPr>
      </p:pic>
      <p:pic>
        <p:nvPicPr>
          <p:cNvPr id="19" name="Picture 2">
            <a:extLst>
              <a:ext uri="{FF2B5EF4-FFF2-40B4-BE49-F238E27FC236}">
                <a16:creationId xmlns:a16="http://schemas.microsoft.com/office/drawing/2014/main" id="{6FBB0165-03FF-4BBD-A158-8DEF923CF53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464" y="762442"/>
            <a:ext cx="8208912" cy="3487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20" name="직선 연결선 19">
            <a:extLst>
              <a:ext uri="{FF2B5EF4-FFF2-40B4-BE49-F238E27FC236}">
                <a16:creationId xmlns:a16="http://schemas.microsoft.com/office/drawing/2014/main" id="{37D07777-30AA-4506-9C18-6F3B4C7D943C}"/>
              </a:ext>
            </a:extLst>
          </p:cNvPr>
          <p:cNvCxnSpPr>
            <a:cxnSpLocks/>
          </p:cNvCxnSpPr>
          <p:nvPr/>
        </p:nvCxnSpPr>
        <p:spPr>
          <a:xfrm>
            <a:off x="128463" y="1124744"/>
            <a:ext cx="8208912" cy="0"/>
          </a:xfrm>
          <a:prstGeom prst="line">
            <a:avLst/>
          </a:prstGeom>
          <a:ln w="9525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180BACBD-4B64-4649-BD7C-E1EE3620FBC6}"/>
              </a:ext>
            </a:extLst>
          </p:cNvPr>
          <p:cNvSpPr/>
          <p:nvPr/>
        </p:nvSpPr>
        <p:spPr>
          <a:xfrm>
            <a:off x="120419" y="1861412"/>
            <a:ext cx="1510265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150000"/>
              </a:lnSpc>
            </a:pPr>
            <a:r>
              <a:rPr lang="en-US" altLang="ko-KR" sz="900" b="1" dirty="0">
                <a:solidFill>
                  <a:schemeClr val="bg1">
                    <a:lumMod val="65000"/>
                  </a:schemeClr>
                </a:solidFill>
                <a:latin typeface="맑은 고딕" pitchFamily="50" charset="-127"/>
                <a:ea typeface="맑은 고딕" pitchFamily="50" charset="-127"/>
              </a:rPr>
              <a:t>YYYY-MM-DD hh:mm</a:t>
            </a:r>
            <a:endParaRPr lang="ko-KR" altLang="en-US" sz="900" b="1" dirty="0">
              <a:solidFill>
                <a:schemeClr val="bg1">
                  <a:lumMod val="6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A27B69D7-2B77-4AF2-A717-2F8B00E5023D}"/>
              </a:ext>
            </a:extLst>
          </p:cNvPr>
          <p:cNvSpPr/>
          <p:nvPr/>
        </p:nvSpPr>
        <p:spPr>
          <a:xfrm>
            <a:off x="3584848" y="1556792"/>
            <a:ext cx="1224136" cy="288033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기간 설정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51E4F555-ACF8-422A-8A4C-263DF5607ED0}"/>
              </a:ext>
            </a:extLst>
          </p:cNvPr>
          <p:cNvSpPr/>
          <p:nvPr/>
        </p:nvSpPr>
        <p:spPr>
          <a:xfrm>
            <a:off x="4304928" y="1556792"/>
            <a:ext cx="1262753" cy="288033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YYY-MM</a:t>
            </a:r>
            <a:endParaRPr lang="ko-KR" altLang="en-US" sz="90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056B85B8-E22D-471D-BF90-7BA59FDE59DA}"/>
              </a:ext>
            </a:extLst>
          </p:cNvPr>
          <p:cNvSpPr/>
          <p:nvPr/>
        </p:nvSpPr>
        <p:spPr>
          <a:xfrm>
            <a:off x="5567681" y="1556792"/>
            <a:ext cx="288032" cy="288033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▼</a:t>
            </a: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5DE85575-6695-43D9-BA78-E72D7749FD5A}"/>
              </a:ext>
            </a:extLst>
          </p:cNvPr>
          <p:cNvSpPr/>
          <p:nvPr/>
        </p:nvSpPr>
        <p:spPr>
          <a:xfrm>
            <a:off x="5855713" y="1556792"/>
            <a:ext cx="249415" cy="288033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~</a:t>
            </a:r>
            <a:endParaRPr lang="ko-KR" altLang="en-US" sz="900" b="1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52DDF82F-9C8F-422F-B328-3979E21AEB5E}"/>
              </a:ext>
            </a:extLst>
          </p:cNvPr>
          <p:cNvSpPr/>
          <p:nvPr/>
        </p:nvSpPr>
        <p:spPr>
          <a:xfrm>
            <a:off x="6105128" y="1556792"/>
            <a:ext cx="1262753" cy="288033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YYYY-MM</a:t>
            </a:r>
            <a:endParaRPr lang="ko-KR" altLang="en-US" sz="90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508668D7-197F-47CF-8003-58499E43E073}"/>
              </a:ext>
            </a:extLst>
          </p:cNvPr>
          <p:cNvSpPr/>
          <p:nvPr/>
        </p:nvSpPr>
        <p:spPr>
          <a:xfrm>
            <a:off x="7367881" y="1556792"/>
            <a:ext cx="288032" cy="288033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▼</a:t>
            </a:r>
          </a:p>
        </p:txBody>
      </p:sp>
      <p:pic>
        <p:nvPicPr>
          <p:cNvPr id="47" name="Picture 2" descr="ì¤ì ì ëí ì´ë¯¸ì§ ê²ìê²°ê³¼">
            <a:extLst>
              <a:ext uri="{FF2B5EF4-FFF2-40B4-BE49-F238E27FC236}">
                <a16:creationId xmlns:a16="http://schemas.microsoft.com/office/drawing/2014/main" id="{90A888AD-844A-4544-B02A-A77BC3397C7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05865" y="844086"/>
            <a:ext cx="198592" cy="19859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8" name="사각형: 둥근 모서리 47">
            <a:extLst>
              <a:ext uri="{FF2B5EF4-FFF2-40B4-BE49-F238E27FC236}">
                <a16:creationId xmlns:a16="http://schemas.microsoft.com/office/drawing/2014/main" id="{119FCE8B-C633-47C3-A0BD-44AD20643BCC}"/>
              </a:ext>
            </a:extLst>
          </p:cNvPr>
          <p:cNvSpPr/>
          <p:nvPr/>
        </p:nvSpPr>
        <p:spPr>
          <a:xfrm>
            <a:off x="1239315" y="1624500"/>
            <a:ext cx="1013369" cy="180000"/>
          </a:xfrm>
          <a:prstGeom prst="roundRect">
            <a:avLst/>
          </a:prstGeom>
          <a:solidFill>
            <a:schemeClr val="bg1"/>
          </a:solidFill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ko-KR" altLang="en-US" sz="900" dirty="0">
                <a:solidFill>
                  <a:schemeClr val="tx1"/>
                </a:solidFill>
              </a:rPr>
              <a:t>기간 설정  ▼</a:t>
            </a:r>
          </a:p>
        </p:txBody>
      </p:sp>
      <p:sp>
        <p:nvSpPr>
          <p:cNvPr id="49" name="사각형: 둥근 모서리 48">
            <a:extLst>
              <a:ext uri="{FF2B5EF4-FFF2-40B4-BE49-F238E27FC236}">
                <a16:creationId xmlns:a16="http://schemas.microsoft.com/office/drawing/2014/main" id="{948F9D44-B814-4AF5-882E-A35193F2E22A}"/>
              </a:ext>
            </a:extLst>
          </p:cNvPr>
          <p:cNvSpPr/>
          <p:nvPr/>
        </p:nvSpPr>
        <p:spPr>
          <a:xfrm>
            <a:off x="2297791" y="1623655"/>
            <a:ext cx="1013369" cy="180000"/>
          </a:xfrm>
          <a:prstGeom prst="roundRect">
            <a:avLst/>
          </a:prstGeom>
          <a:solidFill>
            <a:schemeClr val="bg1"/>
          </a:solidFill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altLang="ko-KR" sz="900" dirty="0">
                <a:solidFill>
                  <a:schemeClr val="tx1"/>
                </a:solidFill>
              </a:rPr>
              <a:t>15</a:t>
            </a:r>
            <a:r>
              <a:rPr lang="ko-KR" altLang="en-US" sz="900" dirty="0">
                <a:solidFill>
                  <a:schemeClr val="tx1"/>
                </a:solidFill>
              </a:rPr>
              <a:t>분     ▼</a:t>
            </a: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2326CBCB-329A-4C09-A801-8C26FFCF7D00}"/>
              </a:ext>
            </a:extLst>
          </p:cNvPr>
          <p:cNvSpPr/>
          <p:nvPr/>
        </p:nvSpPr>
        <p:spPr>
          <a:xfrm>
            <a:off x="150835" y="1556792"/>
            <a:ext cx="1224136" cy="288032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en-US" altLang="ko-KR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ESS </a:t>
            </a:r>
            <a:r>
              <a:rPr lang="ko-KR" altLang="en-US" sz="900" b="1" dirty="0" err="1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충방전량</a:t>
            </a:r>
            <a:endParaRPr lang="ko-KR" altLang="en-US" sz="900" b="1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graphicFrame>
        <p:nvGraphicFramePr>
          <p:cNvPr id="108" name="표 107">
            <a:extLst>
              <a:ext uri="{FF2B5EF4-FFF2-40B4-BE49-F238E27FC236}">
                <a16:creationId xmlns:a16="http://schemas.microsoft.com/office/drawing/2014/main" id="{403E27D5-30B0-47CB-AA15-EC86E7444F9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57045378"/>
              </p:ext>
            </p:extLst>
          </p:nvPr>
        </p:nvGraphicFramePr>
        <p:xfrm>
          <a:off x="261327" y="2294616"/>
          <a:ext cx="7932032" cy="202825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407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9741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9741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9741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9741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9741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29741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9741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29741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29741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29741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297415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297415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297415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297415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297415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297415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297415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  <a:gridCol w="297415">
                  <a:extLst>
                    <a:ext uri="{9D8B030D-6E8A-4147-A177-3AD203B41FA5}">
                      <a16:colId xmlns:a16="http://schemas.microsoft.com/office/drawing/2014/main" val="20019"/>
                    </a:ext>
                  </a:extLst>
                </a:gridCol>
                <a:gridCol w="297415">
                  <a:extLst>
                    <a:ext uri="{9D8B030D-6E8A-4147-A177-3AD203B41FA5}">
                      <a16:colId xmlns:a16="http://schemas.microsoft.com/office/drawing/2014/main" val="20020"/>
                    </a:ext>
                  </a:extLst>
                </a:gridCol>
                <a:gridCol w="297415">
                  <a:extLst>
                    <a:ext uri="{9D8B030D-6E8A-4147-A177-3AD203B41FA5}">
                      <a16:colId xmlns:a16="http://schemas.microsoft.com/office/drawing/2014/main" val="20021"/>
                    </a:ext>
                  </a:extLst>
                </a:gridCol>
                <a:gridCol w="297415">
                  <a:extLst>
                    <a:ext uri="{9D8B030D-6E8A-4147-A177-3AD203B41FA5}">
                      <a16:colId xmlns:a16="http://schemas.microsoft.com/office/drawing/2014/main" val="20022"/>
                    </a:ext>
                  </a:extLst>
                </a:gridCol>
                <a:gridCol w="297415">
                  <a:extLst>
                    <a:ext uri="{9D8B030D-6E8A-4147-A177-3AD203B41FA5}">
                      <a16:colId xmlns:a16="http://schemas.microsoft.com/office/drawing/2014/main" val="20023"/>
                    </a:ext>
                  </a:extLst>
                </a:gridCol>
                <a:gridCol w="297415">
                  <a:extLst>
                    <a:ext uri="{9D8B030D-6E8A-4147-A177-3AD203B41FA5}">
                      <a16:colId xmlns:a16="http://schemas.microsoft.com/office/drawing/2014/main" val="20024"/>
                    </a:ext>
                  </a:extLst>
                </a:gridCol>
                <a:gridCol w="297415">
                  <a:extLst>
                    <a:ext uri="{9D8B030D-6E8A-4147-A177-3AD203B41FA5}">
                      <a16:colId xmlns:a16="http://schemas.microsoft.com/office/drawing/2014/main" val="20025"/>
                    </a:ext>
                  </a:extLst>
                </a:gridCol>
              </a:tblGrid>
              <a:tr h="1843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/>
                        <a:t>kWh</a:t>
                      </a:r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43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1000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84387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843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500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84387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843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84387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843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500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84387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843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1000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2858281"/>
                  </a:ext>
                </a:extLst>
              </a:tr>
              <a:tr h="184387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01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02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03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04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05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06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07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08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09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10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11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12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13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14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15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16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17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18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19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20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21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22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23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24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cxnSp>
        <p:nvCxnSpPr>
          <p:cNvPr id="112" name="직선 연결선 111">
            <a:extLst>
              <a:ext uri="{FF2B5EF4-FFF2-40B4-BE49-F238E27FC236}">
                <a16:creationId xmlns:a16="http://schemas.microsoft.com/office/drawing/2014/main" id="{A7744939-3A96-4389-A058-8BE19F4DE88F}"/>
              </a:ext>
            </a:extLst>
          </p:cNvPr>
          <p:cNvCxnSpPr>
            <a:cxnSpLocks/>
          </p:cNvCxnSpPr>
          <p:nvPr/>
        </p:nvCxnSpPr>
        <p:spPr>
          <a:xfrm>
            <a:off x="7534135" y="2322386"/>
            <a:ext cx="0" cy="1779517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3" name="직선 연결선 112">
            <a:extLst>
              <a:ext uri="{FF2B5EF4-FFF2-40B4-BE49-F238E27FC236}">
                <a16:creationId xmlns:a16="http://schemas.microsoft.com/office/drawing/2014/main" id="{6548C795-7DDE-4D60-BA9C-2A4F3088BD6D}"/>
              </a:ext>
            </a:extLst>
          </p:cNvPr>
          <p:cNvCxnSpPr/>
          <p:nvPr/>
        </p:nvCxnSpPr>
        <p:spPr>
          <a:xfrm>
            <a:off x="3512840" y="2116150"/>
            <a:ext cx="504056" cy="0"/>
          </a:xfrm>
          <a:prstGeom prst="line">
            <a:avLst/>
          </a:prstGeom>
          <a:ln w="19050">
            <a:solidFill>
              <a:srgbClr val="00B05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4" name="직사각형 113">
            <a:extLst>
              <a:ext uri="{FF2B5EF4-FFF2-40B4-BE49-F238E27FC236}">
                <a16:creationId xmlns:a16="http://schemas.microsoft.com/office/drawing/2014/main" id="{00A7094D-E4E2-4D34-A2F8-9E47F58CC2BE}"/>
              </a:ext>
            </a:extLst>
          </p:cNvPr>
          <p:cNvSpPr/>
          <p:nvPr/>
        </p:nvSpPr>
        <p:spPr>
          <a:xfrm>
            <a:off x="4088904" y="1993922"/>
            <a:ext cx="1008112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충전</a:t>
            </a:r>
          </a:p>
        </p:txBody>
      </p: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07617ABA-F664-4785-A66A-21C2540D1E99}"/>
              </a:ext>
            </a:extLst>
          </p:cNvPr>
          <p:cNvCxnSpPr/>
          <p:nvPr/>
        </p:nvCxnSpPr>
        <p:spPr>
          <a:xfrm>
            <a:off x="4664968" y="2116150"/>
            <a:ext cx="504056" cy="0"/>
          </a:xfrm>
          <a:prstGeom prst="line">
            <a:avLst/>
          </a:prstGeom>
          <a:noFill/>
          <a:ln w="19050">
            <a:solidFill>
              <a:srgbClr val="FF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6" name="직사각형 115">
            <a:extLst>
              <a:ext uri="{FF2B5EF4-FFF2-40B4-BE49-F238E27FC236}">
                <a16:creationId xmlns:a16="http://schemas.microsoft.com/office/drawing/2014/main" id="{9203740D-1602-47D0-912C-2823EC89F4C2}"/>
              </a:ext>
            </a:extLst>
          </p:cNvPr>
          <p:cNvSpPr/>
          <p:nvPr/>
        </p:nvSpPr>
        <p:spPr>
          <a:xfrm>
            <a:off x="5241032" y="1993922"/>
            <a:ext cx="1008112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방전</a:t>
            </a:r>
          </a:p>
        </p:txBody>
      </p:sp>
      <p:grpSp>
        <p:nvGrpSpPr>
          <p:cNvPr id="120" name="그룹 119">
            <a:extLst>
              <a:ext uri="{FF2B5EF4-FFF2-40B4-BE49-F238E27FC236}">
                <a16:creationId xmlns:a16="http://schemas.microsoft.com/office/drawing/2014/main" id="{9A53836B-5B31-4494-8B63-C8A467E76D82}"/>
              </a:ext>
            </a:extLst>
          </p:cNvPr>
          <p:cNvGrpSpPr/>
          <p:nvPr/>
        </p:nvGrpSpPr>
        <p:grpSpPr>
          <a:xfrm>
            <a:off x="278972" y="4377982"/>
            <a:ext cx="892533" cy="211955"/>
            <a:chOff x="4861742" y="3907374"/>
            <a:chExt cx="862386" cy="211955"/>
          </a:xfrm>
        </p:grpSpPr>
        <p:pic>
          <p:nvPicPr>
            <p:cNvPr id="121" name="Picture 6" descr="ìì ë¤ì´ë¡ëì ëí ì´ë¯¸ì§ ê²ìê²°ê³¼">
              <a:extLst>
                <a:ext uri="{FF2B5EF4-FFF2-40B4-BE49-F238E27FC236}">
                  <a16:creationId xmlns:a16="http://schemas.microsoft.com/office/drawing/2014/main" id="{5C68F5C5-5635-42D1-B634-6E4756EC18B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861742" y="3907374"/>
              <a:ext cx="211955" cy="21195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22" name="TextBox 121">
              <a:extLst>
                <a:ext uri="{FF2B5EF4-FFF2-40B4-BE49-F238E27FC236}">
                  <a16:creationId xmlns:a16="http://schemas.microsoft.com/office/drawing/2014/main" id="{9BD7D97C-F9D7-4F35-A7EC-B3B946BBCC02}"/>
                </a:ext>
              </a:extLst>
            </p:cNvPr>
            <p:cNvSpPr txBox="1"/>
            <p:nvPr/>
          </p:nvSpPr>
          <p:spPr>
            <a:xfrm>
              <a:off x="4949189" y="3921018"/>
              <a:ext cx="7749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600" b="1" dirty="0">
                  <a:solidFill>
                    <a:schemeClr val="bg1"/>
                  </a:solidFill>
                </a:rPr>
                <a:t>데이터 저장하기</a:t>
              </a:r>
            </a:p>
          </p:txBody>
        </p:sp>
      </p:grpSp>
      <p:cxnSp>
        <p:nvCxnSpPr>
          <p:cNvPr id="123" name="직선 연결선 122">
            <a:extLst>
              <a:ext uri="{FF2B5EF4-FFF2-40B4-BE49-F238E27FC236}">
                <a16:creationId xmlns:a16="http://schemas.microsoft.com/office/drawing/2014/main" id="{75FE7E5F-E413-4CEB-9EA7-AAA7844A2A15}"/>
              </a:ext>
            </a:extLst>
          </p:cNvPr>
          <p:cNvCxnSpPr/>
          <p:nvPr/>
        </p:nvCxnSpPr>
        <p:spPr>
          <a:xfrm>
            <a:off x="7039306" y="2109741"/>
            <a:ext cx="504056" cy="0"/>
          </a:xfrm>
          <a:prstGeom prst="line">
            <a:avLst/>
          </a:prstGeom>
          <a:ln w="12700">
            <a:solidFill>
              <a:schemeClr val="accent3">
                <a:lumMod val="75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" name="직선 연결선 123">
            <a:extLst>
              <a:ext uri="{FF2B5EF4-FFF2-40B4-BE49-F238E27FC236}">
                <a16:creationId xmlns:a16="http://schemas.microsoft.com/office/drawing/2014/main" id="{E021214D-A2A1-4E8A-986E-48CD36779487}"/>
              </a:ext>
            </a:extLst>
          </p:cNvPr>
          <p:cNvCxnSpPr/>
          <p:nvPr/>
        </p:nvCxnSpPr>
        <p:spPr>
          <a:xfrm>
            <a:off x="981407" y="2569986"/>
            <a:ext cx="7200000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69125AB8-A254-4025-99A5-C41C8B9146E8}"/>
              </a:ext>
            </a:extLst>
          </p:cNvPr>
          <p:cNvCxnSpPr/>
          <p:nvPr/>
        </p:nvCxnSpPr>
        <p:spPr>
          <a:xfrm>
            <a:off x="981407" y="3306844"/>
            <a:ext cx="7200000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" name="직선 연결선 125">
            <a:extLst>
              <a:ext uri="{FF2B5EF4-FFF2-40B4-BE49-F238E27FC236}">
                <a16:creationId xmlns:a16="http://schemas.microsoft.com/office/drawing/2014/main" id="{C5EEB54F-2035-4DF4-998F-F6EC8D648962}"/>
              </a:ext>
            </a:extLst>
          </p:cNvPr>
          <p:cNvCxnSpPr/>
          <p:nvPr/>
        </p:nvCxnSpPr>
        <p:spPr>
          <a:xfrm>
            <a:off x="974634" y="3675273"/>
            <a:ext cx="7200000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9D029297-9092-447B-BBD9-A43978D80D0F}"/>
              </a:ext>
            </a:extLst>
          </p:cNvPr>
          <p:cNvCxnSpPr/>
          <p:nvPr/>
        </p:nvCxnSpPr>
        <p:spPr>
          <a:xfrm>
            <a:off x="974634" y="2938415"/>
            <a:ext cx="7200000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8" name="직선 연결선 127">
            <a:extLst>
              <a:ext uri="{FF2B5EF4-FFF2-40B4-BE49-F238E27FC236}">
                <a16:creationId xmlns:a16="http://schemas.microsoft.com/office/drawing/2014/main" id="{6456FF39-8DFD-4DFB-9820-7F83A253A5DC}"/>
              </a:ext>
            </a:extLst>
          </p:cNvPr>
          <p:cNvCxnSpPr/>
          <p:nvPr/>
        </p:nvCxnSpPr>
        <p:spPr>
          <a:xfrm>
            <a:off x="974634" y="4048598"/>
            <a:ext cx="7200000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9" name="직선 연결선 128">
            <a:extLst>
              <a:ext uri="{FF2B5EF4-FFF2-40B4-BE49-F238E27FC236}">
                <a16:creationId xmlns:a16="http://schemas.microsoft.com/office/drawing/2014/main" id="{39979DFA-6BA8-40F8-9911-8280AAF0A44E}"/>
              </a:ext>
            </a:extLst>
          </p:cNvPr>
          <p:cNvCxnSpPr/>
          <p:nvPr/>
        </p:nvCxnSpPr>
        <p:spPr>
          <a:xfrm>
            <a:off x="5745088" y="2113512"/>
            <a:ext cx="504056" cy="0"/>
          </a:xfrm>
          <a:prstGeom prst="line">
            <a:avLst/>
          </a:prstGeom>
          <a:ln w="12700">
            <a:solidFill>
              <a:schemeClr val="tx1">
                <a:lumMod val="65000"/>
                <a:lumOff val="35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E89CF3F6-F709-40F4-BEFD-A31A280953CF}"/>
              </a:ext>
            </a:extLst>
          </p:cNvPr>
          <p:cNvSpPr/>
          <p:nvPr/>
        </p:nvSpPr>
        <p:spPr>
          <a:xfrm>
            <a:off x="6321152" y="1991284"/>
            <a:ext cx="1008112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충전 계획</a:t>
            </a:r>
          </a:p>
        </p:txBody>
      </p:sp>
      <p:grpSp>
        <p:nvGrpSpPr>
          <p:cNvPr id="132" name="그룹 131">
            <a:extLst>
              <a:ext uri="{FF2B5EF4-FFF2-40B4-BE49-F238E27FC236}">
                <a16:creationId xmlns:a16="http://schemas.microsoft.com/office/drawing/2014/main" id="{48F2B437-5E69-451C-8F53-6F7777F58B09}"/>
              </a:ext>
            </a:extLst>
          </p:cNvPr>
          <p:cNvGrpSpPr/>
          <p:nvPr/>
        </p:nvGrpSpPr>
        <p:grpSpPr>
          <a:xfrm flipH="1" flipV="1">
            <a:off x="4125293" y="3314277"/>
            <a:ext cx="2688227" cy="511784"/>
            <a:chOff x="1501760" y="2998490"/>
            <a:chExt cx="2520272" cy="1366614"/>
          </a:xfrm>
          <a:solidFill>
            <a:srgbClr val="FF6600"/>
          </a:solidFill>
        </p:grpSpPr>
        <p:sp>
          <p:nvSpPr>
            <p:cNvPr id="149" name="직사각형 148">
              <a:extLst>
                <a:ext uri="{FF2B5EF4-FFF2-40B4-BE49-F238E27FC236}">
                  <a16:creationId xmlns:a16="http://schemas.microsoft.com/office/drawing/2014/main" id="{34256C1B-0A00-4A3D-9F9D-43EC55B09010}"/>
                </a:ext>
              </a:extLst>
            </p:cNvPr>
            <p:cNvSpPr/>
            <p:nvPr/>
          </p:nvSpPr>
          <p:spPr>
            <a:xfrm>
              <a:off x="1501760" y="4217882"/>
              <a:ext cx="72000" cy="147222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150" name="직사각형 149">
              <a:extLst>
                <a:ext uri="{FF2B5EF4-FFF2-40B4-BE49-F238E27FC236}">
                  <a16:creationId xmlns:a16="http://schemas.microsoft.com/office/drawing/2014/main" id="{28E9FE92-02DE-4619-BDC0-7F9488A7FE34}"/>
                </a:ext>
              </a:extLst>
            </p:cNvPr>
            <p:cNvSpPr/>
            <p:nvPr/>
          </p:nvSpPr>
          <p:spPr>
            <a:xfrm>
              <a:off x="3950032" y="2998490"/>
              <a:ext cx="72000" cy="1366614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151" name="직사각형 150">
              <a:extLst>
                <a:ext uri="{FF2B5EF4-FFF2-40B4-BE49-F238E27FC236}">
                  <a16:creationId xmlns:a16="http://schemas.microsoft.com/office/drawing/2014/main" id="{5087ECF3-13C7-45F5-BA4D-34D877BDB3EE}"/>
                </a:ext>
              </a:extLst>
            </p:cNvPr>
            <p:cNvSpPr/>
            <p:nvPr/>
          </p:nvSpPr>
          <p:spPr>
            <a:xfrm>
              <a:off x="3638317" y="3069104"/>
              <a:ext cx="72000" cy="1296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152" name="직사각형 151">
              <a:extLst>
                <a:ext uri="{FF2B5EF4-FFF2-40B4-BE49-F238E27FC236}">
                  <a16:creationId xmlns:a16="http://schemas.microsoft.com/office/drawing/2014/main" id="{47329883-915D-425F-93AD-6723294B76DC}"/>
                </a:ext>
              </a:extLst>
            </p:cNvPr>
            <p:cNvSpPr/>
            <p:nvPr/>
          </p:nvSpPr>
          <p:spPr>
            <a:xfrm>
              <a:off x="3327361" y="3214514"/>
              <a:ext cx="72000" cy="115059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153" name="직사각형 152">
              <a:extLst>
                <a:ext uri="{FF2B5EF4-FFF2-40B4-BE49-F238E27FC236}">
                  <a16:creationId xmlns:a16="http://schemas.microsoft.com/office/drawing/2014/main" id="{53D95038-698F-49B2-BB38-3EFE47F3C971}"/>
                </a:ext>
              </a:extLst>
            </p:cNvPr>
            <p:cNvSpPr/>
            <p:nvPr/>
          </p:nvSpPr>
          <p:spPr>
            <a:xfrm>
              <a:off x="3013928" y="3575612"/>
              <a:ext cx="72000" cy="789492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154" name="직사각형 153">
              <a:extLst>
                <a:ext uri="{FF2B5EF4-FFF2-40B4-BE49-F238E27FC236}">
                  <a16:creationId xmlns:a16="http://schemas.microsoft.com/office/drawing/2014/main" id="{9DC7D09C-75FF-4D92-BC6F-93C300B9BFDE}"/>
                </a:ext>
              </a:extLst>
            </p:cNvPr>
            <p:cNvSpPr/>
            <p:nvPr/>
          </p:nvSpPr>
          <p:spPr>
            <a:xfrm>
              <a:off x="2748848" y="3681104"/>
              <a:ext cx="72000" cy="684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155" name="직사각형 154">
              <a:extLst>
                <a:ext uri="{FF2B5EF4-FFF2-40B4-BE49-F238E27FC236}">
                  <a16:creationId xmlns:a16="http://schemas.microsoft.com/office/drawing/2014/main" id="{50F25AC4-CEC4-4A0E-B23B-D48CCD294552}"/>
                </a:ext>
              </a:extLst>
            </p:cNvPr>
            <p:cNvSpPr/>
            <p:nvPr/>
          </p:nvSpPr>
          <p:spPr>
            <a:xfrm>
              <a:off x="2437864" y="3807104"/>
              <a:ext cx="72000" cy="558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156" name="직사각형 155">
              <a:extLst>
                <a:ext uri="{FF2B5EF4-FFF2-40B4-BE49-F238E27FC236}">
                  <a16:creationId xmlns:a16="http://schemas.microsoft.com/office/drawing/2014/main" id="{797EC4A7-9208-4B12-B315-089B32134A33}"/>
                </a:ext>
              </a:extLst>
            </p:cNvPr>
            <p:cNvSpPr/>
            <p:nvPr/>
          </p:nvSpPr>
          <p:spPr>
            <a:xfrm>
              <a:off x="2123923" y="3862586"/>
              <a:ext cx="72000" cy="502518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157" name="직사각형 156">
              <a:extLst>
                <a:ext uri="{FF2B5EF4-FFF2-40B4-BE49-F238E27FC236}">
                  <a16:creationId xmlns:a16="http://schemas.microsoft.com/office/drawing/2014/main" id="{F39A9B20-E4DB-47EA-A50A-8D6A0F9F070D}"/>
                </a:ext>
              </a:extLst>
            </p:cNvPr>
            <p:cNvSpPr/>
            <p:nvPr/>
          </p:nvSpPr>
          <p:spPr>
            <a:xfrm>
              <a:off x="1789792" y="4059104"/>
              <a:ext cx="72000" cy="306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grpSp>
        <p:nvGrpSpPr>
          <p:cNvPr id="133" name="그룹 132">
            <a:extLst>
              <a:ext uri="{FF2B5EF4-FFF2-40B4-BE49-F238E27FC236}">
                <a16:creationId xmlns:a16="http://schemas.microsoft.com/office/drawing/2014/main" id="{88F518B5-D539-47E3-A462-CC4F10F0BDE5}"/>
              </a:ext>
            </a:extLst>
          </p:cNvPr>
          <p:cNvGrpSpPr/>
          <p:nvPr/>
        </p:nvGrpSpPr>
        <p:grpSpPr>
          <a:xfrm>
            <a:off x="1171506" y="2772920"/>
            <a:ext cx="2520272" cy="536324"/>
            <a:chOff x="1403648" y="2780928"/>
            <a:chExt cx="2520272" cy="1584176"/>
          </a:xfrm>
          <a:solidFill>
            <a:srgbClr val="00B050"/>
          </a:solidFill>
        </p:grpSpPr>
        <p:sp>
          <p:nvSpPr>
            <p:cNvPr id="140" name="직사각형 139">
              <a:extLst>
                <a:ext uri="{FF2B5EF4-FFF2-40B4-BE49-F238E27FC236}">
                  <a16:creationId xmlns:a16="http://schemas.microsoft.com/office/drawing/2014/main" id="{CEB3E45B-045E-4196-97A9-952E3EBF00E9}"/>
                </a:ext>
              </a:extLst>
            </p:cNvPr>
            <p:cNvSpPr/>
            <p:nvPr/>
          </p:nvSpPr>
          <p:spPr>
            <a:xfrm>
              <a:off x="1403648" y="4185104"/>
              <a:ext cx="72000" cy="180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rgbClr val="0070C0"/>
                </a:solidFill>
              </a:endParaRPr>
            </a:p>
          </p:txBody>
        </p:sp>
        <p:sp>
          <p:nvSpPr>
            <p:cNvPr id="141" name="직사각형 140">
              <a:extLst>
                <a:ext uri="{FF2B5EF4-FFF2-40B4-BE49-F238E27FC236}">
                  <a16:creationId xmlns:a16="http://schemas.microsoft.com/office/drawing/2014/main" id="{BCE6A953-5A4D-49B9-8ED2-F7EDCFF7F428}"/>
                </a:ext>
              </a:extLst>
            </p:cNvPr>
            <p:cNvSpPr/>
            <p:nvPr/>
          </p:nvSpPr>
          <p:spPr>
            <a:xfrm>
              <a:off x="3540205" y="2998490"/>
              <a:ext cx="72000" cy="1366614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rgbClr val="0070C0"/>
                </a:solidFill>
              </a:endParaRPr>
            </a:p>
          </p:txBody>
        </p:sp>
        <p:sp>
          <p:nvSpPr>
            <p:cNvPr id="142" name="직사각형 141">
              <a:extLst>
                <a:ext uri="{FF2B5EF4-FFF2-40B4-BE49-F238E27FC236}">
                  <a16:creationId xmlns:a16="http://schemas.microsoft.com/office/drawing/2014/main" id="{C5CBFDF4-AB25-429E-92CB-E4A46C317210}"/>
                </a:ext>
              </a:extLst>
            </p:cNvPr>
            <p:cNvSpPr/>
            <p:nvPr/>
          </p:nvSpPr>
          <p:spPr>
            <a:xfrm>
              <a:off x="3229249" y="3249104"/>
              <a:ext cx="72000" cy="1116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rgbClr val="0070C0"/>
                </a:solidFill>
              </a:endParaRPr>
            </a:p>
          </p:txBody>
        </p:sp>
        <p:sp>
          <p:nvSpPr>
            <p:cNvPr id="143" name="직사각형 142">
              <a:extLst>
                <a:ext uri="{FF2B5EF4-FFF2-40B4-BE49-F238E27FC236}">
                  <a16:creationId xmlns:a16="http://schemas.microsoft.com/office/drawing/2014/main" id="{8E3E502B-405D-4DB1-914D-679D02CD713E}"/>
                </a:ext>
              </a:extLst>
            </p:cNvPr>
            <p:cNvSpPr/>
            <p:nvPr/>
          </p:nvSpPr>
          <p:spPr>
            <a:xfrm>
              <a:off x="2915816" y="3429104"/>
              <a:ext cx="72000" cy="936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rgbClr val="0070C0"/>
                </a:solidFill>
              </a:endParaRPr>
            </a:p>
          </p:txBody>
        </p:sp>
        <p:sp>
          <p:nvSpPr>
            <p:cNvPr id="144" name="직사각형 143">
              <a:extLst>
                <a:ext uri="{FF2B5EF4-FFF2-40B4-BE49-F238E27FC236}">
                  <a16:creationId xmlns:a16="http://schemas.microsoft.com/office/drawing/2014/main" id="{9CFDECA1-1A3F-442B-B5C8-D9EB3E2156FF}"/>
                </a:ext>
              </a:extLst>
            </p:cNvPr>
            <p:cNvSpPr/>
            <p:nvPr/>
          </p:nvSpPr>
          <p:spPr>
            <a:xfrm>
              <a:off x="2650736" y="3575612"/>
              <a:ext cx="72000" cy="789492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rgbClr val="0070C0"/>
                </a:solidFill>
              </a:endParaRPr>
            </a:p>
          </p:txBody>
        </p:sp>
        <p:sp>
          <p:nvSpPr>
            <p:cNvPr id="145" name="직사각형 144">
              <a:extLst>
                <a:ext uri="{FF2B5EF4-FFF2-40B4-BE49-F238E27FC236}">
                  <a16:creationId xmlns:a16="http://schemas.microsoft.com/office/drawing/2014/main" id="{DEA5DDB0-81F2-4E48-A4D0-32E2D2517032}"/>
                </a:ext>
              </a:extLst>
            </p:cNvPr>
            <p:cNvSpPr/>
            <p:nvPr/>
          </p:nvSpPr>
          <p:spPr>
            <a:xfrm>
              <a:off x="2339752" y="3753104"/>
              <a:ext cx="72000" cy="612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rgbClr val="0070C0"/>
                </a:solidFill>
              </a:endParaRPr>
            </a:p>
          </p:txBody>
        </p:sp>
        <p:sp>
          <p:nvSpPr>
            <p:cNvPr id="146" name="직사각형 145">
              <a:extLst>
                <a:ext uri="{FF2B5EF4-FFF2-40B4-BE49-F238E27FC236}">
                  <a16:creationId xmlns:a16="http://schemas.microsoft.com/office/drawing/2014/main" id="{6B824920-137A-4B3F-AC97-B634363745EB}"/>
                </a:ext>
              </a:extLst>
            </p:cNvPr>
            <p:cNvSpPr/>
            <p:nvPr/>
          </p:nvSpPr>
          <p:spPr>
            <a:xfrm>
              <a:off x="2025811" y="3933104"/>
              <a:ext cx="72000" cy="432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rgbClr val="0070C0"/>
                </a:solidFill>
              </a:endParaRPr>
            </a:p>
          </p:txBody>
        </p:sp>
        <p:sp>
          <p:nvSpPr>
            <p:cNvPr id="147" name="직사각형 146">
              <a:extLst>
                <a:ext uri="{FF2B5EF4-FFF2-40B4-BE49-F238E27FC236}">
                  <a16:creationId xmlns:a16="http://schemas.microsoft.com/office/drawing/2014/main" id="{BBFD94BA-ECBB-44DA-96C8-C5D8F6DDACAC}"/>
                </a:ext>
              </a:extLst>
            </p:cNvPr>
            <p:cNvSpPr/>
            <p:nvPr/>
          </p:nvSpPr>
          <p:spPr>
            <a:xfrm>
              <a:off x="1691680" y="4005104"/>
              <a:ext cx="72000" cy="360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rgbClr val="0070C0"/>
                </a:solidFill>
              </a:endParaRPr>
            </a:p>
          </p:txBody>
        </p:sp>
        <p:sp>
          <p:nvSpPr>
            <p:cNvPr id="148" name="직사각형 147">
              <a:extLst>
                <a:ext uri="{FF2B5EF4-FFF2-40B4-BE49-F238E27FC236}">
                  <a16:creationId xmlns:a16="http://schemas.microsoft.com/office/drawing/2014/main" id="{56F4DEC5-8876-4861-9A88-57B885A75295}"/>
                </a:ext>
              </a:extLst>
            </p:cNvPr>
            <p:cNvSpPr/>
            <p:nvPr/>
          </p:nvSpPr>
          <p:spPr>
            <a:xfrm>
              <a:off x="3851920" y="2780928"/>
              <a:ext cx="72000" cy="1584176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rgbClr val="0070C0"/>
                </a:solidFill>
              </a:endParaRPr>
            </a:p>
          </p:txBody>
        </p:sp>
      </p:grpSp>
      <p:grpSp>
        <p:nvGrpSpPr>
          <p:cNvPr id="134" name="그룹 133">
            <a:extLst>
              <a:ext uri="{FF2B5EF4-FFF2-40B4-BE49-F238E27FC236}">
                <a16:creationId xmlns:a16="http://schemas.microsoft.com/office/drawing/2014/main" id="{448464A8-0CAA-4A65-8373-02B1EDFBD476}"/>
              </a:ext>
            </a:extLst>
          </p:cNvPr>
          <p:cNvGrpSpPr/>
          <p:nvPr/>
        </p:nvGrpSpPr>
        <p:grpSpPr>
          <a:xfrm>
            <a:off x="7076155" y="3191010"/>
            <a:ext cx="353772" cy="121878"/>
            <a:chOff x="1403648" y="4005104"/>
            <a:chExt cx="360032" cy="360000"/>
          </a:xfrm>
          <a:solidFill>
            <a:srgbClr val="00B050"/>
          </a:solidFill>
        </p:grpSpPr>
        <p:sp>
          <p:nvSpPr>
            <p:cNvPr id="138" name="직사각형 137">
              <a:extLst>
                <a:ext uri="{FF2B5EF4-FFF2-40B4-BE49-F238E27FC236}">
                  <a16:creationId xmlns:a16="http://schemas.microsoft.com/office/drawing/2014/main" id="{2ADB9A79-ABA6-49A1-9DD5-DE51D698C001}"/>
                </a:ext>
              </a:extLst>
            </p:cNvPr>
            <p:cNvSpPr/>
            <p:nvPr/>
          </p:nvSpPr>
          <p:spPr>
            <a:xfrm>
              <a:off x="1403648" y="4185104"/>
              <a:ext cx="72000" cy="180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139" name="직사각형 138">
              <a:extLst>
                <a:ext uri="{FF2B5EF4-FFF2-40B4-BE49-F238E27FC236}">
                  <a16:creationId xmlns:a16="http://schemas.microsoft.com/office/drawing/2014/main" id="{69118776-2F5E-4DFA-8801-25B05ACDEE56}"/>
                </a:ext>
              </a:extLst>
            </p:cNvPr>
            <p:cNvSpPr/>
            <p:nvPr/>
          </p:nvSpPr>
          <p:spPr>
            <a:xfrm>
              <a:off x="1691680" y="4005104"/>
              <a:ext cx="72000" cy="360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sp>
        <p:nvSpPr>
          <p:cNvPr id="135" name="자유형 33">
            <a:extLst>
              <a:ext uri="{FF2B5EF4-FFF2-40B4-BE49-F238E27FC236}">
                <a16:creationId xmlns:a16="http://schemas.microsoft.com/office/drawing/2014/main" id="{CA02E4B3-956E-4D5C-B54F-7D43642C84CF}"/>
              </a:ext>
            </a:extLst>
          </p:cNvPr>
          <p:cNvSpPr/>
          <p:nvPr/>
        </p:nvSpPr>
        <p:spPr>
          <a:xfrm flipH="1" flipV="1">
            <a:off x="4008787" y="3312883"/>
            <a:ext cx="2876505" cy="536325"/>
          </a:xfrm>
          <a:custGeom>
            <a:avLst/>
            <a:gdLst>
              <a:gd name="connsiteX0" fmla="*/ 0 w 4368800"/>
              <a:gd name="connsiteY0" fmla="*/ 389467 h 414867"/>
              <a:gd name="connsiteX1" fmla="*/ 270933 w 4368800"/>
              <a:gd name="connsiteY1" fmla="*/ 321733 h 414867"/>
              <a:gd name="connsiteX2" fmla="*/ 575733 w 4368800"/>
              <a:gd name="connsiteY2" fmla="*/ 414867 h 414867"/>
              <a:gd name="connsiteX3" fmla="*/ 880533 w 4368800"/>
              <a:gd name="connsiteY3" fmla="*/ 355600 h 414867"/>
              <a:gd name="connsiteX4" fmla="*/ 1134533 w 4368800"/>
              <a:gd name="connsiteY4" fmla="*/ 203200 h 414867"/>
              <a:gd name="connsiteX5" fmla="*/ 1456266 w 4368800"/>
              <a:gd name="connsiteY5" fmla="*/ 313267 h 414867"/>
              <a:gd name="connsiteX6" fmla="*/ 1727200 w 4368800"/>
              <a:gd name="connsiteY6" fmla="*/ 254000 h 414867"/>
              <a:gd name="connsiteX7" fmla="*/ 1998133 w 4368800"/>
              <a:gd name="connsiteY7" fmla="*/ 135467 h 414867"/>
              <a:gd name="connsiteX8" fmla="*/ 2353733 w 4368800"/>
              <a:gd name="connsiteY8" fmla="*/ 287867 h 414867"/>
              <a:gd name="connsiteX9" fmla="*/ 2607733 w 4368800"/>
              <a:gd name="connsiteY9" fmla="*/ 169333 h 414867"/>
              <a:gd name="connsiteX10" fmla="*/ 2946400 w 4368800"/>
              <a:gd name="connsiteY10" fmla="*/ 211667 h 414867"/>
              <a:gd name="connsiteX11" fmla="*/ 3234266 w 4368800"/>
              <a:gd name="connsiteY11" fmla="*/ 203200 h 414867"/>
              <a:gd name="connsiteX12" fmla="*/ 3505200 w 4368800"/>
              <a:gd name="connsiteY12" fmla="*/ 0 h 414867"/>
              <a:gd name="connsiteX13" fmla="*/ 3810000 w 4368800"/>
              <a:gd name="connsiteY13" fmla="*/ 135467 h 414867"/>
              <a:gd name="connsiteX14" fmla="*/ 4097866 w 4368800"/>
              <a:gd name="connsiteY14" fmla="*/ 42333 h 414867"/>
              <a:gd name="connsiteX15" fmla="*/ 4368800 w 4368800"/>
              <a:gd name="connsiteY15" fmla="*/ 118533 h 414867"/>
              <a:gd name="connsiteX0" fmla="*/ 0 w 4368800"/>
              <a:gd name="connsiteY0" fmla="*/ 524934 h 524934"/>
              <a:gd name="connsiteX1" fmla="*/ 270933 w 4368800"/>
              <a:gd name="connsiteY1" fmla="*/ 321733 h 524934"/>
              <a:gd name="connsiteX2" fmla="*/ 575733 w 4368800"/>
              <a:gd name="connsiteY2" fmla="*/ 414867 h 524934"/>
              <a:gd name="connsiteX3" fmla="*/ 880533 w 4368800"/>
              <a:gd name="connsiteY3" fmla="*/ 355600 h 524934"/>
              <a:gd name="connsiteX4" fmla="*/ 1134533 w 4368800"/>
              <a:gd name="connsiteY4" fmla="*/ 203200 h 524934"/>
              <a:gd name="connsiteX5" fmla="*/ 1456266 w 4368800"/>
              <a:gd name="connsiteY5" fmla="*/ 313267 h 524934"/>
              <a:gd name="connsiteX6" fmla="*/ 1727200 w 4368800"/>
              <a:gd name="connsiteY6" fmla="*/ 254000 h 524934"/>
              <a:gd name="connsiteX7" fmla="*/ 1998133 w 4368800"/>
              <a:gd name="connsiteY7" fmla="*/ 135467 h 524934"/>
              <a:gd name="connsiteX8" fmla="*/ 2353733 w 4368800"/>
              <a:gd name="connsiteY8" fmla="*/ 287867 h 524934"/>
              <a:gd name="connsiteX9" fmla="*/ 2607733 w 4368800"/>
              <a:gd name="connsiteY9" fmla="*/ 169333 h 524934"/>
              <a:gd name="connsiteX10" fmla="*/ 2946400 w 4368800"/>
              <a:gd name="connsiteY10" fmla="*/ 211667 h 524934"/>
              <a:gd name="connsiteX11" fmla="*/ 3234266 w 4368800"/>
              <a:gd name="connsiteY11" fmla="*/ 203200 h 524934"/>
              <a:gd name="connsiteX12" fmla="*/ 3505200 w 4368800"/>
              <a:gd name="connsiteY12" fmla="*/ 0 h 524934"/>
              <a:gd name="connsiteX13" fmla="*/ 3810000 w 4368800"/>
              <a:gd name="connsiteY13" fmla="*/ 135467 h 524934"/>
              <a:gd name="connsiteX14" fmla="*/ 4097866 w 4368800"/>
              <a:gd name="connsiteY14" fmla="*/ 42333 h 524934"/>
              <a:gd name="connsiteX15" fmla="*/ 4368800 w 4368800"/>
              <a:gd name="connsiteY15" fmla="*/ 118533 h 524934"/>
              <a:gd name="connsiteX0" fmla="*/ 0 w 4368800"/>
              <a:gd name="connsiteY0" fmla="*/ 541867 h 541867"/>
              <a:gd name="connsiteX1" fmla="*/ 270933 w 4368800"/>
              <a:gd name="connsiteY1" fmla="*/ 338666 h 541867"/>
              <a:gd name="connsiteX2" fmla="*/ 575733 w 4368800"/>
              <a:gd name="connsiteY2" fmla="*/ 431800 h 541867"/>
              <a:gd name="connsiteX3" fmla="*/ 880533 w 4368800"/>
              <a:gd name="connsiteY3" fmla="*/ 372533 h 541867"/>
              <a:gd name="connsiteX4" fmla="*/ 1134533 w 4368800"/>
              <a:gd name="connsiteY4" fmla="*/ 220133 h 541867"/>
              <a:gd name="connsiteX5" fmla="*/ 1456266 w 4368800"/>
              <a:gd name="connsiteY5" fmla="*/ 330200 h 541867"/>
              <a:gd name="connsiteX6" fmla="*/ 1727200 w 4368800"/>
              <a:gd name="connsiteY6" fmla="*/ 270933 h 541867"/>
              <a:gd name="connsiteX7" fmla="*/ 2048933 w 4368800"/>
              <a:gd name="connsiteY7" fmla="*/ 0 h 541867"/>
              <a:gd name="connsiteX8" fmla="*/ 2353733 w 4368800"/>
              <a:gd name="connsiteY8" fmla="*/ 304800 h 541867"/>
              <a:gd name="connsiteX9" fmla="*/ 2607733 w 4368800"/>
              <a:gd name="connsiteY9" fmla="*/ 186266 h 541867"/>
              <a:gd name="connsiteX10" fmla="*/ 2946400 w 4368800"/>
              <a:gd name="connsiteY10" fmla="*/ 228600 h 541867"/>
              <a:gd name="connsiteX11" fmla="*/ 3234266 w 4368800"/>
              <a:gd name="connsiteY11" fmla="*/ 220133 h 541867"/>
              <a:gd name="connsiteX12" fmla="*/ 3505200 w 4368800"/>
              <a:gd name="connsiteY12" fmla="*/ 16933 h 541867"/>
              <a:gd name="connsiteX13" fmla="*/ 3810000 w 4368800"/>
              <a:gd name="connsiteY13" fmla="*/ 152400 h 541867"/>
              <a:gd name="connsiteX14" fmla="*/ 4097866 w 4368800"/>
              <a:gd name="connsiteY14" fmla="*/ 59266 h 541867"/>
              <a:gd name="connsiteX15" fmla="*/ 4368800 w 4368800"/>
              <a:gd name="connsiteY15" fmla="*/ 135466 h 541867"/>
              <a:gd name="connsiteX0" fmla="*/ 0 w 4368800"/>
              <a:gd name="connsiteY0" fmla="*/ 541867 h 541867"/>
              <a:gd name="connsiteX1" fmla="*/ 270933 w 4368800"/>
              <a:gd name="connsiteY1" fmla="*/ 338666 h 541867"/>
              <a:gd name="connsiteX2" fmla="*/ 575733 w 4368800"/>
              <a:gd name="connsiteY2" fmla="*/ 431800 h 541867"/>
              <a:gd name="connsiteX3" fmla="*/ 880533 w 4368800"/>
              <a:gd name="connsiteY3" fmla="*/ 372533 h 541867"/>
              <a:gd name="connsiteX4" fmla="*/ 1134533 w 4368800"/>
              <a:gd name="connsiteY4" fmla="*/ 220133 h 541867"/>
              <a:gd name="connsiteX5" fmla="*/ 1456266 w 4368800"/>
              <a:gd name="connsiteY5" fmla="*/ 330200 h 541867"/>
              <a:gd name="connsiteX6" fmla="*/ 1727200 w 4368800"/>
              <a:gd name="connsiteY6" fmla="*/ 270933 h 541867"/>
              <a:gd name="connsiteX7" fmla="*/ 2048933 w 4368800"/>
              <a:gd name="connsiteY7" fmla="*/ 0 h 541867"/>
              <a:gd name="connsiteX8" fmla="*/ 2353733 w 4368800"/>
              <a:gd name="connsiteY8" fmla="*/ 304800 h 541867"/>
              <a:gd name="connsiteX9" fmla="*/ 2607733 w 4368800"/>
              <a:gd name="connsiteY9" fmla="*/ 186266 h 541867"/>
              <a:gd name="connsiteX10" fmla="*/ 2963334 w 4368800"/>
              <a:gd name="connsiteY10" fmla="*/ 152400 h 541867"/>
              <a:gd name="connsiteX11" fmla="*/ 3234266 w 4368800"/>
              <a:gd name="connsiteY11" fmla="*/ 220133 h 541867"/>
              <a:gd name="connsiteX12" fmla="*/ 3505200 w 4368800"/>
              <a:gd name="connsiteY12" fmla="*/ 16933 h 541867"/>
              <a:gd name="connsiteX13" fmla="*/ 3810000 w 4368800"/>
              <a:gd name="connsiteY13" fmla="*/ 152400 h 541867"/>
              <a:gd name="connsiteX14" fmla="*/ 4097866 w 4368800"/>
              <a:gd name="connsiteY14" fmla="*/ 59266 h 541867"/>
              <a:gd name="connsiteX15" fmla="*/ 4368800 w 4368800"/>
              <a:gd name="connsiteY15" fmla="*/ 135466 h 541867"/>
              <a:gd name="connsiteX0" fmla="*/ 0 w 4368800"/>
              <a:gd name="connsiteY0" fmla="*/ 575734 h 575734"/>
              <a:gd name="connsiteX1" fmla="*/ 270933 w 4368800"/>
              <a:gd name="connsiteY1" fmla="*/ 372533 h 575734"/>
              <a:gd name="connsiteX2" fmla="*/ 575733 w 4368800"/>
              <a:gd name="connsiteY2" fmla="*/ 465667 h 575734"/>
              <a:gd name="connsiteX3" fmla="*/ 880533 w 4368800"/>
              <a:gd name="connsiteY3" fmla="*/ 406400 h 575734"/>
              <a:gd name="connsiteX4" fmla="*/ 1134533 w 4368800"/>
              <a:gd name="connsiteY4" fmla="*/ 254000 h 575734"/>
              <a:gd name="connsiteX5" fmla="*/ 1456266 w 4368800"/>
              <a:gd name="connsiteY5" fmla="*/ 364067 h 575734"/>
              <a:gd name="connsiteX6" fmla="*/ 1727200 w 4368800"/>
              <a:gd name="connsiteY6" fmla="*/ 304800 h 575734"/>
              <a:gd name="connsiteX7" fmla="*/ 2048933 w 4368800"/>
              <a:gd name="connsiteY7" fmla="*/ 33867 h 575734"/>
              <a:gd name="connsiteX8" fmla="*/ 2353733 w 4368800"/>
              <a:gd name="connsiteY8" fmla="*/ 338667 h 575734"/>
              <a:gd name="connsiteX9" fmla="*/ 2607733 w 4368800"/>
              <a:gd name="connsiteY9" fmla="*/ 220133 h 575734"/>
              <a:gd name="connsiteX10" fmla="*/ 2963334 w 4368800"/>
              <a:gd name="connsiteY10" fmla="*/ 186267 h 575734"/>
              <a:gd name="connsiteX11" fmla="*/ 3234266 w 4368800"/>
              <a:gd name="connsiteY11" fmla="*/ 254000 h 575734"/>
              <a:gd name="connsiteX12" fmla="*/ 3505200 w 4368800"/>
              <a:gd name="connsiteY12" fmla="*/ 0 h 575734"/>
              <a:gd name="connsiteX13" fmla="*/ 3810000 w 4368800"/>
              <a:gd name="connsiteY13" fmla="*/ 186267 h 575734"/>
              <a:gd name="connsiteX14" fmla="*/ 4097866 w 4368800"/>
              <a:gd name="connsiteY14" fmla="*/ 93133 h 575734"/>
              <a:gd name="connsiteX15" fmla="*/ 4368800 w 4368800"/>
              <a:gd name="connsiteY15" fmla="*/ 169333 h 575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4368800" h="575734">
                <a:moveTo>
                  <a:pt x="0" y="575734"/>
                </a:moveTo>
                <a:lnTo>
                  <a:pt x="270933" y="372533"/>
                </a:lnTo>
                <a:lnTo>
                  <a:pt x="575733" y="465667"/>
                </a:lnTo>
                <a:lnTo>
                  <a:pt x="880533" y="406400"/>
                </a:lnTo>
                <a:lnTo>
                  <a:pt x="1134533" y="254000"/>
                </a:lnTo>
                <a:lnTo>
                  <a:pt x="1456266" y="364067"/>
                </a:lnTo>
                <a:lnTo>
                  <a:pt x="1727200" y="304800"/>
                </a:lnTo>
                <a:lnTo>
                  <a:pt x="2048933" y="33867"/>
                </a:lnTo>
                <a:lnTo>
                  <a:pt x="2353733" y="338667"/>
                </a:lnTo>
                <a:cubicBezTo>
                  <a:pt x="2438400" y="299156"/>
                  <a:pt x="2506133" y="245533"/>
                  <a:pt x="2607733" y="220133"/>
                </a:cubicBezTo>
                <a:cubicBezTo>
                  <a:pt x="2709333" y="194733"/>
                  <a:pt x="2844800" y="197556"/>
                  <a:pt x="2963334" y="186267"/>
                </a:cubicBezTo>
                <a:lnTo>
                  <a:pt x="3234266" y="254000"/>
                </a:lnTo>
                <a:lnTo>
                  <a:pt x="3505200" y="0"/>
                </a:lnTo>
                <a:lnTo>
                  <a:pt x="3810000" y="186267"/>
                </a:lnTo>
                <a:lnTo>
                  <a:pt x="4097866" y="93133"/>
                </a:lnTo>
                <a:lnTo>
                  <a:pt x="4368800" y="169333"/>
                </a:lnTo>
              </a:path>
            </a:pathLst>
          </a:custGeom>
          <a:ln>
            <a:solidFill>
              <a:schemeClr val="accent3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36" name="자유형 83">
            <a:extLst>
              <a:ext uri="{FF2B5EF4-FFF2-40B4-BE49-F238E27FC236}">
                <a16:creationId xmlns:a16="http://schemas.microsoft.com/office/drawing/2014/main" id="{60CAAD73-1334-4889-B853-8AFD1B2E7740}"/>
              </a:ext>
            </a:extLst>
          </p:cNvPr>
          <p:cNvSpPr/>
          <p:nvPr/>
        </p:nvSpPr>
        <p:spPr>
          <a:xfrm>
            <a:off x="1164944" y="2703745"/>
            <a:ext cx="2742866" cy="604045"/>
          </a:xfrm>
          <a:custGeom>
            <a:avLst/>
            <a:gdLst>
              <a:gd name="connsiteX0" fmla="*/ 0 w 4368800"/>
              <a:gd name="connsiteY0" fmla="*/ 389467 h 414867"/>
              <a:gd name="connsiteX1" fmla="*/ 270933 w 4368800"/>
              <a:gd name="connsiteY1" fmla="*/ 321733 h 414867"/>
              <a:gd name="connsiteX2" fmla="*/ 575733 w 4368800"/>
              <a:gd name="connsiteY2" fmla="*/ 414867 h 414867"/>
              <a:gd name="connsiteX3" fmla="*/ 880533 w 4368800"/>
              <a:gd name="connsiteY3" fmla="*/ 355600 h 414867"/>
              <a:gd name="connsiteX4" fmla="*/ 1134533 w 4368800"/>
              <a:gd name="connsiteY4" fmla="*/ 203200 h 414867"/>
              <a:gd name="connsiteX5" fmla="*/ 1456266 w 4368800"/>
              <a:gd name="connsiteY5" fmla="*/ 313267 h 414867"/>
              <a:gd name="connsiteX6" fmla="*/ 1727200 w 4368800"/>
              <a:gd name="connsiteY6" fmla="*/ 254000 h 414867"/>
              <a:gd name="connsiteX7" fmla="*/ 1998133 w 4368800"/>
              <a:gd name="connsiteY7" fmla="*/ 135467 h 414867"/>
              <a:gd name="connsiteX8" fmla="*/ 2353733 w 4368800"/>
              <a:gd name="connsiteY8" fmla="*/ 287867 h 414867"/>
              <a:gd name="connsiteX9" fmla="*/ 2607733 w 4368800"/>
              <a:gd name="connsiteY9" fmla="*/ 169333 h 414867"/>
              <a:gd name="connsiteX10" fmla="*/ 2946400 w 4368800"/>
              <a:gd name="connsiteY10" fmla="*/ 211667 h 414867"/>
              <a:gd name="connsiteX11" fmla="*/ 3234266 w 4368800"/>
              <a:gd name="connsiteY11" fmla="*/ 203200 h 414867"/>
              <a:gd name="connsiteX12" fmla="*/ 3505200 w 4368800"/>
              <a:gd name="connsiteY12" fmla="*/ 0 h 414867"/>
              <a:gd name="connsiteX13" fmla="*/ 3810000 w 4368800"/>
              <a:gd name="connsiteY13" fmla="*/ 135467 h 414867"/>
              <a:gd name="connsiteX14" fmla="*/ 4097866 w 4368800"/>
              <a:gd name="connsiteY14" fmla="*/ 42333 h 414867"/>
              <a:gd name="connsiteX15" fmla="*/ 4368800 w 4368800"/>
              <a:gd name="connsiteY15" fmla="*/ 118533 h 414867"/>
              <a:gd name="connsiteX0" fmla="*/ 0 w 4368800"/>
              <a:gd name="connsiteY0" fmla="*/ 524934 h 524934"/>
              <a:gd name="connsiteX1" fmla="*/ 270933 w 4368800"/>
              <a:gd name="connsiteY1" fmla="*/ 321733 h 524934"/>
              <a:gd name="connsiteX2" fmla="*/ 575733 w 4368800"/>
              <a:gd name="connsiteY2" fmla="*/ 414867 h 524934"/>
              <a:gd name="connsiteX3" fmla="*/ 880533 w 4368800"/>
              <a:gd name="connsiteY3" fmla="*/ 355600 h 524934"/>
              <a:gd name="connsiteX4" fmla="*/ 1134533 w 4368800"/>
              <a:gd name="connsiteY4" fmla="*/ 203200 h 524934"/>
              <a:gd name="connsiteX5" fmla="*/ 1456266 w 4368800"/>
              <a:gd name="connsiteY5" fmla="*/ 313267 h 524934"/>
              <a:gd name="connsiteX6" fmla="*/ 1727200 w 4368800"/>
              <a:gd name="connsiteY6" fmla="*/ 254000 h 524934"/>
              <a:gd name="connsiteX7" fmla="*/ 1998133 w 4368800"/>
              <a:gd name="connsiteY7" fmla="*/ 135467 h 524934"/>
              <a:gd name="connsiteX8" fmla="*/ 2353733 w 4368800"/>
              <a:gd name="connsiteY8" fmla="*/ 287867 h 524934"/>
              <a:gd name="connsiteX9" fmla="*/ 2607733 w 4368800"/>
              <a:gd name="connsiteY9" fmla="*/ 169333 h 524934"/>
              <a:gd name="connsiteX10" fmla="*/ 2946400 w 4368800"/>
              <a:gd name="connsiteY10" fmla="*/ 211667 h 524934"/>
              <a:gd name="connsiteX11" fmla="*/ 3234266 w 4368800"/>
              <a:gd name="connsiteY11" fmla="*/ 203200 h 524934"/>
              <a:gd name="connsiteX12" fmla="*/ 3505200 w 4368800"/>
              <a:gd name="connsiteY12" fmla="*/ 0 h 524934"/>
              <a:gd name="connsiteX13" fmla="*/ 3810000 w 4368800"/>
              <a:gd name="connsiteY13" fmla="*/ 135467 h 524934"/>
              <a:gd name="connsiteX14" fmla="*/ 4097866 w 4368800"/>
              <a:gd name="connsiteY14" fmla="*/ 42333 h 524934"/>
              <a:gd name="connsiteX15" fmla="*/ 4368800 w 4368800"/>
              <a:gd name="connsiteY15" fmla="*/ 118533 h 524934"/>
              <a:gd name="connsiteX0" fmla="*/ 0 w 4368800"/>
              <a:gd name="connsiteY0" fmla="*/ 541867 h 541867"/>
              <a:gd name="connsiteX1" fmla="*/ 270933 w 4368800"/>
              <a:gd name="connsiteY1" fmla="*/ 338666 h 541867"/>
              <a:gd name="connsiteX2" fmla="*/ 575733 w 4368800"/>
              <a:gd name="connsiteY2" fmla="*/ 431800 h 541867"/>
              <a:gd name="connsiteX3" fmla="*/ 880533 w 4368800"/>
              <a:gd name="connsiteY3" fmla="*/ 372533 h 541867"/>
              <a:gd name="connsiteX4" fmla="*/ 1134533 w 4368800"/>
              <a:gd name="connsiteY4" fmla="*/ 220133 h 541867"/>
              <a:gd name="connsiteX5" fmla="*/ 1456266 w 4368800"/>
              <a:gd name="connsiteY5" fmla="*/ 330200 h 541867"/>
              <a:gd name="connsiteX6" fmla="*/ 1727200 w 4368800"/>
              <a:gd name="connsiteY6" fmla="*/ 270933 h 541867"/>
              <a:gd name="connsiteX7" fmla="*/ 2048933 w 4368800"/>
              <a:gd name="connsiteY7" fmla="*/ 0 h 541867"/>
              <a:gd name="connsiteX8" fmla="*/ 2353733 w 4368800"/>
              <a:gd name="connsiteY8" fmla="*/ 304800 h 541867"/>
              <a:gd name="connsiteX9" fmla="*/ 2607733 w 4368800"/>
              <a:gd name="connsiteY9" fmla="*/ 186266 h 541867"/>
              <a:gd name="connsiteX10" fmla="*/ 2946400 w 4368800"/>
              <a:gd name="connsiteY10" fmla="*/ 228600 h 541867"/>
              <a:gd name="connsiteX11" fmla="*/ 3234266 w 4368800"/>
              <a:gd name="connsiteY11" fmla="*/ 220133 h 541867"/>
              <a:gd name="connsiteX12" fmla="*/ 3505200 w 4368800"/>
              <a:gd name="connsiteY12" fmla="*/ 16933 h 541867"/>
              <a:gd name="connsiteX13" fmla="*/ 3810000 w 4368800"/>
              <a:gd name="connsiteY13" fmla="*/ 152400 h 541867"/>
              <a:gd name="connsiteX14" fmla="*/ 4097866 w 4368800"/>
              <a:gd name="connsiteY14" fmla="*/ 59266 h 541867"/>
              <a:gd name="connsiteX15" fmla="*/ 4368800 w 4368800"/>
              <a:gd name="connsiteY15" fmla="*/ 135466 h 541867"/>
              <a:gd name="connsiteX0" fmla="*/ 0 w 4368800"/>
              <a:gd name="connsiteY0" fmla="*/ 541867 h 541867"/>
              <a:gd name="connsiteX1" fmla="*/ 270933 w 4368800"/>
              <a:gd name="connsiteY1" fmla="*/ 338666 h 541867"/>
              <a:gd name="connsiteX2" fmla="*/ 575733 w 4368800"/>
              <a:gd name="connsiteY2" fmla="*/ 431800 h 541867"/>
              <a:gd name="connsiteX3" fmla="*/ 880533 w 4368800"/>
              <a:gd name="connsiteY3" fmla="*/ 372533 h 541867"/>
              <a:gd name="connsiteX4" fmla="*/ 1134533 w 4368800"/>
              <a:gd name="connsiteY4" fmla="*/ 220133 h 541867"/>
              <a:gd name="connsiteX5" fmla="*/ 1456266 w 4368800"/>
              <a:gd name="connsiteY5" fmla="*/ 330200 h 541867"/>
              <a:gd name="connsiteX6" fmla="*/ 1727200 w 4368800"/>
              <a:gd name="connsiteY6" fmla="*/ 270933 h 541867"/>
              <a:gd name="connsiteX7" fmla="*/ 2048933 w 4368800"/>
              <a:gd name="connsiteY7" fmla="*/ 0 h 541867"/>
              <a:gd name="connsiteX8" fmla="*/ 2353733 w 4368800"/>
              <a:gd name="connsiteY8" fmla="*/ 304800 h 541867"/>
              <a:gd name="connsiteX9" fmla="*/ 2607733 w 4368800"/>
              <a:gd name="connsiteY9" fmla="*/ 186266 h 541867"/>
              <a:gd name="connsiteX10" fmla="*/ 2963334 w 4368800"/>
              <a:gd name="connsiteY10" fmla="*/ 152400 h 541867"/>
              <a:gd name="connsiteX11" fmla="*/ 3234266 w 4368800"/>
              <a:gd name="connsiteY11" fmla="*/ 220133 h 541867"/>
              <a:gd name="connsiteX12" fmla="*/ 3505200 w 4368800"/>
              <a:gd name="connsiteY12" fmla="*/ 16933 h 541867"/>
              <a:gd name="connsiteX13" fmla="*/ 3810000 w 4368800"/>
              <a:gd name="connsiteY13" fmla="*/ 152400 h 541867"/>
              <a:gd name="connsiteX14" fmla="*/ 4097866 w 4368800"/>
              <a:gd name="connsiteY14" fmla="*/ 59266 h 541867"/>
              <a:gd name="connsiteX15" fmla="*/ 4368800 w 4368800"/>
              <a:gd name="connsiteY15" fmla="*/ 135466 h 541867"/>
              <a:gd name="connsiteX0" fmla="*/ 0 w 4368800"/>
              <a:gd name="connsiteY0" fmla="*/ 575734 h 575734"/>
              <a:gd name="connsiteX1" fmla="*/ 270933 w 4368800"/>
              <a:gd name="connsiteY1" fmla="*/ 372533 h 575734"/>
              <a:gd name="connsiteX2" fmla="*/ 575733 w 4368800"/>
              <a:gd name="connsiteY2" fmla="*/ 465667 h 575734"/>
              <a:gd name="connsiteX3" fmla="*/ 880533 w 4368800"/>
              <a:gd name="connsiteY3" fmla="*/ 406400 h 575734"/>
              <a:gd name="connsiteX4" fmla="*/ 1134533 w 4368800"/>
              <a:gd name="connsiteY4" fmla="*/ 254000 h 575734"/>
              <a:gd name="connsiteX5" fmla="*/ 1456266 w 4368800"/>
              <a:gd name="connsiteY5" fmla="*/ 364067 h 575734"/>
              <a:gd name="connsiteX6" fmla="*/ 1727200 w 4368800"/>
              <a:gd name="connsiteY6" fmla="*/ 304800 h 575734"/>
              <a:gd name="connsiteX7" fmla="*/ 2048933 w 4368800"/>
              <a:gd name="connsiteY7" fmla="*/ 33867 h 575734"/>
              <a:gd name="connsiteX8" fmla="*/ 2353733 w 4368800"/>
              <a:gd name="connsiteY8" fmla="*/ 338667 h 575734"/>
              <a:gd name="connsiteX9" fmla="*/ 2607733 w 4368800"/>
              <a:gd name="connsiteY9" fmla="*/ 220133 h 575734"/>
              <a:gd name="connsiteX10" fmla="*/ 2963334 w 4368800"/>
              <a:gd name="connsiteY10" fmla="*/ 186267 h 575734"/>
              <a:gd name="connsiteX11" fmla="*/ 3234266 w 4368800"/>
              <a:gd name="connsiteY11" fmla="*/ 254000 h 575734"/>
              <a:gd name="connsiteX12" fmla="*/ 3505200 w 4368800"/>
              <a:gd name="connsiteY12" fmla="*/ 0 h 575734"/>
              <a:gd name="connsiteX13" fmla="*/ 3810000 w 4368800"/>
              <a:gd name="connsiteY13" fmla="*/ 186267 h 575734"/>
              <a:gd name="connsiteX14" fmla="*/ 4097866 w 4368800"/>
              <a:gd name="connsiteY14" fmla="*/ 93133 h 575734"/>
              <a:gd name="connsiteX15" fmla="*/ 4368800 w 4368800"/>
              <a:gd name="connsiteY15" fmla="*/ 169333 h 575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4368800" h="575734">
                <a:moveTo>
                  <a:pt x="0" y="575734"/>
                </a:moveTo>
                <a:lnTo>
                  <a:pt x="270933" y="372533"/>
                </a:lnTo>
                <a:lnTo>
                  <a:pt x="575733" y="465667"/>
                </a:lnTo>
                <a:lnTo>
                  <a:pt x="880533" y="406400"/>
                </a:lnTo>
                <a:lnTo>
                  <a:pt x="1134533" y="254000"/>
                </a:lnTo>
                <a:lnTo>
                  <a:pt x="1456266" y="364067"/>
                </a:lnTo>
                <a:lnTo>
                  <a:pt x="1727200" y="304800"/>
                </a:lnTo>
                <a:lnTo>
                  <a:pt x="2048933" y="33867"/>
                </a:lnTo>
                <a:lnTo>
                  <a:pt x="2353733" y="338667"/>
                </a:lnTo>
                <a:cubicBezTo>
                  <a:pt x="2438400" y="299156"/>
                  <a:pt x="2506133" y="245533"/>
                  <a:pt x="2607733" y="220133"/>
                </a:cubicBezTo>
                <a:cubicBezTo>
                  <a:pt x="2709333" y="194733"/>
                  <a:pt x="2844800" y="197556"/>
                  <a:pt x="2963334" y="186267"/>
                </a:cubicBezTo>
                <a:lnTo>
                  <a:pt x="3234266" y="254000"/>
                </a:lnTo>
                <a:lnTo>
                  <a:pt x="3505200" y="0"/>
                </a:lnTo>
                <a:lnTo>
                  <a:pt x="3810000" y="186267"/>
                </a:lnTo>
                <a:lnTo>
                  <a:pt x="4097866" y="93133"/>
                </a:lnTo>
                <a:lnTo>
                  <a:pt x="4368800" y="169333"/>
                </a:lnTo>
              </a:path>
            </a:pathLst>
          </a:custGeom>
          <a:ln>
            <a:solidFill>
              <a:schemeClr val="bg1">
                <a:lumMod val="5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37" name="자유형 83">
            <a:extLst>
              <a:ext uri="{FF2B5EF4-FFF2-40B4-BE49-F238E27FC236}">
                <a16:creationId xmlns:a16="http://schemas.microsoft.com/office/drawing/2014/main" id="{5116EE6F-22C2-483E-B451-7BCD78285145}"/>
              </a:ext>
            </a:extLst>
          </p:cNvPr>
          <p:cNvSpPr/>
          <p:nvPr/>
        </p:nvSpPr>
        <p:spPr>
          <a:xfrm>
            <a:off x="7039306" y="2681757"/>
            <a:ext cx="1073025" cy="604045"/>
          </a:xfrm>
          <a:custGeom>
            <a:avLst/>
            <a:gdLst>
              <a:gd name="connsiteX0" fmla="*/ 0 w 4368800"/>
              <a:gd name="connsiteY0" fmla="*/ 389467 h 414867"/>
              <a:gd name="connsiteX1" fmla="*/ 270933 w 4368800"/>
              <a:gd name="connsiteY1" fmla="*/ 321733 h 414867"/>
              <a:gd name="connsiteX2" fmla="*/ 575733 w 4368800"/>
              <a:gd name="connsiteY2" fmla="*/ 414867 h 414867"/>
              <a:gd name="connsiteX3" fmla="*/ 880533 w 4368800"/>
              <a:gd name="connsiteY3" fmla="*/ 355600 h 414867"/>
              <a:gd name="connsiteX4" fmla="*/ 1134533 w 4368800"/>
              <a:gd name="connsiteY4" fmla="*/ 203200 h 414867"/>
              <a:gd name="connsiteX5" fmla="*/ 1456266 w 4368800"/>
              <a:gd name="connsiteY5" fmla="*/ 313267 h 414867"/>
              <a:gd name="connsiteX6" fmla="*/ 1727200 w 4368800"/>
              <a:gd name="connsiteY6" fmla="*/ 254000 h 414867"/>
              <a:gd name="connsiteX7" fmla="*/ 1998133 w 4368800"/>
              <a:gd name="connsiteY7" fmla="*/ 135467 h 414867"/>
              <a:gd name="connsiteX8" fmla="*/ 2353733 w 4368800"/>
              <a:gd name="connsiteY8" fmla="*/ 287867 h 414867"/>
              <a:gd name="connsiteX9" fmla="*/ 2607733 w 4368800"/>
              <a:gd name="connsiteY9" fmla="*/ 169333 h 414867"/>
              <a:gd name="connsiteX10" fmla="*/ 2946400 w 4368800"/>
              <a:gd name="connsiteY10" fmla="*/ 211667 h 414867"/>
              <a:gd name="connsiteX11" fmla="*/ 3234266 w 4368800"/>
              <a:gd name="connsiteY11" fmla="*/ 203200 h 414867"/>
              <a:gd name="connsiteX12" fmla="*/ 3505200 w 4368800"/>
              <a:gd name="connsiteY12" fmla="*/ 0 h 414867"/>
              <a:gd name="connsiteX13" fmla="*/ 3810000 w 4368800"/>
              <a:gd name="connsiteY13" fmla="*/ 135467 h 414867"/>
              <a:gd name="connsiteX14" fmla="*/ 4097866 w 4368800"/>
              <a:gd name="connsiteY14" fmla="*/ 42333 h 414867"/>
              <a:gd name="connsiteX15" fmla="*/ 4368800 w 4368800"/>
              <a:gd name="connsiteY15" fmla="*/ 118533 h 414867"/>
              <a:gd name="connsiteX0" fmla="*/ 0 w 4368800"/>
              <a:gd name="connsiteY0" fmla="*/ 524934 h 524934"/>
              <a:gd name="connsiteX1" fmla="*/ 270933 w 4368800"/>
              <a:gd name="connsiteY1" fmla="*/ 321733 h 524934"/>
              <a:gd name="connsiteX2" fmla="*/ 575733 w 4368800"/>
              <a:gd name="connsiteY2" fmla="*/ 414867 h 524934"/>
              <a:gd name="connsiteX3" fmla="*/ 880533 w 4368800"/>
              <a:gd name="connsiteY3" fmla="*/ 355600 h 524934"/>
              <a:gd name="connsiteX4" fmla="*/ 1134533 w 4368800"/>
              <a:gd name="connsiteY4" fmla="*/ 203200 h 524934"/>
              <a:gd name="connsiteX5" fmla="*/ 1456266 w 4368800"/>
              <a:gd name="connsiteY5" fmla="*/ 313267 h 524934"/>
              <a:gd name="connsiteX6" fmla="*/ 1727200 w 4368800"/>
              <a:gd name="connsiteY6" fmla="*/ 254000 h 524934"/>
              <a:gd name="connsiteX7" fmla="*/ 1998133 w 4368800"/>
              <a:gd name="connsiteY7" fmla="*/ 135467 h 524934"/>
              <a:gd name="connsiteX8" fmla="*/ 2353733 w 4368800"/>
              <a:gd name="connsiteY8" fmla="*/ 287867 h 524934"/>
              <a:gd name="connsiteX9" fmla="*/ 2607733 w 4368800"/>
              <a:gd name="connsiteY9" fmla="*/ 169333 h 524934"/>
              <a:gd name="connsiteX10" fmla="*/ 2946400 w 4368800"/>
              <a:gd name="connsiteY10" fmla="*/ 211667 h 524934"/>
              <a:gd name="connsiteX11" fmla="*/ 3234266 w 4368800"/>
              <a:gd name="connsiteY11" fmla="*/ 203200 h 524934"/>
              <a:gd name="connsiteX12" fmla="*/ 3505200 w 4368800"/>
              <a:gd name="connsiteY12" fmla="*/ 0 h 524934"/>
              <a:gd name="connsiteX13" fmla="*/ 3810000 w 4368800"/>
              <a:gd name="connsiteY13" fmla="*/ 135467 h 524934"/>
              <a:gd name="connsiteX14" fmla="*/ 4097866 w 4368800"/>
              <a:gd name="connsiteY14" fmla="*/ 42333 h 524934"/>
              <a:gd name="connsiteX15" fmla="*/ 4368800 w 4368800"/>
              <a:gd name="connsiteY15" fmla="*/ 118533 h 524934"/>
              <a:gd name="connsiteX0" fmla="*/ 0 w 4368800"/>
              <a:gd name="connsiteY0" fmla="*/ 541867 h 541867"/>
              <a:gd name="connsiteX1" fmla="*/ 270933 w 4368800"/>
              <a:gd name="connsiteY1" fmla="*/ 338666 h 541867"/>
              <a:gd name="connsiteX2" fmla="*/ 575733 w 4368800"/>
              <a:gd name="connsiteY2" fmla="*/ 431800 h 541867"/>
              <a:gd name="connsiteX3" fmla="*/ 880533 w 4368800"/>
              <a:gd name="connsiteY3" fmla="*/ 372533 h 541867"/>
              <a:gd name="connsiteX4" fmla="*/ 1134533 w 4368800"/>
              <a:gd name="connsiteY4" fmla="*/ 220133 h 541867"/>
              <a:gd name="connsiteX5" fmla="*/ 1456266 w 4368800"/>
              <a:gd name="connsiteY5" fmla="*/ 330200 h 541867"/>
              <a:gd name="connsiteX6" fmla="*/ 1727200 w 4368800"/>
              <a:gd name="connsiteY6" fmla="*/ 270933 h 541867"/>
              <a:gd name="connsiteX7" fmla="*/ 2048933 w 4368800"/>
              <a:gd name="connsiteY7" fmla="*/ 0 h 541867"/>
              <a:gd name="connsiteX8" fmla="*/ 2353733 w 4368800"/>
              <a:gd name="connsiteY8" fmla="*/ 304800 h 541867"/>
              <a:gd name="connsiteX9" fmla="*/ 2607733 w 4368800"/>
              <a:gd name="connsiteY9" fmla="*/ 186266 h 541867"/>
              <a:gd name="connsiteX10" fmla="*/ 2946400 w 4368800"/>
              <a:gd name="connsiteY10" fmla="*/ 228600 h 541867"/>
              <a:gd name="connsiteX11" fmla="*/ 3234266 w 4368800"/>
              <a:gd name="connsiteY11" fmla="*/ 220133 h 541867"/>
              <a:gd name="connsiteX12" fmla="*/ 3505200 w 4368800"/>
              <a:gd name="connsiteY12" fmla="*/ 16933 h 541867"/>
              <a:gd name="connsiteX13" fmla="*/ 3810000 w 4368800"/>
              <a:gd name="connsiteY13" fmla="*/ 152400 h 541867"/>
              <a:gd name="connsiteX14" fmla="*/ 4097866 w 4368800"/>
              <a:gd name="connsiteY14" fmla="*/ 59266 h 541867"/>
              <a:gd name="connsiteX15" fmla="*/ 4368800 w 4368800"/>
              <a:gd name="connsiteY15" fmla="*/ 135466 h 541867"/>
              <a:gd name="connsiteX0" fmla="*/ 0 w 4368800"/>
              <a:gd name="connsiteY0" fmla="*/ 541867 h 541867"/>
              <a:gd name="connsiteX1" fmla="*/ 270933 w 4368800"/>
              <a:gd name="connsiteY1" fmla="*/ 338666 h 541867"/>
              <a:gd name="connsiteX2" fmla="*/ 575733 w 4368800"/>
              <a:gd name="connsiteY2" fmla="*/ 431800 h 541867"/>
              <a:gd name="connsiteX3" fmla="*/ 880533 w 4368800"/>
              <a:gd name="connsiteY3" fmla="*/ 372533 h 541867"/>
              <a:gd name="connsiteX4" fmla="*/ 1134533 w 4368800"/>
              <a:gd name="connsiteY4" fmla="*/ 220133 h 541867"/>
              <a:gd name="connsiteX5" fmla="*/ 1456266 w 4368800"/>
              <a:gd name="connsiteY5" fmla="*/ 330200 h 541867"/>
              <a:gd name="connsiteX6" fmla="*/ 1727200 w 4368800"/>
              <a:gd name="connsiteY6" fmla="*/ 270933 h 541867"/>
              <a:gd name="connsiteX7" fmla="*/ 2048933 w 4368800"/>
              <a:gd name="connsiteY7" fmla="*/ 0 h 541867"/>
              <a:gd name="connsiteX8" fmla="*/ 2353733 w 4368800"/>
              <a:gd name="connsiteY8" fmla="*/ 304800 h 541867"/>
              <a:gd name="connsiteX9" fmla="*/ 2607733 w 4368800"/>
              <a:gd name="connsiteY9" fmla="*/ 186266 h 541867"/>
              <a:gd name="connsiteX10" fmla="*/ 2963334 w 4368800"/>
              <a:gd name="connsiteY10" fmla="*/ 152400 h 541867"/>
              <a:gd name="connsiteX11" fmla="*/ 3234266 w 4368800"/>
              <a:gd name="connsiteY11" fmla="*/ 220133 h 541867"/>
              <a:gd name="connsiteX12" fmla="*/ 3505200 w 4368800"/>
              <a:gd name="connsiteY12" fmla="*/ 16933 h 541867"/>
              <a:gd name="connsiteX13" fmla="*/ 3810000 w 4368800"/>
              <a:gd name="connsiteY13" fmla="*/ 152400 h 541867"/>
              <a:gd name="connsiteX14" fmla="*/ 4097866 w 4368800"/>
              <a:gd name="connsiteY14" fmla="*/ 59266 h 541867"/>
              <a:gd name="connsiteX15" fmla="*/ 4368800 w 4368800"/>
              <a:gd name="connsiteY15" fmla="*/ 135466 h 541867"/>
              <a:gd name="connsiteX0" fmla="*/ 0 w 4368800"/>
              <a:gd name="connsiteY0" fmla="*/ 575734 h 575734"/>
              <a:gd name="connsiteX1" fmla="*/ 270933 w 4368800"/>
              <a:gd name="connsiteY1" fmla="*/ 372533 h 575734"/>
              <a:gd name="connsiteX2" fmla="*/ 575733 w 4368800"/>
              <a:gd name="connsiteY2" fmla="*/ 465667 h 575734"/>
              <a:gd name="connsiteX3" fmla="*/ 880533 w 4368800"/>
              <a:gd name="connsiteY3" fmla="*/ 406400 h 575734"/>
              <a:gd name="connsiteX4" fmla="*/ 1134533 w 4368800"/>
              <a:gd name="connsiteY4" fmla="*/ 254000 h 575734"/>
              <a:gd name="connsiteX5" fmla="*/ 1456266 w 4368800"/>
              <a:gd name="connsiteY5" fmla="*/ 364067 h 575734"/>
              <a:gd name="connsiteX6" fmla="*/ 1727200 w 4368800"/>
              <a:gd name="connsiteY6" fmla="*/ 304800 h 575734"/>
              <a:gd name="connsiteX7" fmla="*/ 2048933 w 4368800"/>
              <a:gd name="connsiteY7" fmla="*/ 33867 h 575734"/>
              <a:gd name="connsiteX8" fmla="*/ 2353733 w 4368800"/>
              <a:gd name="connsiteY8" fmla="*/ 338667 h 575734"/>
              <a:gd name="connsiteX9" fmla="*/ 2607733 w 4368800"/>
              <a:gd name="connsiteY9" fmla="*/ 220133 h 575734"/>
              <a:gd name="connsiteX10" fmla="*/ 2963334 w 4368800"/>
              <a:gd name="connsiteY10" fmla="*/ 186267 h 575734"/>
              <a:gd name="connsiteX11" fmla="*/ 3234266 w 4368800"/>
              <a:gd name="connsiteY11" fmla="*/ 254000 h 575734"/>
              <a:gd name="connsiteX12" fmla="*/ 3505200 w 4368800"/>
              <a:gd name="connsiteY12" fmla="*/ 0 h 575734"/>
              <a:gd name="connsiteX13" fmla="*/ 3810000 w 4368800"/>
              <a:gd name="connsiteY13" fmla="*/ 186267 h 575734"/>
              <a:gd name="connsiteX14" fmla="*/ 4097866 w 4368800"/>
              <a:gd name="connsiteY14" fmla="*/ 93133 h 575734"/>
              <a:gd name="connsiteX15" fmla="*/ 4368800 w 4368800"/>
              <a:gd name="connsiteY15" fmla="*/ 169333 h 575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4368800" h="575734">
                <a:moveTo>
                  <a:pt x="0" y="575734"/>
                </a:moveTo>
                <a:lnTo>
                  <a:pt x="270933" y="372533"/>
                </a:lnTo>
                <a:lnTo>
                  <a:pt x="575733" y="465667"/>
                </a:lnTo>
                <a:lnTo>
                  <a:pt x="880533" y="406400"/>
                </a:lnTo>
                <a:lnTo>
                  <a:pt x="1134533" y="254000"/>
                </a:lnTo>
                <a:lnTo>
                  <a:pt x="1456266" y="364067"/>
                </a:lnTo>
                <a:lnTo>
                  <a:pt x="1727200" y="304800"/>
                </a:lnTo>
                <a:lnTo>
                  <a:pt x="2048933" y="33867"/>
                </a:lnTo>
                <a:lnTo>
                  <a:pt x="2353733" y="338667"/>
                </a:lnTo>
                <a:cubicBezTo>
                  <a:pt x="2438400" y="299156"/>
                  <a:pt x="2506133" y="245533"/>
                  <a:pt x="2607733" y="220133"/>
                </a:cubicBezTo>
                <a:cubicBezTo>
                  <a:pt x="2709333" y="194733"/>
                  <a:pt x="2844800" y="197556"/>
                  <a:pt x="2963334" y="186267"/>
                </a:cubicBezTo>
                <a:lnTo>
                  <a:pt x="3234266" y="254000"/>
                </a:lnTo>
                <a:lnTo>
                  <a:pt x="3505200" y="0"/>
                </a:lnTo>
                <a:lnTo>
                  <a:pt x="3810000" y="186267"/>
                </a:lnTo>
                <a:lnTo>
                  <a:pt x="4097866" y="93133"/>
                </a:lnTo>
                <a:lnTo>
                  <a:pt x="4368800" y="169333"/>
                </a:lnTo>
              </a:path>
            </a:pathLst>
          </a:custGeom>
          <a:ln>
            <a:solidFill>
              <a:schemeClr val="bg1">
                <a:lumMod val="5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graphicFrame>
        <p:nvGraphicFramePr>
          <p:cNvPr id="158" name="표 157">
            <a:extLst>
              <a:ext uri="{FF2B5EF4-FFF2-40B4-BE49-F238E27FC236}">
                <a16:creationId xmlns:a16="http://schemas.microsoft.com/office/drawing/2014/main" id="{1B8399E2-8728-4F06-B2E4-45CC3ED2108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84246420"/>
              </p:ext>
            </p:extLst>
          </p:nvPr>
        </p:nvGraphicFramePr>
        <p:xfrm>
          <a:off x="263480" y="4663729"/>
          <a:ext cx="7929878" cy="5342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660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91379356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3679891012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2229935987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4026812072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1122824508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1502902784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354728812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914552893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2643701830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4156003338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186923855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328632746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878962281"/>
                    </a:ext>
                  </a:extLst>
                </a:gridCol>
              </a:tblGrid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YYYY-MM</a:t>
                      </a:r>
                      <a:endParaRPr lang="en-US" altLang="ko-KR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01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02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03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04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05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06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07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08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09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11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12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13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14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15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16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17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18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19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21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22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23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24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합계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21345152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 err="1">
                          <a:solidFill>
                            <a:srgbClr val="00B050"/>
                          </a:solidFill>
                          <a:latin typeface="+mn-lt"/>
                          <a:ea typeface="+mn-ea"/>
                          <a:cs typeface="+mn-cs"/>
                        </a:rPr>
                        <a:t>충전량</a:t>
                      </a:r>
                      <a:endParaRPr lang="en-US" altLang="ko-KR" sz="800" b="1" kern="1200" dirty="0">
                        <a:solidFill>
                          <a:srgbClr val="00B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00B050"/>
                          </a:solidFill>
                          <a:latin typeface="+mn-lt"/>
                          <a:ea typeface="+mn-ea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rgbClr val="00B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B05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B05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B05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B05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B05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B05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B05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B05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B05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B05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B05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B05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B05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B05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B05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B05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충전 계획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aphicFrame>
        <p:nvGraphicFramePr>
          <p:cNvPr id="159" name="표 158">
            <a:extLst>
              <a:ext uri="{FF2B5EF4-FFF2-40B4-BE49-F238E27FC236}">
                <a16:creationId xmlns:a16="http://schemas.microsoft.com/office/drawing/2014/main" id="{29BC4313-E480-428A-B094-CEBD06AB17E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81060423"/>
              </p:ext>
            </p:extLst>
          </p:nvPr>
        </p:nvGraphicFramePr>
        <p:xfrm>
          <a:off x="263477" y="5200873"/>
          <a:ext cx="7929878" cy="3561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660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91379356"/>
                    </a:ext>
                  </a:extLst>
                </a:gridCol>
                <a:gridCol w="29564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79814">
                  <a:extLst>
                    <a:ext uri="{9D8B030D-6E8A-4147-A177-3AD203B41FA5}">
                      <a16:colId xmlns:a16="http://schemas.microsoft.com/office/drawing/2014/main" val="3679891012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2229935987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4026812072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1122824508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1502902784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354728812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914552893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2643701830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4156003338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186923855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328632746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3619606665"/>
                    </a:ext>
                  </a:extLst>
                </a:gridCol>
              </a:tblGrid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 err="1">
                          <a:solidFill>
                            <a:srgbClr val="FF6600"/>
                          </a:solidFill>
                          <a:latin typeface="+mn-lt"/>
                          <a:ea typeface="+mn-ea"/>
                          <a:cs typeface="+mn-cs"/>
                        </a:rPr>
                        <a:t>방전량</a:t>
                      </a:r>
                      <a:endParaRPr lang="en-US" altLang="ko-KR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+mn-lt"/>
                          <a:ea typeface="+mn-ea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66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660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66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660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66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660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66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660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66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660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66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660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66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660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66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660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0070C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0070C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0070C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0070C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0070C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0070C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0070C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0070C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0070C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0070C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0070C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0070C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0070C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0070C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0070C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0070C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accent3"/>
                          </a:solidFill>
                          <a:latin typeface="+mn-lt"/>
                          <a:ea typeface="+mn-ea"/>
                          <a:cs typeface="+mn-cs"/>
                        </a:rPr>
                        <a:t>방전 계획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3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accent3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3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accent3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3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accent3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accent3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accent3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3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accent3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3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accent3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3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accent3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3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accent3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3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accent3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3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accent3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3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accent3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3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accent3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3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accent3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3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accent3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3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accent3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3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accent3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3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accent3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3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accent3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3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accent3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3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accent3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3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accent3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3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accent3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3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accent3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3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accent3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3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160" name="직사각형 159">
            <a:extLst>
              <a:ext uri="{FF2B5EF4-FFF2-40B4-BE49-F238E27FC236}">
                <a16:creationId xmlns:a16="http://schemas.microsoft.com/office/drawing/2014/main" id="{87766AD0-3E54-4227-8966-40200BC2BBA6}"/>
              </a:ext>
            </a:extLst>
          </p:cNvPr>
          <p:cNvSpPr/>
          <p:nvPr/>
        </p:nvSpPr>
        <p:spPr>
          <a:xfrm>
            <a:off x="7559944" y="1982146"/>
            <a:ext cx="1008112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방전 계획</a:t>
            </a:r>
          </a:p>
        </p:txBody>
      </p:sp>
      <p:sp>
        <p:nvSpPr>
          <p:cNvPr id="86" name="TextBox 85">
            <a:extLst>
              <a:ext uri="{FF2B5EF4-FFF2-40B4-BE49-F238E27FC236}">
                <a16:creationId xmlns:a16="http://schemas.microsoft.com/office/drawing/2014/main" id="{80026016-30C2-47EE-B9B3-420F8A8D6156}"/>
              </a:ext>
            </a:extLst>
          </p:cNvPr>
          <p:cNvSpPr txBox="1"/>
          <p:nvPr/>
        </p:nvSpPr>
        <p:spPr>
          <a:xfrm>
            <a:off x="7221242" y="4384209"/>
            <a:ext cx="972108" cy="215444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square" rtlCol="0" anchor="ctr">
            <a:spAutoFit/>
          </a:bodyPr>
          <a:lstStyle/>
          <a:p>
            <a:pPr algn="ctr"/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표 접기</a:t>
            </a:r>
          </a:p>
        </p:txBody>
      </p:sp>
      <p:grpSp>
        <p:nvGrpSpPr>
          <p:cNvPr id="87" name="그룹 86">
            <a:extLst>
              <a:ext uri="{FF2B5EF4-FFF2-40B4-BE49-F238E27FC236}">
                <a16:creationId xmlns:a16="http://schemas.microsoft.com/office/drawing/2014/main" id="{3F26BC78-0460-45FB-816A-2FAD62BE5DEE}"/>
              </a:ext>
            </a:extLst>
          </p:cNvPr>
          <p:cNvGrpSpPr/>
          <p:nvPr/>
        </p:nvGrpSpPr>
        <p:grpSpPr>
          <a:xfrm>
            <a:off x="210356" y="1203435"/>
            <a:ext cx="8024876" cy="260092"/>
            <a:chOff x="184526" y="1505937"/>
            <a:chExt cx="8024876" cy="260092"/>
          </a:xfrm>
        </p:grpSpPr>
        <p:sp>
          <p:nvSpPr>
            <p:cNvPr id="88" name="직사각형 87">
              <a:extLst>
                <a:ext uri="{FF2B5EF4-FFF2-40B4-BE49-F238E27FC236}">
                  <a16:creationId xmlns:a16="http://schemas.microsoft.com/office/drawing/2014/main" id="{7E4E13EF-4A65-4079-93DB-F73A0D79299D}"/>
                </a:ext>
              </a:extLst>
            </p:cNvPr>
            <p:cNvSpPr/>
            <p:nvPr/>
          </p:nvSpPr>
          <p:spPr>
            <a:xfrm>
              <a:off x="5810955" y="1550585"/>
              <a:ext cx="1820532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수익 현황</a:t>
              </a:r>
            </a:p>
          </p:txBody>
        </p:sp>
        <p:sp>
          <p:nvSpPr>
            <p:cNvPr id="89" name="직사각형 88">
              <a:extLst>
                <a:ext uri="{FF2B5EF4-FFF2-40B4-BE49-F238E27FC236}">
                  <a16:creationId xmlns:a16="http://schemas.microsoft.com/office/drawing/2014/main" id="{91D098D5-B2E5-41B5-968D-A8D97E37CB20}"/>
                </a:ext>
              </a:extLst>
            </p:cNvPr>
            <p:cNvSpPr/>
            <p:nvPr/>
          </p:nvSpPr>
          <p:spPr>
            <a:xfrm>
              <a:off x="184526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에너지 모니터링</a:t>
              </a:r>
            </a:p>
          </p:txBody>
        </p:sp>
        <p:sp>
          <p:nvSpPr>
            <p:cNvPr id="90" name="직사각형 89">
              <a:extLst>
                <a:ext uri="{FF2B5EF4-FFF2-40B4-BE49-F238E27FC236}">
                  <a16:creationId xmlns:a16="http://schemas.microsoft.com/office/drawing/2014/main" id="{31364A7D-0472-42E4-9876-ED46AF1FD910}"/>
                </a:ext>
              </a:extLst>
            </p:cNvPr>
            <p:cNvSpPr/>
            <p:nvPr/>
          </p:nvSpPr>
          <p:spPr>
            <a:xfrm>
              <a:off x="2191085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장치 모니터링</a:t>
              </a:r>
            </a:p>
          </p:txBody>
        </p:sp>
        <p:sp>
          <p:nvSpPr>
            <p:cNvPr id="91" name="직사각형 90">
              <a:extLst>
                <a:ext uri="{FF2B5EF4-FFF2-40B4-BE49-F238E27FC236}">
                  <a16:creationId xmlns:a16="http://schemas.microsoft.com/office/drawing/2014/main" id="{AEA27FF5-611E-404D-AA6A-652DDE30D374}"/>
                </a:ext>
              </a:extLst>
            </p:cNvPr>
            <p:cNvSpPr/>
            <p:nvPr/>
          </p:nvSpPr>
          <p:spPr>
            <a:xfrm>
              <a:off x="4197644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상황</a:t>
              </a:r>
              <a:r>
                <a:rPr lang="en-US" altLang="ko-KR" sz="700" dirty="0"/>
                <a:t> </a:t>
              </a:r>
              <a:r>
                <a:rPr lang="ko-KR" altLang="en-US" sz="700" dirty="0"/>
                <a:t>관제</a:t>
              </a:r>
            </a:p>
          </p:txBody>
        </p:sp>
        <p:sp>
          <p:nvSpPr>
            <p:cNvPr id="92" name="직사각형 91">
              <a:extLst>
                <a:ext uri="{FF2B5EF4-FFF2-40B4-BE49-F238E27FC236}">
                  <a16:creationId xmlns:a16="http://schemas.microsoft.com/office/drawing/2014/main" id="{A9F326A9-E96A-4398-8D25-7EB9D0B62F42}"/>
                </a:ext>
              </a:extLst>
            </p:cNvPr>
            <p:cNvSpPr/>
            <p:nvPr/>
          </p:nvSpPr>
          <p:spPr>
            <a:xfrm>
              <a:off x="6204202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요금</a:t>
              </a:r>
              <a:r>
                <a:rPr lang="en-US" altLang="ko-KR" sz="700" dirty="0"/>
                <a:t>/</a:t>
              </a:r>
              <a:r>
                <a:rPr lang="ko-KR" altLang="en-US" sz="700" dirty="0"/>
                <a:t>수익</a:t>
              </a:r>
            </a:p>
          </p:txBody>
        </p:sp>
      </p:grpSp>
      <p:sp>
        <p:nvSpPr>
          <p:cNvPr id="227" name="타원형 설명선 226"/>
          <p:cNvSpPr/>
          <p:nvPr/>
        </p:nvSpPr>
        <p:spPr>
          <a:xfrm>
            <a:off x="2070197" y="1413403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4" name="타원형 설명선 243"/>
          <p:cNvSpPr/>
          <p:nvPr/>
        </p:nvSpPr>
        <p:spPr>
          <a:xfrm>
            <a:off x="5855713" y="1402595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5" name="타원형 설명선 244"/>
          <p:cNvSpPr/>
          <p:nvPr/>
        </p:nvSpPr>
        <p:spPr>
          <a:xfrm>
            <a:off x="4029387" y="1430091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6" name="타원형 설명선 245"/>
          <p:cNvSpPr/>
          <p:nvPr/>
        </p:nvSpPr>
        <p:spPr>
          <a:xfrm>
            <a:off x="153321" y="1901959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3" name="타원형 설명선 225">
            <a:extLst>
              <a:ext uri="{FF2B5EF4-FFF2-40B4-BE49-F238E27FC236}">
                <a16:creationId xmlns:a16="http://schemas.microsoft.com/office/drawing/2014/main" id="{93402A8C-F86A-4207-9226-F02BE6AB6E19}"/>
              </a:ext>
            </a:extLst>
          </p:cNvPr>
          <p:cNvSpPr/>
          <p:nvPr/>
        </p:nvSpPr>
        <p:spPr>
          <a:xfrm>
            <a:off x="952674" y="1430091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93" name="표 92">
            <a:extLst>
              <a:ext uri="{FF2B5EF4-FFF2-40B4-BE49-F238E27FC236}">
                <a16:creationId xmlns:a16="http://schemas.microsoft.com/office/drawing/2014/main" id="{441287E9-49A2-4367-85D8-056FB48BFA3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40319505"/>
              </p:ext>
            </p:extLst>
          </p:nvPr>
        </p:nvGraphicFramePr>
        <p:xfrm>
          <a:off x="327711" y="5893295"/>
          <a:ext cx="4114985" cy="7219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08191">
                  <a:extLst>
                    <a:ext uri="{9D8B030D-6E8A-4147-A177-3AD203B41FA5}">
                      <a16:colId xmlns:a16="http://schemas.microsoft.com/office/drawing/2014/main" val="621667645"/>
                    </a:ext>
                  </a:extLst>
                </a:gridCol>
                <a:gridCol w="429542">
                  <a:extLst>
                    <a:ext uri="{9D8B030D-6E8A-4147-A177-3AD203B41FA5}">
                      <a16:colId xmlns:a16="http://schemas.microsoft.com/office/drawing/2014/main" val="2248332737"/>
                    </a:ext>
                  </a:extLst>
                </a:gridCol>
                <a:gridCol w="429542">
                  <a:extLst>
                    <a:ext uri="{9D8B030D-6E8A-4147-A177-3AD203B41FA5}">
                      <a16:colId xmlns:a16="http://schemas.microsoft.com/office/drawing/2014/main" val="899356341"/>
                    </a:ext>
                  </a:extLst>
                </a:gridCol>
                <a:gridCol w="429542">
                  <a:extLst>
                    <a:ext uri="{9D8B030D-6E8A-4147-A177-3AD203B41FA5}">
                      <a16:colId xmlns:a16="http://schemas.microsoft.com/office/drawing/2014/main" val="2787753370"/>
                    </a:ext>
                  </a:extLst>
                </a:gridCol>
                <a:gridCol w="429542">
                  <a:extLst>
                    <a:ext uri="{9D8B030D-6E8A-4147-A177-3AD203B41FA5}">
                      <a16:colId xmlns:a16="http://schemas.microsoft.com/office/drawing/2014/main" val="75509663"/>
                    </a:ext>
                  </a:extLst>
                </a:gridCol>
                <a:gridCol w="429542">
                  <a:extLst>
                    <a:ext uri="{9D8B030D-6E8A-4147-A177-3AD203B41FA5}">
                      <a16:colId xmlns:a16="http://schemas.microsoft.com/office/drawing/2014/main" val="2371680936"/>
                    </a:ext>
                  </a:extLst>
                </a:gridCol>
                <a:gridCol w="429542">
                  <a:extLst>
                    <a:ext uri="{9D8B030D-6E8A-4147-A177-3AD203B41FA5}">
                      <a16:colId xmlns:a16="http://schemas.microsoft.com/office/drawing/2014/main" val="1293287838"/>
                    </a:ext>
                  </a:extLst>
                </a:gridCol>
                <a:gridCol w="429542">
                  <a:extLst>
                    <a:ext uri="{9D8B030D-6E8A-4147-A177-3AD203B41FA5}">
                      <a16:colId xmlns:a16="http://schemas.microsoft.com/office/drawing/2014/main" val="346575581"/>
                    </a:ext>
                  </a:extLst>
                </a:gridCol>
              </a:tblGrid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조회기간</a:t>
                      </a:r>
                      <a:endParaRPr lang="en-US" altLang="ko-KR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lang="ko-KR" altLang="en-US" sz="800" b="1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기간설정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75581190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 err="1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충전량</a:t>
                      </a: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ko-KR" altLang="en-US" sz="800" b="1" kern="1200" dirty="0" err="1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방전량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sng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15</a:t>
                      </a:r>
                      <a:r>
                        <a:rPr kumimoji="1" lang="ko-KR" altLang="en-US" sz="800" b="0" i="0" u="none" strike="sng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분 전 </a:t>
                      </a:r>
                      <a:r>
                        <a:rPr kumimoji="1" lang="en-US" altLang="ko-KR" sz="800" b="0" i="0" u="none" strike="sng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~ </a:t>
                      </a:r>
                      <a:r>
                        <a:rPr kumimoji="1" lang="ko-KR" altLang="en-US" sz="800" b="0" i="0" u="none" strike="sng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현재시간</a:t>
                      </a:r>
                      <a:endParaRPr lang="ko-KR" altLang="en-US" sz="800" b="1" strike="sng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시간 전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~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현재시간</a:t>
                      </a:r>
                      <a:endParaRPr lang="ko-KR" altLang="en-US" sz="8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오늘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00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시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~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현재시간</a:t>
                      </a:r>
                      <a:endParaRPr lang="ko-KR" altLang="en-US" sz="8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주 전 </a:t>
                      </a: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~ 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현재시간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달 전 </a:t>
                      </a: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~ 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현재시간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 전</a:t>
                      </a:r>
                      <a:r>
                        <a:rPr lang="en-US" altLang="ko-KR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~ </a:t>
                      </a:r>
                      <a:r>
                        <a:rPr lang="ko-KR" altLang="en-US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현재시간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지정된 시작일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29881618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 err="1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충전계획량</a:t>
                      </a: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ko-KR" altLang="en-US" sz="800" b="1" kern="1200" dirty="0" err="1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방전계획량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동일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동일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동일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동일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동일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동일</a:t>
                      </a:r>
                      <a:endParaRPr lang="en-US" altLang="ko-KR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동일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34962852"/>
                  </a:ext>
                </a:extLst>
              </a:tr>
            </a:tbl>
          </a:graphicData>
        </a:graphic>
      </p:graphicFrame>
      <p:sp>
        <p:nvSpPr>
          <p:cNvPr id="94" name="타원형 설명선 225">
            <a:extLst>
              <a:ext uri="{FF2B5EF4-FFF2-40B4-BE49-F238E27FC236}">
                <a16:creationId xmlns:a16="http://schemas.microsoft.com/office/drawing/2014/main" id="{DA726816-D283-431E-9376-677CC803D7B0}"/>
              </a:ext>
            </a:extLst>
          </p:cNvPr>
          <p:cNvSpPr/>
          <p:nvPr/>
        </p:nvSpPr>
        <p:spPr>
          <a:xfrm>
            <a:off x="30886" y="5877272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표</a:t>
            </a:r>
            <a:r>
              <a:rPr lang="en-US" altLang="ko-KR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95" name="표 94">
            <a:extLst>
              <a:ext uri="{FF2B5EF4-FFF2-40B4-BE49-F238E27FC236}">
                <a16:creationId xmlns:a16="http://schemas.microsoft.com/office/drawing/2014/main" id="{E4950604-4C01-4514-90D0-CF96E5AD0A2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86192000"/>
              </p:ext>
            </p:extLst>
          </p:nvPr>
        </p:nvGraphicFramePr>
        <p:xfrm>
          <a:off x="4599913" y="5908552"/>
          <a:ext cx="3788722" cy="78768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61864">
                  <a:extLst>
                    <a:ext uri="{9D8B030D-6E8A-4147-A177-3AD203B41FA5}">
                      <a16:colId xmlns:a16="http://schemas.microsoft.com/office/drawing/2014/main" val="621667645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2248332737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899356341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2787753370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75509663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2371680936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1293287838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346575581"/>
                    </a:ext>
                  </a:extLst>
                </a:gridCol>
              </a:tblGrid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조회기간</a:t>
                      </a:r>
                      <a:endParaRPr lang="en-US" altLang="ko-KR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lang="ko-KR" altLang="en-US" sz="800" b="1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기간설정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75581190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조회 간격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strike="sng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strike="sng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  <a:r>
                        <a:rPr lang="ko-KR" altLang="en-US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strike="no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  <a:r>
                        <a:rPr lang="ko-KR" altLang="en-US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strike="no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  <a:r>
                        <a:rPr lang="ko-KR" altLang="en-US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strike="no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  <a:endParaRPr lang="en-US" altLang="ko-KR" sz="800" b="0" strike="no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lang="ko-KR" altLang="en-US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strike="no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  <a:r>
                        <a:rPr lang="ko-KR" altLang="en-US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strike="no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  <a:endParaRPr lang="en-US" altLang="ko-KR" sz="800" b="0" strike="no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  <a:endParaRPr lang="en-US" altLang="ko-KR" sz="800" b="0" strike="no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지정된 기간에 따라 판단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29881618"/>
                  </a:ext>
                </a:extLst>
              </a:tr>
            </a:tbl>
          </a:graphicData>
        </a:graphic>
      </p:graphicFrame>
      <p:sp>
        <p:nvSpPr>
          <p:cNvPr id="96" name="타원형 설명선 225">
            <a:extLst>
              <a:ext uri="{FF2B5EF4-FFF2-40B4-BE49-F238E27FC236}">
                <a16:creationId xmlns:a16="http://schemas.microsoft.com/office/drawing/2014/main" id="{CBDC5C9C-22A8-49DD-A581-409DE0F7A52D}"/>
              </a:ext>
            </a:extLst>
          </p:cNvPr>
          <p:cNvSpPr/>
          <p:nvPr/>
        </p:nvSpPr>
        <p:spPr>
          <a:xfrm>
            <a:off x="4304928" y="5877272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표</a:t>
            </a:r>
            <a:r>
              <a:rPr lang="en-US" altLang="ko-KR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7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ED98636B-F0F4-4E3B-9F2E-9DFE19C95966}"/>
              </a:ext>
            </a:extLst>
          </p:cNvPr>
          <p:cNvSpPr/>
          <p:nvPr/>
        </p:nvSpPr>
        <p:spPr>
          <a:xfrm>
            <a:off x="7676031" y="1555279"/>
            <a:ext cx="473661" cy="289182"/>
          </a:xfrm>
          <a:prstGeom prst="rect">
            <a:avLst/>
          </a:prstGeom>
          <a:solidFill>
            <a:srgbClr val="0099FF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>
              <a:lnSpc>
                <a:spcPct val="150000"/>
              </a:lnSpc>
            </a:pPr>
            <a:r>
              <a:rPr lang="ko-KR" altLang="en-US" sz="105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조회</a:t>
            </a:r>
          </a:p>
        </p:txBody>
      </p:sp>
    </p:spTree>
    <p:extLst>
      <p:ext uri="{BB962C8B-B14F-4D97-AF65-F5344CB8AC3E}">
        <p14:creationId xmlns:p14="http://schemas.microsoft.com/office/powerpoint/2010/main" val="651343302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9104309" y="6645875"/>
            <a:ext cx="140029" cy="138499"/>
          </a:xfrm>
        </p:spPr>
        <p:txBody>
          <a:bodyPr/>
          <a:lstStyle/>
          <a:p>
            <a:pPr>
              <a:defRPr/>
            </a:pPr>
            <a:fld id="{9E41B634-5682-4388-99E7-FE44DCFD254B}" type="slidenum">
              <a:rPr lang="ko-KR" altLang="en-US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>
                <a:defRPr/>
              </a:pPr>
              <a:t>22</a:t>
            </a:fld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텍스트 개체 틀 8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Site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 &gt;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에너지 모니터링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&gt; ESS </a:t>
            </a:r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충방전량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" name="텍스트 개체 틀 9"/>
          <p:cNvSpPr>
            <a:spLocks noGrp="1"/>
          </p:cNvSpPr>
          <p:nvPr>
            <p:ph type="body" sz="quarter" idx="10"/>
          </p:nvPr>
        </p:nvSpPr>
        <p:spPr>
          <a:xfrm>
            <a:off x="6023595" y="44624"/>
            <a:ext cx="1233661" cy="196974"/>
          </a:xfrm>
        </p:spPr>
        <p:txBody>
          <a:bodyPr/>
          <a:lstStyle/>
          <a:p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ESS </a:t>
            </a:r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충방전량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02" name="Group 15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01866412"/>
              </p:ext>
            </p:extLst>
          </p:nvPr>
        </p:nvGraphicFramePr>
        <p:xfrm>
          <a:off x="8469313" y="276225"/>
          <a:ext cx="1404000" cy="4358976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3002"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Description</a:t>
                      </a: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6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그래프 표시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충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/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방전량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그래프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1)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꺽은선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그래프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항목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: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현재 부하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예측 부하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 - Y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축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: </a:t>
                      </a:r>
                      <a:r>
                        <a:rPr kumimoji="1" lang="en-US" altLang="ko-KR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KWh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의 전력량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 - X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축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: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간격 표시 기준은 표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3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참고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2)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툴팁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내용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: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시간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충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/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방전량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마우스 커서가 오버된 위치의 시간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/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전력량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7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충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/</a:t>
                      </a:r>
                      <a:r>
                        <a:rPr kumimoji="1" lang="ko-KR" altLang="en-US" sz="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방전량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데이터 표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조회된 데이터의 그래프 표시 항목을 표로 표현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특정 개수가 넘어 표가 좌우로 넓어질 경우에는 하단으로 표 확장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브라우저 크기를 조정하여 폭이 좁아질 경우에도 하단으로 표 확장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행 최대 칸수는 표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4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참고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8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표 접기</a:t>
                      </a:r>
                      <a:endParaRPr lang="en-US" altLang="ko-KR" sz="800" b="1" u="non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그래프 하단 표 영역 표시의 </a:t>
                      </a:r>
                      <a:r>
                        <a:rPr lang="ko-KR" altLang="en-US" sz="800" b="0" u="none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토글</a:t>
                      </a: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 버튼</a:t>
                      </a:r>
                      <a:endParaRPr lang="en-US" altLang="ko-KR" sz="800" b="0" u="none" kern="120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9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데이터 저장하기</a:t>
                      </a:r>
                      <a:endParaRPr lang="en-US" altLang="ko-KR" sz="800" b="1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조회된 데이터를 </a:t>
                      </a: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csv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형태의 파일로 저장한다</a:t>
                      </a: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.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78" name="TextBox 77"/>
          <p:cNvSpPr txBox="1"/>
          <p:nvPr/>
        </p:nvSpPr>
        <p:spPr>
          <a:xfrm>
            <a:off x="7121707" y="21349"/>
            <a:ext cx="567597" cy="2308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화면</a:t>
            </a:r>
            <a:r>
              <a:rPr lang="en-US" altLang="ko-KR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ID</a:t>
            </a:r>
            <a:endParaRPr lang="ko-KR" altLang="en-US" sz="9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7689304" y="43659"/>
            <a:ext cx="792088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itchFamily="50" charset="-127"/>
                <a:ea typeface="맑은 고딕" pitchFamily="50" charset="-127"/>
              </a:rPr>
              <a:t>ewpsp_scr_011</a:t>
            </a:r>
            <a:endParaRPr lang="ko-KR" altLang="en-US" sz="700" dirty="0">
              <a:latin typeface="맑은 고딕" pitchFamily="50" charset="-127"/>
              <a:ea typeface="맑은 고딕" pitchFamily="50" charset="-127"/>
            </a:endParaRPr>
          </a:p>
        </p:txBody>
      </p:sp>
      <p:pic>
        <p:nvPicPr>
          <p:cNvPr id="18" name="Picture 3">
            <a:extLst>
              <a:ext uri="{FF2B5EF4-FFF2-40B4-BE49-F238E27FC236}">
                <a16:creationId xmlns:a16="http://schemas.microsoft.com/office/drawing/2014/main" id="{D14E8AEF-8EA8-4944-AE52-FF98A1FB783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464" y="772657"/>
            <a:ext cx="8208912" cy="4881903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  <a:extLst/>
        </p:spPr>
      </p:pic>
      <p:pic>
        <p:nvPicPr>
          <p:cNvPr id="19" name="Picture 2">
            <a:extLst>
              <a:ext uri="{FF2B5EF4-FFF2-40B4-BE49-F238E27FC236}">
                <a16:creationId xmlns:a16="http://schemas.microsoft.com/office/drawing/2014/main" id="{6FBB0165-03FF-4BBD-A158-8DEF923CF53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464" y="762442"/>
            <a:ext cx="8208912" cy="3487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20" name="직선 연결선 19">
            <a:extLst>
              <a:ext uri="{FF2B5EF4-FFF2-40B4-BE49-F238E27FC236}">
                <a16:creationId xmlns:a16="http://schemas.microsoft.com/office/drawing/2014/main" id="{37D07777-30AA-4506-9C18-6F3B4C7D943C}"/>
              </a:ext>
            </a:extLst>
          </p:cNvPr>
          <p:cNvCxnSpPr>
            <a:cxnSpLocks/>
          </p:cNvCxnSpPr>
          <p:nvPr/>
        </p:nvCxnSpPr>
        <p:spPr>
          <a:xfrm>
            <a:off x="128463" y="1124744"/>
            <a:ext cx="8208912" cy="0"/>
          </a:xfrm>
          <a:prstGeom prst="line">
            <a:avLst/>
          </a:prstGeom>
          <a:ln w="9525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180BACBD-4B64-4649-BD7C-E1EE3620FBC6}"/>
              </a:ext>
            </a:extLst>
          </p:cNvPr>
          <p:cNvSpPr/>
          <p:nvPr/>
        </p:nvSpPr>
        <p:spPr>
          <a:xfrm>
            <a:off x="120419" y="1861412"/>
            <a:ext cx="1510265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150000"/>
              </a:lnSpc>
            </a:pPr>
            <a:r>
              <a:rPr lang="en-US" altLang="ko-KR" sz="900" b="1" dirty="0">
                <a:solidFill>
                  <a:schemeClr val="bg1">
                    <a:lumMod val="65000"/>
                  </a:schemeClr>
                </a:solidFill>
                <a:latin typeface="맑은 고딕" pitchFamily="50" charset="-127"/>
                <a:ea typeface="맑은 고딕" pitchFamily="50" charset="-127"/>
              </a:rPr>
              <a:t>YYYY-MM-DD hh:mm</a:t>
            </a:r>
            <a:endParaRPr lang="ko-KR" altLang="en-US" sz="900" b="1" dirty="0">
              <a:solidFill>
                <a:schemeClr val="bg1">
                  <a:lumMod val="6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A27B69D7-2B77-4AF2-A717-2F8B00E5023D}"/>
              </a:ext>
            </a:extLst>
          </p:cNvPr>
          <p:cNvSpPr/>
          <p:nvPr/>
        </p:nvSpPr>
        <p:spPr>
          <a:xfrm>
            <a:off x="3584848" y="1556792"/>
            <a:ext cx="1224136" cy="288033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기간 설정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51E4F555-ACF8-422A-8A4C-263DF5607ED0}"/>
              </a:ext>
            </a:extLst>
          </p:cNvPr>
          <p:cNvSpPr/>
          <p:nvPr/>
        </p:nvSpPr>
        <p:spPr>
          <a:xfrm>
            <a:off x="4304928" y="1556792"/>
            <a:ext cx="1262753" cy="288033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YYY-MM</a:t>
            </a:r>
            <a:endParaRPr lang="ko-KR" altLang="en-US" sz="90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056B85B8-E22D-471D-BF90-7BA59FDE59DA}"/>
              </a:ext>
            </a:extLst>
          </p:cNvPr>
          <p:cNvSpPr/>
          <p:nvPr/>
        </p:nvSpPr>
        <p:spPr>
          <a:xfrm>
            <a:off x="5567681" y="1556792"/>
            <a:ext cx="288032" cy="288033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▼</a:t>
            </a: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5DE85575-6695-43D9-BA78-E72D7749FD5A}"/>
              </a:ext>
            </a:extLst>
          </p:cNvPr>
          <p:cNvSpPr/>
          <p:nvPr/>
        </p:nvSpPr>
        <p:spPr>
          <a:xfrm>
            <a:off x="5855713" y="1556792"/>
            <a:ext cx="249415" cy="288033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~</a:t>
            </a:r>
            <a:endParaRPr lang="ko-KR" altLang="en-US" sz="900" b="1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52DDF82F-9C8F-422F-B328-3979E21AEB5E}"/>
              </a:ext>
            </a:extLst>
          </p:cNvPr>
          <p:cNvSpPr/>
          <p:nvPr/>
        </p:nvSpPr>
        <p:spPr>
          <a:xfrm>
            <a:off x="6105128" y="1556792"/>
            <a:ext cx="1262753" cy="288033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YYYY-MM</a:t>
            </a:r>
            <a:endParaRPr lang="ko-KR" altLang="en-US" sz="90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508668D7-197F-47CF-8003-58499E43E073}"/>
              </a:ext>
            </a:extLst>
          </p:cNvPr>
          <p:cNvSpPr/>
          <p:nvPr/>
        </p:nvSpPr>
        <p:spPr>
          <a:xfrm>
            <a:off x="7367881" y="1556792"/>
            <a:ext cx="288032" cy="288033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▼</a:t>
            </a:r>
          </a:p>
        </p:txBody>
      </p:sp>
      <p:pic>
        <p:nvPicPr>
          <p:cNvPr id="47" name="Picture 2" descr="ì¤ì ì ëí ì´ë¯¸ì§ ê²ìê²°ê³¼">
            <a:extLst>
              <a:ext uri="{FF2B5EF4-FFF2-40B4-BE49-F238E27FC236}">
                <a16:creationId xmlns:a16="http://schemas.microsoft.com/office/drawing/2014/main" id="{90A888AD-844A-4544-B02A-A77BC3397C7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05865" y="844086"/>
            <a:ext cx="198592" cy="19859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8" name="사각형: 둥근 모서리 47">
            <a:extLst>
              <a:ext uri="{FF2B5EF4-FFF2-40B4-BE49-F238E27FC236}">
                <a16:creationId xmlns:a16="http://schemas.microsoft.com/office/drawing/2014/main" id="{119FCE8B-C633-47C3-A0BD-44AD20643BCC}"/>
              </a:ext>
            </a:extLst>
          </p:cNvPr>
          <p:cNvSpPr/>
          <p:nvPr/>
        </p:nvSpPr>
        <p:spPr>
          <a:xfrm>
            <a:off x="1239315" y="1624500"/>
            <a:ext cx="1013369" cy="180000"/>
          </a:xfrm>
          <a:prstGeom prst="roundRect">
            <a:avLst/>
          </a:prstGeom>
          <a:solidFill>
            <a:schemeClr val="bg1"/>
          </a:solidFill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ko-KR" altLang="en-US" sz="900" dirty="0">
                <a:solidFill>
                  <a:schemeClr val="tx1"/>
                </a:solidFill>
              </a:rPr>
              <a:t>기간 설정  ▼</a:t>
            </a:r>
          </a:p>
        </p:txBody>
      </p:sp>
      <p:sp>
        <p:nvSpPr>
          <p:cNvPr id="49" name="사각형: 둥근 모서리 48">
            <a:extLst>
              <a:ext uri="{FF2B5EF4-FFF2-40B4-BE49-F238E27FC236}">
                <a16:creationId xmlns:a16="http://schemas.microsoft.com/office/drawing/2014/main" id="{948F9D44-B814-4AF5-882E-A35193F2E22A}"/>
              </a:ext>
            </a:extLst>
          </p:cNvPr>
          <p:cNvSpPr/>
          <p:nvPr/>
        </p:nvSpPr>
        <p:spPr>
          <a:xfrm>
            <a:off x="2297791" y="1623655"/>
            <a:ext cx="1013369" cy="180000"/>
          </a:xfrm>
          <a:prstGeom prst="roundRect">
            <a:avLst/>
          </a:prstGeom>
          <a:solidFill>
            <a:schemeClr val="bg1"/>
          </a:solidFill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altLang="ko-KR" sz="900" dirty="0">
                <a:solidFill>
                  <a:schemeClr val="tx1"/>
                </a:solidFill>
              </a:rPr>
              <a:t>15</a:t>
            </a:r>
            <a:r>
              <a:rPr lang="ko-KR" altLang="en-US" sz="900" dirty="0">
                <a:solidFill>
                  <a:schemeClr val="tx1"/>
                </a:solidFill>
              </a:rPr>
              <a:t>분     ▼</a:t>
            </a: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2326CBCB-329A-4C09-A801-8C26FFCF7D00}"/>
              </a:ext>
            </a:extLst>
          </p:cNvPr>
          <p:cNvSpPr/>
          <p:nvPr/>
        </p:nvSpPr>
        <p:spPr>
          <a:xfrm>
            <a:off x="150835" y="1556792"/>
            <a:ext cx="1224136" cy="288032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en-US" altLang="ko-KR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ESS</a:t>
            </a: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900" b="1" dirty="0" err="1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충방전량</a:t>
            </a:r>
            <a:endParaRPr lang="ko-KR" altLang="en-US" sz="900" b="1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graphicFrame>
        <p:nvGraphicFramePr>
          <p:cNvPr id="108" name="표 107">
            <a:extLst>
              <a:ext uri="{FF2B5EF4-FFF2-40B4-BE49-F238E27FC236}">
                <a16:creationId xmlns:a16="http://schemas.microsoft.com/office/drawing/2014/main" id="{403E27D5-30B0-47CB-AA15-EC86E7444F99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261327" y="2294616"/>
          <a:ext cx="7932032" cy="202825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407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9741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9741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9741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9741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9741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29741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9741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29741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29741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29741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297415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297415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297415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297415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297415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297415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297415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  <a:gridCol w="297415">
                  <a:extLst>
                    <a:ext uri="{9D8B030D-6E8A-4147-A177-3AD203B41FA5}">
                      <a16:colId xmlns:a16="http://schemas.microsoft.com/office/drawing/2014/main" val="20019"/>
                    </a:ext>
                  </a:extLst>
                </a:gridCol>
                <a:gridCol w="297415">
                  <a:extLst>
                    <a:ext uri="{9D8B030D-6E8A-4147-A177-3AD203B41FA5}">
                      <a16:colId xmlns:a16="http://schemas.microsoft.com/office/drawing/2014/main" val="20020"/>
                    </a:ext>
                  </a:extLst>
                </a:gridCol>
                <a:gridCol w="297415">
                  <a:extLst>
                    <a:ext uri="{9D8B030D-6E8A-4147-A177-3AD203B41FA5}">
                      <a16:colId xmlns:a16="http://schemas.microsoft.com/office/drawing/2014/main" val="20021"/>
                    </a:ext>
                  </a:extLst>
                </a:gridCol>
                <a:gridCol w="297415">
                  <a:extLst>
                    <a:ext uri="{9D8B030D-6E8A-4147-A177-3AD203B41FA5}">
                      <a16:colId xmlns:a16="http://schemas.microsoft.com/office/drawing/2014/main" val="20022"/>
                    </a:ext>
                  </a:extLst>
                </a:gridCol>
                <a:gridCol w="297415">
                  <a:extLst>
                    <a:ext uri="{9D8B030D-6E8A-4147-A177-3AD203B41FA5}">
                      <a16:colId xmlns:a16="http://schemas.microsoft.com/office/drawing/2014/main" val="20023"/>
                    </a:ext>
                  </a:extLst>
                </a:gridCol>
                <a:gridCol w="297415">
                  <a:extLst>
                    <a:ext uri="{9D8B030D-6E8A-4147-A177-3AD203B41FA5}">
                      <a16:colId xmlns:a16="http://schemas.microsoft.com/office/drawing/2014/main" val="20024"/>
                    </a:ext>
                  </a:extLst>
                </a:gridCol>
                <a:gridCol w="297415">
                  <a:extLst>
                    <a:ext uri="{9D8B030D-6E8A-4147-A177-3AD203B41FA5}">
                      <a16:colId xmlns:a16="http://schemas.microsoft.com/office/drawing/2014/main" val="20025"/>
                    </a:ext>
                  </a:extLst>
                </a:gridCol>
              </a:tblGrid>
              <a:tr h="1843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/>
                        <a:t>kWh</a:t>
                      </a:r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43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1000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84387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843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500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84387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843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84387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843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500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84387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843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1000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2858281"/>
                  </a:ext>
                </a:extLst>
              </a:tr>
              <a:tr h="184387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01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02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03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04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05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06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07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08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09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10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11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12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13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14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15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16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17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18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19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20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21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22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23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24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cxnSp>
        <p:nvCxnSpPr>
          <p:cNvPr id="112" name="직선 연결선 111">
            <a:extLst>
              <a:ext uri="{FF2B5EF4-FFF2-40B4-BE49-F238E27FC236}">
                <a16:creationId xmlns:a16="http://schemas.microsoft.com/office/drawing/2014/main" id="{A7744939-3A96-4389-A058-8BE19F4DE88F}"/>
              </a:ext>
            </a:extLst>
          </p:cNvPr>
          <p:cNvCxnSpPr>
            <a:cxnSpLocks/>
          </p:cNvCxnSpPr>
          <p:nvPr/>
        </p:nvCxnSpPr>
        <p:spPr>
          <a:xfrm>
            <a:off x="7534135" y="2322386"/>
            <a:ext cx="0" cy="1779517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3" name="직선 연결선 112">
            <a:extLst>
              <a:ext uri="{FF2B5EF4-FFF2-40B4-BE49-F238E27FC236}">
                <a16:creationId xmlns:a16="http://schemas.microsoft.com/office/drawing/2014/main" id="{6548C795-7DDE-4D60-BA9C-2A4F3088BD6D}"/>
              </a:ext>
            </a:extLst>
          </p:cNvPr>
          <p:cNvCxnSpPr/>
          <p:nvPr/>
        </p:nvCxnSpPr>
        <p:spPr>
          <a:xfrm>
            <a:off x="3512840" y="2116150"/>
            <a:ext cx="504056" cy="0"/>
          </a:xfrm>
          <a:prstGeom prst="line">
            <a:avLst/>
          </a:prstGeom>
          <a:ln w="19050">
            <a:solidFill>
              <a:srgbClr val="00B05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4" name="직사각형 113">
            <a:extLst>
              <a:ext uri="{FF2B5EF4-FFF2-40B4-BE49-F238E27FC236}">
                <a16:creationId xmlns:a16="http://schemas.microsoft.com/office/drawing/2014/main" id="{00A7094D-E4E2-4D34-A2F8-9E47F58CC2BE}"/>
              </a:ext>
            </a:extLst>
          </p:cNvPr>
          <p:cNvSpPr/>
          <p:nvPr/>
        </p:nvSpPr>
        <p:spPr>
          <a:xfrm>
            <a:off x="4088904" y="1993922"/>
            <a:ext cx="1008112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충전</a:t>
            </a:r>
          </a:p>
        </p:txBody>
      </p: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07617ABA-F664-4785-A66A-21C2540D1E99}"/>
              </a:ext>
            </a:extLst>
          </p:cNvPr>
          <p:cNvCxnSpPr/>
          <p:nvPr/>
        </p:nvCxnSpPr>
        <p:spPr>
          <a:xfrm>
            <a:off x="4664968" y="2116150"/>
            <a:ext cx="504056" cy="0"/>
          </a:xfrm>
          <a:prstGeom prst="line">
            <a:avLst/>
          </a:prstGeom>
          <a:noFill/>
          <a:ln w="19050">
            <a:solidFill>
              <a:srgbClr val="FF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6" name="직사각형 115">
            <a:extLst>
              <a:ext uri="{FF2B5EF4-FFF2-40B4-BE49-F238E27FC236}">
                <a16:creationId xmlns:a16="http://schemas.microsoft.com/office/drawing/2014/main" id="{9203740D-1602-47D0-912C-2823EC89F4C2}"/>
              </a:ext>
            </a:extLst>
          </p:cNvPr>
          <p:cNvSpPr/>
          <p:nvPr/>
        </p:nvSpPr>
        <p:spPr>
          <a:xfrm>
            <a:off x="5241032" y="1993922"/>
            <a:ext cx="1008112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방전</a:t>
            </a:r>
          </a:p>
        </p:txBody>
      </p:sp>
      <p:cxnSp>
        <p:nvCxnSpPr>
          <p:cNvPr id="123" name="직선 연결선 122">
            <a:extLst>
              <a:ext uri="{FF2B5EF4-FFF2-40B4-BE49-F238E27FC236}">
                <a16:creationId xmlns:a16="http://schemas.microsoft.com/office/drawing/2014/main" id="{75FE7E5F-E413-4CEB-9EA7-AAA7844A2A15}"/>
              </a:ext>
            </a:extLst>
          </p:cNvPr>
          <p:cNvCxnSpPr/>
          <p:nvPr/>
        </p:nvCxnSpPr>
        <p:spPr>
          <a:xfrm>
            <a:off x="7039306" y="2109741"/>
            <a:ext cx="504056" cy="0"/>
          </a:xfrm>
          <a:prstGeom prst="line">
            <a:avLst/>
          </a:prstGeom>
          <a:ln w="12700">
            <a:solidFill>
              <a:schemeClr val="accent3">
                <a:lumMod val="75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" name="직선 연결선 123">
            <a:extLst>
              <a:ext uri="{FF2B5EF4-FFF2-40B4-BE49-F238E27FC236}">
                <a16:creationId xmlns:a16="http://schemas.microsoft.com/office/drawing/2014/main" id="{E021214D-A2A1-4E8A-986E-48CD36779487}"/>
              </a:ext>
            </a:extLst>
          </p:cNvPr>
          <p:cNvCxnSpPr/>
          <p:nvPr/>
        </p:nvCxnSpPr>
        <p:spPr>
          <a:xfrm>
            <a:off x="981407" y="2569986"/>
            <a:ext cx="7200000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69125AB8-A254-4025-99A5-C41C8B9146E8}"/>
              </a:ext>
            </a:extLst>
          </p:cNvPr>
          <p:cNvCxnSpPr/>
          <p:nvPr/>
        </p:nvCxnSpPr>
        <p:spPr>
          <a:xfrm>
            <a:off x="981407" y="3306844"/>
            <a:ext cx="7200000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" name="직선 연결선 125">
            <a:extLst>
              <a:ext uri="{FF2B5EF4-FFF2-40B4-BE49-F238E27FC236}">
                <a16:creationId xmlns:a16="http://schemas.microsoft.com/office/drawing/2014/main" id="{C5EEB54F-2035-4DF4-998F-F6EC8D648962}"/>
              </a:ext>
            </a:extLst>
          </p:cNvPr>
          <p:cNvCxnSpPr/>
          <p:nvPr/>
        </p:nvCxnSpPr>
        <p:spPr>
          <a:xfrm>
            <a:off x="974634" y="3675273"/>
            <a:ext cx="7200000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9D029297-9092-447B-BBD9-A43978D80D0F}"/>
              </a:ext>
            </a:extLst>
          </p:cNvPr>
          <p:cNvCxnSpPr/>
          <p:nvPr/>
        </p:nvCxnSpPr>
        <p:spPr>
          <a:xfrm>
            <a:off x="974634" y="2938415"/>
            <a:ext cx="7200000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8" name="직선 연결선 127">
            <a:extLst>
              <a:ext uri="{FF2B5EF4-FFF2-40B4-BE49-F238E27FC236}">
                <a16:creationId xmlns:a16="http://schemas.microsoft.com/office/drawing/2014/main" id="{6456FF39-8DFD-4DFB-9820-7F83A253A5DC}"/>
              </a:ext>
            </a:extLst>
          </p:cNvPr>
          <p:cNvCxnSpPr/>
          <p:nvPr/>
        </p:nvCxnSpPr>
        <p:spPr>
          <a:xfrm>
            <a:off x="974634" y="4048598"/>
            <a:ext cx="7200000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9" name="직선 연결선 128">
            <a:extLst>
              <a:ext uri="{FF2B5EF4-FFF2-40B4-BE49-F238E27FC236}">
                <a16:creationId xmlns:a16="http://schemas.microsoft.com/office/drawing/2014/main" id="{39979DFA-6BA8-40F8-9911-8280AAF0A44E}"/>
              </a:ext>
            </a:extLst>
          </p:cNvPr>
          <p:cNvCxnSpPr/>
          <p:nvPr/>
        </p:nvCxnSpPr>
        <p:spPr>
          <a:xfrm>
            <a:off x="5745088" y="2113512"/>
            <a:ext cx="504056" cy="0"/>
          </a:xfrm>
          <a:prstGeom prst="line">
            <a:avLst/>
          </a:prstGeom>
          <a:ln w="12700">
            <a:solidFill>
              <a:schemeClr val="tx1">
                <a:lumMod val="65000"/>
                <a:lumOff val="35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E89CF3F6-F709-40F4-BEFD-A31A280953CF}"/>
              </a:ext>
            </a:extLst>
          </p:cNvPr>
          <p:cNvSpPr/>
          <p:nvPr/>
        </p:nvSpPr>
        <p:spPr>
          <a:xfrm>
            <a:off x="6321152" y="1991284"/>
            <a:ext cx="1008112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충전 계획</a:t>
            </a:r>
          </a:p>
        </p:txBody>
      </p:sp>
      <p:grpSp>
        <p:nvGrpSpPr>
          <p:cNvPr id="132" name="그룹 131">
            <a:extLst>
              <a:ext uri="{FF2B5EF4-FFF2-40B4-BE49-F238E27FC236}">
                <a16:creationId xmlns:a16="http://schemas.microsoft.com/office/drawing/2014/main" id="{48F2B437-5E69-451C-8F53-6F7777F58B09}"/>
              </a:ext>
            </a:extLst>
          </p:cNvPr>
          <p:cNvGrpSpPr/>
          <p:nvPr/>
        </p:nvGrpSpPr>
        <p:grpSpPr>
          <a:xfrm flipH="1" flipV="1">
            <a:off x="4125293" y="3314277"/>
            <a:ext cx="2688227" cy="511784"/>
            <a:chOff x="1501760" y="2998490"/>
            <a:chExt cx="2520272" cy="1366614"/>
          </a:xfrm>
          <a:solidFill>
            <a:srgbClr val="FF6600"/>
          </a:solidFill>
        </p:grpSpPr>
        <p:sp>
          <p:nvSpPr>
            <p:cNvPr id="149" name="직사각형 148">
              <a:extLst>
                <a:ext uri="{FF2B5EF4-FFF2-40B4-BE49-F238E27FC236}">
                  <a16:creationId xmlns:a16="http://schemas.microsoft.com/office/drawing/2014/main" id="{34256C1B-0A00-4A3D-9F9D-43EC55B09010}"/>
                </a:ext>
              </a:extLst>
            </p:cNvPr>
            <p:cNvSpPr/>
            <p:nvPr/>
          </p:nvSpPr>
          <p:spPr>
            <a:xfrm>
              <a:off x="1501760" y="4217882"/>
              <a:ext cx="72000" cy="147222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150" name="직사각형 149">
              <a:extLst>
                <a:ext uri="{FF2B5EF4-FFF2-40B4-BE49-F238E27FC236}">
                  <a16:creationId xmlns:a16="http://schemas.microsoft.com/office/drawing/2014/main" id="{28E9FE92-02DE-4619-BDC0-7F9488A7FE34}"/>
                </a:ext>
              </a:extLst>
            </p:cNvPr>
            <p:cNvSpPr/>
            <p:nvPr/>
          </p:nvSpPr>
          <p:spPr>
            <a:xfrm>
              <a:off x="3950032" y="2998490"/>
              <a:ext cx="72000" cy="1366614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151" name="직사각형 150">
              <a:extLst>
                <a:ext uri="{FF2B5EF4-FFF2-40B4-BE49-F238E27FC236}">
                  <a16:creationId xmlns:a16="http://schemas.microsoft.com/office/drawing/2014/main" id="{5087ECF3-13C7-45F5-BA4D-34D877BDB3EE}"/>
                </a:ext>
              </a:extLst>
            </p:cNvPr>
            <p:cNvSpPr/>
            <p:nvPr/>
          </p:nvSpPr>
          <p:spPr>
            <a:xfrm>
              <a:off x="3638317" y="3069104"/>
              <a:ext cx="72000" cy="1296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152" name="직사각형 151">
              <a:extLst>
                <a:ext uri="{FF2B5EF4-FFF2-40B4-BE49-F238E27FC236}">
                  <a16:creationId xmlns:a16="http://schemas.microsoft.com/office/drawing/2014/main" id="{47329883-915D-425F-93AD-6723294B76DC}"/>
                </a:ext>
              </a:extLst>
            </p:cNvPr>
            <p:cNvSpPr/>
            <p:nvPr/>
          </p:nvSpPr>
          <p:spPr>
            <a:xfrm>
              <a:off x="3327361" y="3214514"/>
              <a:ext cx="72000" cy="115059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153" name="직사각형 152">
              <a:extLst>
                <a:ext uri="{FF2B5EF4-FFF2-40B4-BE49-F238E27FC236}">
                  <a16:creationId xmlns:a16="http://schemas.microsoft.com/office/drawing/2014/main" id="{53D95038-698F-49B2-BB38-3EFE47F3C971}"/>
                </a:ext>
              </a:extLst>
            </p:cNvPr>
            <p:cNvSpPr/>
            <p:nvPr/>
          </p:nvSpPr>
          <p:spPr>
            <a:xfrm>
              <a:off x="3013928" y="3575612"/>
              <a:ext cx="72000" cy="789492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154" name="직사각형 153">
              <a:extLst>
                <a:ext uri="{FF2B5EF4-FFF2-40B4-BE49-F238E27FC236}">
                  <a16:creationId xmlns:a16="http://schemas.microsoft.com/office/drawing/2014/main" id="{9DC7D09C-75FF-4D92-BC6F-93C300B9BFDE}"/>
                </a:ext>
              </a:extLst>
            </p:cNvPr>
            <p:cNvSpPr/>
            <p:nvPr/>
          </p:nvSpPr>
          <p:spPr>
            <a:xfrm>
              <a:off x="2748848" y="3681104"/>
              <a:ext cx="72000" cy="684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155" name="직사각형 154">
              <a:extLst>
                <a:ext uri="{FF2B5EF4-FFF2-40B4-BE49-F238E27FC236}">
                  <a16:creationId xmlns:a16="http://schemas.microsoft.com/office/drawing/2014/main" id="{50F25AC4-CEC4-4A0E-B23B-D48CCD294552}"/>
                </a:ext>
              </a:extLst>
            </p:cNvPr>
            <p:cNvSpPr/>
            <p:nvPr/>
          </p:nvSpPr>
          <p:spPr>
            <a:xfrm>
              <a:off x="2437864" y="3807104"/>
              <a:ext cx="72000" cy="558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156" name="직사각형 155">
              <a:extLst>
                <a:ext uri="{FF2B5EF4-FFF2-40B4-BE49-F238E27FC236}">
                  <a16:creationId xmlns:a16="http://schemas.microsoft.com/office/drawing/2014/main" id="{797EC4A7-9208-4B12-B315-089B32134A33}"/>
                </a:ext>
              </a:extLst>
            </p:cNvPr>
            <p:cNvSpPr/>
            <p:nvPr/>
          </p:nvSpPr>
          <p:spPr>
            <a:xfrm>
              <a:off x="2123923" y="3862586"/>
              <a:ext cx="72000" cy="502518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157" name="직사각형 156">
              <a:extLst>
                <a:ext uri="{FF2B5EF4-FFF2-40B4-BE49-F238E27FC236}">
                  <a16:creationId xmlns:a16="http://schemas.microsoft.com/office/drawing/2014/main" id="{F39A9B20-E4DB-47EA-A50A-8D6A0F9F070D}"/>
                </a:ext>
              </a:extLst>
            </p:cNvPr>
            <p:cNvSpPr/>
            <p:nvPr/>
          </p:nvSpPr>
          <p:spPr>
            <a:xfrm>
              <a:off x="1789792" y="4059104"/>
              <a:ext cx="72000" cy="306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grpSp>
        <p:nvGrpSpPr>
          <p:cNvPr id="133" name="그룹 132">
            <a:extLst>
              <a:ext uri="{FF2B5EF4-FFF2-40B4-BE49-F238E27FC236}">
                <a16:creationId xmlns:a16="http://schemas.microsoft.com/office/drawing/2014/main" id="{88F518B5-D539-47E3-A462-CC4F10F0BDE5}"/>
              </a:ext>
            </a:extLst>
          </p:cNvPr>
          <p:cNvGrpSpPr/>
          <p:nvPr/>
        </p:nvGrpSpPr>
        <p:grpSpPr>
          <a:xfrm>
            <a:off x="1171506" y="2772920"/>
            <a:ext cx="2520272" cy="536324"/>
            <a:chOff x="1403648" y="2780928"/>
            <a:chExt cx="2520272" cy="1584176"/>
          </a:xfrm>
          <a:solidFill>
            <a:srgbClr val="00B050"/>
          </a:solidFill>
        </p:grpSpPr>
        <p:sp>
          <p:nvSpPr>
            <p:cNvPr id="140" name="직사각형 139">
              <a:extLst>
                <a:ext uri="{FF2B5EF4-FFF2-40B4-BE49-F238E27FC236}">
                  <a16:creationId xmlns:a16="http://schemas.microsoft.com/office/drawing/2014/main" id="{CEB3E45B-045E-4196-97A9-952E3EBF00E9}"/>
                </a:ext>
              </a:extLst>
            </p:cNvPr>
            <p:cNvSpPr/>
            <p:nvPr/>
          </p:nvSpPr>
          <p:spPr>
            <a:xfrm>
              <a:off x="1403648" y="4185104"/>
              <a:ext cx="72000" cy="180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rgbClr val="0070C0"/>
                </a:solidFill>
              </a:endParaRPr>
            </a:p>
          </p:txBody>
        </p:sp>
        <p:sp>
          <p:nvSpPr>
            <p:cNvPr id="141" name="직사각형 140">
              <a:extLst>
                <a:ext uri="{FF2B5EF4-FFF2-40B4-BE49-F238E27FC236}">
                  <a16:creationId xmlns:a16="http://schemas.microsoft.com/office/drawing/2014/main" id="{BCE6A953-5A4D-49B9-8ED2-F7EDCFF7F428}"/>
                </a:ext>
              </a:extLst>
            </p:cNvPr>
            <p:cNvSpPr/>
            <p:nvPr/>
          </p:nvSpPr>
          <p:spPr>
            <a:xfrm>
              <a:off x="3540205" y="2998490"/>
              <a:ext cx="72000" cy="1366614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rgbClr val="0070C0"/>
                </a:solidFill>
              </a:endParaRPr>
            </a:p>
          </p:txBody>
        </p:sp>
        <p:sp>
          <p:nvSpPr>
            <p:cNvPr id="142" name="직사각형 141">
              <a:extLst>
                <a:ext uri="{FF2B5EF4-FFF2-40B4-BE49-F238E27FC236}">
                  <a16:creationId xmlns:a16="http://schemas.microsoft.com/office/drawing/2014/main" id="{C5CBFDF4-AB25-429E-92CB-E4A46C317210}"/>
                </a:ext>
              </a:extLst>
            </p:cNvPr>
            <p:cNvSpPr/>
            <p:nvPr/>
          </p:nvSpPr>
          <p:spPr>
            <a:xfrm>
              <a:off x="3229249" y="3249104"/>
              <a:ext cx="72000" cy="1116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rgbClr val="0070C0"/>
                </a:solidFill>
              </a:endParaRPr>
            </a:p>
          </p:txBody>
        </p:sp>
        <p:sp>
          <p:nvSpPr>
            <p:cNvPr id="143" name="직사각형 142">
              <a:extLst>
                <a:ext uri="{FF2B5EF4-FFF2-40B4-BE49-F238E27FC236}">
                  <a16:creationId xmlns:a16="http://schemas.microsoft.com/office/drawing/2014/main" id="{8E3E502B-405D-4DB1-914D-679D02CD713E}"/>
                </a:ext>
              </a:extLst>
            </p:cNvPr>
            <p:cNvSpPr/>
            <p:nvPr/>
          </p:nvSpPr>
          <p:spPr>
            <a:xfrm>
              <a:off x="2915816" y="3429104"/>
              <a:ext cx="72000" cy="936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rgbClr val="0070C0"/>
                </a:solidFill>
              </a:endParaRPr>
            </a:p>
          </p:txBody>
        </p:sp>
        <p:sp>
          <p:nvSpPr>
            <p:cNvPr id="144" name="직사각형 143">
              <a:extLst>
                <a:ext uri="{FF2B5EF4-FFF2-40B4-BE49-F238E27FC236}">
                  <a16:creationId xmlns:a16="http://schemas.microsoft.com/office/drawing/2014/main" id="{9CFDECA1-1A3F-442B-B5C8-D9EB3E2156FF}"/>
                </a:ext>
              </a:extLst>
            </p:cNvPr>
            <p:cNvSpPr/>
            <p:nvPr/>
          </p:nvSpPr>
          <p:spPr>
            <a:xfrm>
              <a:off x="2650736" y="3575612"/>
              <a:ext cx="72000" cy="789492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rgbClr val="0070C0"/>
                </a:solidFill>
              </a:endParaRPr>
            </a:p>
          </p:txBody>
        </p:sp>
        <p:sp>
          <p:nvSpPr>
            <p:cNvPr id="145" name="직사각형 144">
              <a:extLst>
                <a:ext uri="{FF2B5EF4-FFF2-40B4-BE49-F238E27FC236}">
                  <a16:creationId xmlns:a16="http://schemas.microsoft.com/office/drawing/2014/main" id="{DEA5DDB0-81F2-4E48-A4D0-32E2D2517032}"/>
                </a:ext>
              </a:extLst>
            </p:cNvPr>
            <p:cNvSpPr/>
            <p:nvPr/>
          </p:nvSpPr>
          <p:spPr>
            <a:xfrm>
              <a:off x="2339752" y="3753104"/>
              <a:ext cx="72000" cy="612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rgbClr val="0070C0"/>
                </a:solidFill>
              </a:endParaRPr>
            </a:p>
          </p:txBody>
        </p:sp>
        <p:sp>
          <p:nvSpPr>
            <p:cNvPr id="146" name="직사각형 145">
              <a:extLst>
                <a:ext uri="{FF2B5EF4-FFF2-40B4-BE49-F238E27FC236}">
                  <a16:creationId xmlns:a16="http://schemas.microsoft.com/office/drawing/2014/main" id="{6B824920-137A-4B3F-AC97-B634363745EB}"/>
                </a:ext>
              </a:extLst>
            </p:cNvPr>
            <p:cNvSpPr/>
            <p:nvPr/>
          </p:nvSpPr>
          <p:spPr>
            <a:xfrm>
              <a:off x="2025811" y="3933104"/>
              <a:ext cx="72000" cy="432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rgbClr val="0070C0"/>
                </a:solidFill>
              </a:endParaRPr>
            </a:p>
          </p:txBody>
        </p:sp>
        <p:sp>
          <p:nvSpPr>
            <p:cNvPr id="147" name="직사각형 146">
              <a:extLst>
                <a:ext uri="{FF2B5EF4-FFF2-40B4-BE49-F238E27FC236}">
                  <a16:creationId xmlns:a16="http://schemas.microsoft.com/office/drawing/2014/main" id="{BBFD94BA-ECBB-44DA-96C8-C5D8F6DDACAC}"/>
                </a:ext>
              </a:extLst>
            </p:cNvPr>
            <p:cNvSpPr/>
            <p:nvPr/>
          </p:nvSpPr>
          <p:spPr>
            <a:xfrm>
              <a:off x="1691680" y="4005104"/>
              <a:ext cx="72000" cy="360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rgbClr val="0070C0"/>
                </a:solidFill>
              </a:endParaRPr>
            </a:p>
          </p:txBody>
        </p:sp>
        <p:sp>
          <p:nvSpPr>
            <p:cNvPr id="148" name="직사각형 147">
              <a:extLst>
                <a:ext uri="{FF2B5EF4-FFF2-40B4-BE49-F238E27FC236}">
                  <a16:creationId xmlns:a16="http://schemas.microsoft.com/office/drawing/2014/main" id="{56F4DEC5-8876-4861-9A88-57B885A75295}"/>
                </a:ext>
              </a:extLst>
            </p:cNvPr>
            <p:cNvSpPr/>
            <p:nvPr/>
          </p:nvSpPr>
          <p:spPr>
            <a:xfrm>
              <a:off x="3851920" y="2780928"/>
              <a:ext cx="72000" cy="1584176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rgbClr val="0070C0"/>
                </a:solidFill>
              </a:endParaRPr>
            </a:p>
          </p:txBody>
        </p:sp>
      </p:grpSp>
      <p:grpSp>
        <p:nvGrpSpPr>
          <p:cNvPr id="134" name="그룹 133">
            <a:extLst>
              <a:ext uri="{FF2B5EF4-FFF2-40B4-BE49-F238E27FC236}">
                <a16:creationId xmlns:a16="http://schemas.microsoft.com/office/drawing/2014/main" id="{448464A8-0CAA-4A65-8373-02B1EDFBD476}"/>
              </a:ext>
            </a:extLst>
          </p:cNvPr>
          <p:cNvGrpSpPr/>
          <p:nvPr/>
        </p:nvGrpSpPr>
        <p:grpSpPr>
          <a:xfrm>
            <a:off x="7076155" y="3191010"/>
            <a:ext cx="353772" cy="121878"/>
            <a:chOff x="1403648" y="4005104"/>
            <a:chExt cx="360032" cy="360000"/>
          </a:xfrm>
          <a:solidFill>
            <a:srgbClr val="00B050"/>
          </a:solidFill>
        </p:grpSpPr>
        <p:sp>
          <p:nvSpPr>
            <p:cNvPr id="138" name="직사각형 137">
              <a:extLst>
                <a:ext uri="{FF2B5EF4-FFF2-40B4-BE49-F238E27FC236}">
                  <a16:creationId xmlns:a16="http://schemas.microsoft.com/office/drawing/2014/main" id="{2ADB9A79-ABA6-49A1-9DD5-DE51D698C001}"/>
                </a:ext>
              </a:extLst>
            </p:cNvPr>
            <p:cNvSpPr/>
            <p:nvPr/>
          </p:nvSpPr>
          <p:spPr>
            <a:xfrm>
              <a:off x="1403648" y="4185104"/>
              <a:ext cx="72000" cy="180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139" name="직사각형 138">
              <a:extLst>
                <a:ext uri="{FF2B5EF4-FFF2-40B4-BE49-F238E27FC236}">
                  <a16:creationId xmlns:a16="http://schemas.microsoft.com/office/drawing/2014/main" id="{69118776-2F5E-4DFA-8801-25B05ACDEE56}"/>
                </a:ext>
              </a:extLst>
            </p:cNvPr>
            <p:cNvSpPr/>
            <p:nvPr/>
          </p:nvSpPr>
          <p:spPr>
            <a:xfrm>
              <a:off x="1691680" y="4005104"/>
              <a:ext cx="72000" cy="360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sp>
        <p:nvSpPr>
          <p:cNvPr id="135" name="자유형 33">
            <a:extLst>
              <a:ext uri="{FF2B5EF4-FFF2-40B4-BE49-F238E27FC236}">
                <a16:creationId xmlns:a16="http://schemas.microsoft.com/office/drawing/2014/main" id="{CA02E4B3-956E-4D5C-B54F-7D43642C84CF}"/>
              </a:ext>
            </a:extLst>
          </p:cNvPr>
          <p:cNvSpPr/>
          <p:nvPr/>
        </p:nvSpPr>
        <p:spPr>
          <a:xfrm flipH="1" flipV="1">
            <a:off x="4008787" y="3312883"/>
            <a:ext cx="2876505" cy="536325"/>
          </a:xfrm>
          <a:custGeom>
            <a:avLst/>
            <a:gdLst>
              <a:gd name="connsiteX0" fmla="*/ 0 w 4368800"/>
              <a:gd name="connsiteY0" fmla="*/ 389467 h 414867"/>
              <a:gd name="connsiteX1" fmla="*/ 270933 w 4368800"/>
              <a:gd name="connsiteY1" fmla="*/ 321733 h 414867"/>
              <a:gd name="connsiteX2" fmla="*/ 575733 w 4368800"/>
              <a:gd name="connsiteY2" fmla="*/ 414867 h 414867"/>
              <a:gd name="connsiteX3" fmla="*/ 880533 w 4368800"/>
              <a:gd name="connsiteY3" fmla="*/ 355600 h 414867"/>
              <a:gd name="connsiteX4" fmla="*/ 1134533 w 4368800"/>
              <a:gd name="connsiteY4" fmla="*/ 203200 h 414867"/>
              <a:gd name="connsiteX5" fmla="*/ 1456266 w 4368800"/>
              <a:gd name="connsiteY5" fmla="*/ 313267 h 414867"/>
              <a:gd name="connsiteX6" fmla="*/ 1727200 w 4368800"/>
              <a:gd name="connsiteY6" fmla="*/ 254000 h 414867"/>
              <a:gd name="connsiteX7" fmla="*/ 1998133 w 4368800"/>
              <a:gd name="connsiteY7" fmla="*/ 135467 h 414867"/>
              <a:gd name="connsiteX8" fmla="*/ 2353733 w 4368800"/>
              <a:gd name="connsiteY8" fmla="*/ 287867 h 414867"/>
              <a:gd name="connsiteX9" fmla="*/ 2607733 w 4368800"/>
              <a:gd name="connsiteY9" fmla="*/ 169333 h 414867"/>
              <a:gd name="connsiteX10" fmla="*/ 2946400 w 4368800"/>
              <a:gd name="connsiteY10" fmla="*/ 211667 h 414867"/>
              <a:gd name="connsiteX11" fmla="*/ 3234266 w 4368800"/>
              <a:gd name="connsiteY11" fmla="*/ 203200 h 414867"/>
              <a:gd name="connsiteX12" fmla="*/ 3505200 w 4368800"/>
              <a:gd name="connsiteY12" fmla="*/ 0 h 414867"/>
              <a:gd name="connsiteX13" fmla="*/ 3810000 w 4368800"/>
              <a:gd name="connsiteY13" fmla="*/ 135467 h 414867"/>
              <a:gd name="connsiteX14" fmla="*/ 4097866 w 4368800"/>
              <a:gd name="connsiteY14" fmla="*/ 42333 h 414867"/>
              <a:gd name="connsiteX15" fmla="*/ 4368800 w 4368800"/>
              <a:gd name="connsiteY15" fmla="*/ 118533 h 414867"/>
              <a:gd name="connsiteX0" fmla="*/ 0 w 4368800"/>
              <a:gd name="connsiteY0" fmla="*/ 524934 h 524934"/>
              <a:gd name="connsiteX1" fmla="*/ 270933 w 4368800"/>
              <a:gd name="connsiteY1" fmla="*/ 321733 h 524934"/>
              <a:gd name="connsiteX2" fmla="*/ 575733 w 4368800"/>
              <a:gd name="connsiteY2" fmla="*/ 414867 h 524934"/>
              <a:gd name="connsiteX3" fmla="*/ 880533 w 4368800"/>
              <a:gd name="connsiteY3" fmla="*/ 355600 h 524934"/>
              <a:gd name="connsiteX4" fmla="*/ 1134533 w 4368800"/>
              <a:gd name="connsiteY4" fmla="*/ 203200 h 524934"/>
              <a:gd name="connsiteX5" fmla="*/ 1456266 w 4368800"/>
              <a:gd name="connsiteY5" fmla="*/ 313267 h 524934"/>
              <a:gd name="connsiteX6" fmla="*/ 1727200 w 4368800"/>
              <a:gd name="connsiteY6" fmla="*/ 254000 h 524934"/>
              <a:gd name="connsiteX7" fmla="*/ 1998133 w 4368800"/>
              <a:gd name="connsiteY7" fmla="*/ 135467 h 524934"/>
              <a:gd name="connsiteX8" fmla="*/ 2353733 w 4368800"/>
              <a:gd name="connsiteY8" fmla="*/ 287867 h 524934"/>
              <a:gd name="connsiteX9" fmla="*/ 2607733 w 4368800"/>
              <a:gd name="connsiteY9" fmla="*/ 169333 h 524934"/>
              <a:gd name="connsiteX10" fmla="*/ 2946400 w 4368800"/>
              <a:gd name="connsiteY10" fmla="*/ 211667 h 524934"/>
              <a:gd name="connsiteX11" fmla="*/ 3234266 w 4368800"/>
              <a:gd name="connsiteY11" fmla="*/ 203200 h 524934"/>
              <a:gd name="connsiteX12" fmla="*/ 3505200 w 4368800"/>
              <a:gd name="connsiteY12" fmla="*/ 0 h 524934"/>
              <a:gd name="connsiteX13" fmla="*/ 3810000 w 4368800"/>
              <a:gd name="connsiteY13" fmla="*/ 135467 h 524934"/>
              <a:gd name="connsiteX14" fmla="*/ 4097866 w 4368800"/>
              <a:gd name="connsiteY14" fmla="*/ 42333 h 524934"/>
              <a:gd name="connsiteX15" fmla="*/ 4368800 w 4368800"/>
              <a:gd name="connsiteY15" fmla="*/ 118533 h 524934"/>
              <a:gd name="connsiteX0" fmla="*/ 0 w 4368800"/>
              <a:gd name="connsiteY0" fmla="*/ 541867 h 541867"/>
              <a:gd name="connsiteX1" fmla="*/ 270933 w 4368800"/>
              <a:gd name="connsiteY1" fmla="*/ 338666 h 541867"/>
              <a:gd name="connsiteX2" fmla="*/ 575733 w 4368800"/>
              <a:gd name="connsiteY2" fmla="*/ 431800 h 541867"/>
              <a:gd name="connsiteX3" fmla="*/ 880533 w 4368800"/>
              <a:gd name="connsiteY3" fmla="*/ 372533 h 541867"/>
              <a:gd name="connsiteX4" fmla="*/ 1134533 w 4368800"/>
              <a:gd name="connsiteY4" fmla="*/ 220133 h 541867"/>
              <a:gd name="connsiteX5" fmla="*/ 1456266 w 4368800"/>
              <a:gd name="connsiteY5" fmla="*/ 330200 h 541867"/>
              <a:gd name="connsiteX6" fmla="*/ 1727200 w 4368800"/>
              <a:gd name="connsiteY6" fmla="*/ 270933 h 541867"/>
              <a:gd name="connsiteX7" fmla="*/ 2048933 w 4368800"/>
              <a:gd name="connsiteY7" fmla="*/ 0 h 541867"/>
              <a:gd name="connsiteX8" fmla="*/ 2353733 w 4368800"/>
              <a:gd name="connsiteY8" fmla="*/ 304800 h 541867"/>
              <a:gd name="connsiteX9" fmla="*/ 2607733 w 4368800"/>
              <a:gd name="connsiteY9" fmla="*/ 186266 h 541867"/>
              <a:gd name="connsiteX10" fmla="*/ 2946400 w 4368800"/>
              <a:gd name="connsiteY10" fmla="*/ 228600 h 541867"/>
              <a:gd name="connsiteX11" fmla="*/ 3234266 w 4368800"/>
              <a:gd name="connsiteY11" fmla="*/ 220133 h 541867"/>
              <a:gd name="connsiteX12" fmla="*/ 3505200 w 4368800"/>
              <a:gd name="connsiteY12" fmla="*/ 16933 h 541867"/>
              <a:gd name="connsiteX13" fmla="*/ 3810000 w 4368800"/>
              <a:gd name="connsiteY13" fmla="*/ 152400 h 541867"/>
              <a:gd name="connsiteX14" fmla="*/ 4097866 w 4368800"/>
              <a:gd name="connsiteY14" fmla="*/ 59266 h 541867"/>
              <a:gd name="connsiteX15" fmla="*/ 4368800 w 4368800"/>
              <a:gd name="connsiteY15" fmla="*/ 135466 h 541867"/>
              <a:gd name="connsiteX0" fmla="*/ 0 w 4368800"/>
              <a:gd name="connsiteY0" fmla="*/ 541867 h 541867"/>
              <a:gd name="connsiteX1" fmla="*/ 270933 w 4368800"/>
              <a:gd name="connsiteY1" fmla="*/ 338666 h 541867"/>
              <a:gd name="connsiteX2" fmla="*/ 575733 w 4368800"/>
              <a:gd name="connsiteY2" fmla="*/ 431800 h 541867"/>
              <a:gd name="connsiteX3" fmla="*/ 880533 w 4368800"/>
              <a:gd name="connsiteY3" fmla="*/ 372533 h 541867"/>
              <a:gd name="connsiteX4" fmla="*/ 1134533 w 4368800"/>
              <a:gd name="connsiteY4" fmla="*/ 220133 h 541867"/>
              <a:gd name="connsiteX5" fmla="*/ 1456266 w 4368800"/>
              <a:gd name="connsiteY5" fmla="*/ 330200 h 541867"/>
              <a:gd name="connsiteX6" fmla="*/ 1727200 w 4368800"/>
              <a:gd name="connsiteY6" fmla="*/ 270933 h 541867"/>
              <a:gd name="connsiteX7" fmla="*/ 2048933 w 4368800"/>
              <a:gd name="connsiteY7" fmla="*/ 0 h 541867"/>
              <a:gd name="connsiteX8" fmla="*/ 2353733 w 4368800"/>
              <a:gd name="connsiteY8" fmla="*/ 304800 h 541867"/>
              <a:gd name="connsiteX9" fmla="*/ 2607733 w 4368800"/>
              <a:gd name="connsiteY9" fmla="*/ 186266 h 541867"/>
              <a:gd name="connsiteX10" fmla="*/ 2963334 w 4368800"/>
              <a:gd name="connsiteY10" fmla="*/ 152400 h 541867"/>
              <a:gd name="connsiteX11" fmla="*/ 3234266 w 4368800"/>
              <a:gd name="connsiteY11" fmla="*/ 220133 h 541867"/>
              <a:gd name="connsiteX12" fmla="*/ 3505200 w 4368800"/>
              <a:gd name="connsiteY12" fmla="*/ 16933 h 541867"/>
              <a:gd name="connsiteX13" fmla="*/ 3810000 w 4368800"/>
              <a:gd name="connsiteY13" fmla="*/ 152400 h 541867"/>
              <a:gd name="connsiteX14" fmla="*/ 4097866 w 4368800"/>
              <a:gd name="connsiteY14" fmla="*/ 59266 h 541867"/>
              <a:gd name="connsiteX15" fmla="*/ 4368800 w 4368800"/>
              <a:gd name="connsiteY15" fmla="*/ 135466 h 541867"/>
              <a:gd name="connsiteX0" fmla="*/ 0 w 4368800"/>
              <a:gd name="connsiteY0" fmla="*/ 575734 h 575734"/>
              <a:gd name="connsiteX1" fmla="*/ 270933 w 4368800"/>
              <a:gd name="connsiteY1" fmla="*/ 372533 h 575734"/>
              <a:gd name="connsiteX2" fmla="*/ 575733 w 4368800"/>
              <a:gd name="connsiteY2" fmla="*/ 465667 h 575734"/>
              <a:gd name="connsiteX3" fmla="*/ 880533 w 4368800"/>
              <a:gd name="connsiteY3" fmla="*/ 406400 h 575734"/>
              <a:gd name="connsiteX4" fmla="*/ 1134533 w 4368800"/>
              <a:gd name="connsiteY4" fmla="*/ 254000 h 575734"/>
              <a:gd name="connsiteX5" fmla="*/ 1456266 w 4368800"/>
              <a:gd name="connsiteY5" fmla="*/ 364067 h 575734"/>
              <a:gd name="connsiteX6" fmla="*/ 1727200 w 4368800"/>
              <a:gd name="connsiteY6" fmla="*/ 304800 h 575734"/>
              <a:gd name="connsiteX7" fmla="*/ 2048933 w 4368800"/>
              <a:gd name="connsiteY7" fmla="*/ 33867 h 575734"/>
              <a:gd name="connsiteX8" fmla="*/ 2353733 w 4368800"/>
              <a:gd name="connsiteY8" fmla="*/ 338667 h 575734"/>
              <a:gd name="connsiteX9" fmla="*/ 2607733 w 4368800"/>
              <a:gd name="connsiteY9" fmla="*/ 220133 h 575734"/>
              <a:gd name="connsiteX10" fmla="*/ 2963334 w 4368800"/>
              <a:gd name="connsiteY10" fmla="*/ 186267 h 575734"/>
              <a:gd name="connsiteX11" fmla="*/ 3234266 w 4368800"/>
              <a:gd name="connsiteY11" fmla="*/ 254000 h 575734"/>
              <a:gd name="connsiteX12" fmla="*/ 3505200 w 4368800"/>
              <a:gd name="connsiteY12" fmla="*/ 0 h 575734"/>
              <a:gd name="connsiteX13" fmla="*/ 3810000 w 4368800"/>
              <a:gd name="connsiteY13" fmla="*/ 186267 h 575734"/>
              <a:gd name="connsiteX14" fmla="*/ 4097866 w 4368800"/>
              <a:gd name="connsiteY14" fmla="*/ 93133 h 575734"/>
              <a:gd name="connsiteX15" fmla="*/ 4368800 w 4368800"/>
              <a:gd name="connsiteY15" fmla="*/ 169333 h 575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4368800" h="575734">
                <a:moveTo>
                  <a:pt x="0" y="575734"/>
                </a:moveTo>
                <a:lnTo>
                  <a:pt x="270933" y="372533"/>
                </a:lnTo>
                <a:lnTo>
                  <a:pt x="575733" y="465667"/>
                </a:lnTo>
                <a:lnTo>
                  <a:pt x="880533" y="406400"/>
                </a:lnTo>
                <a:lnTo>
                  <a:pt x="1134533" y="254000"/>
                </a:lnTo>
                <a:lnTo>
                  <a:pt x="1456266" y="364067"/>
                </a:lnTo>
                <a:lnTo>
                  <a:pt x="1727200" y="304800"/>
                </a:lnTo>
                <a:lnTo>
                  <a:pt x="2048933" y="33867"/>
                </a:lnTo>
                <a:lnTo>
                  <a:pt x="2353733" y="338667"/>
                </a:lnTo>
                <a:cubicBezTo>
                  <a:pt x="2438400" y="299156"/>
                  <a:pt x="2506133" y="245533"/>
                  <a:pt x="2607733" y="220133"/>
                </a:cubicBezTo>
                <a:cubicBezTo>
                  <a:pt x="2709333" y="194733"/>
                  <a:pt x="2844800" y="197556"/>
                  <a:pt x="2963334" y="186267"/>
                </a:cubicBezTo>
                <a:lnTo>
                  <a:pt x="3234266" y="254000"/>
                </a:lnTo>
                <a:lnTo>
                  <a:pt x="3505200" y="0"/>
                </a:lnTo>
                <a:lnTo>
                  <a:pt x="3810000" y="186267"/>
                </a:lnTo>
                <a:lnTo>
                  <a:pt x="4097866" y="93133"/>
                </a:lnTo>
                <a:lnTo>
                  <a:pt x="4368800" y="169333"/>
                </a:lnTo>
              </a:path>
            </a:pathLst>
          </a:custGeom>
          <a:ln>
            <a:solidFill>
              <a:schemeClr val="accent3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36" name="자유형 83">
            <a:extLst>
              <a:ext uri="{FF2B5EF4-FFF2-40B4-BE49-F238E27FC236}">
                <a16:creationId xmlns:a16="http://schemas.microsoft.com/office/drawing/2014/main" id="{60CAAD73-1334-4889-B853-8AFD1B2E7740}"/>
              </a:ext>
            </a:extLst>
          </p:cNvPr>
          <p:cNvSpPr/>
          <p:nvPr/>
        </p:nvSpPr>
        <p:spPr>
          <a:xfrm>
            <a:off x="1164944" y="2703745"/>
            <a:ext cx="2742866" cy="604045"/>
          </a:xfrm>
          <a:custGeom>
            <a:avLst/>
            <a:gdLst>
              <a:gd name="connsiteX0" fmla="*/ 0 w 4368800"/>
              <a:gd name="connsiteY0" fmla="*/ 389467 h 414867"/>
              <a:gd name="connsiteX1" fmla="*/ 270933 w 4368800"/>
              <a:gd name="connsiteY1" fmla="*/ 321733 h 414867"/>
              <a:gd name="connsiteX2" fmla="*/ 575733 w 4368800"/>
              <a:gd name="connsiteY2" fmla="*/ 414867 h 414867"/>
              <a:gd name="connsiteX3" fmla="*/ 880533 w 4368800"/>
              <a:gd name="connsiteY3" fmla="*/ 355600 h 414867"/>
              <a:gd name="connsiteX4" fmla="*/ 1134533 w 4368800"/>
              <a:gd name="connsiteY4" fmla="*/ 203200 h 414867"/>
              <a:gd name="connsiteX5" fmla="*/ 1456266 w 4368800"/>
              <a:gd name="connsiteY5" fmla="*/ 313267 h 414867"/>
              <a:gd name="connsiteX6" fmla="*/ 1727200 w 4368800"/>
              <a:gd name="connsiteY6" fmla="*/ 254000 h 414867"/>
              <a:gd name="connsiteX7" fmla="*/ 1998133 w 4368800"/>
              <a:gd name="connsiteY7" fmla="*/ 135467 h 414867"/>
              <a:gd name="connsiteX8" fmla="*/ 2353733 w 4368800"/>
              <a:gd name="connsiteY8" fmla="*/ 287867 h 414867"/>
              <a:gd name="connsiteX9" fmla="*/ 2607733 w 4368800"/>
              <a:gd name="connsiteY9" fmla="*/ 169333 h 414867"/>
              <a:gd name="connsiteX10" fmla="*/ 2946400 w 4368800"/>
              <a:gd name="connsiteY10" fmla="*/ 211667 h 414867"/>
              <a:gd name="connsiteX11" fmla="*/ 3234266 w 4368800"/>
              <a:gd name="connsiteY11" fmla="*/ 203200 h 414867"/>
              <a:gd name="connsiteX12" fmla="*/ 3505200 w 4368800"/>
              <a:gd name="connsiteY12" fmla="*/ 0 h 414867"/>
              <a:gd name="connsiteX13" fmla="*/ 3810000 w 4368800"/>
              <a:gd name="connsiteY13" fmla="*/ 135467 h 414867"/>
              <a:gd name="connsiteX14" fmla="*/ 4097866 w 4368800"/>
              <a:gd name="connsiteY14" fmla="*/ 42333 h 414867"/>
              <a:gd name="connsiteX15" fmla="*/ 4368800 w 4368800"/>
              <a:gd name="connsiteY15" fmla="*/ 118533 h 414867"/>
              <a:gd name="connsiteX0" fmla="*/ 0 w 4368800"/>
              <a:gd name="connsiteY0" fmla="*/ 524934 h 524934"/>
              <a:gd name="connsiteX1" fmla="*/ 270933 w 4368800"/>
              <a:gd name="connsiteY1" fmla="*/ 321733 h 524934"/>
              <a:gd name="connsiteX2" fmla="*/ 575733 w 4368800"/>
              <a:gd name="connsiteY2" fmla="*/ 414867 h 524934"/>
              <a:gd name="connsiteX3" fmla="*/ 880533 w 4368800"/>
              <a:gd name="connsiteY3" fmla="*/ 355600 h 524934"/>
              <a:gd name="connsiteX4" fmla="*/ 1134533 w 4368800"/>
              <a:gd name="connsiteY4" fmla="*/ 203200 h 524934"/>
              <a:gd name="connsiteX5" fmla="*/ 1456266 w 4368800"/>
              <a:gd name="connsiteY5" fmla="*/ 313267 h 524934"/>
              <a:gd name="connsiteX6" fmla="*/ 1727200 w 4368800"/>
              <a:gd name="connsiteY6" fmla="*/ 254000 h 524934"/>
              <a:gd name="connsiteX7" fmla="*/ 1998133 w 4368800"/>
              <a:gd name="connsiteY7" fmla="*/ 135467 h 524934"/>
              <a:gd name="connsiteX8" fmla="*/ 2353733 w 4368800"/>
              <a:gd name="connsiteY8" fmla="*/ 287867 h 524934"/>
              <a:gd name="connsiteX9" fmla="*/ 2607733 w 4368800"/>
              <a:gd name="connsiteY9" fmla="*/ 169333 h 524934"/>
              <a:gd name="connsiteX10" fmla="*/ 2946400 w 4368800"/>
              <a:gd name="connsiteY10" fmla="*/ 211667 h 524934"/>
              <a:gd name="connsiteX11" fmla="*/ 3234266 w 4368800"/>
              <a:gd name="connsiteY11" fmla="*/ 203200 h 524934"/>
              <a:gd name="connsiteX12" fmla="*/ 3505200 w 4368800"/>
              <a:gd name="connsiteY12" fmla="*/ 0 h 524934"/>
              <a:gd name="connsiteX13" fmla="*/ 3810000 w 4368800"/>
              <a:gd name="connsiteY13" fmla="*/ 135467 h 524934"/>
              <a:gd name="connsiteX14" fmla="*/ 4097866 w 4368800"/>
              <a:gd name="connsiteY14" fmla="*/ 42333 h 524934"/>
              <a:gd name="connsiteX15" fmla="*/ 4368800 w 4368800"/>
              <a:gd name="connsiteY15" fmla="*/ 118533 h 524934"/>
              <a:gd name="connsiteX0" fmla="*/ 0 w 4368800"/>
              <a:gd name="connsiteY0" fmla="*/ 541867 h 541867"/>
              <a:gd name="connsiteX1" fmla="*/ 270933 w 4368800"/>
              <a:gd name="connsiteY1" fmla="*/ 338666 h 541867"/>
              <a:gd name="connsiteX2" fmla="*/ 575733 w 4368800"/>
              <a:gd name="connsiteY2" fmla="*/ 431800 h 541867"/>
              <a:gd name="connsiteX3" fmla="*/ 880533 w 4368800"/>
              <a:gd name="connsiteY3" fmla="*/ 372533 h 541867"/>
              <a:gd name="connsiteX4" fmla="*/ 1134533 w 4368800"/>
              <a:gd name="connsiteY4" fmla="*/ 220133 h 541867"/>
              <a:gd name="connsiteX5" fmla="*/ 1456266 w 4368800"/>
              <a:gd name="connsiteY5" fmla="*/ 330200 h 541867"/>
              <a:gd name="connsiteX6" fmla="*/ 1727200 w 4368800"/>
              <a:gd name="connsiteY6" fmla="*/ 270933 h 541867"/>
              <a:gd name="connsiteX7" fmla="*/ 2048933 w 4368800"/>
              <a:gd name="connsiteY7" fmla="*/ 0 h 541867"/>
              <a:gd name="connsiteX8" fmla="*/ 2353733 w 4368800"/>
              <a:gd name="connsiteY8" fmla="*/ 304800 h 541867"/>
              <a:gd name="connsiteX9" fmla="*/ 2607733 w 4368800"/>
              <a:gd name="connsiteY9" fmla="*/ 186266 h 541867"/>
              <a:gd name="connsiteX10" fmla="*/ 2946400 w 4368800"/>
              <a:gd name="connsiteY10" fmla="*/ 228600 h 541867"/>
              <a:gd name="connsiteX11" fmla="*/ 3234266 w 4368800"/>
              <a:gd name="connsiteY11" fmla="*/ 220133 h 541867"/>
              <a:gd name="connsiteX12" fmla="*/ 3505200 w 4368800"/>
              <a:gd name="connsiteY12" fmla="*/ 16933 h 541867"/>
              <a:gd name="connsiteX13" fmla="*/ 3810000 w 4368800"/>
              <a:gd name="connsiteY13" fmla="*/ 152400 h 541867"/>
              <a:gd name="connsiteX14" fmla="*/ 4097866 w 4368800"/>
              <a:gd name="connsiteY14" fmla="*/ 59266 h 541867"/>
              <a:gd name="connsiteX15" fmla="*/ 4368800 w 4368800"/>
              <a:gd name="connsiteY15" fmla="*/ 135466 h 541867"/>
              <a:gd name="connsiteX0" fmla="*/ 0 w 4368800"/>
              <a:gd name="connsiteY0" fmla="*/ 541867 h 541867"/>
              <a:gd name="connsiteX1" fmla="*/ 270933 w 4368800"/>
              <a:gd name="connsiteY1" fmla="*/ 338666 h 541867"/>
              <a:gd name="connsiteX2" fmla="*/ 575733 w 4368800"/>
              <a:gd name="connsiteY2" fmla="*/ 431800 h 541867"/>
              <a:gd name="connsiteX3" fmla="*/ 880533 w 4368800"/>
              <a:gd name="connsiteY3" fmla="*/ 372533 h 541867"/>
              <a:gd name="connsiteX4" fmla="*/ 1134533 w 4368800"/>
              <a:gd name="connsiteY4" fmla="*/ 220133 h 541867"/>
              <a:gd name="connsiteX5" fmla="*/ 1456266 w 4368800"/>
              <a:gd name="connsiteY5" fmla="*/ 330200 h 541867"/>
              <a:gd name="connsiteX6" fmla="*/ 1727200 w 4368800"/>
              <a:gd name="connsiteY6" fmla="*/ 270933 h 541867"/>
              <a:gd name="connsiteX7" fmla="*/ 2048933 w 4368800"/>
              <a:gd name="connsiteY7" fmla="*/ 0 h 541867"/>
              <a:gd name="connsiteX8" fmla="*/ 2353733 w 4368800"/>
              <a:gd name="connsiteY8" fmla="*/ 304800 h 541867"/>
              <a:gd name="connsiteX9" fmla="*/ 2607733 w 4368800"/>
              <a:gd name="connsiteY9" fmla="*/ 186266 h 541867"/>
              <a:gd name="connsiteX10" fmla="*/ 2963334 w 4368800"/>
              <a:gd name="connsiteY10" fmla="*/ 152400 h 541867"/>
              <a:gd name="connsiteX11" fmla="*/ 3234266 w 4368800"/>
              <a:gd name="connsiteY11" fmla="*/ 220133 h 541867"/>
              <a:gd name="connsiteX12" fmla="*/ 3505200 w 4368800"/>
              <a:gd name="connsiteY12" fmla="*/ 16933 h 541867"/>
              <a:gd name="connsiteX13" fmla="*/ 3810000 w 4368800"/>
              <a:gd name="connsiteY13" fmla="*/ 152400 h 541867"/>
              <a:gd name="connsiteX14" fmla="*/ 4097866 w 4368800"/>
              <a:gd name="connsiteY14" fmla="*/ 59266 h 541867"/>
              <a:gd name="connsiteX15" fmla="*/ 4368800 w 4368800"/>
              <a:gd name="connsiteY15" fmla="*/ 135466 h 541867"/>
              <a:gd name="connsiteX0" fmla="*/ 0 w 4368800"/>
              <a:gd name="connsiteY0" fmla="*/ 575734 h 575734"/>
              <a:gd name="connsiteX1" fmla="*/ 270933 w 4368800"/>
              <a:gd name="connsiteY1" fmla="*/ 372533 h 575734"/>
              <a:gd name="connsiteX2" fmla="*/ 575733 w 4368800"/>
              <a:gd name="connsiteY2" fmla="*/ 465667 h 575734"/>
              <a:gd name="connsiteX3" fmla="*/ 880533 w 4368800"/>
              <a:gd name="connsiteY3" fmla="*/ 406400 h 575734"/>
              <a:gd name="connsiteX4" fmla="*/ 1134533 w 4368800"/>
              <a:gd name="connsiteY4" fmla="*/ 254000 h 575734"/>
              <a:gd name="connsiteX5" fmla="*/ 1456266 w 4368800"/>
              <a:gd name="connsiteY5" fmla="*/ 364067 h 575734"/>
              <a:gd name="connsiteX6" fmla="*/ 1727200 w 4368800"/>
              <a:gd name="connsiteY6" fmla="*/ 304800 h 575734"/>
              <a:gd name="connsiteX7" fmla="*/ 2048933 w 4368800"/>
              <a:gd name="connsiteY7" fmla="*/ 33867 h 575734"/>
              <a:gd name="connsiteX8" fmla="*/ 2353733 w 4368800"/>
              <a:gd name="connsiteY8" fmla="*/ 338667 h 575734"/>
              <a:gd name="connsiteX9" fmla="*/ 2607733 w 4368800"/>
              <a:gd name="connsiteY9" fmla="*/ 220133 h 575734"/>
              <a:gd name="connsiteX10" fmla="*/ 2963334 w 4368800"/>
              <a:gd name="connsiteY10" fmla="*/ 186267 h 575734"/>
              <a:gd name="connsiteX11" fmla="*/ 3234266 w 4368800"/>
              <a:gd name="connsiteY11" fmla="*/ 254000 h 575734"/>
              <a:gd name="connsiteX12" fmla="*/ 3505200 w 4368800"/>
              <a:gd name="connsiteY12" fmla="*/ 0 h 575734"/>
              <a:gd name="connsiteX13" fmla="*/ 3810000 w 4368800"/>
              <a:gd name="connsiteY13" fmla="*/ 186267 h 575734"/>
              <a:gd name="connsiteX14" fmla="*/ 4097866 w 4368800"/>
              <a:gd name="connsiteY14" fmla="*/ 93133 h 575734"/>
              <a:gd name="connsiteX15" fmla="*/ 4368800 w 4368800"/>
              <a:gd name="connsiteY15" fmla="*/ 169333 h 575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4368800" h="575734">
                <a:moveTo>
                  <a:pt x="0" y="575734"/>
                </a:moveTo>
                <a:lnTo>
                  <a:pt x="270933" y="372533"/>
                </a:lnTo>
                <a:lnTo>
                  <a:pt x="575733" y="465667"/>
                </a:lnTo>
                <a:lnTo>
                  <a:pt x="880533" y="406400"/>
                </a:lnTo>
                <a:lnTo>
                  <a:pt x="1134533" y="254000"/>
                </a:lnTo>
                <a:lnTo>
                  <a:pt x="1456266" y="364067"/>
                </a:lnTo>
                <a:lnTo>
                  <a:pt x="1727200" y="304800"/>
                </a:lnTo>
                <a:lnTo>
                  <a:pt x="2048933" y="33867"/>
                </a:lnTo>
                <a:lnTo>
                  <a:pt x="2353733" y="338667"/>
                </a:lnTo>
                <a:cubicBezTo>
                  <a:pt x="2438400" y="299156"/>
                  <a:pt x="2506133" y="245533"/>
                  <a:pt x="2607733" y="220133"/>
                </a:cubicBezTo>
                <a:cubicBezTo>
                  <a:pt x="2709333" y="194733"/>
                  <a:pt x="2844800" y="197556"/>
                  <a:pt x="2963334" y="186267"/>
                </a:cubicBezTo>
                <a:lnTo>
                  <a:pt x="3234266" y="254000"/>
                </a:lnTo>
                <a:lnTo>
                  <a:pt x="3505200" y="0"/>
                </a:lnTo>
                <a:lnTo>
                  <a:pt x="3810000" y="186267"/>
                </a:lnTo>
                <a:lnTo>
                  <a:pt x="4097866" y="93133"/>
                </a:lnTo>
                <a:lnTo>
                  <a:pt x="4368800" y="169333"/>
                </a:lnTo>
              </a:path>
            </a:pathLst>
          </a:custGeom>
          <a:ln>
            <a:solidFill>
              <a:schemeClr val="bg1">
                <a:lumMod val="5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37" name="자유형 83">
            <a:extLst>
              <a:ext uri="{FF2B5EF4-FFF2-40B4-BE49-F238E27FC236}">
                <a16:creationId xmlns:a16="http://schemas.microsoft.com/office/drawing/2014/main" id="{5116EE6F-22C2-483E-B451-7BCD78285145}"/>
              </a:ext>
            </a:extLst>
          </p:cNvPr>
          <p:cNvSpPr/>
          <p:nvPr/>
        </p:nvSpPr>
        <p:spPr>
          <a:xfrm>
            <a:off x="7039306" y="2681757"/>
            <a:ext cx="1073025" cy="604045"/>
          </a:xfrm>
          <a:custGeom>
            <a:avLst/>
            <a:gdLst>
              <a:gd name="connsiteX0" fmla="*/ 0 w 4368800"/>
              <a:gd name="connsiteY0" fmla="*/ 389467 h 414867"/>
              <a:gd name="connsiteX1" fmla="*/ 270933 w 4368800"/>
              <a:gd name="connsiteY1" fmla="*/ 321733 h 414867"/>
              <a:gd name="connsiteX2" fmla="*/ 575733 w 4368800"/>
              <a:gd name="connsiteY2" fmla="*/ 414867 h 414867"/>
              <a:gd name="connsiteX3" fmla="*/ 880533 w 4368800"/>
              <a:gd name="connsiteY3" fmla="*/ 355600 h 414867"/>
              <a:gd name="connsiteX4" fmla="*/ 1134533 w 4368800"/>
              <a:gd name="connsiteY4" fmla="*/ 203200 h 414867"/>
              <a:gd name="connsiteX5" fmla="*/ 1456266 w 4368800"/>
              <a:gd name="connsiteY5" fmla="*/ 313267 h 414867"/>
              <a:gd name="connsiteX6" fmla="*/ 1727200 w 4368800"/>
              <a:gd name="connsiteY6" fmla="*/ 254000 h 414867"/>
              <a:gd name="connsiteX7" fmla="*/ 1998133 w 4368800"/>
              <a:gd name="connsiteY7" fmla="*/ 135467 h 414867"/>
              <a:gd name="connsiteX8" fmla="*/ 2353733 w 4368800"/>
              <a:gd name="connsiteY8" fmla="*/ 287867 h 414867"/>
              <a:gd name="connsiteX9" fmla="*/ 2607733 w 4368800"/>
              <a:gd name="connsiteY9" fmla="*/ 169333 h 414867"/>
              <a:gd name="connsiteX10" fmla="*/ 2946400 w 4368800"/>
              <a:gd name="connsiteY10" fmla="*/ 211667 h 414867"/>
              <a:gd name="connsiteX11" fmla="*/ 3234266 w 4368800"/>
              <a:gd name="connsiteY11" fmla="*/ 203200 h 414867"/>
              <a:gd name="connsiteX12" fmla="*/ 3505200 w 4368800"/>
              <a:gd name="connsiteY12" fmla="*/ 0 h 414867"/>
              <a:gd name="connsiteX13" fmla="*/ 3810000 w 4368800"/>
              <a:gd name="connsiteY13" fmla="*/ 135467 h 414867"/>
              <a:gd name="connsiteX14" fmla="*/ 4097866 w 4368800"/>
              <a:gd name="connsiteY14" fmla="*/ 42333 h 414867"/>
              <a:gd name="connsiteX15" fmla="*/ 4368800 w 4368800"/>
              <a:gd name="connsiteY15" fmla="*/ 118533 h 414867"/>
              <a:gd name="connsiteX0" fmla="*/ 0 w 4368800"/>
              <a:gd name="connsiteY0" fmla="*/ 524934 h 524934"/>
              <a:gd name="connsiteX1" fmla="*/ 270933 w 4368800"/>
              <a:gd name="connsiteY1" fmla="*/ 321733 h 524934"/>
              <a:gd name="connsiteX2" fmla="*/ 575733 w 4368800"/>
              <a:gd name="connsiteY2" fmla="*/ 414867 h 524934"/>
              <a:gd name="connsiteX3" fmla="*/ 880533 w 4368800"/>
              <a:gd name="connsiteY3" fmla="*/ 355600 h 524934"/>
              <a:gd name="connsiteX4" fmla="*/ 1134533 w 4368800"/>
              <a:gd name="connsiteY4" fmla="*/ 203200 h 524934"/>
              <a:gd name="connsiteX5" fmla="*/ 1456266 w 4368800"/>
              <a:gd name="connsiteY5" fmla="*/ 313267 h 524934"/>
              <a:gd name="connsiteX6" fmla="*/ 1727200 w 4368800"/>
              <a:gd name="connsiteY6" fmla="*/ 254000 h 524934"/>
              <a:gd name="connsiteX7" fmla="*/ 1998133 w 4368800"/>
              <a:gd name="connsiteY7" fmla="*/ 135467 h 524934"/>
              <a:gd name="connsiteX8" fmla="*/ 2353733 w 4368800"/>
              <a:gd name="connsiteY8" fmla="*/ 287867 h 524934"/>
              <a:gd name="connsiteX9" fmla="*/ 2607733 w 4368800"/>
              <a:gd name="connsiteY9" fmla="*/ 169333 h 524934"/>
              <a:gd name="connsiteX10" fmla="*/ 2946400 w 4368800"/>
              <a:gd name="connsiteY10" fmla="*/ 211667 h 524934"/>
              <a:gd name="connsiteX11" fmla="*/ 3234266 w 4368800"/>
              <a:gd name="connsiteY11" fmla="*/ 203200 h 524934"/>
              <a:gd name="connsiteX12" fmla="*/ 3505200 w 4368800"/>
              <a:gd name="connsiteY12" fmla="*/ 0 h 524934"/>
              <a:gd name="connsiteX13" fmla="*/ 3810000 w 4368800"/>
              <a:gd name="connsiteY13" fmla="*/ 135467 h 524934"/>
              <a:gd name="connsiteX14" fmla="*/ 4097866 w 4368800"/>
              <a:gd name="connsiteY14" fmla="*/ 42333 h 524934"/>
              <a:gd name="connsiteX15" fmla="*/ 4368800 w 4368800"/>
              <a:gd name="connsiteY15" fmla="*/ 118533 h 524934"/>
              <a:gd name="connsiteX0" fmla="*/ 0 w 4368800"/>
              <a:gd name="connsiteY0" fmla="*/ 541867 h 541867"/>
              <a:gd name="connsiteX1" fmla="*/ 270933 w 4368800"/>
              <a:gd name="connsiteY1" fmla="*/ 338666 h 541867"/>
              <a:gd name="connsiteX2" fmla="*/ 575733 w 4368800"/>
              <a:gd name="connsiteY2" fmla="*/ 431800 h 541867"/>
              <a:gd name="connsiteX3" fmla="*/ 880533 w 4368800"/>
              <a:gd name="connsiteY3" fmla="*/ 372533 h 541867"/>
              <a:gd name="connsiteX4" fmla="*/ 1134533 w 4368800"/>
              <a:gd name="connsiteY4" fmla="*/ 220133 h 541867"/>
              <a:gd name="connsiteX5" fmla="*/ 1456266 w 4368800"/>
              <a:gd name="connsiteY5" fmla="*/ 330200 h 541867"/>
              <a:gd name="connsiteX6" fmla="*/ 1727200 w 4368800"/>
              <a:gd name="connsiteY6" fmla="*/ 270933 h 541867"/>
              <a:gd name="connsiteX7" fmla="*/ 2048933 w 4368800"/>
              <a:gd name="connsiteY7" fmla="*/ 0 h 541867"/>
              <a:gd name="connsiteX8" fmla="*/ 2353733 w 4368800"/>
              <a:gd name="connsiteY8" fmla="*/ 304800 h 541867"/>
              <a:gd name="connsiteX9" fmla="*/ 2607733 w 4368800"/>
              <a:gd name="connsiteY9" fmla="*/ 186266 h 541867"/>
              <a:gd name="connsiteX10" fmla="*/ 2946400 w 4368800"/>
              <a:gd name="connsiteY10" fmla="*/ 228600 h 541867"/>
              <a:gd name="connsiteX11" fmla="*/ 3234266 w 4368800"/>
              <a:gd name="connsiteY11" fmla="*/ 220133 h 541867"/>
              <a:gd name="connsiteX12" fmla="*/ 3505200 w 4368800"/>
              <a:gd name="connsiteY12" fmla="*/ 16933 h 541867"/>
              <a:gd name="connsiteX13" fmla="*/ 3810000 w 4368800"/>
              <a:gd name="connsiteY13" fmla="*/ 152400 h 541867"/>
              <a:gd name="connsiteX14" fmla="*/ 4097866 w 4368800"/>
              <a:gd name="connsiteY14" fmla="*/ 59266 h 541867"/>
              <a:gd name="connsiteX15" fmla="*/ 4368800 w 4368800"/>
              <a:gd name="connsiteY15" fmla="*/ 135466 h 541867"/>
              <a:gd name="connsiteX0" fmla="*/ 0 w 4368800"/>
              <a:gd name="connsiteY0" fmla="*/ 541867 h 541867"/>
              <a:gd name="connsiteX1" fmla="*/ 270933 w 4368800"/>
              <a:gd name="connsiteY1" fmla="*/ 338666 h 541867"/>
              <a:gd name="connsiteX2" fmla="*/ 575733 w 4368800"/>
              <a:gd name="connsiteY2" fmla="*/ 431800 h 541867"/>
              <a:gd name="connsiteX3" fmla="*/ 880533 w 4368800"/>
              <a:gd name="connsiteY3" fmla="*/ 372533 h 541867"/>
              <a:gd name="connsiteX4" fmla="*/ 1134533 w 4368800"/>
              <a:gd name="connsiteY4" fmla="*/ 220133 h 541867"/>
              <a:gd name="connsiteX5" fmla="*/ 1456266 w 4368800"/>
              <a:gd name="connsiteY5" fmla="*/ 330200 h 541867"/>
              <a:gd name="connsiteX6" fmla="*/ 1727200 w 4368800"/>
              <a:gd name="connsiteY6" fmla="*/ 270933 h 541867"/>
              <a:gd name="connsiteX7" fmla="*/ 2048933 w 4368800"/>
              <a:gd name="connsiteY7" fmla="*/ 0 h 541867"/>
              <a:gd name="connsiteX8" fmla="*/ 2353733 w 4368800"/>
              <a:gd name="connsiteY8" fmla="*/ 304800 h 541867"/>
              <a:gd name="connsiteX9" fmla="*/ 2607733 w 4368800"/>
              <a:gd name="connsiteY9" fmla="*/ 186266 h 541867"/>
              <a:gd name="connsiteX10" fmla="*/ 2963334 w 4368800"/>
              <a:gd name="connsiteY10" fmla="*/ 152400 h 541867"/>
              <a:gd name="connsiteX11" fmla="*/ 3234266 w 4368800"/>
              <a:gd name="connsiteY11" fmla="*/ 220133 h 541867"/>
              <a:gd name="connsiteX12" fmla="*/ 3505200 w 4368800"/>
              <a:gd name="connsiteY12" fmla="*/ 16933 h 541867"/>
              <a:gd name="connsiteX13" fmla="*/ 3810000 w 4368800"/>
              <a:gd name="connsiteY13" fmla="*/ 152400 h 541867"/>
              <a:gd name="connsiteX14" fmla="*/ 4097866 w 4368800"/>
              <a:gd name="connsiteY14" fmla="*/ 59266 h 541867"/>
              <a:gd name="connsiteX15" fmla="*/ 4368800 w 4368800"/>
              <a:gd name="connsiteY15" fmla="*/ 135466 h 541867"/>
              <a:gd name="connsiteX0" fmla="*/ 0 w 4368800"/>
              <a:gd name="connsiteY0" fmla="*/ 575734 h 575734"/>
              <a:gd name="connsiteX1" fmla="*/ 270933 w 4368800"/>
              <a:gd name="connsiteY1" fmla="*/ 372533 h 575734"/>
              <a:gd name="connsiteX2" fmla="*/ 575733 w 4368800"/>
              <a:gd name="connsiteY2" fmla="*/ 465667 h 575734"/>
              <a:gd name="connsiteX3" fmla="*/ 880533 w 4368800"/>
              <a:gd name="connsiteY3" fmla="*/ 406400 h 575734"/>
              <a:gd name="connsiteX4" fmla="*/ 1134533 w 4368800"/>
              <a:gd name="connsiteY4" fmla="*/ 254000 h 575734"/>
              <a:gd name="connsiteX5" fmla="*/ 1456266 w 4368800"/>
              <a:gd name="connsiteY5" fmla="*/ 364067 h 575734"/>
              <a:gd name="connsiteX6" fmla="*/ 1727200 w 4368800"/>
              <a:gd name="connsiteY6" fmla="*/ 304800 h 575734"/>
              <a:gd name="connsiteX7" fmla="*/ 2048933 w 4368800"/>
              <a:gd name="connsiteY7" fmla="*/ 33867 h 575734"/>
              <a:gd name="connsiteX8" fmla="*/ 2353733 w 4368800"/>
              <a:gd name="connsiteY8" fmla="*/ 338667 h 575734"/>
              <a:gd name="connsiteX9" fmla="*/ 2607733 w 4368800"/>
              <a:gd name="connsiteY9" fmla="*/ 220133 h 575734"/>
              <a:gd name="connsiteX10" fmla="*/ 2963334 w 4368800"/>
              <a:gd name="connsiteY10" fmla="*/ 186267 h 575734"/>
              <a:gd name="connsiteX11" fmla="*/ 3234266 w 4368800"/>
              <a:gd name="connsiteY11" fmla="*/ 254000 h 575734"/>
              <a:gd name="connsiteX12" fmla="*/ 3505200 w 4368800"/>
              <a:gd name="connsiteY12" fmla="*/ 0 h 575734"/>
              <a:gd name="connsiteX13" fmla="*/ 3810000 w 4368800"/>
              <a:gd name="connsiteY13" fmla="*/ 186267 h 575734"/>
              <a:gd name="connsiteX14" fmla="*/ 4097866 w 4368800"/>
              <a:gd name="connsiteY14" fmla="*/ 93133 h 575734"/>
              <a:gd name="connsiteX15" fmla="*/ 4368800 w 4368800"/>
              <a:gd name="connsiteY15" fmla="*/ 169333 h 575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4368800" h="575734">
                <a:moveTo>
                  <a:pt x="0" y="575734"/>
                </a:moveTo>
                <a:lnTo>
                  <a:pt x="270933" y="372533"/>
                </a:lnTo>
                <a:lnTo>
                  <a:pt x="575733" y="465667"/>
                </a:lnTo>
                <a:lnTo>
                  <a:pt x="880533" y="406400"/>
                </a:lnTo>
                <a:lnTo>
                  <a:pt x="1134533" y="254000"/>
                </a:lnTo>
                <a:lnTo>
                  <a:pt x="1456266" y="364067"/>
                </a:lnTo>
                <a:lnTo>
                  <a:pt x="1727200" y="304800"/>
                </a:lnTo>
                <a:lnTo>
                  <a:pt x="2048933" y="33867"/>
                </a:lnTo>
                <a:lnTo>
                  <a:pt x="2353733" y="338667"/>
                </a:lnTo>
                <a:cubicBezTo>
                  <a:pt x="2438400" y="299156"/>
                  <a:pt x="2506133" y="245533"/>
                  <a:pt x="2607733" y="220133"/>
                </a:cubicBezTo>
                <a:cubicBezTo>
                  <a:pt x="2709333" y="194733"/>
                  <a:pt x="2844800" y="197556"/>
                  <a:pt x="2963334" y="186267"/>
                </a:cubicBezTo>
                <a:lnTo>
                  <a:pt x="3234266" y="254000"/>
                </a:lnTo>
                <a:lnTo>
                  <a:pt x="3505200" y="0"/>
                </a:lnTo>
                <a:lnTo>
                  <a:pt x="3810000" y="186267"/>
                </a:lnTo>
                <a:lnTo>
                  <a:pt x="4097866" y="93133"/>
                </a:lnTo>
                <a:lnTo>
                  <a:pt x="4368800" y="169333"/>
                </a:lnTo>
              </a:path>
            </a:pathLst>
          </a:custGeom>
          <a:ln>
            <a:solidFill>
              <a:schemeClr val="bg1">
                <a:lumMod val="5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60" name="직사각형 159">
            <a:extLst>
              <a:ext uri="{FF2B5EF4-FFF2-40B4-BE49-F238E27FC236}">
                <a16:creationId xmlns:a16="http://schemas.microsoft.com/office/drawing/2014/main" id="{87766AD0-3E54-4227-8966-40200BC2BBA6}"/>
              </a:ext>
            </a:extLst>
          </p:cNvPr>
          <p:cNvSpPr/>
          <p:nvPr/>
        </p:nvSpPr>
        <p:spPr>
          <a:xfrm>
            <a:off x="7559944" y="1982146"/>
            <a:ext cx="1008112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방전 계획</a:t>
            </a:r>
          </a:p>
        </p:txBody>
      </p:sp>
      <p:grpSp>
        <p:nvGrpSpPr>
          <p:cNvPr id="87" name="그룹 86">
            <a:extLst>
              <a:ext uri="{FF2B5EF4-FFF2-40B4-BE49-F238E27FC236}">
                <a16:creationId xmlns:a16="http://schemas.microsoft.com/office/drawing/2014/main" id="{3F26BC78-0460-45FB-816A-2FAD62BE5DEE}"/>
              </a:ext>
            </a:extLst>
          </p:cNvPr>
          <p:cNvGrpSpPr/>
          <p:nvPr/>
        </p:nvGrpSpPr>
        <p:grpSpPr>
          <a:xfrm>
            <a:off x="210356" y="1203435"/>
            <a:ext cx="8024876" cy="260092"/>
            <a:chOff x="184526" y="1505937"/>
            <a:chExt cx="8024876" cy="260092"/>
          </a:xfrm>
        </p:grpSpPr>
        <p:sp>
          <p:nvSpPr>
            <p:cNvPr id="88" name="직사각형 87">
              <a:extLst>
                <a:ext uri="{FF2B5EF4-FFF2-40B4-BE49-F238E27FC236}">
                  <a16:creationId xmlns:a16="http://schemas.microsoft.com/office/drawing/2014/main" id="{7E4E13EF-4A65-4079-93DB-F73A0D79299D}"/>
                </a:ext>
              </a:extLst>
            </p:cNvPr>
            <p:cNvSpPr/>
            <p:nvPr/>
          </p:nvSpPr>
          <p:spPr>
            <a:xfrm>
              <a:off x="5810955" y="1550585"/>
              <a:ext cx="1820532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수익 현황</a:t>
              </a:r>
            </a:p>
          </p:txBody>
        </p:sp>
        <p:sp>
          <p:nvSpPr>
            <p:cNvPr id="89" name="직사각형 88">
              <a:extLst>
                <a:ext uri="{FF2B5EF4-FFF2-40B4-BE49-F238E27FC236}">
                  <a16:creationId xmlns:a16="http://schemas.microsoft.com/office/drawing/2014/main" id="{91D098D5-B2E5-41B5-968D-A8D97E37CB20}"/>
                </a:ext>
              </a:extLst>
            </p:cNvPr>
            <p:cNvSpPr/>
            <p:nvPr/>
          </p:nvSpPr>
          <p:spPr>
            <a:xfrm>
              <a:off x="184526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에너지 모니터링</a:t>
              </a:r>
            </a:p>
          </p:txBody>
        </p:sp>
        <p:sp>
          <p:nvSpPr>
            <p:cNvPr id="90" name="직사각형 89">
              <a:extLst>
                <a:ext uri="{FF2B5EF4-FFF2-40B4-BE49-F238E27FC236}">
                  <a16:creationId xmlns:a16="http://schemas.microsoft.com/office/drawing/2014/main" id="{31364A7D-0472-42E4-9876-ED46AF1FD910}"/>
                </a:ext>
              </a:extLst>
            </p:cNvPr>
            <p:cNvSpPr/>
            <p:nvPr/>
          </p:nvSpPr>
          <p:spPr>
            <a:xfrm>
              <a:off x="2191085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장치 모니터링</a:t>
              </a:r>
            </a:p>
          </p:txBody>
        </p:sp>
        <p:sp>
          <p:nvSpPr>
            <p:cNvPr id="91" name="직사각형 90">
              <a:extLst>
                <a:ext uri="{FF2B5EF4-FFF2-40B4-BE49-F238E27FC236}">
                  <a16:creationId xmlns:a16="http://schemas.microsoft.com/office/drawing/2014/main" id="{AEA27FF5-611E-404D-AA6A-652DDE30D374}"/>
                </a:ext>
              </a:extLst>
            </p:cNvPr>
            <p:cNvSpPr/>
            <p:nvPr/>
          </p:nvSpPr>
          <p:spPr>
            <a:xfrm>
              <a:off x="4197644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상황</a:t>
              </a:r>
              <a:r>
                <a:rPr lang="en-US" altLang="ko-KR" sz="700" dirty="0"/>
                <a:t> </a:t>
              </a:r>
              <a:r>
                <a:rPr lang="ko-KR" altLang="en-US" sz="700" dirty="0"/>
                <a:t>관제</a:t>
              </a:r>
            </a:p>
          </p:txBody>
        </p:sp>
        <p:sp>
          <p:nvSpPr>
            <p:cNvPr id="92" name="직사각형 91">
              <a:extLst>
                <a:ext uri="{FF2B5EF4-FFF2-40B4-BE49-F238E27FC236}">
                  <a16:creationId xmlns:a16="http://schemas.microsoft.com/office/drawing/2014/main" id="{A9F326A9-E96A-4398-8D25-7EB9D0B62F42}"/>
                </a:ext>
              </a:extLst>
            </p:cNvPr>
            <p:cNvSpPr/>
            <p:nvPr/>
          </p:nvSpPr>
          <p:spPr>
            <a:xfrm>
              <a:off x="6204202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요금</a:t>
              </a:r>
              <a:r>
                <a:rPr lang="en-US" altLang="ko-KR" sz="700" dirty="0"/>
                <a:t>/</a:t>
              </a:r>
              <a:r>
                <a:rPr lang="ko-KR" altLang="en-US" sz="700" dirty="0"/>
                <a:t>수익</a:t>
              </a:r>
            </a:p>
          </p:txBody>
        </p:sp>
      </p:grpSp>
      <p:sp>
        <p:nvSpPr>
          <p:cNvPr id="247" name="타원형 설명선 246"/>
          <p:cNvSpPr/>
          <p:nvPr/>
        </p:nvSpPr>
        <p:spPr>
          <a:xfrm>
            <a:off x="-26681" y="2209848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6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8" name="말풍선: 사각형 97">
            <a:extLst>
              <a:ext uri="{FF2B5EF4-FFF2-40B4-BE49-F238E27FC236}">
                <a16:creationId xmlns:a16="http://schemas.microsoft.com/office/drawing/2014/main" id="{21AB208E-C0DC-44C7-9316-CA282DDBEC93}"/>
              </a:ext>
            </a:extLst>
          </p:cNvPr>
          <p:cNvSpPr/>
          <p:nvPr/>
        </p:nvSpPr>
        <p:spPr>
          <a:xfrm>
            <a:off x="1989925" y="2524432"/>
            <a:ext cx="615731" cy="360039"/>
          </a:xfrm>
          <a:prstGeom prst="wedgeRectCallout">
            <a:avLst>
              <a:gd name="adj1" fmla="val -30620"/>
              <a:gd name="adj2" fmla="val 109426"/>
            </a:avLst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 b="1" dirty="0" err="1">
                <a:solidFill>
                  <a:schemeClr val="tx1">
                    <a:lumMod val="65000"/>
                    <a:lumOff val="35000"/>
                  </a:schemeClr>
                </a:solidFill>
              </a:rPr>
              <a:t>충전량</a:t>
            </a:r>
            <a:r>
              <a:rPr lang="en-US" altLang="ko-KR" sz="6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03:15:00</a:t>
            </a:r>
          </a:p>
          <a:p>
            <a:pPr algn="ctr"/>
            <a:r>
              <a:rPr lang="en-US" altLang="ko-KR" sz="600" b="1" dirty="0">
                <a:solidFill>
                  <a:srgbClr val="FF0000"/>
                </a:solidFill>
              </a:rPr>
              <a:t>210 kWh</a:t>
            </a:r>
            <a:endParaRPr lang="ko-KR" altLang="en-US" sz="600" b="1" dirty="0">
              <a:solidFill>
                <a:srgbClr val="FF0000"/>
              </a:solidFill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3DF07A4C-A248-4A6A-833E-A42473E3C711}"/>
              </a:ext>
            </a:extLst>
          </p:cNvPr>
          <p:cNvSpPr/>
          <p:nvPr/>
        </p:nvSpPr>
        <p:spPr>
          <a:xfrm>
            <a:off x="7680269" y="1555221"/>
            <a:ext cx="473661" cy="289182"/>
          </a:xfrm>
          <a:prstGeom prst="rect">
            <a:avLst/>
          </a:prstGeom>
          <a:solidFill>
            <a:srgbClr val="0099FF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>
              <a:lnSpc>
                <a:spcPct val="150000"/>
              </a:lnSpc>
            </a:pPr>
            <a:r>
              <a:rPr lang="ko-KR" altLang="en-US" sz="105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조회</a:t>
            </a:r>
          </a:p>
        </p:txBody>
      </p:sp>
      <p:grpSp>
        <p:nvGrpSpPr>
          <p:cNvPr id="104" name="그룹 103">
            <a:extLst>
              <a:ext uri="{FF2B5EF4-FFF2-40B4-BE49-F238E27FC236}">
                <a16:creationId xmlns:a16="http://schemas.microsoft.com/office/drawing/2014/main" id="{FA777134-FC2B-44BF-B398-76A1D6159A3F}"/>
              </a:ext>
            </a:extLst>
          </p:cNvPr>
          <p:cNvGrpSpPr/>
          <p:nvPr/>
        </p:nvGrpSpPr>
        <p:grpSpPr>
          <a:xfrm>
            <a:off x="278972" y="4377982"/>
            <a:ext cx="892533" cy="211955"/>
            <a:chOff x="4861742" y="3907374"/>
            <a:chExt cx="862386" cy="211955"/>
          </a:xfrm>
        </p:grpSpPr>
        <p:pic>
          <p:nvPicPr>
            <p:cNvPr id="105" name="Picture 6" descr="ìì ë¤ì´ë¡ëì ëí ì´ë¯¸ì§ ê²ìê²°ê³¼">
              <a:extLst>
                <a:ext uri="{FF2B5EF4-FFF2-40B4-BE49-F238E27FC236}">
                  <a16:creationId xmlns:a16="http://schemas.microsoft.com/office/drawing/2014/main" id="{AFD134DA-4EEB-40A3-97FE-B20BB4D55DE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861742" y="3907374"/>
              <a:ext cx="211955" cy="21195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AF7F228D-3BBA-41F5-BC7D-7DA5EA560AD1}"/>
                </a:ext>
              </a:extLst>
            </p:cNvPr>
            <p:cNvSpPr txBox="1"/>
            <p:nvPr/>
          </p:nvSpPr>
          <p:spPr>
            <a:xfrm>
              <a:off x="4949189" y="3921018"/>
              <a:ext cx="7749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600" b="1" dirty="0">
                  <a:solidFill>
                    <a:schemeClr val="bg1"/>
                  </a:solidFill>
                </a:rPr>
                <a:t>데이터 저장하기</a:t>
              </a:r>
            </a:p>
          </p:txBody>
        </p:sp>
      </p:grpSp>
      <p:sp>
        <p:nvSpPr>
          <p:cNvPr id="161" name="TextBox 160">
            <a:extLst>
              <a:ext uri="{FF2B5EF4-FFF2-40B4-BE49-F238E27FC236}">
                <a16:creationId xmlns:a16="http://schemas.microsoft.com/office/drawing/2014/main" id="{17EF2325-9A61-416E-A89F-8500F304B1D0}"/>
              </a:ext>
            </a:extLst>
          </p:cNvPr>
          <p:cNvSpPr txBox="1"/>
          <p:nvPr/>
        </p:nvSpPr>
        <p:spPr>
          <a:xfrm>
            <a:off x="7221242" y="4384209"/>
            <a:ext cx="972108" cy="215444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square" rtlCol="0" anchor="ctr">
            <a:spAutoFit/>
          </a:bodyPr>
          <a:lstStyle/>
          <a:p>
            <a:pPr algn="ctr"/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표 접기</a:t>
            </a:r>
          </a:p>
        </p:txBody>
      </p:sp>
      <p:sp>
        <p:nvSpPr>
          <p:cNvPr id="226" name="타원형 설명선 225"/>
          <p:cNvSpPr/>
          <p:nvPr/>
        </p:nvSpPr>
        <p:spPr>
          <a:xfrm>
            <a:off x="98965" y="4221112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9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8" name="타원형 설명선 247"/>
          <p:cNvSpPr/>
          <p:nvPr/>
        </p:nvSpPr>
        <p:spPr>
          <a:xfrm>
            <a:off x="5553" y="4581152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7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06" name="타원형 설명선 205"/>
          <p:cNvSpPr/>
          <p:nvPr/>
        </p:nvSpPr>
        <p:spPr>
          <a:xfrm>
            <a:off x="6937736" y="4293096"/>
            <a:ext cx="216000" cy="216000"/>
          </a:xfrm>
          <a:prstGeom prst="wedgeEllipseCallout">
            <a:avLst>
              <a:gd name="adj1" fmla="val 74230"/>
              <a:gd name="adj2" fmla="val 21822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/>
              <a:t>8</a:t>
            </a:r>
            <a:endParaRPr lang="ko-KR" altLang="en-US" sz="900" b="1" dirty="0"/>
          </a:p>
        </p:txBody>
      </p:sp>
      <p:graphicFrame>
        <p:nvGraphicFramePr>
          <p:cNvPr id="162" name="표 161">
            <a:extLst>
              <a:ext uri="{FF2B5EF4-FFF2-40B4-BE49-F238E27FC236}">
                <a16:creationId xmlns:a16="http://schemas.microsoft.com/office/drawing/2014/main" id="{3CB128E8-E18F-440B-AA3B-0C6E249E734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71374749"/>
              </p:ext>
            </p:extLst>
          </p:nvPr>
        </p:nvGraphicFramePr>
        <p:xfrm>
          <a:off x="263480" y="4663729"/>
          <a:ext cx="7929878" cy="5342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660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91379356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3679891012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2229935987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4026812072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1122824508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1502902784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354728812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914552893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2643701830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4156003338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186923855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328632746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878962281"/>
                    </a:ext>
                  </a:extLst>
                </a:gridCol>
              </a:tblGrid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YYYY-MM</a:t>
                      </a:r>
                      <a:endParaRPr lang="en-US" altLang="ko-KR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01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02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03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04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05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06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07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08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09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11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12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13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14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15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16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17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18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19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21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22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23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24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합계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21345152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 err="1">
                          <a:solidFill>
                            <a:srgbClr val="00B050"/>
                          </a:solidFill>
                          <a:latin typeface="+mn-lt"/>
                          <a:ea typeface="+mn-ea"/>
                          <a:cs typeface="+mn-cs"/>
                        </a:rPr>
                        <a:t>충전량</a:t>
                      </a:r>
                      <a:endParaRPr lang="en-US" altLang="ko-KR" sz="800" b="1" kern="1200" dirty="0">
                        <a:solidFill>
                          <a:srgbClr val="00B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00B050"/>
                          </a:solidFill>
                          <a:latin typeface="+mn-lt"/>
                          <a:ea typeface="+mn-ea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rgbClr val="00B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B05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B05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B05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B05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B05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B05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B05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B05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B05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B05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B05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B05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B05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B05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B05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B05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충전 계획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aphicFrame>
        <p:nvGraphicFramePr>
          <p:cNvPr id="163" name="표 162">
            <a:extLst>
              <a:ext uri="{FF2B5EF4-FFF2-40B4-BE49-F238E27FC236}">
                <a16:creationId xmlns:a16="http://schemas.microsoft.com/office/drawing/2014/main" id="{918BD941-AEAE-4B08-B011-FDBA372A7CD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54551331"/>
              </p:ext>
            </p:extLst>
          </p:nvPr>
        </p:nvGraphicFramePr>
        <p:xfrm>
          <a:off x="263477" y="5200873"/>
          <a:ext cx="7929878" cy="3561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660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91379356"/>
                    </a:ext>
                  </a:extLst>
                </a:gridCol>
                <a:gridCol w="29564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79814">
                  <a:extLst>
                    <a:ext uri="{9D8B030D-6E8A-4147-A177-3AD203B41FA5}">
                      <a16:colId xmlns:a16="http://schemas.microsoft.com/office/drawing/2014/main" val="3679891012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2229935987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4026812072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1122824508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1502902784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354728812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914552893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2643701830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4156003338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186923855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328632746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3619606665"/>
                    </a:ext>
                  </a:extLst>
                </a:gridCol>
              </a:tblGrid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 err="1">
                          <a:solidFill>
                            <a:srgbClr val="FF6600"/>
                          </a:solidFill>
                          <a:latin typeface="+mn-lt"/>
                          <a:ea typeface="+mn-ea"/>
                          <a:cs typeface="+mn-cs"/>
                        </a:rPr>
                        <a:t>방전량</a:t>
                      </a:r>
                      <a:endParaRPr lang="en-US" altLang="ko-KR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+mn-lt"/>
                          <a:ea typeface="+mn-ea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66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660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66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660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66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660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66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660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66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660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66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660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66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660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66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660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0070C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0070C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0070C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0070C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0070C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0070C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0070C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0070C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0070C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0070C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0070C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0070C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0070C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0070C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0070C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0070C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accent3"/>
                          </a:solidFill>
                          <a:latin typeface="+mn-lt"/>
                          <a:ea typeface="+mn-ea"/>
                          <a:cs typeface="+mn-cs"/>
                        </a:rPr>
                        <a:t>방전 계획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3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accent3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3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accent3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3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accent3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accent3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accent3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3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accent3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3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accent3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3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accent3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3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accent3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3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accent3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3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accent3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3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accent3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3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accent3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3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accent3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3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accent3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3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accent3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3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accent3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3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accent3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3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accent3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3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accent3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3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accent3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3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accent3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3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accent3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3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accent3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3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accent3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3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aphicFrame>
        <p:nvGraphicFramePr>
          <p:cNvPr id="84" name="표 83">
            <a:extLst>
              <a:ext uri="{FF2B5EF4-FFF2-40B4-BE49-F238E27FC236}">
                <a16:creationId xmlns:a16="http://schemas.microsoft.com/office/drawing/2014/main" id="{C1E63E0F-0BAA-4BC1-B92E-AAA0A99F846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48404825"/>
              </p:ext>
            </p:extLst>
          </p:nvPr>
        </p:nvGraphicFramePr>
        <p:xfrm>
          <a:off x="484140" y="5765640"/>
          <a:ext cx="3028700" cy="193099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60344">
                  <a:extLst>
                    <a:ext uri="{9D8B030D-6E8A-4147-A177-3AD203B41FA5}">
                      <a16:colId xmlns:a16="http://schemas.microsoft.com/office/drawing/2014/main" val="621667645"/>
                    </a:ext>
                  </a:extLst>
                </a:gridCol>
                <a:gridCol w="747271">
                  <a:extLst>
                    <a:ext uri="{9D8B030D-6E8A-4147-A177-3AD203B41FA5}">
                      <a16:colId xmlns:a16="http://schemas.microsoft.com/office/drawing/2014/main" val="8834736"/>
                    </a:ext>
                  </a:extLst>
                </a:gridCol>
                <a:gridCol w="260155">
                  <a:extLst>
                    <a:ext uri="{9D8B030D-6E8A-4147-A177-3AD203B41FA5}">
                      <a16:colId xmlns:a16="http://schemas.microsoft.com/office/drawing/2014/main" val="2248332737"/>
                    </a:ext>
                  </a:extLst>
                </a:gridCol>
                <a:gridCol w="260155">
                  <a:extLst>
                    <a:ext uri="{9D8B030D-6E8A-4147-A177-3AD203B41FA5}">
                      <a16:colId xmlns:a16="http://schemas.microsoft.com/office/drawing/2014/main" val="701571902"/>
                    </a:ext>
                  </a:extLst>
                </a:gridCol>
                <a:gridCol w="260155">
                  <a:extLst>
                    <a:ext uri="{9D8B030D-6E8A-4147-A177-3AD203B41FA5}">
                      <a16:colId xmlns:a16="http://schemas.microsoft.com/office/drawing/2014/main" val="899356341"/>
                    </a:ext>
                  </a:extLst>
                </a:gridCol>
                <a:gridCol w="260155">
                  <a:extLst>
                    <a:ext uri="{9D8B030D-6E8A-4147-A177-3AD203B41FA5}">
                      <a16:colId xmlns:a16="http://schemas.microsoft.com/office/drawing/2014/main" val="2787753370"/>
                    </a:ext>
                  </a:extLst>
                </a:gridCol>
                <a:gridCol w="260155">
                  <a:extLst>
                    <a:ext uri="{9D8B030D-6E8A-4147-A177-3AD203B41FA5}">
                      <a16:colId xmlns:a16="http://schemas.microsoft.com/office/drawing/2014/main" val="75509663"/>
                    </a:ext>
                  </a:extLst>
                </a:gridCol>
                <a:gridCol w="260155">
                  <a:extLst>
                    <a:ext uri="{9D8B030D-6E8A-4147-A177-3AD203B41FA5}">
                      <a16:colId xmlns:a16="http://schemas.microsoft.com/office/drawing/2014/main" val="2371680936"/>
                    </a:ext>
                  </a:extLst>
                </a:gridCol>
                <a:gridCol w="260155">
                  <a:extLst>
                    <a:ext uri="{9D8B030D-6E8A-4147-A177-3AD203B41FA5}">
                      <a16:colId xmlns:a16="http://schemas.microsoft.com/office/drawing/2014/main" val="1293287838"/>
                    </a:ext>
                  </a:extLst>
                </a:gridCol>
              </a:tblGrid>
              <a:tr h="144032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조회기간</a:t>
                      </a:r>
                      <a:endParaRPr lang="en-US" altLang="ko-KR" sz="7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bg1">
                            <a:lumMod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7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lang="ko-KR" altLang="en-US" sz="7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7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  <a:r>
                        <a:rPr lang="ko-KR" altLang="en-US" sz="7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7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7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7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7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7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7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7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7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7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7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75581190"/>
                  </a:ext>
                </a:extLst>
              </a:tr>
              <a:tr h="144032"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lang="ko-KR" altLang="en-US" sz="700" b="0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 간격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실제  데이터 개수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96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672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2880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5840</a:t>
                      </a:r>
                      <a:endParaRPr lang="ko-KR" altLang="en-US" sz="700" b="0" strike="no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29881618"/>
                  </a:ext>
                </a:extLst>
              </a:tr>
              <a:tr h="144032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하단 캡션 표시 개수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30(</a:t>
                      </a:r>
                      <a:r>
                        <a:rPr lang="ko-KR" altLang="en-US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60(</a:t>
                      </a:r>
                      <a:r>
                        <a:rPr lang="ko-KR" altLang="en-US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96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  <a:endParaRPr lang="ko-KR" altLang="en-US" sz="700" b="0" strike="no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2293162"/>
                  </a:ext>
                </a:extLst>
              </a:tr>
              <a:tr h="144032"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  <a:r>
                        <a:rPr lang="ko-KR" altLang="en-US" sz="700" b="0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 간격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실제  데이터 개수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48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336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1440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2920</a:t>
                      </a:r>
                      <a:endParaRPr lang="ko-KR" altLang="en-US" sz="700" b="0" strike="no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03323599"/>
                  </a:ext>
                </a:extLst>
              </a:tr>
              <a:tr h="144032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하단 캡션 표시 개수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60(</a:t>
                      </a:r>
                      <a:r>
                        <a:rPr lang="ko-KR" altLang="en-US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48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  <a:endParaRPr lang="ko-KR" altLang="en-US" sz="700" b="0" strike="no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75022207"/>
                  </a:ext>
                </a:extLst>
              </a:tr>
              <a:tr h="144032"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700" b="0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 간격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실제  데이터 개수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24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168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720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1460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82961310"/>
                  </a:ext>
                </a:extLst>
              </a:tr>
              <a:tr h="144032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하단 캡션 표시 개수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24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3524359"/>
                  </a:ext>
                </a:extLst>
              </a:tr>
              <a:tr h="144032"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700" b="0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 간격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실제  데이터 개수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365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10281172"/>
                  </a:ext>
                </a:extLst>
              </a:tr>
              <a:tr h="144032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하단 캡션 표시 개수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75500751"/>
                  </a:ext>
                </a:extLst>
              </a:tr>
              <a:tr h="144032"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700" b="0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월 간격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실제  데이터 개수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24993451"/>
                  </a:ext>
                </a:extLst>
              </a:tr>
              <a:tr h="144032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하단 캡션 표시 개수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10841290"/>
                  </a:ext>
                </a:extLst>
              </a:tr>
            </a:tbl>
          </a:graphicData>
        </a:graphic>
      </p:graphicFrame>
      <p:sp>
        <p:nvSpPr>
          <p:cNvPr id="85" name="타원형 설명선 225">
            <a:extLst>
              <a:ext uri="{FF2B5EF4-FFF2-40B4-BE49-F238E27FC236}">
                <a16:creationId xmlns:a16="http://schemas.microsoft.com/office/drawing/2014/main" id="{D98BD95A-E282-4436-AAE0-8C43DB68147B}"/>
              </a:ext>
            </a:extLst>
          </p:cNvPr>
          <p:cNvSpPr/>
          <p:nvPr/>
        </p:nvSpPr>
        <p:spPr>
          <a:xfrm>
            <a:off x="376140" y="5621804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표</a:t>
            </a:r>
            <a:r>
              <a:rPr lang="en-US" altLang="ko-KR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7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86" name="표 85">
            <a:extLst>
              <a:ext uri="{FF2B5EF4-FFF2-40B4-BE49-F238E27FC236}">
                <a16:creationId xmlns:a16="http://schemas.microsoft.com/office/drawing/2014/main" id="{09CE270E-A246-42EA-B166-26317CBAA30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08853634"/>
              </p:ext>
            </p:extLst>
          </p:nvPr>
        </p:nvGraphicFramePr>
        <p:xfrm>
          <a:off x="4152218" y="5852228"/>
          <a:ext cx="3342026" cy="106851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83830">
                  <a:extLst>
                    <a:ext uri="{9D8B030D-6E8A-4147-A177-3AD203B41FA5}">
                      <a16:colId xmlns:a16="http://schemas.microsoft.com/office/drawing/2014/main" val="621667645"/>
                    </a:ext>
                  </a:extLst>
                </a:gridCol>
                <a:gridCol w="394028">
                  <a:extLst>
                    <a:ext uri="{9D8B030D-6E8A-4147-A177-3AD203B41FA5}">
                      <a16:colId xmlns:a16="http://schemas.microsoft.com/office/drawing/2014/main" val="2248332737"/>
                    </a:ext>
                  </a:extLst>
                </a:gridCol>
                <a:gridCol w="394028">
                  <a:extLst>
                    <a:ext uri="{9D8B030D-6E8A-4147-A177-3AD203B41FA5}">
                      <a16:colId xmlns:a16="http://schemas.microsoft.com/office/drawing/2014/main" val="2333210567"/>
                    </a:ext>
                  </a:extLst>
                </a:gridCol>
                <a:gridCol w="394028">
                  <a:extLst>
                    <a:ext uri="{9D8B030D-6E8A-4147-A177-3AD203B41FA5}">
                      <a16:colId xmlns:a16="http://schemas.microsoft.com/office/drawing/2014/main" val="899356341"/>
                    </a:ext>
                  </a:extLst>
                </a:gridCol>
                <a:gridCol w="394028">
                  <a:extLst>
                    <a:ext uri="{9D8B030D-6E8A-4147-A177-3AD203B41FA5}">
                      <a16:colId xmlns:a16="http://schemas.microsoft.com/office/drawing/2014/main" val="2787753370"/>
                    </a:ext>
                  </a:extLst>
                </a:gridCol>
                <a:gridCol w="394028">
                  <a:extLst>
                    <a:ext uri="{9D8B030D-6E8A-4147-A177-3AD203B41FA5}">
                      <a16:colId xmlns:a16="http://schemas.microsoft.com/office/drawing/2014/main" val="75509663"/>
                    </a:ext>
                  </a:extLst>
                </a:gridCol>
                <a:gridCol w="394028">
                  <a:extLst>
                    <a:ext uri="{9D8B030D-6E8A-4147-A177-3AD203B41FA5}">
                      <a16:colId xmlns:a16="http://schemas.microsoft.com/office/drawing/2014/main" val="2371680936"/>
                    </a:ext>
                  </a:extLst>
                </a:gridCol>
                <a:gridCol w="394028">
                  <a:extLst>
                    <a:ext uri="{9D8B030D-6E8A-4147-A177-3AD203B41FA5}">
                      <a16:colId xmlns:a16="http://schemas.microsoft.com/office/drawing/2014/main" val="1293287838"/>
                    </a:ext>
                  </a:extLst>
                </a:gridCol>
              </a:tblGrid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조회기간</a:t>
                      </a:r>
                      <a:endParaRPr lang="en-US" altLang="ko-KR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lang="ko-KR" altLang="en-US" sz="8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  <a:r>
                        <a:rPr lang="ko-KR" altLang="en-US" sz="8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75581190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 간격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96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96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96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96</a:t>
                      </a:r>
                      <a:endParaRPr lang="ko-KR" altLang="en-US" sz="800" b="0" strike="no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29881618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 간격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48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48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48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48</a:t>
                      </a:r>
                      <a:endParaRPr lang="ko-KR" altLang="en-US" sz="800" b="0" strike="no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03323599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 간격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24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24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24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24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82961310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 간격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10281172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월 간격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24993451"/>
                  </a:ext>
                </a:extLst>
              </a:tr>
            </a:tbl>
          </a:graphicData>
        </a:graphic>
      </p:graphicFrame>
      <p:sp>
        <p:nvSpPr>
          <p:cNvPr id="94" name="타원형 설명선 225">
            <a:extLst>
              <a:ext uri="{FF2B5EF4-FFF2-40B4-BE49-F238E27FC236}">
                <a16:creationId xmlns:a16="http://schemas.microsoft.com/office/drawing/2014/main" id="{8BED35E4-215E-4273-A20F-C5B88242277E}"/>
              </a:ext>
            </a:extLst>
          </p:cNvPr>
          <p:cNvSpPr/>
          <p:nvPr/>
        </p:nvSpPr>
        <p:spPr>
          <a:xfrm>
            <a:off x="3844499" y="5712254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표</a:t>
            </a:r>
            <a:r>
              <a:rPr lang="en-US" altLang="ko-KR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lang="ko-KR" altLang="en-US" sz="7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520876965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9104309" y="6645875"/>
            <a:ext cx="140029" cy="138499"/>
          </a:xfrm>
        </p:spPr>
        <p:txBody>
          <a:bodyPr/>
          <a:lstStyle/>
          <a:p>
            <a:pPr>
              <a:defRPr/>
            </a:pPr>
            <a:fld id="{9E41B634-5682-4388-99E7-FE44DCFD254B}" type="slidenum">
              <a:rPr lang="ko-KR" altLang="en-US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>
                <a:defRPr/>
              </a:pPr>
              <a:t>23</a:t>
            </a:fld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텍스트 개체 틀 8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Site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 &gt;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에너지 모니터링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&gt; PV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발전량</a:t>
            </a:r>
          </a:p>
        </p:txBody>
      </p:sp>
      <p:sp>
        <p:nvSpPr>
          <p:cNvPr id="10" name="텍스트 개체 틀 9"/>
          <p:cNvSpPr>
            <a:spLocks noGrp="1"/>
          </p:cNvSpPr>
          <p:nvPr>
            <p:ph type="body" sz="quarter" idx="10"/>
          </p:nvPr>
        </p:nvSpPr>
        <p:spPr>
          <a:xfrm>
            <a:off x="6023595" y="44624"/>
            <a:ext cx="1233661" cy="196974"/>
          </a:xfrm>
        </p:spPr>
        <p:txBody>
          <a:bodyPr/>
          <a:lstStyle/>
          <a:p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PV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발전량</a:t>
            </a:r>
          </a:p>
        </p:txBody>
      </p:sp>
      <p:graphicFrame>
        <p:nvGraphicFramePr>
          <p:cNvPr id="102" name="Group 15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35138455"/>
              </p:ext>
            </p:extLst>
          </p:nvPr>
        </p:nvGraphicFramePr>
        <p:xfrm>
          <a:off x="8469313" y="276225"/>
          <a:ext cx="1404000" cy="5235648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3002"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Description</a:t>
                      </a: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기간 설정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기간의 시작과 끝 시점을 설정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기간 별 시작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종료 시간은 표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참고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2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간격 설정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번에서 지정된 기간 내 데이터의 조회 간격을 설정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1)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간격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en-US" altLang="ko-KR" sz="800" b="0" i="0" u="none" strike="sng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  <a:r>
                        <a:rPr kumimoji="1" lang="ko-KR" altLang="en-US" sz="800" b="0" i="0" u="none" strike="sng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분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15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분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30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분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1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시간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1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일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1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월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2)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기간 별 선택 가능한 조회 간격은 표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2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참고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3) 1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일이 선택된 경우에는 오늘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00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시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~24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시로 조회하고 표시하며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그 외의 경우 지금 시간부터 지정된 과거의 기간만큼 조회하고 표시한다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.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3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조회 기간 시작 설정</a:t>
                      </a:r>
                      <a:endParaRPr lang="en-US" altLang="ko-KR" sz="800" b="1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조회 기간의 시작 날짜를 직접 입력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시간은 현재시간으로 고정되며 날짜만 지정 가능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4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조회 기간 종료 설정</a:t>
                      </a:r>
                      <a:endParaRPr lang="en-US" altLang="ko-KR" sz="800" b="1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조회 기간의 종료 날짜를 직접 입력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시간은 현재시간으로 고정되며 날짜만 지정 가능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5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데이터 갱신 시간 표시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지정된 설정에 따라 조회가 진행된 시간표시</a:t>
                      </a:r>
                      <a:endParaRPr lang="en-US" altLang="ko-KR" sz="800" b="0" u="non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78" name="TextBox 77"/>
          <p:cNvSpPr txBox="1"/>
          <p:nvPr/>
        </p:nvSpPr>
        <p:spPr>
          <a:xfrm>
            <a:off x="7121707" y="21349"/>
            <a:ext cx="567597" cy="2308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화면</a:t>
            </a:r>
            <a:r>
              <a:rPr lang="en-US" altLang="ko-KR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ID</a:t>
            </a:r>
            <a:endParaRPr lang="ko-KR" altLang="en-US" sz="9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7689304" y="43659"/>
            <a:ext cx="792088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itchFamily="50" charset="-127"/>
                <a:ea typeface="맑은 고딕" pitchFamily="50" charset="-127"/>
              </a:rPr>
              <a:t>ewpsp_scr_012</a:t>
            </a:r>
            <a:endParaRPr lang="ko-KR" altLang="en-US" sz="700" dirty="0">
              <a:latin typeface="맑은 고딕" pitchFamily="50" charset="-127"/>
              <a:ea typeface="맑은 고딕" pitchFamily="50" charset="-127"/>
            </a:endParaRPr>
          </a:p>
        </p:txBody>
      </p:sp>
      <p:pic>
        <p:nvPicPr>
          <p:cNvPr id="18" name="Picture 3">
            <a:extLst>
              <a:ext uri="{FF2B5EF4-FFF2-40B4-BE49-F238E27FC236}">
                <a16:creationId xmlns:a16="http://schemas.microsoft.com/office/drawing/2014/main" id="{D14E8AEF-8EA8-4944-AE52-FF98A1FB783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463" y="764705"/>
            <a:ext cx="8208912" cy="4629348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  <a:extLst/>
        </p:spPr>
      </p:pic>
      <p:pic>
        <p:nvPicPr>
          <p:cNvPr id="19" name="Picture 2">
            <a:extLst>
              <a:ext uri="{FF2B5EF4-FFF2-40B4-BE49-F238E27FC236}">
                <a16:creationId xmlns:a16="http://schemas.microsoft.com/office/drawing/2014/main" id="{6FBB0165-03FF-4BBD-A158-8DEF923CF53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464" y="762442"/>
            <a:ext cx="8208912" cy="3487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20" name="직선 연결선 19">
            <a:extLst>
              <a:ext uri="{FF2B5EF4-FFF2-40B4-BE49-F238E27FC236}">
                <a16:creationId xmlns:a16="http://schemas.microsoft.com/office/drawing/2014/main" id="{37D07777-30AA-4506-9C18-6F3B4C7D943C}"/>
              </a:ext>
            </a:extLst>
          </p:cNvPr>
          <p:cNvCxnSpPr>
            <a:cxnSpLocks/>
          </p:cNvCxnSpPr>
          <p:nvPr/>
        </p:nvCxnSpPr>
        <p:spPr>
          <a:xfrm>
            <a:off x="128463" y="1124744"/>
            <a:ext cx="8208912" cy="0"/>
          </a:xfrm>
          <a:prstGeom prst="line">
            <a:avLst/>
          </a:prstGeom>
          <a:ln w="9525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5E84417E-CAA5-4FD3-BBB9-7CD5570EF571}"/>
              </a:ext>
            </a:extLst>
          </p:cNvPr>
          <p:cNvSpPr/>
          <p:nvPr/>
        </p:nvSpPr>
        <p:spPr>
          <a:xfrm>
            <a:off x="216315" y="1556792"/>
            <a:ext cx="1820532" cy="288032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en-US" altLang="ko-KR" sz="10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PV </a:t>
            </a:r>
            <a:r>
              <a:rPr lang="ko-KR" altLang="en-US" sz="10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발전량</a:t>
            </a: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180BACBD-4B64-4649-BD7C-E1EE3620FBC6}"/>
              </a:ext>
            </a:extLst>
          </p:cNvPr>
          <p:cNvSpPr/>
          <p:nvPr/>
        </p:nvSpPr>
        <p:spPr>
          <a:xfrm>
            <a:off x="120419" y="1726179"/>
            <a:ext cx="1510265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150000"/>
              </a:lnSpc>
            </a:pPr>
            <a:r>
              <a:rPr lang="en-US" altLang="ko-KR" sz="900" b="1" dirty="0">
                <a:solidFill>
                  <a:schemeClr val="bg1">
                    <a:lumMod val="65000"/>
                  </a:schemeClr>
                </a:solidFill>
                <a:latin typeface="맑은 고딕" pitchFamily="50" charset="-127"/>
                <a:ea typeface="맑은 고딕" pitchFamily="50" charset="-127"/>
              </a:rPr>
              <a:t>YYYY-MM-DD hh:mm</a:t>
            </a:r>
            <a:endParaRPr lang="ko-KR" altLang="en-US" sz="900" b="1" dirty="0">
              <a:solidFill>
                <a:schemeClr val="bg1">
                  <a:lumMod val="6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A27B69D7-2B77-4AF2-A717-2F8B00E5023D}"/>
              </a:ext>
            </a:extLst>
          </p:cNvPr>
          <p:cNvSpPr/>
          <p:nvPr/>
        </p:nvSpPr>
        <p:spPr>
          <a:xfrm>
            <a:off x="3584848" y="1569453"/>
            <a:ext cx="1224136" cy="288033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기간 설정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51E4F555-ACF8-422A-8A4C-263DF5607ED0}"/>
              </a:ext>
            </a:extLst>
          </p:cNvPr>
          <p:cNvSpPr/>
          <p:nvPr/>
        </p:nvSpPr>
        <p:spPr>
          <a:xfrm>
            <a:off x="4304928" y="1569453"/>
            <a:ext cx="1262753" cy="288033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YYY-MM</a:t>
            </a:r>
            <a:endParaRPr lang="ko-KR" altLang="en-US" sz="90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056B85B8-E22D-471D-BF90-7BA59FDE59DA}"/>
              </a:ext>
            </a:extLst>
          </p:cNvPr>
          <p:cNvSpPr/>
          <p:nvPr/>
        </p:nvSpPr>
        <p:spPr>
          <a:xfrm>
            <a:off x="5567681" y="1569453"/>
            <a:ext cx="288032" cy="288033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▼</a:t>
            </a: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5DE85575-6695-43D9-BA78-E72D7749FD5A}"/>
              </a:ext>
            </a:extLst>
          </p:cNvPr>
          <p:cNvSpPr/>
          <p:nvPr/>
        </p:nvSpPr>
        <p:spPr>
          <a:xfrm>
            <a:off x="5855713" y="1569453"/>
            <a:ext cx="249415" cy="288033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~</a:t>
            </a:r>
            <a:endParaRPr lang="ko-KR" altLang="en-US" sz="900" b="1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52DDF82F-9C8F-422F-B328-3979E21AEB5E}"/>
              </a:ext>
            </a:extLst>
          </p:cNvPr>
          <p:cNvSpPr/>
          <p:nvPr/>
        </p:nvSpPr>
        <p:spPr>
          <a:xfrm>
            <a:off x="6105128" y="1569453"/>
            <a:ext cx="1262753" cy="288033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YYYY-MM</a:t>
            </a:r>
            <a:endParaRPr lang="ko-KR" altLang="en-US" sz="90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508668D7-197F-47CF-8003-58499E43E073}"/>
              </a:ext>
            </a:extLst>
          </p:cNvPr>
          <p:cNvSpPr/>
          <p:nvPr/>
        </p:nvSpPr>
        <p:spPr>
          <a:xfrm>
            <a:off x="7367881" y="1569453"/>
            <a:ext cx="288032" cy="288033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▼</a:t>
            </a:r>
          </a:p>
        </p:txBody>
      </p:sp>
      <p:pic>
        <p:nvPicPr>
          <p:cNvPr id="47" name="Picture 2" descr="ì¤ì ì ëí ì´ë¯¸ì§ ê²ìê²°ê³¼">
            <a:extLst>
              <a:ext uri="{FF2B5EF4-FFF2-40B4-BE49-F238E27FC236}">
                <a16:creationId xmlns:a16="http://schemas.microsoft.com/office/drawing/2014/main" id="{90A888AD-844A-4544-B02A-A77BC3397C7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05865" y="844086"/>
            <a:ext cx="198592" cy="19859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8" name="사각형: 둥근 모서리 47">
            <a:extLst>
              <a:ext uri="{FF2B5EF4-FFF2-40B4-BE49-F238E27FC236}">
                <a16:creationId xmlns:a16="http://schemas.microsoft.com/office/drawing/2014/main" id="{119FCE8B-C633-47C3-A0BD-44AD20643BCC}"/>
              </a:ext>
            </a:extLst>
          </p:cNvPr>
          <p:cNvSpPr/>
          <p:nvPr/>
        </p:nvSpPr>
        <p:spPr>
          <a:xfrm>
            <a:off x="1239315" y="1637161"/>
            <a:ext cx="1013369" cy="180000"/>
          </a:xfrm>
          <a:prstGeom prst="roundRect">
            <a:avLst/>
          </a:prstGeom>
          <a:solidFill>
            <a:schemeClr val="bg1"/>
          </a:solidFill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ko-KR" altLang="en-US" sz="900" dirty="0">
                <a:solidFill>
                  <a:schemeClr val="tx1"/>
                </a:solidFill>
              </a:rPr>
              <a:t>기간 설정  ▼</a:t>
            </a:r>
          </a:p>
        </p:txBody>
      </p:sp>
      <p:sp>
        <p:nvSpPr>
          <p:cNvPr id="49" name="사각형: 둥근 모서리 48">
            <a:extLst>
              <a:ext uri="{FF2B5EF4-FFF2-40B4-BE49-F238E27FC236}">
                <a16:creationId xmlns:a16="http://schemas.microsoft.com/office/drawing/2014/main" id="{948F9D44-B814-4AF5-882E-A35193F2E22A}"/>
              </a:ext>
            </a:extLst>
          </p:cNvPr>
          <p:cNvSpPr/>
          <p:nvPr/>
        </p:nvSpPr>
        <p:spPr>
          <a:xfrm>
            <a:off x="2297791" y="1636316"/>
            <a:ext cx="1013369" cy="180000"/>
          </a:xfrm>
          <a:prstGeom prst="roundRect">
            <a:avLst/>
          </a:prstGeom>
          <a:solidFill>
            <a:schemeClr val="bg1"/>
          </a:solidFill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altLang="ko-KR" sz="900" dirty="0">
                <a:solidFill>
                  <a:schemeClr val="tx1"/>
                </a:solidFill>
              </a:rPr>
              <a:t>15</a:t>
            </a:r>
            <a:r>
              <a:rPr lang="ko-KR" altLang="en-US" sz="900" dirty="0">
                <a:solidFill>
                  <a:schemeClr val="tx1"/>
                </a:solidFill>
              </a:rPr>
              <a:t>분     ▼</a:t>
            </a:r>
          </a:p>
        </p:txBody>
      </p:sp>
      <p:graphicFrame>
        <p:nvGraphicFramePr>
          <p:cNvPr id="40" name="표 39">
            <a:extLst>
              <a:ext uri="{FF2B5EF4-FFF2-40B4-BE49-F238E27FC236}">
                <a16:creationId xmlns:a16="http://schemas.microsoft.com/office/drawing/2014/main" id="{2A863459-0FBB-4A5A-B554-6A0E4261425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06182237"/>
              </p:ext>
            </p:extLst>
          </p:nvPr>
        </p:nvGraphicFramePr>
        <p:xfrm>
          <a:off x="332421" y="2217927"/>
          <a:ext cx="7848875" cy="19869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573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366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83661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83661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8366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83661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283661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83661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283661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28366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28366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28366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28366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283661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283661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283661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283661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283661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  <a:gridCol w="283661">
                  <a:extLst>
                    <a:ext uri="{9D8B030D-6E8A-4147-A177-3AD203B41FA5}">
                      <a16:colId xmlns:a16="http://schemas.microsoft.com/office/drawing/2014/main" val="20019"/>
                    </a:ext>
                  </a:extLst>
                </a:gridCol>
                <a:gridCol w="283661">
                  <a:extLst>
                    <a:ext uri="{9D8B030D-6E8A-4147-A177-3AD203B41FA5}">
                      <a16:colId xmlns:a16="http://schemas.microsoft.com/office/drawing/2014/main" val="20020"/>
                    </a:ext>
                  </a:extLst>
                </a:gridCol>
                <a:gridCol w="283661">
                  <a:extLst>
                    <a:ext uri="{9D8B030D-6E8A-4147-A177-3AD203B41FA5}">
                      <a16:colId xmlns:a16="http://schemas.microsoft.com/office/drawing/2014/main" val="20021"/>
                    </a:ext>
                  </a:extLst>
                </a:gridCol>
                <a:gridCol w="283661">
                  <a:extLst>
                    <a:ext uri="{9D8B030D-6E8A-4147-A177-3AD203B41FA5}">
                      <a16:colId xmlns:a16="http://schemas.microsoft.com/office/drawing/2014/main" val="20022"/>
                    </a:ext>
                  </a:extLst>
                </a:gridCol>
                <a:gridCol w="283661">
                  <a:extLst>
                    <a:ext uri="{9D8B030D-6E8A-4147-A177-3AD203B41FA5}">
                      <a16:colId xmlns:a16="http://schemas.microsoft.com/office/drawing/2014/main" val="20023"/>
                    </a:ext>
                  </a:extLst>
                </a:gridCol>
                <a:gridCol w="283661">
                  <a:extLst>
                    <a:ext uri="{9D8B030D-6E8A-4147-A177-3AD203B41FA5}">
                      <a16:colId xmlns:a16="http://schemas.microsoft.com/office/drawing/2014/main" val="20024"/>
                    </a:ext>
                  </a:extLst>
                </a:gridCol>
                <a:gridCol w="283661">
                  <a:extLst>
                    <a:ext uri="{9D8B030D-6E8A-4147-A177-3AD203B41FA5}">
                      <a16:colId xmlns:a16="http://schemas.microsoft.com/office/drawing/2014/main" val="20025"/>
                    </a:ext>
                  </a:extLst>
                </a:gridCol>
                <a:gridCol w="283661">
                  <a:extLst>
                    <a:ext uri="{9D8B030D-6E8A-4147-A177-3AD203B41FA5}">
                      <a16:colId xmlns:a16="http://schemas.microsoft.com/office/drawing/2014/main" val="4182005389"/>
                    </a:ext>
                  </a:extLst>
                </a:gridCol>
              </a:tblGrid>
              <a:tr h="19869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/>
                        <a:t>kWh</a:t>
                      </a:r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9869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2000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98695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8695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869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1000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98695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9869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500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98695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9869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98695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01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02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03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04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05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06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07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08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09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10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11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12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13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14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15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16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17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18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19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20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21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22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23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24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cxnSp>
        <p:nvCxnSpPr>
          <p:cNvPr id="52" name="직선 연결선 51">
            <a:extLst>
              <a:ext uri="{FF2B5EF4-FFF2-40B4-BE49-F238E27FC236}">
                <a16:creationId xmlns:a16="http://schemas.microsoft.com/office/drawing/2014/main" id="{9EFF28B6-5348-4108-943A-5F3C15528B42}"/>
              </a:ext>
            </a:extLst>
          </p:cNvPr>
          <p:cNvCxnSpPr>
            <a:cxnSpLocks/>
          </p:cNvCxnSpPr>
          <p:nvPr/>
        </p:nvCxnSpPr>
        <p:spPr>
          <a:xfrm>
            <a:off x="1052501" y="2519931"/>
            <a:ext cx="7128792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3" name="직선 연결선 52">
            <a:extLst>
              <a:ext uri="{FF2B5EF4-FFF2-40B4-BE49-F238E27FC236}">
                <a16:creationId xmlns:a16="http://schemas.microsoft.com/office/drawing/2014/main" id="{5CE31320-489B-4FB5-AD65-0AF37CB2EBC8}"/>
              </a:ext>
            </a:extLst>
          </p:cNvPr>
          <p:cNvCxnSpPr>
            <a:cxnSpLocks/>
          </p:cNvCxnSpPr>
          <p:nvPr/>
        </p:nvCxnSpPr>
        <p:spPr>
          <a:xfrm>
            <a:off x="1052501" y="3112773"/>
            <a:ext cx="7128792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직선 연결선 53">
            <a:extLst>
              <a:ext uri="{FF2B5EF4-FFF2-40B4-BE49-F238E27FC236}">
                <a16:creationId xmlns:a16="http://schemas.microsoft.com/office/drawing/2014/main" id="{0C827C86-7356-4294-8D9A-0FFBFE298E6E}"/>
              </a:ext>
            </a:extLst>
          </p:cNvPr>
          <p:cNvCxnSpPr>
            <a:cxnSpLocks/>
          </p:cNvCxnSpPr>
          <p:nvPr/>
        </p:nvCxnSpPr>
        <p:spPr>
          <a:xfrm>
            <a:off x="5877037" y="2217924"/>
            <a:ext cx="0" cy="1822564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직선 연결선 54">
            <a:extLst>
              <a:ext uri="{FF2B5EF4-FFF2-40B4-BE49-F238E27FC236}">
                <a16:creationId xmlns:a16="http://schemas.microsoft.com/office/drawing/2014/main" id="{5A7D8F8C-DC3C-466D-B6B4-02E9FC6CC880}"/>
              </a:ext>
            </a:extLst>
          </p:cNvPr>
          <p:cNvCxnSpPr/>
          <p:nvPr/>
        </p:nvCxnSpPr>
        <p:spPr>
          <a:xfrm>
            <a:off x="5313040" y="2049084"/>
            <a:ext cx="504056" cy="0"/>
          </a:xfrm>
          <a:prstGeom prst="line">
            <a:avLst/>
          </a:prstGeom>
          <a:noFill/>
          <a:ln w="19050">
            <a:solidFill>
              <a:srgbClr val="FFFF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25BE61B6-32B5-48B2-BA8C-EE71DFFFA2C9}"/>
              </a:ext>
            </a:extLst>
          </p:cNvPr>
          <p:cNvSpPr/>
          <p:nvPr/>
        </p:nvSpPr>
        <p:spPr>
          <a:xfrm>
            <a:off x="5961112" y="1926856"/>
            <a:ext cx="1008112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발전량</a:t>
            </a:r>
            <a:r>
              <a:rPr lang="en-US" altLang="ko-KR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(</a:t>
            </a:r>
            <a:r>
              <a:rPr lang="ko-KR" altLang="en-US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실적</a:t>
            </a:r>
            <a:r>
              <a:rPr lang="en-US" altLang="ko-KR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)</a:t>
            </a:r>
            <a:endParaRPr lang="ko-KR" altLang="en-US" sz="800" b="1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60" name="직선 연결선 59">
            <a:extLst>
              <a:ext uri="{FF2B5EF4-FFF2-40B4-BE49-F238E27FC236}">
                <a16:creationId xmlns:a16="http://schemas.microsoft.com/office/drawing/2014/main" id="{7F4655AE-9A3C-4360-913F-EA2626E20ECE}"/>
              </a:ext>
            </a:extLst>
          </p:cNvPr>
          <p:cNvCxnSpPr/>
          <p:nvPr/>
        </p:nvCxnSpPr>
        <p:spPr>
          <a:xfrm>
            <a:off x="6897216" y="2049084"/>
            <a:ext cx="504056" cy="0"/>
          </a:xfrm>
          <a:prstGeom prst="line">
            <a:avLst/>
          </a:prstGeom>
          <a:ln>
            <a:solidFill>
              <a:schemeClr val="accent3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A17F57C3-0E07-4152-8768-681277B92A80}"/>
              </a:ext>
            </a:extLst>
          </p:cNvPr>
          <p:cNvSpPr/>
          <p:nvPr/>
        </p:nvSpPr>
        <p:spPr>
          <a:xfrm>
            <a:off x="7473280" y="1926856"/>
            <a:ext cx="1008112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발전량</a:t>
            </a:r>
            <a:r>
              <a:rPr lang="en-US" altLang="ko-KR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(</a:t>
            </a:r>
            <a:r>
              <a:rPr lang="ko-KR" altLang="en-US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예측</a:t>
            </a:r>
            <a:r>
              <a:rPr lang="en-US" altLang="ko-KR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)</a:t>
            </a:r>
            <a:endParaRPr lang="ko-KR" altLang="en-US" sz="800" b="1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grpSp>
        <p:nvGrpSpPr>
          <p:cNvPr id="62" name="그룹 61">
            <a:extLst>
              <a:ext uri="{FF2B5EF4-FFF2-40B4-BE49-F238E27FC236}">
                <a16:creationId xmlns:a16="http://schemas.microsoft.com/office/drawing/2014/main" id="{FF54F8D8-248D-458E-86AE-11007F4CF81A}"/>
              </a:ext>
            </a:extLst>
          </p:cNvPr>
          <p:cNvGrpSpPr/>
          <p:nvPr/>
        </p:nvGrpSpPr>
        <p:grpSpPr>
          <a:xfrm>
            <a:off x="350067" y="4297165"/>
            <a:ext cx="862386" cy="211955"/>
            <a:chOff x="4861742" y="3907374"/>
            <a:chExt cx="862386" cy="211955"/>
          </a:xfrm>
        </p:grpSpPr>
        <p:pic>
          <p:nvPicPr>
            <p:cNvPr id="64" name="Picture 6" descr="ìì ë¤ì´ë¡ëì ëí ì´ë¯¸ì§ ê²ìê²°ê³¼">
              <a:extLst>
                <a:ext uri="{FF2B5EF4-FFF2-40B4-BE49-F238E27FC236}">
                  <a16:creationId xmlns:a16="http://schemas.microsoft.com/office/drawing/2014/main" id="{0536A97C-1361-44AF-9EEC-9897095559A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861742" y="3907374"/>
              <a:ext cx="211955" cy="21195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C3237509-91B5-4C9F-B2AD-6509B83D5EEE}"/>
                </a:ext>
              </a:extLst>
            </p:cNvPr>
            <p:cNvSpPr txBox="1"/>
            <p:nvPr/>
          </p:nvSpPr>
          <p:spPr>
            <a:xfrm>
              <a:off x="4949189" y="3921018"/>
              <a:ext cx="7749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600" b="1" dirty="0">
                  <a:solidFill>
                    <a:schemeClr val="bg1"/>
                  </a:solidFill>
                </a:rPr>
                <a:t>데이터 저장하기</a:t>
              </a:r>
            </a:p>
          </p:txBody>
        </p:sp>
      </p:grpSp>
      <p:grpSp>
        <p:nvGrpSpPr>
          <p:cNvPr id="69" name="그룹 68">
            <a:extLst>
              <a:ext uri="{FF2B5EF4-FFF2-40B4-BE49-F238E27FC236}">
                <a16:creationId xmlns:a16="http://schemas.microsoft.com/office/drawing/2014/main" id="{A143D6DD-C1DF-4F95-8875-CE4FBEF1998C}"/>
              </a:ext>
            </a:extLst>
          </p:cNvPr>
          <p:cNvGrpSpPr/>
          <p:nvPr/>
        </p:nvGrpSpPr>
        <p:grpSpPr>
          <a:xfrm flipH="1">
            <a:off x="3294371" y="3640346"/>
            <a:ext cx="1823678" cy="247963"/>
            <a:chOff x="2158219" y="3645757"/>
            <a:chExt cx="1863813" cy="719347"/>
          </a:xfrm>
          <a:solidFill>
            <a:srgbClr val="FFFF00"/>
          </a:solidFill>
        </p:grpSpPr>
        <p:sp>
          <p:nvSpPr>
            <p:cNvPr id="77" name="직사각형 76">
              <a:extLst>
                <a:ext uri="{FF2B5EF4-FFF2-40B4-BE49-F238E27FC236}">
                  <a16:creationId xmlns:a16="http://schemas.microsoft.com/office/drawing/2014/main" id="{47F28995-2B9E-4E10-A99C-1509B4B415E8}"/>
                </a:ext>
              </a:extLst>
            </p:cNvPr>
            <p:cNvSpPr/>
            <p:nvPr/>
          </p:nvSpPr>
          <p:spPr>
            <a:xfrm>
              <a:off x="3950032" y="4077364"/>
              <a:ext cx="72000" cy="28774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80" name="직사각형 79">
              <a:extLst>
                <a:ext uri="{FF2B5EF4-FFF2-40B4-BE49-F238E27FC236}">
                  <a16:creationId xmlns:a16="http://schemas.microsoft.com/office/drawing/2014/main" id="{EC180CC0-0890-483D-A6CB-5CA5DD665A98}"/>
                </a:ext>
              </a:extLst>
            </p:cNvPr>
            <p:cNvSpPr/>
            <p:nvPr/>
          </p:nvSpPr>
          <p:spPr>
            <a:xfrm>
              <a:off x="3638317" y="3915766"/>
              <a:ext cx="72000" cy="449338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81" name="직사각형 80">
              <a:extLst>
                <a:ext uri="{FF2B5EF4-FFF2-40B4-BE49-F238E27FC236}">
                  <a16:creationId xmlns:a16="http://schemas.microsoft.com/office/drawing/2014/main" id="{8DB3165D-8225-4DE8-B051-918757419FA9}"/>
                </a:ext>
              </a:extLst>
            </p:cNvPr>
            <p:cNvSpPr/>
            <p:nvPr/>
          </p:nvSpPr>
          <p:spPr>
            <a:xfrm>
              <a:off x="3327361" y="3807101"/>
              <a:ext cx="72000" cy="558001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82" name="직사각형 81">
              <a:extLst>
                <a:ext uri="{FF2B5EF4-FFF2-40B4-BE49-F238E27FC236}">
                  <a16:creationId xmlns:a16="http://schemas.microsoft.com/office/drawing/2014/main" id="{AFE7355F-03CC-4D8F-91FB-8E8F13750300}"/>
                </a:ext>
              </a:extLst>
            </p:cNvPr>
            <p:cNvSpPr/>
            <p:nvPr/>
          </p:nvSpPr>
          <p:spPr>
            <a:xfrm>
              <a:off x="3022502" y="3645757"/>
              <a:ext cx="72000" cy="719347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83" name="직사각형 82">
              <a:extLst>
                <a:ext uri="{FF2B5EF4-FFF2-40B4-BE49-F238E27FC236}">
                  <a16:creationId xmlns:a16="http://schemas.microsoft.com/office/drawing/2014/main" id="{E32A63F8-E446-4585-9A76-2757D98D5BCE}"/>
                </a:ext>
              </a:extLst>
            </p:cNvPr>
            <p:cNvSpPr/>
            <p:nvPr/>
          </p:nvSpPr>
          <p:spPr>
            <a:xfrm>
              <a:off x="2748848" y="3681104"/>
              <a:ext cx="72000" cy="684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84" name="직사각형 83">
              <a:extLst>
                <a:ext uri="{FF2B5EF4-FFF2-40B4-BE49-F238E27FC236}">
                  <a16:creationId xmlns:a16="http://schemas.microsoft.com/office/drawing/2014/main" id="{CA31526F-E3AB-4B1F-9DA9-F43842C703DE}"/>
                </a:ext>
              </a:extLst>
            </p:cNvPr>
            <p:cNvSpPr/>
            <p:nvPr/>
          </p:nvSpPr>
          <p:spPr>
            <a:xfrm>
              <a:off x="2437864" y="3807104"/>
              <a:ext cx="72000" cy="558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85" name="직사각형 84">
              <a:extLst>
                <a:ext uri="{FF2B5EF4-FFF2-40B4-BE49-F238E27FC236}">
                  <a16:creationId xmlns:a16="http://schemas.microsoft.com/office/drawing/2014/main" id="{3036BC7F-2465-4092-98F1-606433BC8C8D}"/>
                </a:ext>
              </a:extLst>
            </p:cNvPr>
            <p:cNvSpPr/>
            <p:nvPr/>
          </p:nvSpPr>
          <p:spPr>
            <a:xfrm>
              <a:off x="2158219" y="3862585"/>
              <a:ext cx="72001" cy="502519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grpSp>
        <p:nvGrpSpPr>
          <p:cNvPr id="70" name="그룹 69">
            <a:extLst>
              <a:ext uri="{FF2B5EF4-FFF2-40B4-BE49-F238E27FC236}">
                <a16:creationId xmlns:a16="http://schemas.microsoft.com/office/drawing/2014/main" id="{EED814EB-9682-48A6-B5B8-27B44031F291}"/>
              </a:ext>
            </a:extLst>
          </p:cNvPr>
          <p:cNvGrpSpPr/>
          <p:nvPr/>
        </p:nvGrpSpPr>
        <p:grpSpPr>
          <a:xfrm>
            <a:off x="3102281" y="3231738"/>
            <a:ext cx="2952328" cy="664734"/>
            <a:chOff x="1883023" y="2121903"/>
            <a:chExt cx="5781364" cy="1532485"/>
          </a:xfrm>
        </p:grpSpPr>
        <p:sp>
          <p:nvSpPr>
            <p:cNvPr id="75" name="자유형 81">
              <a:extLst>
                <a:ext uri="{FF2B5EF4-FFF2-40B4-BE49-F238E27FC236}">
                  <a16:creationId xmlns:a16="http://schemas.microsoft.com/office/drawing/2014/main" id="{2B2B1DB0-30A2-4E0E-9C0D-135686916A84}"/>
                </a:ext>
              </a:extLst>
            </p:cNvPr>
            <p:cNvSpPr/>
            <p:nvPr/>
          </p:nvSpPr>
          <p:spPr>
            <a:xfrm>
              <a:off x="1883023" y="2127634"/>
              <a:ext cx="2977010" cy="1526754"/>
            </a:xfrm>
            <a:custGeom>
              <a:avLst/>
              <a:gdLst>
                <a:gd name="connsiteX0" fmla="*/ 0 w 4368800"/>
                <a:gd name="connsiteY0" fmla="*/ 389467 h 414867"/>
                <a:gd name="connsiteX1" fmla="*/ 270933 w 4368800"/>
                <a:gd name="connsiteY1" fmla="*/ 321733 h 414867"/>
                <a:gd name="connsiteX2" fmla="*/ 575733 w 4368800"/>
                <a:gd name="connsiteY2" fmla="*/ 414867 h 414867"/>
                <a:gd name="connsiteX3" fmla="*/ 880533 w 4368800"/>
                <a:gd name="connsiteY3" fmla="*/ 355600 h 414867"/>
                <a:gd name="connsiteX4" fmla="*/ 1134533 w 4368800"/>
                <a:gd name="connsiteY4" fmla="*/ 203200 h 414867"/>
                <a:gd name="connsiteX5" fmla="*/ 1456266 w 4368800"/>
                <a:gd name="connsiteY5" fmla="*/ 313267 h 414867"/>
                <a:gd name="connsiteX6" fmla="*/ 1727200 w 4368800"/>
                <a:gd name="connsiteY6" fmla="*/ 254000 h 414867"/>
                <a:gd name="connsiteX7" fmla="*/ 1998133 w 4368800"/>
                <a:gd name="connsiteY7" fmla="*/ 135467 h 414867"/>
                <a:gd name="connsiteX8" fmla="*/ 2353733 w 4368800"/>
                <a:gd name="connsiteY8" fmla="*/ 287867 h 414867"/>
                <a:gd name="connsiteX9" fmla="*/ 2607733 w 4368800"/>
                <a:gd name="connsiteY9" fmla="*/ 169333 h 414867"/>
                <a:gd name="connsiteX10" fmla="*/ 2946400 w 4368800"/>
                <a:gd name="connsiteY10" fmla="*/ 211667 h 414867"/>
                <a:gd name="connsiteX11" fmla="*/ 3234266 w 4368800"/>
                <a:gd name="connsiteY11" fmla="*/ 203200 h 414867"/>
                <a:gd name="connsiteX12" fmla="*/ 3505200 w 4368800"/>
                <a:gd name="connsiteY12" fmla="*/ 0 h 414867"/>
                <a:gd name="connsiteX13" fmla="*/ 3810000 w 4368800"/>
                <a:gd name="connsiteY13" fmla="*/ 135467 h 414867"/>
                <a:gd name="connsiteX14" fmla="*/ 4097866 w 4368800"/>
                <a:gd name="connsiteY14" fmla="*/ 42333 h 414867"/>
                <a:gd name="connsiteX15" fmla="*/ 4368800 w 4368800"/>
                <a:gd name="connsiteY15" fmla="*/ 118533 h 414867"/>
                <a:gd name="connsiteX0" fmla="*/ 0 w 4368800"/>
                <a:gd name="connsiteY0" fmla="*/ 524934 h 524934"/>
                <a:gd name="connsiteX1" fmla="*/ 270933 w 4368800"/>
                <a:gd name="connsiteY1" fmla="*/ 321733 h 524934"/>
                <a:gd name="connsiteX2" fmla="*/ 575733 w 4368800"/>
                <a:gd name="connsiteY2" fmla="*/ 414867 h 524934"/>
                <a:gd name="connsiteX3" fmla="*/ 880533 w 4368800"/>
                <a:gd name="connsiteY3" fmla="*/ 355600 h 524934"/>
                <a:gd name="connsiteX4" fmla="*/ 1134533 w 4368800"/>
                <a:gd name="connsiteY4" fmla="*/ 203200 h 524934"/>
                <a:gd name="connsiteX5" fmla="*/ 1456266 w 4368800"/>
                <a:gd name="connsiteY5" fmla="*/ 313267 h 524934"/>
                <a:gd name="connsiteX6" fmla="*/ 1727200 w 4368800"/>
                <a:gd name="connsiteY6" fmla="*/ 254000 h 524934"/>
                <a:gd name="connsiteX7" fmla="*/ 1998133 w 4368800"/>
                <a:gd name="connsiteY7" fmla="*/ 135467 h 524934"/>
                <a:gd name="connsiteX8" fmla="*/ 2353733 w 4368800"/>
                <a:gd name="connsiteY8" fmla="*/ 287867 h 524934"/>
                <a:gd name="connsiteX9" fmla="*/ 2607733 w 4368800"/>
                <a:gd name="connsiteY9" fmla="*/ 169333 h 524934"/>
                <a:gd name="connsiteX10" fmla="*/ 2946400 w 4368800"/>
                <a:gd name="connsiteY10" fmla="*/ 211667 h 524934"/>
                <a:gd name="connsiteX11" fmla="*/ 3234266 w 4368800"/>
                <a:gd name="connsiteY11" fmla="*/ 203200 h 524934"/>
                <a:gd name="connsiteX12" fmla="*/ 3505200 w 4368800"/>
                <a:gd name="connsiteY12" fmla="*/ 0 h 524934"/>
                <a:gd name="connsiteX13" fmla="*/ 3810000 w 4368800"/>
                <a:gd name="connsiteY13" fmla="*/ 135467 h 524934"/>
                <a:gd name="connsiteX14" fmla="*/ 4097866 w 4368800"/>
                <a:gd name="connsiteY14" fmla="*/ 42333 h 524934"/>
                <a:gd name="connsiteX15" fmla="*/ 4368800 w 4368800"/>
                <a:gd name="connsiteY15" fmla="*/ 118533 h 524934"/>
                <a:gd name="connsiteX0" fmla="*/ 0 w 4368800"/>
                <a:gd name="connsiteY0" fmla="*/ 541867 h 541867"/>
                <a:gd name="connsiteX1" fmla="*/ 270933 w 4368800"/>
                <a:gd name="connsiteY1" fmla="*/ 338666 h 541867"/>
                <a:gd name="connsiteX2" fmla="*/ 575733 w 4368800"/>
                <a:gd name="connsiteY2" fmla="*/ 431800 h 541867"/>
                <a:gd name="connsiteX3" fmla="*/ 880533 w 4368800"/>
                <a:gd name="connsiteY3" fmla="*/ 372533 h 541867"/>
                <a:gd name="connsiteX4" fmla="*/ 1134533 w 4368800"/>
                <a:gd name="connsiteY4" fmla="*/ 220133 h 541867"/>
                <a:gd name="connsiteX5" fmla="*/ 1456266 w 4368800"/>
                <a:gd name="connsiteY5" fmla="*/ 330200 h 541867"/>
                <a:gd name="connsiteX6" fmla="*/ 1727200 w 4368800"/>
                <a:gd name="connsiteY6" fmla="*/ 270933 h 541867"/>
                <a:gd name="connsiteX7" fmla="*/ 2048933 w 4368800"/>
                <a:gd name="connsiteY7" fmla="*/ 0 h 541867"/>
                <a:gd name="connsiteX8" fmla="*/ 2353733 w 4368800"/>
                <a:gd name="connsiteY8" fmla="*/ 304800 h 541867"/>
                <a:gd name="connsiteX9" fmla="*/ 2607733 w 4368800"/>
                <a:gd name="connsiteY9" fmla="*/ 186266 h 541867"/>
                <a:gd name="connsiteX10" fmla="*/ 2946400 w 4368800"/>
                <a:gd name="connsiteY10" fmla="*/ 228600 h 541867"/>
                <a:gd name="connsiteX11" fmla="*/ 3234266 w 4368800"/>
                <a:gd name="connsiteY11" fmla="*/ 220133 h 541867"/>
                <a:gd name="connsiteX12" fmla="*/ 3505200 w 4368800"/>
                <a:gd name="connsiteY12" fmla="*/ 16933 h 541867"/>
                <a:gd name="connsiteX13" fmla="*/ 3810000 w 4368800"/>
                <a:gd name="connsiteY13" fmla="*/ 152400 h 541867"/>
                <a:gd name="connsiteX14" fmla="*/ 4097866 w 4368800"/>
                <a:gd name="connsiteY14" fmla="*/ 59266 h 541867"/>
                <a:gd name="connsiteX15" fmla="*/ 4368800 w 4368800"/>
                <a:gd name="connsiteY15" fmla="*/ 135466 h 541867"/>
                <a:gd name="connsiteX0" fmla="*/ 0 w 4368800"/>
                <a:gd name="connsiteY0" fmla="*/ 541867 h 541867"/>
                <a:gd name="connsiteX1" fmla="*/ 270933 w 4368800"/>
                <a:gd name="connsiteY1" fmla="*/ 338666 h 541867"/>
                <a:gd name="connsiteX2" fmla="*/ 575733 w 4368800"/>
                <a:gd name="connsiteY2" fmla="*/ 431800 h 541867"/>
                <a:gd name="connsiteX3" fmla="*/ 880533 w 4368800"/>
                <a:gd name="connsiteY3" fmla="*/ 372533 h 541867"/>
                <a:gd name="connsiteX4" fmla="*/ 1134533 w 4368800"/>
                <a:gd name="connsiteY4" fmla="*/ 220133 h 541867"/>
                <a:gd name="connsiteX5" fmla="*/ 1456266 w 4368800"/>
                <a:gd name="connsiteY5" fmla="*/ 330200 h 541867"/>
                <a:gd name="connsiteX6" fmla="*/ 1727200 w 4368800"/>
                <a:gd name="connsiteY6" fmla="*/ 270933 h 541867"/>
                <a:gd name="connsiteX7" fmla="*/ 2048933 w 4368800"/>
                <a:gd name="connsiteY7" fmla="*/ 0 h 541867"/>
                <a:gd name="connsiteX8" fmla="*/ 2353733 w 4368800"/>
                <a:gd name="connsiteY8" fmla="*/ 304800 h 541867"/>
                <a:gd name="connsiteX9" fmla="*/ 2607733 w 4368800"/>
                <a:gd name="connsiteY9" fmla="*/ 186266 h 541867"/>
                <a:gd name="connsiteX10" fmla="*/ 2963334 w 4368800"/>
                <a:gd name="connsiteY10" fmla="*/ 152400 h 541867"/>
                <a:gd name="connsiteX11" fmla="*/ 3234266 w 4368800"/>
                <a:gd name="connsiteY11" fmla="*/ 220133 h 541867"/>
                <a:gd name="connsiteX12" fmla="*/ 3505200 w 4368800"/>
                <a:gd name="connsiteY12" fmla="*/ 16933 h 541867"/>
                <a:gd name="connsiteX13" fmla="*/ 3810000 w 4368800"/>
                <a:gd name="connsiteY13" fmla="*/ 152400 h 541867"/>
                <a:gd name="connsiteX14" fmla="*/ 4097866 w 4368800"/>
                <a:gd name="connsiteY14" fmla="*/ 59266 h 541867"/>
                <a:gd name="connsiteX15" fmla="*/ 4368800 w 4368800"/>
                <a:gd name="connsiteY15" fmla="*/ 135466 h 541867"/>
                <a:gd name="connsiteX0" fmla="*/ 0 w 4368800"/>
                <a:gd name="connsiteY0" fmla="*/ 575734 h 575734"/>
                <a:gd name="connsiteX1" fmla="*/ 270933 w 4368800"/>
                <a:gd name="connsiteY1" fmla="*/ 372533 h 575734"/>
                <a:gd name="connsiteX2" fmla="*/ 575733 w 4368800"/>
                <a:gd name="connsiteY2" fmla="*/ 465667 h 575734"/>
                <a:gd name="connsiteX3" fmla="*/ 880533 w 4368800"/>
                <a:gd name="connsiteY3" fmla="*/ 406400 h 575734"/>
                <a:gd name="connsiteX4" fmla="*/ 1134533 w 4368800"/>
                <a:gd name="connsiteY4" fmla="*/ 254000 h 575734"/>
                <a:gd name="connsiteX5" fmla="*/ 1456266 w 4368800"/>
                <a:gd name="connsiteY5" fmla="*/ 364067 h 575734"/>
                <a:gd name="connsiteX6" fmla="*/ 1727200 w 4368800"/>
                <a:gd name="connsiteY6" fmla="*/ 304800 h 575734"/>
                <a:gd name="connsiteX7" fmla="*/ 2048933 w 4368800"/>
                <a:gd name="connsiteY7" fmla="*/ 33867 h 575734"/>
                <a:gd name="connsiteX8" fmla="*/ 2353733 w 4368800"/>
                <a:gd name="connsiteY8" fmla="*/ 338667 h 575734"/>
                <a:gd name="connsiteX9" fmla="*/ 2607733 w 4368800"/>
                <a:gd name="connsiteY9" fmla="*/ 220133 h 575734"/>
                <a:gd name="connsiteX10" fmla="*/ 2963334 w 4368800"/>
                <a:gd name="connsiteY10" fmla="*/ 186267 h 575734"/>
                <a:gd name="connsiteX11" fmla="*/ 3234266 w 4368800"/>
                <a:gd name="connsiteY11" fmla="*/ 254000 h 575734"/>
                <a:gd name="connsiteX12" fmla="*/ 3505200 w 4368800"/>
                <a:gd name="connsiteY12" fmla="*/ 0 h 575734"/>
                <a:gd name="connsiteX13" fmla="*/ 3810000 w 4368800"/>
                <a:gd name="connsiteY13" fmla="*/ 186267 h 575734"/>
                <a:gd name="connsiteX14" fmla="*/ 4097866 w 4368800"/>
                <a:gd name="connsiteY14" fmla="*/ 93133 h 575734"/>
                <a:gd name="connsiteX15" fmla="*/ 4368800 w 4368800"/>
                <a:gd name="connsiteY15" fmla="*/ 169333 h 575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368800" h="575734">
                  <a:moveTo>
                    <a:pt x="0" y="575734"/>
                  </a:moveTo>
                  <a:lnTo>
                    <a:pt x="270933" y="372533"/>
                  </a:lnTo>
                  <a:lnTo>
                    <a:pt x="575733" y="465667"/>
                  </a:lnTo>
                  <a:lnTo>
                    <a:pt x="880533" y="406400"/>
                  </a:lnTo>
                  <a:lnTo>
                    <a:pt x="1134533" y="254000"/>
                  </a:lnTo>
                  <a:lnTo>
                    <a:pt x="1456266" y="364067"/>
                  </a:lnTo>
                  <a:lnTo>
                    <a:pt x="1727200" y="304800"/>
                  </a:lnTo>
                  <a:lnTo>
                    <a:pt x="2048933" y="33867"/>
                  </a:lnTo>
                  <a:lnTo>
                    <a:pt x="2353733" y="338667"/>
                  </a:lnTo>
                  <a:cubicBezTo>
                    <a:pt x="2438400" y="299156"/>
                    <a:pt x="2506133" y="245533"/>
                    <a:pt x="2607733" y="220133"/>
                  </a:cubicBezTo>
                  <a:cubicBezTo>
                    <a:pt x="2709333" y="194733"/>
                    <a:pt x="2844800" y="197556"/>
                    <a:pt x="2963334" y="186267"/>
                  </a:cubicBezTo>
                  <a:lnTo>
                    <a:pt x="3234266" y="254000"/>
                  </a:lnTo>
                  <a:lnTo>
                    <a:pt x="3505200" y="0"/>
                  </a:lnTo>
                  <a:lnTo>
                    <a:pt x="3810000" y="186267"/>
                  </a:lnTo>
                  <a:lnTo>
                    <a:pt x="4097866" y="93133"/>
                  </a:lnTo>
                  <a:lnTo>
                    <a:pt x="4368800" y="169333"/>
                  </a:lnTo>
                </a:path>
              </a:pathLst>
            </a:custGeom>
            <a:ln>
              <a:solidFill>
                <a:schemeClr val="accent3">
                  <a:lumMod val="75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76" name="자유형 88">
              <a:extLst>
                <a:ext uri="{FF2B5EF4-FFF2-40B4-BE49-F238E27FC236}">
                  <a16:creationId xmlns:a16="http://schemas.microsoft.com/office/drawing/2014/main" id="{608B70AD-1EA4-4F79-A7B4-CCFE66CE231A}"/>
                </a:ext>
              </a:extLst>
            </p:cNvPr>
            <p:cNvSpPr/>
            <p:nvPr/>
          </p:nvSpPr>
          <p:spPr>
            <a:xfrm flipH="1">
              <a:off x="4815076" y="2121903"/>
              <a:ext cx="2849311" cy="1526755"/>
            </a:xfrm>
            <a:custGeom>
              <a:avLst/>
              <a:gdLst>
                <a:gd name="connsiteX0" fmla="*/ 0 w 4368800"/>
                <a:gd name="connsiteY0" fmla="*/ 389467 h 414867"/>
                <a:gd name="connsiteX1" fmla="*/ 270933 w 4368800"/>
                <a:gd name="connsiteY1" fmla="*/ 321733 h 414867"/>
                <a:gd name="connsiteX2" fmla="*/ 575733 w 4368800"/>
                <a:gd name="connsiteY2" fmla="*/ 414867 h 414867"/>
                <a:gd name="connsiteX3" fmla="*/ 880533 w 4368800"/>
                <a:gd name="connsiteY3" fmla="*/ 355600 h 414867"/>
                <a:gd name="connsiteX4" fmla="*/ 1134533 w 4368800"/>
                <a:gd name="connsiteY4" fmla="*/ 203200 h 414867"/>
                <a:gd name="connsiteX5" fmla="*/ 1456266 w 4368800"/>
                <a:gd name="connsiteY5" fmla="*/ 313267 h 414867"/>
                <a:gd name="connsiteX6" fmla="*/ 1727200 w 4368800"/>
                <a:gd name="connsiteY6" fmla="*/ 254000 h 414867"/>
                <a:gd name="connsiteX7" fmla="*/ 1998133 w 4368800"/>
                <a:gd name="connsiteY7" fmla="*/ 135467 h 414867"/>
                <a:gd name="connsiteX8" fmla="*/ 2353733 w 4368800"/>
                <a:gd name="connsiteY8" fmla="*/ 287867 h 414867"/>
                <a:gd name="connsiteX9" fmla="*/ 2607733 w 4368800"/>
                <a:gd name="connsiteY9" fmla="*/ 169333 h 414867"/>
                <a:gd name="connsiteX10" fmla="*/ 2946400 w 4368800"/>
                <a:gd name="connsiteY10" fmla="*/ 211667 h 414867"/>
                <a:gd name="connsiteX11" fmla="*/ 3234266 w 4368800"/>
                <a:gd name="connsiteY11" fmla="*/ 203200 h 414867"/>
                <a:gd name="connsiteX12" fmla="*/ 3505200 w 4368800"/>
                <a:gd name="connsiteY12" fmla="*/ 0 h 414867"/>
                <a:gd name="connsiteX13" fmla="*/ 3810000 w 4368800"/>
                <a:gd name="connsiteY13" fmla="*/ 135467 h 414867"/>
                <a:gd name="connsiteX14" fmla="*/ 4097866 w 4368800"/>
                <a:gd name="connsiteY14" fmla="*/ 42333 h 414867"/>
                <a:gd name="connsiteX15" fmla="*/ 4368800 w 4368800"/>
                <a:gd name="connsiteY15" fmla="*/ 118533 h 414867"/>
                <a:gd name="connsiteX0" fmla="*/ 0 w 4368800"/>
                <a:gd name="connsiteY0" fmla="*/ 524934 h 524934"/>
                <a:gd name="connsiteX1" fmla="*/ 270933 w 4368800"/>
                <a:gd name="connsiteY1" fmla="*/ 321733 h 524934"/>
                <a:gd name="connsiteX2" fmla="*/ 575733 w 4368800"/>
                <a:gd name="connsiteY2" fmla="*/ 414867 h 524934"/>
                <a:gd name="connsiteX3" fmla="*/ 880533 w 4368800"/>
                <a:gd name="connsiteY3" fmla="*/ 355600 h 524934"/>
                <a:gd name="connsiteX4" fmla="*/ 1134533 w 4368800"/>
                <a:gd name="connsiteY4" fmla="*/ 203200 h 524934"/>
                <a:gd name="connsiteX5" fmla="*/ 1456266 w 4368800"/>
                <a:gd name="connsiteY5" fmla="*/ 313267 h 524934"/>
                <a:gd name="connsiteX6" fmla="*/ 1727200 w 4368800"/>
                <a:gd name="connsiteY6" fmla="*/ 254000 h 524934"/>
                <a:gd name="connsiteX7" fmla="*/ 1998133 w 4368800"/>
                <a:gd name="connsiteY7" fmla="*/ 135467 h 524934"/>
                <a:gd name="connsiteX8" fmla="*/ 2353733 w 4368800"/>
                <a:gd name="connsiteY8" fmla="*/ 287867 h 524934"/>
                <a:gd name="connsiteX9" fmla="*/ 2607733 w 4368800"/>
                <a:gd name="connsiteY9" fmla="*/ 169333 h 524934"/>
                <a:gd name="connsiteX10" fmla="*/ 2946400 w 4368800"/>
                <a:gd name="connsiteY10" fmla="*/ 211667 h 524934"/>
                <a:gd name="connsiteX11" fmla="*/ 3234266 w 4368800"/>
                <a:gd name="connsiteY11" fmla="*/ 203200 h 524934"/>
                <a:gd name="connsiteX12" fmla="*/ 3505200 w 4368800"/>
                <a:gd name="connsiteY12" fmla="*/ 0 h 524934"/>
                <a:gd name="connsiteX13" fmla="*/ 3810000 w 4368800"/>
                <a:gd name="connsiteY13" fmla="*/ 135467 h 524934"/>
                <a:gd name="connsiteX14" fmla="*/ 4097866 w 4368800"/>
                <a:gd name="connsiteY14" fmla="*/ 42333 h 524934"/>
                <a:gd name="connsiteX15" fmla="*/ 4368800 w 4368800"/>
                <a:gd name="connsiteY15" fmla="*/ 118533 h 524934"/>
                <a:gd name="connsiteX0" fmla="*/ 0 w 4368800"/>
                <a:gd name="connsiteY0" fmla="*/ 541867 h 541867"/>
                <a:gd name="connsiteX1" fmla="*/ 270933 w 4368800"/>
                <a:gd name="connsiteY1" fmla="*/ 338666 h 541867"/>
                <a:gd name="connsiteX2" fmla="*/ 575733 w 4368800"/>
                <a:gd name="connsiteY2" fmla="*/ 431800 h 541867"/>
                <a:gd name="connsiteX3" fmla="*/ 880533 w 4368800"/>
                <a:gd name="connsiteY3" fmla="*/ 372533 h 541867"/>
                <a:gd name="connsiteX4" fmla="*/ 1134533 w 4368800"/>
                <a:gd name="connsiteY4" fmla="*/ 220133 h 541867"/>
                <a:gd name="connsiteX5" fmla="*/ 1456266 w 4368800"/>
                <a:gd name="connsiteY5" fmla="*/ 330200 h 541867"/>
                <a:gd name="connsiteX6" fmla="*/ 1727200 w 4368800"/>
                <a:gd name="connsiteY6" fmla="*/ 270933 h 541867"/>
                <a:gd name="connsiteX7" fmla="*/ 2048933 w 4368800"/>
                <a:gd name="connsiteY7" fmla="*/ 0 h 541867"/>
                <a:gd name="connsiteX8" fmla="*/ 2353733 w 4368800"/>
                <a:gd name="connsiteY8" fmla="*/ 304800 h 541867"/>
                <a:gd name="connsiteX9" fmla="*/ 2607733 w 4368800"/>
                <a:gd name="connsiteY9" fmla="*/ 186266 h 541867"/>
                <a:gd name="connsiteX10" fmla="*/ 2946400 w 4368800"/>
                <a:gd name="connsiteY10" fmla="*/ 228600 h 541867"/>
                <a:gd name="connsiteX11" fmla="*/ 3234266 w 4368800"/>
                <a:gd name="connsiteY11" fmla="*/ 220133 h 541867"/>
                <a:gd name="connsiteX12" fmla="*/ 3505200 w 4368800"/>
                <a:gd name="connsiteY12" fmla="*/ 16933 h 541867"/>
                <a:gd name="connsiteX13" fmla="*/ 3810000 w 4368800"/>
                <a:gd name="connsiteY13" fmla="*/ 152400 h 541867"/>
                <a:gd name="connsiteX14" fmla="*/ 4097866 w 4368800"/>
                <a:gd name="connsiteY14" fmla="*/ 59266 h 541867"/>
                <a:gd name="connsiteX15" fmla="*/ 4368800 w 4368800"/>
                <a:gd name="connsiteY15" fmla="*/ 135466 h 541867"/>
                <a:gd name="connsiteX0" fmla="*/ 0 w 4368800"/>
                <a:gd name="connsiteY0" fmla="*/ 541867 h 541867"/>
                <a:gd name="connsiteX1" fmla="*/ 270933 w 4368800"/>
                <a:gd name="connsiteY1" fmla="*/ 338666 h 541867"/>
                <a:gd name="connsiteX2" fmla="*/ 575733 w 4368800"/>
                <a:gd name="connsiteY2" fmla="*/ 431800 h 541867"/>
                <a:gd name="connsiteX3" fmla="*/ 880533 w 4368800"/>
                <a:gd name="connsiteY3" fmla="*/ 372533 h 541867"/>
                <a:gd name="connsiteX4" fmla="*/ 1134533 w 4368800"/>
                <a:gd name="connsiteY4" fmla="*/ 220133 h 541867"/>
                <a:gd name="connsiteX5" fmla="*/ 1456266 w 4368800"/>
                <a:gd name="connsiteY5" fmla="*/ 330200 h 541867"/>
                <a:gd name="connsiteX6" fmla="*/ 1727200 w 4368800"/>
                <a:gd name="connsiteY6" fmla="*/ 270933 h 541867"/>
                <a:gd name="connsiteX7" fmla="*/ 2048933 w 4368800"/>
                <a:gd name="connsiteY7" fmla="*/ 0 h 541867"/>
                <a:gd name="connsiteX8" fmla="*/ 2353733 w 4368800"/>
                <a:gd name="connsiteY8" fmla="*/ 304800 h 541867"/>
                <a:gd name="connsiteX9" fmla="*/ 2607733 w 4368800"/>
                <a:gd name="connsiteY9" fmla="*/ 186266 h 541867"/>
                <a:gd name="connsiteX10" fmla="*/ 2963334 w 4368800"/>
                <a:gd name="connsiteY10" fmla="*/ 152400 h 541867"/>
                <a:gd name="connsiteX11" fmla="*/ 3234266 w 4368800"/>
                <a:gd name="connsiteY11" fmla="*/ 220133 h 541867"/>
                <a:gd name="connsiteX12" fmla="*/ 3505200 w 4368800"/>
                <a:gd name="connsiteY12" fmla="*/ 16933 h 541867"/>
                <a:gd name="connsiteX13" fmla="*/ 3810000 w 4368800"/>
                <a:gd name="connsiteY13" fmla="*/ 152400 h 541867"/>
                <a:gd name="connsiteX14" fmla="*/ 4097866 w 4368800"/>
                <a:gd name="connsiteY14" fmla="*/ 59266 h 541867"/>
                <a:gd name="connsiteX15" fmla="*/ 4368800 w 4368800"/>
                <a:gd name="connsiteY15" fmla="*/ 135466 h 541867"/>
                <a:gd name="connsiteX0" fmla="*/ 0 w 4368800"/>
                <a:gd name="connsiteY0" fmla="*/ 575734 h 575734"/>
                <a:gd name="connsiteX1" fmla="*/ 270933 w 4368800"/>
                <a:gd name="connsiteY1" fmla="*/ 372533 h 575734"/>
                <a:gd name="connsiteX2" fmla="*/ 575733 w 4368800"/>
                <a:gd name="connsiteY2" fmla="*/ 465667 h 575734"/>
                <a:gd name="connsiteX3" fmla="*/ 880533 w 4368800"/>
                <a:gd name="connsiteY3" fmla="*/ 406400 h 575734"/>
                <a:gd name="connsiteX4" fmla="*/ 1134533 w 4368800"/>
                <a:gd name="connsiteY4" fmla="*/ 254000 h 575734"/>
                <a:gd name="connsiteX5" fmla="*/ 1456266 w 4368800"/>
                <a:gd name="connsiteY5" fmla="*/ 364067 h 575734"/>
                <a:gd name="connsiteX6" fmla="*/ 1727200 w 4368800"/>
                <a:gd name="connsiteY6" fmla="*/ 304800 h 575734"/>
                <a:gd name="connsiteX7" fmla="*/ 2048933 w 4368800"/>
                <a:gd name="connsiteY7" fmla="*/ 33867 h 575734"/>
                <a:gd name="connsiteX8" fmla="*/ 2353733 w 4368800"/>
                <a:gd name="connsiteY8" fmla="*/ 338667 h 575734"/>
                <a:gd name="connsiteX9" fmla="*/ 2607733 w 4368800"/>
                <a:gd name="connsiteY9" fmla="*/ 220133 h 575734"/>
                <a:gd name="connsiteX10" fmla="*/ 2963334 w 4368800"/>
                <a:gd name="connsiteY10" fmla="*/ 186267 h 575734"/>
                <a:gd name="connsiteX11" fmla="*/ 3234266 w 4368800"/>
                <a:gd name="connsiteY11" fmla="*/ 254000 h 575734"/>
                <a:gd name="connsiteX12" fmla="*/ 3505200 w 4368800"/>
                <a:gd name="connsiteY12" fmla="*/ 0 h 575734"/>
                <a:gd name="connsiteX13" fmla="*/ 3810000 w 4368800"/>
                <a:gd name="connsiteY13" fmla="*/ 186267 h 575734"/>
                <a:gd name="connsiteX14" fmla="*/ 4097866 w 4368800"/>
                <a:gd name="connsiteY14" fmla="*/ 93133 h 575734"/>
                <a:gd name="connsiteX15" fmla="*/ 4368800 w 4368800"/>
                <a:gd name="connsiteY15" fmla="*/ 169333 h 575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368800" h="575734">
                  <a:moveTo>
                    <a:pt x="0" y="575734"/>
                  </a:moveTo>
                  <a:lnTo>
                    <a:pt x="270933" y="372533"/>
                  </a:lnTo>
                  <a:lnTo>
                    <a:pt x="575733" y="465667"/>
                  </a:lnTo>
                  <a:lnTo>
                    <a:pt x="880533" y="406400"/>
                  </a:lnTo>
                  <a:lnTo>
                    <a:pt x="1134533" y="254000"/>
                  </a:lnTo>
                  <a:lnTo>
                    <a:pt x="1456266" y="364067"/>
                  </a:lnTo>
                  <a:lnTo>
                    <a:pt x="1727200" y="304800"/>
                  </a:lnTo>
                  <a:lnTo>
                    <a:pt x="2048933" y="33867"/>
                  </a:lnTo>
                  <a:lnTo>
                    <a:pt x="2353733" y="338667"/>
                  </a:lnTo>
                  <a:cubicBezTo>
                    <a:pt x="2438400" y="299156"/>
                    <a:pt x="2506133" y="245533"/>
                    <a:pt x="2607733" y="220133"/>
                  </a:cubicBezTo>
                  <a:cubicBezTo>
                    <a:pt x="2709333" y="194733"/>
                    <a:pt x="2844800" y="197556"/>
                    <a:pt x="2963334" y="186267"/>
                  </a:cubicBezTo>
                  <a:lnTo>
                    <a:pt x="3234266" y="254000"/>
                  </a:lnTo>
                  <a:lnTo>
                    <a:pt x="3505200" y="0"/>
                  </a:lnTo>
                  <a:lnTo>
                    <a:pt x="3810000" y="186267"/>
                  </a:lnTo>
                  <a:lnTo>
                    <a:pt x="4097866" y="93133"/>
                  </a:lnTo>
                  <a:lnTo>
                    <a:pt x="4368800" y="169333"/>
                  </a:lnTo>
                </a:path>
              </a:pathLst>
            </a:custGeom>
            <a:ln>
              <a:solidFill>
                <a:schemeClr val="accent3">
                  <a:lumMod val="75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graphicFrame>
        <p:nvGraphicFramePr>
          <p:cNvPr id="86" name="표 85">
            <a:extLst>
              <a:ext uri="{FF2B5EF4-FFF2-40B4-BE49-F238E27FC236}">
                <a16:creationId xmlns:a16="http://schemas.microsoft.com/office/drawing/2014/main" id="{72FBD798-4C1F-43BE-9AA5-6CE58736C2C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44833196"/>
              </p:ext>
            </p:extLst>
          </p:nvPr>
        </p:nvGraphicFramePr>
        <p:xfrm>
          <a:off x="330428" y="4546857"/>
          <a:ext cx="7848875" cy="71234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453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4710">
                  <a:extLst>
                    <a:ext uri="{9D8B030D-6E8A-4147-A177-3AD203B41FA5}">
                      <a16:colId xmlns:a16="http://schemas.microsoft.com/office/drawing/2014/main" val="3661941496"/>
                    </a:ext>
                  </a:extLst>
                </a:gridCol>
                <a:gridCol w="28471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84710">
                  <a:extLst>
                    <a:ext uri="{9D8B030D-6E8A-4147-A177-3AD203B41FA5}">
                      <a16:colId xmlns:a16="http://schemas.microsoft.com/office/drawing/2014/main" val="91379356"/>
                    </a:ext>
                  </a:extLst>
                </a:gridCol>
                <a:gridCol w="28471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84710">
                  <a:extLst>
                    <a:ext uri="{9D8B030D-6E8A-4147-A177-3AD203B41FA5}">
                      <a16:colId xmlns:a16="http://schemas.microsoft.com/office/drawing/2014/main" val="3679891012"/>
                    </a:ext>
                  </a:extLst>
                </a:gridCol>
                <a:gridCol w="28471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84710">
                  <a:extLst>
                    <a:ext uri="{9D8B030D-6E8A-4147-A177-3AD203B41FA5}">
                      <a16:colId xmlns:a16="http://schemas.microsoft.com/office/drawing/2014/main" val="2229935987"/>
                    </a:ext>
                  </a:extLst>
                </a:gridCol>
                <a:gridCol w="28471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84710">
                  <a:extLst>
                    <a:ext uri="{9D8B030D-6E8A-4147-A177-3AD203B41FA5}">
                      <a16:colId xmlns:a16="http://schemas.microsoft.com/office/drawing/2014/main" val="4026812072"/>
                    </a:ext>
                  </a:extLst>
                </a:gridCol>
                <a:gridCol w="28471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84710">
                  <a:extLst>
                    <a:ext uri="{9D8B030D-6E8A-4147-A177-3AD203B41FA5}">
                      <a16:colId xmlns:a16="http://schemas.microsoft.com/office/drawing/2014/main" val="1122824508"/>
                    </a:ext>
                  </a:extLst>
                </a:gridCol>
                <a:gridCol w="28471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284710">
                  <a:extLst>
                    <a:ext uri="{9D8B030D-6E8A-4147-A177-3AD203B41FA5}">
                      <a16:colId xmlns:a16="http://schemas.microsoft.com/office/drawing/2014/main" val="1502902784"/>
                    </a:ext>
                  </a:extLst>
                </a:gridCol>
                <a:gridCol w="28471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84710">
                  <a:extLst>
                    <a:ext uri="{9D8B030D-6E8A-4147-A177-3AD203B41FA5}">
                      <a16:colId xmlns:a16="http://schemas.microsoft.com/office/drawing/2014/main" val="354728812"/>
                    </a:ext>
                  </a:extLst>
                </a:gridCol>
                <a:gridCol w="284710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284710">
                  <a:extLst>
                    <a:ext uri="{9D8B030D-6E8A-4147-A177-3AD203B41FA5}">
                      <a16:colId xmlns:a16="http://schemas.microsoft.com/office/drawing/2014/main" val="914552893"/>
                    </a:ext>
                  </a:extLst>
                </a:gridCol>
                <a:gridCol w="284710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284710">
                  <a:extLst>
                    <a:ext uri="{9D8B030D-6E8A-4147-A177-3AD203B41FA5}">
                      <a16:colId xmlns:a16="http://schemas.microsoft.com/office/drawing/2014/main" val="2643701830"/>
                    </a:ext>
                  </a:extLst>
                </a:gridCol>
                <a:gridCol w="284710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284710">
                  <a:extLst>
                    <a:ext uri="{9D8B030D-6E8A-4147-A177-3AD203B41FA5}">
                      <a16:colId xmlns:a16="http://schemas.microsoft.com/office/drawing/2014/main" val="4156003338"/>
                    </a:ext>
                  </a:extLst>
                </a:gridCol>
                <a:gridCol w="284710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284710">
                  <a:extLst>
                    <a:ext uri="{9D8B030D-6E8A-4147-A177-3AD203B41FA5}">
                      <a16:colId xmlns:a16="http://schemas.microsoft.com/office/drawing/2014/main" val="186923855"/>
                    </a:ext>
                  </a:extLst>
                </a:gridCol>
                <a:gridCol w="284710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281302">
                  <a:extLst>
                    <a:ext uri="{9D8B030D-6E8A-4147-A177-3AD203B41FA5}">
                      <a16:colId xmlns:a16="http://schemas.microsoft.com/office/drawing/2014/main" val="328632746"/>
                    </a:ext>
                  </a:extLst>
                </a:gridCol>
              </a:tblGrid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YYYY-MM</a:t>
                      </a:r>
                      <a:endParaRPr lang="en-US" altLang="ko-KR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01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02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03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04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05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06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07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08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09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11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12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13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14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15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16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17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18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19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21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22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23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24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합계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47853225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발전량</a:t>
                      </a:r>
                      <a:endParaRPr lang="en-US" altLang="ko-KR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발전량</a:t>
                      </a: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예측</a:t>
                      </a: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온도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45176096"/>
                  </a:ext>
                </a:extLst>
              </a:tr>
            </a:tbl>
          </a:graphicData>
        </a:graphic>
      </p:graphicFrame>
      <p:sp>
        <p:nvSpPr>
          <p:cNvPr id="87" name="TextBox 86">
            <a:extLst>
              <a:ext uri="{FF2B5EF4-FFF2-40B4-BE49-F238E27FC236}">
                <a16:creationId xmlns:a16="http://schemas.microsoft.com/office/drawing/2014/main" id="{206A42A7-13BF-4E94-9C9E-33D5D2B74FAB}"/>
              </a:ext>
            </a:extLst>
          </p:cNvPr>
          <p:cNvSpPr txBox="1"/>
          <p:nvPr/>
        </p:nvSpPr>
        <p:spPr>
          <a:xfrm>
            <a:off x="7195743" y="4263266"/>
            <a:ext cx="972108" cy="215444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square" rtlCol="0" anchor="ctr">
            <a:spAutoFit/>
          </a:bodyPr>
          <a:lstStyle/>
          <a:p>
            <a:pPr algn="ctr"/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표 접기</a:t>
            </a:r>
          </a:p>
        </p:txBody>
      </p:sp>
      <p:grpSp>
        <p:nvGrpSpPr>
          <p:cNvPr id="88" name="그룹 87">
            <a:extLst>
              <a:ext uri="{FF2B5EF4-FFF2-40B4-BE49-F238E27FC236}">
                <a16:creationId xmlns:a16="http://schemas.microsoft.com/office/drawing/2014/main" id="{A7FCB985-737A-44C8-A992-81A99CEDD720}"/>
              </a:ext>
            </a:extLst>
          </p:cNvPr>
          <p:cNvGrpSpPr/>
          <p:nvPr/>
        </p:nvGrpSpPr>
        <p:grpSpPr>
          <a:xfrm>
            <a:off x="210356" y="1203435"/>
            <a:ext cx="8024876" cy="260092"/>
            <a:chOff x="184526" y="1505937"/>
            <a:chExt cx="8024876" cy="260092"/>
          </a:xfrm>
        </p:grpSpPr>
        <p:sp>
          <p:nvSpPr>
            <p:cNvPr id="89" name="직사각형 88">
              <a:extLst>
                <a:ext uri="{FF2B5EF4-FFF2-40B4-BE49-F238E27FC236}">
                  <a16:creationId xmlns:a16="http://schemas.microsoft.com/office/drawing/2014/main" id="{6A7DB568-D7CB-4DA3-B914-3B9A87F643B6}"/>
                </a:ext>
              </a:extLst>
            </p:cNvPr>
            <p:cNvSpPr/>
            <p:nvPr/>
          </p:nvSpPr>
          <p:spPr>
            <a:xfrm>
              <a:off x="5810955" y="1550585"/>
              <a:ext cx="1820532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수익 현황</a:t>
              </a:r>
            </a:p>
          </p:txBody>
        </p:sp>
        <p:sp>
          <p:nvSpPr>
            <p:cNvPr id="90" name="직사각형 89">
              <a:extLst>
                <a:ext uri="{FF2B5EF4-FFF2-40B4-BE49-F238E27FC236}">
                  <a16:creationId xmlns:a16="http://schemas.microsoft.com/office/drawing/2014/main" id="{F03A0C3F-55B0-4FFB-A58F-D381DA53EAE5}"/>
                </a:ext>
              </a:extLst>
            </p:cNvPr>
            <p:cNvSpPr/>
            <p:nvPr/>
          </p:nvSpPr>
          <p:spPr>
            <a:xfrm>
              <a:off x="184526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에너지 모니터링</a:t>
              </a:r>
            </a:p>
          </p:txBody>
        </p:sp>
        <p:sp>
          <p:nvSpPr>
            <p:cNvPr id="91" name="직사각형 90">
              <a:extLst>
                <a:ext uri="{FF2B5EF4-FFF2-40B4-BE49-F238E27FC236}">
                  <a16:creationId xmlns:a16="http://schemas.microsoft.com/office/drawing/2014/main" id="{C909E061-56AD-43A3-B41F-22C61A695504}"/>
                </a:ext>
              </a:extLst>
            </p:cNvPr>
            <p:cNvSpPr/>
            <p:nvPr/>
          </p:nvSpPr>
          <p:spPr>
            <a:xfrm>
              <a:off x="2191085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장치 모니터링</a:t>
              </a:r>
            </a:p>
          </p:txBody>
        </p:sp>
        <p:sp>
          <p:nvSpPr>
            <p:cNvPr id="92" name="직사각형 91">
              <a:extLst>
                <a:ext uri="{FF2B5EF4-FFF2-40B4-BE49-F238E27FC236}">
                  <a16:creationId xmlns:a16="http://schemas.microsoft.com/office/drawing/2014/main" id="{850200A9-8A98-4281-B7DC-88D20DB4F2D9}"/>
                </a:ext>
              </a:extLst>
            </p:cNvPr>
            <p:cNvSpPr/>
            <p:nvPr/>
          </p:nvSpPr>
          <p:spPr>
            <a:xfrm>
              <a:off x="4197644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상황</a:t>
              </a:r>
              <a:r>
                <a:rPr lang="en-US" altLang="ko-KR" sz="700" dirty="0"/>
                <a:t> </a:t>
              </a:r>
              <a:r>
                <a:rPr lang="ko-KR" altLang="en-US" sz="700" dirty="0"/>
                <a:t>관제</a:t>
              </a:r>
            </a:p>
          </p:txBody>
        </p:sp>
        <p:sp>
          <p:nvSpPr>
            <p:cNvPr id="93" name="직사각형 92">
              <a:extLst>
                <a:ext uri="{FF2B5EF4-FFF2-40B4-BE49-F238E27FC236}">
                  <a16:creationId xmlns:a16="http://schemas.microsoft.com/office/drawing/2014/main" id="{08E75031-7EDE-4023-BA1E-4D7451A0CCAA}"/>
                </a:ext>
              </a:extLst>
            </p:cNvPr>
            <p:cNvSpPr/>
            <p:nvPr/>
          </p:nvSpPr>
          <p:spPr>
            <a:xfrm>
              <a:off x="6204202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요금</a:t>
              </a:r>
              <a:r>
                <a:rPr lang="en-US" altLang="ko-KR" sz="700" dirty="0"/>
                <a:t>/</a:t>
              </a:r>
              <a:r>
                <a:rPr lang="ko-KR" altLang="en-US" sz="700" dirty="0"/>
                <a:t>수익</a:t>
              </a:r>
            </a:p>
          </p:txBody>
        </p:sp>
      </p:grpSp>
      <p:sp>
        <p:nvSpPr>
          <p:cNvPr id="227" name="타원형 설명선 226"/>
          <p:cNvSpPr/>
          <p:nvPr/>
        </p:nvSpPr>
        <p:spPr>
          <a:xfrm>
            <a:off x="2057853" y="1419617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4" name="타원형 설명선 243"/>
          <p:cNvSpPr/>
          <p:nvPr/>
        </p:nvSpPr>
        <p:spPr>
          <a:xfrm>
            <a:off x="5836601" y="1419617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5" name="타원형 설명선 244"/>
          <p:cNvSpPr/>
          <p:nvPr/>
        </p:nvSpPr>
        <p:spPr>
          <a:xfrm>
            <a:off x="4016896" y="1419617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6" name="타원형 설명선 245"/>
          <p:cNvSpPr/>
          <p:nvPr/>
        </p:nvSpPr>
        <p:spPr>
          <a:xfrm>
            <a:off x="158453" y="1799488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3" name="타원형 설명선 225">
            <a:extLst>
              <a:ext uri="{FF2B5EF4-FFF2-40B4-BE49-F238E27FC236}">
                <a16:creationId xmlns:a16="http://schemas.microsoft.com/office/drawing/2014/main" id="{93402A8C-F86A-4207-9226-F02BE6AB6E19}"/>
              </a:ext>
            </a:extLst>
          </p:cNvPr>
          <p:cNvSpPr/>
          <p:nvPr/>
        </p:nvSpPr>
        <p:spPr>
          <a:xfrm>
            <a:off x="965541" y="1419617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94" name="표 93">
            <a:extLst>
              <a:ext uri="{FF2B5EF4-FFF2-40B4-BE49-F238E27FC236}">
                <a16:creationId xmlns:a16="http://schemas.microsoft.com/office/drawing/2014/main" id="{F41F72CD-167A-49B1-88EF-DB91E3F8D4D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06091700"/>
              </p:ext>
            </p:extLst>
          </p:nvPr>
        </p:nvGraphicFramePr>
        <p:xfrm>
          <a:off x="350067" y="5910331"/>
          <a:ext cx="4114985" cy="7219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08191">
                  <a:extLst>
                    <a:ext uri="{9D8B030D-6E8A-4147-A177-3AD203B41FA5}">
                      <a16:colId xmlns:a16="http://schemas.microsoft.com/office/drawing/2014/main" val="621667645"/>
                    </a:ext>
                  </a:extLst>
                </a:gridCol>
                <a:gridCol w="429542">
                  <a:extLst>
                    <a:ext uri="{9D8B030D-6E8A-4147-A177-3AD203B41FA5}">
                      <a16:colId xmlns:a16="http://schemas.microsoft.com/office/drawing/2014/main" val="2248332737"/>
                    </a:ext>
                  </a:extLst>
                </a:gridCol>
                <a:gridCol w="429542">
                  <a:extLst>
                    <a:ext uri="{9D8B030D-6E8A-4147-A177-3AD203B41FA5}">
                      <a16:colId xmlns:a16="http://schemas.microsoft.com/office/drawing/2014/main" val="899356341"/>
                    </a:ext>
                  </a:extLst>
                </a:gridCol>
                <a:gridCol w="429542">
                  <a:extLst>
                    <a:ext uri="{9D8B030D-6E8A-4147-A177-3AD203B41FA5}">
                      <a16:colId xmlns:a16="http://schemas.microsoft.com/office/drawing/2014/main" val="2787753370"/>
                    </a:ext>
                  </a:extLst>
                </a:gridCol>
                <a:gridCol w="429542">
                  <a:extLst>
                    <a:ext uri="{9D8B030D-6E8A-4147-A177-3AD203B41FA5}">
                      <a16:colId xmlns:a16="http://schemas.microsoft.com/office/drawing/2014/main" val="75509663"/>
                    </a:ext>
                  </a:extLst>
                </a:gridCol>
                <a:gridCol w="429542">
                  <a:extLst>
                    <a:ext uri="{9D8B030D-6E8A-4147-A177-3AD203B41FA5}">
                      <a16:colId xmlns:a16="http://schemas.microsoft.com/office/drawing/2014/main" val="2371680936"/>
                    </a:ext>
                  </a:extLst>
                </a:gridCol>
                <a:gridCol w="429542">
                  <a:extLst>
                    <a:ext uri="{9D8B030D-6E8A-4147-A177-3AD203B41FA5}">
                      <a16:colId xmlns:a16="http://schemas.microsoft.com/office/drawing/2014/main" val="1293287838"/>
                    </a:ext>
                  </a:extLst>
                </a:gridCol>
                <a:gridCol w="429542">
                  <a:extLst>
                    <a:ext uri="{9D8B030D-6E8A-4147-A177-3AD203B41FA5}">
                      <a16:colId xmlns:a16="http://schemas.microsoft.com/office/drawing/2014/main" val="346575581"/>
                    </a:ext>
                  </a:extLst>
                </a:gridCol>
              </a:tblGrid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조회기간</a:t>
                      </a:r>
                      <a:endParaRPr lang="en-US" altLang="ko-KR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lang="ko-KR" altLang="en-US" sz="800" b="1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기간설정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75581190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발전량</a:t>
                      </a: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온도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sng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15</a:t>
                      </a:r>
                      <a:r>
                        <a:rPr kumimoji="1" lang="ko-KR" altLang="en-US" sz="800" b="0" i="0" u="none" strike="sng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분 전 </a:t>
                      </a:r>
                      <a:r>
                        <a:rPr kumimoji="1" lang="en-US" altLang="ko-KR" sz="800" b="0" i="0" u="none" strike="sng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~ </a:t>
                      </a:r>
                      <a:r>
                        <a:rPr kumimoji="1" lang="ko-KR" altLang="en-US" sz="800" b="0" i="0" u="none" strike="sng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현재시간</a:t>
                      </a:r>
                      <a:endParaRPr lang="ko-KR" altLang="en-US" sz="800" b="1" strike="sng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시간 전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~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현재시간</a:t>
                      </a:r>
                      <a:endParaRPr lang="ko-KR" altLang="en-US" sz="8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오늘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00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시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~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현재시간</a:t>
                      </a:r>
                      <a:endParaRPr lang="ko-KR" altLang="en-US" sz="8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주 전 </a:t>
                      </a: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~ 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현재시간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달 전 </a:t>
                      </a: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~ 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현재시간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 전</a:t>
                      </a:r>
                      <a:r>
                        <a:rPr lang="en-US" altLang="ko-KR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~ </a:t>
                      </a:r>
                      <a:r>
                        <a:rPr lang="ko-KR" altLang="en-US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현재시간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지정된 시작일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29881618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발전량</a:t>
                      </a: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예측</a:t>
                      </a: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동일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동일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동일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동일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동일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동일</a:t>
                      </a:r>
                      <a:endParaRPr lang="en-US" altLang="ko-KR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동일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34962852"/>
                  </a:ext>
                </a:extLst>
              </a:tr>
            </a:tbl>
          </a:graphicData>
        </a:graphic>
      </p:graphicFrame>
      <p:sp>
        <p:nvSpPr>
          <p:cNvPr id="95" name="타원형 설명선 225">
            <a:extLst>
              <a:ext uri="{FF2B5EF4-FFF2-40B4-BE49-F238E27FC236}">
                <a16:creationId xmlns:a16="http://schemas.microsoft.com/office/drawing/2014/main" id="{159DE711-A5B3-4EF6-BEF7-33836AF021D7}"/>
              </a:ext>
            </a:extLst>
          </p:cNvPr>
          <p:cNvSpPr/>
          <p:nvPr/>
        </p:nvSpPr>
        <p:spPr>
          <a:xfrm>
            <a:off x="53242" y="5894308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표</a:t>
            </a:r>
            <a:r>
              <a:rPr lang="en-US" altLang="ko-KR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96" name="표 95">
            <a:extLst>
              <a:ext uri="{FF2B5EF4-FFF2-40B4-BE49-F238E27FC236}">
                <a16:creationId xmlns:a16="http://schemas.microsoft.com/office/drawing/2014/main" id="{370153B0-86B3-4DE0-8526-2B578758687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86678607"/>
              </p:ext>
            </p:extLst>
          </p:nvPr>
        </p:nvGraphicFramePr>
        <p:xfrm>
          <a:off x="4622269" y="5947288"/>
          <a:ext cx="3788722" cy="78768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61864">
                  <a:extLst>
                    <a:ext uri="{9D8B030D-6E8A-4147-A177-3AD203B41FA5}">
                      <a16:colId xmlns:a16="http://schemas.microsoft.com/office/drawing/2014/main" val="621667645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2248332737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899356341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2787753370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75509663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2371680936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1293287838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346575581"/>
                    </a:ext>
                  </a:extLst>
                </a:gridCol>
              </a:tblGrid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조회기간</a:t>
                      </a:r>
                      <a:endParaRPr lang="en-US" altLang="ko-KR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lang="ko-KR" altLang="en-US" sz="800" b="1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기간설정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75581190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조회 간격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strike="sng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strike="sng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  <a:r>
                        <a:rPr lang="ko-KR" altLang="en-US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strike="no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  <a:r>
                        <a:rPr lang="ko-KR" altLang="en-US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strike="no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  <a:endParaRPr lang="en-US" altLang="ko-KR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  <a:r>
                        <a:rPr lang="ko-KR" altLang="en-US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strike="no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  <a:endParaRPr lang="en-US" altLang="ko-KR" sz="800" b="0" strike="no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lang="ko-KR" altLang="en-US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strike="no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  <a:r>
                        <a:rPr lang="ko-KR" altLang="en-US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strike="no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  <a:endParaRPr lang="en-US" altLang="ko-KR" sz="800" b="0" strike="no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  <a:endParaRPr lang="en-US" altLang="ko-KR" sz="800" b="0" strike="no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지정된 기간에 따라 판단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29881618"/>
                  </a:ext>
                </a:extLst>
              </a:tr>
            </a:tbl>
          </a:graphicData>
        </a:graphic>
      </p:graphicFrame>
      <p:sp>
        <p:nvSpPr>
          <p:cNvPr id="97" name="타원형 설명선 225">
            <a:extLst>
              <a:ext uri="{FF2B5EF4-FFF2-40B4-BE49-F238E27FC236}">
                <a16:creationId xmlns:a16="http://schemas.microsoft.com/office/drawing/2014/main" id="{7D1713B3-7BEF-4CC1-8554-47B4816A67C3}"/>
              </a:ext>
            </a:extLst>
          </p:cNvPr>
          <p:cNvSpPr/>
          <p:nvPr/>
        </p:nvSpPr>
        <p:spPr>
          <a:xfrm>
            <a:off x="4327284" y="5916008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표</a:t>
            </a:r>
            <a:r>
              <a:rPr lang="en-US" altLang="ko-KR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7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BF053404-505D-46E4-8702-4834928155E8}"/>
              </a:ext>
            </a:extLst>
          </p:cNvPr>
          <p:cNvSpPr/>
          <p:nvPr/>
        </p:nvSpPr>
        <p:spPr>
          <a:xfrm>
            <a:off x="7672074" y="1569453"/>
            <a:ext cx="473661" cy="289182"/>
          </a:xfrm>
          <a:prstGeom prst="rect">
            <a:avLst/>
          </a:prstGeom>
          <a:solidFill>
            <a:srgbClr val="0099FF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>
              <a:lnSpc>
                <a:spcPct val="150000"/>
              </a:lnSpc>
            </a:pPr>
            <a:r>
              <a:rPr lang="ko-KR" altLang="en-US" sz="105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조회</a:t>
            </a:r>
          </a:p>
        </p:txBody>
      </p:sp>
    </p:spTree>
    <p:extLst>
      <p:ext uri="{BB962C8B-B14F-4D97-AF65-F5344CB8AC3E}">
        <p14:creationId xmlns:p14="http://schemas.microsoft.com/office/powerpoint/2010/main" val="1872162178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9104309" y="6645875"/>
            <a:ext cx="140029" cy="138499"/>
          </a:xfrm>
        </p:spPr>
        <p:txBody>
          <a:bodyPr/>
          <a:lstStyle/>
          <a:p>
            <a:pPr>
              <a:defRPr/>
            </a:pPr>
            <a:fld id="{9E41B634-5682-4388-99E7-FE44DCFD254B}" type="slidenum">
              <a:rPr lang="ko-KR" altLang="en-US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>
                <a:defRPr/>
              </a:pPr>
              <a:t>24</a:t>
            </a:fld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텍스트 개체 틀 8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Site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 &gt;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에너지 모니터링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&gt; PV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발전량</a:t>
            </a:r>
          </a:p>
        </p:txBody>
      </p:sp>
      <p:sp>
        <p:nvSpPr>
          <p:cNvPr id="10" name="텍스트 개체 틀 9"/>
          <p:cNvSpPr>
            <a:spLocks noGrp="1"/>
          </p:cNvSpPr>
          <p:nvPr>
            <p:ph type="body" sz="quarter" idx="10"/>
          </p:nvPr>
        </p:nvSpPr>
        <p:spPr>
          <a:xfrm>
            <a:off x="6023595" y="44624"/>
            <a:ext cx="1233661" cy="196974"/>
          </a:xfrm>
        </p:spPr>
        <p:txBody>
          <a:bodyPr/>
          <a:lstStyle/>
          <a:p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,PV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발전량</a:t>
            </a:r>
          </a:p>
        </p:txBody>
      </p:sp>
      <p:graphicFrame>
        <p:nvGraphicFramePr>
          <p:cNvPr id="102" name="Group 15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436128"/>
              </p:ext>
            </p:extLst>
          </p:nvPr>
        </p:nvGraphicFramePr>
        <p:xfrm>
          <a:off x="8469313" y="276225"/>
          <a:ext cx="1404000" cy="3798144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3002"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Description</a:t>
                      </a: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6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그래프 표시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PV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발전량 그래프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1)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꺽은선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그래프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항목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: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현재 부하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예측 부하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 - Y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축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: </a:t>
                      </a:r>
                      <a:r>
                        <a:rPr kumimoji="1" lang="en-US" altLang="ko-KR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KWh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의 전력량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 - X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축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: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간격 표시 기준은 표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3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참고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7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발전량 데이터 표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조회된 데이터의 그래프 표시 항목을 표로 표현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특정 개수가 넘어 표가 좌우로 넓어질 경우에는 하단으로 표 확장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브라우저 크기를 조정하여 폭이 좁아질 경우에도 하단으로 표 확장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행 최대 칸수는 표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4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참고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8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표 접기</a:t>
                      </a:r>
                      <a:endParaRPr lang="en-US" altLang="ko-KR" sz="800" b="1" u="non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그래프 하단 표 영역 표시의 </a:t>
                      </a:r>
                      <a:r>
                        <a:rPr lang="ko-KR" altLang="en-US" sz="800" b="0" u="none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토글</a:t>
                      </a: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 버튼</a:t>
                      </a:r>
                      <a:endParaRPr lang="en-US" altLang="ko-KR" sz="800" b="0" u="none" kern="120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9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데이터 저장하기</a:t>
                      </a:r>
                      <a:endParaRPr lang="en-US" altLang="ko-KR" sz="800" b="1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조회된 데이터를 </a:t>
                      </a: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csv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형태의 파일로 저장한다</a:t>
                      </a: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.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78" name="TextBox 77"/>
          <p:cNvSpPr txBox="1"/>
          <p:nvPr/>
        </p:nvSpPr>
        <p:spPr>
          <a:xfrm>
            <a:off x="7121707" y="21349"/>
            <a:ext cx="567597" cy="2308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화면</a:t>
            </a:r>
            <a:r>
              <a:rPr lang="en-US" altLang="ko-KR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ID</a:t>
            </a:r>
            <a:endParaRPr lang="ko-KR" altLang="en-US" sz="9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7689304" y="43659"/>
            <a:ext cx="792088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itchFamily="50" charset="-127"/>
                <a:ea typeface="맑은 고딕" pitchFamily="50" charset="-127"/>
              </a:rPr>
              <a:t>ewpsp_scr_012</a:t>
            </a:r>
            <a:endParaRPr lang="ko-KR" altLang="en-US" sz="700" dirty="0">
              <a:latin typeface="맑은 고딕" pitchFamily="50" charset="-127"/>
              <a:ea typeface="맑은 고딕" pitchFamily="50" charset="-127"/>
            </a:endParaRPr>
          </a:p>
        </p:txBody>
      </p:sp>
      <p:pic>
        <p:nvPicPr>
          <p:cNvPr id="18" name="Picture 3">
            <a:extLst>
              <a:ext uri="{FF2B5EF4-FFF2-40B4-BE49-F238E27FC236}">
                <a16:creationId xmlns:a16="http://schemas.microsoft.com/office/drawing/2014/main" id="{D14E8AEF-8EA8-4944-AE52-FF98A1FB783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463" y="764704"/>
            <a:ext cx="8208912" cy="4608511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  <a:extLst/>
        </p:spPr>
      </p:pic>
      <p:pic>
        <p:nvPicPr>
          <p:cNvPr id="19" name="Picture 2">
            <a:extLst>
              <a:ext uri="{FF2B5EF4-FFF2-40B4-BE49-F238E27FC236}">
                <a16:creationId xmlns:a16="http://schemas.microsoft.com/office/drawing/2014/main" id="{6FBB0165-03FF-4BBD-A158-8DEF923CF53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464" y="762442"/>
            <a:ext cx="8208912" cy="3487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20" name="직선 연결선 19">
            <a:extLst>
              <a:ext uri="{FF2B5EF4-FFF2-40B4-BE49-F238E27FC236}">
                <a16:creationId xmlns:a16="http://schemas.microsoft.com/office/drawing/2014/main" id="{37D07777-30AA-4506-9C18-6F3B4C7D943C}"/>
              </a:ext>
            </a:extLst>
          </p:cNvPr>
          <p:cNvCxnSpPr>
            <a:cxnSpLocks/>
          </p:cNvCxnSpPr>
          <p:nvPr/>
        </p:nvCxnSpPr>
        <p:spPr>
          <a:xfrm>
            <a:off x="128463" y="1124744"/>
            <a:ext cx="8208912" cy="0"/>
          </a:xfrm>
          <a:prstGeom prst="line">
            <a:avLst/>
          </a:prstGeom>
          <a:ln w="9525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5E84417E-CAA5-4FD3-BBB9-7CD5570EF571}"/>
              </a:ext>
            </a:extLst>
          </p:cNvPr>
          <p:cNvSpPr/>
          <p:nvPr/>
        </p:nvSpPr>
        <p:spPr>
          <a:xfrm>
            <a:off x="216315" y="1556792"/>
            <a:ext cx="1820532" cy="288032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en-US" altLang="ko-KR" sz="10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PV </a:t>
            </a:r>
            <a:r>
              <a:rPr lang="ko-KR" altLang="en-US" sz="10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발전량</a:t>
            </a: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180BACBD-4B64-4649-BD7C-E1EE3620FBC6}"/>
              </a:ext>
            </a:extLst>
          </p:cNvPr>
          <p:cNvSpPr/>
          <p:nvPr/>
        </p:nvSpPr>
        <p:spPr>
          <a:xfrm>
            <a:off x="120419" y="1726179"/>
            <a:ext cx="1510265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150000"/>
              </a:lnSpc>
            </a:pPr>
            <a:r>
              <a:rPr lang="en-US" altLang="ko-KR" sz="900" b="1" dirty="0">
                <a:solidFill>
                  <a:schemeClr val="bg1">
                    <a:lumMod val="65000"/>
                  </a:schemeClr>
                </a:solidFill>
                <a:latin typeface="맑은 고딕" pitchFamily="50" charset="-127"/>
                <a:ea typeface="맑은 고딕" pitchFamily="50" charset="-127"/>
              </a:rPr>
              <a:t>YYYY-MM-DD hh:mm</a:t>
            </a:r>
            <a:endParaRPr lang="ko-KR" altLang="en-US" sz="900" b="1" dirty="0">
              <a:solidFill>
                <a:schemeClr val="bg1">
                  <a:lumMod val="6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A27B69D7-2B77-4AF2-A717-2F8B00E5023D}"/>
              </a:ext>
            </a:extLst>
          </p:cNvPr>
          <p:cNvSpPr/>
          <p:nvPr/>
        </p:nvSpPr>
        <p:spPr>
          <a:xfrm>
            <a:off x="3584848" y="1569453"/>
            <a:ext cx="1224136" cy="288033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기간 설정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51E4F555-ACF8-422A-8A4C-263DF5607ED0}"/>
              </a:ext>
            </a:extLst>
          </p:cNvPr>
          <p:cNvSpPr/>
          <p:nvPr/>
        </p:nvSpPr>
        <p:spPr>
          <a:xfrm>
            <a:off x="4304928" y="1569453"/>
            <a:ext cx="1262753" cy="288033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YYY-MM</a:t>
            </a:r>
            <a:endParaRPr lang="ko-KR" altLang="en-US" sz="90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056B85B8-E22D-471D-BF90-7BA59FDE59DA}"/>
              </a:ext>
            </a:extLst>
          </p:cNvPr>
          <p:cNvSpPr/>
          <p:nvPr/>
        </p:nvSpPr>
        <p:spPr>
          <a:xfrm>
            <a:off x="5567681" y="1569453"/>
            <a:ext cx="288032" cy="288033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▼</a:t>
            </a: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5DE85575-6695-43D9-BA78-E72D7749FD5A}"/>
              </a:ext>
            </a:extLst>
          </p:cNvPr>
          <p:cNvSpPr/>
          <p:nvPr/>
        </p:nvSpPr>
        <p:spPr>
          <a:xfrm>
            <a:off x="5855713" y="1569453"/>
            <a:ext cx="249415" cy="288033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~</a:t>
            </a:r>
            <a:endParaRPr lang="ko-KR" altLang="en-US" sz="900" b="1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52DDF82F-9C8F-422F-B328-3979E21AEB5E}"/>
              </a:ext>
            </a:extLst>
          </p:cNvPr>
          <p:cNvSpPr/>
          <p:nvPr/>
        </p:nvSpPr>
        <p:spPr>
          <a:xfrm>
            <a:off x="6105128" y="1569453"/>
            <a:ext cx="1262753" cy="288033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YYYY-MM</a:t>
            </a:r>
            <a:endParaRPr lang="ko-KR" altLang="en-US" sz="90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508668D7-197F-47CF-8003-58499E43E073}"/>
              </a:ext>
            </a:extLst>
          </p:cNvPr>
          <p:cNvSpPr/>
          <p:nvPr/>
        </p:nvSpPr>
        <p:spPr>
          <a:xfrm>
            <a:off x="7367881" y="1569453"/>
            <a:ext cx="288032" cy="288033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▼</a:t>
            </a:r>
          </a:p>
        </p:txBody>
      </p:sp>
      <p:pic>
        <p:nvPicPr>
          <p:cNvPr id="47" name="Picture 2" descr="ì¤ì ì ëí ì´ë¯¸ì§ ê²ìê²°ê³¼">
            <a:extLst>
              <a:ext uri="{FF2B5EF4-FFF2-40B4-BE49-F238E27FC236}">
                <a16:creationId xmlns:a16="http://schemas.microsoft.com/office/drawing/2014/main" id="{90A888AD-844A-4544-B02A-A77BC3397C7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05865" y="844086"/>
            <a:ext cx="198592" cy="19859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8" name="사각형: 둥근 모서리 47">
            <a:extLst>
              <a:ext uri="{FF2B5EF4-FFF2-40B4-BE49-F238E27FC236}">
                <a16:creationId xmlns:a16="http://schemas.microsoft.com/office/drawing/2014/main" id="{119FCE8B-C633-47C3-A0BD-44AD20643BCC}"/>
              </a:ext>
            </a:extLst>
          </p:cNvPr>
          <p:cNvSpPr/>
          <p:nvPr/>
        </p:nvSpPr>
        <p:spPr>
          <a:xfrm>
            <a:off x="1239315" y="1637161"/>
            <a:ext cx="1013369" cy="180000"/>
          </a:xfrm>
          <a:prstGeom prst="roundRect">
            <a:avLst/>
          </a:prstGeom>
          <a:solidFill>
            <a:schemeClr val="bg1"/>
          </a:solidFill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ko-KR" altLang="en-US" sz="900" dirty="0">
                <a:solidFill>
                  <a:schemeClr val="tx1"/>
                </a:solidFill>
              </a:rPr>
              <a:t>기간 설정  ▼</a:t>
            </a:r>
          </a:p>
        </p:txBody>
      </p:sp>
      <p:sp>
        <p:nvSpPr>
          <p:cNvPr id="49" name="사각형: 둥근 모서리 48">
            <a:extLst>
              <a:ext uri="{FF2B5EF4-FFF2-40B4-BE49-F238E27FC236}">
                <a16:creationId xmlns:a16="http://schemas.microsoft.com/office/drawing/2014/main" id="{948F9D44-B814-4AF5-882E-A35193F2E22A}"/>
              </a:ext>
            </a:extLst>
          </p:cNvPr>
          <p:cNvSpPr/>
          <p:nvPr/>
        </p:nvSpPr>
        <p:spPr>
          <a:xfrm>
            <a:off x="2297791" y="1636316"/>
            <a:ext cx="1013369" cy="180000"/>
          </a:xfrm>
          <a:prstGeom prst="roundRect">
            <a:avLst/>
          </a:prstGeom>
          <a:solidFill>
            <a:schemeClr val="bg1"/>
          </a:solidFill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altLang="ko-KR" sz="900" dirty="0">
                <a:solidFill>
                  <a:schemeClr val="tx1"/>
                </a:solidFill>
              </a:rPr>
              <a:t>15</a:t>
            </a:r>
            <a:r>
              <a:rPr lang="ko-KR" altLang="en-US" sz="900" dirty="0">
                <a:solidFill>
                  <a:schemeClr val="tx1"/>
                </a:solidFill>
              </a:rPr>
              <a:t>분     ▼</a:t>
            </a:r>
          </a:p>
        </p:txBody>
      </p:sp>
      <p:graphicFrame>
        <p:nvGraphicFramePr>
          <p:cNvPr id="40" name="표 39">
            <a:extLst>
              <a:ext uri="{FF2B5EF4-FFF2-40B4-BE49-F238E27FC236}">
                <a16:creationId xmlns:a16="http://schemas.microsoft.com/office/drawing/2014/main" id="{2A863459-0FBB-4A5A-B554-6A0E4261425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54339464"/>
              </p:ext>
            </p:extLst>
          </p:nvPr>
        </p:nvGraphicFramePr>
        <p:xfrm>
          <a:off x="332421" y="2217927"/>
          <a:ext cx="7848875" cy="19869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573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366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83661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83661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8366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83661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283661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83661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283661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28366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28366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28366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28366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283661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283661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283661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283661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283661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  <a:gridCol w="283661">
                  <a:extLst>
                    <a:ext uri="{9D8B030D-6E8A-4147-A177-3AD203B41FA5}">
                      <a16:colId xmlns:a16="http://schemas.microsoft.com/office/drawing/2014/main" val="20019"/>
                    </a:ext>
                  </a:extLst>
                </a:gridCol>
                <a:gridCol w="283661">
                  <a:extLst>
                    <a:ext uri="{9D8B030D-6E8A-4147-A177-3AD203B41FA5}">
                      <a16:colId xmlns:a16="http://schemas.microsoft.com/office/drawing/2014/main" val="20020"/>
                    </a:ext>
                  </a:extLst>
                </a:gridCol>
                <a:gridCol w="283661">
                  <a:extLst>
                    <a:ext uri="{9D8B030D-6E8A-4147-A177-3AD203B41FA5}">
                      <a16:colId xmlns:a16="http://schemas.microsoft.com/office/drawing/2014/main" val="20021"/>
                    </a:ext>
                  </a:extLst>
                </a:gridCol>
                <a:gridCol w="283661">
                  <a:extLst>
                    <a:ext uri="{9D8B030D-6E8A-4147-A177-3AD203B41FA5}">
                      <a16:colId xmlns:a16="http://schemas.microsoft.com/office/drawing/2014/main" val="20022"/>
                    </a:ext>
                  </a:extLst>
                </a:gridCol>
                <a:gridCol w="283661">
                  <a:extLst>
                    <a:ext uri="{9D8B030D-6E8A-4147-A177-3AD203B41FA5}">
                      <a16:colId xmlns:a16="http://schemas.microsoft.com/office/drawing/2014/main" val="20023"/>
                    </a:ext>
                  </a:extLst>
                </a:gridCol>
                <a:gridCol w="283661">
                  <a:extLst>
                    <a:ext uri="{9D8B030D-6E8A-4147-A177-3AD203B41FA5}">
                      <a16:colId xmlns:a16="http://schemas.microsoft.com/office/drawing/2014/main" val="20024"/>
                    </a:ext>
                  </a:extLst>
                </a:gridCol>
                <a:gridCol w="283661">
                  <a:extLst>
                    <a:ext uri="{9D8B030D-6E8A-4147-A177-3AD203B41FA5}">
                      <a16:colId xmlns:a16="http://schemas.microsoft.com/office/drawing/2014/main" val="20025"/>
                    </a:ext>
                  </a:extLst>
                </a:gridCol>
                <a:gridCol w="283661">
                  <a:extLst>
                    <a:ext uri="{9D8B030D-6E8A-4147-A177-3AD203B41FA5}">
                      <a16:colId xmlns:a16="http://schemas.microsoft.com/office/drawing/2014/main" val="4182005389"/>
                    </a:ext>
                  </a:extLst>
                </a:gridCol>
              </a:tblGrid>
              <a:tr h="19869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/>
                        <a:t>kWh</a:t>
                      </a:r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9869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2000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98695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8695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869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1000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98695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9869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500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98695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9869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98695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01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02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03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04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05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06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07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08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09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10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11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12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13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14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15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16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17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18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19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20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21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22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23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24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cxnSp>
        <p:nvCxnSpPr>
          <p:cNvPr id="52" name="직선 연결선 51">
            <a:extLst>
              <a:ext uri="{FF2B5EF4-FFF2-40B4-BE49-F238E27FC236}">
                <a16:creationId xmlns:a16="http://schemas.microsoft.com/office/drawing/2014/main" id="{9EFF28B6-5348-4108-943A-5F3C15528B42}"/>
              </a:ext>
            </a:extLst>
          </p:cNvPr>
          <p:cNvCxnSpPr>
            <a:cxnSpLocks/>
          </p:cNvCxnSpPr>
          <p:nvPr/>
        </p:nvCxnSpPr>
        <p:spPr>
          <a:xfrm>
            <a:off x="1052501" y="2519931"/>
            <a:ext cx="7128792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3" name="직선 연결선 52">
            <a:extLst>
              <a:ext uri="{FF2B5EF4-FFF2-40B4-BE49-F238E27FC236}">
                <a16:creationId xmlns:a16="http://schemas.microsoft.com/office/drawing/2014/main" id="{5CE31320-489B-4FB5-AD65-0AF37CB2EBC8}"/>
              </a:ext>
            </a:extLst>
          </p:cNvPr>
          <p:cNvCxnSpPr>
            <a:cxnSpLocks/>
          </p:cNvCxnSpPr>
          <p:nvPr/>
        </p:nvCxnSpPr>
        <p:spPr>
          <a:xfrm>
            <a:off x="1052501" y="3112773"/>
            <a:ext cx="7128792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직선 연결선 53">
            <a:extLst>
              <a:ext uri="{FF2B5EF4-FFF2-40B4-BE49-F238E27FC236}">
                <a16:creationId xmlns:a16="http://schemas.microsoft.com/office/drawing/2014/main" id="{0C827C86-7356-4294-8D9A-0FFBFE298E6E}"/>
              </a:ext>
            </a:extLst>
          </p:cNvPr>
          <p:cNvCxnSpPr>
            <a:cxnSpLocks/>
          </p:cNvCxnSpPr>
          <p:nvPr/>
        </p:nvCxnSpPr>
        <p:spPr>
          <a:xfrm>
            <a:off x="5877037" y="2217924"/>
            <a:ext cx="0" cy="1822564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직선 연결선 54">
            <a:extLst>
              <a:ext uri="{FF2B5EF4-FFF2-40B4-BE49-F238E27FC236}">
                <a16:creationId xmlns:a16="http://schemas.microsoft.com/office/drawing/2014/main" id="{5A7D8F8C-DC3C-466D-B6B4-02E9FC6CC880}"/>
              </a:ext>
            </a:extLst>
          </p:cNvPr>
          <p:cNvCxnSpPr/>
          <p:nvPr/>
        </p:nvCxnSpPr>
        <p:spPr>
          <a:xfrm>
            <a:off x="5313040" y="2049084"/>
            <a:ext cx="504056" cy="0"/>
          </a:xfrm>
          <a:prstGeom prst="line">
            <a:avLst/>
          </a:prstGeom>
          <a:noFill/>
          <a:ln w="19050">
            <a:solidFill>
              <a:srgbClr val="FFFF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25BE61B6-32B5-48B2-BA8C-EE71DFFFA2C9}"/>
              </a:ext>
            </a:extLst>
          </p:cNvPr>
          <p:cNvSpPr/>
          <p:nvPr/>
        </p:nvSpPr>
        <p:spPr>
          <a:xfrm>
            <a:off x="5961112" y="1926856"/>
            <a:ext cx="1008112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발전량</a:t>
            </a:r>
            <a:r>
              <a:rPr lang="en-US" altLang="ko-KR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(</a:t>
            </a:r>
            <a:r>
              <a:rPr lang="ko-KR" altLang="en-US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실적</a:t>
            </a:r>
            <a:r>
              <a:rPr lang="en-US" altLang="ko-KR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)</a:t>
            </a:r>
            <a:endParaRPr lang="ko-KR" altLang="en-US" sz="800" b="1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60" name="직선 연결선 59">
            <a:extLst>
              <a:ext uri="{FF2B5EF4-FFF2-40B4-BE49-F238E27FC236}">
                <a16:creationId xmlns:a16="http://schemas.microsoft.com/office/drawing/2014/main" id="{7F4655AE-9A3C-4360-913F-EA2626E20ECE}"/>
              </a:ext>
            </a:extLst>
          </p:cNvPr>
          <p:cNvCxnSpPr/>
          <p:nvPr/>
        </p:nvCxnSpPr>
        <p:spPr>
          <a:xfrm>
            <a:off x="6897216" y="2049084"/>
            <a:ext cx="504056" cy="0"/>
          </a:xfrm>
          <a:prstGeom prst="line">
            <a:avLst/>
          </a:prstGeom>
          <a:ln>
            <a:solidFill>
              <a:schemeClr val="accent3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A17F57C3-0E07-4152-8768-681277B92A80}"/>
              </a:ext>
            </a:extLst>
          </p:cNvPr>
          <p:cNvSpPr/>
          <p:nvPr/>
        </p:nvSpPr>
        <p:spPr>
          <a:xfrm>
            <a:off x="7473280" y="1926856"/>
            <a:ext cx="1008112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발전량</a:t>
            </a:r>
            <a:r>
              <a:rPr lang="en-US" altLang="ko-KR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(</a:t>
            </a:r>
            <a:r>
              <a:rPr lang="ko-KR" altLang="en-US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예측</a:t>
            </a:r>
            <a:r>
              <a:rPr lang="en-US" altLang="ko-KR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)</a:t>
            </a:r>
            <a:endParaRPr lang="ko-KR" altLang="en-US" sz="800" b="1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grpSp>
        <p:nvGrpSpPr>
          <p:cNvPr id="69" name="그룹 68">
            <a:extLst>
              <a:ext uri="{FF2B5EF4-FFF2-40B4-BE49-F238E27FC236}">
                <a16:creationId xmlns:a16="http://schemas.microsoft.com/office/drawing/2014/main" id="{A143D6DD-C1DF-4F95-8875-CE4FBEF1998C}"/>
              </a:ext>
            </a:extLst>
          </p:cNvPr>
          <p:cNvGrpSpPr/>
          <p:nvPr/>
        </p:nvGrpSpPr>
        <p:grpSpPr>
          <a:xfrm flipH="1">
            <a:off x="3294371" y="3640346"/>
            <a:ext cx="1823678" cy="247963"/>
            <a:chOff x="2158219" y="3645757"/>
            <a:chExt cx="1863813" cy="719347"/>
          </a:xfrm>
          <a:solidFill>
            <a:srgbClr val="FFFF00"/>
          </a:solidFill>
        </p:grpSpPr>
        <p:sp>
          <p:nvSpPr>
            <p:cNvPr id="77" name="직사각형 76">
              <a:extLst>
                <a:ext uri="{FF2B5EF4-FFF2-40B4-BE49-F238E27FC236}">
                  <a16:creationId xmlns:a16="http://schemas.microsoft.com/office/drawing/2014/main" id="{47F28995-2B9E-4E10-A99C-1509B4B415E8}"/>
                </a:ext>
              </a:extLst>
            </p:cNvPr>
            <p:cNvSpPr/>
            <p:nvPr/>
          </p:nvSpPr>
          <p:spPr>
            <a:xfrm>
              <a:off x="3950032" y="4077364"/>
              <a:ext cx="72000" cy="28774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80" name="직사각형 79">
              <a:extLst>
                <a:ext uri="{FF2B5EF4-FFF2-40B4-BE49-F238E27FC236}">
                  <a16:creationId xmlns:a16="http://schemas.microsoft.com/office/drawing/2014/main" id="{EC180CC0-0890-483D-A6CB-5CA5DD665A98}"/>
                </a:ext>
              </a:extLst>
            </p:cNvPr>
            <p:cNvSpPr/>
            <p:nvPr/>
          </p:nvSpPr>
          <p:spPr>
            <a:xfrm>
              <a:off x="3638317" y="3915766"/>
              <a:ext cx="72000" cy="449338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81" name="직사각형 80">
              <a:extLst>
                <a:ext uri="{FF2B5EF4-FFF2-40B4-BE49-F238E27FC236}">
                  <a16:creationId xmlns:a16="http://schemas.microsoft.com/office/drawing/2014/main" id="{8DB3165D-8225-4DE8-B051-918757419FA9}"/>
                </a:ext>
              </a:extLst>
            </p:cNvPr>
            <p:cNvSpPr/>
            <p:nvPr/>
          </p:nvSpPr>
          <p:spPr>
            <a:xfrm>
              <a:off x="3327361" y="3807101"/>
              <a:ext cx="72000" cy="558001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82" name="직사각형 81">
              <a:extLst>
                <a:ext uri="{FF2B5EF4-FFF2-40B4-BE49-F238E27FC236}">
                  <a16:creationId xmlns:a16="http://schemas.microsoft.com/office/drawing/2014/main" id="{AFE7355F-03CC-4D8F-91FB-8E8F13750300}"/>
                </a:ext>
              </a:extLst>
            </p:cNvPr>
            <p:cNvSpPr/>
            <p:nvPr/>
          </p:nvSpPr>
          <p:spPr>
            <a:xfrm>
              <a:off x="3022502" y="3645757"/>
              <a:ext cx="72000" cy="719347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83" name="직사각형 82">
              <a:extLst>
                <a:ext uri="{FF2B5EF4-FFF2-40B4-BE49-F238E27FC236}">
                  <a16:creationId xmlns:a16="http://schemas.microsoft.com/office/drawing/2014/main" id="{E32A63F8-E446-4585-9A76-2757D98D5BCE}"/>
                </a:ext>
              </a:extLst>
            </p:cNvPr>
            <p:cNvSpPr/>
            <p:nvPr/>
          </p:nvSpPr>
          <p:spPr>
            <a:xfrm>
              <a:off x="2748848" y="3681104"/>
              <a:ext cx="72000" cy="684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84" name="직사각형 83">
              <a:extLst>
                <a:ext uri="{FF2B5EF4-FFF2-40B4-BE49-F238E27FC236}">
                  <a16:creationId xmlns:a16="http://schemas.microsoft.com/office/drawing/2014/main" id="{CA31526F-E3AB-4B1F-9DA9-F43842C703DE}"/>
                </a:ext>
              </a:extLst>
            </p:cNvPr>
            <p:cNvSpPr/>
            <p:nvPr/>
          </p:nvSpPr>
          <p:spPr>
            <a:xfrm>
              <a:off x="2437864" y="3807104"/>
              <a:ext cx="72000" cy="558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85" name="직사각형 84">
              <a:extLst>
                <a:ext uri="{FF2B5EF4-FFF2-40B4-BE49-F238E27FC236}">
                  <a16:creationId xmlns:a16="http://schemas.microsoft.com/office/drawing/2014/main" id="{3036BC7F-2465-4092-98F1-606433BC8C8D}"/>
                </a:ext>
              </a:extLst>
            </p:cNvPr>
            <p:cNvSpPr/>
            <p:nvPr/>
          </p:nvSpPr>
          <p:spPr>
            <a:xfrm>
              <a:off x="2158219" y="3862585"/>
              <a:ext cx="72001" cy="502519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grpSp>
        <p:nvGrpSpPr>
          <p:cNvPr id="70" name="그룹 69">
            <a:extLst>
              <a:ext uri="{FF2B5EF4-FFF2-40B4-BE49-F238E27FC236}">
                <a16:creationId xmlns:a16="http://schemas.microsoft.com/office/drawing/2014/main" id="{EED814EB-9682-48A6-B5B8-27B44031F291}"/>
              </a:ext>
            </a:extLst>
          </p:cNvPr>
          <p:cNvGrpSpPr/>
          <p:nvPr/>
        </p:nvGrpSpPr>
        <p:grpSpPr>
          <a:xfrm>
            <a:off x="3102281" y="3231738"/>
            <a:ext cx="2952328" cy="664734"/>
            <a:chOff x="1883023" y="2121903"/>
            <a:chExt cx="5781364" cy="1532485"/>
          </a:xfrm>
        </p:grpSpPr>
        <p:sp>
          <p:nvSpPr>
            <p:cNvPr id="75" name="자유형 81">
              <a:extLst>
                <a:ext uri="{FF2B5EF4-FFF2-40B4-BE49-F238E27FC236}">
                  <a16:creationId xmlns:a16="http://schemas.microsoft.com/office/drawing/2014/main" id="{2B2B1DB0-30A2-4E0E-9C0D-135686916A84}"/>
                </a:ext>
              </a:extLst>
            </p:cNvPr>
            <p:cNvSpPr/>
            <p:nvPr/>
          </p:nvSpPr>
          <p:spPr>
            <a:xfrm>
              <a:off x="1883023" y="2127634"/>
              <a:ext cx="2977010" cy="1526754"/>
            </a:xfrm>
            <a:custGeom>
              <a:avLst/>
              <a:gdLst>
                <a:gd name="connsiteX0" fmla="*/ 0 w 4368800"/>
                <a:gd name="connsiteY0" fmla="*/ 389467 h 414867"/>
                <a:gd name="connsiteX1" fmla="*/ 270933 w 4368800"/>
                <a:gd name="connsiteY1" fmla="*/ 321733 h 414867"/>
                <a:gd name="connsiteX2" fmla="*/ 575733 w 4368800"/>
                <a:gd name="connsiteY2" fmla="*/ 414867 h 414867"/>
                <a:gd name="connsiteX3" fmla="*/ 880533 w 4368800"/>
                <a:gd name="connsiteY3" fmla="*/ 355600 h 414867"/>
                <a:gd name="connsiteX4" fmla="*/ 1134533 w 4368800"/>
                <a:gd name="connsiteY4" fmla="*/ 203200 h 414867"/>
                <a:gd name="connsiteX5" fmla="*/ 1456266 w 4368800"/>
                <a:gd name="connsiteY5" fmla="*/ 313267 h 414867"/>
                <a:gd name="connsiteX6" fmla="*/ 1727200 w 4368800"/>
                <a:gd name="connsiteY6" fmla="*/ 254000 h 414867"/>
                <a:gd name="connsiteX7" fmla="*/ 1998133 w 4368800"/>
                <a:gd name="connsiteY7" fmla="*/ 135467 h 414867"/>
                <a:gd name="connsiteX8" fmla="*/ 2353733 w 4368800"/>
                <a:gd name="connsiteY8" fmla="*/ 287867 h 414867"/>
                <a:gd name="connsiteX9" fmla="*/ 2607733 w 4368800"/>
                <a:gd name="connsiteY9" fmla="*/ 169333 h 414867"/>
                <a:gd name="connsiteX10" fmla="*/ 2946400 w 4368800"/>
                <a:gd name="connsiteY10" fmla="*/ 211667 h 414867"/>
                <a:gd name="connsiteX11" fmla="*/ 3234266 w 4368800"/>
                <a:gd name="connsiteY11" fmla="*/ 203200 h 414867"/>
                <a:gd name="connsiteX12" fmla="*/ 3505200 w 4368800"/>
                <a:gd name="connsiteY12" fmla="*/ 0 h 414867"/>
                <a:gd name="connsiteX13" fmla="*/ 3810000 w 4368800"/>
                <a:gd name="connsiteY13" fmla="*/ 135467 h 414867"/>
                <a:gd name="connsiteX14" fmla="*/ 4097866 w 4368800"/>
                <a:gd name="connsiteY14" fmla="*/ 42333 h 414867"/>
                <a:gd name="connsiteX15" fmla="*/ 4368800 w 4368800"/>
                <a:gd name="connsiteY15" fmla="*/ 118533 h 414867"/>
                <a:gd name="connsiteX0" fmla="*/ 0 w 4368800"/>
                <a:gd name="connsiteY0" fmla="*/ 524934 h 524934"/>
                <a:gd name="connsiteX1" fmla="*/ 270933 w 4368800"/>
                <a:gd name="connsiteY1" fmla="*/ 321733 h 524934"/>
                <a:gd name="connsiteX2" fmla="*/ 575733 w 4368800"/>
                <a:gd name="connsiteY2" fmla="*/ 414867 h 524934"/>
                <a:gd name="connsiteX3" fmla="*/ 880533 w 4368800"/>
                <a:gd name="connsiteY3" fmla="*/ 355600 h 524934"/>
                <a:gd name="connsiteX4" fmla="*/ 1134533 w 4368800"/>
                <a:gd name="connsiteY4" fmla="*/ 203200 h 524934"/>
                <a:gd name="connsiteX5" fmla="*/ 1456266 w 4368800"/>
                <a:gd name="connsiteY5" fmla="*/ 313267 h 524934"/>
                <a:gd name="connsiteX6" fmla="*/ 1727200 w 4368800"/>
                <a:gd name="connsiteY6" fmla="*/ 254000 h 524934"/>
                <a:gd name="connsiteX7" fmla="*/ 1998133 w 4368800"/>
                <a:gd name="connsiteY7" fmla="*/ 135467 h 524934"/>
                <a:gd name="connsiteX8" fmla="*/ 2353733 w 4368800"/>
                <a:gd name="connsiteY8" fmla="*/ 287867 h 524934"/>
                <a:gd name="connsiteX9" fmla="*/ 2607733 w 4368800"/>
                <a:gd name="connsiteY9" fmla="*/ 169333 h 524934"/>
                <a:gd name="connsiteX10" fmla="*/ 2946400 w 4368800"/>
                <a:gd name="connsiteY10" fmla="*/ 211667 h 524934"/>
                <a:gd name="connsiteX11" fmla="*/ 3234266 w 4368800"/>
                <a:gd name="connsiteY11" fmla="*/ 203200 h 524934"/>
                <a:gd name="connsiteX12" fmla="*/ 3505200 w 4368800"/>
                <a:gd name="connsiteY12" fmla="*/ 0 h 524934"/>
                <a:gd name="connsiteX13" fmla="*/ 3810000 w 4368800"/>
                <a:gd name="connsiteY13" fmla="*/ 135467 h 524934"/>
                <a:gd name="connsiteX14" fmla="*/ 4097866 w 4368800"/>
                <a:gd name="connsiteY14" fmla="*/ 42333 h 524934"/>
                <a:gd name="connsiteX15" fmla="*/ 4368800 w 4368800"/>
                <a:gd name="connsiteY15" fmla="*/ 118533 h 524934"/>
                <a:gd name="connsiteX0" fmla="*/ 0 w 4368800"/>
                <a:gd name="connsiteY0" fmla="*/ 541867 h 541867"/>
                <a:gd name="connsiteX1" fmla="*/ 270933 w 4368800"/>
                <a:gd name="connsiteY1" fmla="*/ 338666 h 541867"/>
                <a:gd name="connsiteX2" fmla="*/ 575733 w 4368800"/>
                <a:gd name="connsiteY2" fmla="*/ 431800 h 541867"/>
                <a:gd name="connsiteX3" fmla="*/ 880533 w 4368800"/>
                <a:gd name="connsiteY3" fmla="*/ 372533 h 541867"/>
                <a:gd name="connsiteX4" fmla="*/ 1134533 w 4368800"/>
                <a:gd name="connsiteY4" fmla="*/ 220133 h 541867"/>
                <a:gd name="connsiteX5" fmla="*/ 1456266 w 4368800"/>
                <a:gd name="connsiteY5" fmla="*/ 330200 h 541867"/>
                <a:gd name="connsiteX6" fmla="*/ 1727200 w 4368800"/>
                <a:gd name="connsiteY6" fmla="*/ 270933 h 541867"/>
                <a:gd name="connsiteX7" fmla="*/ 2048933 w 4368800"/>
                <a:gd name="connsiteY7" fmla="*/ 0 h 541867"/>
                <a:gd name="connsiteX8" fmla="*/ 2353733 w 4368800"/>
                <a:gd name="connsiteY8" fmla="*/ 304800 h 541867"/>
                <a:gd name="connsiteX9" fmla="*/ 2607733 w 4368800"/>
                <a:gd name="connsiteY9" fmla="*/ 186266 h 541867"/>
                <a:gd name="connsiteX10" fmla="*/ 2946400 w 4368800"/>
                <a:gd name="connsiteY10" fmla="*/ 228600 h 541867"/>
                <a:gd name="connsiteX11" fmla="*/ 3234266 w 4368800"/>
                <a:gd name="connsiteY11" fmla="*/ 220133 h 541867"/>
                <a:gd name="connsiteX12" fmla="*/ 3505200 w 4368800"/>
                <a:gd name="connsiteY12" fmla="*/ 16933 h 541867"/>
                <a:gd name="connsiteX13" fmla="*/ 3810000 w 4368800"/>
                <a:gd name="connsiteY13" fmla="*/ 152400 h 541867"/>
                <a:gd name="connsiteX14" fmla="*/ 4097866 w 4368800"/>
                <a:gd name="connsiteY14" fmla="*/ 59266 h 541867"/>
                <a:gd name="connsiteX15" fmla="*/ 4368800 w 4368800"/>
                <a:gd name="connsiteY15" fmla="*/ 135466 h 541867"/>
                <a:gd name="connsiteX0" fmla="*/ 0 w 4368800"/>
                <a:gd name="connsiteY0" fmla="*/ 541867 h 541867"/>
                <a:gd name="connsiteX1" fmla="*/ 270933 w 4368800"/>
                <a:gd name="connsiteY1" fmla="*/ 338666 h 541867"/>
                <a:gd name="connsiteX2" fmla="*/ 575733 w 4368800"/>
                <a:gd name="connsiteY2" fmla="*/ 431800 h 541867"/>
                <a:gd name="connsiteX3" fmla="*/ 880533 w 4368800"/>
                <a:gd name="connsiteY3" fmla="*/ 372533 h 541867"/>
                <a:gd name="connsiteX4" fmla="*/ 1134533 w 4368800"/>
                <a:gd name="connsiteY4" fmla="*/ 220133 h 541867"/>
                <a:gd name="connsiteX5" fmla="*/ 1456266 w 4368800"/>
                <a:gd name="connsiteY5" fmla="*/ 330200 h 541867"/>
                <a:gd name="connsiteX6" fmla="*/ 1727200 w 4368800"/>
                <a:gd name="connsiteY6" fmla="*/ 270933 h 541867"/>
                <a:gd name="connsiteX7" fmla="*/ 2048933 w 4368800"/>
                <a:gd name="connsiteY7" fmla="*/ 0 h 541867"/>
                <a:gd name="connsiteX8" fmla="*/ 2353733 w 4368800"/>
                <a:gd name="connsiteY8" fmla="*/ 304800 h 541867"/>
                <a:gd name="connsiteX9" fmla="*/ 2607733 w 4368800"/>
                <a:gd name="connsiteY9" fmla="*/ 186266 h 541867"/>
                <a:gd name="connsiteX10" fmla="*/ 2963334 w 4368800"/>
                <a:gd name="connsiteY10" fmla="*/ 152400 h 541867"/>
                <a:gd name="connsiteX11" fmla="*/ 3234266 w 4368800"/>
                <a:gd name="connsiteY11" fmla="*/ 220133 h 541867"/>
                <a:gd name="connsiteX12" fmla="*/ 3505200 w 4368800"/>
                <a:gd name="connsiteY12" fmla="*/ 16933 h 541867"/>
                <a:gd name="connsiteX13" fmla="*/ 3810000 w 4368800"/>
                <a:gd name="connsiteY13" fmla="*/ 152400 h 541867"/>
                <a:gd name="connsiteX14" fmla="*/ 4097866 w 4368800"/>
                <a:gd name="connsiteY14" fmla="*/ 59266 h 541867"/>
                <a:gd name="connsiteX15" fmla="*/ 4368800 w 4368800"/>
                <a:gd name="connsiteY15" fmla="*/ 135466 h 541867"/>
                <a:gd name="connsiteX0" fmla="*/ 0 w 4368800"/>
                <a:gd name="connsiteY0" fmla="*/ 575734 h 575734"/>
                <a:gd name="connsiteX1" fmla="*/ 270933 w 4368800"/>
                <a:gd name="connsiteY1" fmla="*/ 372533 h 575734"/>
                <a:gd name="connsiteX2" fmla="*/ 575733 w 4368800"/>
                <a:gd name="connsiteY2" fmla="*/ 465667 h 575734"/>
                <a:gd name="connsiteX3" fmla="*/ 880533 w 4368800"/>
                <a:gd name="connsiteY3" fmla="*/ 406400 h 575734"/>
                <a:gd name="connsiteX4" fmla="*/ 1134533 w 4368800"/>
                <a:gd name="connsiteY4" fmla="*/ 254000 h 575734"/>
                <a:gd name="connsiteX5" fmla="*/ 1456266 w 4368800"/>
                <a:gd name="connsiteY5" fmla="*/ 364067 h 575734"/>
                <a:gd name="connsiteX6" fmla="*/ 1727200 w 4368800"/>
                <a:gd name="connsiteY6" fmla="*/ 304800 h 575734"/>
                <a:gd name="connsiteX7" fmla="*/ 2048933 w 4368800"/>
                <a:gd name="connsiteY7" fmla="*/ 33867 h 575734"/>
                <a:gd name="connsiteX8" fmla="*/ 2353733 w 4368800"/>
                <a:gd name="connsiteY8" fmla="*/ 338667 h 575734"/>
                <a:gd name="connsiteX9" fmla="*/ 2607733 w 4368800"/>
                <a:gd name="connsiteY9" fmla="*/ 220133 h 575734"/>
                <a:gd name="connsiteX10" fmla="*/ 2963334 w 4368800"/>
                <a:gd name="connsiteY10" fmla="*/ 186267 h 575734"/>
                <a:gd name="connsiteX11" fmla="*/ 3234266 w 4368800"/>
                <a:gd name="connsiteY11" fmla="*/ 254000 h 575734"/>
                <a:gd name="connsiteX12" fmla="*/ 3505200 w 4368800"/>
                <a:gd name="connsiteY12" fmla="*/ 0 h 575734"/>
                <a:gd name="connsiteX13" fmla="*/ 3810000 w 4368800"/>
                <a:gd name="connsiteY13" fmla="*/ 186267 h 575734"/>
                <a:gd name="connsiteX14" fmla="*/ 4097866 w 4368800"/>
                <a:gd name="connsiteY14" fmla="*/ 93133 h 575734"/>
                <a:gd name="connsiteX15" fmla="*/ 4368800 w 4368800"/>
                <a:gd name="connsiteY15" fmla="*/ 169333 h 575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368800" h="575734">
                  <a:moveTo>
                    <a:pt x="0" y="575734"/>
                  </a:moveTo>
                  <a:lnTo>
                    <a:pt x="270933" y="372533"/>
                  </a:lnTo>
                  <a:lnTo>
                    <a:pt x="575733" y="465667"/>
                  </a:lnTo>
                  <a:lnTo>
                    <a:pt x="880533" y="406400"/>
                  </a:lnTo>
                  <a:lnTo>
                    <a:pt x="1134533" y="254000"/>
                  </a:lnTo>
                  <a:lnTo>
                    <a:pt x="1456266" y="364067"/>
                  </a:lnTo>
                  <a:lnTo>
                    <a:pt x="1727200" y="304800"/>
                  </a:lnTo>
                  <a:lnTo>
                    <a:pt x="2048933" y="33867"/>
                  </a:lnTo>
                  <a:lnTo>
                    <a:pt x="2353733" y="338667"/>
                  </a:lnTo>
                  <a:cubicBezTo>
                    <a:pt x="2438400" y="299156"/>
                    <a:pt x="2506133" y="245533"/>
                    <a:pt x="2607733" y="220133"/>
                  </a:cubicBezTo>
                  <a:cubicBezTo>
                    <a:pt x="2709333" y="194733"/>
                    <a:pt x="2844800" y="197556"/>
                    <a:pt x="2963334" y="186267"/>
                  </a:cubicBezTo>
                  <a:lnTo>
                    <a:pt x="3234266" y="254000"/>
                  </a:lnTo>
                  <a:lnTo>
                    <a:pt x="3505200" y="0"/>
                  </a:lnTo>
                  <a:lnTo>
                    <a:pt x="3810000" y="186267"/>
                  </a:lnTo>
                  <a:lnTo>
                    <a:pt x="4097866" y="93133"/>
                  </a:lnTo>
                  <a:lnTo>
                    <a:pt x="4368800" y="169333"/>
                  </a:lnTo>
                </a:path>
              </a:pathLst>
            </a:custGeom>
            <a:ln>
              <a:solidFill>
                <a:schemeClr val="accent3">
                  <a:lumMod val="75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76" name="자유형 88">
              <a:extLst>
                <a:ext uri="{FF2B5EF4-FFF2-40B4-BE49-F238E27FC236}">
                  <a16:creationId xmlns:a16="http://schemas.microsoft.com/office/drawing/2014/main" id="{608B70AD-1EA4-4F79-A7B4-CCFE66CE231A}"/>
                </a:ext>
              </a:extLst>
            </p:cNvPr>
            <p:cNvSpPr/>
            <p:nvPr/>
          </p:nvSpPr>
          <p:spPr>
            <a:xfrm flipH="1">
              <a:off x="4815076" y="2121903"/>
              <a:ext cx="2849311" cy="1526755"/>
            </a:xfrm>
            <a:custGeom>
              <a:avLst/>
              <a:gdLst>
                <a:gd name="connsiteX0" fmla="*/ 0 w 4368800"/>
                <a:gd name="connsiteY0" fmla="*/ 389467 h 414867"/>
                <a:gd name="connsiteX1" fmla="*/ 270933 w 4368800"/>
                <a:gd name="connsiteY1" fmla="*/ 321733 h 414867"/>
                <a:gd name="connsiteX2" fmla="*/ 575733 w 4368800"/>
                <a:gd name="connsiteY2" fmla="*/ 414867 h 414867"/>
                <a:gd name="connsiteX3" fmla="*/ 880533 w 4368800"/>
                <a:gd name="connsiteY3" fmla="*/ 355600 h 414867"/>
                <a:gd name="connsiteX4" fmla="*/ 1134533 w 4368800"/>
                <a:gd name="connsiteY4" fmla="*/ 203200 h 414867"/>
                <a:gd name="connsiteX5" fmla="*/ 1456266 w 4368800"/>
                <a:gd name="connsiteY5" fmla="*/ 313267 h 414867"/>
                <a:gd name="connsiteX6" fmla="*/ 1727200 w 4368800"/>
                <a:gd name="connsiteY6" fmla="*/ 254000 h 414867"/>
                <a:gd name="connsiteX7" fmla="*/ 1998133 w 4368800"/>
                <a:gd name="connsiteY7" fmla="*/ 135467 h 414867"/>
                <a:gd name="connsiteX8" fmla="*/ 2353733 w 4368800"/>
                <a:gd name="connsiteY8" fmla="*/ 287867 h 414867"/>
                <a:gd name="connsiteX9" fmla="*/ 2607733 w 4368800"/>
                <a:gd name="connsiteY9" fmla="*/ 169333 h 414867"/>
                <a:gd name="connsiteX10" fmla="*/ 2946400 w 4368800"/>
                <a:gd name="connsiteY10" fmla="*/ 211667 h 414867"/>
                <a:gd name="connsiteX11" fmla="*/ 3234266 w 4368800"/>
                <a:gd name="connsiteY11" fmla="*/ 203200 h 414867"/>
                <a:gd name="connsiteX12" fmla="*/ 3505200 w 4368800"/>
                <a:gd name="connsiteY12" fmla="*/ 0 h 414867"/>
                <a:gd name="connsiteX13" fmla="*/ 3810000 w 4368800"/>
                <a:gd name="connsiteY13" fmla="*/ 135467 h 414867"/>
                <a:gd name="connsiteX14" fmla="*/ 4097866 w 4368800"/>
                <a:gd name="connsiteY14" fmla="*/ 42333 h 414867"/>
                <a:gd name="connsiteX15" fmla="*/ 4368800 w 4368800"/>
                <a:gd name="connsiteY15" fmla="*/ 118533 h 414867"/>
                <a:gd name="connsiteX0" fmla="*/ 0 w 4368800"/>
                <a:gd name="connsiteY0" fmla="*/ 524934 h 524934"/>
                <a:gd name="connsiteX1" fmla="*/ 270933 w 4368800"/>
                <a:gd name="connsiteY1" fmla="*/ 321733 h 524934"/>
                <a:gd name="connsiteX2" fmla="*/ 575733 w 4368800"/>
                <a:gd name="connsiteY2" fmla="*/ 414867 h 524934"/>
                <a:gd name="connsiteX3" fmla="*/ 880533 w 4368800"/>
                <a:gd name="connsiteY3" fmla="*/ 355600 h 524934"/>
                <a:gd name="connsiteX4" fmla="*/ 1134533 w 4368800"/>
                <a:gd name="connsiteY4" fmla="*/ 203200 h 524934"/>
                <a:gd name="connsiteX5" fmla="*/ 1456266 w 4368800"/>
                <a:gd name="connsiteY5" fmla="*/ 313267 h 524934"/>
                <a:gd name="connsiteX6" fmla="*/ 1727200 w 4368800"/>
                <a:gd name="connsiteY6" fmla="*/ 254000 h 524934"/>
                <a:gd name="connsiteX7" fmla="*/ 1998133 w 4368800"/>
                <a:gd name="connsiteY7" fmla="*/ 135467 h 524934"/>
                <a:gd name="connsiteX8" fmla="*/ 2353733 w 4368800"/>
                <a:gd name="connsiteY8" fmla="*/ 287867 h 524934"/>
                <a:gd name="connsiteX9" fmla="*/ 2607733 w 4368800"/>
                <a:gd name="connsiteY9" fmla="*/ 169333 h 524934"/>
                <a:gd name="connsiteX10" fmla="*/ 2946400 w 4368800"/>
                <a:gd name="connsiteY10" fmla="*/ 211667 h 524934"/>
                <a:gd name="connsiteX11" fmla="*/ 3234266 w 4368800"/>
                <a:gd name="connsiteY11" fmla="*/ 203200 h 524934"/>
                <a:gd name="connsiteX12" fmla="*/ 3505200 w 4368800"/>
                <a:gd name="connsiteY12" fmla="*/ 0 h 524934"/>
                <a:gd name="connsiteX13" fmla="*/ 3810000 w 4368800"/>
                <a:gd name="connsiteY13" fmla="*/ 135467 h 524934"/>
                <a:gd name="connsiteX14" fmla="*/ 4097866 w 4368800"/>
                <a:gd name="connsiteY14" fmla="*/ 42333 h 524934"/>
                <a:gd name="connsiteX15" fmla="*/ 4368800 w 4368800"/>
                <a:gd name="connsiteY15" fmla="*/ 118533 h 524934"/>
                <a:gd name="connsiteX0" fmla="*/ 0 w 4368800"/>
                <a:gd name="connsiteY0" fmla="*/ 541867 h 541867"/>
                <a:gd name="connsiteX1" fmla="*/ 270933 w 4368800"/>
                <a:gd name="connsiteY1" fmla="*/ 338666 h 541867"/>
                <a:gd name="connsiteX2" fmla="*/ 575733 w 4368800"/>
                <a:gd name="connsiteY2" fmla="*/ 431800 h 541867"/>
                <a:gd name="connsiteX3" fmla="*/ 880533 w 4368800"/>
                <a:gd name="connsiteY3" fmla="*/ 372533 h 541867"/>
                <a:gd name="connsiteX4" fmla="*/ 1134533 w 4368800"/>
                <a:gd name="connsiteY4" fmla="*/ 220133 h 541867"/>
                <a:gd name="connsiteX5" fmla="*/ 1456266 w 4368800"/>
                <a:gd name="connsiteY5" fmla="*/ 330200 h 541867"/>
                <a:gd name="connsiteX6" fmla="*/ 1727200 w 4368800"/>
                <a:gd name="connsiteY6" fmla="*/ 270933 h 541867"/>
                <a:gd name="connsiteX7" fmla="*/ 2048933 w 4368800"/>
                <a:gd name="connsiteY7" fmla="*/ 0 h 541867"/>
                <a:gd name="connsiteX8" fmla="*/ 2353733 w 4368800"/>
                <a:gd name="connsiteY8" fmla="*/ 304800 h 541867"/>
                <a:gd name="connsiteX9" fmla="*/ 2607733 w 4368800"/>
                <a:gd name="connsiteY9" fmla="*/ 186266 h 541867"/>
                <a:gd name="connsiteX10" fmla="*/ 2946400 w 4368800"/>
                <a:gd name="connsiteY10" fmla="*/ 228600 h 541867"/>
                <a:gd name="connsiteX11" fmla="*/ 3234266 w 4368800"/>
                <a:gd name="connsiteY11" fmla="*/ 220133 h 541867"/>
                <a:gd name="connsiteX12" fmla="*/ 3505200 w 4368800"/>
                <a:gd name="connsiteY12" fmla="*/ 16933 h 541867"/>
                <a:gd name="connsiteX13" fmla="*/ 3810000 w 4368800"/>
                <a:gd name="connsiteY13" fmla="*/ 152400 h 541867"/>
                <a:gd name="connsiteX14" fmla="*/ 4097866 w 4368800"/>
                <a:gd name="connsiteY14" fmla="*/ 59266 h 541867"/>
                <a:gd name="connsiteX15" fmla="*/ 4368800 w 4368800"/>
                <a:gd name="connsiteY15" fmla="*/ 135466 h 541867"/>
                <a:gd name="connsiteX0" fmla="*/ 0 w 4368800"/>
                <a:gd name="connsiteY0" fmla="*/ 541867 h 541867"/>
                <a:gd name="connsiteX1" fmla="*/ 270933 w 4368800"/>
                <a:gd name="connsiteY1" fmla="*/ 338666 h 541867"/>
                <a:gd name="connsiteX2" fmla="*/ 575733 w 4368800"/>
                <a:gd name="connsiteY2" fmla="*/ 431800 h 541867"/>
                <a:gd name="connsiteX3" fmla="*/ 880533 w 4368800"/>
                <a:gd name="connsiteY3" fmla="*/ 372533 h 541867"/>
                <a:gd name="connsiteX4" fmla="*/ 1134533 w 4368800"/>
                <a:gd name="connsiteY4" fmla="*/ 220133 h 541867"/>
                <a:gd name="connsiteX5" fmla="*/ 1456266 w 4368800"/>
                <a:gd name="connsiteY5" fmla="*/ 330200 h 541867"/>
                <a:gd name="connsiteX6" fmla="*/ 1727200 w 4368800"/>
                <a:gd name="connsiteY6" fmla="*/ 270933 h 541867"/>
                <a:gd name="connsiteX7" fmla="*/ 2048933 w 4368800"/>
                <a:gd name="connsiteY7" fmla="*/ 0 h 541867"/>
                <a:gd name="connsiteX8" fmla="*/ 2353733 w 4368800"/>
                <a:gd name="connsiteY8" fmla="*/ 304800 h 541867"/>
                <a:gd name="connsiteX9" fmla="*/ 2607733 w 4368800"/>
                <a:gd name="connsiteY9" fmla="*/ 186266 h 541867"/>
                <a:gd name="connsiteX10" fmla="*/ 2963334 w 4368800"/>
                <a:gd name="connsiteY10" fmla="*/ 152400 h 541867"/>
                <a:gd name="connsiteX11" fmla="*/ 3234266 w 4368800"/>
                <a:gd name="connsiteY11" fmla="*/ 220133 h 541867"/>
                <a:gd name="connsiteX12" fmla="*/ 3505200 w 4368800"/>
                <a:gd name="connsiteY12" fmla="*/ 16933 h 541867"/>
                <a:gd name="connsiteX13" fmla="*/ 3810000 w 4368800"/>
                <a:gd name="connsiteY13" fmla="*/ 152400 h 541867"/>
                <a:gd name="connsiteX14" fmla="*/ 4097866 w 4368800"/>
                <a:gd name="connsiteY14" fmla="*/ 59266 h 541867"/>
                <a:gd name="connsiteX15" fmla="*/ 4368800 w 4368800"/>
                <a:gd name="connsiteY15" fmla="*/ 135466 h 541867"/>
                <a:gd name="connsiteX0" fmla="*/ 0 w 4368800"/>
                <a:gd name="connsiteY0" fmla="*/ 575734 h 575734"/>
                <a:gd name="connsiteX1" fmla="*/ 270933 w 4368800"/>
                <a:gd name="connsiteY1" fmla="*/ 372533 h 575734"/>
                <a:gd name="connsiteX2" fmla="*/ 575733 w 4368800"/>
                <a:gd name="connsiteY2" fmla="*/ 465667 h 575734"/>
                <a:gd name="connsiteX3" fmla="*/ 880533 w 4368800"/>
                <a:gd name="connsiteY3" fmla="*/ 406400 h 575734"/>
                <a:gd name="connsiteX4" fmla="*/ 1134533 w 4368800"/>
                <a:gd name="connsiteY4" fmla="*/ 254000 h 575734"/>
                <a:gd name="connsiteX5" fmla="*/ 1456266 w 4368800"/>
                <a:gd name="connsiteY5" fmla="*/ 364067 h 575734"/>
                <a:gd name="connsiteX6" fmla="*/ 1727200 w 4368800"/>
                <a:gd name="connsiteY6" fmla="*/ 304800 h 575734"/>
                <a:gd name="connsiteX7" fmla="*/ 2048933 w 4368800"/>
                <a:gd name="connsiteY7" fmla="*/ 33867 h 575734"/>
                <a:gd name="connsiteX8" fmla="*/ 2353733 w 4368800"/>
                <a:gd name="connsiteY8" fmla="*/ 338667 h 575734"/>
                <a:gd name="connsiteX9" fmla="*/ 2607733 w 4368800"/>
                <a:gd name="connsiteY9" fmla="*/ 220133 h 575734"/>
                <a:gd name="connsiteX10" fmla="*/ 2963334 w 4368800"/>
                <a:gd name="connsiteY10" fmla="*/ 186267 h 575734"/>
                <a:gd name="connsiteX11" fmla="*/ 3234266 w 4368800"/>
                <a:gd name="connsiteY11" fmla="*/ 254000 h 575734"/>
                <a:gd name="connsiteX12" fmla="*/ 3505200 w 4368800"/>
                <a:gd name="connsiteY12" fmla="*/ 0 h 575734"/>
                <a:gd name="connsiteX13" fmla="*/ 3810000 w 4368800"/>
                <a:gd name="connsiteY13" fmla="*/ 186267 h 575734"/>
                <a:gd name="connsiteX14" fmla="*/ 4097866 w 4368800"/>
                <a:gd name="connsiteY14" fmla="*/ 93133 h 575734"/>
                <a:gd name="connsiteX15" fmla="*/ 4368800 w 4368800"/>
                <a:gd name="connsiteY15" fmla="*/ 169333 h 575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368800" h="575734">
                  <a:moveTo>
                    <a:pt x="0" y="575734"/>
                  </a:moveTo>
                  <a:lnTo>
                    <a:pt x="270933" y="372533"/>
                  </a:lnTo>
                  <a:lnTo>
                    <a:pt x="575733" y="465667"/>
                  </a:lnTo>
                  <a:lnTo>
                    <a:pt x="880533" y="406400"/>
                  </a:lnTo>
                  <a:lnTo>
                    <a:pt x="1134533" y="254000"/>
                  </a:lnTo>
                  <a:lnTo>
                    <a:pt x="1456266" y="364067"/>
                  </a:lnTo>
                  <a:lnTo>
                    <a:pt x="1727200" y="304800"/>
                  </a:lnTo>
                  <a:lnTo>
                    <a:pt x="2048933" y="33867"/>
                  </a:lnTo>
                  <a:lnTo>
                    <a:pt x="2353733" y="338667"/>
                  </a:lnTo>
                  <a:cubicBezTo>
                    <a:pt x="2438400" y="299156"/>
                    <a:pt x="2506133" y="245533"/>
                    <a:pt x="2607733" y="220133"/>
                  </a:cubicBezTo>
                  <a:cubicBezTo>
                    <a:pt x="2709333" y="194733"/>
                    <a:pt x="2844800" y="197556"/>
                    <a:pt x="2963334" y="186267"/>
                  </a:cubicBezTo>
                  <a:lnTo>
                    <a:pt x="3234266" y="254000"/>
                  </a:lnTo>
                  <a:lnTo>
                    <a:pt x="3505200" y="0"/>
                  </a:lnTo>
                  <a:lnTo>
                    <a:pt x="3810000" y="186267"/>
                  </a:lnTo>
                  <a:lnTo>
                    <a:pt x="4097866" y="93133"/>
                  </a:lnTo>
                  <a:lnTo>
                    <a:pt x="4368800" y="169333"/>
                  </a:lnTo>
                </a:path>
              </a:pathLst>
            </a:custGeom>
            <a:ln>
              <a:solidFill>
                <a:schemeClr val="accent3">
                  <a:lumMod val="75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grpSp>
        <p:nvGrpSpPr>
          <p:cNvPr id="88" name="그룹 87">
            <a:extLst>
              <a:ext uri="{FF2B5EF4-FFF2-40B4-BE49-F238E27FC236}">
                <a16:creationId xmlns:a16="http://schemas.microsoft.com/office/drawing/2014/main" id="{A7FCB985-737A-44C8-A992-81A99CEDD720}"/>
              </a:ext>
            </a:extLst>
          </p:cNvPr>
          <p:cNvGrpSpPr/>
          <p:nvPr/>
        </p:nvGrpSpPr>
        <p:grpSpPr>
          <a:xfrm>
            <a:off x="210356" y="1203435"/>
            <a:ext cx="8024876" cy="260092"/>
            <a:chOff x="184526" y="1505937"/>
            <a:chExt cx="8024876" cy="260092"/>
          </a:xfrm>
        </p:grpSpPr>
        <p:sp>
          <p:nvSpPr>
            <p:cNvPr id="89" name="직사각형 88">
              <a:extLst>
                <a:ext uri="{FF2B5EF4-FFF2-40B4-BE49-F238E27FC236}">
                  <a16:creationId xmlns:a16="http://schemas.microsoft.com/office/drawing/2014/main" id="{6A7DB568-D7CB-4DA3-B914-3B9A87F643B6}"/>
                </a:ext>
              </a:extLst>
            </p:cNvPr>
            <p:cNvSpPr/>
            <p:nvPr/>
          </p:nvSpPr>
          <p:spPr>
            <a:xfrm>
              <a:off x="5810955" y="1550585"/>
              <a:ext cx="1820532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수익 현황</a:t>
              </a:r>
            </a:p>
          </p:txBody>
        </p:sp>
        <p:sp>
          <p:nvSpPr>
            <p:cNvPr id="90" name="직사각형 89">
              <a:extLst>
                <a:ext uri="{FF2B5EF4-FFF2-40B4-BE49-F238E27FC236}">
                  <a16:creationId xmlns:a16="http://schemas.microsoft.com/office/drawing/2014/main" id="{F03A0C3F-55B0-4FFB-A58F-D381DA53EAE5}"/>
                </a:ext>
              </a:extLst>
            </p:cNvPr>
            <p:cNvSpPr/>
            <p:nvPr/>
          </p:nvSpPr>
          <p:spPr>
            <a:xfrm>
              <a:off x="184526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에너지 모니터링</a:t>
              </a:r>
            </a:p>
          </p:txBody>
        </p:sp>
        <p:sp>
          <p:nvSpPr>
            <p:cNvPr id="91" name="직사각형 90">
              <a:extLst>
                <a:ext uri="{FF2B5EF4-FFF2-40B4-BE49-F238E27FC236}">
                  <a16:creationId xmlns:a16="http://schemas.microsoft.com/office/drawing/2014/main" id="{C909E061-56AD-43A3-B41F-22C61A695504}"/>
                </a:ext>
              </a:extLst>
            </p:cNvPr>
            <p:cNvSpPr/>
            <p:nvPr/>
          </p:nvSpPr>
          <p:spPr>
            <a:xfrm>
              <a:off x="2191085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장치 모니터링</a:t>
              </a:r>
            </a:p>
          </p:txBody>
        </p:sp>
        <p:sp>
          <p:nvSpPr>
            <p:cNvPr id="92" name="직사각형 91">
              <a:extLst>
                <a:ext uri="{FF2B5EF4-FFF2-40B4-BE49-F238E27FC236}">
                  <a16:creationId xmlns:a16="http://schemas.microsoft.com/office/drawing/2014/main" id="{850200A9-8A98-4281-B7DC-88D20DB4F2D9}"/>
                </a:ext>
              </a:extLst>
            </p:cNvPr>
            <p:cNvSpPr/>
            <p:nvPr/>
          </p:nvSpPr>
          <p:spPr>
            <a:xfrm>
              <a:off x="4197644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상황</a:t>
              </a:r>
              <a:r>
                <a:rPr lang="en-US" altLang="ko-KR" sz="700" dirty="0"/>
                <a:t> </a:t>
              </a:r>
              <a:r>
                <a:rPr lang="ko-KR" altLang="en-US" sz="700" dirty="0"/>
                <a:t>관제</a:t>
              </a:r>
            </a:p>
          </p:txBody>
        </p:sp>
        <p:sp>
          <p:nvSpPr>
            <p:cNvPr id="93" name="직사각형 92">
              <a:extLst>
                <a:ext uri="{FF2B5EF4-FFF2-40B4-BE49-F238E27FC236}">
                  <a16:creationId xmlns:a16="http://schemas.microsoft.com/office/drawing/2014/main" id="{08E75031-7EDE-4023-BA1E-4D7451A0CCAA}"/>
                </a:ext>
              </a:extLst>
            </p:cNvPr>
            <p:cNvSpPr/>
            <p:nvPr/>
          </p:nvSpPr>
          <p:spPr>
            <a:xfrm>
              <a:off x="6204202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요금</a:t>
              </a:r>
              <a:r>
                <a:rPr lang="en-US" altLang="ko-KR" sz="700" dirty="0"/>
                <a:t>/</a:t>
              </a:r>
              <a:r>
                <a:rPr lang="ko-KR" altLang="en-US" sz="700" dirty="0"/>
                <a:t>수익</a:t>
              </a:r>
            </a:p>
          </p:txBody>
        </p:sp>
      </p:grpSp>
      <p:sp>
        <p:nvSpPr>
          <p:cNvPr id="266" name="타원형 설명선 265"/>
          <p:cNvSpPr/>
          <p:nvPr/>
        </p:nvSpPr>
        <p:spPr>
          <a:xfrm>
            <a:off x="44413" y="2197156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6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4412B8D3-88CA-4E44-9270-127BEE305C4D}"/>
              </a:ext>
            </a:extLst>
          </p:cNvPr>
          <p:cNvSpPr/>
          <p:nvPr/>
        </p:nvSpPr>
        <p:spPr>
          <a:xfrm>
            <a:off x="7680269" y="1569453"/>
            <a:ext cx="473661" cy="289182"/>
          </a:xfrm>
          <a:prstGeom prst="rect">
            <a:avLst/>
          </a:prstGeom>
          <a:solidFill>
            <a:srgbClr val="0099FF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>
              <a:lnSpc>
                <a:spcPct val="150000"/>
              </a:lnSpc>
            </a:pPr>
            <a:r>
              <a:rPr lang="ko-KR" altLang="en-US" sz="105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조회</a:t>
            </a:r>
          </a:p>
        </p:txBody>
      </p:sp>
      <p:grpSp>
        <p:nvGrpSpPr>
          <p:cNvPr id="98" name="그룹 97">
            <a:extLst>
              <a:ext uri="{FF2B5EF4-FFF2-40B4-BE49-F238E27FC236}">
                <a16:creationId xmlns:a16="http://schemas.microsoft.com/office/drawing/2014/main" id="{714CADCE-8120-41F4-9BAF-9EF2BE690B95}"/>
              </a:ext>
            </a:extLst>
          </p:cNvPr>
          <p:cNvGrpSpPr/>
          <p:nvPr/>
        </p:nvGrpSpPr>
        <p:grpSpPr>
          <a:xfrm>
            <a:off x="350067" y="4297165"/>
            <a:ext cx="862386" cy="211955"/>
            <a:chOff x="4861742" y="3907374"/>
            <a:chExt cx="862386" cy="211955"/>
          </a:xfrm>
        </p:grpSpPr>
        <p:pic>
          <p:nvPicPr>
            <p:cNvPr id="99" name="Picture 6" descr="ìì ë¤ì´ë¡ëì ëí ì´ë¯¸ì§ ê²ìê²°ê³¼">
              <a:extLst>
                <a:ext uri="{FF2B5EF4-FFF2-40B4-BE49-F238E27FC236}">
                  <a16:creationId xmlns:a16="http://schemas.microsoft.com/office/drawing/2014/main" id="{DA7EC7EE-0F2A-4A11-BF55-8E3C2F60F4C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861742" y="3907374"/>
              <a:ext cx="211955" cy="21195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DFB9D3E8-02A0-42FC-8BF9-AFFEA4731C4E}"/>
                </a:ext>
              </a:extLst>
            </p:cNvPr>
            <p:cNvSpPr txBox="1"/>
            <p:nvPr/>
          </p:nvSpPr>
          <p:spPr>
            <a:xfrm>
              <a:off x="4949189" y="3921018"/>
              <a:ext cx="7749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600" b="1" dirty="0">
                  <a:solidFill>
                    <a:schemeClr val="bg1"/>
                  </a:solidFill>
                </a:rPr>
                <a:t>데이터 저장하기</a:t>
              </a:r>
            </a:p>
          </p:txBody>
        </p:sp>
      </p:grpSp>
      <p:graphicFrame>
        <p:nvGraphicFramePr>
          <p:cNvPr id="101" name="표 100">
            <a:extLst>
              <a:ext uri="{FF2B5EF4-FFF2-40B4-BE49-F238E27FC236}">
                <a16:creationId xmlns:a16="http://schemas.microsoft.com/office/drawing/2014/main" id="{0D104DEF-159A-4BB5-8D7C-8F746D63990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56626843"/>
              </p:ext>
            </p:extLst>
          </p:nvPr>
        </p:nvGraphicFramePr>
        <p:xfrm>
          <a:off x="330428" y="4546857"/>
          <a:ext cx="7848875" cy="71234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453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4710">
                  <a:extLst>
                    <a:ext uri="{9D8B030D-6E8A-4147-A177-3AD203B41FA5}">
                      <a16:colId xmlns:a16="http://schemas.microsoft.com/office/drawing/2014/main" val="3661941496"/>
                    </a:ext>
                  </a:extLst>
                </a:gridCol>
                <a:gridCol w="28471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84710">
                  <a:extLst>
                    <a:ext uri="{9D8B030D-6E8A-4147-A177-3AD203B41FA5}">
                      <a16:colId xmlns:a16="http://schemas.microsoft.com/office/drawing/2014/main" val="91379356"/>
                    </a:ext>
                  </a:extLst>
                </a:gridCol>
                <a:gridCol w="28471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84710">
                  <a:extLst>
                    <a:ext uri="{9D8B030D-6E8A-4147-A177-3AD203B41FA5}">
                      <a16:colId xmlns:a16="http://schemas.microsoft.com/office/drawing/2014/main" val="3679891012"/>
                    </a:ext>
                  </a:extLst>
                </a:gridCol>
                <a:gridCol w="28471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84710">
                  <a:extLst>
                    <a:ext uri="{9D8B030D-6E8A-4147-A177-3AD203B41FA5}">
                      <a16:colId xmlns:a16="http://schemas.microsoft.com/office/drawing/2014/main" val="2229935987"/>
                    </a:ext>
                  </a:extLst>
                </a:gridCol>
                <a:gridCol w="28471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84710">
                  <a:extLst>
                    <a:ext uri="{9D8B030D-6E8A-4147-A177-3AD203B41FA5}">
                      <a16:colId xmlns:a16="http://schemas.microsoft.com/office/drawing/2014/main" val="4026812072"/>
                    </a:ext>
                  </a:extLst>
                </a:gridCol>
                <a:gridCol w="28471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84710">
                  <a:extLst>
                    <a:ext uri="{9D8B030D-6E8A-4147-A177-3AD203B41FA5}">
                      <a16:colId xmlns:a16="http://schemas.microsoft.com/office/drawing/2014/main" val="1122824508"/>
                    </a:ext>
                  </a:extLst>
                </a:gridCol>
                <a:gridCol w="28471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284710">
                  <a:extLst>
                    <a:ext uri="{9D8B030D-6E8A-4147-A177-3AD203B41FA5}">
                      <a16:colId xmlns:a16="http://schemas.microsoft.com/office/drawing/2014/main" val="1502902784"/>
                    </a:ext>
                  </a:extLst>
                </a:gridCol>
                <a:gridCol w="28471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84710">
                  <a:extLst>
                    <a:ext uri="{9D8B030D-6E8A-4147-A177-3AD203B41FA5}">
                      <a16:colId xmlns:a16="http://schemas.microsoft.com/office/drawing/2014/main" val="354728812"/>
                    </a:ext>
                  </a:extLst>
                </a:gridCol>
                <a:gridCol w="284710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284710">
                  <a:extLst>
                    <a:ext uri="{9D8B030D-6E8A-4147-A177-3AD203B41FA5}">
                      <a16:colId xmlns:a16="http://schemas.microsoft.com/office/drawing/2014/main" val="914552893"/>
                    </a:ext>
                  </a:extLst>
                </a:gridCol>
                <a:gridCol w="284710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284710">
                  <a:extLst>
                    <a:ext uri="{9D8B030D-6E8A-4147-A177-3AD203B41FA5}">
                      <a16:colId xmlns:a16="http://schemas.microsoft.com/office/drawing/2014/main" val="2643701830"/>
                    </a:ext>
                  </a:extLst>
                </a:gridCol>
                <a:gridCol w="284710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284710">
                  <a:extLst>
                    <a:ext uri="{9D8B030D-6E8A-4147-A177-3AD203B41FA5}">
                      <a16:colId xmlns:a16="http://schemas.microsoft.com/office/drawing/2014/main" val="4156003338"/>
                    </a:ext>
                  </a:extLst>
                </a:gridCol>
                <a:gridCol w="284710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284710">
                  <a:extLst>
                    <a:ext uri="{9D8B030D-6E8A-4147-A177-3AD203B41FA5}">
                      <a16:colId xmlns:a16="http://schemas.microsoft.com/office/drawing/2014/main" val="186923855"/>
                    </a:ext>
                  </a:extLst>
                </a:gridCol>
                <a:gridCol w="284710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281302">
                  <a:extLst>
                    <a:ext uri="{9D8B030D-6E8A-4147-A177-3AD203B41FA5}">
                      <a16:colId xmlns:a16="http://schemas.microsoft.com/office/drawing/2014/main" val="328632746"/>
                    </a:ext>
                  </a:extLst>
                </a:gridCol>
              </a:tblGrid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YYYY-MM</a:t>
                      </a:r>
                      <a:endParaRPr lang="en-US" altLang="ko-KR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01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02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03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04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05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06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07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08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09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11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12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13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14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15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16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17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18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19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21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22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23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24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합계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20278599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발전량</a:t>
                      </a:r>
                      <a:endParaRPr lang="en-US" altLang="ko-KR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발전량</a:t>
                      </a: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예측</a:t>
                      </a: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온도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45176096"/>
                  </a:ext>
                </a:extLst>
              </a:tr>
            </a:tbl>
          </a:graphicData>
        </a:graphic>
      </p:graphicFrame>
      <p:sp>
        <p:nvSpPr>
          <p:cNvPr id="103" name="TextBox 102">
            <a:extLst>
              <a:ext uri="{FF2B5EF4-FFF2-40B4-BE49-F238E27FC236}">
                <a16:creationId xmlns:a16="http://schemas.microsoft.com/office/drawing/2014/main" id="{82631660-4C5F-4B68-A886-6D82EBC88BEE}"/>
              </a:ext>
            </a:extLst>
          </p:cNvPr>
          <p:cNvSpPr txBox="1"/>
          <p:nvPr/>
        </p:nvSpPr>
        <p:spPr>
          <a:xfrm>
            <a:off x="7195743" y="4263266"/>
            <a:ext cx="972108" cy="215444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square" rtlCol="0" anchor="ctr">
            <a:spAutoFit/>
          </a:bodyPr>
          <a:lstStyle/>
          <a:p>
            <a:pPr algn="ctr"/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표 접기</a:t>
            </a:r>
          </a:p>
        </p:txBody>
      </p:sp>
      <p:sp>
        <p:nvSpPr>
          <p:cNvPr id="206" name="타원형 설명선 205"/>
          <p:cNvSpPr/>
          <p:nvPr/>
        </p:nvSpPr>
        <p:spPr>
          <a:xfrm>
            <a:off x="6905707" y="4149080"/>
            <a:ext cx="216000" cy="216000"/>
          </a:xfrm>
          <a:prstGeom prst="wedgeEllipseCallout">
            <a:avLst>
              <a:gd name="adj1" fmla="val 74230"/>
              <a:gd name="adj2" fmla="val 21822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/>
              <a:t>8</a:t>
            </a:r>
            <a:endParaRPr lang="ko-KR" altLang="en-US" sz="900" b="1" dirty="0"/>
          </a:p>
        </p:txBody>
      </p:sp>
      <p:sp>
        <p:nvSpPr>
          <p:cNvPr id="226" name="타원형 설명선 225"/>
          <p:cNvSpPr/>
          <p:nvPr/>
        </p:nvSpPr>
        <p:spPr>
          <a:xfrm>
            <a:off x="200042" y="4089950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9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8" name="타원형 설명선 247"/>
          <p:cNvSpPr/>
          <p:nvPr/>
        </p:nvSpPr>
        <p:spPr>
          <a:xfrm>
            <a:off x="44413" y="4437112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7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59" name="표 58">
            <a:extLst>
              <a:ext uri="{FF2B5EF4-FFF2-40B4-BE49-F238E27FC236}">
                <a16:creationId xmlns:a16="http://schemas.microsoft.com/office/drawing/2014/main" id="{E910ECA4-4BE3-43E7-BD2E-D0E38370225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06147374"/>
              </p:ext>
            </p:extLst>
          </p:nvPr>
        </p:nvGraphicFramePr>
        <p:xfrm>
          <a:off x="762472" y="5510399"/>
          <a:ext cx="3028700" cy="193099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60344">
                  <a:extLst>
                    <a:ext uri="{9D8B030D-6E8A-4147-A177-3AD203B41FA5}">
                      <a16:colId xmlns:a16="http://schemas.microsoft.com/office/drawing/2014/main" val="621667645"/>
                    </a:ext>
                  </a:extLst>
                </a:gridCol>
                <a:gridCol w="747271">
                  <a:extLst>
                    <a:ext uri="{9D8B030D-6E8A-4147-A177-3AD203B41FA5}">
                      <a16:colId xmlns:a16="http://schemas.microsoft.com/office/drawing/2014/main" val="8834736"/>
                    </a:ext>
                  </a:extLst>
                </a:gridCol>
                <a:gridCol w="260155">
                  <a:extLst>
                    <a:ext uri="{9D8B030D-6E8A-4147-A177-3AD203B41FA5}">
                      <a16:colId xmlns:a16="http://schemas.microsoft.com/office/drawing/2014/main" val="2248332737"/>
                    </a:ext>
                  </a:extLst>
                </a:gridCol>
                <a:gridCol w="260155">
                  <a:extLst>
                    <a:ext uri="{9D8B030D-6E8A-4147-A177-3AD203B41FA5}">
                      <a16:colId xmlns:a16="http://schemas.microsoft.com/office/drawing/2014/main" val="701571902"/>
                    </a:ext>
                  </a:extLst>
                </a:gridCol>
                <a:gridCol w="260155">
                  <a:extLst>
                    <a:ext uri="{9D8B030D-6E8A-4147-A177-3AD203B41FA5}">
                      <a16:colId xmlns:a16="http://schemas.microsoft.com/office/drawing/2014/main" val="899356341"/>
                    </a:ext>
                  </a:extLst>
                </a:gridCol>
                <a:gridCol w="260155">
                  <a:extLst>
                    <a:ext uri="{9D8B030D-6E8A-4147-A177-3AD203B41FA5}">
                      <a16:colId xmlns:a16="http://schemas.microsoft.com/office/drawing/2014/main" val="2787753370"/>
                    </a:ext>
                  </a:extLst>
                </a:gridCol>
                <a:gridCol w="260155">
                  <a:extLst>
                    <a:ext uri="{9D8B030D-6E8A-4147-A177-3AD203B41FA5}">
                      <a16:colId xmlns:a16="http://schemas.microsoft.com/office/drawing/2014/main" val="75509663"/>
                    </a:ext>
                  </a:extLst>
                </a:gridCol>
                <a:gridCol w="260155">
                  <a:extLst>
                    <a:ext uri="{9D8B030D-6E8A-4147-A177-3AD203B41FA5}">
                      <a16:colId xmlns:a16="http://schemas.microsoft.com/office/drawing/2014/main" val="2371680936"/>
                    </a:ext>
                  </a:extLst>
                </a:gridCol>
                <a:gridCol w="260155">
                  <a:extLst>
                    <a:ext uri="{9D8B030D-6E8A-4147-A177-3AD203B41FA5}">
                      <a16:colId xmlns:a16="http://schemas.microsoft.com/office/drawing/2014/main" val="1293287838"/>
                    </a:ext>
                  </a:extLst>
                </a:gridCol>
              </a:tblGrid>
              <a:tr h="144032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조회기간</a:t>
                      </a:r>
                      <a:endParaRPr lang="en-US" altLang="ko-KR" sz="7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bg1">
                            <a:lumMod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7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lang="ko-KR" altLang="en-US" sz="7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7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  <a:r>
                        <a:rPr lang="ko-KR" altLang="en-US" sz="7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7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7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7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7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7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7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7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7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7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7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75581190"/>
                  </a:ext>
                </a:extLst>
              </a:tr>
              <a:tr h="144032"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lang="ko-KR" altLang="en-US" sz="700" b="0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 간격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실제  데이터 개수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96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672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2880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5840</a:t>
                      </a:r>
                      <a:endParaRPr lang="ko-KR" altLang="en-US" sz="700" b="0" strike="no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29881618"/>
                  </a:ext>
                </a:extLst>
              </a:tr>
              <a:tr h="144032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하단 캡션 표시 개수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30(</a:t>
                      </a:r>
                      <a:r>
                        <a:rPr lang="ko-KR" altLang="en-US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60(</a:t>
                      </a:r>
                      <a:r>
                        <a:rPr lang="ko-KR" altLang="en-US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96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  <a:endParaRPr lang="ko-KR" altLang="en-US" sz="700" b="0" strike="no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2293162"/>
                  </a:ext>
                </a:extLst>
              </a:tr>
              <a:tr h="144032"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  <a:r>
                        <a:rPr lang="ko-KR" altLang="en-US" sz="700" b="0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 간격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실제  데이터 개수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48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336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1440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2920</a:t>
                      </a:r>
                      <a:endParaRPr lang="ko-KR" altLang="en-US" sz="700" b="0" strike="no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03323599"/>
                  </a:ext>
                </a:extLst>
              </a:tr>
              <a:tr h="144032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하단 캡션 표시 개수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60(</a:t>
                      </a:r>
                      <a:r>
                        <a:rPr lang="ko-KR" altLang="en-US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48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  <a:endParaRPr lang="ko-KR" altLang="en-US" sz="700" b="0" strike="no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75022207"/>
                  </a:ext>
                </a:extLst>
              </a:tr>
              <a:tr h="144032"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700" b="0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 간격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실제  데이터 개수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24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168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720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1460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82961310"/>
                  </a:ext>
                </a:extLst>
              </a:tr>
              <a:tr h="144032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하단 캡션 표시 개수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24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3524359"/>
                  </a:ext>
                </a:extLst>
              </a:tr>
              <a:tr h="144032"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700" b="0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 간격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실제  데이터 개수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365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10281172"/>
                  </a:ext>
                </a:extLst>
              </a:tr>
              <a:tr h="144032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하단 캡션 표시 개수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75500751"/>
                  </a:ext>
                </a:extLst>
              </a:tr>
              <a:tr h="144032"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700" b="0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월 간격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실제  데이터 개수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24993451"/>
                  </a:ext>
                </a:extLst>
              </a:tr>
              <a:tr h="144032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하단 캡션 표시 개수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10841290"/>
                  </a:ext>
                </a:extLst>
              </a:tr>
            </a:tbl>
          </a:graphicData>
        </a:graphic>
      </p:graphicFrame>
      <p:sp>
        <p:nvSpPr>
          <p:cNvPr id="62" name="타원형 설명선 225">
            <a:extLst>
              <a:ext uri="{FF2B5EF4-FFF2-40B4-BE49-F238E27FC236}">
                <a16:creationId xmlns:a16="http://schemas.microsoft.com/office/drawing/2014/main" id="{9303CA0B-5456-488A-B429-B198A5FD8808}"/>
              </a:ext>
            </a:extLst>
          </p:cNvPr>
          <p:cNvSpPr/>
          <p:nvPr/>
        </p:nvSpPr>
        <p:spPr>
          <a:xfrm>
            <a:off x="654472" y="5366563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표</a:t>
            </a:r>
            <a:r>
              <a:rPr lang="en-US" altLang="ko-KR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7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63" name="표 62">
            <a:extLst>
              <a:ext uri="{FF2B5EF4-FFF2-40B4-BE49-F238E27FC236}">
                <a16:creationId xmlns:a16="http://schemas.microsoft.com/office/drawing/2014/main" id="{164D31B1-B43B-49B6-BD51-E3D1FE85033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05878998"/>
              </p:ext>
            </p:extLst>
          </p:nvPr>
        </p:nvGraphicFramePr>
        <p:xfrm>
          <a:off x="4430550" y="5596987"/>
          <a:ext cx="3342026" cy="106851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83830">
                  <a:extLst>
                    <a:ext uri="{9D8B030D-6E8A-4147-A177-3AD203B41FA5}">
                      <a16:colId xmlns:a16="http://schemas.microsoft.com/office/drawing/2014/main" val="621667645"/>
                    </a:ext>
                  </a:extLst>
                </a:gridCol>
                <a:gridCol w="394028">
                  <a:extLst>
                    <a:ext uri="{9D8B030D-6E8A-4147-A177-3AD203B41FA5}">
                      <a16:colId xmlns:a16="http://schemas.microsoft.com/office/drawing/2014/main" val="2248332737"/>
                    </a:ext>
                  </a:extLst>
                </a:gridCol>
                <a:gridCol w="394028">
                  <a:extLst>
                    <a:ext uri="{9D8B030D-6E8A-4147-A177-3AD203B41FA5}">
                      <a16:colId xmlns:a16="http://schemas.microsoft.com/office/drawing/2014/main" val="2333210567"/>
                    </a:ext>
                  </a:extLst>
                </a:gridCol>
                <a:gridCol w="394028">
                  <a:extLst>
                    <a:ext uri="{9D8B030D-6E8A-4147-A177-3AD203B41FA5}">
                      <a16:colId xmlns:a16="http://schemas.microsoft.com/office/drawing/2014/main" val="899356341"/>
                    </a:ext>
                  </a:extLst>
                </a:gridCol>
                <a:gridCol w="394028">
                  <a:extLst>
                    <a:ext uri="{9D8B030D-6E8A-4147-A177-3AD203B41FA5}">
                      <a16:colId xmlns:a16="http://schemas.microsoft.com/office/drawing/2014/main" val="2787753370"/>
                    </a:ext>
                  </a:extLst>
                </a:gridCol>
                <a:gridCol w="394028">
                  <a:extLst>
                    <a:ext uri="{9D8B030D-6E8A-4147-A177-3AD203B41FA5}">
                      <a16:colId xmlns:a16="http://schemas.microsoft.com/office/drawing/2014/main" val="75509663"/>
                    </a:ext>
                  </a:extLst>
                </a:gridCol>
                <a:gridCol w="394028">
                  <a:extLst>
                    <a:ext uri="{9D8B030D-6E8A-4147-A177-3AD203B41FA5}">
                      <a16:colId xmlns:a16="http://schemas.microsoft.com/office/drawing/2014/main" val="2371680936"/>
                    </a:ext>
                  </a:extLst>
                </a:gridCol>
                <a:gridCol w="394028">
                  <a:extLst>
                    <a:ext uri="{9D8B030D-6E8A-4147-A177-3AD203B41FA5}">
                      <a16:colId xmlns:a16="http://schemas.microsoft.com/office/drawing/2014/main" val="1293287838"/>
                    </a:ext>
                  </a:extLst>
                </a:gridCol>
              </a:tblGrid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조회기간</a:t>
                      </a:r>
                      <a:endParaRPr lang="en-US" altLang="ko-KR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lang="ko-KR" altLang="en-US" sz="8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  <a:r>
                        <a:rPr lang="ko-KR" altLang="en-US" sz="8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75581190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 간격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96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96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96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96</a:t>
                      </a:r>
                      <a:endParaRPr lang="ko-KR" altLang="en-US" sz="800" b="0" strike="no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29881618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 간격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48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48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48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48</a:t>
                      </a:r>
                      <a:endParaRPr lang="ko-KR" altLang="en-US" sz="800" b="0" strike="no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03323599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 간격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24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24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24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24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82961310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 간격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10281172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월 간격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24993451"/>
                  </a:ext>
                </a:extLst>
              </a:tr>
            </a:tbl>
          </a:graphicData>
        </a:graphic>
      </p:graphicFrame>
      <p:sp>
        <p:nvSpPr>
          <p:cNvPr id="64" name="타원형 설명선 225">
            <a:extLst>
              <a:ext uri="{FF2B5EF4-FFF2-40B4-BE49-F238E27FC236}">
                <a16:creationId xmlns:a16="http://schemas.microsoft.com/office/drawing/2014/main" id="{8E21EA16-1162-4CF9-983F-F6287FD3D5F5}"/>
              </a:ext>
            </a:extLst>
          </p:cNvPr>
          <p:cNvSpPr/>
          <p:nvPr/>
        </p:nvSpPr>
        <p:spPr>
          <a:xfrm>
            <a:off x="4122831" y="5457013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표</a:t>
            </a:r>
            <a:r>
              <a:rPr lang="en-US" altLang="ko-KR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lang="ko-KR" altLang="en-US" sz="7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465919475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9104309" y="6645875"/>
            <a:ext cx="140029" cy="138499"/>
          </a:xfrm>
        </p:spPr>
        <p:txBody>
          <a:bodyPr/>
          <a:lstStyle/>
          <a:p>
            <a:pPr>
              <a:defRPr/>
            </a:pPr>
            <a:fld id="{9E41B634-5682-4388-99E7-FE44DCFD254B}" type="slidenum">
              <a:rPr lang="ko-KR" altLang="en-US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>
                <a:defRPr/>
              </a:pPr>
              <a:t>25</a:t>
            </a:fld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텍스트 개체 틀 8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Site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 &gt;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에너지 모니터링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&gt; DR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실적 현황</a:t>
            </a:r>
          </a:p>
        </p:txBody>
      </p:sp>
      <p:sp>
        <p:nvSpPr>
          <p:cNvPr id="10" name="텍스트 개체 틀 9"/>
          <p:cNvSpPr>
            <a:spLocks noGrp="1"/>
          </p:cNvSpPr>
          <p:nvPr>
            <p:ph type="body" sz="quarter" idx="10"/>
          </p:nvPr>
        </p:nvSpPr>
        <p:spPr>
          <a:xfrm>
            <a:off x="6023595" y="44624"/>
            <a:ext cx="1233661" cy="196974"/>
          </a:xfrm>
        </p:spPr>
        <p:txBody>
          <a:bodyPr/>
          <a:lstStyle/>
          <a:p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DR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실적 현황</a:t>
            </a:r>
          </a:p>
        </p:txBody>
      </p:sp>
      <p:graphicFrame>
        <p:nvGraphicFramePr>
          <p:cNvPr id="102" name="Group 15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02985755"/>
              </p:ext>
            </p:extLst>
          </p:nvPr>
        </p:nvGraphicFramePr>
        <p:xfrm>
          <a:off x="8469313" y="276225"/>
          <a:ext cx="1404000" cy="5235648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3002"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Description</a:t>
                      </a: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기간 설정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기간의 시작과 끝 시점을 설정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기간 별 시작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종료 시간은 표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참고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2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간격 설정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번에서 지정된 기간 내 데이터의 조회 간격을 설정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1)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간격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en-US" altLang="ko-KR" sz="800" b="0" i="0" u="none" strike="sng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  <a:r>
                        <a:rPr kumimoji="1" lang="ko-KR" altLang="en-US" sz="800" b="0" i="0" u="none" strike="sng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분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15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분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30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분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1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시간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1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일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1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월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2)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기간 별 선택 가능한 조회 간격은 표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2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참고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3) 1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일이 선택된 경우에는 오늘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00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시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~24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시로 조회하고 표시하며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그 외의 경우 지금 시간부터 지정된 과거의 기간만큼 조회하고 표시한다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.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3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조회 기간 시작 설정</a:t>
                      </a:r>
                      <a:endParaRPr lang="en-US" altLang="ko-KR" sz="800" b="1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조회 기간의 시작 날짜를 직접 입력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시간은 현재시간으로 고정되며 날짜만 지정 가능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4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조회 기간 종료 설정</a:t>
                      </a:r>
                      <a:endParaRPr lang="en-US" altLang="ko-KR" sz="800" b="1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조회 기간의 종료 날짜를 직접 입력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시간은 현재시간으로 고정되며 날짜만 지정 가능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5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데이터 갱신 시간 표시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지정된 설정에 따라 조회가 진행된 시간표시</a:t>
                      </a:r>
                      <a:endParaRPr lang="en-US" altLang="ko-KR" sz="800" b="0" u="non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78" name="TextBox 77"/>
          <p:cNvSpPr txBox="1"/>
          <p:nvPr/>
        </p:nvSpPr>
        <p:spPr>
          <a:xfrm>
            <a:off x="7121707" y="21349"/>
            <a:ext cx="567597" cy="2308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화면</a:t>
            </a:r>
            <a:r>
              <a:rPr lang="en-US" altLang="ko-KR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ID</a:t>
            </a:r>
            <a:endParaRPr lang="ko-KR" altLang="en-US" sz="9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7689304" y="43659"/>
            <a:ext cx="792088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itchFamily="50" charset="-127"/>
                <a:ea typeface="맑은 고딕" pitchFamily="50" charset="-127"/>
              </a:rPr>
              <a:t>ewpsp_scr_013</a:t>
            </a:r>
            <a:endParaRPr lang="ko-KR" altLang="en-US" sz="700" dirty="0">
              <a:latin typeface="맑은 고딕" pitchFamily="50" charset="-127"/>
              <a:ea typeface="맑은 고딕" pitchFamily="50" charset="-127"/>
            </a:endParaRPr>
          </a:p>
        </p:txBody>
      </p:sp>
      <p:pic>
        <p:nvPicPr>
          <p:cNvPr id="18" name="Picture 3">
            <a:extLst>
              <a:ext uri="{FF2B5EF4-FFF2-40B4-BE49-F238E27FC236}">
                <a16:creationId xmlns:a16="http://schemas.microsoft.com/office/drawing/2014/main" id="{D14E8AEF-8EA8-4944-AE52-FF98A1FB783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8796" y="752042"/>
            <a:ext cx="8208912" cy="4019737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  <a:extLst/>
        </p:spPr>
      </p:pic>
      <p:pic>
        <p:nvPicPr>
          <p:cNvPr id="19" name="Picture 2">
            <a:extLst>
              <a:ext uri="{FF2B5EF4-FFF2-40B4-BE49-F238E27FC236}">
                <a16:creationId xmlns:a16="http://schemas.microsoft.com/office/drawing/2014/main" id="{6FBB0165-03FF-4BBD-A158-8DEF923CF53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6415" y="762442"/>
            <a:ext cx="8208912" cy="3487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20" name="직선 연결선 19">
            <a:extLst>
              <a:ext uri="{FF2B5EF4-FFF2-40B4-BE49-F238E27FC236}">
                <a16:creationId xmlns:a16="http://schemas.microsoft.com/office/drawing/2014/main" id="{37D07777-30AA-4506-9C18-6F3B4C7D943C}"/>
              </a:ext>
            </a:extLst>
          </p:cNvPr>
          <p:cNvCxnSpPr>
            <a:cxnSpLocks/>
          </p:cNvCxnSpPr>
          <p:nvPr/>
        </p:nvCxnSpPr>
        <p:spPr>
          <a:xfrm>
            <a:off x="128463" y="1124744"/>
            <a:ext cx="8208912" cy="0"/>
          </a:xfrm>
          <a:prstGeom prst="line">
            <a:avLst/>
          </a:prstGeom>
          <a:ln w="9525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5E84417E-CAA5-4FD3-BBB9-7CD5570EF571}"/>
              </a:ext>
            </a:extLst>
          </p:cNvPr>
          <p:cNvSpPr/>
          <p:nvPr/>
        </p:nvSpPr>
        <p:spPr>
          <a:xfrm>
            <a:off x="216315" y="1556792"/>
            <a:ext cx="1820532" cy="288032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en-US" altLang="ko-KR" sz="10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DR </a:t>
            </a:r>
            <a:r>
              <a:rPr lang="ko-KR" altLang="en-US" sz="10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실적 현황</a:t>
            </a: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180BACBD-4B64-4649-BD7C-E1EE3620FBC6}"/>
              </a:ext>
            </a:extLst>
          </p:cNvPr>
          <p:cNvSpPr/>
          <p:nvPr/>
        </p:nvSpPr>
        <p:spPr>
          <a:xfrm>
            <a:off x="120419" y="1726179"/>
            <a:ext cx="1510265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150000"/>
              </a:lnSpc>
            </a:pPr>
            <a:r>
              <a:rPr lang="en-US" altLang="ko-KR" sz="900" b="1" dirty="0">
                <a:solidFill>
                  <a:schemeClr val="bg1">
                    <a:lumMod val="65000"/>
                  </a:schemeClr>
                </a:solidFill>
                <a:latin typeface="맑은 고딕" pitchFamily="50" charset="-127"/>
                <a:ea typeface="맑은 고딕" pitchFamily="50" charset="-127"/>
              </a:rPr>
              <a:t>YYYY-MM-DD hh:mm</a:t>
            </a:r>
            <a:endParaRPr lang="ko-KR" altLang="en-US" sz="900" b="1" dirty="0">
              <a:solidFill>
                <a:schemeClr val="bg1">
                  <a:lumMod val="6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A27B69D7-2B77-4AF2-A717-2F8B00E5023D}"/>
              </a:ext>
            </a:extLst>
          </p:cNvPr>
          <p:cNvSpPr/>
          <p:nvPr/>
        </p:nvSpPr>
        <p:spPr>
          <a:xfrm>
            <a:off x="3584848" y="1569453"/>
            <a:ext cx="1224136" cy="288033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기간 설정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51E4F555-ACF8-422A-8A4C-263DF5607ED0}"/>
              </a:ext>
            </a:extLst>
          </p:cNvPr>
          <p:cNvSpPr/>
          <p:nvPr/>
        </p:nvSpPr>
        <p:spPr>
          <a:xfrm>
            <a:off x="4304928" y="1569453"/>
            <a:ext cx="1262753" cy="288033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YYY-MM</a:t>
            </a:r>
            <a:endParaRPr lang="ko-KR" altLang="en-US" sz="90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056B85B8-E22D-471D-BF90-7BA59FDE59DA}"/>
              </a:ext>
            </a:extLst>
          </p:cNvPr>
          <p:cNvSpPr/>
          <p:nvPr/>
        </p:nvSpPr>
        <p:spPr>
          <a:xfrm>
            <a:off x="5567681" y="1569453"/>
            <a:ext cx="288032" cy="288033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▼</a:t>
            </a: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5DE85575-6695-43D9-BA78-E72D7749FD5A}"/>
              </a:ext>
            </a:extLst>
          </p:cNvPr>
          <p:cNvSpPr/>
          <p:nvPr/>
        </p:nvSpPr>
        <p:spPr>
          <a:xfrm>
            <a:off x="5855713" y="1569453"/>
            <a:ext cx="249415" cy="288033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~</a:t>
            </a:r>
            <a:endParaRPr lang="ko-KR" altLang="en-US" sz="900" b="1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52DDF82F-9C8F-422F-B328-3979E21AEB5E}"/>
              </a:ext>
            </a:extLst>
          </p:cNvPr>
          <p:cNvSpPr/>
          <p:nvPr/>
        </p:nvSpPr>
        <p:spPr>
          <a:xfrm>
            <a:off x="6105128" y="1569453"/>
            <a:ext cx="1262753" cy="288033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YYYY-MM</a:t>
            </a:r>
            <a:endParaRPr lang="ko-KR" altLang="en-US" sz="90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508668D7-197F-47CF-8003-58499E43E073}"/>
              </a:ext>
            </a:extLst>
          </p:cNvPr>
          <p:cNvSpPr/>
          <p:nvPr/>
        </p:nvSpPr>
        <p:spPr>
          <a:xfrm>
            <a:off x="7367881" y="1569453"/>
            <a:ext cx="288032" cy="288033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▼</a:t>
            </a:r>
          </a:p>
        </p:txBody>
      </p:sp>
      <p:pic>
        <p:nvPicPr>
          <p:cNvPr id="47" name="Picture 2" descr="ì¤ì ì ëí ì´ë¯¸ì§ ê²ìê²°ê³¼">
            <a:extLst>
              <a:ext uri="{FF2B5EF4-FFF2-40B4-BE49-F238E27FC236}">
                <a16:creationId xmlns:a16="http://schemas.microsoft.com/office/drawing/2014/main" id="{90A888AD-844A-4544-B02A-A77BC3397C7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05865" y="844086"/>
            <a:ext cx="198592" cy="19859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8" name="사각형: 둥근 모서리 47">
            <a:extLst>
              <a:ext uri="{FF2B5EF4-FFF2-40B4-BE49-F238E27FC236}">
                <a16:creationId xmlns:a16="http://schemas.microsoft.com/office/drawing/2014/main" id="{119FCE8B-C633-47C3-A0BD-44AD20643BCC}"/>
              </a:ext>
            </a:extLst>
          </p:cNvPr>
          <p:cNvSpPr/>
          <p:nvPr/>
        </p:nvSpPr>
        <p:spPr>
          <a:xfrm>
            <a:off x="1239315" y="1637161"/>
            <a:ext cx="1013369" cy="180000"/>
          </a:xfrm>
          <a:prstGeom prst="roundRect">
            <a:avLst/>
          </a:prstGeom>
          <a:solidFill>
            <a:schemeClr val="bg1"/>
          </a:solidFill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ko-KR" altLang="en-US" sz="900" dirty="0">
                <a:solidFill>
                  <a:schemeClr val="tx1"/>
                </a:solidFill>
              </a:rPr>
              <a:t>기간 설정  ▼</a:t>
            </a:r>
          </a:p>
        </p:txBody>
      </p:sp>
      <p:sp>
        <p:nvSpPr>
          <p:cNvPr id="49" name="사각형: 둥근 모서리 48">
            <a:extLst>
              <a:ext uri="{FF2B5EF4-FFF2-40B4-BE49-F238E27FC236}">
                <a16:creationId xmlns:a16="http://schemas.microsoft.com/office/drawing/2014/main" id="{948F9D44-B814-4AF5-882E-A35193F2E22A}"/>
              </a:ext>
            </a:extLst>
          </p:cNvPr>
          <p:cNvSpPr/>
          <p:nvPr/>
        </p:nvSpPr>
        <p:spPr>
          <a:xfrm>
            <a:off x="2297791" y="1636316"/>
            <a:ext cx="1013369" cy="180000"/>
          </a:xfrm>
          <a:prstGeom prst="roundRect">
            <a:avLst/>
          </a:prstGeom>
          <a:solidFill>
            <a:schemeClr val="bg1"/>
          </a:solidFill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altLang="ko-KR" sz="900" dirty="0">
                <a:solidFill>
                  <a:schemeClr val="tx1"/>
                </a:solidFill>
              </a:rPr>
              <a:t>15</a:t>
            </a:r>
            <a:r>
              <a:rPr lang="ko-KR" altLang="en-US" sz="900" dirty="0">
                <a:solidFill>
                  <a:schemeClr val="tx1"/>
                </a:solidFill>
              </a:rPr>
              <a:t>분     ▼</a:t>
            </a:r>
          </a:p>
        </p:txBody>
      </p:sp>
      <p:graphicFrame>
        <p:nvGraphicFramePr>
          <p:cNvPr id="40" name="표 39">
            <a:extLst>
              <a:ext uri="{FF2B5EF4-FFF2-40B4-BE49-F238E27FC236}">
                <a16:creationId xmlns:a16="http://schemas.microsoft.com/office/drawing/2014/main" id="{18513AA0-501E-41AA-A36E-386D57118C32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278100" y="2156233"/>
          <a:ext cx="7915258" cy="178693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0443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3998026551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4239822446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3215763484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1826529500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1380773476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1384194458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1749036958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3675851017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3466669195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667275161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1235731143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3913681239"/>
                    </a:ext>
                  </a:extLst>
                </a:gridCol>
              </a:tblGrid>
              <a:tr h="25527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/>
                        <a:t>kW</a:t>
                      </a:r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527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1000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55277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5527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500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55277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5527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55277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01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02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03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04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05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06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07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08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09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10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11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12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13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14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15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16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17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18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19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20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21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22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23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24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cxnSp>
        <p:nvCxnSpPr>
          <p:cNvPr id="52" name="직선 연결선 51">
            <a:extLst>
              <a:ext uri="{FF2B5EF4-FFF2-40B4-BE49-F238E27FC236}">
                <a16:creationId xmlns:a16="http://schemas.microsoft.com/office/drawing/2014/main" id="{00A71007-406C-4F0A-9589-C33EC6950CD4}"/>
              </a:ext>
            </a:extLst>
          </p:cNvPr>
          <p:cNvCxnSpPr>
            <a:cxnSpLocks/>
          </p:cNvCxnSpPr>
          <p:nvPr/>
        </p:nvCxnSpPr>
        <p:spPr>
          <a:xfrm>
            <a:off x="980534" y="3186416"/>
            <a:ext cx="7147615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3" name="직선 연결선 52">
            <a:extLst>
              <a:ext uri="{FF2B5EF4-FFF2-40B4-BE49-F238E27FC236}">
                <a16:creationId xmlns:a16="http://schemas.microsoft.com/office/drawing/2014/main" id="{FA8F809F-54BE-465D-850D-4493686FD5EF}"/>
              </a:ext>
            </a:extLst>
          </p:cNvPr>
          <p:cNvCxnSpPr>
            <a:cxnSpLocks/>
          </p:cNvCxnSpPr>
          <p:nvPr/>
        </p:nvCxnSpPr>
        <p:spPr>
          <a:xfrm>
            <a:off x="980534" y="2610352"/>
            <a:ext cx="7147615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4" name="그룹 53">
            <a:extLst>
              <a:ext uri="{FF2B5EF4-FFF2-40B4-BE49-F238E27FC236}">
                <a16:creationId xmlns:a16="http://schemas.microsoft.com/office/drawing/2014/main" id="{D9588942-263D-40FC-BFC0-08F3E586D052}"/>
              </a:ext>
            </a:extLst>
          </p:cNvPr>
          <p:cNvGrpSpPr/>
          <p:nvPr/>
        </p:nvGrpSpPr>
        <p:grpSpPr>
          <a:xfrm>
            <a:off x="278100" y="4009133"/>
            <a:ext cx="862386" cy="211955"/>
            <a:chOff x="4861742" y="3907374"/>
            <a:chExt cx="862386" cy="211955"/>
          </a:xfrm>
        </p:grpSpPr>
        <p:pic>
          <p:nvPicPr>
            <p:cNvPr id="55" name="Picture 6" descr="ìì ë¤ì´ë¡ëì ëí ì´ë¯¸ì§ ê²ìê²°ê³¼">
              <a:extLst>
                <a:ext uri="{FF2B5EF4-FFF2-40B4-BE49-F238E27FC236}">
                  <a16:creationId xmlns:a16="http://schemas.microsoft.com/office/drawing/2014/main" id="{303A80C4-1726-4946-B2C9-AFB0384A81D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861742" y="3907374"/>
              <a:ext cx="211955" cy="21195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8C76E1C6-D0C8-4686-8383-1C27793CB40A}"/>
                </a:ext>
              </a:extLst>
            </p:cNvPr>
            <p:cNvSpPr txBox="1"/>
            <p:nvPr/>
          </p:nvSpPr>
          <p:spPr>
            <a:xfrm>
              <a:off x="4949189" y="3921018"/>
              <a:ext cx="7749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600" b="1" dirty="0">
                  <a:solidFill>
                    <a:schemeClr val="bg1"/>
                  </a:solidFill>
                </a:rPr>
                <a:t>데이터 저장하기</a:t>
              </a:r>
            </a:p>
          </p:txBody>
        </p:sp>
      </p:grpSp>
      <p:sp>
        <p:nvSpPr>
          <p:cNvPr id="62" name="자유형 10">
            <a:extLst>
              <a:ext uri="{FF2B5EF4-FFF2-40B4-BE49-F238E27FC236}">
                <a16:creationId xmlns:a16="http://schemas.microsoft.com/office/drawing/2014/main" id="{1414ED20-0E3B-4642-9AE6-452F5986E6D0}"/>
              </a:ext>
            </a:extLst>
          </p:cNvPr>
          <p:cNvSpPr/>
          <p:nvPr/>
        </p:nvSpPr>
        <p:spPr>
          <a:xfrm>
            <a:off x="1052542" y="2614878"/>
            <a:ext cx="2949900" cy="907078"/>
          </a:xfrm>
          <a:custGeom>
            <a:avLst/>
            <a:gdLst>
              <a:gd name="connsiteX0" fmla="*/ 0 w 6477000"/>
              <a:gd name="connsiteY0" fmla="*/ 1208046 h 1208046"/>
              <a:gd name="connsiteX1" fmla="*/ 33867 w 6477000"/>
              <a:gd name="connsiteY1" fmla="*/ 1157246 h 1208046"/>
              <a:gd name="connsiteX2" fmla="*/ 67734 w 6477000"/>
              <a:gd name="connsiteY2" fmla="*/ 1140313 h 1208046"/>
              <a:gd name="connsiteX3" fmla="*/ 101600 w 6477000"/>
              <a:gd name="connsiteY3" fmla="*/ 1072580 h 1208046"/>
              <a:gd name="connsiteX4" fmla="*/ 118534 w 6477000"/>
              <a:gd name="connsiteY4" fmla="*/ 1055646 h 1208046"/>
              <a:gd name="connsiteX5" fmla="*/ 152400 w 6477000"/>
              <a:gd name="connsiteY5" fmla="*/ 937113 h 1208046"/>
              <a:gd name="connsiteX6" fmla="*/ 169334 w 6477000"/>
              <a:gd name="connsiteY6" fmla="*/ 903246 h 1208046"/>
              <a:gd name="connsiteX7" fmla="*/ 203200 w 6477000"/>
              <a:gd name="connsiteY7" fmla="*/ 818580 h 1208046"/>
              <a:gd name="connsiteX8" fmla="*/ 220134 w 6477000"/>
              <a:gd name="connsiteY8" fmla="*/ 801646 h 1208046"/>
              <a:gd name="connsiteX9" fmla="*/ 237067 w 6477000"/>
              <a:gd name="connsiteY9" fmla="*/ 750846 h 1208046"/>
              <a:gd name="connsiteX10" fmla="*/ 304800 w 6477000"/>
              <a:gd name="connsiteY10" fmla="*/ 750846 h 1208046"/>
              <a:gd name="connsiteX11" fmla="*/ 321734 w 6477000"/>
              <a:gd name="connsiteY11" fmla="*/ 767780 h 1208046"/>
              <a:gd name="connsiteX12" fmla="*/ 355600 w 6477000"/>
              <a:gd name="connsiteY12" fmla="*/ 784713 h 1208046"/>
              <a:gd name="connsiteX13" fmla="*/ 508000 w 6477000"/>
              <a:gd name="connsiteY13" fmla="*/ 750846 h 1208046"/>
              <a:gd name="connsiteX14" fmla="*/ 575734 w 6477000"/>
              <a:gd name="connsiteY14" fmla="*/ 716980 h 1208046"/>
              <a:gd name="connsiteX15" fmla="*/ 643467 w 6477000"/>
              <a:gd name="connsiteY15" fmla="*/ 683113 h 1208046"/>
              <a:gd name="connsiteX16" fmla="*/ 677334 w 6477000"/>
              <a:gd name="connsiteY16" fmla="*/ 666180 h 1208046"/>
              <a:gd name="connsiteX17" fmla="*/ 762000 w 6477000"/>
              <a:gd name="connsiteY17" fmla="*/ 615380 h 1208046"/>
              <a:gd name="connsiteX18" fmla="*/ 778934 w 6477000"/>
              <a:gd name="connsiteY18" fmla="*/ 598446 h 1208046"/>
              <a:gd name="connsiteX19" fmla="*/ 812800 w 6477000"/>
              <a:gd name="connsiteY19" fmla="*/ 581513 h 1208046"/>
              <a:gd name="connsiteX20" fmla="*/ 965200 w 6477000"/>
              <a:gd name="connsiteY20" fmla="*/ 598446 h 1208046"/>
              <a:gd name="connsiteX21" fmla="*/ 1032934 w 6477000"/>
              <a:gd name="connsiteY21" fmla="*/ 615380 h 1208046"/>
              <a:gd name="connsiteX22" fmla="*/ 1202267 w 6477000"/>
              <a:gd name="connsiteY22" fmla="*/ 598446 h 1208046"/>
              <a:gd name="connsiteX23" fmla="*/ 1270000 w 6477000"/>
              <a:gd name="connsiteY23" fmla="*/ 564580 h 1208046"/>
              <a:gd name="connsiteX24" fmla="*/ 1303867 w 6477000"/>
              <a:gd name="connsiteY24" fmla="*/ 547646 h 1208046"/>
              <a:gd name="connsiteX25" fmla="*/ 1354667 w 6477000"/>
              <a:gd name="connsiteY25" fmla="*/ 530713 h 1208046"/>
              <a:gd name="connsiteX26" fmla="*/ 1388534 w 6477000"/>
              <a:gd name="connsiteY26" fmla="*/ 513780 h 1208046"/>
              <a:gd name="connsiteX27" fmla="*/ 1557867 w 6477000"/>
              <a:gd name="connsiteY27" fmla="*/ 496846 h 1208046"/>
              <a:gd name="connsiteX28" fmla="*/ 1964267 w 6477000"/>
              <a:gd name="connsiteY28" fmla="*/ 462980 h 1208046"/>
              <a:gd name="connsiteX29" fmla="*/ 2082800 w 6477000"/>
              <a:gd name="connsiteY29" fmla="*/ 412180 h 1208046"/>
              <a:gd name="connsiteX30" fmla="*/ 2133600 w 6477000"/>
              <a:gd name="connsiteY30" fmla="*/ 361380 h 1208046"/>
              <a:gd name="connsiteX31" fmla="*/ 2150534 w 6477000"/>
              <a:gd name="connsiteY31" fmla="*/ 344446 h 1208046"/>
              <a:gd name="connsiteX32" fmla="*/ 2201334 w 6477000"/>
              <a:gd name="connsiteY32" fmla="*/ 310580 h 1208046"/>
              <a:gd name="connsiteX33" fmla="*/ 2455334 w 6477000"/>
              <a:gd name="connsiteY33" fmla="*/ 327513 h 1208046"/>
              <a:gd name="connsiteX34" fmla="*/ 2489200 w 6477000"/>
              <a:gd name="connsiteY34" fmla="*/ 361380 h 1208046"/>
              <a:gd name="connsiteX35" fmla="*/ 2624667 w 6477000"/>
              <a:gd name="connsiteY35" fmla="*/ 378313 h 1208046"/>
              <a:gd name="connsiteX36" fmla="*/ 2726267 w 6477000"/>
              <a:gd name="connsiteY36" fmla="*/ 395246 h 1208046"/>
              <a:gd name="connsiteX37" fmla="*/ 2980267 w 6477000"/>
              <a:gd name="connsiteY37" fmla="*/ 378313 h 1208046"/>
              <a:gd name="connsiteX38" fmla="*/ 3149600 w 6477000"/>
              <a:gd name="connsiteY38" fmla="*/ 344446 h 1208046"/>
              <a:gd name="connsiteX39" fmla="*/ 3183467 w 6477000"/>
              <a:gd name="connsiteY39" fmla="*/ 327513 h 1208046"/>
              <a:gd name="connsiteX40" fmla="*/ 3420534 w 6477000"/>
              <a:gd name="connsiteY40" fmla="*/ 344446 h 1208046"/>
              <a:gd name="connsiteX41" fmla="*/ 3589867 w 6477000"/>
              <a:gd name="connsiteY41" fmla="*/ 378313 h 1208046"/>
              <a:gd name="connsiteX42" fmla="*/ 3674534 w 6477000"/>
              <a:gd name="connsiteY42" fmla="*/ 395246 h 1208046"/>
              <a:gd name="connsiteX43" fmla="*/ 3877734 w 6477000"/>
              <a:gd name="connsiteY43" fmla="*/ 429113 h 1208046"/>
              <a:gd name="connsiteX44" fmla="*/ 4047067 w 6477000"/>
              <a:gd name="connsiteY44" fmla="*/ 462980 h 1208046"/>
              <a:gd name="connsiteX45" fmla="*/ 4284134 w 6477000"/>
              <a:gd name="connsiteY45" fmla="*/ 446046 h 1208046"/>
              <a:gd name="connsiteX46" fmla="*/ 4402667 w 6477000"/>
              <a:gd name="connsiteY46" fmla="*/ 412180 h 1208046"/>
              <a:gd name="connsiteX47" fmla="*/ 4436534 w 6477000"/>
              <a:gd name="connsiteY47" fmla="*/ 395246 h 1208046"/>
              <a:gd name="connsiteX48" fmla="*/ 4521200 w 6477000"/>
              <a:gd name="connsiteY48" fmla="*/ 378313 h 1208046"/>
              <a:gd name="connsiteX49" fmla="*/ 4605867 w 6477000"/>
              <a:gd name="connsiteY49" fmla="*/ 395246 h 1208046"/>
              <a:gd name="connsiteX50" fmla="*/ 4673600 w 6477000"/>
              <a:gd name="connsiteY50" fmla="*/ 412180 h 1208046"/>
              <a:gd name="connsiteX51" fmla="*/ 4859867 w 6477000"/>
              <a:gd name="connsiteY51" fmla="*/ 395246 h 1208046"/>
              <a:gd name="connsiteX52" fmla="*/ 4978400 w 6477000"/>
              <a:gd name="connsiteY52" fmla="*/ 361380 h 1208046"/>
              <a:gd name="connsiteX53" fmla="*/ 5080000 w 6477000"/>
              <a:gd name="connsiteY53" fmla="*/ 310580 h 1208046"/>
              <a:gd name="connsiteX54" fmla="*/ 5096934 w 6477000"/>
              <a:gd name="connsiteY54" fmla="*/ 293646 h 1208046"/>
              <a:gd name="connsiteX55" fmla="*/ 5130800 w 6477000"/>
              <a:gd name="connsiteY55" fmla="*/ 276713 h 1208046"/>
              <a:gd name="connsiteX56" fmla="*/ 5164667 w 6477000"/>
              <a:gd name="connsiteY56" fmla="*/ 242846 h 1208046"/>
              <a:gd name="connsiteX57" fmla="*/ 5181600 w 6477000"/>
              <a:gd name="connsiteY57" fmla="*/ 208980 h 1208046"/>
              <a:gd name="connsiteX58" fmla="*/ 5232400 w 6477000"/>
              <a:gd name="connsiteY58" fmla="*/ 192046 h 1208046"/>
              <a:gd name="connsiteX59" fmla="*/ 5401734 w 6477000"/>
              <a:gd name="connsiteY59" fmla="*/ 141246 h 1208046"/>
              <a:gd name="connsiteX60" fmla="*/ 5486400 w 6477000"/>
              <a:gd name="connsiteY60" fmla="*/ 107380 h 1208046"/>
              <a:gd name="connsiteX61" fmla="*/ 5537200 w 6477000"/>
              <a:gd name="connsiteY61" fmla="*/ 90446 h 1208046"/>
              <a:gd name="connsiteX62" fmla="*/ 5638800 w 6477000"/>
              <a:gd name="connsiteY62" fmla="*/ 107380 h 1208046"/>
              <a:gd name="connsiteX63" fmla="*/ 5672667 w 6477000"/>
              <a:gd name="connsiteY63" fmla="*/ 124313 h 1208046"/>
              <a:gd name="connsiteX64" fmla="*/ 5723467 w 6477000"/>
              <a:gd name="connsiteY64" fmla="*/ 141246 h 1208046"/>
              <a:gd name="connsiteX65" fmla="*/ 5757334 w 6477000"/>
              <a:gd name="connsiteY65" fmla="*/ 158180 h 1208046"/>
              <a:gd name="connsiteX66" fmla="*/ 5926667 w 6477000"/>
              <a:gd name="connsiteY66" fmla="*/ 175113 h 1208046"/>
              <a:gd name="connsiteX67" fmla="*/ 5994400 w 6477000"/>
              <a:gd name="connsiteY67" fmla="*/ 141246 h 1208046"/>
              <a:gd name="connsiteX68" fmla="*/ 6011334 w 6477000"/>
              <a:gd name="connsiteY68" fmla="*/ 124313 h 1208046"/>
              <a:gd name="connsiteX69" fmla="*/ 6079067 w 6477000"/>
              <a:gd name="connsiteY69" fmla="*/ 90446 h 1208046"/>
              <a:gd name="connsiteX70" fmla="*/ 6180667 w 6477000"/>
              <a:gd name="connsiteY70" fmla="*/ 39646 h 1208046"/>
              <a:gd name="connsiteX71" fmla="*/ 6316134 w 6477000"/>
              <a:gd name="connsiteY71" fmla="*/ 5780 h 1208046"/>
              <a:gd name="connsiteX72" fmla="*/ 6477000 w 6477000"/>
              <a:gd name="connsiteY72" fmla="*/ 5780 h 12080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</a:cxnLst>
            <a:rect l="l" t="t" r="r" b="b"/>
            <a:pathLst>
              <a:path w="6477000" h="1208046">
                <a:moveTo>
                  <a:pt x="0" y="1208046"/>
                </a:moveTo>
                <a:cubicBezTo>
                  <a:pt x="11289" y="1191113"/>
                  <a:pt x="19476" y="1171637"/>
                  <a:pt x="33867" y="1157246"/>
                </a:cubicBezTo>
                <a:cubicBezTo>
                  <a:pt x="42792" y="1148321"/>
                  <a:pt x="59849" y="1150169"/>
                  <a:pt x="67734" y="1140313"/>
                </a:cubicBezTo>
                <a:cubicBezTo>
                  <a:pt x="83503" y="1120602"/>
                  <a:pt x="83751" y="1090429"/>
                  <a:pt x="101600" y="1072580"/>
                </a:cubicBezTo>
                <a:lnTo>
                  <a:pt x="118534" y="1055646"/>
                </a:lnTo>
                <a:cubicBezTo>
                  <a:pt x="129237" y="1012832"/>
                  <a:pt x="136206" y="977598"/>
                  <a:pt x="152400" y="937113"/>
                </a:cubicBezTo>
                <a:cubicBezTo>
                  <a:pt x="157088" y="925394"/>
                  <a:pt x="164646" y="914965"/>
                  <a:pt x="169334" y="903246"/>
                </a:cubicBezTo>
                <a:cubicBezTo>
                  <a:pt x="183103" y="868824"/>
                  <a:pt x="183344" y="848364"/>
                  <a:pt x="203200" y="818580"/>
                </a:cubicBezTo>
                <a:cubicBezTo>
                  <a:pt x="207628" y="811938"/>
                  <a:pt x="214489" y="807291"/>
                  <a:pt x="220134" y="801646"/>
                </a:cubicBezTo>
                <a:cubicBezTo>
                  <a:pt x="225778" y="784713"/>
                  <a:pt x="226357" y="765125"/>
                  <a:pt x="237067" y="750846"/>
                </a:cubicBezTo>
                <a:cubicBezTo>
                  <a:pt x="259645" y="720743"/>
                  <a:pt x="282223" y="735794"/>
                  <a:pt x="304800" y="750846"/>
                </a:cubicBezTo>
                <a:cubicBezTo>
                  <a:pt x="311442" y="755274"/>
                  <a:pt x="315092" y="763352"/>
                  <a:pt x="321734" y="767780"/>
                </a:cubicBezTo>
                <a:cubicBezTo>
                  <a:pt x="332235" y="774781"/>
                  <a:pt x="344311" y="779069"/>
                  <a:pt x="355600" y="784713"/>
                </a:cubicBezTo>
                <a:cubicBezTo>
                  <a:pt x="378600" y="780113"/>
                  <a:pt x="480662" y="761098"/>
                  <a:pt x="508000" y="750846"/>
                </a:cubicBezTo>
                <a:cubicBezTo>
                  <a:pt x="531636" y="741983"/>
                  <a:pt x="553156" y="728269"/>
                  <a:pt x="575734" y="716980"/>
                </a:cubicBezTo>
                <a:lnTo>
                  <a:pt x="643467" y="683113"/>
                </a:lnTo>
                <a:lnTo>
                  <a:pt x="677334" y="666180"/>
                </a:lnTo>
                <a:cubicBezTo>
                  <a:pt x="712116" y="631396"/>
                  <a:pt x="687127" y="652816"/>
                  <a:pt x="762000" y="615380"/>
                </a:cubicBezTo>
                <a:cubicBezTo>
                  <a:pt x="769140" y="611810"/>
                  <a:pt x="772292" y="602874"/>
                  <a:pt x="778934" y="598446"/>
                </a:cubicBezTo>
                <a:cubicBezTo>
                  <a:pt x="789435" y="591445"/>
                  <a:pt x="801511" y="587157"/>
                  <a:pt x="812800" y="581513"/>
                </a:cubicBezTo>
                <a:cubicBezTo>
                  <a:pt x="863600" y="587157"/>
                  <a:pt x="914682" y="590674"/>
                  <a:pt x="965200" y="598446"/>
                </a:cubicBezTo>
                <a:cubicBezTo>
                  <a:pt x="988202" y="601985"/>
                  <a:pt x="1009661" y="615380"/>
                  <a:pt x="1032934" y="615380"/>
                </a:cubicBezTo>
                <a:cubicBezTo>
                  <a:pt x="1089660" y="615380"/>
                  <a:pt x="1145823" y="604091"/>
                  <a:pt x="1202267" y="598446"/>
                </a:cubicBezTo>
                <a:lnTo>
                  <a:pt x="1270000" y="564580"/>
                </a:lnTo>
                <a:cubicBezTo>
                  <a:pt x="1281289" y="558935"/>
                  <a:pt x="1291893" y="551637"/>
                  <a:pt x="1303867" y="547646"/>
                </a:cubicBezTo>
                <a:cubicBezTo>
                  <a:pt x="1320800" y="542002"/>
                  <a:pt x="1338094" y="537342"/>
                  <a:pt x="1354667" y="530713"/>
                </a:cubicBezTo>
                <a:cubicBezTo>
                  <a:pt x="1366386" y="526026"/>
                  <a:pt x="1376084" y="515855"/>
                  <a:pt x="1388534" y="513780"/>
                </a:cubicBezTo>
                <a:cubicBezTo>
                  <a:pt x="1444488" y="504454"/>
                  <a:pt x="1501488" y="503110"/>
                  <a:pt x="1557867" y="496846"/>
                </a:cubicBezTo>
                <a:cubicBezTo>
                  <a:pt x="1847460" y="464669"/>
                  <a:pt x="1519985" y="490747"/>
                  <a:pt x="1964267" y="462980"/>
                </a:cubicBezTo>
                <a:cubicBezTo>
                  <a:pt x="1994624" y="452860"/>
                  <a:pt x="2061878" y="433102"/>
                  <a:pt x="2082800" y="412180"/>
                </a:cubicBezTo>
                <a:lnTo>
                  <a:pt x="2133600" y="361380"/>
                </a:lnTo>
                <a:cubicBezTo>
                  <a:pt x="2139245" y="355735"/>
                  <a:pt x="2143394" y="348016"/>
                  <a:pt x="2150534" y="344446"/>
                </a:cubicBezTo>
                <a:cubicBezTo>
                  <a:pt x="2191540" y="323943"/>
                  <a:pt x="2175475" y="336437"/>
                  <a:pt x="2201334" y="310580"/>
                </a:cubicBezTo>
                <a:cubicBezTo>
                  <a:pt x="2286001" y="316224"/>
                  <a:pt x="2371771" y="312766"/>
                  <a:pt x="2455334" y="327513"/>
                </a:cubicBezTo>
                <a:cubicBezTo>
                  <a:pt x="2471056" y="330287"/>
                  <a:pt x="2473908" y="356793"/>
                  <a:pt x="2489200" y="361380"/>
                </a:cubicBezTo>
                <a:cubicBezTo>
                  <a:pt x="2532788" y="374456"/>
                  <a:pt x="2579617" y="371877"/>
                  <a:pt x="2624667" y="378313"/>
                </a:cubicBezTo>
                <a:cubicBezTo>
                  <a:pt x="2658656" y="383168"/>
                  <a:pt x="2692400" y="389602"/>
                  <a:pt x="2726267" y="395246"/>
                </a:cubicBezTo>
                <a:cubicBezTo>
                  <a:pt x="2810934" y="389602"/>
                  <a:pt x="2895761" y="385995"/>
                  <a:pt x="2980267" y="378313"/>
                </a:cubicBezTo>
                <a:cubicBezTo>
                  <a:pt x="3050826" y="371899"/>
                  <a:pt x="3090293" y="368169"/>
                  <a:pt x="3149600" y="344446"/>
                </a:cubicBezTo>
                <a:cubicBezTo>
                  <a:pt x="3161319" y="339759"/>
                  <a:pt x="3172178" y="333157"/>
                  <a:pt x="3183467" y="327513"/>
                </a:cubicBezTo>
                <a:cubicBezTo>
                  <a:pt x="3262489" y="333157"/>
                  <a:pt x="3341922" y="334620"/>
                  <a:pt x="3420534" y="344446"/>
                </a:cubicBezTo>
                <a:cubicBezTo>
                  <a:pt x="3477652" y="351586"/>
                  <a:pt x="3533423" y="367024"/>
                  <a:pt x="3589867" y="378313"/>
                </a:cubicBezTo>
                <a:lnTo>
                  <a:pt x="3674534" y="395246"/>
                </a:lnTo>
                <a:cubicBezTo>
                  <a:pt x="3741868" y="408713"/>
                  <a:pt x="3812590" y="407399"/>
                  <a:pt x="3877734" y="429113"/>
                </a:cubicBezTo>
                <a:cubicBezTo>
                  <a:pt x="3966398" y="458667"/>
                  <a:pt x="3910864" y="443522"/>
                  <a:pt x="4047067" y="462980"/>
                </a:cubicBezTo>
                <a:cubicBezTo>
                  <a:pt x="4126089" y="457335"/>
                  <a:pt x="4205395" y="454795"/>
                  <a:pt x="4284134" y="446046"/>
                </a:cubicBezTo>
                <a:cubicBezTo>
                  <a:pt x="4306365" y="443576"/>
                  <a:pt x="4377968" y="422060"/>
                  <a:pt x="4402667" y="412180"/>
                </a:cubicBezTo>
                <a:cubicBezTo>
                  <a:pt x="4414386" y="407492"/>
                  <a:pt x="4424398" y="398713"/>
                  <a:pt x="4436534" y="395246"/>
                </a:cubicBezTo>
                <a:cubicBezTo>
                  <a:pt x="4464207" y="387339"/>
                  <a:pt x="4492978" y="383957"/>
                  <a:pt x="4521200" y="378313"/>
                </a:cubicBezTo>
                <a:cubicBezTo>
                  <a:pt x="4549422" y="383957"/>
                  <a:pt x="4577771" y="389002"/>
                  <a:pt x="4605867" y="395246"/>
                </a:cubicBezTo>
                <a:cubicBezTo>
                  <a:pt x="4628585" y="400295"/>
                  <a:pt x="4650327" y="412180"/>
                  <a:pt x="4673600" y="412180"/>
                </a:cubicBezTo>
                <a:cubicBezTo>
                  <a:pt x="4735945" y="412180"/>
                  <a:pt x="4797778" y="400891"/>
                  <a:pt x="4859867" y="395246"/>
                </a:cubicBezTo>
                <a:cubicBezTo>
                  <a:pt x="4894236" y="386654"/>
                  <a:pt x="4944392" y="375955"/>
                  <a:pt x="4978400" y="361380"/>
                </a:cubicBezTo>
                <a:lnTo>
                  <a:pt x="5080000" y="310580"/>
                </a:lnTo>
                <a:cubicBezTo>
                  <a:pt x="5087140" y="307010"/>
                  <a:pt x="5090292" y="298074"/>
                  <a:pt x="5096934" y="293646"/>
                </a:cubicBezTo>
                <a:cubicBezTo>
                  <a:pt x="5107435" y="286645"/>
                  <a:pt x="5120703" y="284286"/>
                  <a:pt x="5130800" y="276713"/>
                </a:cubicBezTo>
                <a:cubicBezTo>
                  <a:pt x="5143572" y="267134"/>
                  <a:pt x="5157527" y="257126"/>
                  <a:pt x="5164667" y="242846"/>
                </a:cubicBezTo>
                <a:cubicBezTo>
                  <a:pt x="5170311" y="231557"/>
                  <a:pt x="5171503" y="216553"/>
                  <a:pt x="5181600" y="208980"/>
                </a:cubicBezTo>
                <a:cubicBezTo>
                  <a:pt x="5195879" y="198270"/>
                  <a:pt x="5215994" y="199077"/>
                  <a:pt x="5232400" y="192046"/>
                </a:cubicBezTo>
                <a:cubicBezTo>
                  <a:pt x="5389953" y="124524"/>
                  <a:pt x="5194837" y="187224"/>
                  <a:pt x="5401734" y="141246"/>
                </a:cubicBezTo>
                <a:cubicBezTo>
                  <a:pt x="5464915" y="127206"/>
                  <a:pt x="5436281" y="127428"/>
                  <a:pt x="5486400" y="107380"/>
                </a:cubicBezTo>
                <a:cubicBezTo>
                  <a:pt x="5502973" y="100751"/>
                  <a:pt x="5520267" y="96091"/>
                  <a:pt x="5537200" y="90446"/>
                </a:cubicBezTo>
                <a:cubicBezTo>
                  <a:pt x="5571067" y="96091"/>
                  <a:pt x="5605491" y="99053"/>
                  <a:pt x="5638800" y="107380"/>
                </a:cubicBezTo>
                <a:cubicBezTo>
                  <a:pt x="5651045" y="110441"/>
                  <a:pt x="5660948" y="119626"/>
                  <a:pt x="5672667" y="124313"/>
                </a:cubicBezTo>
                <a:cubicBezTo>
                  <a:pt x="5689240" y="130942"/>
                  <a:pt x="5706894" y="134617"/>
                  <a:pt x="5723467" y="141246"/>
                </a:cubicBezTo>
                <a:cubicBezTo>
                  <a:pt x="5735186" y="145934"/>
                  <a:pt x="5744884" y="156105"/>
                  <a:pt x="5757334" y="158180"/>
                </a:cubicBezTo>
                <a:cubicBezTo>
                  <a:pt x="5813288" y="167506"/>
                  <a:pt x="5870223" y="169469"/>
                  <a:pt x="5926667" y="175113"/>
                </a:cubicBezTo>
                <a:cubicBezTo>
                  <a:pt x="5949245" y="163824"/>
                  <a:pt x="5976550" y="159095"/>
                  <a:pt x="5994400" y="141246"/>
                </a:cubicBezTo>
                <a:cubicBezTo>
                  <a:pt x="6000045" y="135602"/>
                  <a:pt x="6004489" y="128420"/>
                  <a:pt x="6011334" y="124313"/>
                </a:cubicBezTo>
                <a:cubicBezTo>
                  <a:pt x="6032979" y="111326"/>
                  <a:pt x="6056489" y="101735"/>
                  <a:pt x="6079067" y="90446"/>
                </a:cubicBezTo>
                <a:lnTo>
                  <a:pt x="6180667" y="39646"/>
                </a:lnTo>
                <a:cubicBezTo>
                  <a:pt x="6222298" y="18830"/>
                  <a:pt x="6270978" y="17069"/>
                  <a:pt x="6316134" y="5780"/>
                </a:cubicBezTo>
                <a:cubicBezTo>
                  <a:pt x="6368155" y="-7225"/>
                  <a:pt x="6423378" y="5780"/>
                  <a:pt x="6477000" y="5780"/>
                </a:cubicBezTo>
              </a:path>
            </a:pathLst>
          </a:custGeom>
          <a:ln w="12700">
            <a:solidFill>
              <a:srgbClr val="FF6600"/>
            </a:solidFill>
          </a:ln>
        </p:spPr>
        <p:style>
          <a:lnRef idx="1">
            <a:schemeClr val="accent6"/>
          </a:lnRef>
          <a:fillRef idx="0">
            <a:schemeClr val="accent6"/>
          </a:fillRef>
          <a:effectRef idx="0">
            <a:schemeClr val="accent6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cxnSp>
        <p:nvCxnSpPr>
          <p:cNvPr id="66" name="직선 연결선 65">
            <a:extLst>
              <a:ext uri="{FF2B5EF4-FFF2-40B4-BE49-F238E27FC236}">
                <a16:creationId xmlns:a16="http://schemas.microsoft.com/office/drawing/2014/main" id="{E5489DC7-BAF4-4DA7-A0AE-B236E07F0FC0}"/>
              </a:ext>
            </a:extLst>
          </p:cNvPr>
          <p:cNvCxnSpPr>
            <a:cxnSpLocks/>
          </p:cNvCxnSpPr>
          <p:nvPr/>
        </p:nvCxnSpPr>
        <p:spPr>
          <a:xfrm>
            <a:off x="4007286" y="2170489"/>
            <a:ext cx="0" cy="1559205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7" name="TextBox 76">
            <a:extLst>
              <a:ext uri="{FF2B5EF4-FFF2-40B4-BE49-F238E27FC236}">
                <a16:creationId xmlns:a16="http://schemas.microsoft.com/office/drawing/2014/main" id="{B9981648-23E5-4008-BC0B-94E1404B2B18}"/>
              </a:ext>
            </a:extLst>
          </p:cNvPr>
          <p:cNvSpPr txBox="1"/>
          <p:nvPr/>
        </p:nvSpPr>
        <p:spPr>
          <a:xfrm>
            <a:off x="1265466" y="4015781"/>
            <a:ext cx="1299244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기준부하 및 목표사용량 확인</a:t>
            </a:r>
          </a:p>
        </p:txBody>
      </p:sp>
      <p:pic>
        <p:nvPicPr>
          <p:cNvPr id="80" name="Picture 2" descr="standardì ëí ì´ë¯¸ì§ ê²ìê²°ê³¼">
            <a:extLst>
              <a:ext uri="{FF2B5EF4-FFF2-40B4-BE49-F238E27FC236}">
                <a16:creationId xmlns:a16="http://schemas.microsoft.com/office/drawing/2014/main" id="{AC5EC0E2-05B8-4431-A21D-4157002CD8E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34539" y="4024865"/>
            <a:ext cx="170228" cy="17022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cxnSp>
        <p:nvCxnSpPr>
          <p:cNvPr id="81" name="직선 연결선 80">
            <a:extLst>
              <a:ext uri="{FF2B5EF4-FFF2-40B4-BE49-F238E27FC236}">
                <a16:creationId xmlns:a16="http://schemas.microsoft.com/office/drawing/2014/main" id="{DEE5AE66-DE1E-4103-8EAE-44458912ABD4}"/>
              </a:ext>
            </a:extLst>
          </p:cNvPr>
          <p:cNvCxnSpPr/>
          <p:nvPr/>
        </p:nvCxnSpPr>
        <p:spPr>
          <a:xfrm>
            <a:off x="6897216" y="1990428"/>
            <a:ext cx="504056" cy="0"/>
          </a:xfrm>
          <a:prstGeom prst="line">
            <a:avLst/>
          </a:prstGeom>
          <a:ln w="19050">
            <a:solidFill>
              <a:srgbClr val="FF66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7A32831B-C9B4-47BB-8CC9-586C2D0E968A}"/>
              </a:ext>
            </a:extLst>
          </p:cNvPr>
          <p:cNvSpPr/>
          <p:nvPr/>
        </p:nvSpPr>
        <p:spPr>
          <a:xfrm>
            <a:off x="7473280" y="1868200"/>
            <a:ext cx="1008112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실제 사용량</a:t>
            </a:r>
          </a:p>
        </p:txBody>
      </p:sp>
      <p:graphicFrame>
        <p:nvGraphicFramePr>
          <p:cNvPr id="89" name="표 88">
            <a:extLst>
              <a:ext uri="{FF2B5EF4-FFF2-40B4-BE49-F238E27FC236}">
                <a16:creationId xmlns:a16="http://schemas.microsoft.com/office/drawing/2014/main" id="{CE3349C9-5683-45A2-8FC3-AD92144B6A3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67721496"/>
              </p:ext>
            </p:extLst>
          </p:nvPr>
        </p:nvGraphicFramePr>
        <p:xfrm>
          <a:off x="278113" y="4293096"/>
          <a:ext cx="7915260" cy="3561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8661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9314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93146">
                  <a:extLst>
                    <a:ext uri="{9D8B030D-6E8A-4147-A177-3AD203B41FA5}">
                      <a16:colId xmlns:a16="http://schemas.microsoft.com/office/drawing/2014/main" val="91379356"/>
                    </a:ext>
                  </a:extLst>
                </a:gridCol>
                <a:gridCol w="29314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93146">
                  <a:extLst>
                    <a:ext uri="{9D8B030D-6E8A-4147-A177-3AD203B41FA5}">
                      <a16:colId xmlns:a16="http://schemas.microsoft.com/office/drawing/2014/main" val="3679891012"/>
                    </a:ext>
                  </a:extLst>
                </a:gridCol>
                <a:gridCol w="293146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93146">
                  <a:extLst>
                    <a:ext uri="{9D8B030D-6E8A-4147-A177-3AD203B41FA5}">
                      <a16:colId xmlns:a16="http://schemas.microsoft.com/office/drawing/2014/main" val="2229935987"/>
                    </a:ext>
                  </a:extLst>
                </a:gridCol>
                <a:gridCol w="29314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93146">
                  <a:extLst>
                    <a:ext uri="{9D8B030D-6E8A-4147-A177-3AD203B41FA5}">
                      <a16:colId xmlns:a16="http://schemas.microsoft.com/office/drawing/2014/main" val="4026812072"/>
                    </a:ext>
                  </a:extLst>
                </a:gridCol>
                <a:gridCol w="293146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93146">
                  <a:extLst>
                    <a:ext uri="{9D8B030D-6E8A-4147-A177-3AD203B41FA5}">
                      <a16:colId xmlns:a16="http://schemas.microsoft.com/office/drawing/2014/main" val="1122824508"/>
                    </a:ext>
                  </a:extLst>
                </a:gridCol>
                <a:gridCol w="29314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293146">
                  <a:extLst>
                    <a:ext uri="{9D8B030D-6E8A-4147-A177-3AD203B41FA5}">
                      <a16:colId xmlns:a16="http://schemas.microsoft.com/office/drawing/2014/main" val="1502902784"/>
                    </a:ext>
                  </a:extLst>
                </a:gridCol>
                <a:gridCol w="293146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93146">
                  <a:extLst>
                    <a:ext uri="{9D8B030D-6E8A-4147-A177-3AD203B41FA5}">
                      <a16:colId xmlns:a16="http://schemas.microsoft.com/office/drawing/2014/main" val="354728812"/>
                    </a:ext>
                  </a:extLst>
                </a:gridCol>
                <a:gridCol w="29314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293146">
                  <a:extLst>
                    <a:ext uri="{9D8B030D-6E8A-4147-A177-3AD203B41FA5}">
                      <a16:colId xmlns:a16="http://schemas.microsoft.com/office/drawing/2014/main" val="914552893"/>
                    </a:ext>
                  </a:extLst>
                </a:gridCol>
                <a:gridCol w="293146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293146">
                  <a:extLst>
                    <a:ext uri="{9D8B030D-6E8A-4147-A177-3AD203B41FA5}">
                      <a16:colId xmlns:a16="http://schemas.microsoft.com/office/drawing/2014/main" val="2643701830"/>
                    </a:ext>
                  </a:extLst>
                </a:gridCol>
                <a:gridCol w="293146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293146">
                  <a:extLst>
                    <a:ext uri="{9D8B030D-6E8A-4147-A177-3AD203B41FA5}">
                      <a16:colId xmlns:a16="http://schemas.microsoft.com/office/drawing/2014/main" val="4156003338"/>
                    </a:ext>
                  </a:extLst>
                </a:gridCol>
                <a:gridCol w="293146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293146">
                  <a:extLst>
                    <a:ext uri="{9D8B030D-6E8A-4147-A177-3AD203B41FA5}">
                      <a16:colId xmlns:a16="http://schemas.microsoft.com/office/drawing/2014/main" val="186923855"/>
                    </a:ext>
                  </a:extLst>
                </a:gridCol>
                <a:gridCol w="293146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293146">
                  <a:extLst>
                    <a:ext uri="{9D8B030D-6E8A-4147-A177-3AD203B41FA5}">
                      <a16:colId xmlns:a16="http://schemas.microsoft.com/office/drawing/2014/main" val="328632746"/>
                    </a:ext>
                  </a:extLst>
                </a:gridCol>
                <a:gridCol w="293146">
                  <a:extLst>
                    <a:ext uri="{9D8B030D-6E8A-4147-A177-3AD203B41FA5}">
                      <a16:colId xmlns:a16="http://schemas.microsoft.com/office/drawing/2014/main" val="559109075"/>
                    </a:ext>
                  </a:extLst>
                </a:gridCol>
              </a:tblGrid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YYYY-MM</a:t>
                      </a:r>
                      <a:endParaRPr lang="en-US" altLang="ko-KR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01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02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03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04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05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06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07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08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09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11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12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13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14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15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16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17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18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19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21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22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23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24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합계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31163961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kern="1200" dirty="0">
                          <a:solidFill>
                            <a:srgbClr val="FF66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실제 사용량</a:t>
                      </a:r>
                      <a:endParaRPr lang="en-US" altLang="ko-KR" sz="7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400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500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550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540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550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520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530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750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800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90133474"/>
                  </a:ext>
                </a:extLst>
              </a:tr>
            </a:tbl>
          </a:graphicData>
        </a:graphic>
      </p:graphicFrame>
      <p:sp>
        <p:nvSpPr>
          <p:cNvPr id="67" name="TextBox 66">
            <a:extLst>
              <a:ext uri="{FF2B5EF4-FFF2-40B4-BE49-F238E27FC236}">
                <a16:creationId xmlns:a16="http://schemas.microsoft.com/office/drawing/2014/main" id="{E47AF898-9415-4EAE-8FDE-58B21D29C98D}"/>
              </a:ext>
            </a:extLst>
          </p:cNvPr>
          <p:cNvSpPr txBox="1"/>
          <p:nvPr/>
        </p:nvSpPr>
        <p:spPr>
          <a:xfrm>
            <a:off x="7221250" y="4005064"/>
            <a:ext cx="972108" cy="215444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square" rtlCol="0" anchor="ctr">
            <a:spAutoFit/>
          </a:bodyPr>
          <a:lstStyle/>
          <a:p>
            <a:pPr algn="ctr"/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표 접기</a:t>
            </a:r>
          </a:p>
        </p:txBody>
      </p:sp>
      <p:grpSp>
        <p:nvGrpSpPr>
          <p:cNvPr id="68" name="그룹 67">
            <a:extLst>
              <a:ext uri="{FF2B5EF4-FFF2-40B4-BE49-F238E27FC236}">
                <a16:creationId xmlns:a16="http://schemas.microsoft.com/office/drawing/2014/main" id="{FBA4C34C-4B9A-4E4A-8463-AC1E6E032FF5}"/>
              </a:ext>
            </a:extLst>
          </p:cNvPr>
          <p:cNvGrpSpPr/>
          <p:nvPr/>
        </p:nvGrpSpPr>
        <p:grpSpPr>
          <a:xfrm>
            <a:off x="210356" y="1203435"/>
            <a:ext cx="8024876" cy="260092"/>
            <a:chOff x="184526" y="1505937"/>
            <a:chExt cx="8024876" cy="260092"/>
          </a:xfrm>
        </p:grpSpPr>
        <p:sp>
          <p:nvSpPr>
            <p:cNvPr id="69" name="직사각형 68">
              <a:extLst>
                <a:ext uri="{FF2B5EF4-FFF2-40B4-BE49-F238E27FC236}">
                  <a16:creationId xmlns:a16="http://schemas.microsoft.com/office/drawing/2014/main" id="{5DA9481D-0EA9-465C-B030-38B46DFCFE44}"/>
                </a:ext>
              </a:extLst>
            </p:cNvPr>
            <p:cNvSpPr/>
            <p:nvPr/>
          </p:nvSpPr>
          <p:spPr>
            <a:xfrm>
              <a:off x="5810955" y="1550585"/>
              <a:ext cx="1820532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수익 현황</a:t>
              </a:r>
            </a:p>
          </p:txBody>
        </p:sp>
        <p:sp>
          <p:nvSpPr>
            <p:cNvPr id="70" name="직사각형 69">
              <a:extLst>
                <a:ext uri="{FF2B5EF4-FFF2-40B4-BE49-F238E27FC236}">
                  <a16:creationId xmlns:a16="http://schemas.microsoft.com/office/drawing/2014/main" id="{9DC02225-1C17-419B-AB93-5A0A6F86EE64}"/>
                </a:ext>
              </a:extLst>
            </p:cNvPr>
            <p:cNvSpPr/>
            <p:nvPr/>
          </p:nvSpPr>
          <p:spPr>
            <a:xfrm>
              <a:off x="184526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에너지 모니터링</a:t>
              </a:r>
            </a:p>
          </p:txBody>
        </p:sp>
        <p:sp>
          <p:nvSpPr>
            <p:cNvPr id="71" name="직사각형 70">
              <a:extLst>
                <a:ext uri="{FF2B5EF4-FFF2-40B4-BE49-F238E27FC236}">
                  <a16:creationId xmlns:a16="http://schemas.microsoft.com/office/drawing/2014/main" id="{793AC099-C48F-43C2-8561-1047D6E397A8}"/>
                </a:ext>
              </a:extLst>
            </p:cNvPr>
            <p:cNvSpPr/>
            <p:nvPr/>
          </p:nvSpPr>
          <p:spPr>
            <a:xfrm>
              <a:off x="2191085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장치 모니터링</a:t>
              </a:r>
            </a:p>
          </p:txBody>
        </p:sp>
        <p:sp>
          <p:nvSpPr>
            <p:cNvPr id="72" name="직사각형 71">
              <a:extLst>
                <a:ext uri="{FF2B5EF4-FFF2-40B4-BE49-F238E27FC236}">
                  <a16:creationId xmlns:a16="http://schemas.microsoft.com/office/drawing/2014/main" id="{E54445F5-AB0B-4E78-992C-EE3A60B07476}"/>
                </a:ext>
              </a:extLst>
            </p:cNvPr>
            <p:cNvSpPr/>
            <p:nvPr/>
          </p:nvSpPr>
          <p:spPr>
            <a:xfrm>
              <a:off x="4197644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상황</a:t>
              </a:r>
              <a:r>
                <a:rPr lang="en-US" altLang="ko-KR" sz="700" dirty="0"/>
                <a:t> </a:t>
              </a:r>
              <a:r>
                <a:rPr lang="ko-KR" altLang="en-US" sz="700" dirty="0"/>
                <a:t>관제</a:t>
              </a:r>
            </a:p>
          </p:txBody>
        </p:sp>
        <p:sp>
          <p:nvSpPr>
            <p:cNvPr id="73" name="직사각형 72">
              <a:extLst>
                <a:ext uri="{FF2B5EF4-FFF2-40B4-BE49-F238E27FC236}">
                  <a16:creationId xmlns:a16="http://schemas.microsoft.com/office/drawing/2014/main" id="{2ABFF3CB-F6E3-47A6-A5D1-CABC6A841DDF}"/>
                </a:ext>
              </a:extLst>
            </p:cNvPr>
            <p:cNvSpPr/>
            <p:nvPr/>
          </p:nvSpPr>
          <p:spPr>
            <a:xfrm>
              <a:off x="6204202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요금</a:t>
              </a:r>
              <a:r>
                <a:rPr lang="en-US" altLang="ko-KR" sz="700" dirty="0"/>
                <a:t>/</a:t>
              </a:r>
              <a:r>
                <a:rPr lang="ko-KR" altLang="en-US" sz="700" dirty="0"/>
                <a:t>수익</a:t>
              </a:r>
            </a:p>
          </p:txBody>
        </p:sp>
      </p:grpSp>
      <p:sp>
        <p:nvSpPr>
          <p:cNvPr id="227" name="타원형 설명선 226"/>
          <p:cNvSpPr/>
          <p:nvPr/>
        </p:nvSpPr>
        <p:spPr>
          <a:xfrm>
            <a:off x="2089161" y="1420622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4" name="타원형 설명선 243"/>
          <p:cNvSpPr/>
          <p:nvPr/>
        </p:nvSpPr>
        <p:spPr>
          <a:xfrm>
            <a:off x="5850834" y="1420622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5" name="타원형 설명선 244"/>
          <p:cNvSpPr/>
          <p:nvPr/>
        </p:nvSpPr>
        <p:spPr>
          <a:xfrm>
            <a:off x="4045658" y="1420622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6" name="타원형 설명선 245"/>
          <p:cNvSpPr/>
          <p:nvPr/>
        </p:nvSpPr>
        <p:spPr>
          <a:xfrm>
            <a:off x="197170" y="1759631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3" name="타원형 설명선 225">
            <a:extLst>
              <a:ext uri="{FF2B5EF4-FFF2-40B4-BE49-F238E27FC236}">
                <a16:creationId xmlns:a16="http://schemas.microsoft.com/office/drawing/2014/main" id="{93402A8C-F86A-4207-9226-F02BE6AB6E19}"/>
              </a:ext>
            </a:extLst>
          </p:cNvPr>
          <p:cNvSpPr/>
          <p:nvPr/>
        </p:nvSpPr>
        <p:spPr>
          <a:xfrm>
            <a:off x="954473" y="1420622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74" name="표 73">
            <a:extLst>
              <a:ext uri="{FF2B5EF4-FFF2-40B4-BE49-F238E27FC236}">
                <a16:creationId xmlns:a16="http://schemas.microsoft.com/office/drawing/2014/main" id="{16F19235-0361-475D-B3F0-DB69F8A898D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36716286"/>
              </p:ext>
            </p:extLst>
          </p:nvPr>
        </p:nvGraphicFramePr>
        <p:xfrm>
          <a:off x="309595" y="5173215"/>
          <a:ext cx="4114985" cy="54384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08191">
                  <a:extLst>
                    <a:ext uri="{9D8B030D-6E8A-4147-A177-3AD203B41FA5}">
                      <a16:colId xmlns:a16="http://schemas.microsoft.com/office/drawing/2014/main" val="621667645"/>
                    </a:ext>
                  </a:extLst>
                </a:gridCol>
                <a:gridCol w="429542">
                  <a:extLst>
                    <a:ext uri="{9D8B030D-6E8A-4147-A177-3AD203B41FA5}">
                      <a16:colId xmlns:a16="http://schemas.microsoft.com/office/drawing/2014/main" val="2248332737"/>
                    </a:ext>
                  </a:extLst>
                </a:gridCol>
                <a:gridCol w="429542">
                  <a:extLst>
                    <a:ext uri="{9D8B030D-6E8A-4147-A177-3AD203B41FA5}">
                      <a16:colId xmlns:a16="http://schemas.microsoft.com/office/drawing/2014/main" val="899356341"/>
                    </a:ext>
                  </a:extLst>
                </a:gridCol>
                <a:gridCol w="429542">
                  <a:extLst>
                    <a:ext uri="{9D8B030D-6E8A-4147-A177-3AD203B41FA5}">
                      <a16:colId xmlns:a16="http://schemas.microsoft.com/office/drawing/2014/main" val="2787753370"/>
                    </a:ext>
                  </a:extLst>
                </a:gridCol>
                <a:gridCol w="429542">
                  <a:extLst>
                    <a:ext uri="{9D8B030D-6E8A-4147-A177-3AD203B41FA5}">
                      <a16:colId xmlns:a16="http://schemas.microsoft.com/office/drawing/2014/main" val="75509663"/>
                    </a:ext>
                  </a:extLst>
                </a:gridCol>
                <a:gridCol w="429542">
                  <a:extLst>
                    <a:ext uri="{9D8B030D-6E8A-4147-A177-3AD203B41FA5}">
                      <a16:colId xmlns:a16="http://schemas.microsoft.com/office/drawing/2014/main" val="2371680936"/>
                    </a:ext>
                  </a:extLst>
                </a:gridCol>
                <a:gridCol w="429542">
                  <a:extLst>
                    <a:ext uri="{9D8B030D-6E8A-4147-A177-3AD203B41FA5}">
                      <a16:colId xmlns:a16="http://schemas.microsoft.com/office/drawing/2014/main" val="1293287838"/>
                    </a:ext>
                  </a:extLst>
                </a:gridCol>
                <a:gridCol w="429542">
                  <a:extLst>
                    <a:ext uri="{9D8B030D-6E8A-4147-A177-3AD203B41FA5}">
                      <a16:colId xmlns:a16="http://schemas.microsoft.com/office/drawing/2014/main" val="346575581"/>
                    </a:ext>
                  </a:extLst>
                </a:gridCol>
              </a:tblGrid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조회기간</a:t>
                      </a:r>
                      <a:endParaRPr lang="en-US" altLang="ko-KR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lang="ko-KR" altLang="en-US" sz="800" b="1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기간설정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75581190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오늘 사용량</a:t>
                      </a:r>
                      <a:endParaRPr lang="en-US" altLang="ko-KR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sng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15</a:t>
                      </a:r>
                      <a:r>
                        <a:rPr kumimoji="1" lang="ko-KR" altLang="en-US" sz="800" b="0" i="0" u="none" strike="sng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분 전 </a:t>
                      </a:r>
                      <a:r>
                        <a:rPr kumimoji="1" lang="en-US" altLang="ko-KR" sz="800" b="0" i="0" u="none" strike="sng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~ </a:t>
                      </a:r>
                      <a:r>
                        <a:rPr kumimoji="1" lang="ko-KR" altLang="en-US" sz="800" b="0" i="0" u="none" strike="sng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현재시간</a:t>
                      </a:r>
                      <a:endParaRPr lang="ko-KR" altLang="en-US" sz="800" b="1" strike="sng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시간 전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~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현재시간</a:t>
                      </a:r>
                      <a:endParaRPr lang="ko-KR" altLang="en-US" sz="800" b="1" strike="no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오늘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00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시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~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현재시간</a:t>
                      </a:r>
                      <a:endParaRPr lang="ko-KR" altLang="en-US" sz="8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주 전 </a:t>
                      </a: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~ 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현재시간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달 전 </a:t>
                      </a: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~ 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현재시간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 전</a:t>
                      </a:r>
                      <a:r>
                        <a:rPr lang="en-US" altLang="ko-KR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~ </a:t>
                      </a:r>
                      <a:r>
                        <a:rPr lang="ko-KR" altLang="en-US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현재시간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지정된 시작일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29881618"/>
                  </a:ext>
                </a:extLst>
              </a:tr>
            </a:tbl>
          </a:graphicData>
        </a:graphic>
      </p:graphicFrame>
      <p:sp>
        <p:nvSpPr>
          <p:cNvPr id="75" name="타원형 설명선 225">
            <a:extLst>
              <a:ext uri="{FF2B5EF4-FFF2-40B4-BE49-F238E27FC236}">
                <a16:creationId xmlns:a16="http://schemas.microsoft.com/office/drawing/2014/main" id="{D9FB0648-5B8A-4954-8014-1C39AB0F3629}"/>
              </a:ext>
            </a:extLst>
          </p:cNvPr>
          <p:cNvSpPr/>
          <p:nvPr/>
        </p:nvSpPr>
        <p:spPr>
          <a:xfrm>
            <a:off x="12770" y="5157192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표</a:t>
            </a:r>
            <a:r>
              <a:rPr lang="en-US" altLang="ko-KR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76" name="표 75">
            <a:extLst>
              <a:ext uri="{FF2B5EF4-FFF2-40B4-BE49-F238E27FC236}">
                <a16:creationId xmlns:a16="http://schemas.microsoft.com/office/drawing/2014/main" id="{BDAD900A-BFE6-4539-9F6D-79C85C1BBAB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53944062"/>
              </p:ext>
            </p:extLst>
          </p:nvPr>
        </p:nvGraphicFramePr>
        <p:xfrm>
          <a:off x="4581797" y="5210172"/>
          <a:ext cx="3788722" cy="78768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61864">
                  <a:extLst>
                    <a:ext uri="{9D8B030D-6E8A-4147-A177-3AD203B41FA5}">
                      <a16:colId xmlns:a16="http://schemas.microsoft.com/office/drawing/2014/main" val="621667645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2248332737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899356341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2787753370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75509663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2371680936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1293287838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346575581"/>
                    </a:ext>
                  </a:extLst>
                </a:gridCol>
              </a:tblGrid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조회기간</a:t>
                      </a:r>
                      <a:endParaRPr lang="en-US" altLang="ko-KR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lang="ko-KR" altLang="en-US" sz="800" b="1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기간설정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75581190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조회 간격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strike="sng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strike="sng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  <a:r>
                        <a:rPr lang="ko-KR" altLang="en-US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strike="no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  <a:r>
                        <a:rPr lang="ko-KR" altLang="en-US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strike="no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  <a:r>
                        <a:rPr lang="ko-KR" altLang="en-US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strike="no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  <a:endParaRPr lang="en-US" altLang="ko-KR" sz="800" b="0" strike="no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lang="ko-KR" altLang="en-US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strike="no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  <a:r>
                        <a:rPr lang="ko-KR" altLang="en-US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strike="no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  <a:endParaRPr lang="en-US" altLang="ko-KR" sz="800" b="0" strike="no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  <a:endParaRPr lang="en-US" altLang="ko-KR" sz="800" b="0" strike="no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지정된 기간에 따라 판단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29881618"/>
                  </a:ext>
                </a:extLst>
              </a:tr>
            </a:tbl>
          </a:graphicData>
        </a:graphic>
      </p:graphicFrame>
      <p:sp>
        <p:nvSpPr>
          <p:cNvPr id="92" name="타원형 설명선 225">
            <a:extLst>
              <a:ext uri="{FF2B5EF4-FFF2-40B4-BE49-F238E27FC236}">
                <a16:creationId xmlns:a16="http://schemas.microsoft.com/office/drawing/2014/main" id="{B2A5BEBE-F8DC-49C9-BF49-64033BD3BAE4}"/>
              </a:ext>
            </a:extLst>
          </p:cNvPr>
          <p:cNvSpPr/>
          <p:nvPr/>
        </p:nvSpPr>
        <p:spPr>
          <a:xfrm>
            <a:off x="4286812" y="5178892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표</a:t>
            </a:r>
            <a:r>
              <a:rPr lang="en-US" altLang="ko-KR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7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54FE3F46-E395-40A6-B33A-DC722E8E26AF}"/>
              </a:ext>
            </a:extLst>
          </p:cNvPr>
          <p:cNvSpPr/>
          <p:nvPr/>
        </p:nvSpPr>
        <p:spPr>
          <a:xfrm>
            <a:off x="7693475" y="1567667"/>
            <a:ext cx="473661" cy="289182"/>
          </a:xfrm>
          <a:prstGeom prst="rect">
            <a:avLst/>
          </a:prstGeom>
          <a:solidFill>
            <a:srgbClr val="0099FF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>
              <a:lnSpc>
                <a:spcPct val="150000"/>
              </a:lnSpc>
            </a:pPr>
            <a:r>
              <a:rPr lang="ko-KR" altLang="en-US" sz="105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조회</a:t>
            </a:r>
          </a:p>
        </p:txBody>
      </p:sp>
    </p:spTree>
    <p:extLst>
      <p:ext uri="{BB962C8B-B14F-4D97-AF65-F5344CB8AC3E}">
        <p14:creationId xmlns:p14="http://schemas.microsoft.com/office/powerpoint/2010/main" val="3754682563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9104309" y="6645875"/>
            <a:ext cx="140029" cy="138499"/>
          </a:xfrm>
        </p:spPr>
        <p:txBody>
          <a:bodyPr/>
          <a:lstStyle/>
          <a:p>
            <a:pPr>
              <a:defRPr/>
            </a:pPr>
            <a:fld id="{9E41B634-5682-4388-99E7-FE44DCFD254B}" type="slidenum">
              <a:rPr lang="ko-KR" altLang="en-US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>
                <a:defRPr/>
              </a:pPr>
              <a:t>26</a:t>
            </a:fld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텍스트 개체 틀 8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Site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 &gt;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에너지 모니터링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&gt; DR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실적 현황</a:t>
            </a:r>
          </a:p>
        </p:txBody>
      </p:sp>
      <p:sp>
        <p:nvSpPr>
          <p:cNvPr id="10" name="텍스트 개체 틀 9"/>
          <p:cNvSpPr>
            <a:spLocks noGrp="1"/>
          </p:cNvSpPr>
          <p:nvPr>
            <p:ph type="body" sz="quarter" idx="10"/>
          </p:nvPr>
        </p:nvSpPr>
        <p:spPr>
          <a:xfrm>
            <a:off x="6023595" y="44624"/>
            <a:ext cx="1233661" cy="196974"/>
          </a:xfrm>
        </p:spPr>
        <p:txBody>
          <a:bodyPr/>
          <a:lstStyle/>
          <a:p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DR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실적 현황</a:t>
            </a:r>
          </a:p>
        </p:txBody>
      </p:sp>
      <p:graphicFrame>
        <p:nvGraphicFramePr>
          <p:cNvPr id="102" name="Group 15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61320911"/>
              </p:ext>
            </p:extLst>
          </p:nvPr>
        </p:nvGraphicFramePr>
        <p:xfrm>
          <a:off x="8469313" y="276225"/>
          <a:ext cx="1404000" cy="4674816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3002"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Description</a:t>
                      </a: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6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그래프 표시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사용량 그래프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1)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꺽은선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그래프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항목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: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실제 사용량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 - Y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축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: </a:t>
                      </a:r>
                      <a:r>
                        <a:rPr kumimoji="1" lang="en-US" altLang="ko-KR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KWh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의 전력량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 - X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축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: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간격 표시 기준은 표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3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참고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7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사용량 데이터 표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조회된 데이터의 그래프 표시 항목을 표로 표현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특정 개수가 넘어 표가 좌우로 넓어질 경우에는 하단으로 표 확장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브라우저 크기를 조정하여 폭이 좁아질 경우에도 하단으로 표 확장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행 최대 칸수는 표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4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참고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8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표 접기</a:t>
                      </a:r>
                      <a:endParaRPr lang="en-US" altLang="ko-KR" sz="800" b="1" u="non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그래프 하단 표 영역 표시의 </a:t>
                      </a:r>
                      <a:r>
                        <a:rPr lang="ko-KR" altLang="en-US" sz="800" b="0" u="none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토글</a:t>
                      </a: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 버튼</a:t>
                      </a:r>
                      <a:endParaRPr lang="en-US" altLang="ko-KR" sz="800" b="0" u="none" kern="120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9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데이터 저장하기</a:t>
                      </a:r>
                      <a:endParaRPr lang="en-US" altLang="ko-KR" sz="800" b="1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조회된 데이터를 </a:t>
                      </a: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csv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형태의 파일로 저장한다</a:t>
                      </a: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.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10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목표사용량 확인</a:t>
                      </a:r>
                      <a:endParaRPr lang="en-US" altLang="ko-KR" sz="800" b="1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마우스로 클릭하면 기준 부하 및 목표사용량을 확인할 수 있는 그래프 요소와 표가 추가된다</a:t>
                      </a: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.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800" b="0" u="none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토글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형태</a:t>
                      </a: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sym typeface="Wingdings" panose="05000000000000000000" pitchFamily="2" charset="2"/>
                        </a:rPr>
                        <a:t> </a:t>
                      </a:r>
                      <a:r>
                        <a:rPr lang="ko-KR" altLang="en-US" sz="800" b="0" u="none" dirty="0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sym typeface="Wingdings" panose="05000000000000000000" pitchFamily="2" charset="2"/>
                        </a:rPr>
                        <a:t>다음 페이지 참고</a:t>
                      </a:r>
                      <a:endParaRPr lang="en-US" altLang="ko-KR" sz="800" b="0" u="none" dirty="0">
                        <a:solidFill>
                          <a:srgbClr val="0066FF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78" name="TextBox 77"/>
          <p:cNvSpPr txBox="1"/>
          <p:nvPr/>
        </p:nvSpPr>
        <p:spPr>
          <a:xfrm>
            <a:off x="7121707" y="21349"/>
            <a:ext cx="567597" cy="2308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화면</a:t>
            </a:r>
            <a:r>
              <a:rPr lang="en-US" altLang="ko-KR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ID</a:t>
            </a:r>
            <a:endParaRPr lang="ko-KR" altLang="en-US" sz="9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7689304" y="43659"/>
            <a:ext cx="792088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itchFamily="50" charset="-127"/>
                <a:ea typeface="맑은 고딕" pitchFamily="50" charset="-127"/>
              </a:rPr>
              <a:t>ewpsp_scr_013</a:t>
            </a:r>
            <a:endParaRPr lang="ko-KR" altLang="en-US" sz="700" dirty="0">
              <a:latin typeface="맑은 고딕" pitchFamily="50" charset="-127"/>
              <a:ea typeface="맑은 고딕" pitchFamily="50" charset="-127"/>
            </a:endParaRPr>
          </a:p>
        </p:txBody>
      </p:sp>
      <p:pic>
        <p:nvPicPr>
          <p:cNvPr id="18" name="Picture 3">
            <a:extLst>
              <a:ext uri="{FF2B5EF4-FFF2-40B4-BE49-F238E27FC236}">
                <a16:creationId xmlns:a16="http://schemas.microsoft.com/office/drawing/2014/main" id="{D14E8AEF-8EA8-4944-AE52-FF98A1FB783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8796" y="752041"/>
            <a:ext cx="8208912" cy="4019738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  <a:extLst/>
        </p:spPr>
      </p:pic>
      <p:pic>
        <p:nvPicPr>
          <p:cNvPr id="19" name="Picture 2">
            <a:extLst>
              <a:ext uri="{FF2B5EF4-FFF2-40B4-BE49-F238E27FC236}">
                <a16:creationId xmlns:a16="http://schemas.microsoft.com/office/drawing/2014/main" id="{6FBB0165-03FF-4BBD-A158-8DEF923CF53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6415" y="762442"/>
            <a:ext cx="8208912" cy="3487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20" name="직선 연결선 19">
            <a:extLst>
              <a:ext uri="{FF2B5EF4-FFF2-40B4-BE49-F238E27FC236}">
                <a16:creationId xmlns:a16="http://schemas.microsoft.com/office/drawing/2014/main" id="{37D07777-30AA-4506-9C18-6F3B4C7D943C}"/>
              </a:ext>
            </a:extLst>
          </p:cNvPr>
          <p:cNvCxnSpPr>
            <a:cxnSpLocks/>
          </p:cNvCxnSpPr>
          <p:nvPr/>
        </p:nvCxnSpPr>
        <p:spPr>
          <a:xfrm>
            <a:off x="128463" y="1124744"/>
            <a:ext cx="8208912" cy="0"/>
          </a:xfrm>
          <a:prstGeom prst="line">
            <a:avLst/>
          </a:prstGeom>
          <a:ln w="9525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5E84417E-CAA5-4FD3-BBB9-7CD5570EF571}"/>
              </a:ext>
            </a:extLst>
          </p:cNvPr>
          <p:cNvSpPr/>
          <p:nvPr/>
        </p:nvSpPr>
        <p:spPr>
          <a:xfrm>
            <a:off x="216315" y="1556792"/>
            <a:ext cx="1820532" cy="288032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en-US" altLang="ko-KR" sz="10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DR </a:t>
            </a:r>
            <a:r>
              <a:rPr lang="ko-KR" altLang="en-US" sz="10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실적 현황</a:t>
            </a: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180BACBD-4B64-4649-BD7C-E1EE3620FBC6}"/>
              </a:ext>
            </a:extLst>
          </p:cNvPr>
          <p:cNvSpPr/>
          <p:nvPr/>
        </p:nvSpPr>
        <p:spPr>
          <a:xfrm>
            <a:off x="120419" y="1726179"/>
            <a:ext cx="1510265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150000"/>
              </a:lnSpc>
            </a:pPr>
            <a:r>
              <a:rPr lang="en-US" altLang="ko-KR" sz="900" b="1" dirty="0">
                <a:solidFill>
                  <a:schemeClr val="bg1">
                    <a:lumMod val="65000"/>
                  </a:schemeClr>
                </a:solidFill>
                <a:latin typeface="맑은 고딕" pitchFamily="50" charset="-127"/>
                <a:ea typeface="맑은 고딕" pitchFamily="50" charset="-127"/>
              </a:rPr>
              <a:t>YYYY-MM-DD hh:mm</a:t>
            </a:r>
            <a:endParaRPr lang="ko-KR" altLang="en-US" sz="900" b="1" dirty="0">
              <a:solidFill>
                <a:schemeClr val="bg1">
                  <a:lumMod val="6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A27B69D7-2B77-4AF2-A717-2F8B00E5023D}"/>
              </a:ext>
            </a:extLst>
          </p:cNvPr>
          <p:cNvSpPr/>
          <p:nvPr/>
        </p:nvSpPr>
        <p:spPr>
          <a:xfrm>
            <a:off x="3512840" y="1569453"/>
            <a:ext cx="1224136" cy="288033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기간 설정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51E4F555-ACF8-422A-8A4C-263DF5607ED0}"/>
              </a:ext>
            </a:extLst>
          </p:cNvPr>
          <p:cNvSpPr/>
          <p:nvPr/>
        </p:nvSpPr>
        <p:spPr>
          <a:xfrm>
            <a:off x="4232920" y="1569453"/>
            <a:ext cx="1262753" cy="288033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YYY-MM</a:t>
            </a:r>
            <a:endParaRPr lang="ko-KR" altLang="en-US" sz="90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056B85B8-E22D-471D-BF90-7BA59FDE59DA}"/>
              </a:ext>
            </a:extLst>
          </p:cNvPr>
          <p:cNvSpPr/>
          <p:nvPr/>
        </p:nvSpPr>
        <p:spPr>
          <a:xfrm>
            <a:off x="5495673" y="1569453"/>
            <a:ext cx="288032" cy="288033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▼</a:t>
            </a: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5DE85575-6695-43D9-BA78-E72D7749FD5A}"/>
              </a:ext>
            </a:extLst>
          </p:cNvPr>
          <p:cNvSpPr/>
          <p:nvPr/>
        </p:nvSpPr>
        <p:spPr>
          <a:xfrm>
            <a:off x="5783705" y="1569453"/>
            <a:ext cx="249415" cy="288033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~</a:t>
            </a:r>
            <a:endParaRPr lang="ko-KR" altLang="en-US" sz="900" b="1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52DDF82F-9C8F-422F-B328-3979E21AEB5E}"/>
              </a:ext>
            </a:extLst>
          </p:cNvPr>
          <p:cNvSpPr/>
          <p:nvPr/>
        </p:nvSpPr>
        <p:spPr>
          <a:xfrm>
            <a:off x="6033120" y="1569453"/>
            <a:ext cx="1262753" cy="288033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YYYY-MM</a:t>
            </a:r>
            <a:endParaRPr lang="ko-KR" altLang="en-US" sz="90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508668D7-197F-47CF-8003-58499E43E073}"/>
              </a:ext>
            </a:extLst>
          </p:cNvPr>
          <p:cNvSpPr/>
          <p:nvPr/>
        </p:nvSpPr>
        <p:spPr>
          <a:xfrm>
            <a:off x="7295873" y="1569453"/>
            <a:ext cx="288032" cy="288033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▼</a:t>
            </a:r>
          </a:p>
        </p:txBody>
      </p:sp>
      <p:pic>
        <p:nvPicPr>
          <p:cNvPr id="47" name="Picture 2" descr="ì¤ì ì ëí ì´ë¯¸ì§ ê²ìê²°ê³¼">
            <a:extLst>
              <a:ext uri="{FF2B5EF4-FFF2-40B4-BE49-F238E27FC236}">
                <a16:creationId xmlns:a16="http://schemas.microsoft.com/office/drawing/2014/main" id="{90A888AD-844A-4544-B02A-A77BC3397C7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05865" y="844086"/>
            <a:ext cx="198592" cy="19859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8" name="사각형: 둥근 모서리 47">
            <a:extLst>
              <a:ext uri="{FF2B5EF4-FFF2-40B4-BE49-F238E27FC236}">
                <a16:creationId xmlns:a16="http://schemas.microsoft.com/office/drawing/2014/main" id="{119FCE8B-C633-47C3-A0BD-44AD20643BCC}"/>
              </a:ext>
            </a:extLst>
          </p:cNvPr>
          <p:cNvSpPr/>
          <p:nvPr/>
        </p:nvSpPr>
        <p:spPr>
          <a:xfrm>
            <a:off x="1239315" y="1637161"/>
            <a:ext cx="1013369" cy="180000"/>
          </a:xfrm>
          <a:prstGeom prst="roundRect">
            <a:avLst/>
          </a:prstGeom>
          <a:solidFill>
            <a:schemeClr val="bg1"/>
          </a:solidFill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ko-KR" altLang="en-US" sz="900" dirty="0">
                <a:solidFill>
                  <a:schemeClr val="tx1"/>
                </a:solidFill>
              </a:rPr>
              <a:t>기간 설정  ▼</a:t>
            </a:r>
          </a:p>
        </p:txBody>
      </p:sp>
      <p:sp>
        <p:nvSpPr>
          <p:cNvPr id="49" name="사각형: 둥근 모서리 48">
            <a:extLst>
              <a:ext uri="{FF2B5EF4-FFF2-40B4-BE49-F238E27FC236}">
                <a16:creationId xmlns:a16="http://schemas.microsoft.com/office/drawing/2014/main" id="{948F9D44-B814-4AF5-882E-A35193F2E22A}"/>
              </a:ext>
            </a:extLst>
          </p:cNvPr>
          <p:cNvSpPr/>
          <p:nvPr/>
        </p:nvSpPr>
        <p:spPr>
          <a:xfrm>
            <a:off x="2297791" y="1636316"/>
            <a:ext cx="1013369" cy="180000"/>
          </a:xfrm>
          <a:prstGeom prst="roundRect">
            <a:avLst/>
          </a:prstGeom>
          <a:solidFill>
            <a:schemeClr val="bg1"/>
          </a:solidFill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altLang="ko-KR" sz="900" dirty="0">
                <a:solidFill>
                  <a:schemeClr val="tx1"/>
                </a:solidFill>
              </a:rPr>
              <a:t>15</a:t>
            </a:r>
            <a:r>
              <a:rPr lang="ko-KR" altLang="en-US" sz="900" dirty="0">
                <a:solidFill>
                  <a:schemeClr val="tx1"/>
                </a:solidFill>
              </a:rPr>
              <a:t>분     ▼</a:t>
            </a:r>
          </a:p>
        </p:txBody>
      </p:sp>
      <p:graphicFrame>
        <p:nvGraphicFramePr>
          <p:cNvPr id="40" name="표 39">
            <a:extLst>
              <a:ext uri="{FF2B5EF4-FFF2-40B4-BE49-F238E27FC236}">
                <a16:creationId xmlns:a16="http://schemas.microsoft.com/office/drawing/2014/main" id="{18513AA0-501E-41AA-A36E-386D57118C3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60205695"/>
              </p:ext>
            </p:extLst>
          </p:nvPr>
        </p:nvGraphicFramePr>
        <p:xfrm>
          <a:off x="278100" y="2156233"/>
          <a:ext cx="7915258" cy="178693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0443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3998026551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4239822446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3215763484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1826529500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1380773476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1384194458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1749036958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3675851017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3466669195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667275161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1235731143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3913681239"/>
                    </a:ext>
                  </a:extLst>
                </a:gridCol>
              </a:tblGrid>
              <a:tr h="25527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/>
                        <a:t>kW</a:t>
                      </a:r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527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1000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55277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5527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500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55277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5527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55277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01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02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03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04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05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06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07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08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09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10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11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12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13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14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15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16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17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18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19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20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21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22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23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24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cxnSp>
        <p:nvCxnSpPr>
          <p:cNvPr id="52" name="직선 연결선 51">
            <a:extLst>
              <a:ext uri="{FF2B5EF4-FFF2-40B4-BE49-F238E27FC236}">
                <a16:creationId xmlns:a16="http://schemas.microsoft.com/office/drawing/2014/main" id="{00A71007-406C-4F0A-9589-C33EC6950CD4}"/>
              </a:ext>
            </a:extLst>
          </p:cNvPr>
          <p:cNvCxnSpPr>
            <a:cxnSpLocks/>
          </p:cNvCxnSpPr>
          <p:nvPr/>
        </p:nvCxnSpPr>
        <p:spPr>
          <a:xfrm>
            <a:off x="980534" y="3186416"/>
            <a:ext cx="7147615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3" name="직선 연결선 52">
            <a:extLst>
              <a:ext uri="{FF2B5EF4-FFF2-40B4-BE49-F238E27FC236}">
                <a16:creationId xmlns:a16="http://schemas.microsoft.com/office/drawing/2014/main" id="{FA8F809F-54BE-465D-850D-4493686FD5EF}"/>
              </a:ext>
            </a:extLst>
          </p:cNvPr>
          <p:cNvCxnSpPr>
            <a:cxnSpLocks/>
          </p:cNvCxnSpPr>
          <p:nvPr/>
        </p:nvCxnSpPr>
        <p:spPr>
          <a:xfrm>
            <a:off x="980534" y="2610352"/>
            <a:ext cx="7147615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2" name="자유형 10">
            <a:extLst>
              <a:ext uri="{FF2B5EF4-FFF2-40B4-BE49-F238E27FC236}">
                <a16:creationId xmlns:a16="http://schemas.microsoft.com/office/drawing/2014/main" id="{1414ED20-0E3B-4642-9AE6-452F5986E6D0}"/>
              </a:ext>
            </a:extLst>
          </p:cNvPr>
          <p:cNvSpPr/>
          <p:nvPr/>
        </p:nvSpPr>
        <p:spPr>
          <a:xfrm>
            <a:off x="1052542" y="2614878"/>
            <a:ext cx="2949900" cy="907078"/>
          </a:xfrm>
          <a:custGeom>
            <a:avLst/>
            <a:gdLst>
              <a:gd name="connsiteX0" fmla="*/ 0 w 6477000"/>
              <a:gd name="connsiteY0" fmla="*/ 1208046 h 1208046"/>
              <a:gd name="connsiteX1" fmla="*/ 33867 w 6477000"/>
              <a:gd name="connsiteY1" fmla="*/ 1157246 h 1208046"/>
              <a:gd name="connsiteX2" fmla="*/ 67734 w 6477000"/>
              <a:gd name="connsiteY2" fmla="*/ 1140313 h 1208046"/>
              <a:gd name="connsiteX3" fmla="*/ 101600 w 6477000"/>
              <a:gd name="connsiteY3" fmla="*/ 1072580 h 1208046"/>
              <a:gd name="connsiteX4" fmla="*/ 118534 w 6477000"/>
              <a:gd name="connsiteY4" fmla="*/ 1055646 h 1208046"/>
              <a:gd name="connsiteX5" fmla="*/ 152400 w 6477000"/>
              <a:gd name="connsiteY5" fmla="*/ 937113 h 1208046"/>
              <a:gd name="connsiteX6" fmla="*/ 169334 w 6477000"/>
              <a:gd name="connsiteY6" fmla="*/ 903246 h 1208046"/>
              <a:gd name="connsiteX7" fmla="*/ 203200 w 6477000"/>
              <a:gd name="connsiteY7" fmla="*/ 818580 h 1208046"/>
              <a:gd name="connsiteX8" fmla="*/ 220134 w 6477000"/>
              <a:gd name="connsiteY8" fmla="*/ 801646 h 1208046"/>
              <a:gd name="connsiteX9" fmla="*/ 237067 w 6477000"/>
              <a:gd name="connsiteY9" fmla="*/ 750846 h 1208046"/>
              <a:gd name="connsiteX10" fmla="*/ 304800 w 6477000"/>
              <a:gd name="connsiteY10" fmla="*/ 750846 h 1208046"/>
              <a:gd name="connsiteX11" fmla="*/ 321734 w 6477000"/>
              <a:gd name="connsiteY11" fmla="*/ 767780 h 1208046"/>
              <a:gd name="connsiteX12" fmla="*/ 355600 w 6477000"/>
              <a:gd name="connsiteY12" fmla="*/ 784713 h 1208046"/>
              <a:gd name="connsiteX13" fmla="*/ 508000 w 6477000"/>
              <a:gd name="connsiteY13" fmla="*/ 750846 h 1208046"/>
              <a:gd name="connsiteX14" fmla="*/ 575734 w 6477000"/>
              <a:gd name="connsiteY14" fmla="*/ 716980 h 1208046"/>
              <a:gd name="connsiteX15" fmla="*/ 643467 w 6477000"/>
              <a:gd name="connsiteY15" fmla="*/ 683113 h 1208046"/>
              <a:gd name="connsiteX16" fmla="*/ 677334 w 6477000"/>
              <a:gd name="connsiteY16" fmla="*/ 666180 h 1208046"/>
              <a:gd name="connsiteX17" fmla="*/ 762000 w 6477000"/>
              <a:gd name="connsiteY17" fmla="*/ 615380 h 1208046"/>
              <a:gd name="connsiteX18" fmla="*/ 778934 w 6477000"/>
              <a:gd name="connsiteY18" fmla="*/ 598446 h 1208046"/>
              <a:gd name="connsiteX19" fmla="*/ 812800 w 6477000"/>
              <a:gd name="connsiteY19" fmla="*/ 581513 h 1208046"/>
              <a:gd name="connsiteX20" fmla="*/ 965200 w 6477000"/>
              <a:gd name="connsiteY20" fmla="*/ 598446 h 1208046"/>
              <a:gd name="connsiteX21" fmla="*/ 1032934 w 6477000"/>
              <a:gd name="connsiteY21" fmla="*/ 615380 h 1208046"/>
              <a:gd name="connsiteX22" fmla="*/ 1202267 w 6477000"/>
              <a:gd name="connsiteY22" fmla="*/ 598446 h 1208046"/>
              <a:gd name="connsiteX23" fmla="*/ 1270000 w 6477000"/>
              <a:gd name="connsiteY23" fmla="*/ 564580 h 1208046"/>
              <a:gd name="connsiteX24" fmla="*/ 1303867 w 6477000"/>
              <a:gd name="connsiteY24" fmla="*/ 547646 h 1208046"/>
              <a:gd name="connsiteX25" fmla="*/ 1354667 w 6477000"/>
              <a:gd name="connsiteY25" fmla="*/ 530713 h 1208046"/>
              <a:gd name="connsiteX26" fmla="*/ 1388534 w 6477000"/>
              <a:gd name="connsiteY26" fmla="*/ 513780 h 1208046"/>
              <a:gd name="connsiteX27" fmla="*/ 1557867 w 6477000"/>
              <a:gd name="connsiteY27" fmla="*/ 496846 h 1208046"/>
              <a:gd name="connsiteX28" fmla="*/ 1964267 w 6477000"/>
              <a:gd name="connsiteY28" fmla="*/ 462980 h 1208046"/>
              <a:gd name="connsiteX29" fmla="*/ 2082800 w 6477000"/>
              <a:gd name="connsiteY29" fmla="*/ 412180 h 1208046"/>
              <a:gd name="connsiteX30" fmla="*/ 2133600 w 6477000"/>
              <a:gd name="connsiteY30" fmla="*/ 361380 h 1208046"/>
              <a:gd name="connsiteX31" fmla="*/ 2150534 w 6477000"/>
              <a:gd name="connsiteY31" fmla="*/ 344446 h 1208046"/>
              <a:gd name="connsiteX32" fmla="*/ 2201334 w 6477000"/>
              <a:gd name="connsiteY32" fmla="*/ 310580 h 1208046"/>
              <a:gd name="connsiteX33" fmla="*/ 2455334 w 6477000"/>
              <a:gd name="connsiteY33" fmla="*/ 327513 h 1208046"/>
              <a:gd name="connsiteX34" fmla="*/ 2489200 w 6477000"/>
              <a:gd name="connsiteY34" fmla="*/ 361380 h 1208046"/>
              <a:gd name="connsiteX35" fmla="*/ 2624667 w 6477000"/>
              <a:gd name="connsiteY35" fmla="*/ 378313 h 1208046"/>
              <a:gd name="connsiteX36" fmla="*/ 2726267 w 6477000"/>
              <a:gd name="connsiteY36" fmla="*/ 395246 h 1208046"/>
              <a:gd name="connsiteX37" fmla="*/ 2980267 w 6477000"/>
              <a:gd name="connsiteY37" fmla="*/ 378313 h 1208046"/>
              <a:gd name="connsiteX38" fmla="*/ 3149600 w 6477000"/>
              <a:gd name="connsiteY38" fmla="*/ 344446 h 1208046"/>
              <a:gd name="connsiteX39" fmla="*/ 3183467 w 6477000"/>
              <a:gd name="connsiteY39" fmla="*/ 327513 h 1208046"/>
              <a:gd name="connsiteX40" fmla="*/ 3420534 w 6477000"/>
              <a:gd name="connsiteY40" fmla="*/ 344446 h 1208046"/>
              <a:gd name="connsiteX41" fmla="*/ 3589867 w 6477000"/>
              <a:gd name="connsiteY41" fmla="*/ 378313 h 1208046"/>
              <a:gd name="connsiteX42" fmla="*/ 3674534 w 6477000"/>
              <a:gd name="connsiteY42" fmla="*/ 395246 h 1208046"/>
              <a:gd name="connsiteX43" fmla="*/ 3877734 w 6477000"/>
              <a:gd name="connsiteY43" fmla="*/ 429113 h 1208046"/>
              <a:gd name="connsiteX44" fmla="*/ 4047067 w 6477000"/>
              <a:gd name="connsiteY44" fmla="*/ 462980 h 1208046"/>
              <a:gd name="connsiteX45" fmla="*/ 4284134 w 6477000"/>
              <a:gd name="connsiteY45" fmla="*/ 446046 h 1208046"/>
              <a:gd name="connsiteX46" fmla="*/ 4402667 w 6477000"/>
              <a:gd name="connsiteY46" fmla="*/ 412180 h 1208046"/>
              <a:gd name="connsiteX47" fmla="*/ 4436534 w 6477000"/>
              <a:gd name="connsiteY47" fmla="*/ 395246 h 1208046"/>
              <a:gd name="connsiteX48" fmla="*/ 4521200 w 6477000"/>
              <a:gd name="connsiteY48" fmla="*/ 378313 h 1208046"/>
              <a:gd name="connsiteX49" fmla="*/ 4605867 w 6477000"/>
              <a:gd name="connsiteY49" fmla="*/ 395246 h 1208046"/>
              <a:gd name="connsiteX50" fmla="*/ 4673600 w 6477000"/>
              <a:gd name="connsiteY50" fmla="*/ 412180 h 1208046"/>
              <a:gd name="connsiteX51" fmla="*/ 4859867 w 6477000"/>
              <a:gd name="connsiteY51" fmla="*/ 395246 h 1208046"/>
              <a:gd name="connsiteX52" fmla="*/ 4978400 w 6477000"/>
              <a:gd name="connsiteY52" fmla="*/ 361380 h 1208046"/>
              <a:gd name="connsiteX53" fmla="*/ 5080000 w 6477000"/>
              <a:gd name="connsiteY53" fmla="*/ 310580 h 1208046"/>
              <a:gd name="connsiteX54" fmla="*/ 5096934 w 6477000"/>
              <a:gd name="connsiteY54" fmla="*/ 293646 h 1208046"/>
              <a:gd name="connsiteX55" fmla="*/ 5130800 w 6477000"/>
              <a:gd name="connsiteY55" fmla="*/ 276713 h 1208046"/>
              <a:gd name="connsiteX56" fmla="*/ 5164667 w 6477000"/>
              <a:gd name="connsiteY56" fmla="*/ 242846 h 1208046"/>
              <a:gd name="connsiteX57" fmla="*/ 5181600 w 6477000"/>
              <a:gd name="connsiteY57" fmla="*/ 208980 h 1208046"/>
              <a:gd name="connsiteX58" fmla="*/ 5232400 w 6477000"/>
              <a:gd name="connsiteY58" fmla="*/ 192046 h 1208046"/>
              <a:gd name="connsiteX59" fmla="*/ 5401734 w 6477000"/>
              <a:gd name="connsiteY59" fmla="*/ 141246 h 1208046"/>
              <a:gd name="connsiteX60" fmla="*/ 5486400 w 6477000"/>
              <a:gd name="connsiteY60" fmla="*/ 107380 h 1208046"/>
              <a:gd name="connsiteX61" fmla="*/ 5537200 w 6477000"/>
              <a:gd name="connsiteY61" fmla="*/ 90446 h 1208046"/>
              <a:gd name="connsiteX62" fmla="*/ 5638800 w 6477000"/>
              <a:gd name="connsiteY62" fmla="*/ 107380 h 1208046"/>
              <a:gd name="connsiteX63" fmla="*/ 5672667 w 6477000"/>
              <a:gd name="connsiteY63" fmla="*/ 124313 h 1208046"/>
              <a:gd name="connsiteX64" fmla="*/ 5723467 w 6477000"/>
              <a:gd name="connsiteY64" fmla="*/ 141246 h 1208046"/>
              <a:gd name="connsiteX65" fmla="*/ 5757334 w 6477000"/>
              <a:gd name="connsiteY65" fmla="*/ 158180 h 1208046"/>
              <a:gd name="connsiteX66" fmla="*/ 5926667 w 6477000"/>
              <a:gd name="connsiteY66" fmla="*/ 175113 h 1208046"/>
              <a:gd name="connsiteX67" fmla="*/ 5994400 w 6477000"/>
              <a:gd name="connsiteY67" fmla="*/ 141246 h 1208046"/>
              <a:gd name="connsiteX68" fmla="*/ 6011334 w 6477000"/>
              <a:gd name="connsiteY68" fmla="*/ 124313 h 1208046"/>
              <a:gd name="connsiteX69" fmla="*/ 6079067 w 6477000"/>
              <a:gd name="connsiteY69" fmla="*/ 90446 h 1208046"/>
              <a:gd name="connsiteX70" fmla="*/ 6180667 w 6477000"/>
              <a:gd name="connsiteY70" fmla="*/ 39646 h 1208046"/>
              <a:gd name="connsiteX71" fmla="*/ 6316134 w 6477000"/>
              <a:gd name="connsiteY71" fmla="*/ 5780 h 1208046"/>
              <a:gd name="connsiteX72" fmla="*/ 6477000 w 6477000"/>
              <a:gd name="connsiteY72" fmla="*/ 5780 h 12080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</a:cxnLst>
            <a:rect l="l" t="t" r="r" b="b"/>
            <a:pathLst>
              <a:path w="6477000" h="1208046">
                <a:moveTo>
                  <a:pt x="0" y="1208046"/>
                </a:moveTo>
                <a:cubicBezTo>
                  <a:pt x="11289" y="1191113"/>
                  <a:pt x="19476" y="1171637"/>
                  <a:pt x="33867" y="1157246"/>
                </a:cubicBezTo>
                <a:cubicBezTo>
                  <a:pt x="42792" y="1148321"/>
                  <a:pt x="59849" y="1150169"/>
                  <a:pt x="67734" y="1140313"/>
                </a:cubicBezTo>
                <a:cubicBezTo>
                  <a:pt x="83503" y="1120602"/>
                  <a:pt x="83751" y="1090429"/>
                  <a:pt x="101600" y="1072580"/>
                </a:cubicBezTo>
                <a:lnTo>
                  <a:pt x="118534" y="1055646"/>
                </a:lnTo>
                <a:cubicBezTo>
                  <a:pt x="129237" y="1012832"/>
                  <a:pt x="136206" y="977598"/>
                  <a:pt x="152400" y="937113"/>
                </a:cubicBezTo>
                <a:cubicBezTo>
                  <a:pt x="157088" y="925394"/>
                  <a:pt x="164646" y="914965"/>
                  <a:pt x="169334" y="903246"/>
                </a:cubicBezTo>
                <a:cubicBezTo>
                  <a:pt x="183103" y="868824"/>
                  <a:pt x="183344" y="848364"/>
                  <a:pt x="203200" y="818580"/>
                </a:cubicBezTo>
                <a:cubicBezTo>
                  <a:pt x="207628" y="811938"/>
                  <a:pt x="214489" y="807291"/>
                  <a:pt x="220134" y="801646"/>
                </a:cubicBezTo>
                <a:cubicBezTo>
                  <a:pt x="225778" y="784713"/>
                  <a:pt x="226357" y="765125"/>
                  <a:pt x="237067" y="750846"/>
                </a:cubicBezTo>
                <a:cubicBezTo>
                  <a:pt x="259645" y="720743"/>
                  <a:pt x="282223" y="735794"/>
                  <a:pt x="304800" y="750846"/>
                </a:cubicBezTo>
                <a:cubicBezTo>
                  <a:pt x="311442" y="755274"/>
                  <a:pt x="315092" y="763352"/>
                  <a:pt x="321734" y="767780"/>
                </a:cubicBezTo>
                <a:cubicBezTo>
                  <a:pt x="332235" y="774781"/>
                  <a:pt x="344311" y="779069"/>
                  <a:pt x="355600" y="784713"/>
                </a:cubicBezTo>
                <a:cubicBezTo>
                  <a:pt x="378600" y="780113"/>
                  <a:pt x="480662" y="761098"/>
                  <a:pt x="508000" y="750846"/>
                </a:cubicBezTo>
                <a:cubicBezTo>
                  <a:pt x="531636" y="741983"/>
                  <a:pt x="553156" y="728269"/>
                  <a:pt x="575734" y="716980"/>
                </a:cubicBezTo>
                <a:lnTo>
                  <a:pt x="643467" y="683113"/>
                </a:lnTo>
                <a:lnTo>
                  <a:pt x="677334" y="666180"/>
                </a:lnTo>
                <a:cubicBezTo>
                  <a:pt x="712116" y="631396"/>
                  <a:pt x="687127" y="652816"/>
                  <a:pt x="762000" y="615380"/>
                </a:cubicBezTo>
                <a:cubicBezTo>
                  <a:pt x="769140" y="611810"/>
                  <a:pt x="772292" y="602874"/>
                  <a:pt x="778934" y="598446"/>
                </a:cubicBezTo>
                <a:cubicBezTo>
                  <a:pt x="789435" y="591445"/>
                  <a:pt x="801511" y="587157"/>
                  <a:pt x="812800" y="581513"/>
                </a:cubicBezTo>
                <a:cubicBezTo>
                  <a:pt x="863600" y="587157"/>
                  <a:pt x="914682" y="590674"/>
                  <a:pt x="965200" y="598446"/>
                </a:cubicBezTo>
                <a:cubicBezTo>
                  <a:pt x="988202" y="601985"/>
                  <a:pt x="1009661" y="615380"/>
                  <a:pt x="1032934" y="615380"/>
                </a:cubicBezTo>
                <a:cubicBezTo>
                  <a:pt x="1089660" y="615380"/>
                  <a:pt x="1145823" y="604091"/>
                  <a:pt x="1202267" y="598446"/>
                </a:cubicBezTo>
                <a:lnTo>
                  <a:pt x="1270000" y="564580"/>
                </a:lnTo>
                <a:cubicBezTo>
                  <a:pt x="1281289" y="558935"/>
                  <a:pt x="1291893" y="551637"/>
                  <a:pt x="1303867" y="547646"/>
                </a:cubicBezTo>
                <a:cubicBezTo>
                  <a:pt x="1320800" y="542002"/>
                  <a:pt x="1338094" y="537342"/>
                  <a:pt x="1354667" y="530713"/>
                </a:cubicBezTo>
                <a:cubicBezTo>
                  <a:pt x="1366386" y="526026"/>
                  <a:pt x="1376084" y="515855"/>
                  <a:pt x="1388534" y="513780"/>
                </a:cubicBezTo>
                <a:cubicBezTo>
                  <a:pt x="1444488" y="504454"/>
                  <a:pt x="1501488" y="503110"/>
                  <a:pt x="1557867" y="496846"/>
                </a:cubicBezTo>
                <a:cubicBezTo>
                  <a:pt x="1847460" y="464669"/>
                  <a:pt x="1519985" y="490747"/>
                  <a:pt x="1964267" y="462980"/>
                </a:cubicBezTo>
                <a:cubicBezTo>
                  <a:pt x="1994624" y="452860"/>
                  <a:pt x="2061878" y="433102"/>
                  <a:pt x="2082800" y="412180"/>
                </a:cubicBezTo>
                <a:lnTo>
                  <a:pt x="2133600" y="361380"/>
                </a:lnTo>
                <a:cubicBezTo>
                  <a:pt x="2139245" y="355735"/>
                  <a:pt x="2143394" y="348016"/>
                  <a:pt x="2150534" y="344446"/>
                </a:cubicBezTo>
                <a:cubicBezTo>
                  <a:pt x="2191540" y="323943"/>
                  <a:pt x="2175475" y="336437"/>
                  <a:pt x="2201334" y="310580"/>
                </a:cubicBezTo>
                <a:cubicBezTo>
                  <a:pt x="2286001" y="316224"/>
                  <a:pt x="2371771" y="312766"/>
                  <a:pt x="2455334" y="327513"/>
                </a:cubicBezTo>
                <a:cubicBezTo>
                  <a:pt x="2471056" y="330287"/>
                  <a:pt x="2473908" y="356793"/>
                  <a:pt x="2489200" y="361380"/>
                </a:cubicBezTo>
                <a:cubicBezTo>
                  <a:pt x="2532788" y="374456"/>
                  <a:pt x="2579617" y="371877"/>
                  <a:pt x="2624667" y="378313"/>
                </a:cubicBezTo>
                <a:cubicBezTo>
                  <a:pt x="2658656" y="383168"/>
                  <a:pt x="2692400" y="389602"/>
                  <a:pt x="2726267" y="395246"/>
                </a:cubicBezTo>
                <a:cubicBezTo>
                  <a:pt x="2810934" y="389602"/>
                  <a:pt x="2895761" y="385995"/>
                  <a:pt x="2980267" y="378313"/>
                </a:cubicBezTo>
                <a:cubicBezTo>
                  <a:pt x="3050826" y="371899"/>
                  <a:pt x="3090293" y="368169"/>
                  <a:pt x="3149600" y="344446"/>
                </a:cubicBezTo>
                <a:cubicBezTo>
                  <a:pt x="3161319" y="339759"/>
                  <a:pt x="3172178" y="333157"/>
                  <a:pt x="3183467" y="327513"/>
                </a:cubicBezTo>
                <a:cubicBezTo>
                  <a:pt x="3262489" y="333157"/>
                  <a:pt x="3341922" y="334620"/>
                  <a:pt x="3420534" y="344446"/>
                </a:cubicBezTo>
                <a:cubicBezTo>
                  <a:pt x="3477652" y="351586"/>
                  <a:pt x="3533423" y="367024"/>
                  <a:pt x="3589867" y="378313"/>
                </a:cubicBezTo>
                <a:lnTo>
                  <a:pt x="3674534" y="395246"/>
                </a:lnTo>
                <a:cubicBezTo>
                  <a:pt x="3741868" y="408713"/>
                  <a:pt x="3812590" y="407399"/>
                  <a:pt x="3877734" y="429113"/>
                </a:cubicBezTo>
                <a:cubicBezTo>
                  <a:pt x="3966398" y="458667"/>
                  <a:pt x="3910864" y="443522"/>
                  <a:pt x="4047067" y="462980"/>
                </a:cubicBezTo>
                <a:cubicBezTo>
                  <a:pt x="4126089" y="457335"/>
                  <a:pt x="4205395" y="454795"/>
                  <a:pt x="4284134" y="446046"/>
                </a:cubicBezTo>
                <a:cubicBezTo>
                  <a:pt x="4306365" y="443576"/>
                  <a:pt x="4377968" y="422060"/>
                  <a:pt x="4402667" y="412180"/>
                </a:cubicBezTo>
                <a:cubicBezTo>
                  <a:pt x="4414386" y="407492"/>
                  <a:pt x="4424398" y="398713"/>
                  <a:pt x="4436534" y="395246"/>
                </a:cubicBezTo>
                <a:cubicBezTo>
                  <a:pt x="4464207" y="387339"/>
                  <a:pt x="4492978" y="383957"/>
                  <a:pt x="4521200" y="378313"/>
                </a:cubicBezTo>
                <a:cubicBezTo>
                  <a:pt x="4549422" y="383957"/>
                  <a:pt x="4577771" y="389002"/>
                  <a:pt x="4605867" y="395246"/>
                </a:cubicBezTo>
                <a:cubicBezTo>
                  <a:pt x="4628585" y="400295"/>
                  <a:pt x="4650327" y="412180"/>
                  <a:pt x="4673600" y="412180"/>
                </a:cubicBezTo>
                <a:cubicBezTo>
                  <a:pt x="4735945" y="412180"/>
                  <a:pt x="4797778" y="400891"/>
                  <a:pt x="4859867" y="395246"/>
                </a:cubicBezTo>
                <a:cubicBezTo>
                  <a:pt x="4894236" y="386654"/>
                  <a:pt x="4944392" y="375955"/>
                  <a:pt x="4978400" y="361380"/>
                </a:cubicBezTo>
                <a:lnTo>
                  <a:pt x="5080000" y="310580"/>
                </a:lnTo>
                <a:cubicBezTo>
                  <a:pt x="5087140" y="307010"/>
                  <a:pt x="5090292" y="298074"/>
                  <a:pt x="5096934" y="293646"/>
                </a:cubicBezTo>
                <a:cubicBezTo>
                  <a:pt x="5107435" y="286645"/>
                  <a:pt x="5120703" y="284286"/>
                  <a:pt x="5130800" y="276713"/>
                </a:cubicBezTo>
                <a:cubicBezTo>
                  <a:pt x="5143572" y="267134"/>
                  <a:pt x="5157527" y="257126"/>
                  <a:pt x="5164667" y="242846"/>
                </a:cubicBezTo>
                <a:cubicBezTo>
                  <a:pt x="5170311" y="231557"/>
                  <a:pt x="5171503" y="216553"/>
                  <a:pt x="5181600" y="208980"/>
                </a:cubicBezTo>
                <a:cubicBezTo>
                  <a:pt x="5195879" y="198270"/>
                  <a:pt x="5215994" y="199077"/>
                  <a:pt x="5232400" y="192046"/>
                </a:cubicBezTo>
                <a:cubicBezTo>
                  <a:pt x="5389953" y="124524"/>
                  <a:pt x="5194837" y="187224"/>
                  <a:pt x="5401734" y="141246"/>
                </a:cubicBezTo>
                <a:cubicBezTo>
                  <a:pt x="5464915" y="127206"/>
                  <a:pt x="5436281" y="127428"/>
                  <a:pt x="5486400" y="107380"/>
                </a:cubicBezTo>
                <a:cubicBezTo>
                  <a:pt x="5502973" y="100751"/>
                  <a:pt x="5520267" y="96091"/>
                  <a:pt x="5537200" y="90446"/>
                </a:cubicBezTo>
                <a:cubicBezTo>
                  <a:pt x="5571067" y="96091"/>
                  <a:pt x="5605491" y="99053"/>
                  <a:pt x="5638800" y="107380"/>
                </a:cubicBezTo>
                <a:cubicBezTo>
                  <a:pt x="5651045" y="110441"/>
                  <a:pt x="5660948" y="119626"/>
                  <a:pt x="5672667" y="124313"/>
                </a:cubicBezTo>
                <a:cubicBezTo>
                  <a:pt x="5689240" y="130942"/>
                  <a:pt x="5706894" y="134617"/>
                  <a:pt x="5723467" y="141246"/>
                </a:cubicBezTo>
                <a:cubicBezTo>
                  <a:pt x="5735186" y="145934"/>
                  <a:pt x="5744884" y="156105"/>
                  <a:pt x="5757334" y="158180"/>
                </a:cubicBezTo>
                <a:cubicBezTo>
                  <a:pt x="5813288" y="167506"/>
                  <a:pt x="5870223" y="169469"/>
                  <a:pt x="5926667" y="175113"/>
                </a:cubicBezTo>
                <a:cubicBezTo>
                  <a:pt x="5949245" y="163824"/>
                  <a:pt x="5976550" y="159095"/>
                  <a:pt x="5994400" y="141246"/>
                </a:cubicBezTo>
                <a:cubicBezTo>
                  <a:pt x="6000045" y="135602"/>
                  <a:pt x="6004489" y="128420"/>
                  <a:pt x="6011334" y="124313"/>
                </a:cubicBezTo>
                <a:cubicBezTo>
                  <a:pt x="6032979" y="111326"/>
                  <a:pt x="6056489" y="101735"/>
                  <a:pt x="6079067" y="90446"/>
                </a:cubicBezTo>
                <a:lnTo>
                  <a:pt x="6180667" y="39646"/>
                </a:lnTo>
                <a:cubicBezTo>
                  <a:pt x="6222298" y="18830"/>
                  <a:pt x="6270978" y="17069"/>
                  <a:pt x="6316134" y="5780"/>
                </a:cubicBezTo>
                <a:cubicBezTo>
                  <a:pt x="6368155" y="-7225"/>
                  <a:pt x="6423378" y="5780"/>
                  <a:pt x="6477000" y="5780"/>
                </a:cubicBezTo>
              </a:path>
            </a:pathLst>
          </a:custGeom>
          <a:ln w="12700">
            <a:solidFill>
              <a:srgbClr val="FF6600"/>
            </a:solidFill>
          </a:ln>
        </p:spPr>
        <p:style>
          <a:lnRef idx="1">
            <a:schemeClr val="accent6"/>
          </a:lnRef>
          <a:fillRef idx="0">
            <a:schemeClr val="accent6"/>
          </a:fillRef>
          <a:effectRef idx="0">
            <a:schemeClr val="accent6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cxnSp>
        <p:nvCxnSpPr>
          <p:cNvPr id="66" name="직선 연결선 65">
            <a:extLst>
              <a:ext uri="{FF2B5EF4-FFF2-40B4-BE49-F238E27FC236}">
                <a16:creationId xmlns:a16="http://schemas.microsoft.com/office/drawing/2014/main" id="{E5489DC7-BAF4-4DA7-A0AE-B236E07F0FC0}"/>
              </a:ext>
            </a:extLst>
          </p:cNvPr>
          <p:cNvCxnSpPr>
            <a:cxnSpLocks/>
          </p:cNvCxnSpPr>
          <p:nvPr/>
        </p:nvCxnSpPr>
        <p:spPr>
          <a:xfrm>
            <a:off x="4007286" y="2170489"/>
            <a:ext cx="0" cy="1559205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직선 연결선 80">
            <a:extLst>
              <a:ext uri="{FF2B5EF4-FFF2-40B4-BE49-F238E27FC236}">
                <a16:creationId xmlns:a16="http://schemas.microsoft.com/office/drawing/2014/main" id="{DEE5AE66-DE1E-4103-8EAE-44458912ABD4}"/>
              </a:ext>
            </a:extLst>
          </p:cNvPr>
          <p:cNvCxnSpPr/>
          <p:nvPr/>
        </p:nvCxnSpPr>
        <p:spPr>
          <a:xfrm>
            <a:off x="6897216" y="1990428"/>
            <a:ext cx="504056" cy="0"/>
          </a:xfrm>
          <a:prstGeom prst="line">
            <a:avLst/>
          </a:prstGeom>
          <a:ln w="19050">
            <a:solidFill>
              <a:srgbClr val="FF66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7A32831B-C9B4-47BB-8CC9-586C2D0E968A}"/>
              </a:ext>
            </a:extLst>
          </p:cNvPr>
          <p:cNvSpPr/>
          <p:nvPr/>
        </p:nvSpPr>
        <p:spPr>
          <a:xfrm>
            <a:off x="7473280" y="1868200"/>
            <a:ext cx="1008112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실제 사용량</a:t>
            </a:r>
          </a:p>
        </p:txBody>
      </p:sp>
      <p:grpSp>
        <p:nvGrpSpPr>
          <p:cNvPr id="68" name="그룹 67">
            <a:extLst>
              <a:ext uri="{FF2B5EF4-FFF2-40B4-BE49-F238E27FC236}">
                <a16:creationId xmlns:a16="http://schemas.microsoft.com/office/drawing/2014/main" id="{FBA4C34C-4B9A-4E4A-8463-AC1E6E032FF5}"/>
              </a:ext>
            </a:extLst>
          </p:cNvPr>
          <p:cNvGrpSpPr/>
          <p:nvPr/>
        </p:nvGrpSpPr>
        <p:grpSpPr>
          <a:xfrm>
            <a:off x="210356" y="1203435"/>
            <a:ext cx="8024876" cy="260092"/>
            <a:chOff x="184526" y="1505937"/>
            <a:chExt cx="8024876" cy="260092"/>
          </a:xfrm>
        </p:grpSpPr>
        <p:sp>
          <p:nvSpPr>
            <p:cNvPr id="69" name="직사각형 68">
              <a:extLst>
                <a:ext uri="{FF2B5EF4-FFF2-40B4-BE49-F238E27FC236}">
                  <a16:creationId xmlns:a16="http://schemas.microsoft.com/office/drawing/2014/main" id="{5DA9481D-0EA9-465C-B030-38B46DFCFE44}"/>
                </a:ext>
              </a:extLst>
            </p:cNvPr>
            <p:cNvSpPr/>
            <p:nvPr/>
          </p:nvSpPr>
          <p:spPr>
            <a:xfrm>
              <a:off x="5810955" y="1550585"/>
              <a:ext cx="1820532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수익 현황</a:t>
              </a:r>
            </a:p>
          </p:txBody>
        </p:sp>
        <p:sp>
          <p:nvSpPr>
            <p:cNvPr id="70" name="직사각형 69">
              <a:extLst>
                <a:ext uri="{FF2B5EF4-FFF2-40B4-BE49-F238E27FC236}">
                  <a16:creationId xmlns:a16="http://schemas.microsoft.com/office/drawing/2014/main" id="{9DC02225-1C17-419B-AB93-5A0A6F86EE64}"/>
                </a:ext>
              </a:extLst>
            </p:cNvPr>
            <p:cNvSpPr/>
            <p:nvPr/>
          </p:nvSpPr>
          <p:spPr>
            <a:xfrm>
              <a:off x="184526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에너지 모니터링</a:t>
              </a:r>
            </a:p>
          </p:txBody>
        </p:sp>
        <p:sp>
          <p:nvSpPr>
            <p:cNvPr id="71" name="직사각형 70">
              <a:extLst>
                <a:ext uri="{FF2B5EF4-FFF2-40B4-BE49-F238E27FC236}">
                  <a16:creationId xmlns:a16="http://schemas.microsoft.com/office/drawing/2014/main" id="{793AC099-C48F-43C2-8561-1047D6E397A8}"/>
                </a:ext>
              </a:extLst>
            </p:cNvPr>
            <p:cNvSpPr/>
            <p:nvPr/>
          </p:nvSpPr>
          <p:spPr>
            <a:xfrm>
              <a:off x="2191085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장치 모니터링</a:t>
              </a:r>
            </a:p>
          </p:txBody>
        </p:sp>
        <p:sp>
          <p:nvSpPr>
            <p:cNvPr id="72" name="직사각형 71">
              <a:extLst>
                <a:ext uri="{FF2B5EF4-FFF2-40B4-BE49-F238E27FC236}">
                  <a16:creationId xmlns:a16="http://schemas.microsoft.com/office/drawing/2014/main" id="{E54445F5-AB0B-4E78-992C-EE3A60B07476}"/>
                </a:ext>
              </a:extLst>
            </p:cNvPr>
            <p:cNvSpPr/>
            <p:nvPr/>
          </p:nvSpPr>
          <p:spPr>
            <a:xfrm>
              <a:off x="4197644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상황</a:t>
              </a:r>
              <a:r>
                <a:rPr lang="en-US" altLang="ko-KR" sz="700" dirty="0"/>
                <a:t> </a:t>
              </a:r>
              <a:r>
                <a:rPr lang="ko-KR" altLang="en-US" sz="700" dirty="0"/>
                <a:t>관제</a:t>
              </a:r>
            </a:p>
          </p:txBody>
        </p:sp>
        <p:sp>
          <p:nvSpPr>
            <p:cNvPr id="73" name="직사각형 72">
              <a:extLst>
                <a:ext uri="{FF2B5EF4-FFF2-40B4-BE49-F238E27FC236}">
                  <a16:creationId xmlns:a16="http://schemas.microsoft.com/office/drawing/2014/main" id="{2ABFF3CB-F6E3-47A6-A5D1-CABC6A841DDF}"/>
                </a:ext>
              </a:extLst>
            </p:cNvPr>
            <p:cNvSpPr/>
            <p:nvPr/>
          </p:nvSpPr>
          <p:spPr>
            <a:xfrm>
              <a:off x="6204202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요금</a:t>
              </a:r>
              <a:r>
                <a:rPr lang="en-US" altLang="ko-KR" sz="700" dirty="0"/>
                <a:t>/</a:t>
              </a:r>
              <a:r>
                <a:rPr lang="ko-KR" altLang="en-US" sz="700" dirty="0"/>
                <a:t>수익</a:t>
              </a:r>
            </a:p>
          </p:txBody>
        </p:sp>
      </p:grpSp>
      <p:sp>
        <p:nvSpPr>
          <p:cNvPr id="227" name="타원형 설명선 226"/>
          <p:cNvSpPr/>
          <p:nvPr/>
        </p:nvSpPr>
        <p:spPr>
          <a:xfrm>
            <a:off x="2089161" y="1420622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4" name="타원형 설명선 243"/>
          <p:cNvSpPr/>
          <p:nvPr/>
        </p:nvSpPr>
        <p:spPr>
          <a:xfrm>
            <a:off x="5778826" y="1420622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5" name="타원형 설명선 244"/>
          <p:cNvSpPr/>
          <p:nvPr/>
        </p:nvSpPr>
        <p:spPr>
          <a:xfrm>
            <a:off x="3973650" y="1420622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6" name="타원형 설명선 245"/>
          <p:cNvSpPr/>
          <p:nvPr/>
        </p:nvSpPr>
        <p:spPr>
          <a:xfrm>
            <a:off x="197170" y="1759631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66" name="타원형 설명선 265"/>
          <p:cNvSpPr/>
          <p:nvPr/>
        </p:nvSpPr>
        <p:spPr>
          <a:xfrm>
            <a:off x="17191" y="2070267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6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3" name="타원형 설명선 225">
            <a:extLst>
              <a:ext uri="{FF2B5EF4-FFF2-40B4-BE49-F238E27FC236}">
                <a16:creationId xmlns:a16="http://schemas.microsoft.com/office/drawing/2014/main" id="{93402A8C-F86A-4207-9226-F02BE6AB6E19}"/>
              </a:ext>
            </a:extLst>
          </p:cNvPr>
          <p:cNvSpPr/>
          <p:nvPr/>
        </p:nvSpPr>
        <p:spPr>
          <a:xfrm>
            <a:off x="954473" y="1420622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4" name="직사각형 73">
            <a:extLst>
              <a:ext uri="{FF2B5EF4-FFF2-40B4-BE49-F238E27FC236}">
                <a16:creationId xmlns:a16="http://schemas.microsoft.com/office/drawing/2014/main" id="{57981DB3-6609-4C7B-9AC1-B099067EA557}"/>
              </a:ext>
            </a:extLst>
          </p:cNvPr>
          <p:cNvSpPr/>
          <p:nvPr/>
        </p:nvSpPr>
        <p:spPr>
          <a:xfrm>
            <a:off x="7612554" y="1564415"/>
            <a:ext cx="473661" cy="289182"/>
          </a:xfrm>
          <a:prstGeom prst="rect">
            <a:avLst/>
          </a:prstGeom>
          <a:solidFill>
            <a:srgbClr val="0099FF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>
              <a:lnSpc>
                <a:spcPct val="150000"/>
              </a:lnSpc>
            </a:pPr>
            <a:r>
              <a:rPr lang="ko-KR" altLang="en-US" sz="105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조회</a:t>
            </a:r>
          </a:p>
        </p:txBody>
      </p:sp>
      <p:grpSp>
        <p:nvGrpSpPr>
          <p:cNvPr id="85" name="그룹 84">
            <a:extLst>
              <a:ext uri="{FF2B5EF4-FFF2-40B4-BE49-F238E27FC236}">
                <a16:creationId xmlns:a16="http://schemas.microsoft.com/office/drawing/2014/main" id="{3444DCD3-7DBD-4678-9F50-F80E81C8C821}"/>
              </a:ext>
            </a:extLst>
          </p:cNvPr>
          <p:cNvGrpSpPr/>
          <p:nvPr/>
        </p:nvGrpSpPr>
        <p:grpSpPr>
          <a:xfrm>
            <a:off x="278100" y="4009133"/>
            <a:ext cx="862386" cy="211955"/>
            <a:chOff x="4861742" y="3907374"/>
            <a:chExt cx="862386" cy="211955"/>
          </a:xfrm>
        </p:grpSpPr>
        <p:pic>
          <p:nvPicPr>
            <p:cNvPr id="86" name="Picture 6" descr="ìì ë¤ì´ë¡ëì ëí ì´ë¯¸ì§ ê²ìê²°ê³¼">
              <a:extLst>
                <a:ext uri="{FF2B5EF4-FFF2-40B4-BE49-F238E27FC236}">
                  <a16:creationId xmlns:a16="http://schemas.microsoft.com/office/drawing/2014/main" id="{900D9473-0DED-45BD-BF61-1E728CE299A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861742" y="3907374"/>
              <a:ext cx="211955" cy="21195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23CD6283-1975-4F64-A5BA-105C26F20FC0}"/>
                </a:ext>
              </a:extLst>
            </p:cNvPr>
            <p:cNvSpPr txBox="1"/>
            <p:nvPr/>
          </p:nvSpPr>
          <p:spPr>
            <a:xfrm>
              <a:off x="4949189" y="3921018"/>
              <a:ext cx="7749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600" b="1" dirty="0">
                  <a:solidFill>
                    <a:schemeClr val="bg1"/>
                  </a:solidFill>
                </a:rPr>
                <a:t>데이터 저장하기</a:t>
              </a:r>
            </a:p>
          </p:txBody>
        </p:sp>
      </p:grpSp>
      <p:sp>
        <p:nvSpPr>
          <p:cNvPr id="88" name="TextBox 87">
            <a:extLst>
              <a:ext uri="{FF2B5EF4-FFF2-40B4-BE49-F238E27FC236}">
                <a16:creationId xmlns:a16="http://schemas.microsoft.com/office/drawing/2014/main" id="{3F608C76-E0EB-4C26-ACE5-6E3DFA68A1C7}"/>
              </a:ext>
            </a:extLst>
          </p:cNvPr>
          <p:cNvSpPr txBox="1"/>
          <p:nvPr/>
        </p:nvSpPr>
        <p:spPr>
          <a:xfrm>
            <a:off x="1265466" y="4015781"/>
            <a:ext cx="1299244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기준부하 및 목표사용량 확인</a:t>
            </a:r>
          </a:p>
        </p:txBody>
      </p:sp>
      <p:pic>
        <p:nvPicPr>
          <p:cNvPr id="90" name="Picture 2" descr="standardì ëí ì´ë¯¸ì§ ê²ìê²°ê³¼">
            <a:extLst>
              <a:ext uri="{FF2B5EF4-FFF2-40B4-BE49-F238E27FC236}">
                <a16:creationId xmlns:a16="http://schemas.microsoft.com/office/drawing/2014/main" id="{38D98571-2CF5-4AB6-86F8-40CB34E3634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34539" y="4024865"/>
            <a:ext cx="170228" cy="17022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aphicFrame>
        <p:nvGraphicFramePr>
          <p:cNvPr id="91" name="표 90">
            <a:extLst>
              <a:ext uri="{FF2B5EF4-FFF2-40B4-BE49-F238E27FC236}">
                <a16:creationId xmlns:a16="http://schemas.microsoft.com/office/drawing/2014/main" id="{731CFF9E-CD56-4916-AF78-90C541A3001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57949820"/>
              </p:ext>
            </p:extLst>
          </p:nvPr>
        </p:nvGraphicFramePr>
        <p:xfrm>
          <a:off x="278113" y="4293096"/>
          <a:ext cx="7915260" cy="3561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8661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9314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93146">
                  <a:extLst>
                    <a:ext uri="{9D8B030D-6E8A-4147-A177-3AD203B41FA5}">
                      <a16:colId xmlns:a16="http://schemas.microsoft.com/office/drawing/2014/main" val="91379356"/>
                    </a:ext>
                  </a:extLst>
                </a:gridCol>
                <a:gridCol w="29314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93146">
                  <a:extLst>
                    <a:ext uri="{9D8B030D-6E8A-4147-A177-3AD203B41FA5}">
                      <a16:colId xmlns:a16="http://schemas.microsoft.com/office/drawing/2014/main" val="3679891012"/>
                    </a:ext>
                  </a:extLst>
                </a:gridCol>
                <a:gridCol w="293146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93146">
                  <a:extLst>
                    <a:ext uri="{9D8B030D-6E8A-4147-A177-3AD203B41FA5}">
                      <a16:colId xmlns:a16="http://schemas.microsoft.com/office/drawing/2014/main" val="2229935987"/>
                    </a:ext>
                  </a:extLst>
                </a:gridCol>
                <a:gridCol w="29314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93146">
                  <a:extLst>
                    <a:ext uri="{9D8B030D-6E8A-4147-A177-3AD203B41FA5}">
                      <a16:colId xmlns:a16="http://schemas.microsoft.com/office/drawing/2014/main" val="4026812072"/>
                    </a:ext>
                  </a:extLst>
                </a:gridCol>
                <a:gridCol w="293146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93146">
                  <a:extLst>
                    <a:ext uri="{9D8B030D-6E8A-4147-A177-3AD203B41FA5}">
                      <a16:colId xmlns:a16="http://schemas.microsoft.com/office/drawing/2014/main" val="1122824508"/>
                    </a:ext>
                  </a:extLst>
                </a:gridCol>
                <a:gridCol w="29314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293146">
                  <a:extLst>
                    <a:ext uri="{9D8B030D-6E8A-4147-A177-3AD203B41FA5}">
                      <a16:colId xmlns:a16="http://schemas.microsoft.com/office/drawing/2014/main" val="1502902784"/>
                    </a:ext>
                  </a:extLst>
                </a:gridCol>
                <a:gridCol w="293146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93146">
                  <a:extLst>
                    <a:ext uri="{9D8B030D-6E8A-4147-A177-3AD203B41FA5}">
                      <a16:colId xmlns:a16="http://schemas.microsoft.com/office/drawing/2014/main" val="354728812"/>
                    </a:ext>
                  </a:extLst>
                </a:gridCol>
                <a:gridCol w="29314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293146">
                  <a:extLst>
                    <a:ext uri="{9D8B030D-6E8A-4147-A177-3AD203B41FA5}">
                      <a16:colId xmlns:a16="http://schemas.microsoft.com/office/drawing/2014/main" val="914552893"/>
                    </a:ext>
                  </a:extLst>
                </a:gridCol>
                <a:gridCol w="293146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293146">
                  <a:extLst>
                    <a:ext uri="{9D8B030D-6E8A-4147-A177-3AD203B41FA5}">
                      <a16:colId xmlns:a16="http://schemas.microsoft.com/office/drawing/2014/main" val="2643701830"/>
                    </a:ext>
                  </a:extLst>
                </a:gridCol>
                <a:gridCol w="293146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293146">
                  <a:extLst>
                    <a:ext uri="{9D8B030D-6E8A-4147-A177-3AD203B41FA5}">
                      <a16:colId xmlns:a16="http://schemas.microsoft.com/office/drawing/2014/main" val="4156003338"/>
                    </a:ext>
                  </a:extLst>
                </a:gridCol>
                <a:gridCol w="293146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293146">
                  <a:extLst>
                    <a:ext uri="{9D8B030D-6E8A-4147-A177-3AD203B41FA5}">
                      <a16:colId xmlns:a16="http://schemas.microsoft.com/office/drawing/2014/main" val="186923855"/>
                    </a:ext>
                  </a:extLst>
                </a:gridCol>
                <a:gridCol w="293146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293146">
                  <a:extLst>
                    <a:ext uri="{9D8B030D-6E8A-4147-A177-3AD203B41FA5}">
                      <a16:colId xmlns:a16="http://schemas.microsoft.com/office/drawing/2014/main" val="328632746"/>
                    </a:ext>
                  </a:extLst>
                </a:gridCol>
                <a:gridCol w="293146">
                  <a:extLst>
                    <a:ext uri="{9D8B030D-6E8A-4147-A177-3AD203B41FA5}">
                      <a16:colId xmlns:a16="http://schemas.microsoft.com/office/drawing/2014/main" val="3887011146"/>
                    </a:ext>
                  </a:extLst>
                </a:gridCol>
              </a:tblGrid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YYYY-MM</a:t>
                      </a:r>
                      <a:endParaRPr lang="en-US" altLang="ko-KR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01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02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03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04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05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06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07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08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09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11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12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13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14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15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16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17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18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19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21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22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23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24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합계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61317845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kern="1200" dirty="0">
                          <a:solidFill>
                            <a:srgbClr val="FF66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실제 사용량</a:t>
                      </a:r>
                      <a:endParaRPr lang="en-US" altLang="ko-KR" sz="7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400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500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550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540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550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520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530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750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800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90133474"/>
                  </a:ext>
                </a:extLst>
              </a:tr>
            </a:tbl>
          </a:graphicData>
        </a:graphic>
      </p:graphicFrame>
      <p:sp>
        <p:nvSpPr>
          <p:cNvPr id="92" name="TextBox 91">
            <a:extLst>
              <a:ext uri="{FF2B5EF4-FFF2-40B4-BE49-F238E27FC236}">
                <a16:creationId xmlns:a16="http://schemas.microsoft.com/office/drawing/2014/main" id="{B9857C8E-7429-4325-88C5-4665CB31C48E}"/>
              </a:ext>
            </a:extLst>
          </p:cNvPr>
          <p:cNvSpPr txBox="1"/>
          <p:nvPr/>
        </p:nvSpPr>
        <p:spPr>
          <a:xfrm>
            <a:off x="7221250" y="4005064"/>
            <a:ext cx="972108" cy="215444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square" rtlCol="0" anchor="ctr">
            <a:spAutoFit/>
          </a:bodyPr>
          <a:lstStyle/>
          <a:p>
            <a:pPr algn="ctr"/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표 접기</a:t>
            </a:r>
          </a:p>
        </p:txBody>
      </p:sp>
      <p:sp>
        <p:nvSpPr>
          <p:cNvPr id="206" name="타원형 설명선 205"/>
          <p:cNvSpPr/>
          <p:nvPr/>
        </p:nvSpPr>
        <p:spPr>
          <a:xfrm>
            <a:off x="139394" y="3861072"/>
            <a:ext cx="216000" cy="216000"/>
          </a:xfrm>
          <a:prstGeom prst="wedgeEllipseCallout">
            <a:avLst>
              <a:gd name="adj1" fmla="val 74230"/>
              <a:gd name="adj2" fmla="val 21822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/>
              <a:t>9</a:t>
            </a:r>
            <a:endParaRPr lang="ko-KR" altLang="en-US" sz="900" b="1" dirty="0"/>
          </a:p>
        </p:txBody>
      </p:sp>
      <p:sp>
        <p:nvSpPr>
          <p:cNvPr id="226" name="타원형 설명선 225"/>
          <p:cNvSpPr/>
          <p:nvPr/>
        </p:nvSpPr>
        <p:spPr>
          <a:xfrm>
            <a:off x="1018539" y="3861048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10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7" name="타원형 설명선 246"/>
          <p:cNvSpPr/>
          <p:nvPr/>
        </p:nvSpPr>
        <p:spPr>
          <a:xfrm>
            <a:off x="14116" y="4149080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7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8" name="타원형 설명선 247"/>
          <p:cNvSpPr/>
          <p:nvPr/>
        </p:nvSpPr>
        <p:spPr>
          <a:xfrm>
            <a:off x="6933244" y="3861048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8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55" name="표 54">
            <a:extLst>
              <a:ext uri="{FF2B5EF4-FFF2-40B4-BE49-F238E27FC236}">
                <a16:creationId xmlns:a16="http://schemas.microsoft.com/office/drawing/2014/main" id="{596855F9-B549-43D9-B7B7-BC27F923BA3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91928980"/>
              </p:ext>
            </p:extLst>
          </p:nvPr>
        </p:nvGraphicFramePr>
        <p:xfrm>
          <a:off x="973742" y="4937583"/>
          <a:ext cx="3028700" cy="193099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60344">
                  <a:extLst>
                    <a:ext uri="{9D8B030D-6E8A-4147-A177-3AD203B41FA5}">
                      <a16:colId xmlns:a16="http://schemas.microsoft.com/office/drawing/2014/main" val="621667645"/>
                    </a:ext>
                  </a:extLst>
                </a:gridCol>
                <a:gridCol w="747271">
                  <a:extLst>
                    <a:ext uri="{9D8B030D-6E8A-4147-A177-3AD203B41FA5}">
                      <a16:colId xmlns:a16="http://schemas.microsoft.com/office/drawing/2014/main" val="8834736"/>
                    </a:ext>
                  </a:extLst>
                </a:gridCol>
                <a:gridCol w="260155">
                  <a:extLst>
                    <a:ext uri="{9D8B030D-6E8A-4147-A177-3AD203B41FA5}">
                      <a16:colId xmlns:a16="http://schemas.microsoft.com/office/drawing/2014/main" val="2248332737"/>
                    </a:ext>
                  </a:extLst>
                </a:gridCol>
                <a:gridCol w="260155">
                  <a:extLst>
                    <a:ext uri="{9D8B030D-6E8A-4147-A177-3AD203B41FA5}">
                      <a16:colId xmlns:a16="http://schemas.microsoft.com/office/drawing/2014/main" val="701571902"/>
                    </a:ext>
                  </a:extLst>
                </a:gridCol>
                <a:gridCol w="260155">
                  <a:extLst>
                    <a:ext uri="{9D8B030D-6E8A-4147-A177-3AD203B41FA5}">
                      <a16:colId xmlns:a16="http://schemas.microsoft.com/office/drawing/2014/main" val="899356341"/>
                    </a:ext>
                  </a:extLst>
                </a:gridCol>
                <a:gridCol w="260155">
                  <a:extLst>
                    <a:ext uri="{9D8B030D-6E8A-4147-A177-3AD203B41FA5}">
                      <a16:colId xmlns:a16="http://schemas.microsoft.com/office/drawing/2014/main" val="2787753370"/>
                    </a:ext>
                  </a:extLst>
                </a:gridCol>
                <a:gridCol w="260155">
                  <a:extLst>
                    <a:ext uri="{9D8B030D-6E8A-4147-A177-3AD203B41FA5}">
                      <a16:colId xmlns:a16="http://schemas.microsoft.com/office/drawing/2014/main" val="75509663"/>
                    </a:ext>
                  </a:extLst>
                </a:gridCol>
                <a:gridCol w="260155">
                  <a:extLst>
                    <a:ext uri="{9D8B030D-6E8A-4147-A177-3AD203B41FA5}">
                      <a16:colId xmlns:a16="http://schemas.microsoft.com/office/drawing/2014/main" val="2371680936"/>
                    </a:ext>
                  </a:extLst>
                </a:gridCol>
                <a:gridCol w="260155">
                  <a:extLst>
                    <a:ext uri="{9D8B030D-6E8A-4147-A177-3AD203B41FA5}">
                      <a16:colId xmlns:a16="http://schemas.microsoft.com/office/drawing/2014/main" val="1293287838"/>
                    </a:ext>
                  </a:extLst>
                </a:gridCol>
              </a:tblGrid>
              <a:tr h="144032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조회기간</a:t>
                      </a:r>
                      <a:endParaRPr lang="en-US" altLang="ko-KR" sz="7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bg1">
                            <a:lumMod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7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lang="ko-KR" altLang="en-US" sz="7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7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  <a:r>
                        <a:rPr lang="ko-KR" altLang="en-US" sz="7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7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7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7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7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7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7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7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7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7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7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75581190"/>
                  </a:ext>
                </a:extLst>
              </a:tr>
              <a:tr h="144032"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lang="ko-KR" altLang="en-US" sz="700" b="0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 간격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실제  데이터 개수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96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672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2880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5840</a:t>
                      </a:r>
                      <a:endParaRPr lang="ko-KR" altLang="en-US" sz="700" b="0" strike="no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29881618"/>
                  </a:ext>
                </a:extLst>
              </a:tr>
              <a:tr h="144032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하단 캡션 표시 개수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30(</a:t>
                      </a:r>
                      <a:r>
                        <a:rPr lang="ko-KR" altLang="en-US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60(</a:t>
                      </a:r>
                      <a:r>
                        <a:rPr lang="ko-KR" altLang="en-US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96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  <a:endParaRPr lang="ko-KR" altLang="en-US" sz="700" b="0" strike="no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2293162"/>
                  </a:ext>
                </a:extLst>
              </a:tr>
              <a:tr h="144032"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  <a:r>
                        <a:rPr lang="ko-KR" altLang="en-US" sz="700" b="0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 간격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실제  데이터 개수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48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336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1440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2920</a:t>
                      </a:r>
                      <a:endParaRPr lang="ko-KR" altLang="en-US" sz="700" b="0" strike="no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03323599"/>
                  </a:ext>
                </a:extLst>
              </a:tr>
              <a:tr h="144032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하단 캡션 표시 개수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60(</a:t>
                      </a:r>
                      <a:r>
                        <a:rPr lang="ko-KR" altLang="en-US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48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  <a:endParaRPr lang="ko-KR" altLang="en-US" sz="700" b="0" strike="no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75022207"/>
                  </a:ext>
                </a:extLst>
              </a:tr>
              <a:tr h="144032"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700" b="0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 간격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실제  데이터 개수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24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168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720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1460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82961310"/>
                  </a:ext>
                </a:extLst>
              </a:tr>
              <a:tr h="144032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하단 캡션 표시 개수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24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3524359"/>
                  </a:ext>
                </a:extLst>
              </a:tr>
              <a:tr h="144032"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700" b="0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 간격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실제  데이터 개수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365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10281172"/>
                  </a:ext>
                </a:extLst>
              </a:tr>
              <a:tr h="144032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하단 캡션 표시 개수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75500751"/>
                  </a:ext>
                </a:extLst>
              </a:tr>
              <a:tr h="144032"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700" b="0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월 간격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실제  데이터 개수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24993451"/>
                  </a:ext>
                </a:extLst>
              </a:tr>
              <a:tr h="144032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하단 캡션 표시 개수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10841290"/>
                  </a:ext>
                </a:extLst>
              </a:tr>
            </a:tbl>
          </a:graphicData>
        </a:graphic>
      </p:graphicFrame>
      <p:sp>
        <p:nvSpPr>
          <p:cNvPr id="56" name="타원형 설명선 225">
            <a:extLst>
              <a:ext uri="{FF2B5EF4-FFF2-40B4-BE49-F238E27FC236}">
                <a16:creationId xmlns:a16="http://schemas.microsoft.com/office/drawing/2014/main" id="{4C782208-AA8B-4209-B8DE-02AEBBC26FEB}"/>
              </a:ext>
            </a:extLst>
          </p:cNvPr>
          <p:cNvSpPr/>
          <p:nvPr/>
        </p:nvSpPr>
        <p:spPr>
          <a:xfrm>
            <a:off x="865742" y="4793747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표</a:t>
            </a:r>
            <a:r>
              <a:rPr lang="en-US" altLang="ko-KR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7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57" name="표 56">
            <a:extLst>
              <a:ext uri="{FF2B5EF4-FFF2-40B4-BE49-F238E27FC236}">
                <a16:creationId xmlns:a16="http://schemas.microsoft.com/office/drawing/2014/main" id="{2E563B21-C27B-44C5-B904-CD5525DF4D7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05334669"/>
              </p:ext>
            </p:extLst>
          </p:nvPr>
        </p:nvGraphicFramePr>
        <p:xfrm>
          <a:off x="4641820" y="5024171"/>
          <a:ext cx="3342026" cy="106851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83830">
                  <a:extLst>
                    <a:ext uri="{9D8B030D-6E8A-4147-A177-3AD203B41FA5}">
                      <a16:colId xmlns:a16="http://schemas.microsoft.com/office/drawing/2014/main" val="621667645"/>
                    </a:ext>
                  </a:extLst>
                </a:gridCol>
                <a:gridCol w="394028">
                  <a:extLst>
                    <a:ext uri="{9D8B030D-6E8A-4147-A177-3AD203B41FA5}">
                      <a16:colId xmlns:a16="http://schemas.microsoft.com/office/drawing/2014/main" val="2248332737"/>
                    </a:ext>
                  </a:extLst>
                </a:gridCol>
                <a:gridCol w="394028">
                  <a:extLst>
                    <a:ext uri="{9D8B030D-6E8A-4147-A177-3AD203B41FA5}">
                      <a16:colId xmlns:a16="http://schemas.microsoft.com/office/drawing/2014/main" val="2333210567"/>
                    </a:ext>
                  </a:extLst>
                </a:gridCol>
                <a:gridCol w="394028">
                  <a:extLst>
                    <a:ext uri="{9D8B030D-6E8A-4147-A177-3AD203B41FA5}">
                      <a16:colId xmlns:a16="http://schemas.microsoft.com/office/drawing/2014/main" val="899356341"/>
                    </a:ext>
                  </a:extLst>
                </a:gridCol>
                <a:gridCol w="394028">
                  <a:extLst>
                    <a:ext uri="{9D8B030D-6E8A-4147-A177-3AD203B41FA5}">
                      <a16:colId xmlns:a16="http://schemas.microsoft.com/office/drawing/2014/main" val="2787753370"/>
                    </a:ext>
                  </a:extLst>
                </a:gridCol>
                <a:gridCol w="394028">
                  <a:extLst>
                    <a:ext uri="{9D8B030D-6E8A-4147-A177-3AD203B41FA5}">
                      <a16:colId xmlns:a16="http://schemas.microsoft.com/office/drawing/2014/main" val="75509663"/>
                    </a:ext>
                  </a:extLst>
                </a:gridCol>
                <a:gridCol w="394028">
                  <a:extLst>
                    <a:ext uri="{9D8B030D-6E8A-4147-A177-3AD203B41FA5}">
                      <a16:colId xmlns:a16="http://schemas.microsoft.com/office/drawing/2014/main" val="2371680936"/>
                    </a:ext>
                  </a:extLst>
                </a:gridCol>
                <a:gridCol w="394028">
                  <a:extLst>
                    <a:ext uri="{9D8B030D-6E8A-4147-A177-3AD203B41FA5}">
                      <a16:colId xmlns:a16="http://schemas.microsoft.com/office/drawing/2014/main" val="1293287838"/>
                    </a:ext>
                  </a:extLst>
                </a:gridCol>
              </a:tblGrid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조회기간</a:t>
                      </a:r>
                      <a:endParaRPr lang="en-US" altLang="ko-KR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lang="ko-KR" altLang="en-US" sz="8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  <a:r>
                        <a:rPr lang="ko-KR" altLang="en-US" sz="8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75581190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 간격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96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96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96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96</a:t>
                      </a:r>
                      <a:endParaRPr lang="ko-KR" altLang="en-US" sz="800" b="0" strike="no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29881618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 간격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48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48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48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48</a:t>
                      </a:r>
                      <a:endParaRPr lang="ko-KR" altLang="en-US" sz="800" b="0" strike="no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03323599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 간격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24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24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24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24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82961310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 간격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10281172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월 간격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24993451"/>
                  </a:ext>
                </a:extLst>
              </a:tr>
            </a:tbl>
          </a:graphicData>
        </a:graphic>
      </p:graphicFrame>
      <p:sp>
        <p:nvSpPr>
          <p:cNvPr id="58" name="타원형 설명선 225">
            <a:extLst>
              <a:ext uri="{FF2B5EF4-FFF2-40B4-BE49-F238E27FC236}">
                <a16:creationId xmlns:a16="http://schemas.microsoft.com/office/drawing/2014/main" id="{8D16868C-0CD7-492F-91AD-D3625759F069}"/>
              </a:ext>
            </a:extLst>
          </p:cNvPr>
          <p:cNvSpPr/>
          <p:nvPr/>
        </p:nvSpPr>
        <p:spPr>
          <a:xfrm>
            <a:off x="4334101" y="4884197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표</a:t>
            </a:r>
            <a:r>
              <a:rPr lang="en-US" altLang="ko-KR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lang="ko-KR" altLang="en-US" sz="7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380402111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9104309" y="6645875"/>
            <a:ext cx="140029" cy="138499"/>
          </a:xfrm>
        </p:spPr>
        <p:txBody>
          <a:bodyPr/>
          <a:lstStyle/>
          <a:p>
            <a:pPr>
              <a:defRPr/>
            </a:pPr>
            <a:fld id="{9E41B634-5682-4388-99E7-FE44DCFD254B}" type="slidenum">
              <a:rPr lang="ko-KR" altLang="en-US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>
                <a:defRPr/>
              </a:pPr>
              <a:t>27</a:t>
            </a:fld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텍스트 개체 틀 8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Site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 &gt;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에너지 모니터링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&gt; DR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실적 현황</a:t>
            </a:r>
          </a:p>
        </p:txBody>
      </p:sp>
      <p:sp>
        <p:nvSpPr>
          <p:cNvPr id="10" name="텍스트 개체 틀 9"/>
          <p:cNvSpPr>
            <a:spLocks noGrp="1"/>
          </p:cNvSpPr>
          <p:nvPr>
            <p:ph type="body" sz="quarter" idx="10"/>
          </p:nvPr>
        </p:nvSpPr>
        <p:spPr>
          <a:xfrm>
            <a:off x="6023595" y="44624"/>
            <a:ext cx="1233661" cy="196974"/>
          </a:xfrm>
        </p:spPr>
        <p:txBody>
          <a:bodyPr/>
          <a:lstStyle/>
          <a:p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DR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실적 현황</a:t>
            </a:r>
          </a:p>
        </p:txBody>
      </p:sp>
      <p:graphicFrame>
        <p:nvGraphicFramePr>
          <p:cNvPr id="102" name="Group 15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53672389"/>
              </p:ext>
            </p:extLst>
          </p:nvPr>
        </p:nvGraphicFramePr>
        <p:xfrm>
          <a:off x="8469313" y="276225"/>
          <a:ext cx="1404000" cy="6161088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3002"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Description</a:t>
                      </a: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12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시간대별 기준부하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기준부하와 목표사용량 기준 범위를 표시할 영역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(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기간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)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을 설정한다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.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13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정보 표시 </a:t>
                      </a:r>
                      <a:r>
                        <a:rPr kumimoji="1" lang="ko-KR" altLang="en-US" sz="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툴팁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1)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다음 항목의 정보를 표시함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.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현재시간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기준부하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(CBL),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현재사용량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감축량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목표사용량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2)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현재시간을 기준으로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툴팁을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팝업하며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마우스 이동의 영향을 받지 않고 고정 위치에 팝업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76244542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14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기준부하 표시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해당 시간 대의 기준 부하를 표시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(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해당 기준을 넘어설 경우 알람 발생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)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15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목표사용량 표시</a:t>
                      </a:r>
                      <a:endParaRPr lang="en-US" altLang="ko-KR" sz="800" b="1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1)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해당 시간 대의 목표사용량 범위를 표시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2) </a:t>
                      </a: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목표사용량 </a:t>
                      </a:r>
                      <a:r>
                        <a:rPr lang="en-US" altLang="ko-KR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= </a:t>
                      </a: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기준부하</a:t>
                      </a:r>
                      <a:r>
                        <a:rPr lang="en-US" altLang="ko-KR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(CBL) - </a:t>
                      </a: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감축용량</a:t>
                      </a:r>
                      <a:endParaRPr lang="en-US" altLang="ko-KR" sz="800" b="0" u="non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16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감축 정보 표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1)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다음과 같은 감축 정보를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감축일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감축시간대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사용량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고객기준부하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계약용량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목표사용량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감축량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이행률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 2)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감축 정보 표는 하단 표 펼치기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/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접기의 영향을 받지 않음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.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3)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감축시간대는 총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4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시간이므로 표는 최대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4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열까지만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존재함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.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17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실시간 자동 갱신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1) DR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실적현황 화면은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default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가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조회화면이나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‘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실시간 자동 갱신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‘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이 선택되면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분 단위로 화면을 자동 갱신하는 모니터링 화면이 된다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.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19196217"/>
                  </a:ext>
                </a:extLst>
              </a:tr>
            </a:tbl>
          </a:graphicData>
        </a:graphic>
      </p:graphicFrame>
      <p:sp>
        <p:nvSpPr>
          <p:cNvPr id="78" name="TextBox 77"/>
          <p:cNvSpPr txBox="1"/>
          <p:nvPr/>
        </p:nvSpPr>
        <p:spPr>
          <a:xfrm>
            <a:off x="7121707" y="21349"/>
            <a:ext cx="567597" cy="2308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화면</a:t>
            </a:r>
            <a:r>
              <a:rPr lang="en-US" altLang="ko-KR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ID</a:t>
            </a:r>
            <a:endParaRPr lang="ko-KR" altLang="en-US" sz="9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7689304" y="43659"/>
            <a:ext cx="792088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itchFamily="50" charset="-127"/>
                <a:ea typeface="맑은 고딕" pitchFamily="50" charset="-127"/>
              </a:rPr>
              <a:t>ewpsp_scr_013</a:t>
            </a:r>
            <a:endParaRPr lang="ko-KR" altLang="en-US" sz="700" dirty="0">
              <a:latin typeface="맑은 고딕" pitchFamily="50" charset="-127"/>
              <a:ea typeface="맑은 고딕" pitchFamily="50" charset="-127"/>
            </a:endParaRPr>
          </a:p>
        </p:txBody>
      </p:sp>
      <p:pic>
        <p:nvPicPr>
          <p:cNvPr id="18" name="Picture 3">
            <a:extLst>
              <a:ext uri="{FF2B5EF4-FFF2-40B4-BE49-F238E27FC236}">
                <a16:creationId xmlns:a16="http://schemas.microsoft.com/office/drawing/2014/main" id="{D14E8AEF-8EA8-4944-AE52-FF98A1FB783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8796" y="752043"/>
            <a:ext cx="8208912" cy="4536079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  <a:extLst/>
        </p:spPr>
      </p:pic>
      <p:pic>
        <p:nvPicPr>
          <p:cNvPr id="19" name="Picture 2">
            <a:extLst>
              <a:ext uri="{FF2B5EF4-FFF2-40B4-BE49-F238E27FC236}">
                <a16:creationId xmlns:a16="http://schemas.microsoft.com/office/drawing/2014/main" id="{6FBB0165-03FF-4BBD-A158-8DEF923CF53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464" y="762442"/>
            <a:ext cx="8208912" cy="3487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20" name="직선 연결선 19">
            <a:extLst>
              <a:ext uri="{FF2B5EF4-FFF2-40B4-BE49-F238E27FC236}">
                <a16:creationId xmlns:a16="http://schemas.microsoft.com/office/drawing/2014/main" id="{37D07777-30AA-4506-9C18-6F3B4C7D943C}"/>
              </a:ext>
            </a:extLst>
          </p:cNvPr>
          <p:cNvCxnSpPr>
            <a:cxnSpLocks/>
          </p:cNvCxnSpPr>
          <p:nvPr/>
        </p:nvCxnSpPr>
        <p:spPr>
          <a:xfrm>
            <a:off x="128463" y="1124744"/>
            <a:ext cx="8208912" cy="0"/>
          </a:xfrm>
          <a:prstGeom prst="line">
            <a:avLst/>
          </a:prstGeom>
          <a:ln w="9525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5E84417E-CAA5-4FD3-BBB9-7CD5570EF571}"/>
              </a:ext>
            </a:extLst>
          </p:cNvPr>
          <p:cNvSpPr/>
          <p:nvPr/>
        </p:nvSpPr>
        <p:spPr>
          <a:xfrm>
            <a:off x="216315" y="1556792"/>
            <a:ext cx="1820532" cy="288032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en-US" altLang="ko-KR" sz="10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DR </a:t>
            </a:r>
            <a:r>
              <a:rPr lang="ko-KR" altLang="en-US" sz="10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실적 현황</a:t>
            </a: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180BACBD-4B64-4649-BD7C-E1EE3620FBC6}"/>
              </a:ext>
            </a:extLst>
          </p:cNvPr>
          <p:cNvSpPr/>
          <p:nvPr/>
        </p:nvSpPr>
        <p:spPr>
          <a:xfrm>
            <a:off x="120419" y="1774249"/>
            <a:ext cx="1510265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150000"/>
              </a:lnSpc>
            </a:pPr>
            <a:r>
              <a:rPr lang="en-US" altLang="ko-KR" sz="900" b="1" dirty="0">
                <a:solidFill>
                  <a:schemeClr val="bg1">
                    <a:lumMod val="65000"/>
                  </a:schemeClr>
                </a:solidFill>
                <a:latin typeface="맑은 고딕" pitchFamily="50" charset="-127"/>
                <a:ea typeface="맑은 고딕" pitchFamily="50" charset="-127"/>
              </a:rPr>
              <a:t>YYYY-MM-DD hh:mm</a:t>
            </a:r>
            <a:endParaRPr lang="ko-KR" altLang="en-US" sz="900" b="1" dirty="0">
              <a:solidFill>
                <a:schemeClr val="bg1">
                  <a:lumMod val="6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A27B69D7-2B77-4AF2-A717-2F8B00E5023D}"/>
              </a:ext>
            </a:extLst>
          </p:cNvPr>
          <p:cNvSpPr/>
          <p:nvPr/>
        </p:nvSpPr>
        <p:spPr>
          <a:xfrm>
            <a:off x="3584848" y="1569453"/>
            <a:ext cx="1224136" cy="288033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기간 설정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51E4F555-ACF8-422A-8A4C-263DF5607ED0}"/>
              </a:ext>
            </a:extLst>
          </p:cNvPr>
          <p:cNvSpPr/>
          <p:nvPr/>
        </p:nvSpPr>
        <p:spPr>
          <a:xfrm>
            <a:off x="4304928" y="1569453"/>
            <a:ext cx="1262753" cy="288033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YYY-MM</a:t>
            </a:r>
            <a:endParaRPr lang="ko-KR" altLang="en-US" sz="90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056B85B8-E22D-471D-BF90-7BA59FDE59DA}"/>
              </a:ext>
            </a:extLst>
          </p:cNvPr>
          <p:cNvSpPr/>
          <p:nvPr/>
        </p:nvSpPr>
        <p:spPr>
          <a:xfrm>
            <a:off x="5567681" y="1569453"/>
            <a:ext cx="288032" cy="288033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▼</a:t>
            </a: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5DE85575-6695-43D9-BA78-E72D7749FD5A}"/>
              </a:ext>
            </a:extLst>
          </p:cNvPr>
          <p:cNvSpPr/>
          <p:nvPr/>
        </p:nvSpPr>
        <p:spPr>
          <a:xfrm>
            <a:off x="5855713" y="1569453"/>
            <a:ext cx="249415" cy="288033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~</a:t>
            </a:r>
            <a:endParaRPr lang="ko-KR" altLang="en-US" sz="900" b="1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52DDF82F-9C8F-422F-B328-3979E21AEB5E}"/>
              </a:ext>
            </a:extLst>
          </p:cNvPr>
          <p:cNvSpPr/>
          <p:nvPr/>
        </p:nvSpPr>
        <p:spPr>
          <a:xfrm>
            <a:off x="6105128" y="1569453"/>
            <a:ext cx="1262753" cy="288033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YYYY-MM</a:t>
            </a:r>
            <a:endParaRPr lang="ko-KR" altLang="en-US" sz="90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508668D7-197F-47CF-8003-58499E43E073}"/>
              </a:ext>
            </a:extLst>
          </p:cNvPr>
          <p:cNvSpPr/>
          <p:nvPr/>
        </p:nvSpPr>
        <p:spPr>
          <a:xfrm>
            <a:off x="7367881" y="1569453"/>
            <a:ext cx="288032" cy="288033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▼</a:t>
            </a:r>
          </a:p>
        </p:txBody>
      </p:sp>
      <p:pic>
        <p:nvPicPr>
          <p:cNvPr id="47" name="Picture 2" descr="ì¤ì ì ëí ì´ë¯¸ì§ ê²ìê²°ê³¼">
            <a:extLst>
              <a:ext uri="{FF2B5EF4-FFF2-40B4-BE49-F238E27FC236}">
                <a16:creationId xmlns:a16="http://schemas.microsoft.com/office/drawing/2014/main" id="{90A888AD-844A-4544-B02A-A77BC3397C7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05865" y="844086"/>
            <a:ext cx="198592" cy="19859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8" name="사각형: 둥근 모서리 47">
            <a:extLst>
              <a:ext uri="{FF2B5EF4-FFF2-40B4-BE49-F238E27FC236}">
                <a16:creationId xmlns:a16="http://schemas.microsoft.com/office/drawing/2014/main" id="{119FCE8B-C633-47C3-A0BD-44AD20643BCC}"/>
              </a:ext>
            </a:extLst>
          </p:cNvPr>
          <p:cNvSpPr/>
          <p:nvPr/>
        </p:nvSpPr>
        <p:spPr>
          <a:xfrm>
            <a:off x="1239315" y="1637161"/>
            <a:ext cx="1013369" cy="180000"/>
          </a:xfrm>
          <a:prstGeom prst="roundRect">
            <a:avLst/>
          </a:prstGeom>
          <a:solidFill>
            <a:schemeClr val="bg1"/>
          </a:solidFill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ko-KR" altLang="en-US" sz="900" dirty="0">
                <a:solidFill>
                  <a:schemeClr val="tx1"/>
                </a:solidFill>
              </a:rPr>
              <a:t>기간 설정  ▼</a:t>
            </a:r>
          </a:p>
        </p:txBody>
      </p:sp>
      <p:sp>
        <p:nvSpPr>
          <p:cNvPr id="49" name="사각형: 둥근 모서리 48">
            <a:extLst>
              <a:ext uri="{FF2B5EF4-FFF2-40B4-BE49-F238E27FC236}">
                <a16:creationId xmlns:a16="http://schemas.microsoft.com/office/drawing/2014/main" id="{948F9D44-B814-4AF5-882E-A35193F2E22A}"/>
              </a:ext>
            </a:extLst>
          </p:cNvPr>
          <p:cNvSpPr/>
          <p:nvPr/>
        </p:nvSpPr>
        <p:spPr>
          <a:xfrm>
            <a:off x="2297791" y="1636316"/>
            <a:ext cx="1013369" cy="180000"/>
          </a:xfrm>
          <a:prstGeom prst="roundRect">
            <a:avLst/>
          </a:prstGeom>
          <a:solidFill>
            <a:schemeClr val="bg1"/>
          </a:solidFill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altLang="ko-KR" sz="900" dirty="0">
                <a:solidFill>
                  <a:schemeClr val="tx1"/>
                </a:solidFill>
              </a:rPr>
              <a:t>15</a:t>
            </a:r>
            <a:r>
              <a:rPr lang="ko-KR" altLang="en-US" sz="900" dirty="0">
                <a:solidFill>
                  <a:schemeClr val="tx1"/>
                </a:solidFill>
              </a:rPr>
              <a:t>분     ▼</a:t>
            </a:r>
          </a:p>
        </p:txBody>
      </p:sp>
      <p:graphicFrame>
        <p:nvGraphicFramePr>
          <p:cNvPr id="40" name="표 39">
            <a:extLst>
              <a:ext uri="{FF2B5EF4-FFF2-40B4-BE49-F238E27FC236}">
                <a16:creationId xmlns:a16="http://schemas.microsoft.com/office/drawing/2014/main" id="{18513AA0-501E-41AA-A36E-386D57118C3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29156857"/>
              </p:ext>
            </p:extLst>
          </p:nvPr>
        </p:nvGraphicFramePr>
        <p:xfrm>
          <a:off x="278100" y="2276872"/>
          <a:ext cx="7915258" cy="178693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0443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3998026551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4239822446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3215763484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1826529500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1380773476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1384194458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1749036958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3675851017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3466669195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667275161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1235731143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3913681239"/>
                    </a:ext>
                  </a:extLst>
                </a:gridCol>
              </a:tblGrid>
              <a:tr h="25527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/>
                        <a:t>kW</a:t>
                      </a:r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527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1000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55277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5527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500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55277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5527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55277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01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02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03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04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05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06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07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08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09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10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11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12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13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14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15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16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17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18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19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20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21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22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23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24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cxnSp>
        <p:nvCxnSpPr>
          <p:cNvPr id="52" name="직선 연결선 51">
            <a:extLst>
              <a:ext uri="{FF2B5EF4-FFF2-40B4-BE49-F238E27FC236}">
                <a16:creationId xmlns:a16="http://schemas.microsoft.com/office/drawing/2014/main" id="{00A71007-406C-4F0A-9589-C33EC6950CD4}"/>
              </a:ext>
            </a:extLst>
          </p:cNvPr>
          <p:cNvCxnSpPr>
            <a:cxnSpLocks/>
          </p:cNvCxnSpPr>
          <p:nvPr/>
        </p:nvCxnSpPr>
        <p:spPr>
          <a:xfrm>
            <a:off x="980534" y="3307055"/>
            <a:ext cx="7147615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3" name="직선 연결선 52">
            <a:extLst>
              <a:ext uri="{FF2B5EF4-FFF2-40B4-BE49-F238E27FC236}">
                <a16:creationId xmlns:a16="http://schemas.microsoft.com/office/drawing/2014/main" id="{FA8F809F-54BE-465D-850D-4493686FD5EF}"/>
              </a:ext>
            </a:extLst>
          </p:cNvPr>
          <p:cNvCxnSpPr>
            <a:cxnSpLocks/>
          </p:cNvCxnSpPr>
          <p:nvPr/>
        </p:nvCxnSpPr>
        <p:spPr>
          <a:xfrm>
            <a:off x="980534" y="2730991"/>
            <a:ext cx="7147615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7" name="표 56">
            <a:extLst>
              <a:ext uri="{FF2B5EF4-FFF2-40B4-BE49-F238E27FC236}">
                <a16:creationId xmlns:a16="http://schemas.microsoft.com/office/drawing/2014/main" id="{9E138EB3-61CC-47EA-9FB4-544BC6F0C74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39222715"/>
              </p:ext>
            </p:extLst>
          </p:nvPr>
        </p:nvGraphicFramePr>
        <p:xfrm>
          <a:off x="278100" y="4099981"/>
          <a:ext cx="7915252" cy="34241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36606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2454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2751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01298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01298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01298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01298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45193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129053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감축일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 err="1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감축시간대</a:t>
                      </a:r>
                      <a:endParaRPr lang="ko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사용량</a:t>
                      </a:r>
                      <a:r>
                        <a:rPr lang="en-US" altLang="ko-KR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(kW)</a:t>
                      </a:r>
                      <a:endParaRPr lang="ko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고객기준부하</a:t>
                      </a:r>
                      <a:r>
                        <a:rPr lang="en-US" altLang="ko-KR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(kW)</a:t>
                      </a:r>
                      <a:endParaRPr lang="ko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계약용량</a:t>
                      </a:r>
                      <a:r>
                        <a:rPr lang="en-US" altLang="ko-KR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(kW)</a:t>
                      </a:r>
                      <a:endParaRPr lang="ko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목표사용량</a:t>
                      </a:r>
                      <a:r>
                        <a:rPr lang="en-US" altLang="ko-KR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kW</a:t>
                      </a:r>
                      <a:r>
                        <a:rPr lang="en-US" altLang="ko-KR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endParaRPr lang="ko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 err="1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감축량</a:t>
                      </a:r>
                      <a:r>
                        <a:rPr lang="en-US" altLang="ko-KR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(kW)</a:t>
                      </a:r>
                      <a:endParaRPr lang="ko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 err="1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이행률</a:t>
                      </a:r>
                      <a:endParaRPr lang="ko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6858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2016-01-14</a:t>
                      </a:r>
                      <a:endParaRPr lang="ko-KR" altLang="en-US" sz="7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16:00~17:00</a:t>
                      </a:r>
                      <a:endParaRPr lang="ko-KR" altLang="en-US" sz="7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750</a:t>
                      </a:r>
                      <a:endParaRPr lang="ko-KR" altLang="en-US" sz="7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5,000</a:t>
                      </a:r>
                      <a:endParaRPr lang="ko-KR" altLang="en-US" sz="7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4,000</a:t>
                      </a:r>
                      <a:endParaRPr lang="ko-KR" altLang="en-US" sz="7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</a:t>
                      </a:r>
                      <a:endParaRPr lang="ko-KR" altLang="en-US" sz="7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4,250</a:t>
                      </a:r>
                      <a:endParaRPr lang="ko-KR" altLang="en-US" sz="7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106.25%</a:t>
                      </a:r>
                      <a:endParaRPr lang="ko-KR" altLang="en-US" sz="7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2016-01-14</a:t>
                      </a:r>
                      <a:endParaRPr lang="ko-KR" altLang="en-US" sz="7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17:00~18:00</a:t>
                      </a:r>
                      <a:endParaRPr lang="ko-KR" altLang="en-US" sz="7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800</a:t>
                      </a:r>
                      <a:endParaRPr lang="ko-KR" altLang="en-US" sz="7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5,500</a:t>
                      </a:r>
                      <a:endParaRPr lang="ko-KR" altLang="en-US" sz="7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4,000</a:t>
                      </a:r>
                      <a:endParaRPr lang="ko-KR" altLang="en-US" sz="7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1,500</a:t>
                      </a:r>
                      <a:endParaRPr lang="ko-KR" altLang="en-US" sz="7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4,700</a:t>
                      </a:r>
                      <a:endParaRPr lang="ko-KR" altLang="en-US" sz="7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117.50%</a:t>
                      </a:r>
                      <a:endParaRPr lang="ko-KR" altLang="en-US" sz="7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62" name="자유형 10">
            <a:extLst>
              <a:ext uri="{FF2B5EF4-FFF2-40B4-BE49-F238E27FC236}">
                <a16:creationId xmlns:a16="http://schemas.microsoft.com/office/drawing/2014/main" id="{1414ED20-0E3B-4642-9AE6-452F5986E6D0}"/>
              </a:ext>
            </a:extLst>
          </p:cNvPr>
          <p:cNvSpPr/>
          <p:nvPr/>
        </p:nvSpPr>
        <p:spPr>
          <a:xfrm>
            <a:off x="1052542" y="2735517"/>
            <a:ext cx="2949900" cy="907078"/>
          </a:xfrm>
          <a:custGeom>
            <a:avLst/>
            <a:gdLst>
              <a:gd name="connsiteX0" fmla="*/ 0 w 6477000"/>
              <a:gd name="connsiteY0" fmla="*/ 1208046 h 1208046"/>
              <a:gd name="connsiteX1" fmla="*/ 33867 w 6477000"/>
              <a:gd name="connsiteY1" fmla="*/ 1157246 h 1208046"/>
              <a:gd name="connsiteX2" fmla="*/ 67734 w 6477000"/>
              <a:gd name="connsiteY2" fmla="*/ 1140313 h 1208046"/>
              <a:gd name="connsiteX3" fmla="*/ 101600 w 6477000"/>
              <a:gd name="connsiteY3" fmla="*/ 1072580 h 1208046"/>
              <a:gd name="connsiteX4" fmla="*/ 118534 w 6477000"/>
              <a:gd name="connsiteY4" fmla="*/ 1055646 h 1208046"/>
              <a:gd name="connsiteX5" fmla="*/ 152400 w 6477000"/>
              <a:gd name="connsiteY5" fmla="*/ 937113 h 1208046"/>
              <a:gd name="connsiteX6" fmla="*/ 169334 w 6477000"/>
              <a:gd name="connsiteY6" fmla="*/ 903246 h 1208046"/>
              <a:gd name="connsiteX7" fmla="*/ 203200 w 6477000"/>
              <a:gd name="connsiteY7" fmla="*/ 818580 h 1208046"/>
              <a:gd name="connsiteX8" fmla="*/ 220134 w 6477000"/>
              <a:gd name="connsiteY8" fmla="*/ 801646 h 1208046"/>
              <a:gd name="connsiteX9" fmla="*/ 237067 w 6477000"/>
              <a:gd name="connsiteY9" fmla="*/ 750846 h 1208046"/>
              <a:gd name="connsiteX10" fmla="*/ 304800 w 6477000"/>
              <a:gd name="connsiteY10" fmla="*/ 750846 h 1208046"/>
              <a:gd name="connsiteX11" fmla="*/ 321734 w 6477000"/>
              <a:gd name="connsiteY11" fmla="*/ 767780 h 1208046"/>
              <a:gd name="connsiteX12" fmla="*/ 355600 w 6477000"/>
              <a:gd name="connsiteY12" fmla="*/ 784713 h 1208046"/>
              <a:gd name="connsiteX13" fmla="*/ 508000 w 6477000"/>
              <a:gd name="connsiteY13" fmla="*/ 750846 h 1208046"/>
              <a:gd name="connsiteX14" fmla="*/ 575734 w 6477000"/>
              <a:gd name="connsiteY14" fmla="*/ 716980 h 1208046"/>
              <a:gd name="connsiteX15" fmla="*/ 643467 w 6477000"/>
              <a:gd name="connsiteY15" fmla="*/ 683113 h 1208046"/>
              <a:gd name="connsiteX16" fmla="*/ 677334 w 6477000"/>
              <a:gd name="connsiteY16" fmla="*/ 666180 h 1208046"/>
              <a:gd name="connsiteX17" fmla="*/ 762000 w 6477000"/>
              <a:gd name="connsiteY17" fmla="*/ 615380 h 1208046"/>
              <a:gd name="connsiteX18" fmla="*/ 778934 w 6477000"/>
              <a:gd name="connsiteY18" fmla="*/ 598446 h 1208046"/>
              <a:gd name="connsiteX19" fmla="*/ 812800 w 6477000"/>
              <a:gd name="connsiteY19" fmla="*/ 581513 h 1208046"/>
              <a:gd name="connsiteX20" fmla="*/ 965200 w 6477000"/>
              <a:gd name="connsiteY20" fmla="*/ 598446 h 1208046"/>
              <a:gd name="connsiteX21" fmla="*/ 1032934 w 6477000"/>
              <a:gd name="connsiteY21" fmla="*/ 615380 h 1208046"/>
              <a:gd name="connsiteX22" fmla="*/ 1202267 w 6477000"/>
              <a:gd name="connsiteY22" fmla="*/ 598446 h 1208046"/>
              <a:gd name="connsiteX23" fmla="*/ 1270000 w 6477000"/>
              <a:gd name="connsiteY23" fmla="*/ 564580 h 1208046"/>
              <a:gd name="connsiteX24" fmla="*/ 1303867 w 6477000"/>
              <a:gd name="connsiteY24" fmla="*/ 547646 h 1208046"/>
              <a:gd name="connsiteX25" fmla="*/ 1354667 w 6477000"/>
              <a:gd name="connsiteY25" fmla="*/ 530713 h 1208046"/>
              <a:gd name="connsiteX26" fmla="*/ 1388534 w 6477000"/>
              <a:gd name="connsiteY26" fmla="*/ 513780 h 1208046"/>
              <a:gd name="connsiteX27" fmla="*/ 1557867 w 6477000"/>
              <a:gd name="connsiteY27" fmla="*/ 496846 h 1208046"/>
              <a:gd name="connsiteX28" fmla="*/ 1964267 w 6477000"/>
              <a:gd name="connsiteY28" fmla="*/ 462980 h 1208046"/>
              <a:gd name="connsiteX29" fmla="*/ 2082800 w 6477000"/>
              <a:gd name="connsiteY29" fmla="*/ 412180 h 1208046"/>
              <a:gd name="connsiteX30" fmla="*/ 2133600 w 6477000"/>
              <a:gd name="connsiteY30" fmla="*/ 361380 h 1208046"/>
              <a:gd name="connsiteX31" fmla="*/ 2150534 w 6477000"/>
              <a:gd name="connsiteY31" fmla="*/ 344446 h 1208046"/>
              <a:gd name="connsiteX32" fmla="*/ 2201334 w 6477000"/>
              <a:gd name="connsiteY32" fmla="*/ 310580 h 1208046"/>
              <a:gd name="connsiteX33" fmla="*/ 2455334 w 6477000"/>
              <a:gd name="connsiteY33" fmla="*/ 327513 h 1208046"/>
              <a:gd name="connsiteX34" fmla="*/ 2489200 w 6477000"/>
              <a:gd name="connsiteY34" fmla="*/ 361380 h 1208046"/>
              <a:gd name="connsiteX35" fmla="*/ 2624667 w 6477000"/>
              <a:gd name="connsiteY35" fmla="*/ 378313 h 1208046"/>
              <a:gd name="connsiteX36" fmla="*/ 2726267 w 6477000"/>
              <a:gd name="connsiteY36" fmla="*/ 395246 h 1208046"/>
              <a:gd name="connsiteX37" fmla="*/ 2980267 w 6477000"/>
              <a:gd name="connsiteY37" fmla="*/ 378313 h 1208046"/>
              <a:gd name="connsiteX38" fmla="*/ 3149600 w 6477000"/>
              <a:gd name="connsiteY38" fmla="*/ 344446 h 1208046"/>
              <a:gd name="connsiteX39" fmla="*/ 3183467 w 6477000"/>
              <a:gd name="connsiteY39" fmla="*/ 327513 h 1208046"/>
              <a:gd name="connsiteX40" fmla="*/ 3420534 w 6477000"/>
              <a:gd name="connsiteY40" fmla="*/ 344446 h 1208046"/>
              <a:gd name="connsiteX41" fmla="*/ 3589867 w 6477000"/>
              <a:gd name="connsiteY41" fmla="*/ 378313 h 1208046"/>
              <a:gd name="connsiteX42" fmla="*/ 3674534 w 6477000"/>
              <a:gd name="connsiteY42" fmla="*/ 395246 h 1208046"/>
              <a:gd name="connsiteX43" fmla="*/ 3877734 w 6477000"/>
              <a:gd name="connsiteY43" fmla="*/ 429113 h 1208046"/>
              <a:gd name="connsiteX44" fmla="*/ 4047067 w 6477000"/>
              <a:gd name="connsiteY44" fmla="*/ 462980 h 1208046"/>
              <a:gd name="connsiteX45" fmla="*/ 4284134 w 6477000"/>
              <a:gd name="connsiteY45" fmla="*/ 446046 h 1208046"/>
              <a:gd name="connsiteX46" fmla="*/ 4402667 w 6477000"/>
              <a:gd name="connsiteY46" fmla="*/ 412180 h 1208046"/>
              <a:gd name="connsiteX47" fmla="*/ 4436534 w 6477000"/>
              <a:gd name="connsiteY47" fmla="*/ 395246 h 1208046"/>
              <a:gd name="connsiteX48" fmla="*/ 4521200 w 6477000"/>
              <a:gd name="connsiteY48" fmla="*/ 378313 h 1208046"/>
              <a:gd name="connsiteX49" fmla="*/ 4605867 w 6477000"/>
              <a:gd name="connsiteY49" fmla="*/ 395246 h 1208046"/>
              <a:gd name="connsiteX50" fmla="*/ 4673600 w 6477000"/>
              <a:gd name="connsiteY50" fmla="*/ 412180 h 1208046"/>
              <a:gd name="connsiteX51" fmla="*/ 4859867 w 6477000"/>
              <a:gd name="connsiteY51" fmla="*/ 395246 h 1208046"/>
              <a:gd name="connsiteX52" fmla="*/ 4978400 w 6477000"/>
              <a:gd name="connsiteY52" fmla="*/ 361380 h 1208046"/>
              <a:gd name="connsiteX53" fmla="*/ 5080000 w 6477000"/>
              <a:gd name="connsiteY53" fmla="*/ 310580 h 1208046"/>
              <a:gd name="connsiteX54" fmla="*/ 5096934 w 6477000"/>
              <a:gd name="connsiteY54" fmla="*/ 293646 h 1208046"/>
              <a:gd name="connsiteX55" fmla="*/ 5130800 w 6477000"/>
              <a:gd name="connsiteY55" fmla="*/ 276713 h 1208046"/>
              <a:gd name="connsiteX56" fmla="*/ 5164667 w 6477000"/>
              <a:gd name="connsiteY56" fmla="*/ 242846 h 1208046"/>
              <a:gd name="connsiteX57" fmla="*/ 5181600 w 6477000"/>
              <a:gd name="connsiteY57" fmla="*/ 208980 h 1208046"/>
              <a:gd name="connsiteX58" fmla="*/ 5232400 w 6477000"/>
              <a:gd name="connsiteY58" fmla="*/ 192046 h 1208046"/>
              <a:gd name="connsiteX59" fmla="*/ 5401734 w 6477000"/>
              <a:gd name="connsiteY59" fmla="*/ 141246 h 1208046"/>
              <a:gd name="connsiteX60" fmla="*/ 5486400 w 6477000"/>
              <a:gd name="connsiteY60" fmla="*/ 107380 h 1208046"/>
              <a:gd name="connsiteX61" fmla="*/ 5537200 w 6477000"/>
              <a:gd name="connsiteY61" fmla="*/ 90446 h 1208046"/>
              <a:gd name="connsiteX62" fmla="*/ 5638800 w 6477000"/>
              <a:gd name="connsiteY62" fmla="*/ 107380 h 1208046"/>
              <a:gd name="connsiteX63" fmla="*/ 5672667 w 6477000"/>
              <a:gd name="connsiteY63" fmla="*/ 124313 h 1208046"/>
              <a:gd name="connsiteX64" fmla="*/ 5723467 w 6477000"/>
              <a:gd name="connsiteY64" fmla="*/ 141246 h 1208046"/>
              <a:gd name="connsiteX65" fmla="*/ 5757334 w 6477000"/>
              <a:gd name="connsiteY65" fmla="*/ 158180 h 1208046"/>
              <a:gd name="connsiteX66" fmla="*/ 5926667 w 6477000"/>
              <a:gd name="connsiteY66" fmla="*/ 175113 h 1208046"/>
              <a:gd name="connsiteX67" fmla="*/ 5994400 w 6477000"/>
              <a:gd name="connsiteY67" fmla="*/ 141246 h 1208046"/>
              <a:gd name="connsiteX68" fmla="*/ 6011334 w 6477000"/>
              <a:gd name="connsiteY68" fmla="*/ 124313 h 1208046"/>
              <a:gd name="connsiteX69" fmla="*/ 6079067 w 6477000"/>
              <a:gd name="connsiteY69" fmla="*/ 90446 h 1208046"/>
              <a:gd name="connsiteX70" fmla="*/ 6180667 w 6477000"/>
              <a:gd name="connsiteY70" fmla="*/ 39646 h 1208046"/>
              <a:gd name="connsiteX71" fmla="*/ 6316134 w 6477000"/>
              <a:gd name="connsiteY71" fmla="*/ 5780 h 1208046"/>
              <a:gd name="connsiteX72" fmla="*/ 6477000 w 6477000"/>
              <a:gd name="connsiteY72" fmla="*/ 5780 h 12080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</a:cxnLst>
            <a:rect l="l" t="t" r="r" b="b"/>
            <a:pathLst>
              <a:path w="6477000" h="1208046">
                <a:moveTo>
                  <a:pt x="0" y="1208046"/>
                </a:moveTo>
                <a:cubicBezTo>
                  <a:pt x="11289" y="1191113"/>
                  <a:pt x="19476" y="1171637"/>
                  <a:pt x="33867" y="1157246"/>
                </a:cubicBezTo>
                <a:cubicBezTo>
                  <a:pt x="42792" y="1148321"/>
                  <a:pt x="59849" y="1150169"/>
                  <a:pt x="67734" y="1140313"/>
                </a:cubicBezTo>
                <a:cubicBezTo>
                  <a:pt x="83503" y="1120602"/>
                  <a:pt x="83751" y="1090429"/>
                  <a:pt x="101600" y="1072580"/>
                </a:cubicBezTo>
                <a:lnTo>
                  <a:pt x="118534" y="1055646"/>
                </a:lnTo>
                <a:cubicBezTo>
                  <a:pt x="129237" y="1012832"/>
                  <a:pt x="136206" y="977598"/>
                  <a:pt x="152400" y="937113"/>
                </a:cubicBezTo>
                <a:cubicBezTo>
                  <a:pt x="157088" y="925394"/>
                  <a:pt x="164646" y="914965"/>
                  <a:pt x="169334" y="903246"/>
                </a:cubicBezTo>
                <a:cubicBezTo>
                  <a:pt x="183103" y="868824"/>
                  <a:pt x="183344" y="848364"/>
                  <a:pt x="203200" y="818580"/>
                </a:cubicBezTo>
                <a:cubicBezTo>
                  <a:pt x="207628" y="811938"/>
                  <a:pt x="214489" y="807291"/>
                  <a:pt x="220134" y="801646"/>
                </a:cubicBezTo>
                <a:cubicBezTo>
                  <a:pt x="225778" y="784713"/>
                  <a:pt x="226357" y="765125"/>
                  <a:pt x="237067" y="750846"/>
                </a:cubicBezTo>
                <a:cubicBezTo>
                  <a:pt x="259645" y="720743"/>
                  <a:pt x="282223" y="735794"/>
                  <a:pt x="304800" y="750846"/>
                </a:cubicBezTo>
                <a:cubicBezTo>
                  <a:pt x="311442" y="755274"/>
                  <a:pt x="315092" y="763352"/>
                  <a:pt x="321734" y="767780"/>
                </a:cubicBezTo>
                <a:cubicBezTo>
                  <a:pt x="332235" y="774781"/>
                  <a:pt x="344311" y="779069"/>
                  <a:pt x="355600" y="784713"/>
                </a:cubicBezTo>
                <a:cubicBezTo>
                  <a:pt x="378600" y="780113"/>
                  <a:pt x="480662" y="761098"/>
                  <a:pt x="508000" y="750846"/>
                </a:cubicBezTo>
                <a:cubicBezTo>
                  <a:pt x="531636" y="741983"/>
                  <a:pt x="553156" y="728269"/>
                  <a:pt x="575734" y="716980"/>
                </a:cubicBezTo>
                <a:lnTo>
                  <a:pt x="643467" y="683113"/>
                </a:lnTo>
                <a:lnTo>
                  <a:pt x="677334" y="666180"/>
                </a:lnTo>
                <a:cubicBezTo>
                  <a:pt x="712116" y="631396"/>
                  <a:pt x="687127" y="652816"/>
                  <a:pt x="762000" y="615380"/>
                </a:cubicBezTo>
                <a:cubicBezTo>
                  <a:pt x="769140" y="611810"/>
                  <a:pt x="772292" y="602874"/>
                  <a:pt x="778934" y="598446"/>
                </a:cubicBezTo>
                <a:cubicBezTo>
                  <a:pt x="789435" y="591445"/>
                  <a:pt x="801511" y="587157"/>
                  <a:pt x="812800" y="581513"/>
                </a:cubicBezTo>
                <a:cubicBezTo>
                  <a:pt x="863600" y="587157"/>
                  <a:pt x="914682" y="590674"/>
                  <a:pt x="965200" y="598446"/>
                </a:cubicBezTo>
                <a:cubicBezTo>
                  <a:pt x="988202" y="601985"/>
                  <a:pt x="1009661" y="615380"/>
                  <a:pt x="1032934" y="615380"/>
                </a:cubicBezTo>
                <a:cubicBezTo>
                  <a:pt x="1089660" y="615380"/>
                  <a:pt x="1145823" y="604091"/>
                  <a:pt x="1202267" y="598446"/>
                </a:cubicBezTo>
                <a:lnTo>
                  <a:pt x="1270000" y="564580"/>
                </a:lnTo>
                <a:cubicBezTo>
                  <a:pt x="1281289" y="558935"/>
                  <a:pt x="1291893" y="551637"/>
                  <a:pt x="1303867" y="547646"/>
                </a:cubicBezTo>
                <a:cubicBezTo>
                  <a:pt x="1320800" y="542002"/>
                  <a:pt x="1338094" y="537342"/>
                  <a:pt x="1354667" y="530713"/>
                </a:cubicBezTo>
                <a:cubicBezTo>
                  <a:pt x="1366386" y="526026"/>
                  <a:pt x="1376084" y="515855"/>
                  <a:pt x="1388534" y="513780"/>
                </a:cubicBezTo>
                <a:cubicBezTo>
                  <a:pt x="1444488" y="504454"/>
                  <a:pt x="1501488" y="503110"/>
                  <a:pt x="1557867" y="496846"/>
                </a:cubicBezTo>
                <a:cubicBezTo>
                  <a:pt x="1847460" y="464669"/>
                  <a:pt x="1519985" y="490747"/>
                  <a:pt x="1964267" y="462980"/>
                </a:cubicBezTo>
                <a:cubicBezTo>
                  <a:pt x="1994624" y="452860"/>
                  <a:pt x="2061878" y="433102"/>
                  <a:pt x="2082800" y="412180"/>
                </a:cubicBezTo>
                <a:lnTo>
                  <a:pt x="2133600" y="361380"/>
                </a:lnTo>
                <a:cubicBezTo>
                  <a:pt x="2139245" y="355735"/>
                  <a:pt x="2143394" y="348016"/>
                  <a:pt x="2150534" y="344446"/>
                </a:cubicBezTo>
                <a:cubicBezTo>
                  <a:pt x="2191540" y="323943"/>
                  <a:pt x="2175475" y="336437"/>
                  <a:pt x="2201334" y="310580"/>
                </a:cubicBezTo>
                <a:cubicBezTo>
                  <a:pt x="2286001" y="316224"/>
                  <a:pt x="2371771" y="312766"/>
                  <a:pt x="2455334" y="327513"/>
                </a:cubicBezTo>
                <a:cubicBezTo>
                  <a:pt x="2471056" y="330287"/>
                  <a:pt x="2473908" y="356793"/>
                  <a:pt x="2489200" y="361380"/>
                </a:cubicBezTo>
                <a:cubicBezTo>
                  <a:pt x="2532788" y="374456"/>
                  <a:pt x="2579617" y="371877"/>
                  <a:pt x="2624667" y="378313"/>
                </a:cubicBezTo>
                <a:cubicBezTo>
                  <a:pt x="2658656" y="383168"/>
                  <a:pt x="2692400" y="389602"/>
                  <a:pt x="2726267" y="395246"/>
                </a:cubicBezTo>
                <a:cubicBezTo>
                  <a:pt x="2810934" y="389602"/>
                  <a:pt x="2895761" y="385995"/>
                  <a:pt x="2980267" y="378313"/>
                </a:cubicBezTo>
                <a:cubicBezTo>
                  <a:pt x="3050826" y="371899"/>
                  <a:pt x="3090293" y="368169"/>
                  <a:pt x="3149600" y="344446"/>
                </a:cubicBezTo>
                <a:cubicBezTo>
                  <a:pt x="3161319" y="339759"/>
                  <a:pt x="3172178" y="333157"/>
                  <a:pt x="3183467" y="327513"/>
                </a:cubicBezTo>
                <a:cubicBezTo>
                  <a:pt x="3262489" y="333157"/>
                  <a:pt x="3341922" y="334620"/>
                  <a:pt x="3420534" y="344446"/>
                </a:cubicBezTo>
                <a:cubicBezTo>
                  <a:pt x="3477652" y="351586"/>
                  <a:pt x="3533423" y="367024"/>
                  <a:pt x="3589867" y="378313"/>
                </a:cubicBezTo>
                <a:lnTo>
                  <a:pt x="3674534" y="395246"/>
                </a:lnTo>
                <a:cubicBezTo>
                  <a:pt x="3741868" y="408713"/>
                  <a:pt x="3812590" y="407399"/>
                  <a:pt x="3877734" y="429113"/>
                </a:cubicBezTo>
                <a:cubicBezTo>
                  <a:pt x="3966398" y="458667"/>
                  <a:pt x="3910864" y="443522"/>
                  <a:pt x="4047067" y="462980"/>
                </a:cubicBezTo>
                <a:cubicBezTo>
                  <a:pt x="4126089" y="457335"/>
                  <a:pt x="4205395" y="454795"/>
                  <a:pt x="4284134" y="446046"/>
                </a:cubicBezTo>
                <a:cubicBezTo>
                  <a:pt x="4306365" y="443576"/>
                  <a:pt x="4377968" y="422060"/>
                  <a:pt x="4402667" y="412180"/>
                </a:cubicBezTo>
                <a:cubicBezTo>
                  <a:pt x="4414386" y="407492"/>
                  <a:pt x="4424398" y="398713"/>
                  <a:pt x="4436534" y="395246"/>
                </a:cubicBezTo>
                <a:cubicBezTo>
                  <a:pt x="4464207" y="387339"/>
                  <a:pt x="4492978" y="383957"/>
                  <a:pt x="4521200" y="378313"/>
                </a:cubicBezTo>
                <a:cubicBezTo>
                  <a:pt x="4549422" y="383957"/>
                  <a:pt x="4577771" y="389002"/>
                  <a:pt x="4605867" y="395246"/>
                </a:cubicBezTo>
                <a:cubicBezTo>
                  <a:pt x="4628585" y="400295"/>
                  <a:pt x="4650327" y="412180"/>
                  <a:pt x="4673600" y="412180"/>
                </a:cubicBezTo>
                <a:cubicBezTo>
                  <a:pt x="4735945" y="412180"/>
                  <a:pt x="4797778" y="400891"/>
                  <a:pt x="4859867" y="395246"/>
                </a:cubicBezTo>
                <a:cubicBezTo>
                  <a:pt x="4894236" y="386654"/>
                  <a:pt x="4944392" y="375955"/>
                  <a:pt x="4978400" y="361380"/>
                </a:cubicBezTo>
                <a:lnTo>
                  <a:pt x="5080000" y="310580"/>
                </a:lnTo>
                <a:cubicBezTo>
                  <a:pt x="5087140" y="307010"/>
                  <a:pt x="5090292" y="298074"/>
                  <a:pt x="5096934" y="293646"/>
                </a:cubicBezTo>
                <a:cubicBezTo>
                  <a:pt x="5107435" y="286645"/>
                  <a:pt x="5120703" y="284286"/>
                  <a:pt x="5130800" y="276713"/>
                </a:cubicBezTo>
                <a:cubicBezTo>
                  <a:pt x="5143572" y="267134"/>
                  <a:pt x="5157527" y="257126"/>
                  <a:pt x="5164667" y="242846"/>
                </a:cubicBezTo>
                <a:cubicBezTo>
                  <a:pt x="5170311" y="231557"/>
                  <a:pt x="5171503" y="216553"/>
                  <a:pt x="5181600" y="208980"/>
                </a:cubicBezTo>
                <a:cubicBezTo>
                  <a:pt x="5195879" y="198270"/>
                  <a:pt x="5215994" y="199077"/>
                  <a:pt x="5232400" y="192046"/>
                </a:cubicBezTo>
                <a:cubicBezTo>
                  <a:pt x="5389953" y="124524"/>
                  <a:pt x="5194837" y="187224"/>
                  <a:pt x="5401734" y="141246"/>
                </a:cubicBezTo>
                <a:cubicBezTo>
                  <a:pt x="5464915" y="127206"/>
                  <a:pt x="5436281" y="127428"/>
                  <a:pt x="5486400" y="107380"/>
                </a:cubicBezTo>
                <a:cubicBezTo>
                  <a:pt x="5502973" y="100751"/>
                  <a:pt x="5520267" y="96091"/>
                  <a:pt x="5537200" y="90446"/>
                </a:cubicBezTo>
                <a:cubicBezTo>
                  <a:pt x="5571067" y="96091"/>
                  <a:pt x="5605491" y="99053"/>
                  <a:pt x="5638800" y="107380"/>
                </a:cubicBezTo>
                <a:cubicBezTo>
                  <a:pt x="5651045" y="110441"/>
                  <a:pt x="5660948" y="119626"/>
                  <a:pt x="5672667" y="124313"/>
                </a:cubicBezTo>
                <a:cubicBezTo>
                  <a:pt x="5689240" y="130942"/>
                  <a:pt x="5706894" y="134617"/>
                  <a:pt x="5723467" y="141246"/>
                </a:cubicBezTo>
                <a:cubicBezTo>
                  <a:pt x="5735186" y="145934"/>
                  <a:pt x="5744884" y="156105"/>
                  <a:pt x="5757334" y="158180"/>
                </a:cubicBezTo>
                <a:cubicBezTo>
                  <a:pt x="5813288" y="167506"/>
                  <a:pt x="5870223" y="169469"/>
                  <a:pt x="5926667" y="175113"/>
                </a:cubicBezTo>
                <a:cubicBezTo>
                  <a:pt x="5949245" y="163824"/>
                  <a:pt x="5976550" y="159095"/>
                  <a:pt x="5994400" y="141246"/>
                </a:cubicBezTo>
                <a:cubicBezTo>
                  <a:pt x="6000045" y="135602"/>
                  <a:pt x="6004489" y="128420"/>
                  <a:pt x="6011334" y="124313"/>
                </a:cubicBezTo>
                <a:cubicBezTo>
                  <a:pt x="6032979" y="111326"/>
                  <a:pt x="6056489" y="101735"/>
                  <a:pt x="6079067" y="90446"/>
                </a:cubicBezTo>
                <a:lnTo>
                  <a:pt x="6180667" y="39646"/>
                </a:lnTo>
                <a:cubicBezTo>
                  <a:pt x="6222298" y="18830"/>
                  <a:pt x="6270978" y="17069"/>
                  <a:pt x="6316134" y="5780"/>
                </a:cubicBezTo>
                <a:cubicBezTo>
                  <a:pt x="6368155" y="-7225"/>
                  <a:pt x="6423378" y="5780"/>
                  <a:pt x="6477000" y="5780"/>
                </a:cubicBezTo>
              </a:path>
            </a:pathLst>
          </a:custGeom>
          <a:ln w="12700">
            <a:solidFill>
              <a:srgbClr val="FF6600"/>
            </a:solidFill>
          </a:ln>
        </p:spPr>
        <p:style>
          <a:lnRef idx="1">
            <a:schemeClr val="accent6"/>
          </a:lnRef>
          <a:fillRef idx="0">
            <a:schemeClr val="accent6"/>
          </a:fillRef>
          <a:effectRef idx="0">
            <a:schemeClr val="accent6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cxnSp>
        <p:nvCxnSpPr>
          <p:cNvPr id="66" name="직선 연결선 65">
            <a:extLst>
              <a:ext uri="{FF2B5EF4-FFF2-40B4-BE49-F238E27FC236}">
                <a16:creationId xmlns:a16="http://schemas.microsoft.com/office/drawing/2014/main" id="{E5489DC7-BAF4-4DA7-A0AE-B236E07F0FC0}"/>
              </a:ext>
            </a:extLst>
          </p:cNvPr>
          <p:cNvCxnSpPr>
            <a:cxnSpLocks/>
          </p:cNvCxnSpPr>
          <p:nvPr/>
        </p:nvCxnSpPr>
        <p:spPr>
          <a:xfrm>
            <a:off x="4007286" y="2291128"/>
            <a:ext cx="0" cy="1559205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1" name="그룹 70">
            <a:extLst>
              <a:ext uri="{FF2B5EF4-FFF2-40B4-BE49-F238E27FC236}">
                <a16:creationId xmlns:a16="http://schemas.microsoft.com/office/drawing/2014/main" id="{E6EC6BFA-C663-4EFD-99CE-E77ADF02A19D}"/>
              </a:ext>
            </a:extLst>
          </p:cNvPr>
          <p:cNvGrpSpPr/>
          <p:nvPr/>
        </p:nvGrpSpPr>
        <p:grpSpPr>
          <a:xfrm>
            <a:off x="3601656" y="2397511"/>
            <a:ext cx="1433726" cy="136922"/>
            <a:chOff x="3784893" y="2295519"/>
            <a:chExt cx="1433726" cy="136922"/>
          </a:xfrm>
        </p:grpSpPr>
        <p:cxnSp>
          <p:nvCxnSpPr>
            <p:cNvPr id="72" name="직선 연결선 71">
              <a:extLst>
                <a:ext uri="{FF2B5EF4-FFF2-40B4-BE49-F238E27FC236}">
                  <a16:creationId xmlns:a16="http://schemas.microsoft.com/office/drawing/2014/main" id="{F30D91AE-0067-4C3F-B995-BE8E24D6A18B}"/>
                </a:ext>
              </a:extLst>
            </p:cNvPr>
            <p:cNvCxnSpPr/>
            <p:nvPr/>
          </p:nvCxnSpPr>
          <p:spPr>
            <a:xfrm>
              <a:off x="3784893" y="2405058"/>
              <a:ext cx="720000" cy="1588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26D44C9D-27D0-429C-8CE0-895755DD829D}"/>
                </a:ext>
              </a:extLst>
            </p:cNvPr>
            <p:cNvCxnSpPr/>
            <p:nvPr/>
          </p:nvCxnSpPr>
          <p:spPr>
            <a:xfrm>
              <a:off x="4498619" y="2295519"/>
              <a:ext cx="720000" cy="1588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098E4E0F-A653-45AB-9FF9-C6DFA0F4354A}"/>
                </a:ext>
              </a:extLst>
            </p:cNvPr>
            <p:cNvCxnSpPr/>
            <p:nvPr/>
          </p:nvCxnSpPr>
          <p:spPr>
            <a:xfrm rot="5400000">
              <a:off x="4443826" y="2350264"/>
              <a:ext cx="108000" cy="1588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5" name="타원 74">
              <a:extLst>
                <a:ext uri="{FF2B5EF4-FFF2-40B4-BE49-F238E27FC236}">
                  <a16:creationId xmlns:a16="http://schemas.microsoft.com/office/drawing/2014/main" id="{F82D103E-A527-4B67-89E0-77FADF6EBD9E}"/>
                </a:ext>
              </a:extLst>
            </p:cNvPr>
            <p:cNvSpPr/>
            <p:nvPr/>
          </p:nvSpPr>
          <p:spPr>
            <a:xfrm>
              <a:off x="4161335" y="2360441"/>
              <a:ext cx="72000" cy="72000"/>
            </a:xfrm>
            <a:prstGeom prst="ellipse">
              <a:avLst/>
            </a:prstGeom>
            <a:solidFill>
              <a:srgbClr val="FF99CC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cxnSp>
        <p:nvCxnSpPr>
          <p:cNvPr id="81" name="직선 연결선 80">
            <a:extLst>
              <a:ext uri="{FF2B5EF4-FFF2-40B4-BE49-F238E27FC236}">
                <a16:creationId xmlns:a16="http://schemas.microsoft.com/office/drawing/2014/main" id="{DEE5AE66-DE1E-4103-8EAE-44458912ABD4}"/>
              </a:ext>
            </a:extLst>
          </p:cNvPr>
          <p:cNvCxnSpPr/>
          <p:nvPr/>
        </p:nvCxnSpPr>
        <p:spPr>
          <a:xfrm>
            <a:off x="4160912" y="2047011"/>
            <a:ext cx="504056" cy="0"/>
          </a:xfrm>
          <a:prstGeom prst="line">
            <a:avLst/>
          </a:prstGeom>
          <a:ln w="19050">
            <a:solidFill>
              <a:srgbClr val="FF66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7A32831B-C9B4-47BB-8CC9-586C2D0E968A}"/>
              </a:ext>
            </a:extLst>
          </p:cNvPr>
          <p:cNvSpPr/>
          <p:nvPr/>
        </p:nvSpPr>
        <p:spPr>
          <a:xfrm>
            <a:off x="4664968" y="1924783"/>
            <a:ext cx="1008112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실제 사용량</a:t>
            </a:r>
          </a:p>
        </p:txBody>
      </p:sp>
      <p:cxnSp>
        <p:nvCxnSpPr>
          <p:cNvPr id="83" name="직선 연결선 82">
            <a:extLst>
              <a:ext uri="{FF2B5EF4-FFF2-40B4-BE49-F238E27FC236}">
                <a16:creationId xmlns:a16="http://schemas.microsoft.com/office/drawing/2014/main" id="{58C35C8D-60DA-42FD-B7FD-CEBEEA7BBCB9}"/>
              </a:ext>
            </a:extLst>
          </p:cNvPr>
          <p:cNvCxnSpPr/>
          <p:nvPr/>
        </p:nvCxnSpPr>
        <p:spPr>
          <a:xfrm>
            <a:off x="5457056" y="2047011"/>
            <a:ext cx="504056" cy="0"/>
          </a:xfrm>
          <a:prstGeom prst="line">
            <a:avLst/>
          </a:prstGeom>
          <a:noFill/>
          <a:ln w="19050">
            <a:solidFill>
              <a:srgbClr val="6699F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4" name="직사각형 83">
            <a:extLst>
              <a:ext uri="{FF2B5EF4-FFF2-40B4-BE49-F238E27FC236}">
                <a16:creationId xmlns:a16="http://schemas.microsoft.com/office/drawing/2014/main" id="{87C51044-92D6-42B6-AC71-52C72F6E94E2}"/>
              </a:ext>
            </a:extLst>
          </p:cNvPr>
          <p:cNvSpPr/>
          <p:nvPr/>
        </p:nvSpPr>
        <p:spPr>
          <a:xfrm>
            <a:off x="5961112" y="1924783"/>
            <a:ext cx="1008112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목표사용량</a:t>
            </a:r>
          </a:p>
        </p:txBody>
      </p:sp>
      <p:cxnSp>
        <p:nvCxnSpPr>
          <p:cNvPr id="85" name="직선 연결선 84">
            <a:extLst>
              <a:ext uri="{FF2B5EF4-FFF2-40B4-BE49-F238E27FC236}">
                <a16:creationId xmlns:a16="http://schemas.microsoft.com/office/drawing/2014/main" id="{107957F2-F200-4E88-A939-B15AEBD60152}"/>
              </a:ext>
            </a:extLst>
          </p:cNvPr>
          <p:cNvCxnSpPr/>
          <p:nvPr/>
        </p:nvCxnSpPr>
        <p:spPr>
          <a:xfrm>
            <a:off x="6753200" y="2047011"/>
            <a:ext cx="504056" cy="0"/>
          </a:xfrm>
          <a:prstGeom prst="line">
            <a:avLst/>
          </a:prstGeom>
          <a:noFill/>
          <a:ln w="19050">
            <a:solidFill>
              <a:srgbClr val="FF000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51A1D4FE-BA50-4908-8A7B-E924AA132EAC}"/>
              </a:ext>
            </a:extLst>
          </p:cNvPr>
          <p:cNvSpPr/>
          <p:nvPr/>
        </p:nvSpPr>
        <p:spPr>
          <a:xfrm>
            <a:off x="7257256" y="1924783"/>
            <a:ext cx="1008112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기준부하</a:t>
            </a:r>
            <a:r>
              <a:rPr lang="en-US" altLang="ko-KR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(CBL)</a:t>
            </a:r>
            <a:endParaRPr lang="ko-KR" altLang="en-US" sz="800" b="1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0" name="직사각형 69">
            <a:extLst>
              <a:ext uri="{FF2B5EF4-FFF2-40B4-BE49-F238E27FC236}">
                <a16:creationId xmlns:a16="http://schemas.microsoft.com/office/drawing/2014/main" id="{4FBCB987-45D7-4CC2-B35C-2807364A8C71}"/>
              </a:ext>
            </a:extLst>
          </p:cNvPr>
          <p:cNvSpPr/>
          <p:nvPr/>
        </p:nvSpPr>
        <p:spPr>
          <a:xfrm>
            <a:off x="5089128" y="2546259"/>
            <a:ext cx="1088968" cy="590204"/>
          </a:xfrm>
          <a:prstGeom prst="rect">
            <a:avLst/>
          </a:prstGeom>
          <a:solidFill>
            <a:schemeClr val="bg1"/>
          </a:solidFill>
          <a:ln>
            <a:solidFill>
              <a:schemeClr val="bg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tlCol="0" anchor="ctr"/>
          <a:lstStyle/>
          <a:p>
            <a:r>
              <a:rPr lang="en-US" altLang="ko-KR" sz="600" dirty="0">
                <a:solidFill>
                  <a:schemeClr val="tx1"/>
                </a:solidFill>
              </a:rPr>
              <a:t>1</a:t>
            </a:r>
            <a:r>
              <a:rPr lang="ko-KR" altLang="en-US" sz="600" dirty="0">
                <a:solidFill>
                  <a:schemeClr val="tx1"/>
                </a:solidFill>
              </a:rPr>
              <a:t>월</a:t>
            </a:r>
            <a:r>
              <a:rPr lang="en-US" altLang="ko-KR" sz="600" dirty="0">
                <a:solidFill>
                  <a:schemeClr val="tx1"/>
                </a:solidFill>
              </a:rPr>
              <a:t>14</a:t>
            </a:r>
            <a:r>
              <a:rPr lang="ko-KR" altLang="en-US" sz="600" dirty="0">
                <a:solidFill>
                  <a:schemeClr val="tx1"/>
                </a:solidFill>
              </a:rPr>
              <a:t>일 목요일</a:t>
            </a:r>
            <a:r>
              <a:rPr lang="en-US" altLang="ko-KR" sz="600" dirty="0">
                <a:solidFill>
                  <a:schemeClr val="tx1"/>
                </a:solidFill>
              </a:rPr>
              <a:t>,</a:t>
            </a:r>
            <a:r>
              <a:rPr lang="ko-KR" altLang="en-US" sz="600" dirty="0">
                <a:solidFill>
                  <a:schemeClr val="tx1"/>
                </a:solidFill>
              </a:rPr>
              <a:t> </a:t>
            </a:r>
            <a:r>
              <a:rPr lang="en-US" altLang="ko-KR" sz="600" dirty="0">
                <a:solidFill>
                  <a:schemeClr val="tx1"/>
                </a:solidFill>
              </a:rPr>
              <a:t>17:42</a:t>
            </a:r>
            <a:endParaRPr lang="en-US" altLang="ko-KR" sz="600" dirty="0">
              <a:solidFill>
                <a:srgbClr val="FF0000"/>
              </a:solidFill>
            </a:endParaRPr>
          </a:p>
          <a:p>
            <a:r>
              <a:rPr lang="en-US" altLang="ko-KR" sz="600" dirty="0">
                <a:solidFill>
                  <a:srgbClr val="FF0000"/>
                </a:solidFill>
              </a:rPr>
              <a:t>- </a:t>
            </a:r>
            <a:r>
              <a:rPr lang="ko-KR" altLang="en-US" sz="600" dirty="0">
                <a:solidFill>
                  <a:srgbClr val="FF0000"/>
                </a:solidFill>
              </a:rPr>
              <a:t>기준부하</a:t>
            </a:r>
            <a:r>
              <a:rPr lang="en-US" altLang="ko-KR" sz="600" dirty="0">
                <a:solidFill>
                  <a:srgbClr val="FF0000"/>
                </a:solidFill>
              </a:rPr>
              <a:t>(CBL) :</a:t>
            </a:r>
            <a:r>
              <a:rPr lang="en-US" altLang="ko-KR" sz="600" dirty="0">
                <a:solidFill>
                  <a:schemeClr val="tx1"/>
                </a:solidFill>
              </a:rPr>
              <a:t> </a:t>
            </a:r>
            <a:r>
              <a:rPr lang="en-US" altLang="ko-KR" sz="600" b="1" dirty="0">
                <a:solidFill>
                  <a:schemeClr val="tx1"/>
                </a:solidFill>
              </a:rPr>
              <a:t>5,500kW</a:t>
            </a:r>
          </a:p>
          <a:p>
            <a:r>
              <a:rPr lang="en-US" altLang="ko-KR" sz="600" dirty="0">
                <a:solidFill>
                  <a:schemeClr val="accent6">
                    <a:lumMod val="75000"/>
                  </a:schemeClr>
                </a:solidFill>
              </a:rPr>
              <a:t>- </a:t>
            </a:r>
            <a:r>
              <a:rPr lang="ko-KR" altLang="en-US" sz="600" dirty="0">
                <a:solidFill>
                  <a:schemeClr val="accent6">
                    <a:lumMod val="75000"/>
                  </a:schemeClr>
                </a:solidFill>
              </a:rPr>
              <a:t>현재 사용량 </a:t>
            </a:r>
            <a:r>
              <a:rPr lang="en-US" altLang="ko-KR" sz="600" dirty="0">
                <a:solidFill>
                  <a:schemeClr val="accent6">
                    <a:lumMod val="75000"/>
                  </a:schemeClr>
                </a:solidFill>
              </a:rPr>
              <a:t>: </a:t>
            </a:r>
            <a:r>
              <a:rPr lang="en-US" altLang="ko-KR" sz="600" b="1" dirty="0">
                <a:solidFill>
                  <a:schemeClr val="tx1"/>
                </a:solidFill>
              </a:rPr>
              <a:t>800kW</a:t>
            </a:r>
          </a:p>
          <a:p>
            <a:r>
              <a:rPr lang="en-US" altLang="ko-KR" sz="600" dirty="0">
                <a:solidFill>
                  <a:srgbClr val="0070C0"/>
                </a:solidFill>
              </a:rPr>
              <a:t>- </a:t>
            </a:r>
            <a:r>
              <a:rPr lang="ko-KR" altLang="en-US" sz="600" dirty="0" err="1">
                <a:solidFill>
                  <a:srgbClr val="0070C0"/>
                </a:solidFill>
              </a:rPr>
              <a:t>감축량</a:t>
            </a:r>
            <a:r>
              <a:rPr lang="ko-KR" altLang="en-US" sz="600" dirty="0">
                <a:solidFill>
                  <a:srgbClr val="0070C0"/>
                </a:solidFill>
              </a:rPr>
              <a:t> </a:t>
            </a:r>
            <a:r>
              <a:rPr lang="en-US" altLang="ko-KR" sz="600" dirty="0">
                <a:solidFill>
                  <a:srgbClr val="0070C0"/>
                </a:solidFill>
              </a:rPr>
              <a:t>:</a:t>
            </a:r>
            <a:r>
              <a:rPr lang="en-US" altLang="ko-KR" sz="600" dirty="0">
                <a:solidFill>
                  <a:schemeClr val="tx1"/>
                </a:solidFill>
              </a:rPr>
              <a:t> </a:t>
            </a:r>
            <a:r>
              <a:rPr lang="en-US" altLang="ko-KR" sz="600" b="1" dirty="0">
                <a:solidFill>
                  <a:schemeClr val="tx1"/>
                </a:solidFill>
              </a:rPr>
              <a:t>4,700kW</a:t>
            </a:r>
          </a:p>
          <a:p>
            <a:r>
              <a:rPr lang="en-US" altLang="ko-KR" sz="600" dirty="0">
                <a:solidFill>
                  <a:srgbClr val="A3CFE5"/>
                </a:solidFill>
              </a:rPr>
              <a:t>- </a:t>
            </a:r>
            <a:r>
              <a:rPr lang="ko-KR" altLang="en-US" sz="600" dirty="0">
                <a:solidFill>
                  <a:srgbClr val="A3CFE5"/>
                </a:solidFill>
              </a:rPr>
              <a:t>목표사용량</a:t>
            </a:r>
            <a:r>
              <a:rPr lang="en-US" altLang="ko-KR" sz="600" dirty="0">
                <a:solidFill>
                  <a:srgbClr val="A3CFE5"/>
                </a:solidFill>
              </a:rPr>
              <a:t> :</a:t>
            </a:r>
            <a:r>
              <a:rPr lang="en-US" altLang="ko-KR" sz="600" dirty="0">
                <a:solidFill>
                  <a:schemeClr val="tx1"/>
                </a:solidFill>
              </a:rPr>
              <a:t> </a:t>
            </a:r>
            <a:r>
              <a:rPr lang="en-US" altLang="ko-KR" sz="600" b="1" dirty="0">
                <a:solidFill>
                  <a:schemeClr val="tx1"/>
                </a:solidFill>
              </a:rPr>
              <a:t>1,500kW</a:t>
            </a:r>
          </a:p>
        </p:txBody>
      </p:sp>
      <p:grpSp>
        <p:nvGrpSpPr>
          <p:cNvPr id="93" name="그룹 92">
            <a:extLst>
              <a:ext uri="{FF2B5EF4-FFF2-40B4-BE49-F238E27FC236}">
                <a16:creationId xmlns:a16="http://schemas.microsoft.com/office/drawing/2014/main" id="{02943C33-7FE1-47AA-B313-9EF338B083FC}"/>
              </a:ext>
            </a:extLst>
          </p:cNvPr>
          <p:cNvGrpSpPr/>
          <p:nvPr/>
        </p:nvGrpSpPr>
        <p:grpSpPr>
          <a:xfrm>
            <a:off x="210356" y="1203435"/>
            <a:ext cx="8024876" cy="260092"/>
            <a:chOff x="184526" y="1505937"/>
            <a:chExt cx="8024876" cy="260092"/>
          </a:xfrm>
        </p:grpSpPr>
        <p:sp>
          <p:nvSpPr>
            <p:cNvPr id="94" name="직사각형 93">
              <a:extLst>
                <a:ext uri="{FF2B5EF4-FFF2-40B4-BE49-F238E27FC236}">
                  <a16:creationId xmlns:a16="http://schemas.microsoft.com/office/drawing/2014/main" id="{20F0EFC9-4136-42F7-907B-03280F7ECBE7}"/>
                </a:ext>
              </a:extLst>
            </p:cNvPr>
            <p:cNvSpPr/>
            <p:nvPr/>
          </p:nvSpPr>
          <p:spPr>
            <a:xfrm>
              <a:off x="5810955" y="1550585"/>
              <a:ext cx="1820532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수익 현황</a:t>
              </a:r>
            </a:p>
          </p:txBody>
        </p:sp>
        <p:sp>
          <p:nvSpPr>
            <p:cNvPr id="95" name="직사각형 94">
              <a:extLst>
                <a:ext uri="{FF2B5EF4-FFF2-40B4-BE49-F238E27FC236}">
                  <a16:creationId xmlns:a16="http://schemas.microsoft.com/office/drawing/2014/main" id="{20BEAA34-A433-47B3-B7DE-265D38915BE4}"/>
                </a:ext>
              </a:extLst>
            </p:cNvPr>
            <p:cNvSpPr/>
            <p:nvPr/>
          </p:nvSpPr>
          <p:spPr>
            <a:xfrm>
              <a:off x="184526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에너지 모니터링</a:t>
              </a:r>
            </a:p>
          </p:txBody>
        </p:sp>
        <p:sp>
          <p:nvSpPr>
            <p:cNvPr id="96" name="직사각형 95">
              <a:extLst>
                <a:ext uri="{FF2B5EF4-FFF2-40B4-BE49-F238E27FC236}">
                  <a16:creationId xmlns:a16="http://schemas.microsoft.com/office/drawing/2014/main" id="{B15F2BB0-B8FE-468B-8759-07AE4FA713A0}"/>
                </a:ext>
              </a:extLst>
            </p:cNvPr>
            <p:cNvSpPr/>
            <p:nvPr/>
          </p:nvSpPr>
          <p:spPr>
            <a:xfrm>
              <a:off x="2191085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장치 모니터링</a:t>
              </a:r>
            </a:p>
          </p:txBody>
        </p:sp>
        <p:sp>
          <p:nvSpPr>
            <p:cNvPr id="97" name="직사각형 96">
              <a:extLst>
                <a:ext uri="{FF2B5EF4-FFF2-40B4-BE49-F238E27FC236}">
                  <a16:creationId xmlns:a16="http://schemas.microsoft.com/office/drawing/2014/main" id="{6A885597-8D4C-4CFC-A59B-6596DD47C015}"/>
                </a:ext>
              </a:extLst>
            </p:cNvPr>
            <p:cNvSpPr/>
            <p:nvPr/>
          </p:nvSpPr>
          <p:spPr>
            <a:xfrm>
              <a:off x="4197644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상황</a:t>
              </a:r>
              <a:r>
                <a:rPr lang="en-US" altLang="ko-KR" sz="700" dirty="0"/>
                <a:t> </a:t>
              </a:r>
              <a:r>
                <a:rPr lang="ko-KR" altLang="en-US" sz="700" dirty="0"/>
                <a:t>관제</a:t>
              </a:r>
            </a:p>
          </p:txBody>
        </p:sp>
        <p:sp>
          <p:nvSpPr>
            <p:cNvPr id="98" name="직사각형 97">
              <a:extLst>
                <a:ext uri="{FF2B5EF4-FFF2-40B4-BE49-F238E27FC236}">
                  <a16:creationId xmlns:a16="http://schemas.microsoft.com/office/drawing/2014/main" id="{EE831A03-8B93-4EEE-8B9A-7F574C7FACCA}"/>
                </a:ext>
              </a:extLst>
            </p:cNvPr>
            <p:cNvSpPr/>
            <p:nvPr/>
          </p:nvSpPr>
          <p:spPr>
            <a:xfrm>
              <a:off x="6204202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요금</a:t>
              </a:r>
              <a:r>
                <a:rPr lang="en-US" altLang="ko-KR" sz="700" dirty="0"/>
                <a:t>/</a:t>
              </a:r>
              <a:r>
                <a:rPr lang="ko-KR" altLang="en-US" sz="700" dirty="0"/>
                <a:t>수익</a:t>
              </a:r>
            </a:p>
          </p:txBody>
        </p:sp>
      </p:grpSp>
      <p:sp>
        <p:nvSpPr>
          <p:cNvPr id="227" name="타원형 설명선 226"/>
          <p:cNvSpPr/>
          <p:nvPr/>
        </p:nvSpPr>
        <p:spPr>
          <a:xfrm>
            <a:off x="4908402" y="2315349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13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5" name="타원형 설명선 244"/>
          <p:cNvSpPr/>
          <p:nvPr/>
        </p:nvSpPr>
        <p:spPr>
          <a:xfrm>
            <a:off x="3556685" y="2416696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14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6" name="타원형 설명선 245"/>
          <p:cNvSpPr/>
          <p:nvPr/>
        </p:nvSpPr>
        <p:spPr>
          <a:xfrm>
            <a:off x="48495" y="3933056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16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CB36FC2D-2041-4930-A784-C3AFF4E4A95C}"/>
              </a:ext>
            </a:extLst>
          </p:cNvPr>
          <p:cNvSpPr/>
          <p:nvPr/>
        </p:nvSpPr>
        <p:spPr>
          <a:xfrm>
            <a:off x="1158864" y="4437112"/>
            <a:ext cx="1299244" cy="342413"/>
          </a:xfrm>
          <a:prstGeom prst="rect">
            <a:avLst/>
          </a:prstGeom>
          <a:noFill/>
          <a:ln w="127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AE714883-77F8-4DEA-A5CD-8C67844EBA25}"/>
              </a:ext>
            </a:extLst>
          </p:cNvPr>
          <p:cNvGrpSpPr/>
          <p:nvPr/>
        </p:nvGrpSpPr>
        <p:grpSpPr>
          <a:xfrm>
            <a:off x="3605178" y="2549478"/>
            <a:ext cx="1438800" cy="1100254"/>
            <a:chOff x="3605178" y="2428839"/>
            <a:chExt cx="1438800" cy="1100254"/>
          </a:xfrm>
        </p:grpSpPr>
        <p:sp>
          <p:nvSpPr>
            <p:cNvPr id="68" name="직사각형 67">
              <a:extLst>
                <a:ext uri="{FF2B5EF4-FFF2-40B4-BE49-F238E27FC236}">
                  <a16:creationId xmlns:a16="http://schemas.microsoft.com/office/drawing/2014/main" id="{69B0EEB3-AAF8-430A-9DA1-86083AE710D4}"/>
                </a:ext>
              </a:extLst>
            </p:cNvPr>
            <p:cNvSpPr/>
            <p:nvPr/>
          </p:nvSpPr>
          <p:spPr>
            <a:xfrm>
              <a:off x="3605178" y="2611403"/>
              <a:ext cx="720000" cy="914648"/>
            </a:xfrm>
            <a:prstGeom prst="rect">
              <a:avLst/>
            </a:prstGeom>
            <a:solidFill>
              <a:srgbClr val="CCECFF">
                <a:alpha val="3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  <p:sp>
          <p:nvSpPr>
            <p:cNvPr id="69" name="직사각형 68">
              <a:extLst>
                <a:ext uri="{FF2B5EF4-FFF2-40B4-BE49-F238E27FC236}">
                  <a16:creationId xmlns:a16="http://schemas.microsoft.com/office/drawing/2014/main" id="{CF4AF1CC-37FC-4770-81A6-BAA84F0FEA7E}"/>
                </a:ext>
              </a:extLst>
            </p:cNvPr>
            <p:cNvSpPr/>
            <p:nvPr/>
          </p:nvSpPr>
          <p:spPr>
            <a:xfrm>
              <a:off x="4323303" y="2428839"/>
              <a:ext cx="720000" cy="1100254"/>
            </a:xfrm>
            <a:prstGeom prst="rect">
              <a:avLst/>
            </a:prstGeom>
            <a:solidFill>
              <a:srgbClr val="CCECFF">
                <a:alpha val="3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D2591E96-DF62-404A-9C37-E705080FC0B0}"/>
                </a:ext>
              </a:extLst>
            </p:cNvPr>
            <p:cNvCxnSpPr/>
            <p:nvPr/>
          </p:nvCxnSpPr>
          <p:spPr>
            <a:xfrm>
              <a:off x="3611855" y="2617155"/>
              <a:ext cx="720000" cy="1588"/>
            </a:xfrm>
            <a:prstGeom prst="line">
              <a:avLst/>
            </a:prstGeom>
            <a:ln w="12700">
              <a:solidFill>
                <a:srgbClr val="00B0F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970D8717-86A9-44C4-BD41-1BB8F9CF4072}"/>
                </a:ext>
              </a:extLst>
            </p:cNvPr>
            <p:cNvCxnSpPr/>
            <p:nvPr/>
          </p:nvCxnSpPr>
          <p:spPr>
            <a:xfrm>
              <a:off x="4323978" y="2433593"/>
              <a:ext cx="720000" cy="1588"/>
            </a:xfrm>
            <a:prstGeom prst="line">
              <a:avLst/>
            </a:prstGeom>
            <a:ln w="12700">
              <a:solidFill>
                <a:srgbClr val="00B0F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ADA4AFE2-5676-4FE7-8B06-30D2D993F7CE}"/>
                </a:ext>
              </a:extLst>
            </p:cNvPr>
            <p:cNvCxnSpPr/>
            <p:nvPr/>
          </p:nvCxnSpPr>
          <p:spPr>
            <a:xfrm rot="5400000">
              <a:off x="4241061" y="2522141"/>
              <a:ext cx="180000" cy="1588"/>
            </a:xfrm>
            <a:prstGeom prst="line">
              <a:avLst/>
            </a:prstGeom>
            <a:ln w="12700">
              <a:solidFill>
                <a:srgbClr val="00B0F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6" name="타원 75">
            <a:extLst>
              <a:ext uri="{FF2B5EF4-FFF2-40B4-BE49-F238E27FC236}">
                <a16:creationId xmlns:a16="http://schemas.microsoft.com/office/drawing/2014/main" id="{08FC866C-1B9B-4C1A-9ECD-20094FF73D0B}"/>
              </a:ext>
            </a:extLst>
          </p:cNvPr>
          <p:cNvSpPr/>
          <p:nvPr/>
        </p:nvSpPr>
        <p:spPr>
          <a:xfrm>
            <a:off x="3978098" y="2703943"/>
            <a:ext cx="72000" cy="72000"/>
          </a:xfrm>
          <a:prstGeom prst="ellipse">
            <a:avLst/>
          </a:prstGeom>
          <a:solidFill>
            <a:srgbClr val="FF99CC">
              <a:alpha val="6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244" name="타원형 설명선 243"/>
          <p:cNvSpPr/>
          <p:nvPr/>
        </p:nvSpPr>
        <p:spPr>
          <a:xfrm>
            <a:off x="4013958" y="2514991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15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11" name="사각형: 둥근 모서리 110">
            <a:extLst>
              <a:ext uri="{FF2B5EF4-FFF2-40B4-BE49-F238E27FC236}">
                <a16:creationId xmlns:a16="http://schemas.microsoft.com/office/drawing/2014/main" id="{68B7CB2F-6A9C-49A4-9420-CEC4BA6017FE}"/>
              </a:ext>
            </a:extLst>
          </p:cNvPr>
          <p:cNvSpPr/>
          <p:nvPr/>
        </p:nvSpPr>
        <p:spPr>
          <a:xfrm>
            <a:off x="2967765" y="1940829"/>
            <a:ext cx="374384" cy="240037"/>
          </a:xfrm>
          <a:prstGeom prst="roundRect">
            <a:avLst/>
          </a:prstGeom>
          <a:solidFill>
            <a:schemeClr val="bg1"/>
          </a:solidFill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900" dirty="0">
                <a:solidFill>
                  <a:schemeClr val="tx1"/>
                </a:solidFill>
              </a:rPr>
              <a:t>10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112" name="직사각형 111">
            <a:extLst>
              <a:ext uri="{FF2B5EF4-FFF2-40B4-BE49-F238E27FC236}">
                <a16:creationId xmlns:a16="http://schemas.microsoft.com/office/drawing/2014/main" id="{F71B1F94-7A40-4805-BE00-55F18628B1F5}"/>
              </a:ext>
            </a:extLst>
          </p:cNvPr>
          <p:cNvSpPr/>
          <p:nvPr/>
        </p:nvSpPr>
        <p:spPr>
          <a:xfrm>
            <a:off x="1780736" y="1916831"/>
            <a:ext cx="1187028" cy="288033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시간대별 기준 부하</a:t>
            </a:r>
          </a:p>
        </p:txBody>
      </p:sp>
      <p:sp>
        <p:nvSpPr>
          <p:cNvPr id="113" name="사각형: 둥근 모서리 112">
            <a:extLst>
              <a:ext uri="{FF2B5EF4-FFF2-40B4-BE49-F238E27FC236}">
                <a16:creationId xmlns:a16="http://schemas.microsoft.com/office/drawing/2014/main" id="{96C986ED-AD63-44B4-B904-2CE62A275E91}"/>
              </a:ext>
            </a:extLst>
          </p:cNvPr>
          <p:cNvSpPr/>
          <p:nvPr/>
        </p:nvSpPr>
        <p:spPr>
          <a:xfrm>
            <a:off x="3536310" y="1940829"/>
            <a:ext cx="374384" cy="240037"/>
          </a:xfrm>
          <a:prstGeom prst="roundRect">
            <a:avLst/>
          </a:prstGeom>
          <a:solidFill>
            <a:schemeClr val="bg1"/>
          </a:solidFill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900" dirty="0">
                <a:solidFill>
                  <a:schemeClr val="tx1"/>
                </a:solidFill>
              </a:rPr>
              <a:t>14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114" name="직사각형 113">
            <a:extLst>
              <a:ext uri="{FF2B5EF4-FFF2-40B4-BE49-F238E27FC236}">
                <a16:creationId xmlns:a16="http://schemas.microsoft.com/office/drawing/2014/main" id="{69E573AD-A269-4165-922F-F99550D52A22}"/>
              </a:ext>
            </a:extLst>
          </p:cNvPr>
          <p:cNvSpPr/>
          <p:nvPr/>
        </p:nvSpPr>
        <p:spPr>
          <a:xfrm>
            <a:off x="3314522" y="1916831"/>
            <a:ext cx="249415" cy="288033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~</a:t>
            </a:r>
            <a:endParaRPr lang="ko-KR" altLang="en-US" sz="900" b="1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15" name="타원형 설명선 244">
            <a:extLst>
              <a:ext uri="{FF2B5EF4-FFF2-40B4-BE49-F238E27FC236}">
                <a16:creationId xmlns:a16="http://schemas.microsoft.com/office/drawing/2014/main" id="{1AAF1D52-CF54-4EA6-B93B-D2BE754712D6}"/>
              </a:ext>
            </a:extLst>
          </p:cNvPr>
          <p:cNvSpPr/>
          <p:nvPr/>
        </p:nvSpPr>
        <p:spPr>
          <a:xfrm>
            <a:off x="1568648" y="1764608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12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16" name="직사각형 115">
            <a:extLst>
              <a:ext uri="{FF2B5EF4-FFF2-40B4-BE49-F238E27FC236}">
                <a16:creationId xmlns:a16="http://schemas.microsoft.com/office/drawing/2014/main" id="{E51FA8BF-4130-45B2-BDF3-CCBC2E3925D0}"/>
              </a:ext>
            </a:extLst>
          </p:cNvPr>
          <p:cNvSpPr/>
          <p:nvPr/>
        </p:nvSpPr>
        <p:spPr>
          <a:xfrm>
            <a:off x="1852850" y="1880788"/>
            <a:ext cx="2092037" cy="342413"/>
          </a:xfrm>
          <a:prstGeom prst="rect">
            <a:avLst/>
          </a:prstGeom>
          <a:noFill/>
          <a:ln w="127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85BE38F8-592B-406A-AFBE-3C236FA906C2}"/>
              </a:ext>
            </a:extLst>
          </p:cNvPr>
          <p:cNvSpPr/>
          <p:nvPr/>
        </p:nvSpPr>
        <p:spPr>
          <a:xfrm>
            <a:off x="7676716" y="1569874"/>
            <a:ext cx="473661" cy="289182"/>
          </a:xfrm>
          <a:prstGeom prst="rect">
            <a:avLst/>
          </a:prstGeom>
          <a:solidFill>
            <a:srgbClr val="0099FF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>
              <a:lnSpc>
                <a:spcPct val="150000"/>
              </a:lnSpc>
            </a:pPr>
            <a:r>
              <a:rPr lang="ko-KR" altLang="en-US" sz="105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조회</a:t>
            </a:r>
          </a:p>
        </p:txBody>
      </p:sp>
      <p:grpSp>
        <p:nvGrpSpPr>
          <p:cNvPr id="88" name="그룹 87">
            <a:extLst>
              <a:ext uri="{FF2B5EF4-FFF2-40B4-BE49-F238E27FC236}">
                <a16:creationId xmlns:a16="http://schemas.microsoft.com/office/drawing/2014/main" id="{58939A97-F19C-4E55-B499-540CB52AF3C8}"/>
              </a:ext>
            </a:extLst>
          </p:cNvPr>
          <p:cNvGrpSpPr/>
          <p:nvPr/>
        </p:nvGrpSpPr>
        <p:grpSpPr>
          <a:xfrm>
            <a:off x="278100" y="4513189"/>
            <a:ext cx="862386" cy="211955"/>
            <a:chOff x="4861742" y="3907374"/>
            <a:chExt cx="862386" cy="211955"/>
          </a:xfrm>
        </p:grpSpPr>
        <p:pic>
          <p:nvPicPr>
            <p:cNvPr id="90" name="Picture 6" descr="ìì ë¤ì´ë¡ëì ëí ì´ë¯¸ì§ ê²ìê²°ê³¼">
              <a:extLst>
                <a:ext uri="{FF2B5EF4-FFF2-40B4-BE49-F238E27FC236}">
                  <a16:creationId xmlns:a16="http://schemas.microsoft.com/office/drawing/2014/main" id="{2985C193-B582-464D-B476-BD9D5D35194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861742" y="3907374"/>
              <a:ext cx="211955" cy="21195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91" name="TextBox 90">
              <a:extLst>
                <a:ext uri="{FF2B5EF4-FFF2-40B4-BE49-F238E27FC236}">
                  <a16:creationId xmlns:a16="http://schemas.microsoft.com/office/drawing/2014/main" id="{81F96D71-8A83-4723-A3C5-6382D2FC63E7}"/>
                </a:ext>
              </a:extLst>
            </p:cNvPr>
            <p:cNvSpPr txBox="1"/>
            <p:nvPr/>
          </p:nvSpPr>
          <p:spPr>
            <a:xfrm>
              <a:off x="4949189" y="3921018"/>
              <a:ext cx="7749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600" b="1" dirty="0">
                  <a:solidFill>
                    <a:schemeClr val="bg1"/>
                  </a:solidFill>
                </a:rPr>
                <a:t>데이터 저장하기</a:t>
              </a:r>
            </a:p>
          </p:txBody>
        </p:sp>
      </p:grpSp>
      <p:sp>
        <p:nvSpPr>
          <p:cNvPr id="100" name="TextBox 99">
            <a:extLst>
              <a:ext uri="{FF2B5EF4-FFF2-40B4-BE49-F238E27FC236}">
                <a16:creationId xmlns:a16="http://schemas.microsoft.com/office/drawing/2014/main" id="{25F6B2F9-FD3F-40DA-BE21-7691ED67280F}"/>
              </a:ext>
            </a:extLst>
          </p:cNvPr>
          <p:cNvSpPr txBox="1"/>
          <p:nvPr/>
        </p:nvSpPr>
        <p:spPr>
          <a:xfrm>
            <a:off x="1265466" y="4519837"/>
            <a:ext cx="1299244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기준부하 및 목표사용량 확인</a:t>
            </a:r>
          </a:p>
        </p:txBody>
      </p:sp>
      <p:pic>
        <p:nvPicPr>
          <p:cNvPr id="101" name="Picture 2" descr="standardì ëí ì´ë¯¸ì§ ê²ìê²°ê³¼">
            <a:extLst>
              <a:ext uri="{FF2B5EF4-FFF2-40B4-BE49-F238E27FC236}">
                <a16:creationId xmlns:a16="http://schemas.microsoft.com/office/drawing/2014/main" id="{34530C37-DBE9-4D3D-94B3-9661B961632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34539" y="4528921"/>
            <a:ext cx="170228" cy="17022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aphicFrame>
        <p:nvGraphicFramePr>
          <p:cNvPr id="106" name="표 105">
            <a:extLst>
              <a:ext uri="{FF2B5EF4-FFF2-40B4-BE49-F238E27FC236}">
                <a16:creationId xmlns:a16="http://schemas.microsoft.com/office/drawing/2014/main" id="{E66B3A58-7377-4D74-B07E-B934221640B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87342888"/>
              </p:ext>
            </p:extLst>
          </p:nvPr>
        </p:nvGraphicFramePr>
        <p:xfrm>
          <a:off x="278113" y="4797152"/>
          <a:ext cx="7915260" cy="3561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8661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9314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93146">
                  <a:extLst>
                    <a:ext uri="{9D8B030D-6E8A-4147-A177-3AD203B41FA5}">
                      <a16:colId xmlns:a16="http://schemas.microsoft.com/office/drawing/2014/main" val="91379356"/>
                    </a:ext>
                  </a:extLst>
                </a:gridCol>
                <a:gridCol w="29314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93146">
                  <a:extLst>
                    <a:ext uri="{9D8B030D-6E8A-4147-A177-3AD203B41FA5}">
                      <a16:colId xmlns:a16="http://schemas.microsoft.com/office/drawing/2014/main" val="3679891012"/>
                    </a:ext>
                  </a:extLst>
                </a:gridCol>
                <a:gridCol w="293146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93146">
                  <a:extLst>
                    <a:ext uri="{9D8B030D-6E8A-4147-A177-3AD203B41FA5}">
                      <a16:colId xmlns:a16="http://schemas.microsoft.com/office/drawing/2014/main" val="2229935987"/>
                    </a:ext>
                  </a:extLst>
                </a:gridCol>
                <a:gridCol w="29314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93146">
                  <a:extLst>
                    <a:ext uri="{9D8B030D-6E8A-4147-A177-3AD203B41FA5}">
                      <a16:colId xmlns:a16="http://schemas.microsoft.com/office/drawing/2014/main" val="4026812072"/>
                    </a:ext>
                  </a:extLst>
                </a:gridCol>
                <a:gridCol w="293146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93146">
                  <a:extLst>
                    <a:ext uri="{9D8B030D-6E8A-4147-A177-3AD203B41FA5}">
                      <a16:colId xmlns:a16="http://schemas.microsoft.com/office/drawing/2014/main" val="1122824508"/>
                    </a:ext>
                  </a:extLst>
                </a:gridCol>
                <a:gridCol w="29314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293146">
                  <a:extLst>
                    <a:ext uri="{9D8B030D-6E8A-4147-A177-3AD203B41FA5}">
                      <a16:colId xmlns:a16="http://schemas.microsoft.com/office/drawing/2014/main" val="1502902784"/>
                    </a:ext>
                  </a:extLst>
                </a:gridCol>
                <a:gridCol w="293146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93146">
                  <a:extLst>
                    <a:ext uri="{9D8B030D-6E8A-4147-A177-3AD203B41FA5}">
                      <a16:colId xmlns:a16="http://schemas.microsoft.com/office/drawing/2014/main" val="354728812"/>
                    </a:ext>
                  </a:extLst>
                </a:gridCol>
                <a:gridCol w="29314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293146">
                  <a:extLst>
                    <a:ext uri="{9D8B030D-6E8A-4147-A177-3AD203B41FA5}">
                      <a16:colId xmlns:a16="http://schemas.microsoft.com/office/drawing/2014/main" val="914552893"/>
                    </a:ext>
                  </a:extLst>
                </a:gridCol>
                <a:gridCol w="293146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293146">
                  <a:extLst>
                    <a:ext uri="{9D8B030D-6E8A-4147-A177-3AD203B41FA5}">
                      <a16:colId xmlns:a16="http://schemas.microsoft.com/office/drawing/2014/main" val="2643701830"/>
                    </a:ext>
                  </a:extLst>
                </a:gridCol>
                <a:gridCol w="293146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293146">
                  <a:extLst>
                    <a:ext uri="{9D8B030D-6E8A-4147-A177-3AD203B41FA5}">
                      <a16:colId xmlns:a16="http://schemas.microsoft.com/office/drawing/2014/main" val="4156003338"/>
                    </a:ext>
                  </a:extLst>
                </a:gridCol>
                <a:gridCol w="293146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293146">
                  <a:extLst>
                    <a:ext uri="{9D8B030D-6E8A-4147-A177-3AD203B41FA5}">
                      <a16:colId xmlns:a16="http://schemas.microsoft.com/office/drawing/2014/main" val="186923855"/>
                    </a:ext>
                  </a:extLst>
                </a:gridCol>
                <a:gridCol w="293146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293146">
                  <a:extLst>
                    <a:ext uri="{9D8B030D-6E8A-4147-A177-3AD203B41FA5}">
                      <a16:colId xmlns:a16="http://schemas.microsoft.com/office/drawing/2014/main" val="328632746"/>
                    </a:ext>
                  </a:extLst>
                </a:gridCol>
                <a:gridCol w="293146">
                  <a:extLst>
                    <a:ext uri="{9D8B030D-6E8A-4147-A177-3AD203B41FA5}">
                      <a16:colId xmlns:a16="http://schemas.microsoft.com/office/drawing/2014/main" val="88052778"/>
                    </a:ext>
                  </a:extLst>
                </a:gridCol>
              </a:tblGrid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YYYY-MM</a:t>
                      </a:r>
                      <a:endParaRPr lang="en-US" altLang="ko-KR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01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02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03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04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05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06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07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08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09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11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12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13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14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15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16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17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18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19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21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22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23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24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합계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37555739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kern="1200" dirty="0">
                          <a:solidFill>
                            <a:srgbClr val="FF66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실제 사용량</a:t>
                      </a:r>
                      <a:endParaRPr lang="en-US" altLang="ko-KR" sz="7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400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500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550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540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550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520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530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750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800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90133474"/>
                  </a:ext>
                </a:extLst>
              </a:tr>
            </a:tbl>
          </a:graphicData>
        </a:graphic>
      </p:graphicFrame>
      <p:sp>
        <p:nvSpPr>
          <p:cNvPr id="107" name="TextBox 106">
            <a:extLst>
              <a:ext uri="{FF2B5EF4-FFF2-40B4-BE49-F238E27FC236}">
                <a16:creationId xmlns:a16="http://schemas.microsoft.com/office/drawing/2014/main" id="{41040ED4-0F74-4DA7-B884-6C0B6F412778}"/>
              </a:ext>
            </a:extLst>
          </p:cNvPr>
          <p:cNvSpPr txBox="1"/>
          <p:nvPr/>
        </p:nvSpPr>
        <p:spPr>
          <a:xfrm>
            <a:off x="7221250" y="4509120"/>
            <a:ext cx="972108" cy="215444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square" rtlCol="0" anchor="ctr">
            <a:spAutoFit/>
          </a:bodyPr>
          <a:lstStyle/>
          <a:p>
            <a:pPr algn="ctr"/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표 접기</a:t>
            </a:r>
          </a:p>
        </p:txBody>
      </p:sp>
      <p:sp>
        <p:nvSpPr>
          <p:cNvPr id="108" name="TextBox 107">
            <a:extLst>
              <a:ext uri="{FF2B5EF4-FFF2-40B4-BE49-F238E27FC236}">
                <a16:creationId xmlns:a16="http://schemas.microsoft.com/office/drawing/2014/main" id="{6F2DD630-5B71-4AB8-87C6-3778E7785061}"/>
              </a:ext>
            </a:extLst>
          </p:cNvPr>
          <p:cNvSpPr txBox="1"/>
          <p:nvPr/>
        </p:nvSpPr>
        <p:spPr>
          <a:xfrm>
            <a:off x="2592282" y="4512800"/>
            <a:ext cx="746590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600" b="1">
                <a:solidFill>
                  <a:schemeClr val="bg1"/>
                </a:solidFill>
              </a:rPr>
              <a:t>실시간 자동 갱신</a:t>
            </a:r>
            <a:endParaRPr lang="ko-KR" altLang="en-US" sz="600" b="1" dirty="0">
              <a:solidFill>
                <a:schemeClr val="bg1"/>
              </a:solidFill>
            </a:endParaRPr>
          </a:p>
        </p:txBody>
      </p:sp>
      <p:pic>
        <p:nvPicPr>
          <p:cNvPr id="1030" name="Picture 6" descr="ê´ë ¨ ì´ë¯¸ì§">
            <a:extLst>
              <a:ext uri="{FF2B5EF4-FFF2-40B4-BE49-F238E27FC236}">
                <a16:creationId xmlns:a16="http://schemas.microsoft.com/office/drawing/2014/main" id="{66E95671-65D9-4C74-BD18-12C89961C86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485680" y="4514758"/>
            <a:ext cx="180170" cy="18017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9" name="타원형 설명선 245">
            <a:extLst>
              <a:ext uri="{FF2B5EF4-FFF2-40B4-BE49-F238E27FC236}">
                <a16:creationId xmlns:a16="http://schemas.microsoft.com/office/drawing/2014/main" id="{CAE963D2-E57A-4782-9BEA-1D6902D499FF}"/>
              </a:ext>
            </a:extLst>
          </p:cNvPr>
          <p:cNvSpPr/>
          <p:nvPr/>
        </p:nvSpPr>
        <p:spPr>
          <a:xfrm>
            <a:off x="2423041" y="4306429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17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524582893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9104309" y="6645875"/>
            <a:ext cx="140029" cy="138499"/>
          </a:xfrm>
        </p:spPr>
        <p:txBody>
          <a:bodyPr/>
          <a:lstStyle/>
          <a:p>
            <a:pPr>
              <a:defRPr/>
            </a:pPr>
            <a:fld id="{9E41B634-5682-4388-99E7-FE44DCFD254B}" type="slidenum">
              <a:rPr lang="ko-KR" altLang="en-US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>
                <a:defRPr/>
              </a:pPr>
              <a:t>28</a:t>
            </a:fld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텍스트 개체 틀 8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Site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 &gt;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에너지 모니터링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&gt;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사용량 구성</a:t>
            </a:r>
          </a:p>
        </p:txBody>
      </p:sp>
      <p:sp>
        <p:nvSpPr>
          <p:cNvPr id="10" name="텍스트 개체 틀 9"/>
          <p:cNvSpPr>
            <a:spLocks noGrp="1"/>
          </p:cNvSpPr>
          <p:nvPr>
            <p:ph type="body" sz="quarter" idx="10"/>
          </p:nvPr>
        </p:nvSpPr>
        <p:spPr>
          <a:xfrm>
            <a:off x="6023595" y="44624"/>
            <a:ext cx="1233661" cy="196974"/>
          </a:xfrm>
        </p:spPr>
        <p:txBody>
          <a:bodyPr/>
          <a:lstStyle/>
          <a:p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사용량 구성</a:t>
            </a:r>
          </a:p>
        </p:txBody>
      </p:sp>
      <p:graphicFrame>
        <p:nvGraphicFramePr>
          <p:cNvPr id="102" name="Group 15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26046797"/>
              </p:ext>
            </p:extLst>
          </p:nvPr>
        </p:nvGraphicFramePr>
        <p:xfrm>
          <a:off x="8469313" y="276225"/>
          <a:ext cx="1404000" cy="5235648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3002"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Description</a:t>
                      </a: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기간 설정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기간의 시작과 끝 시점을 설정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기간 별 시작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종료 시간은 표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참고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2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간격 설정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번에서 지정된 기간 내 데이터의 조회 간격을 설정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1)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간격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en-US" altLang="ko-KR" sz="800" b="0" i="0" u="none" strike="sng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  <a:r>
                        <a:rPr kumimoji="1" lang="ko-KR" altLang="en-US" sz="800" b="0" i="0" u="none" strike="sng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분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15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분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30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분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1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시간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1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일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1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월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2)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기간 별 선택 가능한 조회 간격은 표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2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참고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3) 1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일이 선택된 경우에는 오늘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00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시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~24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시로 조회하고 표시하며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그 외의 경우 지금 시간부터 지정된 과거의 기간만큼 조회하고 표시한다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.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3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조회 기간 시작 설정</a:t>
                      </a:r>
                      <a:endParaRPr lang="en-US" altLang="ko-KR" sz="800" b="1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조회 기간의 시작 날짜를 직접 입력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시간은 현재시간으로 고정되며 날짜만 지정 가능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4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조회 기간 종료 설정</a:t>
                      </a:r>
                      <a:endParaRPr lang="en-US" altLang="ko-KR" sz="800" b="1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조회 기간의 종료 날짜를 직접 입력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시간은 현재시간으로 고정되며 날짜만 지정 가능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5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데이터 갱신 시간 표시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지정된 설정에 따라 조회가 진행된 시간표시</a:t>
                      </a:r>
                      <a:endParaRPr lang="en-US" altLang="ko-KR" sz="800" b="0" u="non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78" name="TextBox 77"/>
          <p:cNvSpPr txBox="1"/>
          <p:nvPr/>
        </p:nvSpPr>
        <p:spPr>
          <a:xfrm>
            <a:off x="7121707" y="21349"/>
            <a:ext cx="567597" cy="2308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화면</a:t>
            </a:r>
            <a:r>
              <a:rPr lang="en-US" altLang="ko-KR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ID</a:t>
            </a:r>
            <a:endParaRPr lang="ko-KR" altLang="en-US" sz="9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7689304" y="43659"/>
            <a:ext cx="792088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itchFamily="50" charset="-127"/>
                <a:ea typeface="맑은 고딕" pitchFamily="50" charset="-127"/>
              </a:rPr>
              <a:t>ewpsp_scr_014</a:t>
            </a:r>
            <a:endParaRPr lang="ko-KR" altLang="en-US" sz="700" dirty="0">
              <a:latin typeface="맑은 고딕" pitchFamily="50" charset="-127"/>
              <a:ea typeface="맑은 고딕" pitchFamily="50" charset="-127"/>
            </a:endParaRPr>
          </a:p>
        </p:txBody>
      </p:sp>
      <p:pic>
        <p:nvPicPr>
          <p:cNvPr id="18" name="Picture 3">
            <a:extLst>
              <a:ext uri="{FF2B5EF4-FFF2-40B4-BE49-F238E27FC236}">
                <a16:creationId xmlns:a16="http://schemas.microsoft.com/office/drawing/2014/main" id="{D14E8AEF-8EA8-4944-AE52-FF98A1FB783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463" y="764705"/>
            <a:ext cx="8208912" cy="4629348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  <a:extLst/>
        </p:spPr>
      </p:pic>
      <p:pic>
        <p:nvPicPr>
          <p:cNvPr id="19" name="Picture 2">
            <a:extLst>
              <a:ext uri="{FF2B5EF4-FFF2-40B4-BE49-F238E27FC236}">
                <a16:creationId xmlns:a16="http://schemas.microsoft.com/office/drawing/2014/main" id="{6FBB0165-03FF-4BBD-A158-8DEF923CF53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464" y="762442"/>
            <a:ext cx="8208912" cy="3487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20" name="직선 연결선 19">
            <a:extLst>
              <a:ext uri="{FF2B5EF4-FFF2-40B4-BE49-F238E27FC236}">
                <a16:creationId xmlns:a16="http://schemas.microsoft.com/office/drawing/2014/main" id="{37D07777-30AA-4506-9C18-6F3B4C7D943C}"/>
              </a:ext>
            </a:extLst>
          </p:cNvPr>
          <p:cNvCxnSpPr>
            <a:cxnSpLocks/>
          </p:cNvCxnSpPr>
          <p:nvPr/>
        </p:nvCxnSpPr>
        <p:spPr>
          <a:xfrm>
            <a:off x="128463" y="1124744"/>
            <a:ext cx="8208912" cy="0"/>
          </a:xfrm>
          <a:prstGeom prst="line">
            <a:avLst/>
          </a:prstGeom>
          <a:ln w="9525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5E84417E-CAA5-4FD3-BBB9-7CD5570EF571}"/>
              </a:ext>
            </a:extLst>
          </p:cNvPr>
          <p:cNvSpPr/>
          <p:nvPr/>
        </p:nvSpPr>
        <p:spPr>
          <a:xfrm>
            <a:off x="216315" y="1556792"/>
            <a:ext cx="1820532" cy="288032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사용량 구성 </a:t>
            </a:r>
            <a:r>
              <a:rPr lang="en-US" altLang="ko-KR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(DER)</a:t>
            </a:r>
            <a:endParaRPr lang="ko-KR" altLang="en-US" sz="900" b="1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180BACBD-4B64-4649-BD7C-E1EE3620FBC6}"/>
              </a:ext>
            </a:extLst>
          </p:cNvPr>
          <p:cNvSpPr/>
          <p:nvPr/>
        </p:nvSpPr>
        <p:spPr>
          <a:xfrm>
            <a:off x="120419" y="1726179"/>
            <a:ext cx="1510265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150000"/>
              </a:lnSpc>
            </a:pPr>
            <a:r>
              <a:rPr lang="en-US" altLang="ko-KR" sz="900" b="1" dirty="0">
                <a:solidFill>
                  <a:schemeClr val="bg1">
                    <a:lumMod val="65000"/>
                  </a:schemeClr>
                </a:solidFill>
                <a:latin typeface="맑은 고딕" pitchFamily="50" charset="-127"/>
                <a:ea typeface="맑은 고딕" pitchFamily="50" charset="-127"/>
              </a:rPr>
              <a:t>YYYY-MM-DD hh:mm</a:t>
            </a:r>
            <a:endParaRPr lang="ko-KR" altLang="en-US" sz="900" b="1" dirty="0">
              <a:solidFill>
                <a:schemeClr val="bg1">
                  <a:lumMod val="6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A27B69D7-2B77-4AF2-A717-2F8B00E5023D}"/>
              </a:ext>
            </a:extLst>
          </p:cNvPr>
          <p:cNvSpPr/>
          <p:nvPr/>
        </p:nvSpPr>
        <p:spPr>
          <a:xfrm>
            <a:off x="3584848" y="1569453"/>
            <a:ext cx="1224136" cy="288033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기간 설정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51E4F555-ACF8-422A-8A4C-263DF5607ED0}"/>
              </a:ext>
            </a:extLst>
          </p:cNvPr>
          <p:cNvSpPr/>
          <p:nvPr/>
        </p:nvSpPr>
        <p:spPr>
          <a:xfrm>
            <a:off x="4304928" y="1569453"/>
            <a:ext cx="1262753" cy="288033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YYY-MM</a:t>
            </a:r>
            <a:endParaRPr lang="ko-KR" altLang="en-US" sz="90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056B85B8-E22D-471D-BF90-7BA59FDE59DA}"/>
              </a:ext>
            </a:extLst>
          </p:cNvPr>
          <p:cNvSpPr/>
          <p:nvPr/>
        </p:nvSpPr>
        <p:spPr>
          <a:xfrm>
            <a:off x="5567681" y="1569453"/>
            <a:ext cx="288032" cy="288033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▼</a:t>
            </a: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5DE85575-6695-43D9-BA78-E72D7749FD5A}"/>
              </a:ext>
            </a:extLst>
          </p:cNvPr>
          <p:cNvSpPr/>
          <p:nvPr/>
        </p:nvSpPr>
        <p:spPr>
          <a:xfrm>
            <a:off x="5855713" y="1569453"/>
            <a:ext cx="249415" cy="288033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~</a:t>
            </a:r>
            <a:endParaRPr lang="ko-KR" altLang="en-US" sz="900" b="1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52DDF82F-9C8F-422F-B328-3979E21AEB5E}"/>
              </a:ext>
            </a:extLst>
          </p:cNvPr>
          <p:cNvSpPr/>
          <p:nvPr/>
        </p:nvSpPr>
        <p:spPr>
          <a:xfrm>
            <a:off x="6105128" y="1569453"/>
            <a:ext cx="1262753" cy="288033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YYYY-MM</a:t>
            </a:r>
            <a:endParaRPr lang="ko-KR" altLang="en-US" sz="90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508668D7-197F-47CF-8003-58499E43E073}"/>
              </a:ext>
            </a:extLst>
          </p:cNvPr>
          <p:cNvSpPr/>
          <p:nvPr/>
        </p:nvSpPr>
        <p:spPr>
          <a:xfrm>
            <a:off x="7367881" y="1569453"/>
            <a:ext cx="288032" cy="288033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▼</a:t>
            </a:r>
          </a:p>
        </p:txBody>
      </p:sp>
      <p:pic>
        <p:nvPicPr>
          <p:cNvPr id="47" name="Picture 2" descr="ì¤ì ì ëí ì´ë¯¸ì§ ê²ìê²°ê³¼">
            <a:extLst>
              <a:ext uri="{FF2B5EF4-FFF2-40B4-BE49-F238E27FC236}">
                <a16:creationId xmlns:a16="http://schemas.microsoft.com/office/drawing/2014/main" id="{90A888AD-844A-4544-B02A-A77BC3397C7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05865" y="844086"/>
            <a:ext cx="198592" cy="19859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8" name="사각형: 둥근 모서리 47">
            <a:extLst>
              <a:ext uri="{FF2B5EF4-FFF2-40B4-BE49-F238E27FC236}">
                <a16:creationId xmlns:a16="http://schemas.microsoft.com/office/drawing/2014/main" id="{119FCE8B-C633-47C3-A0BD-44AD20643BCC}"/>
              </a:ext>
            </a:extLst>
          </p:cNvPr>
          <p:cNvSpPr/>
          <p:nvPr/>
        </p:nvSpPr>
        <p:spPr>
          <a:xfrm>
            <a:off x="1356604" y="1637161"/>
            <a:ext cx="1013369" cy="180000"/>
          </a:xfrm>
          <a:prstGeom prst="roundRect">
            <a:avLst/>
          </a:prstGeom>
          <a:solidFill>
            <a:schemeClr val="bg1"/>
          </a:solidFill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ko-KR" altLang="en-US" sz="900" dirty="0">
                <a:solidFill>
                  <a:schemeClr val="tx1"/>
                </a:solidFill>
              </a:rPr>
              <a:t>기간 설정  ▼</a:t>
            </a:r>
          </a:p>
        </p:txBody>
      </p:sp>
      <p:sp>
        <p:nvSpPr>
          <p:cNvPr id="49" name="사각형: 둥근 모서리 48">
            <a:extLst>
              <a:ext uri="{FF2B5EF4-FFF2-40B4-BE49-F238E27FC236}">
                <a16:creationId xmlns:a16="http://schemas.microsoft.com/office/drawing/2014/main" id="{948F9D44-B814-4AF5-882E-A35193F2E22A}"/>
              </a:ext>
            </a:extLst>
          </p:cNvPr>
          <p:cNvSpPr/>
          <p:nvPr/>
        </p:nvSpPr>
        <p:spPr>
          <a:xfrm>
            <a:off x="2415080" y="1636316"/>
            <a:ext cx="1013369" cy="180000"/>
          </a:xfrm>
          <a:prstGeom prst="roundRect">
            <a:avLst/>
          </a:prstGeom>
          <a:solidFill>
            <a:schemeClr val="bg1"/>
          </a:solidFill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altLang="ko-KR" sz="900" dirty="0">
                <a:solidFill>
                  <a:schemeClr val="tx1"/>
                </a:solidFill>
              </a:rPr>
              <a:t>15</a:t>
            </a:r>
            <a:r>
              <a:rPr lang="ko-KR" altLang="en-US" sz="900" dirty="0">
                <a:solidFill>
                  <a:schemeClr val="tx1"/>
                </a:solidFill>
              </a:rPr>
              <a:t>분     ▼</a:t>
            </a:r>
          </a:p>
        </p:txBody>
      </p:sp>
      <p:graphicFrame>
        <p:nvGraphicFramePr>
          <p:cNvPr id="40" name="표 39">
            <a:extLst>
              <a:ext uri="{FF2B5EF4-FFF2-40B4-BE49-F238E27FC236}">
                <a16:creationId xmlns:a16="http://schemas.microsoft.com/office/drawing/2014/main" id="{1EAC2534-4E33-4882-8982-978DDCA53E5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62530678"/>
              </p:ext>
            </p:extLst>
          </p:nvPr>
        </p:nvGraphicFramePr>
        <p:xfrm>
          <a:off x="272476" y="2206916"/>
          <a:ext cx="7920881" cy="179023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295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19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20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21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22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23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24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25"/>
                    </a:ext>
                  </a:extLst>
                </a:gridCol>
              </a:tblGrid>
              <a:tr h="17902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/>
                        <a:t>kWh</a:t>
                      </a:r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902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2000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9023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9023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902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1000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9023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902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500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9023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902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9023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01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02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03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04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05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06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07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08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09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10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11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12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13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14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15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16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17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18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19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20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21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22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23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24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cxnSp>
        <p:nvCxnSpPr>
          <p:cNvPr id="56" name="직선 연결선 55">
            <a:extLst>
              <a:ext uri="{FF2B5EF4-FFF2-40B4-BE49-F238E27FC236}">
                <a16:creationId xmlns:a16="http://schemas.microsoft.com/office/drawing/2014/main" id="{E8B1AF60-D5AC-410E-BAC7-B5797A3E3446}"/>
              </a:ext>
            </a:extLst>
          </p:cNvPr>
          <p:cNvCxnSpPr>
            <a:cxnSpLocks/>
          </p:cNvCxnSpPr>
          <p:nvPr/>
        </p:nvCxnSpPr>
        <p:spPr>
          <a:xfrm>
            <a:off x="992556" y="2483520"/>
            <a:ext cx="7200800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직선 연결선 56">
            <a:extLst>
              <a:ext uri="{FF2B5EF4-FFF2-40B4-BE49-F238E27FC236}">
                <a16:creationId xmlns:a16="http://schemas.microsoft.com/office/drawing/2014/main" id="{EB278F43-7B49-41F4-9B7A-35CA40CF1699}"/>
              </a:ext>
            </a:extLst>
          </p:cNvPr>
          <p:cNvCxnSpPr>
            <a:cxnSpLocks/>
          </p:cNvCxnSpPr>
          <p:nvPr/>
        </p:nvCxnSpPr>
        <p:spPr>
          <a:xfrm>
            <a:off x="992556" y="3004354"/>
            <a:ext cx="7200800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1" name="자유형 5">
            <a:extLst>
              <a:ext uri="{FF2B5EF4-FFF2-40B4-BE49-F238E27FC236}">
                <a16:creationId xmlns:a16="http://schemas.microsoft.com/office/drawing/2014/main" id="{0AB13E76-0E1C-4F2E-A66A-8EB7B4F5BEC3}"/>
              </a:ext>
            </a:extLst>
          </p:cNvPr>
          <p:cNvSpPr/>
          <p:nvPr/>
        </p:nvSpPr>
        <p:spPr>
          <a:xfrm>
            <a:off x="2022704" y="3198306"/>
            <a:ext cx="1659512" cy="361173"/>
          </a:xfrm>
          <a:custGeom>
            <a:avLst/>
            <a:gdLst>
              <a:gd name="connsiteX0" fmla="*/ 0 w 1733550"/>
              <a:gd name="connsiteY0" fmla="*/ 171450 h 453390"/>
              <a:gd name="connsiteX1" fmla="*/ 582930 w 1733550"/>
              <a:gd name="connsiteY1" fmla="*/ 430530 h 453390"/>
              <a:gd name="connsiteX2" fmla="*/ 864870 w 1733550"/>
              <a:gd name="connsiteY2" fmla="*/ 453390 h 453390"/>
              <a:gd name="connsiteX3" fmla="*/ 1165860 w 1733550"/>
              <a:gd name="connsiteY3" fmla="*/ 419100 h 453390"/>
              <a:gd name="connsiteX4" fmla="*/ 1482090 w 1733550"/>
              <a:gd name="connsiteY4" fmla="*/ 106680 h 453390"/>
              <a:gd name="connsiteX5" fmla="*/ 1733550 w 1733550"/>
              <a:gd name="connsiteY5" fmla="*/ 0 h 4533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550" h="453390">
                <a:moveTo>
                  <a:pt x="0" y="171450"/>
                </a:moveTo>
                <a:lnTo>
                  <a:pt x="582930" y="430530"/>
                </a:lnTo>
                <a:lnTo>
                  <a:pt x="864870" y="453390"/>
                </a:lnTo>
                <a:lnTo>
                  <a:pt x="1165860" y="419100"/>
                </a:lnTo>
                <a:lnTo>
                  <a:pt x="1482090" y="106680"/>
                </a:lnTo>
                <a:lnTo>
                  <a:pt x="1733550" y="0"/>
                </a:lnTo>
              </a:path>
            </a:pathLst>
          </a:custGeom>
          <a:solidFill>
            <a:schemeClr val="accent3">
              <a:lumMod val="40000"/>
              <a:lumOff val="60000"/>
            </a:schemeClr>
          </a:solidFill>
          <a:ln>
            <a:solidFill>
              <a:schemeClr val="accent3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62" name="자유형 4">
            <a:extLst>
              <a:ext uri="{FF2B5EF4-FFF2-40B4-BE49-F238E27FC236}">
                <a16:creationId xmlns:a16="http://schemas.microsoft.com/office/drawing/2014/main" id="{1757BB11-8C88-4DEA-AD52-5538892811EB}"/>
              </a:ext>
            </a:extLst>
          </p:cNvPr>
          <p:cNvSpPr/>
          <p:nvPr/>
        </p:nvSpPr>
        <p:spPr>
          <a:xfrm rot="10615747">
            <a:off x="1998520" y="3235964"/>
            <a:ext cx="1682591" cy="71825"/>
          </a:xfrm>
          <a:custGeom>
            <a:avLst/>
            <a:gdLst>
              <a:gd name="connsiteX0" fmla="*/ 0 w 1761066"/>
              <a:gd name="connsiteY0" fmla="*/ 177800 h 228600"/>
              <a:gd name="connsiteX1" fmla="*/ 601133 w 1761066"/>
              <a:gd name="connsiteY1" fmla="*/ 228600 h 228600"/>
              <a:gd name="connsiteX2" fmla="*/ 905933 w 1761066"/>
              <a:gd name="connsiteY2" fmla="*/ 177800 h 228600"/>
              <a:gd name="connsiteX3" fmla="*/ 1159933 w 1761066"/>
              <a:gd name="connsiteY3" fmla="*/ 127000 h 228600"/>
              <a:gd name="connsiteX4" fmla="*/ 1498600 w 1761066"/>
              <a:gd name="connsiteY4" fmla="*/ 59267 h 228600"/>
              <a:gd name="connsiteX5" fmla="*/ 1761066 w 1761066"/>
              <a:gd name="connsiteY5" fmla="*/ 0 h 228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61066" h="228600">
                <a:moveTo>
                  <a:pt x="0" y="177800"/>
                </a:moveTo>
                <a:lnTo>
                  <a:pt x="601133" y="228600"/>
                </a:lnTo>
                <a:lnTo>
                  <a:pt x="905933" y="177800"/>
                </a:lnTo>
                <a:lnTo>
                  <a:pt x="1159933" y="127000"/>
                </a:lnTo>
                <a:lnTo>
                  <a:pt x="1498600" y="59267"/>
                </a:lnTo>
                <a:lnTo>
                  <a:pt x="1761066" y="0"/>
                </a:lnTo>
              </a:path>
            </a:pathLst>
          </a:custGeom>
          <a:solidFill>
            <a:schemeClr val="accent3">
              <a:lumMod val="40000"/>
              <a:lumOff val="60000"/>
            </a:schemeClr>
          </a:solidFill>
          <a:ln>
            <a:solidFill>
              <a:srgbClr val="92D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64" name="자유형 7">
            <a:extLst>
              <a:ext uri="{FF2B5EF4-FFF2-40B4-BE49-F238E27FC236}">
                <a16:creationId xmlns:a16="http://schemas.microsoft.com/office/drawing/2014/main" id="{59930D6E-325D-4483-A815-E78A4C03D69A}"/>
              </a:ext>
            </a:extLst>
          </p:cNvPr>
          <p:cNvSpPr/>
          <p:nvPr/>
        </p:nvSpPr>
        <p:spPr>
          <a:xfrm>
            <a:off x="3685862" y="3213481"/>
            <a:ext cx="1962236" cy="452225"/>
          </a:xfrm>
          <a:custGeom>
            <a:avLst/>
            <a:gdLst>
              <a:gd name="connsiteX0" fmla="*/ 0 w 2049780"/>
              <a:gd name="connsiteY0" fmla="*/ 0 h 567690"/>
              <a:gd name="connsiteX1" fmla="*/ 331470 w 2049780"/>
              <a:gd name="connsiteY1" fmla="*/ 60960 h 567690"/>
              <a:gd name="connsiteX2" fmla="*/ 640080 w 2049780"/>
              <a:gd name="connsiteY2" fmla="*/ 220980 h 567690"/>
              <a:gd name="connsiteX3" fmla="*/ 1242060 w 2049780"/>
              <a:gd name="connsiteY3" fmla="*/ 236220 h 567690"/>
              <a:gd name="connsiteX4" fmla="*/ 1684020 w 2049780"/>
              <a:gd name="connsiteY4" fmla="*/ 144780 h 567690"/>
              <a:gd name="connsiteX5" fmla="*/ 2049780 w 2049780"/>
              <a:gd name="connsiteY5" fmla="*/ 19050 h 567690"/>
              <a:gd name="connsiteX6" fmla="*/ 1779270 w 2049780"/>
              <a:gd name="connsiteY6" fmla="*/ 346710 h 567690"/>
              <a:gd name="connsiteX7" fmla="*/ 1249680 w 2049780"/>
              <a:gd name="connsiteY7" fmla="*/ 567690 h 567690"/>
              <a:gd name="connsiteX8" fmla="*/ 621030 w 2049780"/>
              <a:gd name="connsiteY8" fmla="*/ 563880 h 567690"/>
              <a:gd name="connsiteX9" fmla="*/ 308610 w 2049780"/>
              <a:gd name="connsiteY9" fmla="*/ 419100 h 567690"/>
              <a:gd name="connsiteX10" fmla="*/ 0 w 2049780"/>
              <a:gd name="connsiteY10" fmla="*/ 0 h 5676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049780" h="567690">
                <a:moveTo>
                  <a:pt x="0" y="0"/>
                </a:moveTo>
                <a:lnTo>
                  <a:pt x="331470" y="60960"/>
                </a:lnTo>
                <a:lnTo>
                  <a:pt x="640080" y="220980"/>
                </a:lnTo>
                <a:lnTo>
                  <a:pt x="1242060" y="236220"/>
                </a:lnTo>
                <a:lnTo>
                  <a:pt x="1684020" y="144780"/>
                </a:lnTo>
                <a:lnTo>
                  <a:pt x="2049780" y="19050"/>
                </a:lnTo>
                <a:lnTo>
                  <a:pt x="1779270" y="346710"/>
                </a:lnTo>
                <a:lnTo>
                  <a:pt x="1249680" y="567690"/>
                </a:lnTo>
                <a:lnTo>
                  <a:pt x="621030" y="563880"/>
                </a:lnTo>
                <a:lnTo>
                  <a:pt x="308610" y="419100"/>
                </a:lnTo>
                <a:lnTo>
                  <a:pt x="0" y="0"/>
                </a:ln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65" name="자유형 1">
            <a:extLst>
              <a:ext uri="{FF2B5EF4-FFF2-40B4-BE49-F238E27FC236}">
                <a16:creationId xmlns:a16="http://schemas.microsoft.com/office/drawing/2014/main" id="{B36E7C33-7AB4-48E5-BE60-9221C84A5A15}"/>
              </a:ext>
            </a:extLst>
          </p:cNvPr>
          <p:cNvSpPr/>
          <p:nvPr/>
        </p:nvSpPr>
        <p:spPr>
          <a:xfrm>
            <a:off x="1131147" y="3200329"/>
            <a:ext cx="4530729" cy="465377"/>
          </a:xfrm>
          <a:custGeom>
            <a:avLst/>
            <a:gdLst>
              <a:gd name="connsiteX0" fmla="*/ 0 w 4732866"/>
              <a:gd name="connsiteY0" fmla="*/ 330200 h 584200"/>
              <a:gd name="connsiteX1" fmla="*/ 262466 w 4732866"/>
              <a:gd name="connsiteY1" fmla="*/ 169333 h 584200"/>
              <a:gd name="connsiteX2" fmla="*/ 575733 w 4732866"/>
              <a:gd name="connsiteY2" fmla="*/ 279400 h 584200"/>
              <a:gd name="connsiteX3" fmla="*/ 905933 w 4732866"/>
              <a:gd name="connsiteY3" fmla="*/ 169333 h 584200"/>
              <a:gd name="connsiteX4" fmla="*/ 1193800 w 4732866"/>
              <a:gd name="connsiteY4" fmla="*/ 296333 h 584200"/>
              <a:gd name="connsiteX5" fmla="*/ 1507066 w 4732866"/>
              <a:gd name="connsiteY5" fmla="*/ 431800 h 584200"/>
              <a:gd name="connsiteX6" fmla="*/ 1794933 w 4732866"/>
              <a:gd name="connsiteY6" fmla="*/ 457200 h 584200"/>
              <a:gd name="connsiteX7" fmla="*/ 2091266 w 4732866"/>
              <a:gd name="connsiteY7" fmla="*/ 423333 h 584200"/>
              <a:gd name="connsiteX8" fmla="*/ 2413000 w 4732866"/>
              <a:gd name="connsiteY8" fmla="*/ 101600 h 584200"/>
              <a:gd name="connsiteX9" fmla="*/ 2667000 w 4732866"/>
              <a:gd name="connsiteY9" fmla="*/ 0 h 584200"/>
              <a:gd name="connsiteX10" fmla="*/ 2971800 w 4732866"/>
              <a:gd name="connsiteY10" fmla="*/ 431800 h 584200"/>
              <a:gd name="connsiteX11" fmla="*/ 3293533 w 4732866"/>
              <a:gd name="connsiteY11" fmla="*/ 567267 h 584200"/>
              <a:gd name="connsiteX12" fmla="*/ 3615266 w 4732866"/>
              <a:gd name="connsiteY12" fmla="*/ 558800 h 584200"/>
              <a:gd name="connsiteX13" fmla="*/ 3911600 w 4732866"/>
              <a:gd name="connsiteY13" fmla="*/ 584200 h 584200"/>
              <a:gd name="connsiteX14" fmla="*/ 4199466 w 4732866"/>
              <a:gd name="connsiteY14" fmla="*/ 440267 h 584200"/>
              <a:gd name="connsiteX15" fmla="*/ 4453466 w 4732866"/>
              <a:gd name="connsiteY15" fmla="*/ 364067 h 584200"/>
              <a:gd name="connsiteX16" fmla="*/ 4732866 w 4732866"/>
              <a:gd name="connsiteY16" fmla="*/ 16933 h 584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4732866" h="584200">
                <a:moveTo>
                  <a:pt x="0" y="330200"/>
                </a:moveTo>
                <a:lnTo>
                  <a:pt x="262466" y="169333"/>
                </a:lnTo>
                <a:lnTo>
                  <a:pt x="575733" y="279400"/>
                </a:lnTo>
                <a:lnTo>
                  <a:pt x="905933" y="169333"/>
                </a:lnTo>
                <a:lnTo>
                  <a:pt x="1193800" y="296333"/>
                </a:lnTo>
                <a:lnTo>
                  <a:pt x="1507066" y="431800"/>
                </a:lnTo>
                <a:lnTo>
                  <a:pt x="1794933" y="457200"/>
                </a:lnTo>
                <a:lnTo>
                  <a:pt x="2091266" y="423333"/>
                </a:lnTo>
                <a:lnTo>
                  <a:pt x="2413000" y="101600"/>
                </a:lnTo>
                <a:lnTo>
                  <a:pt x="2667000" y="0"/>
                </a:lnTo>
                <a:lnTo>
                  <a:pt x="2971800" y="431800"/>
                </a:lnTo>
                <a:lnTo>
                  <a:pt x="3293533" y="567267"/>
                </a:lnTo>
                <a:lnTo>
                  <a:pt x="3615266" y="558800"/>
                </a:lnTo>
                <a:lnTo>
                  <a:pt x="3911600" y="584200"/>
                </a:lnTo>
                <a:lnTo>
                  <a:pt x="4199466" y="440267"/>
                </a:lnTo>
                <a:lnTo>
                  <a:pt x="4453466" y="364067"/>
                </a:lnTo>
                <a:lnTo>
                  <a:pt x="4732866" y="16933"/>
                </a:lnTo>
              </a:path>
            </a:pathLst>
          </a:custGeom>
          <a:ln w="38100">
            <a:solidFill>
              <a:srgbClr val="FF66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74" name="직사각형 73">
            <a:extLst>
              <a:ext uri="{FF2B5EF4-FFF2-40B4-BE49-F238E27FC236}">
                <a16:creationId xmlns:a16="http://schemas.microsoft.com/office/drawing/2014/main" id="{8142ADFB-F117-45C9-B310-ECEEFD09F7B4}"/>
              </a:ext>
            </a:extLst>
          </p:cNvPr>
          <p:cNvSpPr/>
          <p:nvPr/>
        </p:nvSpPr>
        <p:spPr>
          <a:xfrm>
            <a:off x="2141426" y="4077072"/>
            <a:ext cx="585630" cy="18000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150000"/>
              </a:lnSpc>
            </a:pPr>
            <a:r>
              <a:rPr lang="en-US" altLang="ko-KR" sz="1000" b="1" dirty="0">
                <a:solidFill>
                  <a:srgbClr val="92D050"/>
                </a:solidFill>
                <a:latin typeface="맑은 고딕" pitchFamily="50" charset="-127"/>
                <a:ea typeface="맑은 고딕" pitchFamily="50" charset="-127"/>
              </a:rPr>
              <a:t>ESS</a:t>
            </a:r>
            <a:endParaRPr lang="ko-KR" altLang="en-US" sz="1000" b="1" dirty="0">
              <a:solidFill>
                <a:srgbClr val="92D050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5" name="직사각형 74">
            <a:extLst>
              <a:ext uri="{FF2B5EF4-FFF2-40B4-BE49-F238E27FC236}">
                <a16:creationId xmlns:a16="http://schemas.microsoft.com/office/drawing/2014/main" id="{6C66FC3D-872A-42A6-B43B-0ED4240E654F}"/>
              </a:ext>
            </a:extLst>
          </p:cNvPr>
          <p:cNvSpPr/>
          <p:nvPr/>
        </p:nvSpPr>
        <p:spPr>
          <a:xfrm>
            <a:off x="2528015" y="4077072"/>
            <a:ext cx="405499" cy="18000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150000"/>
              </a:lnSpc>
            </a:pPr>
            <a:r>
              <a:rPr lang="en-US" altLang="ko-KR" sz="10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10%</a:t>
            </a:r>
            <a:endParaRPr lang="ko-KR" altLang="en-US" sz="1000" b="1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6" name="직사각형 75">
            <a:extLst>
              <a:ext uri="{FF2B5EF4-FFF2-40B4-BE49-F238E27FC236}">
                <a16:creationId xmlns:a16="http://schemas.microsoft.com/office/drawing/2014/main" id="{B80211FC-22EC-452E-ACBF-4E80B174DC82}"/>
              </a:ext>
            </a:extLst>
          </p:cNvPr>
          <p:cNvSpPr/>
          <p:nvPr/>
        </p:nvSpPr>
        <p:spPr>
          <a:xfrm>
            <a:off x="2861506" y="4077072"/>
            <a:ext cx="585630" cy="18000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150000"/>
              </a:lnSpc>
            </a:pPr>
            <a:r>
              <a:rPr lang="en-US" altLang="ko-KR" sz="1000" b="1" dirty="0">
                <a:solidFill>
                  <a:srgbClr val="FF0000"/>
                </a:solidFill>
                <a:latin typeface="맑은 고딕" pitchFamily="50" charset="-127"/>
                <a:ea typeface="맑은 고딕" pitchFamily="50" charset="-127"/>
              </a:rPr>
              <a:t>PV</a:t>
            </a:r>
            <a:endParaRPr lang="ko-KR" altLang="en-US" sz="1000" b="1" dirty="0">
              <a:solidFill>
                <a:srgbClr val="FF0000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7" name="직사각형 76">
            <a:extLst>
              <a:ext uri="{FF2B5EF4-FFF2-40B4-BE49-F238E27FC236}">
                <a16:creationId xmlns:a16="http://schemas.microsoft.com/office/drawing/2014/main" id="{5C012F2F-1731-47D6-B56E-1122F6EE577D}"/>
              </a:ext>
            </a:extLst>
          </p:cNvPr>
          <p:cNvSpPr/>
          <p:nvPr/>
        </p:nvSpPr>
        <p:spPr>
          <a:xfrm>
            <a:off x="3203213" y="4077072"/>
            <a:ext cx="415453" cy="18000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150000"/>
              </a:lnSpc>
            </a:pPr>
            <a:r>
              <a:rPr lang="en-US" altLang="ko-KR" sz="10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9%</a:t>
            </a:r>
            <a:endParaRPr lang="ko-KR" altLang="en-US" sz="1000" b="1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80" name="직사각형 79">
            <a:extLst>
              <a:ext uri="{FF2B5EF4-FFF2-40B4-BE49-F238E27FC236}">
                <a16:creationId xmlns:a16="http://schemas.microsoft.com/office/drawing/2014/main" id="{C8F08A98-018D-496D-8433-664C861F34A5}"/>
              </a:ext>
            </a:extLst>
          </p:cNvPr>
          <p:cNvSpPr/>
          <p:nvPr/>
        </p:nvSpPr>
        <p:spPr>
          <a:xfrm>
            <a:off x="1352600" y="4077072"/>
            <a:ext cx="585630" cy="18000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150000"/>
              </a:lnSpc>
            </a:pPr>
            <a:r>
              <a:rPr lang="ko-KR" altLang="en-US" sz="1000" b="1" dirty="0">
                <a:solidFill>
                  <a:srgbClr val="FF6600"/>
                </a:solidFill>
                <a:latin typeface="맑은 고딕" pitchFamily="50" charset="-127"/>
                <a:ea typeface="맑은 고딕" pitchFamily="50" charset="-127"/>
              </a:rPr>
              <a:t>한전</a:t>
            </a:r>
          </a:p>
        </p:txBody>
      </p:sp>
      <p:sp>
        <p:nvSpPr>
          <p:cNvPr id="81" name="직사각형 80">
            <a:extLst>
              <a:ext uri="{FF2B5EF4-FFF2-40B4-BE49-F238E27FC236}">
                <a16:creationId xmlns:a16="http://schemas.microsoft.com/office/drawing/2014/main" id="{75B12FAA-B475-47B2-B4C3-9F32D716CE6F}"/>
              </a:ext>
            </a:extLst>
          </p:cNvPr>
          <p:cNvSpPr/>
          <p:nvPr/>
        </p:nvSpPr>
        <p:spPr>
          <a:xfrm>
            <a:off x="1781386" y="4077072"/>
            <a:ext cx="415655" cy="18000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150000"/>
              </a:lnSpc>
            </a:pPr>
            <a:r>
              <a:rPr lang="en-US" altLang="ko-KR" sz="10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81%</a:t>
            </a:r>
            <a:endParaRPr lang="ko-KR" altLang="en-US" sz="1000" b="1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grpSp>
        <p:nvGrpSpPr>
          <p:cNvPr id="82" name="그룹 81">
            <a:extLst>
              <a:ext uri="{FF2B5EF4-FFF2-40B4-BE49-F238E27FC236}">
                <a16:creationId xmlns:a16="http://schemas.microsoft.com/office/drawing/2014/main" id="{D64CF4B5-D0BE-4F75-AAC0-306BD9FD9FDF}"/>
              </a:ext>
            </a:extLst>
          </p:cNvPr>
          <p:cNvGrpSpPr/>
          <p:nvPr/>
        </p:nvGrpSpPr>
        <p:grpSpPr>
          <a:xfrm>
            <a:off x="290122" y="4081141"/>
            <a:ext cx="825136" cy="211955"/>
            <a:chOff x="4861742" y="3907374"/>
            <a:chExt cx="862386" cy="211955"/>
          </a:xfrm>
        </p:grpSpPr>
        <p:pic>
          <p:nvPicPr>
            <p:cNvPr id="86" name="Picture 6" descr="ìì ë¤ì´ë¡ëì ëí ì´ë¯¸ì§ ê²ìê²°ê³¼">
              <a:extLst>
                <a:ext uri="{FF2B5EF4-FFF2-40B4-BE49-F238E27FC236}">
                  <a16:creationId xmlns:a16="http://schemas.microsoft.com/office/drawing/2014/main" id="{BDA9FA1F-33EE-4ADB-B177-0845FED1BE4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861742" y="3907374"/>
              <a:ext cx="211955" cy="21195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D968C67B-BC12-4BCF-A736-2F8E1AA8A624}"/>
                </a:ext>
              </a:extLst>
            </p:cNvPr>
            <p:cNvSpPr txBox="1"/>
            <p:nvPr/>
          </p:nvSpPr>
          <p:spPr>
            <a:xfrm>
              <a:off x="4949189" y="3921018"/>
              <a:ext cx="7749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600" b="1" dirty="0">
                  <a:solidFill>
                    <a:schemeClr val="bg1"/>
                  </a:solidFill>
                </a:rPr>
                <a:t>데이터 저장하기</a:t>
              </a:r>
            </a:p>
          </p:txBody>
        </p:sp>
      </p:grpSp>
      <p:cxnSp>
        <p:nvCxnSpPr>
          <p:cNvPr id="88" name="직선 연결선 87">
            <a:extLst>
              <a:ext uri="{FF2B5EF4-FFF2-40B4-BE49-F238E27FC236}">
                <a16:creationId xmlns:a16="http://schemas.microsoft.com/office/drawing/2014/main" id="{D09438D2-686F-40B9-83F1-E010DAC7BF55}"/>
              </a:ext>
            </a:extLst>
          </p:cNvPr>
          <p:cNvCxnSpPr>
            <a:cxnSpLocks/>
          </p:cNvCxnSpPr>
          <p:nvPr/>
        </p:nvCxnSpPr>
        <p:spPr>
          <a:xfrm>
            <a:off x="5666307" y="2275885"/>
            <a:ext cx="0" cy="1512168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89" name="표 88">
            <a:extLst>
              <a:ext uri="{FF2B5EF4-FFF2-40B4-BE49-F238E27FC236}">
                <a16:creationId xmlns:a16="http://schemas.microsoft.com/office/drawing/2014/main" id="{DD5827D8-9BA5-48C0-BBD6-BAE467CBB71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6846928"/>
              </p:ext>
            </p:extLst>
          </p:nvPr>
        </p:nvGraphicFramePr>
        <p:xfrm>
          <a:off x="272476" y="4372840"/>
          <a:ext cx="7920892" cy="89043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656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737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87373">
                  <a:extLst>
                    <a:ext uri="{9D8B030D-6E8A-4147-A177-3AD203B41FA5}">
                      <a16:colId xmlns:a16="http://schemas.microsoft.com/office/drawing/2014/main" val="91379356"/>
                    </a:ext>
                  </a:extLst>
                </a:gridCol>
                <a:gridCol w="28737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87373">
                  <a:extLst>
                    <a:ext uri="{9D8B030D-6E8A-4147-A177-3AD203B41FA5}">
                      <a16:colId xmlns:a16="http://schemas.microsoft.com/office/drawing/2014/main" val="3679891012"/>
                    </a:ext>
                  </a:extLst>
                </a:gridCol>
                <a:gridCol w="28737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87373">
                  <a:extLst>
                    <a:ext uri="{9D8B030D-6E8A-4147-A177-3AD203B41FA5}">
                      <a16:colId xmlns:a16="http://schemas.microsoft.com/office/drawing/2014/main" val="2229935987"/>
                    </a:ext>
                  </a:extLst>
                </a:gridCol>
                <a:gridCol w="28737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87373">
                  <a:extLst>
                    <a:ext uri="{9D8B030D-6E8A-4147-A177-3AD203B41FA5}">
                      <a16:colId xmlns:a16="http://schemas.microsoft.com/office/drawing/2014/main" val="4026812072"/>
                    </a:ext>
                  </a:extLst>
                </a:gridCol>
                <a:gridCol w="28737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87373">
                  <a:extLst>
                    <a:ext uri="{9D8B030D-6E8A-4147-A177-3AD203B41FA5}">
                      <a16:colId xmlns:a16="http://schemas.microsoft.com/office/drawing/2014/main" val="1122824508"/>
                    </a:ext>
                  </a:extLst>
                </a:gridCol>
                <a:gridCol w="28737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287373">
                  <a:extLst>
                    <a:ext uri="{9D8B030D-6E8A-4147-A177-3AD203B41FA5}">
                      <a16:colId xmlns:a16="http://schemas.microsoft.com/office/drawing/2014/main" val="1502902784"/>
                    </a:ext>
                  </a:extLst>
                </a:gridCol>
                <a:gridCol w="287373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87373">
                  <a:extLst>
                    <a:ext uri="{9D8B030D-6E8A-4147-A177-3AD203B41FA5}">
                      <a16:colId xmlns:a16="http://schemas.microsoft.com/office/drawing/2014/main" val="354728812"/>
                    </a:ext>
                  </a:extLst>
                </a:gridCol>
                <a:gridCol w="287373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287373">
                  <a:extLst>
                    <a:ext uri="{9D8B030D-6E8A-4147-A177-3AD203B41FA5}">
                      <a16:colId xmlns:a16="http://schemas.microsoft.com/office/drawing/2014/main" val="914552893"/>
                    </a:ext>
                  </a:extLst>
                </a:gridCol>
                <a:gridCol w="28737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287373">
                  <a:extLst>
                    <a:ext uri="{9D8B030D-6E8A-4147-A177-3AD203B41FA5}">
                      <a16:colId xmlns:a16="http://schemas.microsoft.com/office/drawing/2014/main" val="2643701830"/>
                    </a:ext>
                  </a:extLst>
                </a:gridCol>
                <a:gridCol w="28737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287373">
                  <a:extLst>
                    <a:ext uri="{9D8B030D-6E8A-4147-A177-3AD203B41FA5}">
                      <a16:colId xmlns:a16="http://schemas.microsoft.com/office/drawing/2014/main" val="4156003338"/>
                    </a:ext>
                  </a:extLst>
                </a:gridCol>
                <a:gridCol w="28737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287373">
                  <a:extLst>
                    <a:ext uri="{9D8B030D-6E8A-4147-A177-3AD203B41FA5}">
                      <a16:colId xmlns:a16="http://schemas.microsoft.com/office/drawing/2014/main" val="186923855"/>
                    </a:ext>
                  </a:extLst>
                </a:gridCol>
                <a:gridCol w="28737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287373">
                  <a:extLst>
                    <a:ext uri="{9D8B030D-6E8A-4147-A177-3AD203B41FA5}">
                      <a16:colId xmlns:a16="http://schemas.microsoft.com/office/drawing/2014/main" val="328632746"/>
                    </a:ext>
                  </a:extLst>
                </a:gridCol>
                <a:gridCol w="287373">
                  <a:extLst>
                    <a:ext uri="{9D8B030D-6E8A-4147-A177-3AD203B41FA5}">
                      <a16:colId xmlns:a16="http://schemas.microsoft.com/office/drawing/2014/main" val="929126639"/>
                    </a:ext>
                  </a:extLst>
                </a:gridCol>
              </a:tblGrid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YYYY-MM</a:t>
                      </a:r>
                      <a:endParaRPr lang="en-US" altLang="ko-KR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01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02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03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04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05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06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07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08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09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11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12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13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14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15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16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17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18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19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21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22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23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24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합계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40037541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F79646">
                              <a:lumMod val="75000"/>
                            </a:srgb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한전 사용량</a:t>
                      </a:r>
                      <a:endParaRPr kumimoji="0" lang="en-US" altLang="ko-KR" sz="7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F79646">
                            <a:lumMod val="75000"/>
                          </a:srgb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kern="1200" dirty="0">
                          <a:solidFill>
                            <a:srgbClr val="92D05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ESS</a:t>
                      </a:r>
                      <a:r>
                        <a:rPr lang="ko-KR" altLang="en-US" sz="700" b="1" kern="1200" dirty="0">
                          <a:solidFill>
                            <a:srgbClr val="92D05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사용량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90133474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kern="120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PV</a:t>
                      </a:r>
                      <a:r>
                        <a:rPr lang="ko-KR" altLang="en-US" sz="700" b="1" kern="120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사용량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총 사용량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400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300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650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480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500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700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620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800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700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700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1050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650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600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500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550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480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600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350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480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27434425"/>
                  </a:ext>
                </a:extLst>
              </a:tr>
            </a:tbl>
          </a:graphicData>
        </a:graphic>
      </p:graphicFrame>
      <p:sp>
        <p:nvSpPr>
          <p:cNvPr id="90" name="TextBox 89">
            <a:extLst>
              <a:ext uri="{FF2B5EF4-FFF2-40B4-BE49-F238E27FC236}">
                <a16:creationId xmlns:a16="http://schemas.microsoft.com/office/drawing/2014/main" id="{155C0B41-5113-412A-A152-C1099181C7B6}"/>
              </a:ext>
            </a:extLst>
          </p:cNvPr>
          <p:cNvSpPr txBox="1"/>
          <p:nvPr/>
        </p:nvSpPr>
        <p:spPr>
          <a:xfrm>
            <a:off x="7221248" y="4081564"/>
            <a:ext cx="972108" cy="215444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square" rtlCol="0" anchor="ctr">
            <a:spAutoFit/>
          </a:bodyPr>
          <a:lstStyle/>
          <a:p>
            <a:pPr algn="ctr"/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표 접기</a:t>
            </a:r>
          </a:p>
        </p:txBody>
      </p:sp>
      <p:grpSp>
        <p:nvGrpSpPr>
          <p:cNvPr id="91" name="그룹 90">
            <a:extLst>
              <a:ext uri="{FF2B5EF4-FFF2-40B4-BE49-F238E27FC236}">
                <a16:creationId xmlns:a16="http://schemas.microsoft.com/office/drawing/2014/main" id="{35904C03-817C-42D9-94EA-786F5645322F}"/>
              </a:ext>
            </a:extLst>
          </p:cNvPr>
          <p:cNvGrpSpPr/>
          <p:nvPr/>
        </p:nvGrpSpPr>
        <p:grpSpPr>
          <a:xfrm>
            <a:off x="210356" y="1203435"/>
            <a:ext cx="8024876" cy="260092"/>
            <a:chOff x="184526" y="1505937"/>
            <a:chExt cx="8024876" cy="260092"/>
          </a:xfrm>
        </p:grpSpPr>
        <p:sp>
          <p:nvSpPr>
            <p:cNvPr id="92" name="직사각형 91">
              <a:extLst>
                <a:ext uri="{FF2B5EF4-FFF2-40B4-BE49-F238E27FC236}">
                  <a16:creationId xmlns:a16="http://schemas.microsoft.com/office/drawing/2014/main" id="{56AB5430-9CCB-4A6E-BA4F-104F043EE3F3}"/>
                </a:ext>
              </a:extLst>
            </p:cNvPr>
            <p:cNvSpPr/>
            <p:nvPr/>
          </p:nvSpPr>
          <p:spPr>
            <a:xfrm>
              <a:off x="5810955" y="1550585"/>
              <a:ext cx="1820532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수익 현황</a:t>
              </a:r>
            </a:p>
          </p:txBody>
        </p:sp>
        <p:sp>
          <p:nvSpPr>
            <p:cNvPr id="93" name="직사각형 92">
              <a:extLst>
                <a:ext uri="{FF2B5EF4-FFF2-40B4-BE49-F238E27FC236}">
                  <a16:creationId xmlns:a16="http://schemas.microsoft.com/office/drawing/2014/main" id="{1F988DDC-0123-46C2-9638-D66ABC0996EC}"/>
                </a:ext>
              </a:extLst>
            </p:cNvPr>
            <p:cNvSpPr/>
            <p:nvPr/>
          </p:nvSpPr>
          <p:spPr>
            <a:xfrm>
              <a:off x="184526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에너지 모니터링</a:t>
              </a:r>
            </a:p>
          </p:txBody>
        </p:sp>
        <p:sp>
          <p:nvSpPr>
            <p:cNvPr id="94" name="직사각형 93">
              <a:extLst>
                <a:ext uri="{FF2B5EF4-FFF2-40B4-BE49-F238E27FC236}">
                  <a16:creationId xmlns:a16="http://schemas.microsoft.com/office/drawing/2014/main" id="{C50AEF8D-CD88-4D17-ABFB-36C1B8497119}"/>
                </a:ext>
              </a:extLst>
            </p:cNvPr>
            <p:cNvSpPr/>
            <p:nvPr/>
          </p:nvSpPr>
          <p:spPr>
            <a:xfrm>
              <a:off x="2191085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장치 모니터링</a:t>
              </a:r>
            </a:p>
          </p:txBody>
        </p:sp>
        <p:sp>
          <p:nvSpPr>
            <p:cNvPr id="95" name="직사각형 94">
              <a:extLst>
                <a:ext uri="{FF2B5EF4-FFF2-40B4-BE49-F238E27FC236}">
                  <a16:creationId xmlns:a16="http://schemas.microsoft.com/office/drawing/2014/main" id="{4DBADC3F-2232-447B-9F19-DA6784650BFF}"/>
                </a:ext>
              </a:extLst>
            </p:cNvPr>
            <p:cNvSpPr/>
            <p:nvPr/>
          </p:nvSpPr>
          <p:spPr>
            <a:xfrm>
              <a:off x="4197644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상황</a:t>
              </a:r>
              <a:r>
                <a:rPr lang="en-US" altLang="ko-KR" sz="700" dirty="0"/>
                <a:t> </a:t>
              </a:r>
              <a:r>
                <a:rPr lang="ko-KR" altLang="en-US" sz="700" dirty="0"/>
                <a:t>관제</a:t>
              </a:r>
            </a:p>
          </p:txBody>
        </p:sp>
        <p:sp>
          <p:nvSpPr>
            <p:cNvPr id="96" name="직사각형 95">
              <a:extLst>
                <a:ext uri="{FF2B5EF4-FFF2-40B4-BE49-F238E27FC236}">
                  <a16:creationId xmlns:a16="http://schemas.microsoft.com/office/drawing/2014/main" id="{43E5E890-9952-4730-97C2-88F7D606379F}"/>
                </a:ext>
              </a:extLst>
            </p:cNvPr>
            <p:cNvSpPr/>
            <p:nvPr/>
          </p:nvSpPr>
          <p:spPr>
            <a:xfrm>
              <a:off x="6204202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요금</a:t>
              </a:r>
              <a:r>
                <a:rPr lang="en-US" altLang="ko-KR" sz="700" dirty="0"/>
                <a:t>/</a:t>
              </a:r>
              <a:r>
                <a:rPr lang="ko-KR" altLang="en-US" sz="700" dirty="0"/>
                <a:t>수익</a:t>
              </a:r>
            </a:p>
          </p:txBody>
        </p:sp>
      </p:grpSp>
      <p:sp>
        <p:nvSpPr>
          <p:cNvPr id="227" name="타원형 설명선 226"/>
          <p:cNvSpPr/>
          <p:nvPr/>
        </p:nvSpPr>
        <p:spPr>
          <a:xfrm>
            <a:off x="2168784" y="1446811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4" name="타원형 설명선 243"/>
          <p:cNvSpPr/>
          <p:nvPr/>
        </p:nvSpPr>
        <p:spPr>
          <a:xfrm>
            <a:off x="5829229" y="1446811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5" name="타원형 설명선 244"/>
          <p:cNvSpPr/>
          <p:nvPr/>
        </p:nvSpPr>
        <p:spPr>
          <a:xfrm>
            <a:off x="4022959" y="1446811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6" name="타원형 설명선 245"/>
          <p:cNvSpPr/>
          <p:nvPr/>
        </p:nvSpPr>
        <p:spPr>
          <a:xfrm>
            <a:off x="168601" y="1768661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3" name="타원형 설명선 225">
            <a:extLst>
              <a:ext uri="{FF2B5EF4-FFF2-40B4-BE49-F238E27FC236}">
                <a16:creationId xmlns:a16="http://schemas.microsoft.com/office/drawing/2014/main" id="{93402A8C-F86A-4207-9226-F02BE6AB6E19}"/>
              </a:ext>
            </a:extLst>
          </p:cNvPr>
          <p:cNvSpPr/>
          <p:nvPr/>
        </p:nvSpPr>
        <p:spPr>
          <a:xfrm>
            <a:off x="1093505" y="1446811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97" name="표 96">
            <a:extLst>
              <a:ext uri="{FF2B5EF4-FFF2-40B4-BE49-F238E27FC236}">
                <a16:creationId xmlns:a16="http://schemas.microsoft.com/office/drawing/2014/main" id="{93749AD8-4D0D-4506-B707-AB447E1A205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07704422"/>
              </p:ext>
            </p:extLst>
          </p:nvPr>
        </p:nvGraphicFramePr>
        <p:xfrm>
          <a:off x="350067" y="5910331"/>
          <a:ext cx="4114985" cy="7219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08191">
                  <a:extLst>
                    <a:ext uri="{9D8B030D-6E8A-4147-A177-3AD203B41FA5}">
                      <a16:colId xmlns:a16="http://schemas.microsoft.com/office/drawing/2014/main" val="621667645"/>
                    </a:ext>
                  </a:extLst>
                </a:gridCol>
                <a:gridCol w="429542">
                  <a:extLst>
                    <a:ext uri="{9D8B030D-6E8A-4147-A177-3AD203B41FA5}">
                      <a16:colId xmlns:a16="http://schemas.microsoft.com/office/drawing/2014/main" val="2248332737"/>
                    </a:ext>
                  </a:extLst>
                </a:gridCol>
                <a:gridCol w="429542">
                  <a:extLst>
                    <a:ext uri="{9D8B030D-6E8A-4147-A177-3AD203B41FA5}">
                      <a16:colId xmlns:a16="http://schemas.microsoft.com/office/drawing/2014/main" val="899356341"/>
                    </a:ext>
                  </a:extLst>
                </a:gridCol>
                <a:gridCol w="429542">
                  <a:extLst>
                    <a:ext uri="{9D8B030D-6E8A-4147-A177-3AD203B41FA5}">
                      <a16:colId xmlns:a16="http://schemas.microsoft.com/office/drawing/2014/main" val="2787753370"/>
                    </a:ext>
                  </a:extLst>
                </a:gridCol>
                <a:gridCol w="429542">
                  <a:extLst>
                    <a:ext uri="{9D8B030D-6E8A-4147-A177-3AD203B41FA5}">
                      <a16:colId xmlns:a16="http://schemas.microsoft.com/office/drawing/2014/main" val="75509663"/>
                    </a:ext>
                  </a:extLst>
                </a:gridCol>
                <a:gridCol w="429542">
                  <a:extLst>
                    <a:ext uri="{9D8B030D-6E8A-4147-A177-3AD203B41FA5}">
                      <a16:colId xmlns:a16="http://schemas.microsoft.com/office/drawing/2014/main" val="2371680936"/>
                    </a:ext>
                  </a:extLst>
                </a:gridCol>
                <a:gridCol w="429542">
                  <a:extLst>
                    <a:ext uri="{9D8B030D-6E8A-4147-A177-3AD203B41FA5}">
                      <a16:colId xmlns:a16="http://schemas.microsoft.com/office/drawing/2014/main" val="1293287838"/>
                    </a:ext>
                  </a:extLst>
                </a:gridCol>
                <a:gridCol w="429542">
                  <a:extLst>
                    <a:ext uri="{9D8B030D-6E8A-4147-A177-3AD203B41FA5}">
                      <a16:colId xmlns:a16="http://schemas.microsoft.com/office/drawing/2014/main" val="346575581"/>
                    </a:ext>
                  </a:extLst>
                </a:gridCol>
              </a:tblGrid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조회기간</a:t>
                      </a:r>
                      <a:endParaRPr lang="en-US" altLang="ko-KR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기간설정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75581190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발전량</a:t>
                      </a: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온도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15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분 전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~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현재시간</a:t>
                      </a:r>
                      <a:endParaRPr lang="ko-KR" altLang="en-US" sz="8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시간 전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~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현재시간</a:t>
                      </a:r>
                      <a:endParaRPr lang="ko-KR" altLang="en-US" sz="8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오늘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00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시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~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현재시간</a:t>
                      </a:r>
                      <a:endParaRPr lang="ko-KR" altLang="en-US" sz="8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주 전 </a:t>
                      </a: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~ 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현재시간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달 전 </a:t>
                      </a: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~ 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현재시간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 전</a:t>
                      </a:r>
                      <a:r>
                        <a:rPr lang="en-US" altLang="ko-KR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~ </a:t>
                      </a:r>
                      <a:r>
                        <a:rPr lang="ko-KR" altLang="en-US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현재시간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지정된 시작일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29881618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발전량</a:t>
                      </a: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예측</a:t>
                      </a: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동일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동일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동일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동일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동일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동일</a:t>
                      </a:r>
                      <a:endParaRPr lang="en-US" altLang="ko-KR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동일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34962852"/>
                  </a:ext>
                </a:extLst>
              </a:tr>
            </a:tbl>
          </a:graphicData>
        </a:graphic>
      </p:graphicFrame>
      <p:sp>
        <p:nvSpPr>
          <p:cNvPr id="98" name="타원형 설명선 225">
            <a:extLst>
              <a:ext uri="{FF2B5EF4-FFF2-40B4-BE49-F238E27FC236}">
                <a16:creationId xmlns:a16="http://schemas.microsoft.com/office/drawing/2014/main" id="{BDF3B240-A365-4974-870E-48B883F2DE9B}"/>
              </a:ext>
            </a:extLst>
          </p:cNvPr>
          <p:cNvSpPr/>
          <p:nvPr/>
        </p:nvSpPr>
        <p:spPr>
          <a:xfrm>
            <a:off x="53242" y="5894308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표</a:t>
            </a:r>
            <a:r>
              <a:rPr lang="en-US" altLang="ko-KR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99" name="표 98">
            <a:extLst>
              <a:ext uri="{FF2B5EF4-FFF2-40B4-BE49-F238E27FC236}">
                <a16:creationId xmlns:a16="http://schemas.microsoft.com/office/drawing/2014/main" id="{9ED491D6-3D31-4C20-AEF3-ABF51E0A7D9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65349644"/>
              </p:ext>
            </p:extLst>
          </p:nvPr>
        </p:nvGraphicFramePr>
        <p:xfrm>
          <a:off x="4622269" y="5947288"/>
          <a:ext cx="3788722" cy="66576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61864">
                  <a:extLst>
                    <a:ext uri="{9D8B030D-6E8A-4147-A177-3AD203B41FA5}">
                      <a16:colId xmlns:a16="http://schemas.microsoft.com/office/drawing/2014/main" val="621667645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2248332737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899356341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2787753370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75509663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2371680936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1293287838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346575581"/>
                    </a:ext>
                  </a:extLst>
                </a:gridCol>
              </a:tblGrid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조회기간</a:t>
                      </a:r>
                      <a:endParaRPr lang="en-US" altLang="ko-KR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기간설정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75581190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조회 간격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  <a:r>
                        <a:rPr lang="ko-KR" altLang="en-US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strike="sng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  <a:r>
                        <a:rPr lang="ko-KR" altLang="en-US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strike="sng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  <a:r>
                        <a:rPr lang="ko-KR" altLang="en-US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strike="sng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  <a:endParaRPr lang="en-US" altLang="ko-KR" sz="800" b="0" strike="no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  <a:endParaRPr lang="en-US" altLang="ko-KR" sz="800" b="0" strike="no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  <a:endParaRPr lang="en-US" altLang="ko-KR" sz="800" b="0" strike="no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지정된 기간에 따라 판단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29881618"/>
                  </a:ext>
                </a:extLst>
              </a:tr>
            </a:tbl>
          </a:graphicData>
        </a:graphic>
      </p:graphicFrame>
      <p:sp>
        <p:nvSpPr>
          <p:cNvPr id="100" name="타원형 설명선 225">
            <a:extLst>
              <a:ext uri="{FF2B5EF4-FFF2-40B4-BE49-F238E27FC236}">
                <a16:creationId xmlns:a16="http://schemas.microsoft.com/office/drawing/2014/main" id="{229E47A8-BA85-4C5F-9865-5314BB185786}"/>
              </a:ext>
            </a:extLst>
          </p:cNvPr>
          <p:cNvSpPr/>
          <p:nvPr/>
        </p:nvSpPr>
        <p:spPr>
          <a:xfrm>
            <a:off x="4327284" y="5916008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표</a:t>
            </a:r>
            <a:r>
              <a:rPr lang="en-US" altLang="ko-KR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7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897EB0B3-8B1F-4542-A210-8D3607E87380}"/>
              </a:ext>
            </a:extLst>
          </p:cNvPr>
          <p:cNvSpPr/>
          <p:nvPr/>
        </p:nvSpPr>
        <p:spPr>
          <a:xfrm>
            <a:off x="7680268" y="1563619"/>
            <a:ext cx="473661" cy="289182"/>
          </a:xfrm>
          <a:prstGeom prst="rect">
            <a:avLst/>
          </a:prstGeom>
          <a:solidFill>
            <a:srgbClr val="0099FF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>
              <a:lnSpc>
                <a:spcPct val="150000"/>
              </a:lnSpc>
            </a:pPr>
            <a:r>
              <a:rPr lang="ko-KR" altLang="en-US" sz="105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조회</a:t>
            </a:r>
          </a:p>
        </p:txBody>
      </p:sp>
      <p:cxnSp>
        <p:nvCxnSpPr>
          <p:cNvPr id="103" name="직선 연결선 102">
            <a:extLst>
              <a:ext uri="{FF2B5EF4-FFF2-40B4-BE49-F238E27FC236}">
                <a16:creationId xmlns:a16="http://schemas.microsoft.com/office/drawing/2014/main" id="{89660923-46DB-4470-B85A-9DFBFD3A32C9}"/>
              </a:ext>
            </a:extLst>
          </p:cNvPr>
          <p:cNvCxnSpPr/>
          <p:nvPr/>
        </p:nvCxnSpPr>
        <p:spPr>
          <a:xfrm>
            <a:off x="4022399" y="2038073"/>
            <a:ext cx="504056" cy="0"/>
          </a:xfrm>
          <a:prstGeom prst="line">
            <a:avLst/>
          </a:prstGeom>
          <a:ln w="19050">
            <a:solidFill>
              <a:srgbClr val="FF66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F31F45A7-7187-4FF1-97D2-0B87E001B859}"/>
              </a:ext>
            </a:extLst>
          </p:cNvPr>
          <p:cNvSpPr/>
          <p:nvPr/>
        </p:nvSpPr>
        <p:spPr>
          <a:xfrm>
            <a:off x="4598463" y="1915845"/>
            <a:ext cx="1008112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한전 사용량</a:t>
            </a:r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AE78DDF1-041E-434A-B415-EDDABE05ED8A}"/>
              </a:ext>
            </a:extLst>
          </p:cNvPr>
          <p:cNvCxnSpPr/>
          <p:nvPr/>
        </p:nvCxnSpPr>
        <p:spPr>
          <a:xfrm>
            <a:off x="5534567" y="2038073"/>
            <a:ext cx="504056" cy="0"/>
          </a:xfrm>
          <a:prstGeom prst="line">
            <a:avLst/>
          </a:prstGeom>
          <a:solidFill>
            <a:schemeClr val="accent3">
              <a:lumMod val="40000"/>
              <a:lumOff val="60000"/>
            </a:schemeClr>
          </a:solidFill>
          <a:ln>
            <a:solidFill>
              <a:srgbClr val="92D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06" name="직사각형 105">
            <a:extLst>
              <a:ext uri="{FF2B5EF4-FFF2-40B4-BE49-F238E27FC236}">
                <a16:creationId xmlns:a16="http://schemas.microsoft.com/office/drawing/2014/main" id="{D2206528-9C37-4CF8-A6AD-395D7947B067}"/>
              </a:ext>
            </a:extLst>
          </p:cNvPr>
          <p:cNvSpPr/>
          <p:nvPr/>
        </p:nvSpPr>
        <p:spPr>
          <a:xfrm>
            <a:off x="6110631" y="1915845"/>
            <a:ext cx="1008112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en-US" altLang="ko-KR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ESS </a:t>
            </a:r>
            <a:r>
              <a:rPr lang="ko-KR" altLang="en-US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사용량</a:t>
            </a:r>
          </a:p>
        </p:txBody>
      </p:sp>
      <p:cxnSp>
        <p:nvCxnSpPr>
          <p:cNvPr id="107" name="직선 연결선 106">
            <a:extLst>
              <a:ext uri="{FF2B5EF4-FFF2-40B4-BE49-F238E27FC236}">
                <a16:creationId xmlns:a16="http://schemas.microsoft.com/office/drawing/2014/main" id="{D4B3481B-E3A1-4173-AD45-6B75908EB006}"/>
              </a:ext>
            </a:extLst>
          </p:cNvPr>
          <p:cNvCxnSpPr/>
          <p:nvPr/>
        </p:nvCxnSpPr>
        <p:spPr>
          <a:xfrm>
            <a:off x="6969224" y="2038073"/>
            <a:ext cx="504056" cy="0"/>
          </a:xfrm>
          <a:prstGeom prst="line">
            <a:avLst/>
          </a:prstGeom>
          <a:solidFill>
            <a:schemeClr val="accent2">
              <a:lumMod val="60000"/>
              <a:lumOff val="40000"/>
            </a:schemeClr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1D61A09E-93CA-4F0A-BB65-E7171DD424A6}"/>
              </a:ext>
            </a:extLst>
          </p:cNvPr>
          <p:cNvSpPr/>
          <p:nvPr/>
        </p:nvSpPr>
        <p:spPr>
          <a:xfrm>
            <a:off x="7545288" y="1915845"/>
            <a:ext cx="1008112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en-US" altLang="ko-KR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PV </a:t>
            </a:r>
            <a:r>
              <a:rPr lang="ko-KR" altLang="en-US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사용량</a:t>
            </a:r>
          </a:p>
        </p:txBody>
      </p:sp>
    </p:spTree>
    <p:extLst>
      <p:ext uri="{BB962C8B-B14F-4D97-AF65-F5344CB8AC3E}">
        <p14:creationId xmlns:p14="http://schemas.microsoft.com/office/powerpoint/2010/main" val="2517585480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텍스트 개체 틀 8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Site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 &gt;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에너지 모니터링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&gt;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사용량 구성</a:t>
            </a:r>
          </a:p>
        </p:txBody>
      </p:sp>
      <p:sp>
        <p:nvSpPr>
          <p:cNvPr id="10" name="텍스트 개체 틀 9"/>
          <p:cNvSpPr>
            <a:spLocks noGrp="1"/>
          </p:cNvSpPr>
          <p:nvPr>
            <p:ph type="body" sz="quarter" idx="10"/>
          </p:nvPr>
        </p:nvSpPr>
        <p:spPr>
          <a:xfrm>
            <a:off x="6023595" y="44624"/>
            <a:ext cx="1233661" cy="196974"/>
          </a:xfrm>
        </p:spPr>
        <p:txBody>
          <a:bodyPr/>
          <a:lstStyle/>
          <a:p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사용량 구성</a:t>
            </a:r>
          </a:p>
        </p:txBody>
      </p:sp>
      <p:graphicFrame>
        <p:nvGraphicFramePr>
          <p:cNvPr id="102" name="Group 15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44582386"/>
              </p:ext>
            </p:extLst>
          </p:nvPr>
        </p:nvGraphicFramePr>
        <p:xfrm>
          <a:off x="8469313" y="276225"/>
          <a:ext cx="1404000" cy="5428416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3002"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Description</a:t>
                      </a: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6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그래프 표시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사용량 그래프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1)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꺽은선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그래프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항목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: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실제사용량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ESS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사용량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PV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사용량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예측사용량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 - Y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축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: </a:t>
                      </a:r>
                      <a:r>
                        <a:rPr kumimoji="1" lang="en-US" altLang="ko-KR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KWh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의 전력량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 - X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축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: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간격 표시 기준은 표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3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참고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7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사용량 데이터 표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조회된 데이터의 그래프 표시 항목을 표로 표현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특정 개수가 넘어 표가 좌우로 넓어질 경우에는 하단으로 표 확장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브라우저 크기를 조정하여 폭이 좁아질 경우에도 하단으로 표 확장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행 최대 칸수는 표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4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참고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8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ESS </a:t>
                      </a:r>
                      <a:r>
                        <a:rPr lang="ko-KR" altLang="en-US" sz="800" b="1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사용 수익 영역</a:t>
                      </a:r>
                      <a:endParaRPr lang="en-US" altLang="ko-KR" sz="800" b="1" u="non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 - ESS </a:t>
                      </a: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사용량으로 인한 실제 사용량 수익을 그래프 상의 영역으로 표시</a:t>
                      </a:r>
                      <a:endParaRPr lang="en-US" altLang="ko-KR" sz="800" b="0" u="non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17959787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9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PV </a:t>
                      </a:r>
                      <a:r>
                        <a:rPr lang="ko-KR" altLang="en-US" sz="800" b="1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사용 수익 영역</a:t>
                      </a:r>
                      <a:endParaRPr lang="en-US" altLang="ko-KR" sz="800" b="1" u="non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 - PV </a:t>
                      </a: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사용량으로 인한 실제 사용량 수익을 그래프 상의 영역으로 표시</a:t>
                      </a:r>
                      <a:endParaRPr lang="en-US" altLang="ko-KR" sz="800" b="0" u="non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9893732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10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표 접기</a:t>
                      </a:r>
                      <a:endParaRPr lang="en-US" altLang="ko-KR" sz="800" b="1" u="non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그래프 하단 표 영역 표시의 </a:t>
                      </a:r>
                      <a:r>
                        <a:rPr lang="ko-KR" altLang="en-US" sz="800" b="0" u="none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토글</a:t>
                      </a: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 버튼</a:t>
                      </a:r>
                      <a:endParaRPr lang="en-US" altLang="ko-KR" sz="800" b="0" u="none" kern="120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11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데이터 저장하기</a:t>
                      </a:r>
                      <a:endParaRPr lang="en-US" altLang="ko-KR" sz="800" b="1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조회된 데이터를 </a:t>
                      </a: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csv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형태의 파일로 저장한다</a:t>
                      </a: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.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12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사용량 비율 표시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각 항목 별 사용량 비율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94740129"/>
                  </a:ext>
                </a:extLst>
              </a:tr>
            </a:tbl>
          </a:graphicData>
        </a:graphic>
      </p:graphicFrame>
      <p:sp>
        <p:nvSpPr>
          <p:cNvPr id="78" name="TextBox 77"/>
          <p:cNvSpPr txBox="1"/>
          <p:nvPr/>
        </p:nvSpPr>
        <p:spPr>
          <a:xfrm>
            <a:off x="7121707" y="21349"/>
            <a:ext cx="567597" cy="2308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화면</a:t>
            </a:r>
            <a:r>
              <a:rPr lang="en-US" altLang="ko-KR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ID</a:t>
            </a:r>
            <a:endParaRPr lang="ko-KR" altLang="en-US" sz="9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7689304" y="43659"/>
            <a:ext cx="792088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itchFamily="50" charset="-127"/>
                <a:ea typeface="맑은 고딕" pitchFamily="50" charset="-127"/>
              </a:rPr>
              <a:t>ewpsp_scr_014</a:t>
            </a:r>
            <a:endParaRPr lang="ko-KR" altLang="en-US" sz="700" dirty="0">
              <a:latin typeface="맑은 고딕" pitchFamily="50" charset="-127"/>
              <a:ea typeface="맑은 고딕" pitchFamily="50" charset="-127"/>
            </a:endParaRPr>
          </a:p>
        </p:txBody>
      </p:sp>
      <p:pic>
        <p:nvPicPr>
          <p:cNvPr id="18" name="Picture 3">
            <a:extLst>
              <a:ext uri="{FF2B5EF4-FFF2-40B4-BE49-F238E27FC236}">
                <a16:creationId xmlns:a16="http://schemas.microsoft.com/office/drawing/2014/main" id="{D14E8AEF-8EA8-4944-AE52-FF98A1FB783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463" y="764705"/>
            <a:ext cx="8208912" cy="4756440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  <a:extLst/>
        </p:spPr>
      </p:pic>
      <p:pic>
        <p:nvPicPr>
          <p:cNvPr id="19" name="Picture 2">
            <a:extLst>
              <a:ext uri="{FF2B5EF4-FFF2-40B4-BE49-F238E27FC236}">
                <a16:creationId xmlns:a16="http://schemas.microsoft.com/office/drawing/2014/main" id="{6FBB0165-03FF-4BBD-A158-8DEF923CF53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464" y="762442"/>
            <a:ext cx="8208912" cy="3487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20" name="직선 연결선 19">
            <a:extLst>
              <a:ext uri="{FF2B5EF4-FFF2-40B4-BE49-F238E27FC236}">
                <a16:creationId xmlns:a16="http://schemas.microsoft.com/office/drawing/2014/main" id="{37D07777-30AA-4506-9C18-6F3B4C7D943C}"/>
              </a:ext>
            </a:extLst>
          </p:cNvPr>
          <p:cNvCxnSpPr>
            <a:cxnSpLocks/>
          </p:cNvCxnSpPr>
          <p:nvPr/>
        </p:nvCxnSpPr>
        <p:spPr>
          <a:xfrm>
            <a:off x="128463" y="1124744"/>
            <a:ext cx="8208912" cy="0"/>
          </a:xfrm>
          <a:prstGeom prst="line">
            <a:avLst/>
          </a:prstGeom>
          <a:ln w="9525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5E84417E-CAA5-4FD3-BBB9-7CD5570EF571}"/>
              </a:ext>
            </a:extLst>
          </p:cNvPr>
          <p:cNvSpPr/>
          <p:nvPr/>
        </p:nvSpPr>
        <p:spPr>
          <a:xfrm>
            <a:off x="216315" y="1556792"/>
            <a:ext cx="1820532" cy="288032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사용량 구성 </a:t>
            </a:r>
            <a:r>
              <a:rPr lang="en-US" altLang="ko-KR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(DER)</a:t>
            </a:r>
            <a:endParaRPr lang="ko-KR" altLang="en-US" sz="900" b="1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180BACBD-4B64-4649-BD7C-E1EE3620FBC6}"/>
              </a:ext>
            </a:extLst>
          </p:cNvPr>
          <p:cNvSpPr/>
          <p:nvPr/>
        </p:nvSpPr>
        <p:spPr>
          <a:xfrm>
            <a:off x="120419" y="1726179"/>
            <a:ext cx="1510265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150000"/>
              </a:lnSpc>
            </a:pPr>
            <a:r>
              <a:rPr lang="en-US" altLang="ko-KR" sz="900" b="1" dirty="0">
                <a:solidFill>
                  <a:schemeClr val="bg1">
                    <a:lumMod val="65000"/>
                  </a:schemeClr>
                </a:solidFill>
                <a:latin typeface="맑은 고딕" pitchFamily="50" charset="-127"/>
                <a:ea typeface="맑은 고딕" pitchFamily="50" charset="-127"/>
              </a:rPr>
              <a:t>YYYY-MM-DD hh:mm</a:t>
            </a:r>
            <a:endParaRPr lang="ko-KR" altLang="en-US" sz="900" b="1" dirty="0">
              <a:solidFill>
                <a:schemeClr val="bg1">
                  <a:lumMod val="6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A27B69D7-2B77-4AF2-A717-2F8B00E5023D}"/>
              </a:ext>
            </a:extLst>
          </p:cNvPr>
          <p:cNvSpPr/>
          <p:nvPr/>
        </p:nvSpPr>
        <p:spPr>
          <a:xfrm>
            <a:off x="3584848" y="1569453"/>
            <a:ext cx="1224136" cy="288033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기간 설정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51E4F555-ACF8-422A-8A4C-263DF5607ED0}"/>
              </a:ext>
            </a:extLst>
          </p:cNvPr>
          <p:cNvSpPr/>
          <p:nvPr/>
        </p:nvSpPr>
        <p:spPr>
          <a:xfrm>
            <a:off x="4304928" y="1569453"/>
            <a:ext cx="1262753" cy="288033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YYY-MM</a:t>
            </a:r>
            <a:endParaRPr lang="ko-KR" altLang="en-US" sz="90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056B85B8-E22D-471D-BF90-7BA59FDE59DA}"/>
              </a:ext>
            </a:extLst>
          </p:cNvPr>
          <p:cNvSpPr/>
          <p:nvPr/>
        </p:nvSpPr>
        <p:spPr>
          <a:xfrm>
            <a:off x="5567681" y="1569453"/>
            <a:ext cx="288032" cy="288033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▼</a:t>
            </a: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5DE85575-6695-43D9-BA78-E72D7749FD5A}"/>
              </a:ext>
            </a:extLst>
          </p:cNvPr>
          <p:cNvSpPr/>
          <p:nvPr/>
        </p:nvSpPr>
        <p:spPr>
          <a:xfrm>
            <a:off x="5855713" y="1569453"/>
            <a:ext cx="249415" cy="288033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~</a:t>
            </a:r>
            <a:endParaRPr lang="ko-KR" altLang="en-US" sz="900" b="1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52DDF82F-9C8F-422F-B328-3979E21AEB5E}"/>
              </a:ext>
            </a:extLst>
          </p:cNvPr>
          <p:cNvSpPr/>
          <p:nvPr/>
        </p:nvSpPr>
        <p:spPr>
          <a:xfrm>
            <a:off x="6105128" y="1569453"/>
            <a:ext cx="1262753" cy="288033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YYYY-MM</a:t>
            </a:r>
            <a:endParaRPr lang="ko-KR" altLang="en-US" sz="90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508668D7-197F-47CF-8003-58499E43E073}"/>
              </a:ext>
            </a:extLst>
          </p:cNvPr>
          <p:cNvSpPr/>
          <p:nvPr/>
        </p:nvSpPr>
        <p:spPr>
          <a:xfrm>
            <a:off x="7367881" y="1569453"/>
            <a:ext cx="288032" cy="288033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▼</a:t>
            </a:r>
          </a:p>
        </p:txBody>
      </p:sp>
      <p:pic>
        <p:nvPicPr>
          <p:cNvPr id="47" name="Picture 2" descr="ì¤ì ì ëí ì´ë¯¸ì§ ê²ìê²°ê³¼">
            <a:extLst>
              <a:ext uri="{FF2B5EF4-FFF2-40B4-BE49-F238E27FC236}">
                <a16:creationId xmlns:a16="http://schemas.microsoft.com/office/drawing/2014/main" id="{90A888AD-844A-4544-B02A-A77BC3397C7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05865" y="844086"/>
            <a:ext cx="198592" cy="19859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8" name="사각형: 둥근 모서리 47">
            <a:extLst>
              <a:ext uri="{FF2B5EF4-FFF2-40B4-BE49-F238E27FC236}">
                <a16:creationId xmlns:a16="http://schemas.microsoft.com/office/drawing/2014/main" id="{119FCE8B-C633-47C3-A0BD-44AD20643BCC}"/>
              </a:ext>
            </a:extLst>
          </p:cNvPr>
          <p:cNvSpPr/>
          <p:nvPr/>
        </p:nvSpPr>
        <p:spPr>
          <a:xfrm>
            <a:off x="1356604" y="1637161"/>
            <a:ext cx="1013369" cy="180000"/>
          </a:xfrm>
          <a:prstGeom prst="roundRect">
            <a:avLst/>
          </a:prstGeom>
          <a:solidFill>
            <a:schemeClr val="bg1"/>
          </a:solidFill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ko-KR" altLang="en-US" sz="900" dirty="0">
                <a:solidFill>
                  <a:schemeClr val="tx1"/>
                </a:solidFill>
              </a:rPr>
              <a:t>기간 설정  ▼</a:t>
            </a:r>
          </a:p>
        </p:txBody>
      </p:sp>
      <p:sp>
        <p:nvSpPr>
          <p:cNvPr id="49" name="사각형: 둥근 모서리 48">
            <a:extLst>
              <a:ext uri="{FF2B5EF4-FFF2-40B4-BE49-F238E27FC236}">
                <a16:creationId xmlns:a16="http://schemas.microsoft.com/office/drawing/2014/main" id="{948F9D44-B814-4AF5-882E-A35193F2E22A}"/>
              </a:ext>
            </a:extLst>
          </p:cNvPr>
          <p:cNvSpPr/>
          <p:nvPr/>
        </p:nvSpPr>
        <p:spPr>
          <a:xfrm>
            <a:off x="2415080" y="1636316"/>
            <a:ext cx="1013369" cy="180000"/>
          </a:xfrm>
          <a:prstGeom prst="roundRect">
            <a:avLst/>
          </a:prstGeom>
          <a:solidFill>
            <a:schemeClr val="bg1"/>
          </a:solidFill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altLang="ko-KR" sz="900" dirty="0">
                <a:solidFill>
                  <a:schemeClr val="tx1"/>
                </a:solidFill>
              </a:rPr>
              <a:t>15</a:t>
            </a:r>
            <a:r>
              <a:rPr lang="ko-KR" altLang="en-US" sz="900" dirty="0">
                <a:solidFill>
                  <a:schemeClr val="tx1"/>
                </a:solidFill>
              </a:rPr>
              <a:t>분     ▼</a:t>
            </a:r>
          </a:p>
        </p:txBody>
      </p:sp>
      <p:graphicFrame>
        <p:nvGraphicFramePr>
          <p:cNvPr id="40" name="표 39">
            <a:extLst>
              <a:ext uri="{FF2B5EF4-FFF2-40B4-BE49-F238E27FC236}">
                <a16:creationId xmlns:a16="http://schemas.microsoft.com/office/drawing/2014/main" id="{1EAC2534-4E33-4882-8982-978DDCA53E58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272476" y="2206916"/>
          <a:ext cx="7920881" cy="179023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295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19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20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21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22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23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24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25"/>
                    </a:ext>
                  </a:extLst>
                </a:gridCol>
              </a:tblGrid>
              <a:tr h="17902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/>
                        <a:t>kWh</a:t>
                      </a:r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902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2000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9023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9023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902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1000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9023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902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500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9023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902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9023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01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02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03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04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05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06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07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08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09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10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11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12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13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14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15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16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17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18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19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20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21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22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23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24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cxnSp>
        <p:nvCxnSpPr>
          <p:cNvPr id="52" name="직선 연결선 51">
            <a:extLst>
              <a:ext uri="{FF2B5EF4-FFF2-40B4-BE49-F238E27FC236}">
                <a16:creationId xmlns:a16="http://schemas.microsoft.com/office/drawing/2014/main" id="{5C20E19C-7454-4EC0-9C86-5F347C7627D6}"/>
              </a:ext>
            </a:extLst>
          </p:cNvPr>
          <p:cNvCxnSpPr/>
          <p:nvPr/>
        </p:nvCxnSpPr>
        <p:spPr>
          <a:xfrm>
            <a:off x="4022399" y="2038073"/>
            <a:ext cx="504056" cy="0"/>
          </a:xfrm>
          <a:prstGeom prst="line">
            <a:avLst/>
          </a:prstGeom>
          <a:ln w="19050">
            <a:solidFill>
              <a:srgbClr val="FF66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0F880CC0-6B95-477F-B1C4-F0BCF8B81CE2}"/>
              </a:ext>
            </a:extLst>
          </p:cNvPr>
          <p:cNvSpPr/>
          <p:nvPr/>
        </p:nvSpPr>
        <p:spPr>
          <a:xfrm>
            <a:off x="4598463" y="1915845"/>
            <a:ext cx="1008112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한전 사용량</a:t>
            </a:r>
          </a:p>
        </p:txBody>
      </p:sp>
      <p:cxnSp>
        <p:nvCxnSpPr>
          <p:cNvPr id="54" name="직선 연결선 53">
            <a:extLst>
              <a:ext uri="{FF2B5EF4-FFF2-40B4-BE49-F238E27FC236}">
                <a16:creationId xmlns:a16="http://schemas.microsoft.com/office/drawing/2014/main" id="{36861E16-9296-407F-8126-97D481425A31}"/>
              </a:ext>
            </a:extLst>
          </p:cNvPr>
          <p:cNvCxnSpPr/>
          <p:nvPr/>
        </p:nvCxnSpPr>
        <p:spPr>
          <a:xfrm>
            <a:off x="5534567" y="2038073"/>
            <a:ext cx="504056" cy="0"/>
          </a:xfrm>
          <a:prstGeom prst="line">
            <a:avLst/>
          </a:prstGeom>
          <a:solidFill>
            <a:schemeClr val="accent3">
              <a:lumMod val="40000"/>
              <a:lumOff val="60000"/>
            </a:schemeClr>
          </a:solidFill>
          <a:ln>
            <a:solidFill>
              <a:srgbClr val="92D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BD220AED-9C76-4FB8-8705-8B7E2CCE94F6}"/>
              </a:ext>
            </a:extLst>
          </p:cNvPr>
          <p:cNvSpPr/>
          <p:nvPr/>
        </p:nvSpPr>
        <p:spPr>
          <a:xfrm>
            <a:off x="6110631" y="1915845"/>
            <a:ext cx="1008112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en-US" altLang="ko-KR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ESS </a:t>
            </a:r>
            <a:r>
              <a:rPr lang="ko-KR" altLang="en-US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사용량</a:t>
            </a:r>
          </a:p>
        </p:txBody>
      </p:sp>
      <p:cxnSp>
        <p:nvCxnSpPr>
          <p:cNvPr id="56" name="직선 연결선 55">
            <a:extLst>
              <a:ext uri="{FF2B5EF4-FFF2-40B4-BE49-F238E27FC236}">
                <a16:creationId xmlns:a16="http://schemas.microsoft.com/office/drawing/2014/main" id="{E8B1AF60-D5AC-410E-BAC7-B5797A3E3446}"/>
              </a:ext>
            </a:extLst>
          </p:cNvPr>
          <p:cNvCxnSpPr>
            <a:cxnSpLocks/>
          </p:cNvCxnSpPr>
          <p:nvPr/>
        </p:nvCxnSpPr>
        <p:spPr>
          <a:xfrm>
            <a:off x="992556" y="2483520"/>
            <a:ext cx="7200800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직선 연결선 56">
            <a:extLst>
              <a:ext uri="{FF2B5EF4-FFF2-40B4-BE49-F238E27FC236}">
                <a16:creationId xmlns:a16="http://schemas.microsoft.com/office/drawing/2014/main" id="{EB278F43-7B49-41F4-9B7A-35CA40CF1699}"/>
              </a:ext>
            </a:extLst>
          </p:cNvPr>
          <p:cNvCxnSpPr>
            <a:cxnSpLocks/>
          </p:cNvCxnSpPr>
          <p:nvPr/>
        </p:nvCxnSpPr>
        <p:spPr>
          <a:xfrm>
            <a:off x="992556" y="3004354"/>
            <a:ext cx="7200800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8" name="직선 연결선 57">
            <a:extLst>
              <a:ext uri="{FF2B5EF4-FFF2-40B4-BE49-F238E27FC236}">
                <a16:creationId xmlns:a16="http://schemas.microsoft.com/office/drawing/2014/main" id="{66EF2A03-8418-49D2-8E46-E6B944559F30}"/>
              </a:ext>
            </a:extLst>
          </p:cNvPr>
          <p:cNvCxnSpPr/>
          <p:nvPr/>
        </p:nvCxnSpPr>
        <p:spPr>
          <a:xfrm>
            <a:off x="6969224" y="2038073"/>
            <a:ext cx="504056" cy="0"/>
          </a:xfrm>
          <a:prstGeom prst="line">
            <a:avLst/>
          </a:prstGeom>
          <a:solidFill>
            <a:schemeClr val="accent2">
              <a:lumMod val="60000"/>
              <a:lumOff val="40000"/>
            </a:schemeClr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A90612CA-6C8A-4FCC-A491-EB373BF1E363}"/>
              </a:ext>
            </a:extLst>
          </p:cNvPr>
          <p:cNvSpPr/>
          <p:nvPr/>
        </p:nvSpPr>
        <p:spPr>
          <a:xfrm>
            <a:off x="7545288" y="1915845"/>
            <a:ext cx="1008112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en-US" altLang="ko-KR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PV </a:t>
            </a:r>
            <a:r>
              <a:rPr lang="ko-KR" altLang="en-US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사용량</a:t>
            </a:r>
          </a:p>
        </p:txBody>
      </p:sp>
      <p:sp>
        <p:nvSpPr>
          <p:cNvPr id="61" name="자유형 5">
            <a:extLst>
              <a:ext uri="{FF2B5EF4-FFF2-40B4-BE49-F238E27FC236}">
                <a16:creationId xmlns:a16="http://schemas.microsoft.com/office/drawing/2014/main" id="{0AB13E76-0E1C-4F2E-A66A-8EB7B4F5BEC3}"/>
              </a:ext>
            </a:extLst>
          </p:cNvPr>
          <p:cNvSpPr/>
          <p:nvPr/>
        </p:nvSpPr>
        <p:spPr>
          <a:xfrm>
            <a:off x="2022704" y="3198306"/>
            <a:ext cx="1659512" cy="361173"/>
          </a:xfrm>
          <a:custGeom>
            <a:avLst/>
            <a:gdLst>
              <a:gd name="connsiteX0" fmla="*/ 0 w 1733550"/>
              <a:gd name="connsiteY0" fmla="*/ 171450 h 453390"/>
              <a:gd name="connsiteX1" fmla="*/ 582930 w 1733550"/>
              <a:gd name="connsiteY1" fmla="*/ 430530 h 453390"/>
              <a:gd name="connsiteX2" fmla="*/ 864870 w 1733550"/>
              <a:gd name="connsiteY2" fmla="*/ 453390 h 453390"/>
              <a:gd name="connsiteX3" fmla="*/ 1165860 w 1733550"/>
              <a:gd name="connsiteY3" fmla="*/ 419100 h 453390"/>
              <a:gd name="connsiteX4" fmla="*/ 1482090 w 1733550"/>
              <a:gd name="connsiteY4" fmla="*/ 106680 h 453390"/>
              <a:gd name="connsiteX5" fmla="*/ 1733550 w 1733550"/>
              <a:gd name="connsiteY5" fmla="*/ 0 h 4533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550" h="453390">
                <a:moveTo>
                  <a:pt x="0" y="171450"/>
                </a:moveTo>
                <a:lnTo>
                  <a:pt x="582930" y="430530"/>
                </a:lnTo>
                <a:lnTo>
                  <a:pt x="864870" y="453390"/>
                </a:lnTo>
                <a:lnTo>
                  <a:pt x="1165860" y="419100"/>
                </a:lnTo>
                <a:lnTo>
                  <a:pt x="1482090" y="106680"/>
                </a:lnTo>
                <a:lnTo>
                  <a:pt x="1733550" y="0"/>
                </a:lnTo>
              </a:path>
            </a:pathLst>
          </a:custGeom>
          <a:solidFill>
            <a:schemeClr val="accent3">
              <a:lumMod val="40000"/>
              <a:lumOff val="60000"/>
            </a:schemeClr>
          </a:solidFill>
          <a:ln>
            <a:solidFill>
              <a:schemeClr val="accent3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62" name="자유형 4">
            <a:extLst>
              <a:ext uri="{FF2B5EF4-FFF2-40B4-BE49-F238E27FC236}">
                <a16:creationId xmlns:a16="http://schemas.microsoft.com/office/drawing/2014/main" id="{1757BB11-8C88-4DEA-AD52-5538892811EB}"/>
              </a:ext>
            </a:extLst>
          </p:cNvPr>
          <p:cNvSpPr/>
          <p:nvPr/>
        </p:nvSpPr>
        <p:spPr>
          <a:xfrm rot="10615747">
            <a:off x="1998520" y="3235964"/>
            <a:ext cx="1682591" cy="71825"/>
          </a:xfrm>
          <a:custGeom>
            <a:avLst/>
            <a:gdLst>
              <a:gd name="connsiteX0" fmla="*/ 0 w 1761066"/>
              <a:gd name="connsiteY0" fmla="*/ 177800 h 228600"/>
              <a:gd name="connsiteX1" fmla="*/ 601133 w 1761066"/>
              <a:gd name="connsiteY1" fmla="*/ 228600 h 228600"/>
              <a:gd name="connsiteX2" fmla="*/ 905933 w 1761066"/>
              <a:gd name="connsiteY2" fmla="*/ 177800 h 228600"/>
              <a:gd name="connsiteX3" fmla="*/ 1159933 w 1761066"/>
              <a:gd name="connsiteY3" fmla="*/ 127000 h 228600"/>
              <a:gd name="connsiteX4" fmla="*/ 1498600 w 1761066"/>
              <a:gd name="connsiteY4" fmla="*/ 59267 h 228600"/>
              <a:gd name="connsiteX5" fmla="*/ 1761066 w 1761066"/>
              <a:gd name="connsiteY5" fmla="*/ 0 h 228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61066" h="228600">
                <a:moveTo>
                  <a:pt x="0" y="177800"/>
                </a:moveTo>
                <a:lnTo>
                  <a:pt x="601133" y="228600"/>
                </a:lnTo>
                <a:lnTo>
                  <a:pt x="905933" y="177800"/>
                </a:lnTo>
                <a:lnTo>
                  <a:pt x="1159933" y="127000"/>
                </a:lnTo>
                <a:lnTo>
                  <a:pt x="1498600" y="59267"/>
                </a:lnTo>
                <a:lnTo>
                  <a:pt x="1761066" y="0"/>
                </a:lnTo>
              </a:path>
            </a:pathLst>
          </a:custGeom>
          <a:solidFill>
            <a:schemeClr val="accent3">
              <a:lumMod val="40000"/>
              <a:lumOff val="60000"/>
            </a:schemeClr>
          </a:solidFill>
          <a:ln>
            <a:solidFill>
              <a:srgbClr val="92D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64" name="자유형 7">
            <a:extLst>
              <a:ext uri="{FF2B5EF4-FFF2-40B4-BE49-F238E27FC236}">
                <a16:creationId xmlns:a16="http://schemas.microsoft.com/office/drawing/2014/main" id="{59930D6E-325D-4483-A815-E78A4C03D69A}"/>
              </a:ext>
            </a:extLst>
          </p:cNvPr>
          <p:cNvSpPr/>
          <p:nvPr/>
        </p:nvSpPr>
        <p:spPr>
          <a:xfrm>
            <a:off x="3685862" y="3213481"/>
            <a:ext cx="1962236" cy="452225"/>
          </a:xfrm>
          <a:custGeom>
            <a:avLst/>
            <a:gdLst>
              <a:gd name="connsiteX0" fmla="*/ 0 w 2049780"/>
              <a:gd name="connsiteY0" fmla="*/ 0 h 567690"/>
              <a:gd name="connsiteX1" fmla="*/ 331470 w 2049780"/>
              <a:gd name="connsiteY1" fmla="*/ 60960 h 567690"/>
              <a:gd name="connsiteX2" fmla="*/ 640080 w 2049780"/>
              <a:gd name="connsiteY2" fmla="*/ 220980 h 567690"/>
              <a:gd name="connsiteX3" fmla="*/ 1242060 w 2049780"/>
              <a:gd name="connsiteY3" fmla="*/ 236220 h 567690"/>
              <a:gd name="connsiteX4" fmla="*/ 1684020 w 2049780"/>
              <a:gd name="connsiteY4" fmla="*/ 144780 h 567690"/>
              <a:gd name="connsiteX5" fmla="*/ 2049780 w 2049780"/>
              <a:gd name="connsiteY5" fmla="*/ 19050 h 567690"/>
              <a:gd name="connsiteX6" fmla="*/ 1779270 w 2049780"/>
              <a:gd name="connsiteY6" fmla="*/ 346710 h 567690"/>
              <a:gd name="connsiteX7" fmla="*/ 1249680 w 2049780"/>
              <a:gd name="connsiteY7" fmla="*/ 567690 h 567690"/>
              <a:gd name="connsiteX8" fmla="*/ 621030 w 2049780"/>
              <a:gd name="connsiteY8" fmla="*/ 563880 h 567690"/>
              <a:gd name="connsiteX9" fmla="*/ 308610 w 2049780"/>
              <a:gd name="connsiteY9" fmla="*/ 419100 h 567690"/>
              <a:gd name="connsiteX10" fmla="*/ 0 w 2049780"/>
              <a:gd name="connsiteY10" fmla="*/ 0 h 5676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049780" h="567690">
                <a:moveTo>
                  <a:pt x="0" y="0"/>
                </a:moveTo>
                <a:lnTo>
                  <a:pt x="331470" y="60960"/>
                </a:lnTo>
                <a:lnTo>
                  <a:pt x="640080" y="220980"/>
                </a:lnTo>
                <a:lnTo>
                  <a:pt x="1242060" y="236220"/>
                </a:lnTo>
                <a:lnTo>
                  <a:pt x="1684020" y="144780"/>
                </a:lnTo>
                <a:lnTo>
                  <a:pt x="2049780" y="19050"/>
                </a:lnTo>
                <a:lnTo>
                  <a:pt x="1779270" y="346710"/>
                </a:lnTo>
                <a:lnTo>
                  <a:pt x="1249680" y="567690"/>
                </a:lnTo>
                <a:lnTo>
                  <a:pt x="621030" y="563880"/>
                </a:lnTo>
                <a:lnTo>
                  <a:pt x="308610" y="419100"/>
                </a:lnTo>
                <a:lnTo>
                  <a:pt x="0" y="0"/>
                </a:ln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65" name="자유형 1">
            <a:extLst>
              <a:ext uri="{FF2B5EF4-FFF2-40B4-BE49-F238E27FC236}">
                <a16:creationId xmlns:a16="http://schemas.microsoft.com/office/drawing/2014/main" id="{B36E7C33-7AB4-48E5-BE60-9221C84A5A15}"/>
              </a:ext>
            </a:extLst>
          </p:cNvPr>
          <p:cNvSpPr/>
          <p:nvPr/>
        </p:nvSpPr>
        <p:spPr>
          <a:xfrm>
            <a:off x="1131147" y="3200329"/>
            <a:ext cx="4530729" cy="465377"/>
          </a:xfrm>
          <a:custGeom>
            <a:avLst/>
            <a:gdLst>
              <a:gd name="connsiteX0" fmla="*/ 0 w 4732866"/>
              <a:gd name="connsiteY0" fmla="*/ 330200 h 584200"/>
              <a:gd name="connsiteX1" fmla="*/ 262466 w 4732866"/>
              <a:gd name="connsiteY1" fmla="*/ 169333 h 584200"/>
              <a:gd name="connsiteX2" fmla="*/ 575733 w 4732866"/>
              <a:gd name="connsiteY2" fmla="*/ 279400 h 584200"/>
              <a:gd name="connsiteX3" fmla="*/ 905933 w 4732866"/>
              <a:gd name="connsiteY3" fmla="*/ 169333 h 584200"/>
              <a:gd name="connsiteX4" fmla="*/ 1193800 w 4732866"/>
              <a:gd name="connsiteY4" fmla="*/ 296333 h 584200"/>
              <a:gd name="connsiteX5" fmla="*/ 1507066 w 4732866"/>
              <a:gd name="connsiteY5" fmla="*/ 431800 h 584200"/>
              <a:gd name="connsiteX6" fmla="*/ 1794933 w 4732866"/>
              <a:gd name="connsiteY6" fmla="*/ 457200 h 584200"/>
              <a:gd name="connsiteX7" fmla="*/ 2091266 w 4732866"/>
              <a:gd name="connsiteY7" fmla="*/ 423333 h 584200"/>
              <a:gd name="connsiteX8" fmla="*/ 2413000 w 4732866"/>
              <a:gd name="connsiteY8" fmla="*/ 101600 h 584200"/>
              <a:gd name="connsiteX9" fmla="*/ 2667000 w 4732866"/>
              <a:gd name="connsiteY9" fmla="*/ 0 h 584200"/>
              <a:gd name="connsiteX10" fmla="*/ 2971800 w 4732866"/>
              <a:gd name="connsiteY10" fmla="*/ 431800 h 584200"/>
              <a:gd name="connsiteX11" fmla="*/ 3293533 w 4732866"/>
              <a:gd name="connsiteY11" fmla="*/ 567267 h 584200"/>
              <a:gd name="connsiteX12" fmla="*/ 3615266 w 4732866"/>
              <a:gd name="connsiteY12" fmla="*/ 558800 h 584200"/>
              <a:gd name="connsiteX13" fmla="*/ 3911600 w 4732866"/>
              <a:gd name="connsiteY13" fmla="*/ 584200 h 584200"/>
              <a:gd name="connsiteX14" fmla="*/ 4199466 w 4732866"/>
              <a:gd name="connsiteY14" fmla="*/ 440267 h 584200"/>
              <a:gd name="connsiteX15" fmla="*/ 4453466 w 4732866"/>
              <a:gd name="connsiteY15" fmla="*/ 364067 h 584200"/>
              <a:gd name="connsiteX16" fmla="*/ 4732866 w 4732866"/>
              <a:gd name="connsiteY16" fmla="*/ 16933 h 584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4732866" h="584200">
                <a:moveTo>
                  <a:pt x="0" y="330200"/>
                </a:moveTo>
                <a:lnTo>
                  <a:pt x="262466" y="169333"/>
                </a:lnTo>
                <a:lnTo>
                  <a:pt x="575733" y="279400"/>
                </a:lnTo>
                <a:lnTo>
                  <a:pt x="905933" y="169333"/>
                </a:lnTo>
                <a:lnTo>
                  <a:pt x="1193800" y="296333"/>
                </a:lnTo>
                <a:lnTo>
                  <a:pt x="1507066" y="431800"/>
                </a:lnTo>
                <a:lnTo>
                  <a:pt x="1794933" y="457200"/>
                </a:lnTo>
                <a:lnTo>
                  <a:pt x="2091266" y="423333"/>
                </a:lnTo>
                <a:lnTo>
                  <a:pt x="2413000" y="101600"/>
                </a:lnTo>
                <a:lnTo>
                  <a:pt x="2667000" y="0"/>
                </a:lnTo>
                <a:lnTo>
                  <a:pt x="2971800" y="431800"/>
                </a:lnTo>
                <a:lnTo>
                  <a:pt x="3293533" y="567267"/>
                </a:lnTo>
                <a:lnTo>
                  <a:pt x="3615266" y="558800"/>
                </a:lnTo>
                <a:lnTo>
                  <a:pt x="3911600" y="584200"/>
                </a:lnTo>
                <a:lnTo>
                  <a:pt x="4199466" y="440267"/>
                </a:lnTo>
                <a:lnTo>
                  <a:pt x="4453466" y="364067"/>
                </a:lnTo>
                <a:lnTo>
                  <a:pt x="4732866" y="16933"/>
                </a:lnTo>
              </a:path>
            </a:pathLst>
          </a:custGeom>
          <a:ln w="38100">
            <a:solidFill>
              <a:srgbClr val="FF66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cxnSp>
        <p:nvCxnSpPr>
          <p:cNvPr id="88" name="직선 연결선 87">
            <a:extLst>
              <a:ext uri="{FF2B5EF4-FFF2-40B4-BE49-F238E27FC236}">
                <a16:creationId xmlns:a16="http://schemas.microsoft.com/office/drawing/2014/main" id="{D09438D2-686F-40B9-83F1-E010DAC7BF55}"/>
              </a:ext>
            </a:extLst>
          </p:cNvPr>
          <p:cNvCxnSpPr>
            <a:cxnSpLocks/>
          </p:cNvCxnSpPr>
          <p:nvPr/>
        </p:nvCxnSpPr>
        <p:spPr>
          <a:xfrm>
            <a:off x="5666307" y="2275885"/>
            <a:ext cx="0" cy="1512168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91" name="그룹 90">
            <a:extLst>
              <a:ext uri="{FF2B5EF4-FFF2-40B4-BE49-F238E27FC236}">
                <a16:creationId xmlns:a16="http://schemas.microsoft.com/office/drawing/2014/main" id="{35904C03-817C-42D9-94EA-786F5645322F}"/>
              </a:ext>
            </a:extLst>
          </p:cNvPr>
          <p:cNvGrpSpPr/>
          <p:nvPr/>
        </p:nvGrpSpPr>
        <p:grpSpPr>
          <a:xfrm>
            <a:off x="210356" y="1203435"/>
            <a:ext cx="8024876" cy="260092"/>
            <a:chOff x="184526" y="1505937"/>
            <a:chExt cx="8024876" cy="260092"/>
          </a:xfrm>
        </p:grpSpPr>
        <p:sp>
          <p:nvSpPr>
            <p:cNvPr id="92" name="직사각형 91">
              <a:extLst>
                <a:ext uri="{FF2B5EF4-FFF2-40B4-BE49-F238E27FC236}">
                  <a16:creationId xmlns:a16="http://schemas.microsoft.com/office/drawing/2014/main" id="{56AB5430-9CCB-4A6E-BA4F-104F043EE3F3}"/>
                </a:ext>
              </a:extLst>
            </p:cNvPr>
            <p:cNvSpPr/>
            <p:nvPr/>
          </p:nvSpPr>
          <p:spPr>
            <a:xfrm>
              <a:off x="5810955" y="1550585"/>
              <a:ext cx="1820532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수익 현황</a:t>
              </a:r>
            </a:p>
          </p:txBody>
        </p:sp>
        <p:sp>
          <p:nvSpPr>
            <p:cNvPr id="93" name="직사각형 92">
              <a:extLst>
                <a:ext uri="{FF2B5EF4-FFF2-40B4-BE49-F238E27FC236}">
                  <a16:creationId xmlns:a16="http://schemas.microsoft.com/office/drawing/2014/main" id="{1F988DDC-0123-46C2-9638-D66ABC0996EC}"/>
                </a:ext>
              </a:extLst>
            </p:cNvPr>
            <p:cNvSpPr/>
            <p:nvPr/>
          </p:nvSpPr>
          <p:spPr>
            <a:xfrm>
              <a:off x="184526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에너지 모니터링</a:t>
              </a:r>
            </a:p>
          </p:txBody>
        </p:sp>
        <p:sp>
          <p:nvSpPr>
            <p:cNvPr id="94" name="직사각형 93">
              <a:extLst>
                <a:ext uri="{FF2B5EF4-FFF2-40B4-BE49-F238E27FC236}">
                  <a16:creationId xmlns:a16="http://schemas.microsoft.com/office/drawing/2014/main" id="{C50AEF8D-CD88-4D17-ABFB-36C1B8497119}"/>
                </a:ext>
              </a:extLst>
            </p:cNvPr>
            <p:cNvSpPr/>
            <p:nvPr/>
          </p:nvSpPr>
          <p:spPr>
            <a:xfrm>
              <a:off x="2191085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장치 모니터링</a:t>
              </a:r>
            </a:p>
          </p:txBody>
        </p:sp>
        <p:sp>
          <p:nvSpPr>
            <p:cNvPr id="95" name="직사각형 94">
              <a:extLst>
                <a:ext uri="{FF2B5EF4-FFF2-40B4-BE49-F238E27FC236}">
                  <a16:creationId xmlns:a16="http://schemas.microsoft.com/office/drawing/2014/main" id="{4DBADC3F-2232-447B-9F19-DA6784650BFF}"/>
                </a:ext>
              </a:extLst>
            </p:cNvPr>
            <p:cNvSpPr/>
            <p:nvPr/>
          </p:nvSpPr>
          <p:spPr>
            <a:xfrm>
              <a:off x="4197644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상황</a:t>
              </a:r>
              <a:r>
                <a:rPr lang="en-US" altLang="ko-KR" sz="700" dirty="0"/>
                <a:t> </a:t>
              </a:r>
              <a:r>
                <a:rPr lang="ko-KR" altLang="en-US" sz="700" dirty="0"/>
                <a:t>관제</a:t>
              </a:r>
            </a:p>
          </p:txBody>
        </p:sp>
        <p:sp>
          <p:nvSpPr>
            <p:cNvPr id="96" name="직사각형 95">
              <a:extLst>
                <a:ext uri="{FF2B5EF4-FFF2-40B4-BE49-F238E27FC236}">
                  <a16:creationId xmlns:a16="http://schemas.microsoft.com/office/drawing/2014/main" id="{43E5E890-9952-4730-97C2-88F7D606379F}"/>
                </a:ext>
              </a:extLst>
            </p:cNvPr>
            <p:cNvSpPr/>
            <p:nvPr/>
          </p:nvSpPr>
          <p:spPr>
            <a:xfrm>
              <a:off x="6204202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요금</a:t>
              </a:r>
              <a:r>
                <a:rPr lang="en-US" altLang="ko-KR" sz="700" dirty="0"/>
                <a:t>/</a:t>
              </a:r>
              <a:r>
                <a:rPr lang="ko-KR" altLang="en-US" sz="700" dirty="0"/>
                <a:t>수익</a:t>
              </a:r>
            </a:p>
          </p:txBody>
        </p:sp>
      </p:grpSp>
      <p:sp>
        <p:nvSpPr>
          <p:cNvPr id="247" name="타원형 설명선 246"/>
          <p:cNvSpPr/>
          <p:nvPr/>
        </p:nvSpPr>
        <p:spPr>
          <a:xfrm>
            <a:off x="2505350" y="3194527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7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8" name="타원형 설명선 247"/>
          <p:cNvSpPr/>
          <p:nvPr/>
        </p:nvSpPr>
        <p:spPr>
          <a:xfrm>
            <a:off x="4153130" y="3327375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8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66" name="타원형 설명선 265"/>
          <p:cNvSpPr/>
          <p:nvPr/>
        </p:nvSpPr>
        <p:spPr>
          <a:xfrm>
            <a:off x="-5644" y="2153822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6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E73EFD49-63CE-4ADC-8DDA-257A87F647AF}"/>
              </a:ext>
            </a:extLst>
          </p:cNvPr>
          <p:cNvSpPr/>
          <p:nvPr/>
        </p:nvSpPr>
        <p:spPr>
          <a:xfrm>
            <a:off x="7680269" y="1568304"/>
            <a:ext cx="473661" cy="289182"/>
          </a:xfrm>
          <a:prstGeom prst="rect">
            <a:avLst/>
          </a:prstGeom>
          <a:solidFill>
            <a:srgbClr val="0099FF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>
              <a:lnSpc>
                <a:spcPct val="150000"/>
              </a:lnSpc>
            </a:pPr>
            <a:r>
              <a:rPr lang="ko-KR" altLang="en-US" sz="105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조회</a:t>
            </a: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D5E720A7-A8D9-4120-AE3C-766177DB69A1}"/>
              </a:ext>
            </a:extLst>
          </p:cNvPr>
          <p:cNvSpPr/>
          <p:nvPr/>
        </p:nvSpPr>
        <p:spPr>
          <a:xfrm>
            <a:off x="2141426" y="4077072"/>
            <a:ext cx="585630" cy="18000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150000"/>
              </a:lnSpc>
            </a:pPr>
            <a:r>
              <a:rPr lang="en-US" altLang="ko-KR" sz="1000" b="1" dirty="0">
                <a:solidFill>
                  <a:srgbClr val="92D050"/>
                </a:solidFill>
                <a:latin typeface="맑은 고딕" pitchFamily="50" charset="-127"/>
                <a:ea typeface="맑은 고딕" pitchFamily="50" charset="-127"/>
              </a:rPr>
              <a:t>ESS</a:t>
            </a:r>
            <a:endParaRPr lang="ko-KR" altLang="en-US" sz="1000" b="1" dirty="0">
              <a:solidFill>
                <a:srgbClr val="92D050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CEFBA2DD-D07A-48CF-9F59-259D395AD6F9}"/>
              </a:ext>
            </a:extLst>
          </p:cNvPr>
          <p:cNvSpPr/>
          <p:nvPr/>
        </p:nvSpPr>
        <p:spPr>
          <a:xfrm>
            <a:off x="2528015" y="4077072"/>
            <a:ext cx="405499" cy="18000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150000"/>
              </a:lnSpc>
            </a:pPr>
            <a:r>
              <a:rPr lang="en-US" altLang="ko-KR" sz="10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10%</a:t>
            </a:r>
            <a:endParaRPr lang="ko-KR" altLang="en-US" sz="1000" b="1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E2C6EDD9-6A5C-4615-A4C7-8B3D90AE3B5A}"/>
              </a:ext>
            </a:extLst>
          </p:cNvPr>
          <p:cNvSpPr/>
          <p:nvPr/>
        </p:nvSpPr>
        <p:spPr>
          <a:xfrm>
            <a:off x="2861506" y="4077072"/>
            <a:ext cx="585630" cy="18000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150000"/>
              </a:lnSpc>
            </a:pPr>
            <a:r>
              <a:rPr lang="en-US" altLang="ko-KR" sz="1000" b="1" dirty="0">
                <a:solidFill>
                  <a:srgbClr val="FF0000"/>
                </a:solidFill>
                <a:latin typeface="맑은 고딕" pitchFamily="50" charset="-127"/>
                <a:ea typeface="맑은 고딕" pitchFamily="50" charset="-127"/>
              </a:rPr>
              <a:t>PV</a:t>
            </a:r>
            <a:endParaRPr lang="ko-KR" altLang="en-US" sz="1000" b="1" dirty="0">
              <a:solidFill>
                <a:srgbClr val="FF0000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924D93C-A60E-4E37-87A7-E882890854F2}"/>
              </a:ext>
            </a:extLst>
          </p:cNvPr>
          <p:cNvSpPr/>
          <p:nvPr/>
        </p:nvSpPr>
        <p:spPr>
          <a:xfrm>
            <a:off x="3203213" y="4077072"/>
            <a:ext cx="415453" cy="18000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150000"/>
              </a:lnSpc>
            </a:pPr>
            <a:r>
              <a:rPr lang="en-US" altLang="ko-KR" sz="10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9%</a:t>
            </a:r>
            <a:endParaRPr lang="ko-KR" altLang="en-US" sz="1000" b="1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07" name="직사각형 106">
            <a:extLst>
              <a:ext uri="{FF2B5EF4-FFF2-40B4-BE49-F238E27FC236}">
                <a16:creationId xmlns:a16="http://schemas.microsoft.com/office/drawing/2014/main" id="{F98F372B-DC96-4B60-9E7A-2048B49DAA45}"/>
              </a:ext>
            </a:extLst>
          </p:cNvPr>
          <p:cNvSpPr/>
          <p:nvPr/>
        </p:nvSpPr>
        <p:spPr>
          <a:xfrm>
            <a:off x="1352600" y="4077072"/>
            <a:ext cx="585630" cy="18000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150000"/>
              </a:lnSpc>
            </a:pPr>
            <a:r>
              <a:rPr lang="ko-KR" altLang="en-US" sz="1000" b="1" dirty="0">
                <a:solidFill>
                  <a:srgbClr val="FF6600"/>
                </a:solidFill>
                <a:latin typeface="맑은 고딕" pitchFamily="50" charset="-127"/>
                <a:ea typeface="맑은 고딕" pitchFamily="50" charset="-127"/>
              </a:rPr>
              <a:t>한전</a:t>
            </a:r>
          </a:p>
        </p:txBody>
      </p: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01484B81-64EE-476F-A1BD-929D66106FA6}"/>
              </a:ext>
            </a:extLst>
          </p:cNvPr>
          <p:cNvSpPr/>
          <p:nvPr/>
        </p:nvSpPr>
        <p:spPr>
          <a:xfrm>
            <a:off x="1781386" y="4077072"/>
            <a:ext cx="415655" cy="18000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150000"/>
              </a:lnSpc>
            </a:pPr>
            <a:r>
              <a:rPr lang="en-US" altLang="ko-KR" sz="10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81%</a:t>
            </a:r>
            <a:endParaRPr lang="ko-KR" altLang="en-US" sz="1000" b="1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grpSp>
        <p:nvGrpSpPr>
          <p:cNvPr id="109" name="그룹 108">
            <a:extLst>
              <a:ext uri="{FF2B5EF4-FFF2-40B4-BE49-F238E27FC236}">
                <a16:creationId xmlns:a16="http://schemas.microsoft.com/office/drawing/2014/main" id="{10E88409-6C6A-4E41-BBD2-33F5B42E35EA}"/>
              </a:ext>
            </a:extLst>
          </p:cNvPr>
          <p:cNvGrpSpPr/>
          <p:nvPr/>
        </p:nvGrpSpPr>
        <p:grpSpPr>
          <a:xfrm>
            <a:off x="290122" y="4081141"/>
            <a:ext cx="825136" cy="211955"/>
            <a:chOff x="4861742" y="3907374"/>
            <a:chExt cx="862386" cy="211955"/>
          </a:xfrm>
        </p:grpSpPr>
        <p:pic>
          <p:nvPicPr>
            <p:cNvPr id="110" name="Picture 6" descr="ìì ë¤ì´ë¡ëì ëí ì´ë¯¸ì§ ê²ìê²°ê³¼">
              <a:extLst>
                <a:ext uri="{FF2B5EF4-FFF2-40B4-BE49-F238E27FC236}">
                  <a16:creationId xmlns:a16="http://schemas.microsoft.com/office/drawing/2014/main" id="{4AE17BD3-F63F-43B8-9DD8-659B8F5BE09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861742" y="3907374"/>
              <a:ext cx="211955" cy="21195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11" name="TextBox 110">
              <a:extLst>
                <a:ext uri="{FF2B5EF4-FFF2-40B4-BE49-F238E27FC236}">
                  <a16:creationId xmlns:a16="http://schemas.microsoft.com/office/drawing/2014/main" id="{FA1752EE-73E1-4928-A1FF-AF190484DB74}"/>
                </a:ext>
              </a:extLst>
            </p:cNvPr>
            <p:cNvSpPr txBox="1"/>
            <p:nvPr/>
          </p:nvSpPr>
          <p:spPr>
            <a:xfrm>
              <a:off x="4949189" y="3921018"/>
              <a:ext cx="7749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600" b="1" dirty="0">
                  <a:solidFill>
                    <a:schemeClr val="bg1"/>
                  </a:solidFill>
                </a:rPr>
                <a:t>데이터 저장하기</a:t>
              </a:r>
            </a:p>
          </p:txBody>
        </p:sp>
      </p:grpSp>
      <p:graphicFrame>
        <p:nvGraphicFramePr>
          <p:cNvPr id="112" name="표 111">
            <a:extLst>
              <a:ext uri="{FF2B5EF4-FFF2-40B4-BE49-F238E27FC236}">
                <a16:creationId xmlns:a16="http://schemas.microsoft.com/office/drawing/2014/main" id="{6027F6F7-EAE8-4BA0-BB24-C11F41D9B6B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23119743"/>
              </p:ext>
            </p:extLst>
          </p:nvPr>
        </p:nvGraphicFramePr>
        <p:xfrm>
          <a:off x="272476" y="4372840"/>
          <a:ext cx="7920892" cy="89043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656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737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87373">
                  <a:extLst>
                    <a:ext uri="{9D8B030D-6E8A-4147-A177-3AD203B41FA5}">
                      <a16:colId xmlns:a16="http://schemas.microsoft.com/office/drawing/2014/main" val="91379356"/>
                    </a:ext>
                  </a:extLst>
                </a:gridCol>
                <a:gridCol w="28737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87373">
                  <a:extLst>
                    <a:ext uri="{9D8B030D-6E8A-4147-A177-3AD203B41FA5}">
                      <a16:colId xmlns:a16="http://schemas.microsoft.com/office/drawing/2014/main" val="3679891012"/>
                    </a:ext>
                  </a:extLst>
                </a:gridCol>
                <a:gridCol w="28737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87373">
                  <a:extLst>
                    <a:ext uri="{9D8B030D-6E8A-4147-A177-3AD203B41FA5}">
                      <a16:colId xmlns:a16="http://schemas.microsoft.com/office/drawing/2014/main" val="2229935987"/>
                    </a:ext>
                  </a:extLst>
                </a:gridCol>
                <a:gridCol w="28737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87373">
                  <a:extLst>
                    <a:ext uri="{9D8B030D-6E8A-4147-A177-3AD203B41FA5}">
                      <a16:colId xmlns:a16="http://schemas.microsoft.com/office/drawing/2014/main" val="4026812072"/>
                    </a:ext>
                  </a:extLst>
                </a:gridCol>
                <a:gridCol w="28737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87373">
                  <a:extLst>
                    <a:ext uri="{9D8B030D-6E8A-4147-A177-3AD203B41FA5}">
                      <a16:colId xmlns:a16="http://schemas.microsoft.com/office/drawing/2014/main" val="1122824508"/>
                    </a:ext>
                  </a:extLst>
                </a:gridCol>
                <a:gridCol w="28737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287373">
                  <a:extLst>
                    <a:ext uri="{9D8B030D-6E8A-4147-A177-3AD203B41FA5}">
                      <a16:colId xmlns:a16="http://schemas.microsoft.com/office/drawing/2014/main" val="1502902784"/>
                    </a:ext>
                  </a:extLst>
                </a:gridCol>
                <a:gridCol w="287373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87373">
                  <a:extLst>
                    <a:ext uri="{9D8B030D-6E8A-4147-A177-3AD203B41FA5}">
                      <a16:colId xmlns:a16="http://schemas.microsoft.com/office/drawing/2014/main" val="354728812"/>
                    </a:ext>
                  </a:extLst>
                </a:gridCol>
                <a:gridCol w="287373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287373">
                  <a:extLst>
                    <a:ext uri="{9D8B030D-6E8A-4147-A177-3AD203B41FA5}">
                      <a16:colId xmlns:a16="http://schemas.microsoft.com/office/drawing/2014/main" val="914552893"/>
                    </a:ext>
                  </a:extLst>
                </a:gridCol>
                <a:gridCol w="28737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287373">
                  <a:extLst>
                    <a:ext uri="{9D8B030D-6E8A-4147-A177-3AD203B41FA5}">
                      <a16:colId xmlns:a16="http://schemas.microsoft.com/office/drawing/2014/main" val="2643701830"/>
                    </a:ext>
                  </a:extLst>
                </a:gridCol>
                <a:gridCol w="28737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287373">
                  <a:extLst>
                    <a:ext uri="{9D8B030D-6E8A-4147-A177-3AD203B41FA5}">
                      <a16:colId xmlns:a16="http://schemas.microsoft.com/office/drawing/2014/main" val="4156003338"/>
                    </a:ext>
                  </a:extLst>
                </a:gridCol>
                <a:gridCol w="28737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287373">
                  <a:extLst>
                    <a:ext uri="{9D8B030D-6E8A-4147-A177-3AD203B41FA5}">
                      <a16:colId xmlns:a16="http://schemas.microsoft.com/office/drawing/2014/main" val="186923855"/>
                    </a:ext>
                  </a:extLst>
                </a:gridCol>
                <a:gridCol w="28737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287373">
                  <a:extLst>
                    <a:ext uri="{9D8B030D-6E8A-4147-A177-3AD203B41FA5}">
                      <a16:colId xmlns:a16="http://schemas.microsoft.com/office/drawing/2014/main" val="328632746"/>
                    </a:ext>
                  </a:extLst>
                </a:gridCol>
                <a:gridCol w="287373">
                  <a:extLst>
                    <a:ext uri="{9D8B030D-6E8A-4147-A177-3AD203B41FA5}">
                      <a16:colId xmlns:a16="http://schemas.microsoft.com/office/drawing/2014/main" val="929126639"/>
                    </a:ext>
                  </a:extLst>
                </a:gridCol>
              </a:tblGrid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YYYY-MM</a:t>
                      </a:r>
                      <a:endParaRPr lang="en-US" altLang="ko-KR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01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02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03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04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05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06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07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08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09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11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12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13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14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15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16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17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18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19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21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22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23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24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합계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40037541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F79646">
                              <a:lumMod val="75000"/>
                            </a:srgb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한전 사용량</a:t>
                      </a:r>
                      <a:endParaRPr kumimoji="0" lang="en-US" altLang="ko-KR" sz="7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F79646">
                            <a:lumMod val="75000"/>
                          </a:srgb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kern="1200" dirty="0">
                          <a:solidFill>
                            <a:srgbClr val="92D05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ESS</a:t>
                      </a:r>
                      <a:r>
                        <a:rPr lang="ko-KR" altLang="en-US" sz="700" b="1" kern="1200" dirty="0">
                          <a:solidFill>
                            <a:srgbClr val="92D05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사용량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90133474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kern="120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PV</a:t>
                      </a:r>
                      <a:r>
                        <a:rPr lang="ko-KR" altLang="en-US" sz="700" b="1" kern="120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사용량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예측 사용량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400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300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650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480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500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700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620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800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700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700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1050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650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600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500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550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480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600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350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480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27434425"/>
                  </a:ext>
                </a:extLst>
              </a:tr>
            </a:tbl>
          </a:graphicData>
        </a:graphic>
      </p:graphicFrame>
      <p:sp>
        <p:nvSpPr>
          <p:cNvPr id="113" name="TextBox 112">
            <a:extLst>
              <a:ext uri="{FF2B5EF4-FFF2-40B4-BE49-F238E27FC236}">
                <a16:creationId xmlns:a16="http://schemas.microsoft.com/office/drawing/2014/main" id="{BDF760FE-2577-4857-B494-B791522E5E80}"/>
              </a:ext>
            </a:extLst>
          </p:cNvPr>
          <p:cNvSpPr txBox="1"/>
          <p:nvPr/>
        </p:nvSpPr>
        <p:spPr>
          <a:xfrm>
            <a:off x="7221248" y="4081564"/>
            <a:ext cx="972108" cy="215444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square" rtlCol="0" anchor="ctr">
            <a:spAutoFit/>
          </a:bodyPr>
          <a:lstStyle/>
          <a:p>
            <a:pPr algn="ctr"/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표 접기</a:t>
            </a:r>
          </a:p>
        </p:txBody>
      </p:sp>
      <p:sp>
        <p:nvSpPr>
          <p:cNvPr id="206" name="타원형 설명선 205"/>
          <p:cNvSpPr/>
          <p:nvPr/>
        </p:nvSpPr>
        <p:spPr>
          <a:xfrm>
            <a:off x="116575" y="3933056"/>
            <a:ext cx="216000" cy="216000"/>
          </a:xfrm>
          <a:prstGeom prst="wedgeEllipseCallout">
            <a:avLst>
              <a:gd name="adj1" fmla="val 74230"/>
              <a:gd name="adj2" fmla="val 21822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/>
              <a:t>11</a:t>
            </a:r>
            <a:endParaRPr lang="ko-KR" altLang="en-US" sz="900" b="1" dirty="0"/>
          </a:p>
        </p:txBody>
      </p:sp>
      <p:sp>
        <p:nvSpPr>
          <p:cNvPr id="105" name="타원형 설명선 225">
            <a:extLst>
              <a:ext uri="{FF2B5EF4-FFF2-40B4-BE49-F238E27FC236}">
                <a16:creationId xmlns:a16="http://schemas.microsoft.com/office/drawing/2014/main" id="{CF597FC0-18BC-4464-81B7-3787C73C21D3}"/>
              </a:ext>
            </a:extLst>
          </p:cNvPr>
          <p:cNvSpPr/>
          <p:nvPr/>
        </p:nvSpPr>
        <p:spPr>
          <a:xfrm>
            <a:off x="6930926" y="3933080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10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6" name="타원형 설명선 225">
            <a:extLst>
              <a:ext uri="{FF2B5EF4-FFF2-40B4-BE49-F238E27FC236}">
                <a16:creationId xmlns:a16="http://schemas.microsoft.com/office/drawing/2014/main" id="{E9DC1823-2444-4D88-BA9B-A43DF0887DD6}"/>
              </a:ext>
            </a:extLst>
          </p:cNvPr>
          <p:cNvSpPr/>
          <p:nvPr/>
        </p:nvSpPr>
        <p:spPr>
          <a:xfrm>
            <a:off x="-9501" y="4293120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9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14" name="타원형 설명선 225">
            <a:extLst>
              <a:ext uri="{FF2B5EF4-FFF2-40B4-BE49-F238E27FC236}">
                <a16:creationId xmlns:a16="http://schemas.microsoft.com/office/drawing/2014/main" id="{EEF1539F-EF03-4191-BBB6-63270A904D22}"/>
              </a:ext>
            </a:extLst>
          </p:cNvPr>
          <p:cNvSpPr/>
          <p:nvPr/>
        </p:nvSpPr>
        <p:spPr>
          <a:xfrm>
            <a:off x="1136576" y="3854632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12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15" name="직사각형 114">
            <a:extLst>
              <a:ext uri="{FF2B5EF4-FFF2-40B4-BE49-F238E27FC236}">
                <a16:creationId xmlns:a16="http://schemas.microsoft.com/office/drawing/2014/main" id="{D08F7459-EBB7-4641-B68E-7DEA4175A9EE}"/>
              </a:ext>
            </a:extLst>
          </p:cNvPr>
          <p:cNvSpPr/>
          <p:nvPr/>
        </p:nvSpPr>
        <p:spPr>
          <a:xfrm>
            <a:off x="1434191" y="4077072"/>
            <a:ext cx="2144218" cy="222463"/>
          </a:xfrm>
          <a:prstGeom prst="rect">
            <a:avLst/>
          </a:prstGeom>
          <a:noFill/>
          <a:ln w="127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aphicFrame>
        <p:nvGraphicFramePr>
          <p:cNvPr id="63" name="표 62">
            <a:extLst>
              <a:ext uri="{FF2B5EF4-FFF2-40B4-BE49-F238E27FC236}">
                <a16:creationId xmlns:a16="http://schemas.microsoft.com/office/drawing/2014/main" id="{7CABCFFA-2A2B-4314-914D-9B6905FAA39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25241414"/>
              </p:ext>
            </p:extLst>
          </p:nvPr>
        </p:nvGraphicFramePr>
        <p:xfrm>
          <a:off x="991000" y="5579504"/>
          <a:ext cx="3028700" cy="193099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60344">
                  <a:extLst>
                    <a:ext uri="{9D8B030D-6E8A-4147-A177-3AD203B41FA5}">
                      <a16:colId xmlns:a16="http://schemas.microsoft.com/office/drawing/2014/main" val="621667645"/>
                    </a:ext>
                  </a:extLst>
                </a:gridCol>
                <a:gridCol w="747271">
                  <a:extLst>
                    <a:ext uri="{9D8B030D-6E8A-4147-A177-3AD203B41FA5}">
                      <a16:colId xmlns:a16="http://schemas.microsoft.com/office/drawing/2014/main" val="8834736"/>
                    </a:ext>
                  </a:extLst>
                </a:gridCol>
                <a:gridCol w="260155">
                  <a:extLst>
                    <a:ext uri="{9D8B030D-6E8A-4147-A177-3AD203B41FA5}">
                      <a16:colId xmlns:a16="http://schemas.microsoft.com/office/drawing/2014/main" val="2248332737"/>
                    </a:ext>
                  </a:extLst>
                </a:gridCol>
                <a:gridCol w="260155">
                  <a:extLst>
                    <a:ext uri="{9D8B030D-6E8A-4147-A177-3AD203B41FA5}">
                      <a16:colId xmlns:a16="http://schemas.microsoft.com/office/drawing/2014/main" val="701571902"/>
                    </a:ext>
                  </a:extLst>
                </a:gridCol>
                <a:gridCol w="260155">
                  <a:extLst>
                    <a:ext uri="{9D8B030D-6E8A-4147-A177-3AD203B41FA5}">
                      <a16:colId xmlns:a16="http://schemas.microsoft.com/office/drawing/2014/main" val="899356341"/>
                    </a:ext>
                  </a:extLst>
                </a:gridCol>
                <a:gridCol w="260155">
                  <a:extLst>
                    <a:ext uri="{9D8B030D-6E8A-4147-A177-3AD203B41FA5}">
                      <a16:colId xmlns:a16="http://schemas.microsoft.com/office/drawing/2014/main" val="2787753370"/>
                    </a:ext>
                  </a:extLst>
                </a:gridCol>
                <a:gridCol w="260155">
                  <a:extLst>
                    <a:ext uri="{9D8B030D-6E8A-4147-A177-3AD203B41FA5}">
                      <a16:colId xmlns:a16="http://schemas.microsoft.com/office/drawing/2014/main" val="75509663"/>
                    </a:ext>
                  </a:extLst>
                </a:gridCol>
                <a:gridCol w="260155">
                  <a:extLst>
                    <a:ext uri="{9D8B030D-6E8A-4147-A177-3AD203B41FA5}">
                      <a16:colId xmlns:a16="http://schemas.microsoft.com/office/drawing/2014/main" val="2371680936"/>
                    </a:ext>
                  </a:extLst>
                </a:gridCol>
                <a:gridCol w="260155">
                  <a:extLst>
                    <a:ext uri="{9D8B030D-6E8A-4147-A177-3AD203B41FA5}">
                      <a16:colId xmlns:a16="http://schemas.microsoft.com/office/drawing/2014/main" val="1293287838"/>
                    </a:ext>
                  </a:extLst>
                </a:gridCol>
              </a:tblGrid>
              <a:tr h="144032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조회기간</a:t>
                      </a:r>
                      <a:endParaRPr lang="en-US" altLang="ko-KR" sz="7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bg1">
                            <a:lumMod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7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lang="ko-KR" altLang="en-US" sz="7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7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  <a:r>
                        <a:rPr lang="ko-KR" altLang="en-US" sz="7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7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7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7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7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7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7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7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7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7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7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75581190"/>
                  </a:ext>
                </a:extLst>
              </a:tr>
              <a:tr h="144032"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lang="ko-KR" altLang="en-US" sz="700" b="0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 간격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실제  데이터 개수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96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672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2880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5840</a:t>
                      </a:r>
                      <a:endParaRPr lang="ko-KR" altLang="en-US" sz="700" b="0" strike="no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29881618"/>
                  </a:ext>
                </a:extLst>
              </a:tr>
              <a:tr h="144032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하단 캡션 표시 개수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30(</a:t>
                      </a:r>
                      <a:r>
                        <a:rPr lang="ko-KR" altLang="en-US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60(</a:t>
                      </a:r>
                      <a:r>
                        <a:rPr lang="ko-KR" altLang="en-US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96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  <a:endParaRPr lang="ko-KR" altLang="en-US" sz="700" b="0" strike="no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2293162"/>
                  </a:ext>
                </a:extLst>
              </a:tr>
              <a:tr h="144032"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  <a:r>
                        <a:rPr lang="ko-KR" altLang="en-US" sz="700" b="0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 간격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실제  데이터 개수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48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336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1440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2920</a:t>
                      </a:r>
                      <a:endParaRPr lang="ko-KR" altLang="en-US" sz="700" b="0" strike="no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03323599"/>
                  </a:ext>
                </a:extLst>
              </a:tr>
              <a:tr h="144032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하단 캡션 표시 개수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60(</a:t>
                      </a:r>
                      <a:r>
                        <a:rPr lang="ko-KR" altLang="en-US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48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  <a:endParaRPr lang="ko-KR" altLang="en-US" sz="700" b="0" strike="no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75022207"/>
                  </a:ext>
                </a:extLst>
              </a:tr>
              <a:tr h="144032"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700" b="0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 간격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실제  데이터 개수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24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168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720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1460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82961310"/>
                  </a:ext>
                </a:extLst>
              </a:tr>
              <a:tr h="144032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하단 캡션 표시 개수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24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3524359"/>
                  </a:ext>
                </a:extLst>
              </a:tr>
              <a:tr h="144032"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700" b="0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 간격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실제  데이터 개수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365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10281172"/>
                  </a:ext>
                </a:extLst>
              </a:tr>
              <a:tr h="144032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하단 캡션 표시 개수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75500751"/>
                  </a:ext>
                </a:extLst>
              </a:tr>
              <a:tr h="144032"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700" b="0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월 간격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실제  데이터 개수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24993451"/>
                  </a:ext>
                </a:extLst>
              </a:tr>
              <a:tr h="144032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하단 캡션 표시 개수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10841290"/>
                  </a:ext>
                </a:extLst>
              </a:tr>
            </a:tbl>
          </a:graphicData>
        </a:graphic>
      </p:graphicFrame>
      <p:sp>
        <p:nvSpPr>
          <p:cNvPr id="66" name="타원형 설명선 225">
            <a:extLst>
              <a:ext uri="{FF2B5EF4-FFF2-40B4-BE49-F238E27FC236}">
                <a16:creationId xmlns:a16="http://schemas.microsoft.com/office/drawing/2014/main" id="{A7BA2DA5-B13A-4385-A705-E06FBB5C94BC}"/>
              </a:ext>
            </a:extLst>
          </p:cNvPr>
          <p:cNvSpPr/>
          <p:nvPr/>
        </p:nvSpPr>
        <p:spPr>
          <a:xfrm>
            <a:off x="883000" y="5435668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표</a:t>
            </a:r>
            <a:r>
              <a:rPr lang="en-US" altLang="ko-KR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7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67" name="표 66">
            <a:extLst>
              <a:ext uri="{FF2B5EF4-FFF2-40B4-BE49-F238E27FC236}">
                <a16:creationId xmlns:a16="http://schemas.microsoft.com/office/drawing/2014/main" id="{0E204B23-EAE6-4035-97ED-7B1CCC32F37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22689714"/>
              </p:ext>
            </p:extLst>
          </p:nvPr>
        </p:nvGraphicFramePr>
        <p:xfrm>
          <a:off x="4659078" y="5666092"/>
          <a:ext cx="3342026" cy="106851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83830">
                  <a:extLst>
                    <a:ext uri="{9D8B030D-6E8A-4147-A177-3AD203B41FA5}">
                      <a16:colId xmlns:a16="http://schemas.microsoft.com/office/drawing/2014/main" val="621667645"/>
                    </a:ext>
                  </a:extLst>
                </a:gridCol>
                <a:gridCol w="394028">
                  <a:extLst>
                    <a:ext uri="{9D8B030D-6E8A-4147-A177-3AD203B41FA5}">
                      <a16:colId xmlns:a16="http://schemas.microsoft.com/office/drawing/2014/main" val="2248332737"/>
                    </a:ext>
                  </a:extLst>
                </a:gridCol>
                <a:gridCol w="394028">
                  <a:extLst>
                    <a:ext uri="{9D8B030D-6E8A-4147-A177-3AD203B41FA5}">
                      <a16:colId xmlns:a16="http://schemas.microsoft.com/office/drawing/2014/main" val="2333210567"/>
                    </a:ext>
                  </a:extLst>
                </a:gridCol>
                <a:gridCol w="394028">
                  <a:extLst>
                    <a:ext uri="{9D8B030D-6E8A-4147-A177-3AD203B41FA5}">
                      <a16:colId xmlns:a16="http://schemas.microsoft.com/office/drawing/2014/main" val="899356341"/>
                    </a:ext>
                  </a:extLst>
                </a:gridCol>
                <a:gridCol w="394028">
                  <a:extLst>
                    <a:ext uri="{9D8B030D-6E8A-4147-A177-3AD203B41FA5}">
                      <a16:colId xmlns:a16="http://schemas.microsoft.com/office/drawing/2014/main" val="2787753370"/>
                    </a:ext>
                  </a:extLst>
                </a:gridCol>
                <a:gridCol w="394028">
                  <a:extLst>
                    <a:ext uri="{9D8B030D-6E8A-4147-A177-3AD203B41FA5}">
                      <a16:colId xmlns:a16="http://schemas.microsoft.com/office/drawing/2014/main" val="75509663"/>
                    </a:ext>
                  </a:extLst>
                </a:gridCol>
                <a:gridCol w="394028">
                  <a:extLst>
                    <a:ext uri="{9D8B030D-6E8A-4147-A177-3AD203B41FA5}">
                      <a16:colId xmlns:a16="http://schemas.microsoft.com/office/drawing/2014/main" val="2371680936"/>
                    </a:ext>
                  </a:extLst>
                </a:gridCol>
                <a:gridCol w="394028">
                  <a:extLst>
                    <a:ext uri="{9D8B030D-6E8A-4147-A177-3AD203B41FA5}">
                      <a16:colId xmlns:a16="http://schemas.microsoft.com/office/drawing/2014/main" val="1293287838"/>
                    </a:ext>
                  </a:extLst>
                </a:gridCol>
              </a:tblGrid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조회기간</a:t>
                      </a:r>
                      <a:endParaRPr lang="en-US" altLang="ko-KR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lang="ko-KR" altLang="en-US" sz="8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  <a:r>
                        <a:rPr lang="ko-KR" altLang="en-US" sz="8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75581190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 간격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96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96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96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96</a:t>
                      </a:r>
                      <a:endParaRPr lang="ko-KR" altLang="en-US" sz="800" b="0" strike="no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29881618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 간격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48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48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48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48</a:t>
                      </a:r>
                      <a:endParaRPr lang="ko-KR" altLang="en-US" sz="800" b="0" strike="no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03323599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 간격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24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24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24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24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82961310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 간격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10281172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월 간격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24993451"/>
                  </a:ext>
                </a:extLst>
              </a:tr>
            </a:tbl>
          </a:graphicData>
        </a:graphic>
      </p:graphicFrame>
      <p:sp>
        <p:nvSpPr>
          <p:cNvPr id="68" name="타원형 설명선 225">
            <a:extLst>
              <a:ext uri="{FF2B5EF4-FFF2-40B4-BE49-F238E27FC236}">
                <a16:creationId xmlns:a16="http://schemas.microsoft.com/office/drawing/2014/main" id="{33E1AA2B-8B72-4077-8221-2E15855BEFA3}"/>
              </a:ext>
            </a:extLst>
          </p:cNvPr>
          <p:cNvSpPr/>
          <p:nvPr/>
        </p:nvSpPr>
        <p:spPr>
          <a:xfrm>
            <a:off x="4351359" y="5526118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표</a:t>
            </a:r>
            <a:r>
              <a:rPr lang="en-US" altLang="ko-KR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lang="ko-KR" altLang="en-US" sz="7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080432099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9104309" y="6645875"/>
            <a:ext cx="140029" cy="138499"/>
          </a:xfrm>
        </p:spPr>
        <p:txBody>
          <a:bodyPr/>
          <a:lstStyle/>
          <a:p>
            <a:pPr>
              <a:defRPr/>
            </a:pPr>
            <a:fld id="{9E41B634-5682-4388-99E7-FE44DCFD254B}" type="slidenum">
              <a:rPr lang="ko-KR" altLang="en-US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>
                <a:defRPr/>
              </a:pPr>
              <a:t>30</a:t>
            </a:fld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텍스트 개체 틀 8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Site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 &gt;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에너지 모니터링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&gt;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데이터 저장하기 팝업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공통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" name="텍스트 개체 틀 9"/>
          <p:cNvSpPr>
            <a:spLocks noGrp="1"/>
          </p:cNvSpPr>
          <p:nvPr>
            <p:ph type="body" sz="quarter" idx="10"/>
          </p:nvPr>
        </p:nvSpPr>
        <p:spPr>
          <a:xfrm>
            <a:off x="6023595" y="44624"/>
            <a:ext cx="1233661" cy="196974"/>
          </a:xfrm>
        </p:spPr>
        <p:txBody>
          <a:bodyPr/>
          <a:lstStyle/>
          <a:p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데이터 저장하기</a:t>
            </a:r>
          </a:p>
        </p:txBody>
      </p:sp>
      <p:graphicFrame>
        <p:nvGraphicFramePr>
          <p:cNvPr id="102" name="Group 15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10334811"/>
              </p:ext>
            </p:extLst>
          </p:nvPr>
        </p:nvGraphicFramePr>
        <p:xfrm>
          <a:off x="8469313" y="276225"/>
          <a:ext cx="1404000" cy="3894528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3002"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Description</a:t>
                      </a: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데이터 저장 팝업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1)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다음 각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Sub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모니터링 화면 內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‘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데이터 저장하기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’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버튼을 클릭하면 출력되는 공용 팝업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2)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팝업은 공용으로 사용하나 저장되는 각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Sub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모니터링 화면에 맞는 데이터가 저장됨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.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3)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저장 파일 형식은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csv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형태의 엑셀 파일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2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파일명 지정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저장될 파일명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입력창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3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파일형식 표시</a:t>
                      </a:r>
                      <a:endParaRPr lang="en-US" altLang="ko-KR" sz="800" b="1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csv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형식으로 고정하고 변경되지 않음</a:t>
                      </a: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.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4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저장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버튼 클릭 시에 파일 저장을 진행하고 파일 저장에 시간이 소요되는 경우에는 </a:t>
                      </a:r>
                      <a:r>
                        <a:rPr kumimoji="1" lang="en-US" altLang="ko-KR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Wating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Animation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을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5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취소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모든 작업을 취소하고 팝업을 출력시킨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Sub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모니터링 화면으로 복귀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78" name="TextBox 77"/>
          <p:cNvSpPr txBox="1"/>
          <p:nvPr/>
        </p:nvSpPr>
        <p:spPr>
          <a:xfrm>
            <a:off x="7121707" y="21349"/>
            <a:ext cx="567597" cy="2308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화면</a:t>
            </a:r>
            <a:r>
              <a:rPr lang="en-US" altLang="ko-KR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ID</a:t>
            </a:r>
            <a:endParaRPr lang="ko-KR" altLang="en-US" sz="9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7689304" y="43659"/>
            <a:ext cx="792088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itchFamily="50" charset="-127"/>
                <a:ea typeface="맑은 고딕" pitchFamily="50" charset="-127"/>
              </a:rPr>
              <a:t>ewpsp_scr_015</a:t>
            </a:r>
            <a:endParaRPr lang="ko-KR" altLang="en-US" sz="700" dirty="0">
              <a:latin typeface="맑은 고딕" pitchFamily="50" charset="-127"/>
              <a:ea typeface="맑은 고딕" pitchFamily="50" charset="-127"/>
            </a:endParaRPr>
          </a:p>
        </p:txBody>
      </p:sp>
      <p:pic>
        <p:nvPicPr>
          <p:cNvPr id="93" name="Picture 3">
            <a:extLst>
              <a:ext uri="{FF2B5EF4-FFF2-40B4-BE49-F238E27FC236}">
                <a16:creationId xmlns:a16="http://schemas.microsoft.com/office/drawing/2014/main" id="{5CCA265B-2CA6-43E5-A3A0-8084FE30067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463" y="764705"/>
            <a:ext cx="8208912" cy="4629348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  <a:extLst/>
        </p:spPr>
      </p:pic>
      <p:pic>
        <p:nvPicPr>
          <p:cNvPr id="94" name="Picture 2">
            <a:extLst>
              <a:ext uri="{FF2B5EF4-FFF2-40B4-BE49-F238E27FC236}">
                <a16:creationId xmlns:a16="http://schemas.microsoft.com/office/drawing/2014/main" id="{710F641D-B614-4801-9FF3-85D2583C905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464" y="762442"/>
            <a:ext cx="8208912" cy="3487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95" name="직선 연결선 94">
            <a:extLst>
              <a:ext uri="{FF2B5EF4-FFF2-40B4-BE49-F238E27FC236}">
                <a16:creationId xmlns:a16="http://schemas.microsoft.com/office/drawing/2014/main" id="{6A8A757A-1440-4892-A851-941A269405A2}"/>
              </a:ext>
            </a:extLst>
          </p:cNvPr>
          <p:cNvCxnSpPr>
            <a:cxnSpLocks/>
          </p:cNvCxnSpPr>
          <p:nvPr/>
        </p:nvCxnSpPr>
        <p:spPr>
          <a:xfrm>
            <a:off x="128463" y="1124744"/>
            <a:ext cx="8208912" cy="0"/>
          </a:xfrm>
          <a:prstGeom prst="line">
            <a:avLst/>
          </a:prstGeom>
          <a:ln w="9525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704D4CEC-31C1-4E60-961B-F14EDA010DFF}"/>
              </a:ext>
            </a:extLst>
          </p:cNvPr>
          <p:cNvSpPr/>
          <p:nvPr/>
        </p:nvSpPr>
        <p:spPr>
          <a:xfrm>
            <a:off x="216315" y="1556792"/>
            <a:ext cx="1820532" cy="288032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사용량 구성 </a:t>
            </a:r>
            <a:r>
              <a:rPr lang="en-US" altLang="ko-KR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(DER)</a:t>
            </a:r>
            <a:endParaRPr lang="ko-KR" altLang="en-US" sz="900" b="1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EA97BE72-B160-4CC7-82E8-3B9365326B51}"/>
              </a:ext>
            </a:extLst>
          </p:cNvPr>
          <p:cNvSpPr/>
          <p:nvPr/>
        </p:nvSpPr>
        <p:spPr>
          <a:xfrm>
            <a:off x="120419" y="1726179"/>
            <a:ext cx="1510265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150000"/>
              </a:lnSpc>
            </a:pPr>
            <a:r>
              <a:rPr lang="en-US" altLang="ko-KR" sz="900" b="1" dirty="0">
                <a:solidFill>
                  <a:schemeClr val="bg1">
                    <a:lumMod val="65000"/>
                  </a:schemeClr>
                </a:solidFill>
                <a:latin typeface="맑은 고딕" pitchFamily="50" charset="-127"/>
                <a:ea typeface="맑은 고딕" pitchFamily="50" charset="-127"/>
              </a:rPr>
              <a:t>YYYY-MM-DD hh:mm</a:t>
            </a:r>
            <a:endParaRPr lang="ko-KR" altLang="en-US" sz="900" b="1" dirty="0">
              <a:solidFill>
                <a:schemeClr val="bg1">
                  <a:lumMod val="6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3AC3C8F8-F4F6-4619-9AF6-340E03149167}"/>
              </a:ext>
            </a:extLst>
          </p:cNvPr>
          <p:cNvSpPr/>
          <p:nvPr/>
        </p:nvSpPr>
        <p:spPr>
          <a:xfrm>
            <a:off x="3584848" y="1569453"/>
            <a:ext cx="1224136" cy="288033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기간 설정</a:t>
            </a: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CFAFD24E-124F-4F53-87CC-F50AF111FD21}"/>
              </a:ext>
            </a:extLst>
          </p:cNvPr>
          <p:cNvSpPr/>
          <p:nvPr/>
        </p:nvSpPr>
        <p:spPr>
          <a:xfrm>
            <a:off x="4304928" y="1569453"/>
            <a:ext cx="1262753" cy="288033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YYY-MM</a:t>
            </a:r>
            <a:endParaRPr lang="ko-KR" altLang="en-US" sz="90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D330D7EF-5E25-4626-B885-6CC08C09BCBF}"/>
              </a:ext>
            </a:extLst>
          </p:cNvPr>
          <p:cNvSpPr/>
          <p:nvPr/>
        </p:nvSpPr>
        <p:spPr>
          <a:xfrm>
            <a:off x="5567681" y="1569453"/>
            <a:ext cx="288032" cy="288033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▼</a:t>
            </a: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A9805521-250C-4F72-8970-1CF8AD15B8E5}"/>
              </a:ext>
            </a:extLst>
          </p:cNvPr>
          <p:cNvSpPr/>
          <p:nvPr/>
        </p:nvSpPr>
        <p:spPr>
          <a:xfrm>
            <a:off x="5855713" y="1569453"/>
            <a:ext cx="249415" cy="288033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~</a:t>
            </a:r>
            <a:endParaRPr lang="ko-KR" altLang="en-US" sz="900" b="1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F077FA05-B2B3-4328-BEC5-AFBFF71F23E5}"/>
              </a:ext>
            </a:extLst>
          </p:cNvPr>
          <p:cNvSpPr/>
          <p:nvPr/>
        </p:nvSpPr>
        <p:spPr>
          <a:xfrm>
            <a:off x="6105128" y="1569453"/>
            <a:ext cx="1262753" cy="288033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YYYY-MM</a:t>
            </a:r>
            <a:endParaRPr lang="ko-KR" altLang="en-US" sz="90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FC75B499-DC2F-4902-BC84-4E417C2C670B}"/>
              </a:ext>
            </a:extLst>
          </p:cNvPr>
          <p:cNvSpPr/>
          <p:nvPr/>
        </p:nvSpPr>
        <p:spPr>
          <a:xfrm>
            <a:off x="7367881" y="1569453"/>
            <a:ext cx="288032" cy="288033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▼</a:t>
            </a:r>
          </a:p>
        </p:txBody>
      </p:sp>
      <p:pic>
        <p:nvPicPr>
          <p:cNvPr id="105" name="Picture 2" descr="ì¤ì ì ëí ì´ë¯¸ì§ ê²ìê²°ê³¼">
            <a:extLst>
              <a:ext uri="{FF2B5EF4-FFF2-40B4-BE49-F238E27FC236}">
                <a16:creationId xmlns:a16="http://schemas.microsoft.com/office/drawing/2014/main" id="{383C6D06-3FBA-457B-A74A-739188424C2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05865" y="844086"/>
            <a:ext cx="198592" cy="19859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6" name="사각형: 둥근 모서리 105">
            <a:extLst>
              <a:ext uri="{FF2B5EF4-FFF2-40B4-BE49-F238E27FC236}">
                <a16:creationId xmlns:a16="http://schemas.microsoft.com/office/drawing/2014/main" id="{BC100762-514E-434A-A6C0-9F31153BBBAE}"/>
              </a:ext>
            </a:extLst>
          </p:cNvPr>
          <p:cNvSpPr/>
          <p:nvPr/>
        </p:nvSpPr>
        <p:spPr>
          <a:xfrm>
            <a:off x="1356604" y="1637161"/>
            <a:ext cx="1013369" cy="180000"/>
          </a:xfrm>
          <a:prstGeom prst="roundRect">
            <a:avLst/>
          </a:prstGeom>
          <a:solidFill>
            <a:schemeClr val="bg1"/>
          </a:solidFill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ko-KR" altLang="en-US" sz="900" dirty="0">
                <a:solidFill>
                  <a:schemeClr val="tx1"/>
                </a:solidFill>
              </a:rPr>
              <a:t>기간 설정  ▼</a:t>
            </a:r>
          </a:p>
        </p:txBody>
      </p:sp>
      <p:sp>
        <p:nvSpPr>
          <p:cNvPr id="107" name="사각형: 둥근 모서리 106">
            <a:extLst>
              <a:ext uri="{FF2B5EF4-FFF2-40B4-BE49-F238E27FC236}">
                <a16:creationId xmlns:a16="http://schemas.microsoft.com/office/drawing/2014/main" id="{6D2BB46B-51C5-4631-ADDD-03DBF7C09653}"/>
              </a:ext>
            </a:extLst>
          </p:cNvPr>
          <p:cNvSpPr/>
          <p:nvPr/>
        </p:nvSpPr>
        <p:spPr>
          <a:xfrm>
            <a:off x="2415080" y="1636316"/>
            <a:ext cx="1013369" cy="180000"/>
          </a:xfrm>
          <a:prstGeom prst="roundRect">
            <a:avLst/>
          </a:prstGeom>
          <a:solidFill>
            <a:schemeClr val="bg1"/>
          </a:solidFill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altLang="ko-KR" sz="900" dirty="0">
                <a:solidFill>
                  <a:schemeClr val="tx1"/>
                </a:solidFill>
              </a:rPr>
              <a:t>15</a:t>
            </a:r>
            <a:r>
              <a:rPr lang="ko-KR" altLang="en-US" sz="900" dirty="0">
                <a:solidFill>
                  <a:schemeClr val="tx1"/>
                </a:solidFill>
              </a:rPr>
              <a:t>분     ▼</a:t>
            </a:r>
          </a:p>
        </p:txBody>
      </p:sp>
      <p:graphicFrame>
        <p:nvGraphicFramePr>
          <p:cNvPr id="108" name="표 107">
            <a:extLst>
              <a:ext uri="{FF2B5EF4-FFF2-40B4-BE49-F238E27FC236}">
                <a16:creationId xmlns:a16="http://schemas.microsoft.com/office/drawing/2014/main" id="{B9E6C5F0-2ABF-42B1-9FF8-2F504AF4EDA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57983076"/>
              </p:ext>
            </p:extLst>
          </p:nvPr>
        </p:nvGraphicFramePr>
        <p:xfrm>
          <a:off x="272476" y="2206916"/>
          <a:ext cx="7920881" cy="179023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295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19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20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21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22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23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24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25"/>
                    </a:ext>
                  </a:extLst>
                </a:gridCol>
              </a:tblGrid>
              <a:tr h="17902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/>
                        <a:t>kWh</a:t>
                      </a:r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902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2000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9023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9023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902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1000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9023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902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500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9023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902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9023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01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02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03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04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05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06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07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08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09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10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11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12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13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14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15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16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17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18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19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20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21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22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23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24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cxnSp>
        <p:nvCxnSpPr>
          <p:cNvPr id="113" name="직선 연결선 112">
            <a:extLst>
              <a:ext uri="{FF2B5EF4-FFF2-40B4-BE49-F238E27FC236}">
                <a16:creationId xmlns:a16="http://schemas.microsoft.com/office/drawing/2014/main" id="{0E134B89-D174-4554-BE11-9A13C345E03F}"/>
              </a:ext>
            </a:extLst>
          </p:cNvPr>
          <p:cNvCxnSpPr>
            <a:cxnSpLocks/>
          </p:cNvCxnSpPr>
          <p:nvPr/>
        </p:nvCxnSpPr>
        <p:spPr>
          <a:xfrm>
            <a:off x="992556" y="2483520"/>
            <a:ext cx="7200800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4" name="직선 연결선 113">
            <a:extLst>
              <a:ext uri="{FF2B5EF4-FFF2-40B4-BE49-F238E27FC236}">
                <a16:creationId xmlns:a16="http://schemas.microsoft.com/office/drawing/2014/main" id="{58294E4B-774D-4AAE-846F-C8C011A02FA6}"/>
              </a:ext>
            </a:extLst>
          </p:cNvPr>
          <p:cNvCxnSpPr>
            <a:cxnSpLocks/>
          </p:cNvCxnSpPr>
          <p:nvPr/>
        </p:nvCxnSpPr>
        <p:spPr>
          <a:xfrm>
            <a:off x="992556" y="3004354"/>
            <a:ext cx="7200800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6" name="자유형 5">
            <a:extLst>
              <a:ext uri="{FF2B5EF4-FFF2-40B4-BE49-F238E27FC236}">
                <a16:creationId xmlns:a16="http://schemas.microsoft.com/office/drawing/2014/main" id="{FF6120CE-25A3-40D5-8850-E2E7CB7A0545}"/>
              </a:ext>
            </a:extLst>
          </p:cNvPr>
          <p:cNvSpPr/>
          <p:nvPr/>
        </p:nvSpPr>
        <p:spPr>
          <a:xfrm>
            <a:off x="2022704" y="3198306"/>
            <a:ext cx="1659512" cy="361173"/>
          </a:xfrm>
          <a:custGeom>
            <a:avLst/>
            <a:gdLst>
              <a:gd name="connsiteX0" fmla="*/ 0 w 1733550"/>
              <a:gd name="connsiteY0" fmla="*/ 171450 h 453390"/>
              <a:gd name="connsiteX1" fmla="*/ 582930 w 1733550"/>
              <a:gd name="connsiteY1" fmla="*/ 430530 h 453390"/>
              <a:gd name="connsiteX2" fmla="*/ 864870 w 1733550"/>
              <a:gd name="connsiteY2" fmla="*/ 453390 h 453390"/>
              <a:gd name="connsiteX3" fmla="*/ 1165860 w 1733550"/>
              <a:gd name="connsiteY3" fmla="*/ 419100 h 453390"/>
              <a:gd name="connsiteX4" fmla="*/ 1482090 w 1733550"/>
              <a:gd name="connsiteY4" fmla="*/ 106680 h 453390"/>
              <a:gd name="connsiteX5" fmla="*/ 1733550 w 1733550"/>
              <a:gd name="connsiteY5" fmla="*/ 0 h 4533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550" h="453390">
                <a:moveTo>
                  <a:pt x="0" y="171450"/>
                </a:moveTo>
                <a:lnTo>
                  <a:pt x="582930" y="430530"/>
                </a:lnTo>
                <a:lnTo>
                  <a:pt x="864870" y="453390"/>
                </a:lnTo>
                <a:lnTo>
                  <a:pt x="1165860" y="419100"/>
                </a:lnTo>
                <a:lnTo>
                  <a:pt x="1482090" y="106680"/>
                </a:lnTo>
                <a:lnTo>
                  <a:pt x="1733550" y="0"/>
                </a:lnTo>
              </a:path>
            </a:pathLst>
          </a:custGeom>
          <a:solidFill>
            <a:schemeClr val="accent3">
              <a:lumMod val="40000"/>
              <a:lumOff val="60000"/>
            </a:schemeClr>
          </a:solidFill>
          <a:ln>
            <a:solidFill>
              <a:schemeClr val="accent3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17" name="자유형 4">
            <a:extLst>
              <a:ext uri="{FF2B5EF4-FFF2-40B4-BE49-F238E27FC236}">
                <a16:creationId xmlns:a16="http://schemas.microsoft.com/office/drawing/2014/main" id="{61A8A3E4-3BCC-4B59-94A3-683D9F9E6C40}"/>
              </a:ext>
            </a:extLst>
          </p:cNvPr>
          <p:cNvSpPr/>
          <p:nvPr/>
        </p:nvSpPr>
        <p:spPr>
          <a:xfrm rot="10615747">
            <a:off x="1998520" y="3235964"/>
            <a:ext cx="1682591" cy="71825"/>
          </a:xfrm>
          <a:custGeom>
            <a:avLst/>
            <a:gdLst>
              <a:gd name="connsiteX0" fmla="*/ 0 w 1761066"/>
              <a:gd name="connsiteY0" fmla="*/ 177800 h 228600"/>
              <a:gd name="connsiteX1" fmla="*/ 601133 w 1761066"/>
              <a:gd name="connsiteY1" fmla="*/ 228600 h 228600"/>
              <a:gd name="connsiteX2" fmla="*/ 905933 w 1761066"/>
              <a:gd name="connsiteY2" fmla="*/ 177800 h 228600"/>
              <a:gd name="connsiteX3" fmla="*/ 1159933 w 1761066"/>
              <a:gd name="connsiteY3" fmla="*/ 127000 h 228600"/>
              <a:gd name="connsiteX4" fmla="*/ 1498600 w 1761066"/>
              <a:gd name="connsiteY4" fmla="*/ 59267 h 228600"/>
              <a:gd name="connsiteX5" fmla="*/ 1761066 w 1761066"/>
              <a:gd name="connsiteY5" fmla="*/ 0 h 228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61066" h="228600">
                <a:moveTo>
                  <a:pt x="0" y="177800"/>
                </a:moveTo>
                <a:lnTo>
                  <a:pt x="601133" y="228600"/>
                </a:lnTo>
                <a:lnTo>
                  <a:pt x="905933" y="177800"/>
                </a:lnTo>
                <a:lnTo>
                  <a:pt x="1159933" y="127000"/>
                </a:lnTo>
                <a:lnTo>
                  <a:pt x="1498600" y="59267"/>
                </a:lnTo>
                <a:lnTo>
                  <a:pt x="1761066" y="0"/>
                </a:lnTo>
              </a:path>
            </a:pathLst>
          </a:custGeom>
          <a:solidFill>
            <a:schemeClr val="accent3">
              <a:lumMod val="40000"/>
              <a:lumOff val="60000"/>
            </a:schemeClr>
          </a:solidFill>
          <a:ln>
            <a:solidFill>
              <a:srgbClr val="92D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18" name="자유형 7">
            <a:extLst>
              <a:ext uri="{FF2B5EF4-FFF2-40B4-BE49-F238E27FC236}">
                <a16:creationId xmlns:a16="http://schemas.microsoft.com/office/drawing/2014/main" id="{0AA3E912-EB5E-4059-A581-7A5EEAB31028}"/>
              </a:ext>
            </a:extLst>
          </p:cNvPr>
          <p:cNvSpPr/>
          <p:nvPr/>
        </p:nvSpPr>
        <p:spPr>
          <a:xfrm>
            <a:off x="3685862" y="3213481"/>
            <a:ext cx="1962236" cy="452225"/>
          </a:xfrm>
          <a:custGeom>
            <a:avLst/>
            <a:gdLst>
              <a:gd name="connsiteX0" fmla="*/ 0 w 2049780"/>
              <a:gd name="connsiteY0" fmla="*/ 0 h 567690"/>
              <a:gd name="connsiteX1" fmla="*/ 331470 w 2049780"/>
              <a:gd name="connsiteY1" fmla="*/ 60960 h 567690"/>
              <a:gd name="connsiteX2" fmla="*/ 640080 w 2049780"/>
              <a:gd name="connsiteY2" fmla="*/ 220980 h 567690"/>
              <a:gd name="connsiteX3" fmla="*/ 1242060 w 2049780"/>
              <a:gd name="connsiteY3" fmla="*/ 236220 h 567690"/>
              <a:gd name="connsiteX4" fmla="*/ 1684020 w 2049780"/>
              <a:gd name="connsiteY4" fmla="*/ 144780 h 567690"/>
              <a:gd name="connsiteX5" fmla="*/ 2049780 w 2049780"/>
              <a:gd name="connsiteY5" fmla="*/ 19050 h 567690"/>
              <a:gd name="connsiteX6" fmla="*/ 1779270 w 2049780"/>
              <a:gd name="connsiteY6" fmla="*/ 346710 h 567690"/>
              <a:gd name="connsiteX7" fmla="*/ 1249680 w 2049780"/>
              <a:gd name="connsiteY7" fmla="*/ 567690 h 567690"/>
              <a:gd name="connsiteX8" fmla="*/ 621030 w 2049780"/>
              <a:gd name="connsiteY8" fmla="*/ 563880 h 567690"/>
              <a:gd name="connsiteX9" fmla="*/ 308610 w 2049780"/>
              <a:gd name="connsiteY9" fmla="*/ 419100 h 567690"/>
              <a:gd name="connsiteX10" fmla="*/ 0 w 2049780"/>
              <a:gd name="connsiteY10" fmla="*/ 0 h 5676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049780" h="567690">
                <a:moveTo>
                  <a:pt x="0" y="0"/>
                </a:moveTo>
                <a:lnTo>
                  <a:pt x="331470" y="60960"/>
                </a:lnTo>
                <a:lnTo>
                  <a:pt x="640080" y="220980"/>
                </a:lnTo>
                <a:lnTo>
                  <a:pt x="1242060" y="236220"/>
                </a:lnTo>
                <a:lnTo>
                  <a:pt x="1684020" y="144780"/>
                </a:lnTo>
                <a:lnTo>
                  <a:pt x="2049780" y="19050"/>
                </a:lnTo>
                <a:lnTo>
                  <a:pt x="1779270" y="346710"/>
                </a:lnTo>
                <a:lnTo>
                  <a:pt x="1249680" y="567690"/>
                </a:lnTo>
                <a:lnTo>
                  <a:pt x="621030" y="563880"/>
                </a:lnTo>
                <a:lnTo>
                  <a:pt x="308610" y="419100"/>
                </a:lnTo>
                <a:lnTo>
                  <a:pt x="0" y="0"/>
                </a:ln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19" name="자유형 1">
            <a:extLst>
              <a:ext uri="{FF2B5EF4-FFF2-40B4-BE49-F238E27FC236}">
                <a16:creationId xmlns:a16="http://schemas.microsoft.com/office/drawing/2014/main" id="{E67988E5-2B1A-407C-B95B-A11B22A2DB70}"/>
              </a:ext>
            </a:extLst>
          </p:cNvPr>
          <p:cNvSpPr/>
          <p:nvPr/>
        </p:nvSpPr>
        <p:spPr>
          <a:xfrm>
            <a:off x="1131147" y="3200329"/>
            <a:ext cx="4530729" cy="465377"/>
          </a:xfrm>
          <a:custGeom>
            <a:avLst/>
            <a:gdLst>
              <a:gd name="connsiteX0" fmla="*/ 0 w 4732866"/>
              <a:gd name="connsiteY0" fmla="*/ 330200 h 584200"/>
              <a:gd name="connsiteX1" fmla="*/ 262466 w 4732866"/>
              <a:gd name="connsiteY1" fmla="*/ 169333 h 584200"/>
              <a:gd name="connsiteX2" fmla="*/ 575733 w 4732866"/>
              <a:gd name="connsiteY2" fmla="*/ 279400 h 584200"/>
              <a:gd name="connsiteX3" fmla="*/ 905933 w 4732866"/>
              <a:gd name="connsiteY3" fmla="*/ 169333 h 584200"/>
              <a:gd name="connsiteX4" fmla="*/ 1193800 w 4732866"/>
              <a:gd name="connsiteY4" fmla="*/ 296333 h 584200"/>
              <a:gd name="connsiteX5" fmla="*/ 1507066 w 4732866"/>
              <a:gd name="connsiteY5" fmla="*/ 431800 h 584200"/>
              <a:gd name="connsiteX6" fmla="*/ 1794933 w 4732866"/>
              <a:gd name="connsiteY6" fmla="*/ 457200 h 584200"/>
              <a:gd name="connsiteX7" fmla="*/ 2091266 w 4732866"/>
              <a:gd name="connsiteY7" fmla="*/ 423333 h 584200"/>
              <a:gd name="connsiteX8" fmla="*/ 2413000 w 4732866"/>
              <a:gd name="connsiteY8" fmla="*/ 101600 h 584200"/>
              <a:gd name="connsiteX9" fmla="*/ 2667000 w 4732866"/>
              <a:gd name="connsiteY9" fmla="*/ 0 h 584200"/>
              <a:gd name="connsiteX10" fmla="*/ 2971800 w 4732866"/>
              <a:gd name="connsiteY10" fmla="*/ 431800 h 584200"/>
              <a:gd name="connsiteX11" fmla="*/ 3293533 w 4732866"/>
              <a:gd name="connsiteY11" fmla="*/ 567267 h 584200"/>
              <a:gd name="connsiteX12" fmla="*/ 3615266 w 4732866"/>
              <a:gd name="connsiteY12" fmla="*/ 558800 h 584200"/>
              <a:gd name="connsiteX13" fmla="*/ 3911600 w 4732866"/>
              <a:gd name="connsiteY13" fmla="*/ 584200 h 584200"/>
              <a:gd name="connsiteX14" fmla="*/ 4199466 w 4732866"/>
              <a:gd name="connsiteY14" fmla="*/ 440267 h 584200"/>
              <a:gd name="connsiteX15" fmla="*/ 4453466 w 4732866"/>
              <a:gd name="connsiteY15" fmla="*/ 364067 h 584200"/>
              <a:gd name="connsiteX16" fmla="*/ 4732866 w 4732866"/>
              <a:gd name="connsiteY16" fmla="*/ 16933 h 584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4732866" h="584200">
                <a:moveTo>
                  <a:pt x="0" y="330200"/>
                </a:moveTo>
                <a:lnTo>
                  <a:pt x="262466" y="169333"/>
                </a:lnTo>
                <a:lnTo>
                  <a:pt x="575733" y="279400"/>
                </a:lnTo>
                <a:lnTo>
                  <a:pt x="905933" y="169333"/>
                </a:lnTo>
                <a:lnTo>
                  <a:pt x="1193800" y="296333"/>
                </a:lnTo>
                <a:lnTo>
                  <a:pt x="1507066" y="431800"/>
                </a:lnTo>
                <a:lnTo>
                  <a:pt x="1794933" y="457200"/>
                </a:lnTo>
                <a:lnTo>
                  <a:pt x="2091266" y="423333"/>
                </a:lnTo>
                <a:lnTo>
                  <a:pt x="2413000" y="101600"/>
                </a:lnTo>
                <a:lnTo>
                  <a:pt x="2667000" y="0"/>
                </a:lnTo>
                <a:lnTo>
                  <a:pt x="2971800" y="431800"/>
                </a:lnTo>
                <a:lnTo>
                  <a:pt x="3293533" y="567267"/>
                </a:lnTo>
                <a:lnTo>
                  <a:pt x="3615266" y="558800"/>
                </a:lnTo>
                <a:lnTo>
                  <a:pt x="3911600" y="584200"/>
                </a:lnTo>
                <a:lnTo>
                  <a:pt x="4199466" y="440267"/>
                </a:lnTo>
                <a:lnTo>
                  <a:pt x="4453466" y="364067"/>
                </a:lnTo>
                <a:lnTo>
                  <a:pt x="4732866" y="16933"/>
                </a:lnTo>
              </a:path>
            </a:pathLst>
          </a:custGeom>
          <a:ln w="38100">
            <a:solidFill>
              <a:srgbClr val="FF66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20" name="직사각형 119">
            <a:extLst>
              <a:ext uri="{FF2B5EF4-FFF2-40B4-BE49-F238E27FC236}">
                <a16:creationId xmlns:a16="http://schemas.microsoft.com/office/drawing/2014/main" id="{59C6BD73-E877-4AF3-8198-1D0DDE519E60}"/>
              </a:ext>
            </a:extLst>
          </p:cNvPr>
          <p:cNvSpPr/>
          <p:nvPr/>
        </p:nvSpPr>
        <p:spPr>
          <a:xfrm>
            <a:off x="2141426" y="4077072"/>
            <a:ext cx="585630" cy="18000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150000"/>
              </a:lnSpc>
            </a:pPr>
            <a:r>
              <a:rPr lang="en-US" altLang="ko-KR" sz="1000" b="1" dirty="0">
                <a:solidFill>
                  <a:srgbClr val="92D050"/>
                </a:solidFill>
                <a:latin typeface="맑은 고딕" pitchFamily="50" charset="-127"/>
                <a:ea typeface="맑은 고딕" pitchFamily="50" charset="-127"/>
              </a:rPr>
              <a:t>ESS</a:t>
            </a:r>
            <a:endParaRPr lang="ko-KR" altLang="en-US" sz="1000" b="1" dirty="0">
              <a:solidFill>
                <a:srgbClr val="92D050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21" name="직사각형 120">
            <a:extLst>
              <a:ext uri="{FF2B5EF4-FFF2-40B4-BE49-F238E27FC236}">
                <a16:creationId xmlns:a16="http://schemas.microsoft.com/office/drawing/2014/main" id="{090B3048-1B7B-4DDE-9F87-0D0C46F2BA85}"/>
              </a:ext>
            </a:extLst>
          </p:cNvPr>
          <p:cNvSpPr/>
          <p:nvPr/>
        </p:nvSpPr>
        <p:spPr>
          <a:xfrm>
            <a:off x="2528015" y="4077072"/>
            <a:ext cx="405499" cy="18000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150000"/>
              </a:lnSpc>
            </a:pPr>
            <a:r>
              <a:rPr lang="en-US" altLang="ko-KR" sz="10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10%</a:t>
            </a:r>
            <a:endParaRPr lang="ko-KR" altLang="en-US" sz="1000" b="1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22" name="직사각형 121">
            <a:extLst>
              <a:ext uri="{FF2B5EF4-FFF2-40B4-BE49-F238E27FC236}">
                <a16:creationId xmlns:a16="http://schemas.microsoft.com/office/drawing/2014/main" id="{9E82F9AA-8DF5-494F-939C-B61E62349A37}"/>
              </a:ext>
            </a:extLst>
          </p:cNvPr>
          <p:cNvSpPr/>
          <p:nvPr/>
        </p:nvSpPr>
        <p:spPr>
          <a:xfrm>
            <a:off x="2861506" y="4077072"/>
            <a:ext cx="585630" cy="18000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150000"/>
              </a:lnSpc>
            </a:pPr>
            <a:r>
              <a:rPr lang="en-US" altLang="ko-KR" sz="1000" b="1" dirty="0">
                <a:solidFill>
                  <a:srgbClr val="FF0000"/>
                </a:solidFill>
                <a:latin typeface="맑은 고딕" pitchFamily="50" charset="-127"/>
                <a:ea typeface="맑은 고딕" pitchFamily="50" charset="-127"/>
              </a:rPr>
              <a:t>PV</a:t>
            </a:r>
            <a:endParaRPr lang="ko-KR" altLang="en-US" sz="1000" b="1" dirty="0">
              <a:solidFill>
                <a:srgbClr val="FF0000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23" name="직사각형 122">
            <a:extLst>
              <a:ext uri="{FF2B5EF4-FFF2-40B4-BE49-F238E27FC236}">
                <a16:creationId xmlns:a16="http://schemas.microsoft.com/office/drawing/2014/main" id="{78D4E657-4909-40D1-8D33-CDF9B35DC875}"/>
              </a:ext>
            </a:extLst>
          </p:cNvPr>
          <p:cNvSpPr/>
          <p:nvPr/>
        </p:nvSpPr>
        <p:spPr>
          <a:xfrm>
            <a:off x="3203213" y="4077072"/>
            <a:ext cx="415453" cy="18000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150000"/>
              </a:lnSpc>
            </a:pPr>
            <a:r>
              <a:rPr lang="en-US" altLang="ko-KR" sz="10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9%</a:t>
            </a:r>
            <a:endParaRPr lang="ko-KR" altLang="en-US" sz="1000" b="1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24" name="직사각형 123">
            <a:extLst>
              <a:ext uri="{FF2B5EF4-FFF2-40B4-BE49-F238E27FC236}">
                <a16:creationId xmlns:a16="http://schemas.microsoft.com/office/drawing/2014/main" id="{F01E0557-A5F9-49D6-842E-34BBED8465D6}"/>
              </a:ext>
            </a:extLst>
          </p:cNvPr>
          <p:cNvSpPr/>
          <p:nvPr/>
        </p:nvSpPr>
        <p:spPr>
          <a:xfrm>
            <a:off x="1352600" y="4077072"/>
            <a:ext cx="585630" cy="18000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150000"/>
              </a:lnSpc>
            </a:pPr>
            <a:r>
              <a:rPr lang="ko-KR" altLang="en-US" sz="1000" b="1" dirty="0">
                <a:solidFill>
                  <a:srgbClr val="FF6600"/>
                </a:solidFill>
                <a:latin typeface="맑은 고딕" pitchFamily="50" charset="-127"/>
                <a:ea typeface="맑은 고딕" pitchFamily="50" charset="-127"/>
              </a:rPr>
              <a:t>한전</a:t>
            </a:r>
          </a:p>
        </p:txBody>
      </p:sp>
      <p:sp>
        <p:nvSpPr>
          <p:cNvPr id="125" name="직사각형 124">
            <a:extLst>
              <a:ext uri="{FF2B5EF4-FFF2-40B4-BE49-F238E27FC236}">
                <a16:creationId xmlns:a16="http://schemas.microsoft.com/office/drawing/2014/main" id="{03013D0F-4250-4849-9A03-C127EFDB30C0}"/>
              </a:ext>
            </a:extLst>
          </p:cNvPr>
          <p:cNvSpPr/>
          <p:nvPr/>
        </p:nvSpPr>
        <p:spPr>
          <a:xfrm>
            <a:off x="1781386" y="4077072"/>
            <a:ext cx="415655" cy="18000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150000"/>
              </a:lnSpc>
            </a:pPr>
            <a:r>
              <a:rPr lang="en-US" altLang="ko-KR" sz="10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81%</a:t>
            </a:r>
            <a:endParaRPr lang="ko-KR" altLang="en-US" sz="1000" b="1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grpSp>
        <p:nvGrpSpPr>
          <p:cNvPr id="126" name="그룹 125">
            <a:extLst>
              <a:ext uri="{FF2B5EF4-FFF2-40B4-BE49-F238E27FC236}">
                <a16:creationId xmlns:a16="http://schemas.microsoft.com/office/drawing/2014/main" id="{6D8B526A-367F-4067-BCE6-52D0E0B9C512}"/>
              </a:ext>
            </a:extLst>
          </p:cNvPr>
          <p:cNvGrpSpPr/>
          <p:nvPr/>
        </p:nvGrpSpPr>
        <p:grpSpPr>
          <a:xfrm>
            <a:off x="290122" y="4081141"/>
            <a:ext cx="825136" cy="211955"/>
            <a:chOff x="4861742" y="3907374"/>
            <a:chExt cx="862386" cy="211955"/>
          </a:xfrm>
        </p:grpSpPr>
        <p:pic>
          <p:nvPicPr>
            <p:cNvPr id="127" name="Picture 6" descr="ìì ë¤ì´ë¡ëì ëí ì´ë¯¸ì§ ê²ìê²°ê³¼">
              <a:extLst>
                <a:ext uri="{FF2B5EF4-FFF2-40B4-BE49-F238E27FC236}">
                  <a16:creationId xmlns:a16="http://schemas.microsoft.com/office/drawing/2014/main" id="{A682F973-2B41-4786-9D4A-14798E293E9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861742" y="3907374"/>
              <a:ext cx="211955" cy="21195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28" name="TextBox 127">
              <a:extLst>
                <a:ext uri="{FF2B5EF4-FFF2-40B4-BE49-F238E27FC236}">
                  <a16:creationId xmlns:a16="http://schemas.microsoft.com/office/drawing/2014/main" id="{DFCB7613-1986-4E21-BC8D-27F1834A4201}"/>
                </a:ext>
              </a:extLst>
            </p:cNvPr>
            <p:cNvSpPr txBox="1"/>
            <p:nvPr/>
          </p:nvSpPr>
          <p:spPr>
            <a:xfrm>
              <a:off x="4949189" y="3921018"/>
              <a:ext cx="7749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600" b="1" dirty="0">
                  <a:solidFill>
                    <a:schemeClr val="bg1"/>
                  </a:solidFill>
                </a:rPr>
                <a:t>데이터 저장하기</a:t>
              </a:r>
            </a:p>
          </p:txBody>
        </p:sp>
      </p:grpSp>
      <p:cxnSp>
        <p:nvCxnSpPr>
          <p:cNvPr id="129" name="직선 연결선 128">
            <a:extLst>
              <a:ext uri="{FF2B5EF4-FFF2-40B4-BE49-F238E27FC236}">
                <a16:creationId xmlns:a16="http://schemas.microsoft.com/office/drawing/2014/main" id="{60C085EE-BEED-4C02-8E67-F678E8A7A063}"/>
              </a:ext>
            </a:extLst>
          </p:cNvPr>
          <p:cNvCxnSpPr>
            <a:cxnSpLocks/>
          </p:cNvCxnSpPr>
          <p:nvPr/>
        </p:nvCxnSpPr>
        <p:spPr>
          <a:xfrm>
            <a:off x="5666307" y="2275885"/>
            <a:ext cx="0" cy="1512168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30" name="표 129">
            <a:extLst>
              <a:ext uri="{FF2B5EF4-FFF2-40B4-BE49-F238E27FC236}">
                <a16:creationId xmlns:a16="http://schemas.microsoft.com/office/drawing/2014/main" id="{1C227CF6-8912-4426-964F-091AC4BF027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58636152"/>
              </p:ext>
            </p:extLst>
          </p:nvPr>
        </p:nvGraphicFramePr>
        <p:xfrm>
          <a:off x="272476" y="4372840"/>
          <a:ext cx="7920892" cy="89043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656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737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87373">
                  <a:extLst>
                    <a:ext uri="{9D8B030D-6E8A-4147-A177-3AD203B41FA5}">
                      <a16:colId xmlns:a16="http://schemas.microsoft.com/office/drawing/2014/main" val="91379356"/>
                    </a:ext>
                  </a:extLst>
                </a:gridCol>
                <a:gridCol w="28737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87373">
                  <a:extLst>
                    <a:ext uri="{9D8B030D-6E8A-4147-A177-3AD203B41FA5}">
                      <a16:colId xmlns:a16="http://schemas.microsoft.com/office/drawing/2014/main" val="3679891012"/>
                    </a:ext>
                  </a:extLst>
                </a:gridCol>
                <a:gridCol w="28737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87373">
                  <a:extLst>
                    <a:ext uri="{9D8B030D-6E8A-4147-A177-3AD203B41FA5}">
                      <a16:colId xmlns:a16="http://schemas.microsoft.com/office/drawing/2014/main" val="2229935987"/>
                    </a:ext>
                  </a:extLst>
                </a:gridCol>
                <a:gridCol w="28737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87373">
                  <a:extLst>
                    <a:ext uri="{9D8B030D-6E8A-4147-A177-3AD203B41FA5}">
                      <a16:colId xmlns:a16="http://schemas.microsoft.com/office/drawing/2014/main" val="4026812072"/>
                    </a:ext>
                  </a:extLst>
                </a:gridCol>
                <a:gridCol w="28737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87373">
                  <a:extLst>
                    <a:ext uri="{9D8B030D-6E8A-4147-A177-3AD203B41FA5}">
                      <a16:colId xmlns:a16="http://schemas.microsoft.com/office/drawing/2014/main" val="1122824508"/>
                    </a:ext>
                  </a:extLst>
                </a:gridCol>
                <a:gridCol w="28737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287373">
                  <a:extLst>
                    <a:ext uri="{9D8B030D-6E8A-4147-A177-3AD203B41FA5}">
                      <a16:colId xmlns:a16="http://schemas.microsoft.com/office/drawing/2014/main" val="1502902784"/>
                    </a:ext>
                  </a:extLst>
                </a:gridCol>
                <a:gridCol w="287373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87373">
                  <a:extLst>
                    <a:ext uri="{9D8B030D-6E8A-4147-A177-3AD203B41FA5}">
                      <a16:colId xmlns:a16="http://schemas.microsoft.com/office/drawing/2014/main" val="354728812"/>
                    </a:ext>
                  </a:extLst>
                </a:gridCol>
                <a:gridCol w="287373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287373">
                  <a:extLst>
                    <a:ext uri="{9D8B030D-6E8A-4147-A177-3AD203B41FA5}">
                      <a16:colId xmlns:a16="http://schemas.microsoft.com/office/drawing/2014/main" val="914552893"/>
                    </a:ext>
                  </a:extLst>
                </a:gridCol>
                <a:gridCol w="28737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287373">
                  <a:extLst>
                    <a:ext uri="{9D8B030D-6E8A-4147-A177-3AD203B41FA5}">
                      <a16:colId xmlns:a16="http://schemas.microsoft.com/office/drawing/2014/main" val="2643701830"/>
                    </a:ext>
                  </a:extLst>
                </a:gridCol>
                <a:gridCol w="28737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287373">
                  <a:extLst>
                    <a:ext uri="{9D8B030D-6E8A-4147-A177-3AD203B41FA5}">
                      <a16:colId xmlns:a16="http://schemas.microsoft.com/office/drawing/2014/main" val="4156003338"/>
                    </a:ext>
                  </a:extLst>
                </a:gridCol>
                <a:gridCol w="28737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287373">
                  <a:extLst>
                    <a:ext uri="{9D8B030D-6E8A-4147-A177-3AD203B41FA5}">
                      <a16:colId xmlns:a16="http://schemas.microsoft.com/office/drawing/2014/main" val="186923855"/>
                    </a:ext>
                  </a:extLst>
                </a:gridCol>
                <a:gridCol w="28737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287373">
                  <a:extLst>
                    <a:ext uri="{9D8B030D-6E8A-4147-A177-3AD203B41FA5}">
                      <a16:colId xmlns:a16="http://schemas.microsoft.com/office/drawing/2014/main" val="328632746"/>
                    </a:ext>
                  </a:extLst>
                </a:gridCol>
                <a:gridCol w="287373">
                  <a:extLst>
                    <a:ext uri="{9D8B030D-6E8A-4147-A177-3AD203B41FA5}">
                      <a16:colId xmlns:a16="http://schemas.microsoft.com/office/drawing/2014/main" val="929126639"/>
                    </a:ext>
                  </a:extLst>
                </a:gridCol>
              </a:tblGrid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YYYY-MM</a:t>
                      </a:r>
                      <a:endParaRPr lang="en-US" altLang="ko-KR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01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02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03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04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05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06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07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08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09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11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12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13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14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15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16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17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18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19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21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22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23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24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합계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40037541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F79646">
                              <a:lumMod val="75000"/>
                            </a:srgb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한전 사용량</a:t>
                      </a:r>
                      <a:endParaRPr kumimoji="0" lang="en-US" altLang="ko-KR" sz="7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F79646">
                            <a:lumMod val="75000"/>
                          </a:srgb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kern="1200" dirty="0">
                          <a:solidFill>
                            <a:srgbClr val="92D05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ESS</a:t>
                      </a:r>
                      <a:r>
                        <a:rPr lang="ko-KR" altLang="en-US" sz="700" b="1" kern="1200" dirty="0">
                          <a:solidFill>
                            <a:srgbClr val="92D05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사용량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90133474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kern="120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PV</a:t>
                      </a:r>
                      <a:r>
                        <a:rPr lang="ko-KR" altLang="en-US" sz="700" b="1" kern="120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사용량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총 사용량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400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300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650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480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500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700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620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800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700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700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1050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650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600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500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550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480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600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350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480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27434425"/>
                  </a:ext>
                </a:extLst>
              </a:tr>
            </a:tbl>
          </a:graphicData>
        </a:graphic>
      </p:graphicFrame>
      <p:sp>
        <p:nvSpPr>
          <p:cNvPr id="131" name="TextBox 130">
            <a:extLst>
              <a:ext uri="{FF2B5EF4-FFF2-40B4-BE49-F238E27FC236}">
                <a16:creationId xmlns:a16="http://schemas.microsoft.com/office/drawing/2014/main" id="{2A5E75C9-9744-439A-B0E4-6ED4EC520DDB}"/>
              </a:ext>
            </a:extLst>
          </p:cNvPr>
          <p:cNvSpPr txBox="1"/>
          <p:nvPr/>
        </p:nvSpPr>
        <p:spPr>
          <a:xfrm>
            <a:off x="7221248" y="4081564"/>
            <a:ext cx="972108" cy="215444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square" rtlCol="0" anchor="ctr">
            <a:spAutoFit/>
          </a:bodyPr>
          <a:lstStyle/>
          <a:p>
            <a:pPr algn="ctr"/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표 접기</a:t>
            </a:r>
          </a:p>
        </p:txBody>
      </p:sp>
      <p:grpSp>
        <p:nvGrpSpPr>
          <p:cNvPr id="132" name="그룹 131">
            <a:extLst>
              <a:ext uri="{FF2B5EF4-FFF2-40B4-BE49-F238E27FC236}">
                <a16:creationId xmlns:a16="http://schemas.microsoft.com/office/drawing/2014/main" id="{48FDCE60-9A75-4E65-8592-35D2F49A747B}"/>
              </a:ext>
            </a:extLst>
          </p:cNvPr>
          <p:cNvGrpSpPr/>
          <p:nvPr/>
        </p:nvGrpSpPr>
        <p:grpSpPr>
          <a:xfrm>
            <a:off x="210356" y="1203435"/>
            <a:ext cx="8024876" cy="260092"/>
            <a:chOff x="184526" y="1505937"/>
            <a:chExt cx="8024876" cy="260092"/>
          </a:xfrm>
        </p:grpSpPr>
        <p:sp>
          <p:nvSpPr>
            <p:cNvPr id="133" name="직사각형 132">
              <a:extLst>
                <a:ext uri="{FF2B5EF4-FFF2-40B4-BE49-F238E27FC236}">
                  <a16:creationId xmlns:a16="http://schemas.microsoft.com/office/drawing/2014/main" id="{1FA8902D-44E0-4486-9D75-8AE62E4C9D82}"/>
                </a:ext>
              </a:extLst>
            </p:cNvPr>
            <p:cNvSpPr/>
            <p:nvPr/>
          </p:nvSpPr>
          <p:spPr>
            <a:xfrm>
              <a:off x="5810955" y="1550585"/>
              <a:ext cx="1820532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수익 현황</a:t>
              </a:r>
            </a:p>
          </p:txBody>
        </p:sp>
        <p:sp>
          <p:nvSpPr>
            <p:cNvPr id="134" name="직사각형 133">
              <a:extLst>
                <a:ext uri="{FF2B5EF4-FFF2-40B4-BE49-F238E27FC236}">
                  <a16:creationId xmlns:a16="http://schemas.microsoft.com/office/drawing/2014/main" id="{BAA5B29C-225F-44E5-8E7D-4547A126D9FD}"/>
                </a:ext>
              </a:extLst>
            </p:cNvPr>
            <p:cNvSpPr/>
            <p:nvPr/>
          </p:nvSpPr>
          <p:spPr>
            <a:xfrm>
              <a:off x="184526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에너지 모니터링</a:t>
              </a:r>
            </a:p>
          </p:txBody>
        </p:sp>
        <p:sp>
          <p:nvSpPr>
            <p:cNvPr id="135" name="직사각형 134">
              <a:extLst>
                <a:ext uri="{FF2B5EF4-FFF2-40B4-BE49-F238E27FC236}">
                  <a16:creationId xmlns:a16="http://schemas.microsoft.com/office/drawing/2014/main" id="{7026B33C-56F1-4D85-BF5B-41D6343499E3}"/>
                </a:ext>
              </a:extLst>
            </p:cNvPr>
            <p:cNvSpPr/>
            <p:nvPr/>
          </p:nvSpPr>
          <p:spPr>
            <a:xfrm>
              <a:off x="2191085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장치 모니터링</a:t>
              </a:r>
            </a:p>
          </p:txBody>
        </p:sp>
        <p:sp>
          <p:nvSpPr>
            <p:cNvPr id="136" name="직사각형 135">
              <a:extLst>
                <a:ext uri="{FF2B5EF4-FFF2-40B4-BE49-F238E27FC236}">
                  <a16:creationId xmlns:a16="http://schemas.microsoft.com/office/drawing/2014/main" id="{8CA6D906-9483-4A98-BAB3-F5114B822373}"/>
                </a:ext>
              </a:extLst>
            </p:cNvPr>
            <p:cNvSpPr/>
            <p:nvPr/>
          </p:nvSpPr>
          <p:spPr>
            <a:xfrm>
              <a:off x="4197644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상황</a:t>
              </a:r>
              <a:r>
                <a:rPr lang="en-US" altLang="ko-KR" sz="700" dirty="0"/>
                <a:t> </a:t>
              </a:r>
              <a:r>
                <a:rPr lang="ko-KR" altLang="en-US" sz="700" dirty="0"/>
                <a:t>관제</a:t>
              </a:r>
            </a:p>
          </p:txBody>
        </p:sp>
        <p:sp>
          <p:nvSpPr>
            <p:cNvPr id="137" name="직사각형 136">
              <a:extLst>
                <a:ext uri="{FF2B5EF4-FFF2-40B4-BE49-F238E27FC236}">
                  <a16:creationId xmlns:a16="http://schemas.microsoft.com/office/drawing/2014/main" id="{534B00CA-E871-40A7-AF2D-F4014C13939C}"/>
                </a:ext>
              </a:extLst>
            </p:cNvPr>
            <p:cNvSpPr/>
            <p:nvPr/>
          </p:nvSpPr>
          <p:spPr>
            <a:xfrm>
              <a:off x="6204202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요금</a:t>
              </a:r>
              <a:r>
                <a:rPr lang="en-US" altLang="ko-KR" sz="700" dirty="0"/>
                <a:t>/</a:t>
              </a:r>
              <a:r>
                <a:rPr lang="ko-KR" altLang="en-US" sz="700" dirty="0"/>
                <a:t>수익</a:t>
              </a:r>
            </a:p>
          </p:txBody>
        </p:sp>
      </p:grpSp>
      <p:sp>
        <p:nvSpPr>
          <p:cNvPr id="143" name="직사각형 142">
            <a:extLst>
              <a:ext uri="{FF2B5EF4-FFF2-40B4-BE49-F238E27FC236}">
                <a16:creationId xmlns:a16="http://schemas.microsoft.com/office/drawing/2014/main" id="{4292062B-EE2C-458D-8FE8-65566754C0CB}"/>
              </a:ext>
            </a:extLst>
          </p:cNvPr>
          <p:cNvSpPr/>
          <p:nvPr/>
        </p:nvSpPr>
        <p:spPr>
          <a:xfrm>
            <a:off x="7680268" y="1563619"/>
            <a:ext cx="473661" cy="289182"/>
          </a:xfrm>
          <a:prstGeom prst="rect">
            <a:avLst/>
          </a:prstGeom>
          <a:solidFill>
            <a:srgbClr val="0099FF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>
              <a:lnSpc>
                <a:spcPct val="150000"/>
              </a:lnSpc>
            </a:pPr>
            <a:r>
              <a:rPr lang="ko-KR" altLang="en-US" sz="105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조회</a:t>
            </a:r>
          </a:p>
        </p:txBody>
      </p:sp>
      <p:pic>
        <p:nvPicPr>
          <p:cNvPr id="90" name="Picture 2" descr="ììë¡ ì ì¥íê¸° íìì ëí ì´ë¯¸ì§ ê²ìê²°ê³¼">
            <a:extLst>
              <a:ext uri="{FF2B5EF4-FFF2-40B4-BE49-F238E27FC236}">
                <a16:creationId xmlns:a16="http://schemas.microsoft.com/office/drawing/2014/main" id="{E7B49111-3943-408B-A9D7-A48AD667EFB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313901" y="2233180"/>
            <a:ext cx="3805906" cy="178674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27" name="타원형 설명선 226"/>
          <p:cNvSpPr/>
          <p:nvPr/>
        </p:nvSpPr>
        <p:spPr>
          <a:xfrm>
            <a:off x="2931993" y="3426510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4" name="타원형 설명선 243"/>
          <p:cNvSpPr/>
          <p:nvPr/>
        </p:nvSpPr>
        <p:spPr>
          <a:xfrm>
            <a:off x="5080998" y="3437585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5" name="타원형 설명선 244"/>
          <p:cNvSpPr/>
          <p:nvPr/>
        </p:nvSpPr>
        <p:spPr>
          <a:xfrm>
            <a:off x="2933104" y="3660460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6" name="타원형 설명선 245"/>
          <p:cNvSpPr/>
          <p:nvPr/>
        </p:nvSpPr>
        <p:spPr>
          <a:xfrm>
            <a:off x="5086078" y="3669759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3" name="타원형 설명선 225">
            <a:extLst>
              <a:ext uri="{FF2B5EF4-FFF2-40B4-BE49-F238E27FC236}">
                <a16:creationId xmlns:a16="http://schemas.microsoft.com/office/drawing/2014/main" id="{93402A8C-F86A-4207-9226-F02BE6AB6E19}"/>
              </a:ext>
            </a:extLst>
          </p:cNvPr>
          <p:cNvSpPr/>
          <p:nvPr/>
        </p:nvSpPr>
        <p:spPr>
          <a:xfrm>
            <a:off x="2117746" y="2113718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187" name="직선 연결선 186">
            <a:extLst>
              <a:ext uri="{FF2B5EF4-FFF2-40B4-BE49-F238E27FC236}">
                <a16:creationId xmlns:a16="http://schemas.microsoft.com/office/drawing/2014/main" id="{5FCC5F44-4CDC-4C51-B6DE-085D398B3F5C}"/>
              </a:ext>
            </a:extLst>
          </p:cNvPr>
          <p:cNvCxnSpPr/>
          <p:nvPr/>
        </p:nvCxnSpPr>
        <p:spPr>
          <a:xfrm>
            <a:off x="4022399" y="2038073"/>
            <a:ext cx="504056" cy="0"/>
          </a:xfrm>
          <a:prstGeom prst="line">
            <a:avLst/>
          </a:prstGeom>
          <a:ln w="19050">
            <a:solidFill>
              <a:srgbClr val="FF66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8" name="직사각형 187">
            <a:extLst>
              <a:ext uri="{FF2B5EF4-FFF2-40B4-BE49-F238E27FC236}">
                <a16:creationId xmlns:a16="http://schemas.microsoft.com/office/drawing/2014/main" id="{B997BBCA-3A09-4B5F-9D29-464A3E5D2CE2}"/>
              </a:ext>
            </a:extLst>
          </p:cNvPr>
          <p:cNvSpPr/>
          <p:nvPr/>
        </p:nvSpPr>
        <p:spPr>
          <a:xfrm>
            <a:off x="4598463" y="1915845"/>
            <a:ext cx="1008112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한전 사용량</a:t>
            </a:r>
          </a:p>
        </p:txBody>
      </p:sp>
      <p:cxnSp>
        <p:nvCxnSpPr>
          <p:cNvPr id="189" name="직선 연결선 188">
            <a:extLst>
              <a:ext uri="{FF2B5EF4-FFF2-40B4-BE49-F238E27FC236}">
                <a16:creationId xmlns:a16="http://schemas.microsoft.com/office/drawing/2014/main" id="{F88A2AAF-B08C-4B72-ABDD-923807532344}"/>
              </a:ext>
            </a:extLst>
          </p:cNvPr>
          <p:cNvCxnSpPr/>
          <p:nvPr/>
        </p:nvCxnSpPr>
        <p:spPr>
          <a:xfrm>
            <a:off x="5534567" y="2038073"/>
            <a:ext cx="504056" cy="0"/>
          </a:xfrm>
          <a:prstGeom prst="line">
            <a:avLst/>
          </a:prstGeom>
          <a:solidFill>
            <a:schemeClr val="accent3">
              <a:lumMod val="40000"/>
              <a:lumOff val="60000"/>
            </a:schemeClr>
          </a:solidFill>
          <a:ln>
            <a:solidFill>
              <a:srgbClr val="92D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90" name="직사각형 189">
            <a:extLst>
              <a:ext uri="{FF2B5EF4-FFF2-40B4-BE49-F238E27FC236}">
                <a16:creationId xmlns:a16="http://schemas.microsoft.com/office/drawing/2014/main" id="{8B2108FB-08B1-4CD2-9338-60552DF5B6C7}"/>
              </a:ext>
            </a:extLst>
          </p:cNvPr>
          <p:cNvSpPr/>
          <p:nvPr/>
        </p:nvSpPr>
        <p:spPr>
          <a:xfrm>
            <a:off x="6110631" y="1915845"/>
            <a:ext cx="1008112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en-US" altLang="ko-KR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ESS </a:t>
            </a:r>
            <a:r>
              <a:rPr lang="ko-KR" altLang="en-US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사용량</a:t>
            </a:r>
          </a:p>
        </p:txBody>
      </p:sp>
      <p:cxnSp>
        <p:nvCxnSpPr>
          <p:cNvPr id="191" name="직선 연결선 190">
            <a:extLst>
              <a:ext uri="{FF2B5EF4-FFF2-40B4-BE49-F238E27FC236}">
                <a16:creationId xmlns:a16="http://schemas.microsoft.com/office/drawing/2014/main" id="{74258260-91C3-4A29-9805-94F375247829}"/>
              </a:ext>
            </a:extLst>
          </p:cNvPr>
          <p:cNvCxnSpPr/>
          <p:nvPr/>
        </p:nvCxnSpPr>
        <p:spPr>
          <a:xfrm>
            <a:off x="6969224" y="2038073"/>
            <a:ext cx="504056" cy="0"/>
          </a:xfrm>
          <a:prstGeom prst="line">
            <a:avLst/>
          </a:prstGeom>
          <a:solidFill>
            <a:schemeClr val="accent2">
              <a:lumMod val="60000"/>
              <a:lumOff val="40000"/>
            </a:schemeClr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92" name="직사각형 191">
            <a:extLst>
              <a:ext uri="{FF2B5EF4-FFF2-40B4-BE49-F238E27FC236}">
                <a16:creationId xmlns:a16="http://schemas.microsoft.com/office/drawing/2014/main" id="{BC422BBC-D73A-4DD6-B9E7-A8637108FD6A}"/>
              </a:ext>
            </a:extLst>
          </p:cNvPr>
          <p:cNvSpPr/>
          <p:nvPr/>
        </p:nvSpPr>
        <p:spPr>
          <a:xfrm>
            <a:off x="7545288" y="1915845"/>
            <a:ext cx="1008112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en-US" altLang="ko-KR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PV </a:t>
            </a:r>
            <a:r>
              <a:rPr lang="ko-KR" altLang="en-US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사용량</a:t>
            </a:r>
          </a:p>
        </p:txBody>
      </p:sp>
    </p:spTree>
    <p:extLst>
      <p:ext uri="{BB962C8B-B14F-4D97-AF65-F5344CB8AC3E}">
        <p14:creationId xmlns:p14="http://schemas.microsoft.com/office/powerpoint/2010/main" val="3003700143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9104309" y="6645875"/>
            <a:ext cx="140029" cy="138499"/>
          </a:xfrm>
        </p:spPr>
        <p:txBody>
          <a:bodyPr/>
          <a:lstStyle/>
          <a:p>
            <a:pPr>
              <a:defRPr/>
            </a:pPr>
            <a:fld id="{9E41B634-5682-4388-99E7-FE44DCFD254B}" type="slidenum">
              <a:rPr lang="ko-KR" altLang="en-US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>
                <a:defRPr/>
              </a:pPr>
              <a:t>31</a:t>
            </a:fld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텍스트 개체 틀 8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Site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 &gt;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장치 모니터링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&gt;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장치 모니터링 현황</a:t>
            </a:r>
          </a:p>
        </p:txBody>
      </p:sp>
      <p:sp>
        <p:nvSpPr>
          <p:cNvPr id="10" name="텍스트 개체 틀 9"/>
          <p:cNvSpPr>
            <a:spLocks noGrp="1"/>
          </p:cNvSpPr>
          <p:nvPr>
            <p:ph type="body" sz="quarter" idx="10"/>
          </p:nvPr>
        </p:nvSpPr>
        <p:spPr>
          <a:xfrm>
            <a:off x="6023595" y="44624"/>
            <a:ext cx="1233661" cy="196974"/>
          </a:xfrm>
        </p:spPr>
        <p:txBody>
          <a:bodyPr/>
          <a:lstStyle/>
          <a:p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장치 모니터링 현황</a:t>
            </a:r>
          </a:p>
        </p:txBody>
      </p:sp>
      <p:graphicFrame>
        <p:nvGraphicFramePr>
          <p:cNvPr id="102" name="Group 15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32652197"/>
              </p:ext>
            </p:extLst>
          </p:nvPr>
        </p:nvGraphicFramePr>
        <p:xfrm>
          <a:off x="8469313" y="276225"/>
          <a:ext cx="1404000" cy="5113728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3002"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Description</a:t>
                      </a: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장치 선택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1)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현황을 표시할 장치를 선택한다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.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선택 가능한 장치는 다음과 같다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.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 - IOE, PCS, BMS, PV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2)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메뉴의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‘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장치 모니터링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’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에서 선택된 하위 메뉴의 장치에 라디오 버튼이 활성화 된다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.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2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데이터 갱신 시간 표시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 </a:t>
                      </a:r>
                      <a:r>
                        <a:rPr lang="en-US" altLang="ko-KR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- </a:t>
                      </a: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조회 시간 표시</a:t>
                      </a:r>
                      <a:endParaRPr lang="en-US" altLang="ko-KR" sz="800" b="0" u="non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52665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3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장치 현황 표</a:t>
                      </a:r>
                      <a:endParaRPr lang="en-US" altLang="ko-KR" sz="800" b="1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1)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라디오 버튼에서 선택된 종류의 장치 리스트를 보여주는 표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2)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본 페이지에서는 </a:t>
                      </a: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IOE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장치 리스트 표시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*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다른 장치는 다음 페이지 참고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800" b="1" i="0" u="none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3) IOE</a:t>
                      </a:r>
                      <a:r>
                        <a:rPr lang="ko-KR" altLang="en-US" sz="800" b="1" i="0" u="none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장치의 표 컬럼은 확정 후 업데이트 예정</a:t>
                      </a:r>
                      <a:endParaRPr lang="en-US" altLang="ko-KR" sz="800" b="1" i="0" u="none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4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데이터 저장하기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1)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각 장치 별 현황 리스트를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csv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형태로 저장한다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.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2)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에너지 모니터링과 다르게 장치 모니터링에서는 모든 장치 현황을 한 번에 저장한다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.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5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상세 보기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1)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리스트 상에 선택된 장치 항목의 상세정보를 보여주는 팝업을 출력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2)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표에서 장치 항목을 더블 클릭해도 동일한 동작 진행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78" name="TextBox 77"/>
          <p:cNvSpPr txBox="1"/>
          <p:nvPr/>
        </p:nvSpPr>
        <p:spPr>
          <a:xfrm>
            <a:off x="7121707" y="21349"/>
            <a:ext cx="567597" cy="2308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화면</a:t>
            </a:r>
            <a:r>
              <a:rPr lang="en-US" altLang="ko-KR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ID</a:t>
            </a:r>
            <a:endParaRPr lang="ko-KR" altLang="en-US" sz="9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7689304" y="43659"/>
            <a:ext cx="792088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itchFamily="50" charset="-127"/>
                <a:ea typeface="맑은 고딕" pitchFamily="50" charset="-127"/>
              </a:rPr>
              <a:t>ewpsp_scr_016</a:t>
            </a:r>
            <a:endParaRPr lang="ko-KR" altLang="en-US" sz="700" dirty="0">
              <a:latin typeface="맑은 고딕" pitchFamily="50" charset="-127"/>
              <a:ea typeface="맑은 고딕" pitchFamily="50" charset="-127"/>
            </a:endParaRPr>
          </a:p>
        </p:txBody>
      </p:sp>
      <p:pic>
        <p:nvPicPr>
          <p:cNvPr id="18" name="Picture 3">
            <a:extLst>
              <a:ext uri="{FF2B5EF4-FFF2-40B4-BE49-F238E27FC236}">
                <a16:creationId xmlns:a16="http://schemas.microsoft.com/office/drawing/2014/main" id="{D14E8AEF-8EA8-4944-AE52-FF98A1FB783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8796" y="794365"/>
            <a:ext cx="8198579" cy="4248472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  <a:extLst/>
        </p:spPr>
      </p:pic>
      <p:pic>
        <p:nvPicPr>
          <p:cNvPr id="19" name="Picture 2">
            <a:extLst>
              <a:ext uri="{FF2B5EF4-FFF2-40B4-BE49-F238E27FC236}">
                <a16:creationId xmlns:a16="http://schemas.microsoft.com/office/drawing/2014/main" id="{6FBB0165-03FF-4BBD-A158-8DEF923CF53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8795" y="755669"/>
            <a:ext cx="8198579" cy="3487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20" name="직선 연결선 19">
            <a:extLst>
              <a:ext uri="{FF2B5EF4-FFF2-40B4-BE49-F238E27FC236}">
                <a16:creationId xmlns:a16="http://schemas.microsoft.com/office/drawing/2014/main" id="{37D07777-30AA-4506-9C18-6F3B4C7D943C}"/>
              </a:ext>
            </a:extLst>
          </p:cNvPr>
          <p:cNvCxnSpPr>
            <a:cxnSpLocks/>
          </p:cNvCxnSpPr>
          <p:nvPr/>
        </p:nvCxnSpPr>
        <p:spPr>
          <a:xfrm>
            <a:off x="132022" y="1124744"/>
            <a:ext cx="8198579" cy="0"/>
          </a:xfrm>
          <a:prstGeom prst="line">
            <a:avLst/>
          </a:prstGeom>
          <a:ln w="9525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5E84417E-CAA5-4FD3-BBB9-7CD5570EF571}"/>
              </a:ext>
            </a:extLst>
          </p:cNvPr>
          <p:cNvSpPr/>
          <p:nvPr/>
        </p:nvSpPr>
        <p:spPr>
          <a:xfrm>
            <a:off x="216315" y="1484784"/>
            <a:ext cx="1820532" cy="288032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10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장치</a:t>
            </a:r>
            <a:r>
              <a:rPr lang="en-US" altLang="ko-KR" sz="10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ko-KR" altLang="en-US" sz="10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모니터링 현황</a:t>
            </a: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180BACBD-4B64-4649-BD7C-E1EE3620FBC6}"/>
              </a:ext>
            </a:extLst>
          </p:cNvPr>
          <p:cNvSpPr/>
          <p:nvPr/>
        </p:nvSpPr>
        <p:spPr>
          <a:xfrm>
            <a:off x="120419" y="1717348"/>
            <a:ext cx="1510265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150000"/>
              </a:lnSpc>
            </a:pPr>
            <a:r>
              <a:rPr lang="en-US" altLang="ko-KR" sz="900" b="1" dirty="0">
                <a:solidFill>
                  <a:schemeClr val="bg1">
                    <a:lumMod val="6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YYYY-MM-DD hh:mm</a:t>
            </a:r>
            <a:endParaRPr lang="ko-KR" altLang="en-US" sz="900" b="1" dirty="0">
              <a:solidFill>
                <a:schemeClr val="bg1">
                  <a:lumMod val="6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47" name="Picture 2" descr="ì¤ì ì ëí ì´ë¯¸ì§ ê²ìê²°ê³¼">
            <a:extLst>
              <a:ext uri="{FF2B5EF4-FFF2-40B4-BE49-F238E27FC236}">
                <a16:creationId xmlns:a16="http://schemas.microsoft.com/office/drawing/2014/main" id="{90A888AD-844A-4544-B02A-A77BC3397C7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05865" y="844086"/>
            <a:ext cx="198592" cy="19859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aphicFrame>
        <p:nvGraphicFramePr>
          <p:cNvPr id="40" name="표 39">
            <a:extLst>
              <a:ext uri="{FF2B5EF4-FFF2-40B4-BE49-F238E27FC236}">
                <a16:creationId xmlns:a16="http://schemas.microsoft.com/office/drawing/2014/main" id="{A01B135B-1F1A-4BB1-9A74-0022D6E7A74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43554581"/>
              </p:ext>
            </p:extLst>
          </p:nvPr>
        </p:nvGraphicFramePr>
        <p:xfrm>
          <a:off x="376784" y="2176436"/>
          <a:ext cx="7776864" cy="112911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32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413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93610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44016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16024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30516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NO</a:t>
                      </a:r>
                      <a:endParaRPr lang="ko-KR" altLang="en-US" sz="10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aseline="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Site Name</a:t>
                      </a:r>
                      <a:endParaRPr lang="ko-KR" altLang="en-US" sz="10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aseline="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Site ID</a:t>
                      </a:r>
                      <a:endParaRPr lang="ko-KR" altLang="en-US" sz="10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Device</a:t>
                      </a:r>
                      <a:r>
                        <a:rPr lang="en-US" altLang="ko-KR" sz="1000" baseline="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Name</a:t>
                      </a:r>
                      <a:endParaRPr lang="ko-KR" altLang="en-US" sz="10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Device</a:t>
                      </a:r>
                      <a:r>
                        <a:rPr lang="en-US" altLang="ko-KR" sz="1000" baseline="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ID</a:t>
                      </a:r>
                      <a:endParaRPr lang="ko-KR" altLang="en-US" sz="10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Status</a:t>
                      </a:r>
                      <a:endParaRPr lang="ko-KR" altLang="en-US" sz="10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Status Time</a:t>
                      </a:r>
                      <a:endParaRPr lang="ko-KR" altLang="en-US" sz="10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465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제일화성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10037202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IOE(</a:t>
                      </a:r>
                      <a:r>
                        <a:rPr lang="ko-KR" altLang="en-US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총량</a:t>
                      </a:r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41331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NORMAL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2018-06-15  2:39:01 PM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7465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제일화성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10037202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ESS(</a:t>
                      </a:r>
                      <a:r>
                        <a:rPr lang="ko-KR" altLang="en-US" sz="900" b="1" kern="1200" dirty="0" err="1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충방전</a:t>
                      </a:r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41332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NORMAL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2018-06-15  2:39:01 PM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7465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제일화성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10037202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kern="1200" dirty="0" err="1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소내전력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41333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DISCONNECTED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2018-06-15  2:39:01 PM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52" name="직사각형 51">
            <a:extLst>
              <a:ext uri="{FF2B5EF4-FFF2-40B4-BE49-F238E27FC236}">
                <a16:creationId xmlns:a16="http://schemas.microsoft.com/office/drawing/2014/main" id="{9D066E92-3969-4163-8951-1B55C00C795F}"/>
              </a:ext>
            </a:extLst>
          </p:cNvPr>
          <p:cNvSpPr/>
          <p:nvPr/>
        </p:nvSpPr>
        <p:spPr>
          <a:xfrm>
            <a:off x="4531730" y="1776647"/>
            <a:ext cx="673646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en-US" altLang="ko-KR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IOE</a:t>
            </a:r>
            <a:endParaRPr lang="ko-KR" altLang="en-US" sz="8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74025361-6332-409A-9ED3-B4DC569F15A4}"/>
              </a:ext>
            </a:extLst>
          </p:cNvPr>
          <p:cNvSpPr/>
          <p:nvPr/>
        </p:nvSpPr>
        <p:spPr>
          <a:xfrm>
            <a:off x="5610498" y="1776647"/>
            <a:ext cx="673646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en-US" altLang="ko-KR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PCS</a:t>
            </a:r>
            <a:endParaRPr lang="ko-KR" altLang="en-US" sz="8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896A8CDE-D090-4223-824B-6E5F732F96F5}"/>
              </a:ext>
            </a:extLst>
          </p:cNvPr>
          <p:cNvSpPr/>
          <p:nvPr/>
        </p:nvSpPr>
        <p:spPr>
          <a:xfrm>
            <a:off x="6641480" y="1776647"/>
            <a:ext cx="673646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en-US" altLang="ko-KR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BMS</a:t>
            </a:r>
            <a:endParaRPr lang="ko-KR" altLang="en-US" sz="8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437ADA0F-08A8-41EA-A8F7-52F93AD8E01C}"/>
              </a:ext>
            </a:extLst>
          </p:cNvPr>
          <p:cNvSpPr/>
          <p:nvPr/>
        </p:nvSpPr>
        <p:spPr>
          <a:xfrm>
            <a:off x="7669915" y="1776280"/>
            <a:ext cx="673646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en-US" altLang="ko-KR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PV</a:t>
            </a:r>
            <a:endParaRPr lang="ko-KR" altLang="en-US" sz="8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6" name="타원 55">
            <a:extLst>
              <a:ext uri="{FF2B5EF4-FFF2-40B4-BE49-F238E27FC236}">
                <a16:creationId xmlns:a16="http://schemas.microsoft.com/office/drawing/2014/main" id="{4F5BBFF8-DC71-4275-B2EF-09F0FB53F93D}"/>
              </a:ext>
            </a:extLst>
          </p:cNvPr>
          <p:cNvSpPr/>
          <p:nvPr/>
        </p:nvSpPr>
        <p:spPr>
          <a:xfrm>
            <a:off x="4400101" y="1865074"/>
            <a:ext cx="131472" cy="122712"/>
          </a:xfrm>
          <a:prstGeom prst="ellipse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7" name="타원 56">
            <a:extLst>
              <a:ext uri="{FF2B5EF4-FFF2-40B4-BE49-F238E27FC236}">
                <a16:creationId xmlns:a16="http://schemas.microsoft.com/office/drawing/2014/main" id="{F150DCBD-0243-47A6-BD6A-8F4B604E5DFA}"/>
              </a:ext>
            </a:extLst>
          </p:cNvPr>
          <p:cNvSpPr/>
          <p:nvPr/>
        </p:nvSpPr>
        <p:spPr>
          <a:xfrm>
            <a:off x="5466574" y="1865074"/>
            <a:ext cx="131472" cy="122712"/>
          </a:xfrm>
          <a:prstGeom prst="ellipse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8" name="타원 57">
            <a:extLst>
              <a:ext uri="{FF2B5EF4-FFF2-40B4-BE49-F238E27FC236}">
                <a16:creationId xmlns:a16="http://schemas.microsoft.com/office/drawing/2014/main" id="{5DC52973-FB1B-4E3E-AF29-3E272387B2E7}"/>
              </a:ext>
            </a:extLst>
          </p:cNvPr>
          <p:cNvSpPr/>
          <p:nvPr/>
        </p:nvSpPr>
        <p:spPr>
          <a:xfrm>
            <a:off x="6473243" y="1871762"/>
            <a:ext cx="131472" cy="122712"/>
          </a:xfrm>
          <a:prstGeom prst="ellipse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9" name="타원 58">
            <a:extLst>
              <a:ext uri="{FF2B5EF4-FFF2-40B4-BE49-F238E27FC236}">
                <a16:creationId xmlns:a16="http://schemas.microsoft.com/office/drawing/2014/main" id="{15A4F073-2990-4297-A95B-4D06A4AABA02}"/>
              </a:ext>
            </a:extLst>
          </p:cNvPr>
          <p:cNvSpPr/>
          <p:nvPr/>
        </p:nvSpPr>
        <p:spPr>
          <a:xfrm>
            <a:off x="7487953" y="1865074"/>
            <a:ext cx="131472" cy="122712"/>
          </a:xfrm>
          <a:prstGeom prst="ellipse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60" name="그룹 59">
            <a:extLst>
              <a:ext uri="{FF2B5EF4-FFF2-40B4-BE49-F238E27FC236}">
                <a16:creationId xmlns:a16="http://schemas.microsoft.com/office/drawing/2014/main" id="{EC6621BA-B527-44A5-B27F-990A7C9AD790}"/>
              </a:ext>
            </a:extLst>
          </p:cNvPr>
          <p:cNvGrpSpPr/>
          <p:nvPr/>
        </p:nvGrpSpPr>
        <p:grpSpPr>
          <a:xfrm>
            <a:off x="416496" y="4579438"/>
            <a:ext cx="862386" cy="211955"/>
            <a:chOff x="4861742" y="3907374"/>
            <a:chExt cx="862386" cy="211955"/>
          </a:xfrm>
        </p:grpSpPr>
        <p:pic>
          <p:nvPicPr>
            <p:cNvPr id="61" name="Picture 6" descr="ìì ë¤ì´ë¡ëì ëí ì´ë¯¸ì§ ê²ìê²°ê³¼">
              <a:extLst>
                <a:ext uri="{FF2B5EF4-FFF2-40B4-BE49-F238E27FC236}">
                  <a16:creationId xmlns:a16="http://schemas.microsoft.com/office/drawing/2014/main" id="{AA2B83FB-8FE8-4F4A-AAFB-F712DA9679B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861742" y="3907374"/>
              <a:ext cx="211955" cy="21195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9BD3E16E-9FD9-4439-8B41-53E5659D5D34}"/>
                </a:ext>
              </a:extLst>
            </p:cNvPr>
            <p:cNvSpPr txBox="1"/>
            <p:nvPr/>
          </p:nvSpPr>
          <p:spPr>
            <a:xfrm>
              <a:off x="4949189" y="3921018"/>
              <a:ext cx="7749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데이터 저장하기</a:t>
              </a:r>
            </a:p>
          </p:txBody>
        </p:sp>
      </p:grpSp>
      <p:sp>
        <p:nvSpPr>
          <p:cNvPr id="64" name="TextBox 63">
            <a:extLst>
              <a:ext uri="{FF2B5EF4-FFF2-40B4-BE49-F238E27FC236}">
                <a16:creationId xmlns:a16="http://schemas.microsoft.com/office/drawing/2014/main" id="{766D9608-44C0-49A5-AE7B-0C52B8010531}"/>
              </a:ext>
            </a:extLst>
          </p:cNvPr>
          <p:cNvSpPr txBox="1"/>
          <p:nvPr/>
        </p:nvSpPr>
        <p:spPr>
          <a:xfrm>
            <a:off x="7378090" y="4452480"/>
            <a:ext cx="720080" cy="253916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상세보기</a:t>
            </a:r>
          </a:p>
        </p:txBody>
      </p:sp>
      <p:grpSp>
        <p:nvGrpSpPr>
          <p:cNvPr id="37" name="그룹 36">
            <a:extLst>
              <a:ext uri="{FF2B5EF4-FFF2-40B4-BE49-F238E27FC236}">
                <a16:creationId xmlns:a16="http://schemas.microsoft.com/office/drawing/2014/main" id="{F4DBF01D-6C22-4FEC-9429-D0C2AB43270B}"/>
              </a:ext>
            </a:extLst>
          </p:cNvPr>
          <p:cNvGrpSpPr/>
          <p:nvPr/>
        </p:nvGrpSpPr>
        <p:grpSpPr>
          <a:xfrm>
            <a:off x="210356" y="1203435"/>
            <a:ext cx="8024876" cy="260092"/>
            <a:chOff x="184526" y="1505937"/>
            <a:chExt cx="8024876" cy="260092"/>
          </a:xfrm>
        </p:grpSpPr>
        <p:sp>
          <p:nvSpPr>
            <p:cNvPr id="38" name="직사각형 37">
              <a:extLst>
                <a:ext uri="{FF2B5EF4-FFF2-40B4-BE49-F238E27FC236}">
                  <a16:creationId xmlns:a16="http://schemas.microsoft.com/office/drawing/2014/main" id="{995C1B48-7E8E-4CF7-B41F-AE0679E11CCD}"/>
                </a:ext>
              </a:extLst>
            </p:cNvPr>
            <p:cNvSpPr/>
            <p:nvPr/>
          </p:nvSpPr>
          <p:spPr>
            <a:xfrm>
              <a:off x="5810955" y="1550585"/>
              <a:ext cx="1820532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수익 현황</a:t>
              </a:r>
            </a:p>
          </p:txBody>
        </p:sp>
        <p:sp>
          <p:nvSpPr>
            <p:cNvPr id="39" name="직사각형 38">
              <a:extLst>
                <a:ext uri="{FF2B5EF4-FFF2-40B4-BE49-F238E27FC236}">
                  <a16:creationId xmlns:a16="http://schemas.microsoft.com/office/drawing/2014/main" id="{684ECB2B-0C4F-47B4-9DDA-55E8A991654A}"/>
                </a:ext>
              </a:extLst>
            </p:cNvPr>
            <p:cNvSpPr/>
            <p:nvPr/>
          </p:nvSpPr>
          <p:spPr>
            <a:xfrm>
              <a:off x="184526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에너지 모니터링</a:t>
              </a:r>
            </a:p>
          </p:txBody>
        </p:sp>
        <p:sp>
          <p:nvSpPr>
            <p:cNvPr id="41" name="직사각형 40">
              <a:extLst>
                <a:ext uri="{FF2B5EF4-FFF2-40B4-BE49-F238E27FC236}">
                  <a16:creationId xmlns:a16="http://schemas.microsoft.com/office/drawing/2014/main" id="{4BDDFDA6-EEA6-4437-98BF-2331013C7865}"/>
                </a:ext>
              </a:extLst>
            </p:cNvPr>
            <p:cNvSpPr/>
            <p:nvPr/>
          </p:nvSpPr>
          <p:spPr>
            <a:xfrm>
              <a:off x="2191085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장치 모니터링</a:t>
              </a:r>
            </a:p>
          </p:txBody>
        </p:sp>
        <p:sp>
          <p:nvSpPr>
            <p:cNvPr id="42" name="직사각형 41">
              <a:extLst>
                <a:ext uri="{FF2B5EF4-FFF2-40B4-BE49-F238E27FC236}">
                  <a16:creationId xmlns:a16="http://schemas.microsoft.com/office/drawing/2014/main" id="{EEC886D6-B99D-4616-B11C-02EA26502623}"/>
                </a:ext>
              </a:extLst>
            </p:cNvPr>
            <p:cNvSpPr/>
            <p:nvPr/>
          </p:nvSpPr>
          <p:spPr>
            <a:xfrm>
              <a:off x="4197644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상황</a:t>
              </a:r>
              <a:r>
                <a:rPr lang="en-US" altLang="ko-KR" sz="700" dirty="0"/>
                <a:t> </a:t>
              </a:r>
              <a:r>
                <a:rPr lang="ko-KR" altLang="en-US" sz="700" dirty="0"/>
                <a:t>관제</a:t>
              </a:r>
            </a:p>
          </p:txBody>
        </p:sp>
        <p:sp>
          <p:nvSpPr>
            <p:cNvPr id="43" name="직사각형 42">
              <a:extLst>
                <a:ext uri="{FF2B5EF4-FFF2-40B4-BE49-F238E27FC236}">
                  <a16:creationId xmlns:a16="http://schemas.microsoft.com/office/drawing/2014/main" id="{A7EFF57E-EDE4-4031-B200-A006F43FD8EF}"/>
                </a:ext>
              </a:extLst>
            </p:cNvPr>
            <p:cNvSpPr/>
            <p:nvPr/>
          </p:nvSpPr>
          <p:spPr>
            <a:xfrm>
              <a:off x="6204202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요금</a:t>
              </a:r>
              <a:r>
                <a:rPr lang="en-US" altLang="ko-KR" sz="700" dirty="0"/>
                <a:t>/</a:t>
              </a:r>
              <a:r>
                <a:rPr lang="ko-KR" altLang="en-US" sz="700" dirty="0"/>
                <a:t>수익</a:t>
              </a:r>
            </a:p>
          </p:txBody>
        </p:sp>
      </p:grpSp>
      <p:sp>
        <p:nvSpPr>
          <p:cNvPr id="227" name="타원형 설명선 226"/>
          <p:cNvSpPr/>
          <p:nvPr/>
        </p:nvSpPr>
        <p:spPr>
          <a:xfrm>
            <a:off x="128463" y="1763762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4" name="타원형 설명선 243"/>
          <p:cNvSpPr/>
          <p:nvPr/>
        </p:nvSpPr>
        <p:spPr>
          <a:xfrm>
            <a:off x="171854" y="4377082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5" name="타원형 설명선 244"/>
          <p:cNvSpPr/>
          <p:nvPr/>
        </p:nvSpPr>
        <p:spPr>
          <a:xfrm>
            <a:off x="115586" y="2077388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3" name="타원형 설명선 225">
            <a:extLst>
              <a:ext uri="{FF2B5EF4-FFF2-40B4-BE49-F238E27FC236}">
                <a16:creationId xmlns:a16="http://schemas.microsoft.com/office/drawing/2014/main" id="{93402A8C-F86A-4207-9226-F02BE6AB6E19}"/>
              </a:ext>
            </a:extLst>
          </p:cNvPr>
          <p:cNvSpPr/>
          <p:nvPr/>
        </p:nvSpPr>
        <p:spPr>
          <a:xfrm>
            <a:off x="4053502" y="1660510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B421E6B4-A01F-40FB-844F-E8452D1D5BCC}"/>
              </a:ext>
            </a:extLst>
          </p:cNvPr>
          <p:cNvSpPr/>
          <p:nvPr/>
        </p:nvSpPr>
        <p:spPr>
          <a:xfrm>
            <a:off x="4329136" y="1751608"/>
            <a:ext cx="3720208" cy="360040"/>
          </a:xfrm>
          <a:prstGeom prst="rect">
            <a:avLst/>
          </a:prstGeom>
          <a:noFill/>
          <a:ln w="127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5" name="타원형 설명선 243">
            <a:extLst>
              <a:ext uri="{FF2B5EF4-FFF2-40B4-BE49-F238E27FC236}">
                <a16:creationId xmlns:a16="http://schemas.microsoft.com/office/drawing/2014/main" id="{88210255-9E72-4B00-A04C-D59BFB45C839}"/>
              </a:ext>
            </a:extLst>
          </p:cNvPr>
          <p:cNvSpPr/>
          <p:nvPr/>
        </p:nvSpPr>
        <p:spPr>
          <a:xfrm>
            <a:off x="7099126" y="4251868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87223701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9104309" y="6645875"/>
            <a:ext cx="140029" cy="138499"/>
          </a:xfrm>
        </p:spPr>
        <p:txBody>
          <a:bodyPr/>
          <a:lstStyle/>
          <a:p>
            <a:pPr>
              <a:defRPr/>
            </a:pPr>
            <a:fld id="{9E41B634-5682-4388-99E7-FE44DCFD254B}" type="slidenum">
              <a:rPr lang="ko-KR" altLang="en-US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>
                <a:defRPr/>
              </a:pPr>
              <a:t>32</a:t>
            </a:fld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텍스트 개체 틀 8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Site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 &gt;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장치 모니터링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&gt;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장치 모니터링 현황</a:t>
            </a:r>
          </a:p>
        </p:txBody>
      </p:sp>
      <p:sp>
        <p:nvSpPr>
          <p:cNvPr id="10" name="텍스트 개체 틀 9"/>
          <p:cNvSpPr>
            <a:spLocks noGrp="1"/>
          </p:cNvSpPr>
          <p:nvPr>
            <p:ph type="body" sz="quarter" idx="10"/>
          </p:nvPr>
        </p:nvSpPr>
        <p:spPr>
          <a:xfrm>
            <a:off x="6023595" y="44624"/>
            <a:ext cx="1233661" cy="196974"/>
          </a:xfrm>
        </p:spPr>
        <p:txBody>
          <a:bodyPr/>
          <a:lstStyle/>
          <a:p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장치 모니터링 현황</a:t>
            </a:r>
          </a:p>
        </p:txBody>
      </p:sp>
      <p:graphicFrame>
        <p:nvGraphicFramePr>
          <p:cNvPr id="102" name="Group 15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64227652"/>
              </p:ext>
            </p:extLst>
          </p:nvPr>
        </p:nvGraphicFramePr>
        <p:xfrm>
          <a:off x="8469313" y="276225"/>
          <a:ext cx="1404000" cy="1580352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3002"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Description</a:t>
                      </a: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1441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i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PCS </a:t>
                      </a:r>
                      <a:r>
                        <a:rPr lang="ko-KR" altLang="en-US" sz="800" b="1" i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장치 리스트</a:t>
                      </a:r>
                      <a:endParaRPr lang="en-US" altLang="ko-KR" sz="800" b="1" i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i="0" u="none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PCS</a:t>
                      </a:r>
                      <a:r>
                        <a:rPr lang="ko-KR" altLang="en-US" sz="800" b="1" i="0" u="none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장치의 표 컬럼은 확정 후 업데이트 예정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3353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2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i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BMS</a:t>
                      </a:r>
                      <a:r>
                        <a:rPr lang="ko-KR" altLang="en-US" sz="800" b="1" i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장치 리스트</a:t>
                      </a:r>
                      <a:endParaRPr lang="en-US" altLang="ko-KR" sz="800" b="1" i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i="0" u="none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BMS </a:t>
                      </a:r>
                      <a:r>
                        <a:rPr lang="ko-KR" altLang="en-US" sz="800" b="1" i="0" u="none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장치의 표 컬럼은 확정 후 업데이트 예정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3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i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PV </a:t>
                      </a:r>
                      <a:r>
                        <a:rPr lang="ko-KR" altLang="en-US" sz="800" b="1" i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장치 리스트</a:t>
                      </a:r>
                      <a:endParaRPr lang="en-US" altLang="ko-KR" sz="800" b="1" i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i="0" u="none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PV</a:t>
                      </a:r>
                      <a:r>
                        <a:rPr lang="ko-KR" altLang="en-US" sz="800" b="1" i="0" u="none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장치의 표 컬럼은 확정 후 업데이트 예정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78" name="TextBox 77"/>
          <p:cNvSpPr txBox="1"/>
          <p:nvPr/>
        </p:nvSpPr>
        <p:spPr>
          <a:xfrm>
            <a:off x="7121707" y="21349"/>
            <a:ext cx="567597" cy="2308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화면</a:t>
            </a:r>
            <a:r>
              <a:rPr lang="en-US" altLang="ko-KR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ID</a:t>
            </a:r>
            <a:endParaRPr lang="ko-KR" altLang="en-US" sz="9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7689304" y="43659"/>
            <a:ext cx="792088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itchFamily="50" charset="-127"/>
                <a:ea typeface="맑은 고딕" pitchFamily="50" charset="-127"/>
              </a:rPr>
              <a:t>ewpsp_scr_016</a:t>
            </a:r>
            <a:endParaRPr lang="ko-KR" altLang="en-US" sz="700" dirty="0">
              <a:latin typeface="맑은 고딕" pitchFamily="50" charset="-127"/>
              <a:ea typeface="맑은 고딕" pitchFamily="50" charset="-127"/>
            </a:endParaRPr>
          </a:p>
        </p:txBody>
      </p:sp>
      <p:pic>
        <p:nvPicPr>
          <p:cNvPr id="18" name="Picture 3">
            <a:extLst>
              <a:ext uri="{FF2B5EF4-FFF2-40B4-BE49-F238E27FC236}">
                <a16:creationId xmlns:a16="http://schemas.microsoft.com/office/drawing/2014/main" id="{D14E8AEF-8EA8-4944-AE52-FF98A1FB783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0419" y="782289"/>
            <a:ext cx="8208912" cy="4662936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  <a:extLst/>
        </p:spPr>
      </p:pic>
      <p:sp>
        <p:nvSpPr>
          <p:cNvPr id="52" name="직사각형 51">
            <a:extLst>
              <a:ext uri="{FF2B5EF4-FFF2-40B4-BE49-F238E27FC236}">
                <a16:creationId xmlns:a16="http://schemas.microsoft.com/office/drawing/2014/main" id="{9D066E92-3969-4163-8951-1B55C00C795F}"/>
              </a:ext>
            </a:extLst>
          </p:cNvPr>
          <p:cNvSpPr/>
          <p:nvPr/>
        </p:nvSpPr>
        <p:spPr>
          <a:xfrm>
            <a:off x="4531730" y="909087"/>
            <a:ext cx="673646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en-US" altLang="ko-KR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IOE</a:t>
            </a:r>
            <a:endParaRPr lang="ko-KR" altLang="en-US" sz="8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74025361-6332-409A-9ED3-B4DC569F15A4}"/>
              </a:ext>
            </a:extLst>
          </p:cNvPr>
          <p:cNvSpPr/>
          <p:nvPr/>
        </p:nvSpPr>
        <p:spPr>
          <a:xfrm>
            <a:off x="5610498" y="909087"/>
            <a:ext cx="673646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en-US" altLang="ko-KR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PCS</a:t>
            </a:r>
            <a:endParaRPr lang="ko-KR" altLang="en-US" sz="8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896A8CDE-D090-4223-824B-6E5F732F96F5}"/>
              </a:ext>
            </a:extLst>
          </p:cNvPr>
          <p:cNvSpPr/>
          <p:nvPr/>
        </p:nvSpPr>
        <p:spPr>
          <a:xfrm>
            <a:off x="6641480" y="909087"/>
            <a:ext cx="673646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en-US" altLang="ko-KR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BMS</a:t>
            </a:r>
            <a:endParaRPr lang="ko-KR" altLang="en-US" sz="8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437ADA0F-08A8-41EA-A8F7-52F93AD8E01C}"/>
              </a:ext>
            </a:extLst>
          </p:cNvPr>
          <p:cNvSpPr/>
          <p:nvPr/>
        </p:nvSpPr>
        <p:spPr>
          <a:xfrm>
            <a:off x="7669915" y="908720"/>
            <a:ext cx="673646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en-US" altLang="ko-KR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PV</a:t>
            </a:r>
            <a:endParaRPr lang="ko-KR" altLang="en-US" sz="8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8" name="타원 57">
            <a:extLst>
              <a:ext uri="{FF2B5EF4-FFF2-40B4-BE49-F238E27FC236}">
                <a16:creationId xmlns:a16="http://schemas.microsoft.com/office/drawing/2014/main" id="{5DC52973-FB1B-4E3E-AF29-3E272387B2E7}"/>
              </a:ext>
            </a:extLst>
          </p:cNvPr>
          <p:cNvSpPr/>
          <p:nvPr/>
        </p:nvSpPr>
        <p:spPr>
          <a:xfrm>
            <a:off x="6473243" y="1004202"/>
            <a:ext cx="131472" cy="122712"/>
          </a:xfrm>
          <a:prstGeom prst="ellipse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9" name="타원 58">
            <a:extLst>
              <a:ext uri="{FF2B5EF4-FFF2-40B4-BE49-F238E27FC236}">
                <a16:creationId xmlns:a16="http://schemas.microsoft.com/office/drawing/2014/main" id="{15A4F073-2990-4297-A95B-4D06A4AABA02}"/>
              </a:ext>
            </a:extLst>
          </p:cNvPr>
          <p:cNvSpPr/>
          <p:nvPr/>
        </p:nvSpPr>
        <p:spPr>
          <a:xfrm>
            <a:off x="7487953" y="997514"/>
            <a:ext cx="131472" cy="122712"/>
          </a:xfrm>
          <a:prstGeom prst="ellipse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7" name="타원 36">
            <a:extLst>
              <a:ext uri="{FF2B5EF4-FFF2-40B4-BE49-F238E27FC236}">
                <a16:creationId xmlns:a16="http://schemas.microsoft.com/office/drawing/2014/main" id="{5A105594-51EA-453D-B27C-FB5BACB55DE5}"/>
              </a:ext>
            </a:extLst>
          </p:cNvPr>
          <p:cNvSpPr/>
          <p:nvPr/>
        </p:nvSpPr>
        <p:spPr>
          <a:xfrm>
            <a:off x="5473794" y="998776"/>
            <a:ext cx="131472" cy="122712"/>
          </a:xfrm>
          <a:prstGeom prst="ellipse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8" name="타원 37">
            <a:extLst>
              <a:ext uri="{FF2B5EF4-FFF2-40B4-BE49-F238E27FC236}">
                <a16:creationId xmlns:a16="http://schemas.microsoft.com/office/drawing/2014/main" id="{7CF5510C-8443-4E82-8117-F93466110AD0}"/>
              </a:ext>
            </a:extLst>
          </p:cNvPr>
          <p:cNvSpPr/>
          <p:nvPr/>
        </p:nvSpPr>
        <p:spPr>
          <a:xfrm>
            <a:off x="4402602" y="991954"/>
            <a:ext cx="131472" cy="122712"/>
          </a:xfrm>
          <a:prstGeom prst="ellipse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39" name="표 38">
            <a:extLst>
              <a:ext uri="{FF2B5EF4-FFF2-40B4-BE49-F238E27FC236}">
                <a16:creationId xmlns:a16="http://schemas.microsoft.com/office/drawing/2014/main" id="{F52A9327-879E-4D04-A25A-D3C7F302BDF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07712113"/>
              </p:ext>
            </p:extLst>
          </p:nvPr>
        </p:nvGraphicFramePr>
        <p:xfrm>
          <a:off x="243249" y="1290967"/>
          <a:ext cx="7992888" cy="86261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004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807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807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52128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088231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</a:tblGrid>
              <a:tr h="308076"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10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NO</a:t>
                      </a:r>
                      <a:endParaRPr lang="ko-KR" altLang="en-US" sz="10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10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Site Name</a:t>
                      </a:r>
                      <a:endParaRPr lang="ko-KR" altLang="en-US" sz="10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10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Site ID</a:t>
                      </a:r>
                      <a:endParaRPr lang="ko-KR" altLang="en-US" sz="10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10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Device Name</a:t>
                      </a:r>
                      <a:endParaRPr lang="ko-KR" altLang="en-US" sz="10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10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Device ID</a:t>
                      </a:r>
                      <a:endParaRPr lang="ko-KR" altLang="en-US" sz="10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10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PCS</a:t>
                      </a:r>
                      <a:r>
                        <a:rPr lang="ko-KR" altLang="en-US" sz="10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00" b="1" kern="1200" dirty="0" err="1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Staus</a:t>
                      </a:r>
                      <a:endParaRPr lang="ko-KR" altLang="en-US" sz="10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10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C/D Status</a:t>
                      </a:r>
                      <a:endParaRPr lang="ko-KR" altLang="en-US" sz="10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10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PCS Message</a:t>
                      </a:r>
                      <a:endParaRPr lang="ko-KR" altLang="en-US" sz="10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10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Status Time</a:t>
                      </a:r>
                      <a:endParaRPr lang="ko-KR" altLang="en-US" sz="10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726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제일화성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10037202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PCS_01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41331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RUN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Charge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2018-06-15  2:39:01 PM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7726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제일화성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10037202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PCS_02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41332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STOP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AC</a:t>
                      </a:r>
                      <a:r>
                        <a:rPr lang="en-US" altLang="ko-KR" sz="900" b="1" kern="1200" baseline="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over current </a:t>
                      </a:r>
                    </a:p>
                    <a:p>
                      <a:pPr algn="ctr" latinLnBrk="1"/>
                      <a:r>
                        <a:rPr lang="en-US" altLang="ko-KR" sz="900" b="1" kern="1200" baseline="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R-Phase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2018-06-15  2:39:01 PM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56" name="직사각형 55">
            <a:extLst>
              <a:ext uri="{FF2B5EF4-FFF2-40B4-BE49-F238E27FC236}">
                <a16:creationId xmlns:a16="http://schemas.microsoft.com/office/drawing/2014/main" id="{6238B772-12EA-429C-96EC-AFAAC3CBDFFD}"/>
              </a:ext>
            </a:extLst>
          </p:cNvPr>
          <p:cNvSpPr/>
          <p:nvPr/>
        </p:nvSpPr>
        <p:spPr>
          <a:xfrm>
            <a:off x="4531730" y="2350052"/>
            <a:ext cx="673646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en-US" altLang="ko-KR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IOE</a:t>
            </a:r>
            <a:endParaRPr lang="ko-KR" altLang="en-US" sz="8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346B6C4C-0796-4106-967D-B45ABDEF8BD4}"/>
              </a:ext>
            </a:extLst>
          </p:cNvPr>
          <p:cNvSpPr/>
          <p:nvPr/>
        </p:nvSpPr>
        <p:spPr>
          <a:xfrm>
            <a:off x="5610498" y="2350052"/>
            <a:ext cx="673646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en-US" altLang="ko-KR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PCS</a:t>
            </a:r>
            <a:endParaRPr lang="ko-KR" altLang="en-US" sz="8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57FA6C65-477D-4EC2-8C5D-42BD31959168}"/>
              </a:ext>
            </a:extLst>
          </p:cNvPr>
          <p:cNvSpPr/>
          <p:nvPr/>
        </p:nvSpPr>
        <p:spPr>
          <a:xfrm>
            <a:off x="6641480" y="2350052"/>
            <a:ext cx="673646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en-US" altLang="ko-KR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BMS</a:t>
            </a:r>
            <a:endParaRPr lang="ko-KR" altLang="en-US" sz="8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6E1C7651-D426-42B3-A708-6EE204F1E145}"/>
              </a:ext>
            </a:extLst>
          </p:cNvPr>
          <p:cNvSpPr/>
          <p:nvPr/>
        </p:nvSpPr>
        <p:spPr>
          <a:xfrm>
            <a:off x="7669915" y="2349685"/>
            <a:ext cx="673646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en-US" altLang="ko-KR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PV</a:t>
            </a:r>
            <a:endParaRPr lang="ko-KR" altLang="en-US" sz="8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7" name="타원 66">
            <a:extLst>
              <a:ext uri="{FF2B5EF4-FFF2-40B4-BE49-F238E27FC236}">
                <a16:creationId xmlns:a16="http://schemas.microsoft.com/office/drawing/2014/main" id="{96AA616D-964D-41B8-8FB9-72F08F689665}"/>
              </a:ext>
            </a:extLst>
          </p:cNvPr>
          <p:cNvSpPr/>
          <p:nvPr/>
        </p:nvSpPr>
        <p:spPr>
          <a:xfrm>
            <a:off x="6513464" y="2438479"/>
            <a:ext cx="131472" cy="122712"/>
          </a:xfrm>
          <a:prstGeom prst="ellipse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8" name="타원 67">
            <a:extLst>
              <a:ext uri="{FF2B5EF4-FFF2-40B4-BE49-F238E27FC236}">
                <a16:creationId xmlns:a16="http://schemas.microsoft.com/office/drawing/2014/main" id="{E42EBB6E-0C90-4683-998C-67BBC0749851}"/>
              </a:ext>
            </a:extLst>
          </p:cNvPr>
          <p:cNvSpPr/>
          <p:nvPr/>
        </p:nvSpPr>
        <p:spPr>
          <a:xfrm>
            <a:off x="5466574" y="2438479"/>
            <a:ext cx="131472" cy="122712"/>
          </a:xfrm>
          <a:prstGeom prst="ellipse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9" name="타원 68">
            <a:extLst>
              <a:ext uri="{FF2B5EF4-FFF2-40B4-BE49-F238E27FC236}">
                <a16:creationId xmlns:a16="http://schemas.microsoft.com/office/drawing/2014/main" id="{54269F51-E8DC-4F83-A43A-EF7E40A45603}"/>
              </a:ext>
            </a:extLst>
          </p:cNvPr>
          <p:cNvSpPr/>
          <p:nvPr/>
        </p:nvSpPr>
        <p:spPr>
          <a:xfrm>
            <a:off x="4398745" y="2436900"/>
            <a:ext cx="131472" cy="122712"/>
          </a:xfrm>
          <a:prstGeom prst="ellipse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0" name="타원 69">
            <a:extLst>
              <a:ext uri="{FF2B5EF4-FFF2-40B4-BE49-F238E27FC236}">
                <a16:creationId xmlns:a16="http://schemas.microsoft.com/office/drawing/2014/main" id="{654ADD95-2F9B-44C4-AC90-633E2B290C0F}"/>
              </a:ext>
            </a:extLst>
          </p:cNvPr>
          <p:cNvSpPr/>
          <p:nvPr/>
        </p:nvSpPr>
        <p:spPr>
          <a:xfrm>
            <a:off x="7487953" y="2438479"/>
            <a:ext cx="131472" cy="122712"/>
          </a:xfrm>
          <a:prstGeom prst="ellipse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71" name="표 70">
            <a:extLst>
              <a:ext uri="{FF2B5EF4-FFF2-40B4-BE49-F238E27FC236}">
                <a16:creationId xmlns:a16="http://schemas.microsoft.com/office/drawing/2014/main" id="{8A893887-8A96-4473-9B6E-2EEA9DED790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42379907"/>
              </p:ext>
            </p:extLst>
          </p:nvPr>
        </p:nvGraphicFramePr>
        <p:xfrm>
          <a:off x="243249" y="2731932"/>
          <a:ext cx="7992888" cy="86261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004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807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807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52128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088231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</a:tblGrid>
              <a:tr h="30807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solidFill>
                            <a:schemeClr val="bg1"/>
                          </a:solidFill>
                        </a:rPr>
                        <a:t>NO</a:t>
                      </a:r>
                      <a:endParaRPr lang="ko-KR" altLang="en-US" sz="1000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aseline="0" dirty="0">
                          <a:solidFill>
                            <a:schemeClr val="bg1"/>
                          </a:solidFill>
                        </a:rPr>
                        <a:t>Site Name</a:t>
                      </a:r>
                      <a:endParaRPr lang="ko-KR" altLang="en-US" sz="1000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aseline="0" dirty="0">
                          <a:solidFill>
                            <a:schemeClr val="bg1"/>
                          </a:solidFill>
                        </a:rPr>
                        <a:t>Site ID</a:t>
                      </a:r>
                      <a:endParaRPr lang="ko-KR" altLang="en-US" sz="1000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solidFill>
                            <a:schemeClr val="bg1"/>
                          </a:solidFill>
                        </a:rPr>
                        <a:t>Device</a:t>
                      </a:r>
                      <a:r>
                        <a:rPr lang="en-US" altLang="ko-KR" sz="1000" baseline="0" dirty="0">
                          <a:solidFill>
                            <a:schemeClr val="bg1"/>
                          </a:solidFill>
                        </a:rPr>
                        <a:t> Name</a:t>
                      </a:r>
                      <a:endParaRPr lang="ko-KR" altLang="en-US" sz="1000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solidFill>
                            <a:schemeClr val="bg1"/>
                          </a:solidFill>
                        </a:rPr>
                        <a:t>Device</a:t>
                      </a:r>
                      <a:r>
                        <a:rPr lang="en-US" altLang="ko-KR" sz="1000" baseline="0" dirty="0">
                          <a:solidFill>
                            <a:schemeClr val="bg1"/>
                          </a:solidFill>
                        </a:rPr>
                        <a:t> ID</a:t>
                      </a:r>
                      <a:endParaRPr lang="ko-KR" altLang="en-US" sz="1000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solidFill>
                            <a:schemeClr val="bg1"/>
                          </a:solidFill>
                        </a:rPr>
                        <a:t>BMS</a:t>
                      </a:r>
                      <a:r>
                        <a:rPr lang="en-US" altLang="ko-KR" sz="1000" baseline="0" dirty="0">
                          <a:solidFill>
                            <a:schemeClr val="bg1"/>
                          </a:solidFill>
                        </a:rPr>
                        <a:t> Status</a:t>
                      </a:r>
                      <a:endParaRPr lang="ko-KR" altLang="en-US" sz="1000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solidFill>
                            <a:schemeClr val="bg1"/>
                          </a:solidFill>
                        </a:rPr>
                        <a:t>C/D</a:t>
                      </a:r>
                      <a:r>
                        <a:rPr lang="en-US" altLang="ko-KR" sz="1000" baseline="0" dirty="0">
                          <a:solidFill>
                            <a:schemeClr val="bg1"/>
                          </a:solidFill>
                        </a:rPr>
                        <a:t> </a:t>
                      </a:r>
                      <a:r>
                        <a:rPr lang="en-US" altLang="ko-KR" sz="1000" baseline="0" dirty="0" err="1">
                          <a:solidFill>
                            <a:schemeClr val="bg1"/>
                          </a:solidFill>
                        </a:rPr>
                        <a:t>Satus</a:t>
                      </a:r>
                      <a:endParaRPr lang="ko-KR" altLang="en-US" sz="1000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solidFill>
                            <a:schemeClr val="bg1"/>
                          </a:solidFill>
                        </a:rPr>
                        <a:t>BMS</a:t>
                      </a:r>
                      <a:r>
                        <a:rPr lang="en-US" altLang="ko-KR" sz="1000" baseline="0" dirty="0">
                          <a:solidFill>
                            <a:schemeClr val="bg1"/>
                          </a:solidFill>
                        </a:rPr>
                        <a:t> </a:t>
                      </a:r>
                      <a:r>
                        <a:rPr lang="en-US" altLang="ko-KR" sz="1000" dirty="0">
                          <a:solidFill>
                            <a:schemeClr val="bg1"/>
                          </a:solidFill>
                        </a:rPr>
                        <a:t>Message</a:t>
                      </a:r>
                      <a:endParaRPr lang="ko-KR" altLang="en-US" sz="1000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solidFill>
                            <a:schemeClr val="bg1"/>
                          </a:solidFill>
                        </a:rPr>
                        <a:t>Status Time</a:t>
                      </a:r>
                      <a:endParaRPr lang="ko-KR" altLang="en-US" sz="1000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726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제일화성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10037202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BMS_01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50001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RUN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Charge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-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2018-06-15  2:39:01 PM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7726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제일화성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10037202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BMS_02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50002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FAULT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-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Over</a:t>
                      </a:r>
                      <a:r>
                        <a:rPr lang="en-US" altLang="ko-KR" sz="900" b="1" kern="1200" baseline="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 cell Voltage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2018-06-15  2:39:01 PM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72" name="직사각형 71">
            <a:extLst>
              <a:ext uri="{FF2B5EF4-FFF2-40B4-BE49-F238E27FC236}">
                <a16:creationId xmlns:a16="http://schemas.microsoft.com/office/drawing/2014/main" id="{5E2F0D24-7F67-43AB-9CB7-7BE2C9824CA3}"/>
              </a:ext>
            </a:extLst>
          </p:cNvPr>
          <p:cNvSpPr/>
          <p:nvPr/>
        </p:nvSpPr>
        <p:spPr>
          <a:xfrm>
            <a:off x="4531730" y="3861415"/>
            <a:ext cx="673646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en-US" altLang="ko-KR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IOE</a:t>
            </a:r>
            <a:endParaRPr lang="ko-KR" altLang="en-US" sz="8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971BAAED-BF32-412D-BCE8-3665F2A4509C}"/>
              </a:ext>
            </a:extLst>
          </p:cNvPr>
          <p:cNvSpPr/>
          <p:nvPr/>
        </p:nvSpPr>
        <p:spPr>
          <a:xfrm>
            <a:off x="5610498" y="3861415"/>
            <a:ext cx="673646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en-US" altLang="ko-KR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PCS</a:t>
            </a:r>
            <a:endParaRPr lang="ko-KR" altLang="en-US" sz="8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4" name="직사각형 73">
            <a:extLst>
              <a:ext uri="{FF2B5EF4-FFF2-40B4-BE49-F238E27FC236}">
                <a16:creationId xmlns:a16="http://schemas.microsoft.com/office/drawing/2014/main" id="{56D9B7B9-16EB-4E42-9316-E06C671A3AC2}"/>
              </a:ext>
            </a:extLst>
          </p:cNvPr>
          <p:cNvSpPr/>
          <p:nvPr/>
        </p:nvSpPr>
        <p:spPr>
          <a:xfrm>
            <a:off x="6641480" y="3861415"/>
            <a:ext cx="673646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en-US" altLang="ko-KR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BMS</a:t>
            </a:r>
            <a:endParaRPr lang="ko-KR" altLang="en-US" sz="8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5" name="직사각형 74">
            <a:extLst>
              <a:ext uri="{FF2B5EF4-FFF2-40B4-BE49-F238E27FC236}">
                <a16:creationId xmlns:a16="http://schemas.microsoft.com/office/drawing/2014/main" id="{80ED4063-A89A-4BE9-A585-1DFDA80C826D}"/>
              </a:ext>
            </a:extLst>
          </p:cNvPr>
          <p:cNvSpPr/>
          <p:nvPr/>
        </p:nvSpPr>
        <p:spPr>
          <a:xfrm>
            <a:off x="7669915" y="3861048"/>
            <a:ext cx="673646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en-US" altLang="ko-KR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PV</a:t>
            </a:r>
            <a:endParaRPr lang="ko-KR" altLang="en-US" sz="8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6" name="타원 75">
            <a:extLst>
              <a:ext uri="{FF2B5EF4-FFF2-40B4-BE49-F238E27FC236}">
                <a16:creationId xmlns:a16="http://schemas.microsoft.com/office/drawing/2014/main" id="{2BF96DCB-CBCB-4DC8-A7CE-F3417E61FC5A}"/>
              </a:ext>
            </a:extLst>
          </p:cNvPr>
          <p:cNvSpPr/>
          <p:nvPr/>
        </p:nvSpPr>
        <p:spPr>
          <a:xfrm>
            <a:off x="7534296" y="3944322"/>
            <a:ext cx="131472" cy="122712"/>
          </a:xfrm>
          <a:prstGeom prst="ellipse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7" name="타원 76">
            <a:extLst>
              <a:ext uri="{FF2B5EF4-FFF2-40B4-BE49-F238E27FC236}">
                <a16:creationId xmlns:a16="http://schemas.microsoft.com/office/drawing/2014/main" id="{C2D7716A-932B-474B-8EA5-87CF58C1BAD9}"/>
              </a:ext>
            </a:extLst>
          </p:cNvPr>
          <p:cNvSpPr/>
          <p:nvPr/>
        </p:nvSpPr>
        <p:spPr>
          <a:xfrm>
            <a:off x="5466574" y="3949842"/>
            <a:ext cx="131472" cy="122712"/>
          </a:xfrm>
          <a:prstGeom prst="ellipse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0" name="타원 79">
            <a:extLst>
              <a:ext uri="{FF2B5EF4-FFF2-40B4-BE49-F238E27FC236}">
                <a16:creationId xmlns:a16="http://schemas.microsoft.com/office/drawing/2014/main" id="{7E1996F4-6FE5-4B89-8724-DECA5B88DCED}"/>
              </a:ext>
            </a:extLst>
          </p:cNvPr>
          <p:cNvSpPr/>
          <p:nvPr/>
        </p:nvSpPr>
        <p:spPr>
          <a:xfrm>
            <a:off x="6473243" y="3956530"/>
            <a:ext cx="131472" cy="122712"/>
          </a:xfrm>
          <a:prstGeom prst="ellipse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1" name="타원 80">
            <a:extLst>
              <a:ext uri="{FF2B5EF4-FFF2-40B4-BE49-F238E27FC236}">
                <a16:creationId xmlns:a16="http://schemas.microsoft.com/office/drawing/2014/main" id="{AE780E4C-4BD8-46A7-A039-0BAA1EFDEB3B}"/>
              </a:ext>
            </a:extLst>
          </p:cNvPr>
          <p:cNvSpPr/>
          <p:nvPr/>
        </p:nvSpPr>
        <p:spPr>
          <a:xfrm>
            <a:off x="4396111" y="3948648"/>
            <a:ext cx="131472" cy="122712"/>
          </a:xfrm>
          <a:prstGeom prst="ellipse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82" name="표 81">
            <a:extLst>
              <a:ext uri="{FF2B5EF4-FFF2-40B4-BE49-F238E27FC236}">
                <a16:creationId xmlns:a16="http://schemas.microsoft.com/office/drawing/2014/main" id="{E1D56BC5-D1AF-4DEB-8D91-227481FAA0B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83868137"/>
              </p:ext>
            </p:extLst>
          </p:nvPr>
        </p:nvGraphicFramePr>
        <p:xfrm>
          <a:off x="243249" y="4243295"/>
          <a:ext cx="7992888" cy="86261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004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807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807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82131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05089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088231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</a:tblGrid>
              <a:tr h="30807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solidFill>
                            <a:schemeClr val="bg1"/>
                          </a:solidFill>
                        </a:rPr>
                        <a:t>NO</a:t>
                      </a:r>
                      <a:endParaRPr lang="ko-KR" altLang="en-US" sz="1000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aseline="0" dirty="0">
                          <a:solidFill>
                            <a:schemeClr val="bg1"/>
                          </a:solidFill>
                        </a:rPr>
                        <a:t>Site Name</a:t>
                      </a:r>
                      <a:endParaRPr lang="ko-KR" altLang="en-US" sz="1000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aseline="0" dirty="0">
                          <a:solidFill>
                            <a:schemeClr val="bg1"/>
                          </a:solidFill>
                        </a:rPr>
                        <a:t>Site ID</a:t>
                      </a:r>
                      <a:endParaRPr lang="ko-KR" altLang="en-US" sz="1000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solidFill>
                            <a:schemeClr val="bg1"/>
                          </a:solidFill>
                        </a:rPr>
                        <a:t>Device</a:t>
                      </a:r>
                      <a:r>
                        <a:rPr lang="en-US" altLang="ko-KR" sz="1000" baseline="0" dirty="0">
                          <a:solidFill>
                            <a:schemeClr val="bg1"/>
                          </a:solidFill>
                        </a:rPr>
                        <a:t> Name</a:t>
                      </a:r>
                      <a:endParaRPr lang="ko-KR" altLang="en-US" sz="1000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solidFill>
                            <a:schemeClr val="bg1"/>
                          </a:solidFill>
                        </a:rPr>
                        <a:t>Device</a:t>
                      </a:r>
                      <a:r>
                        <a:rPr lang="en-US" altLang="ko-KR" sz="1000" baseline="0" dirty="0">
                          <a:solidFill>
                            <a:schemeClr val="bg1"/>
                          </a:solidFill>
                        </a:rPr>
                        <a:t> ID</a:t>
                      </a:r>
                      <a:endParaRPr lang="ko-KR" altLang="en-US" sz="1000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solidFill>
                            <a:schemeClr val="bg1"/>
                          </a:solidFill>
                        </a:rPr>
                        <a:t>PV</a:t>
                      </a:r>
                      <a:r>
                        <a:rPr lang="en-US" altLang="ko-KR" sz="1000" baseline="0" dirty="0">
                          <a:solidFill>
                            <a:schemeClr val="bg1"/>
                          </a:solidFill>
                        </a:rPr>
                        <a:t> Status</a:t>
                      </a:r>
                      <a:endParaRPr lang="ko-KR" altLang="en-US" sz="1000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solidFill>
                            <a:schemeClr val="bg1"/>
                          </a:solidFill>
                        </a:rPr>
                        <a:t>Temperature</a:t>
                      </a:r>
                      <a:endParaRPr lang="ko-KR" altLang="en-US" sz="1000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solidFill>
                            <a:schemeClr val="bg1"/>
                          </a:solidFill>
                        </a:rPr>
                        <a:t>PV</a:t>
                      </a:r>
                      <a:r>
                        <a:rPr lang="en-US" altLang="ko-KR" sz="1000" baseline="0" dirty="0">
                          <a:solidFill>
                            <a:schemeClr val="bg1"/>
                          </a:solidFill>
                        </a:rPr>
                        <a:t> </a:t>
                      </a:r>
                      <a:r>
                        <a:rPr lang="en-US" altLang="ko-KR" sz="1000" dirty="0">
                          <a:solidFill>
                            <a:schemeClr val="bg1"/>
                          </a:solidFill>
                        </a:rPr>
                        <a:t>Message</a:t>
                      </a:r>
                      <a:endParaRPr lang="ko-KR" altLang="en-US" sz="1000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solidFill>
                            <a:schemeClr val="bg1"/>
                          </a:solidFill>
                        </a:rPr>
                        <a:t>Status Time</a:t>
                      </a:r>
                      <a:endParaRPr lang="ko-KR" altLang="en-US" sz="1000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726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제일화성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10037202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PV_01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60001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RUN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51 </a:t>
                      </a:r>
                      <a:r>
                        <a:rPr lang="ko-KR" altLang="en-US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℃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-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2018-06-15  2:39:01 PM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7726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제일화성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10037202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PV_02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60002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FAULT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-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Bulk UV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2018-06-15  2:39:01 PM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227" name="타원형 설명선 226"/>
          <p:cNvSpPr/>
          <p:nvPr/>
        </p:nvSpPr>
        <p:spPr>
          <a:xfrm>
            <a:off x="50272" y="2465061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5" name="타원형 설명선 244"/>
          <p:cNvSpPr/>
          <p:nvPr/>
        </p:nvSpPr>
        <p:spPr>
          <a:xfrm>
            <a:off x="50272" y="3971242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3" name="타원형 설명선 225">
            <a:extLst>
              <a:ext uri="{FF2B5EF4-FFF2-40B4-BE49-F238E27FC236}">
                <a16:creationId xmlns:a16="http://schemas.microsoft.com/office/drawing/2014/main" id="{93402A8C-F86A-4207-9226-F02BE6AB6E19}"/>
              </a:ext>
            </a:extLst>
          </p:cNvPr>
          <p:cNvSpPr/>
          <p:nvPr/>
        </p:nvSpPr>
        <p:spPr>
          <a:xfrm>
            <a:off x="50272" y="1063864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31E62319-B855-4AE7-844A-0F13D4E9B1DA}"/>
              </a:ext>
            </a:extLst>
          </p:cNvPr>
          <p:cNvSpPr/>
          <p:nvPr/>
        </p:nvSpPr>
        <p:spPr>
          <a:xfrm>
            <a:off x="5322524" y="877613"/>
            <a:ext cx="673646" cy="360040"/>
          </a:xfrm>
          <a:prstGeom prst="rect">
            <a:avLst/>
          </a:prstGeom>
          <a:noFill/>
          <a:ln w="127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4" name="직사각형 83">
            <a:extLst>
              <a:ext uri="{FF2B5EF4-FFF2-40B4-BE49-F238E27FC236}">
                <a16:creationId xmlns:a16="http://schemas.microsoft.com/office/drawing/2014/main" id="{9BD14B93-BA4A-4019-AF5B-B77EBFD968F1}"/>
              </a:ext>
            </a:extLst>
          </p:cNvPr>
          <p:cNvSpPr/>
          <p:nvPr/>
        </p:nvSpPr>
        <p:spPr>
          <a:xfrm>
            <a:off x="6411632" y="2312226"/>
            <a:ext cx="673646" cy="360040"/>
          </a:xfrm>
          <a:prstGeom prst="rect">
            <a:avLst/>
          </a:prstGeom>
          <a:noFill/>
          <a:ln w="127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D28219C8-FAAC-4653-8A56-0031C363574D}"/>
              </a:ext>
            </a:extLst>
          </p:cNvPr>
          <p:cNvSpPr/>
          <p:nvPr/>
        </p:nvSpPr>
        <p:spPr>
          <a:xfrm>
            <a:off x="7427885" y="3823545"/>
            <a:ext cx="673646" cy="360040"/>
          </a:xfrm>
          <a:prstGeom prst="rect">
            <a:avLst/>
          </a:prstGeom>
          <a:noFill/>
          <a:ln w="127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283883066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9104309" y="6645875"/>
            <a:ext cx="140029" cy="138499"/>
          </a:xfrm>
        </p:spPr>
        <p:txBody>
          <a:bodyPr/>
          <a:lstStyle/>
          <a:p>
            <a:pPr>
              <a:defRPr/>
            </a:pPr>
            <a:fld id="{9E41B634-5682-4388-99E7-FE44DCFD254B}" type="slidenum">
              <a:rPr lang="ko-KR" altLang="en-US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>
                <a:defRPr/>
              </a:pPr>
              <a:t>33</a:t>
            </a:fld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텍스트 개체 틀 8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Site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 &gt;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장치 모니터링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&gt;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장치 모니터링 현황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&gt; IOE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장치 상세보기 팝업</a:t>
            </a:r>
          </a:p>
        </p:txBody>
      </p:sp>
      <p:sp>
        <p:nvSpPr>
          <p:cNvPr id="10" name="텍스트 개체 틀 9"/>
          <p:cNvSpPr>
            <a:spLocks noGrp="1"/>
          </p:cNvSpPr>
          <p:nvPr>
            <p:ph type="body" sz="quarter" idx="10"/>
          </p:nvPr>
        </p:nvSpPr>
        <p:spPr>
          <a:xfrm>
            <a:off x="6023595" y="44624"/>
            <a:ext cx="1233661" cy="196974"/>
          </a:xfrm>
        </p:spPr>
        <p:txBody>
          <a:bodyPr/>
          <a:lstStyle/>
          <a:p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IOE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장치 상세보기</a:t>
            </a:r>
          </a:p>
        </p:txBody>
      </p:sp>
      <p:graphicFrame>
        <p:nvGraphicFramePr>
          <p:cNvPr id="102" name="Group 15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23239572"/>
              </p:ext>
            </p:extLst>
          </p:nvPr>
        </p:nvGraphicFramePr>
        <p:xfrm>
          <a:off x="8469313" y="276225"/>
          <a:ext cx="1404000" cy="3137472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3002"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Description</a:t>
                      </a: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장치 명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장치 명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2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ko-KR" altLang="en-US" sz="800" b="1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정보 조회 시간</a:t>
                      </a:r>
                      <a:endParaRPr lang="en-US" altLang="ko-KR" sz="800" b="1" u="non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en-US" altLang="ko-KR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 - </a:t>
                      </a: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장치 정보 조회 날짜</a:t>
                      </a:r>
                      <a:r>
                        <a:rPr lang="en-US" altLang="ko-KR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, </a:t>
                      </a: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시간 표시</a:t>
                      </a:r>
                      <a:endParaRPr lang="en-US" altLang="ko-KR" sz="800" b="0" u="non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52665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3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Site</a:t>
                      </a:r>
                      <a:r>
                        <a:rPr lang="ko-KR" altLang="en-US" sz="800" b="1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및 장치 기본 정보</a:t>
                      </a:r>
                      <a:endParaRPr lang="en-US" altLang="ko-KR" sz="800" b="1" u="non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- Site, </a:t>
                      </a: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장치</a:t>
                      </a:r>
                      <a:r>
                        <a:rPr lang="en-US" altLang="ko-KR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기본 정보 표시</a:t>
                      </a:r>
                      <a:endParaRPr lang="en-US" altLang="ko-KR" sz="800" b="0" u="non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- </a:t>
                      </a: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장치</a:t>
                      </a:r>
                      <a:r>
                        <a:rPr lang="en-US" altLang="ko-KR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ID, </a:t>
                      </a: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장치그룹</a:t>
                      </a:r>
                      <a:r>
                        <a:rPr lang="en-US" altLang="ko-KR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Site</a:t>
                      </a: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r>
                        <a:rPr lang="en-US" altLang="ko-KR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사이트</a:t>
                      </a:r>
                      <a:r>
                        <a:rPr lang="en-US" altLang="ko-KR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ID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4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연결 상태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연결 상태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Connected, Disconnected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5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알람 메시지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알람 발생 시의 알람 내용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6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창 닫기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상세보기 창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종료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03860102"/>
                  </a:ext>
                </a:extLst>
              </a:tr>
            </a:tbl>
          </a:graphicData>
        </a:graphic>
      </p:graphicFrame>
      <p:sp>
        <p:nvSpPr>
          <p:cNvPr id="78" name="TextBox 77"/>
          <p:cNvSpPr txBox="1"/>
          <p:nvPr/>
        </p:nvSpPr>
        <p:spPr>
          <a:xfrm>
            <a:off x="7121707" y="21349"/>
            <a:ext cx="567597" cy="2308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화면</a:t>
            </a:r>
            <a:r>
              <a:rPr lang="en-US" altLang="ko-KR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ID</a:t>
            </a:r>
            <a:endParaRPr lang="ko-KR" altLang="en-US" sz="9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7689304" y="43659"/>
            <a:ext cx="792088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itchFamily="50" charset="-127"/>
                <a:ea typeface="맑은 고딕" pitchFamily="50" charset="-127"/>
              </a:rPr>
              <a:t>ewpsp_scr_017</a:t>
            </a:r>
            <a:endParaRPr lang="ko-KR" altLang="en-US" sz="700" dirty="0">
              <a:latin typeface="맑은 고딕" pitchFamily="50" charset="-127"/>
              <a:ea typeface="맑은 고딕" pitchFamily="50" charset="-127"/>
            </a:endParaRPr>
          </a:p>
        </p:txBody>
      </p:sp>
      <p:pic>
        <p:nvPicPr>
          <p:cNvPr id="18" name="Picture 3">
            <a:extLst>
              <a:ext uri="{FF2B5EF4-FFF2-40B4-BE49-F238E27FC236}">
                <a16:creationId xmlns:a16="http://schemas.microsoft.com/office/drawing/2014/main" id="{D14E8AEF-8EA8-4944-AE52-FF98A1FB783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8796" y="794365"/>
            <a:ext cx="8198579" cy="4248472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  <a:extLst/>
        </p:spPr>
      </p:pic>
      <p:pic>
        <p:nvPicPr>
          <p:cNvPr id="19" name="Picture 2">
            <a:extLst>
              <a:ext uri="{FF2B5EF4-FFF2-40B4-BE49-F238E27FC236}">
                <a16:creationId xmlns:a16="http://schemas.microsoft.com/office/drawing/2014/main" id="{6FBB0165-03FF-4BBD-A158-8DEF923CF53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2325" y="755669"/>
            <a:ext cx="8195050" cy="3487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20" name="직선 연결선 19">
            <a:extLst>
              <a:ext uri="{FF2B5EF4-FFF2-40B4-BE49-F238E27FC236}">
                <a16:creationId xmlns:a16="http://schemas.microsoft.com/office/drawing/2014/main" id="{37D07777-30AA-4506-9C18-6F3B4C7D943C}"/>
              </a:ext>
            </a:extLst>
          </p:cNvPr>
          <p:cNvCxnSpPr>
            <a:cxnSpLocks/>
          </p:cNvCxnSpPr>
          <p:nvPr/>
        </p:nvCxnSpPr>
        <p:spPr>
          <a:xfrm>
            <a:off x="138796" y="1124744"/>
            <a:ext cx="8198579" cy="0"/>
          </a:xfrm>
          <a:prstGeom prst="line">
            <a:avLst/>
          </a:prstGeom>
          <a:ln w="9525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5E84417E-CAA5-4FD3-BBB9-7CD5570EF571}"/>
              </a:ext>
            </a:extLst>
          </p:cNvPr>
          <p:cNvSpPr/>
          <p:nvPr/>
        </p:nvSpPr>
        <p:spPr>
          <a:xfrm>
            <a:off x="216315" y="1484784"/>
            <a:ext cx="1820532" cy="288032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10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장치</a:t>
            </a:r>
            <a:r>
              <a:rPr lang="en-US" altLang="ko-KR" sz="10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ko-KR" altLang="en-US" sz="10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모니터링 현황</a:t>
            </a: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180BACBD-4B64-4649-BD7C-E1EE3620FBC6}"/>
              </a:ext>
            </a:extLst>
          </p:cNvPr>
          <p:cNvSpPr/>
          <p:nvPr/>
        </p:nvSpPr>
        <p:spPr>
          <a:xfrm>
            <a:off x="120419" y="1717348"/>
            <a:ext cx="1510265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150000"/>
              </a:lnSpc>
            </a:pPr>
            <a:r>
              <a:rPr lang="en-US" altLang="ko-KR" sz="900" b="1" dirty="0">
                <a:solidFill>
                  <a:schemeClr val="bg1">
                    <a:lumMod val="6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YYYY-MM-DD hh:mm</a:t>
            </a:r>
            <a:endParaRPr lang="ko-KR" altLang="en-US" sz="900" b="1" dirty="0">
              <a:solidFill>
                <a:schemeClr val="bg1">
                  <a:lumMod val="6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47" name="Picture 2" descr="ì¤ì ì ëí ì´ë¯¸ì§ ê²ìê²°ê³¼">
            <a:extLst>
              <a:ext uri="{FF2B5EF4-FFF2-40B4-BE49-F238E27FC236}">
                <a16:creationId xmlns:a16="http://schemas.microsoft.com/office/drawing/2014/main" id="{90A888AD-844A-4544-B02A-A77BC3397C7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05865" y="844086"/>
            <a:ext cx="198592" cy="19859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aphicFrame>
        <p:nvGraphicFramePr>
          <p:cNvPr id="40" name="표 39">
            <a:extLst>
              <a:ext uri="{FF2B5EF4-FFF2-40B4-BE49-F238E27FC236}">
                <a16:creationId xmlns:a16="http://schemas.microsoft.com/office/drawing/2014/main" id="{A01B135B-1F1A-4BB1-9A74-0022D6E7A74A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376784" y="2176436"/>
          <a:ext cx="7776864" cy="112911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32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413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93610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44016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16024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30516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NO</a:t>
                      </a:r>
                      <a:endParaRPr lang="ko-KR" altLang="en-US" sz="10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aseline="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Site Name</a:t>
                      </a:r>
                      <a:endParaRPr lang="ko-KR" altLang="en-US" sz="10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aseline="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Site ID</a:t>
                      </a:r>
                      <a:endParaRPr lang="ko-KR" altLang="en-US" sz="10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Device</a:t>
                      </a:r>
                      <a:r>
                        <a:rPr lang="en-US" altLang="ko-KR" sz="1000" baseline="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Name</a:t>
                      </a:r>
                      <a:endParaRPr lang="ko-KR" altLang="en-US" sz="10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Device</a:t>
                      </a:r>
                      <a:r>
                        <a:rPr lang="en-US" altLang="ko-KR" sz="1000" baseline="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ID</a:t>
                      </a:r>
                      <a:endParaRPr lang="ko-KR" altLang="en-US" sz="10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Status</a:t>
                      </a:r>
                      <a:endParaRPr lang="ko-KR" altLang="en-US" sz="10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Status Time</a:t>
                      </a:r>
                      <a:endParaRPr lang="ko-KR" altLang="en-US" sz="10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465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제일화성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10037202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IOE(</a:t>
                      </a:r>
                      <a:r>
                        <a:rPr lang="ko-KR" altLang="en-US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총량</a:t>
                      </a:r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41331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NORMAL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2018-06-15  2:39:01 PM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7465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제일화성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10037202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ESS(</a:t>
                      </a:r>
                      <a:r>
                        <a:rPr lang="ko-KR" altLang="en-US" sz="900" b="1" kern="1200" dirty="0" err="1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충방전</a:t>
                      </a:r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41332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NORMAL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2018-06-15  2:39:01 PM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7465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제일화성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10037202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kern="1200" dirty="0" err="1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소내전력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41333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DISCONNECTED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2018-06-15  2:39:01 PM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52" name="직사각형 51">
            <a:extLst>
              <a:ext uri="{FF2B5EF4-FFF2-40B4-BE49-F238E27FC236}">
                <a16:creationId xmlns:a16="http://schemas.microsoft.com/office/drawing/2014/main" id="{9D066E92-3969-4163-8951-1B55C00C795F}"/>
              </a:ext>
            </a:extLst>
          </p:cNvPr>
          <p:cNvSpPr/>
          <p:nvPr/>
        </p:nvSpPr>
        <p:spPr>
          <a:xfrm>
            <a:off x="4531730" y="1776647"/>
            <a:ext cx="673646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en-US" altLang="ko-KR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IOE</a:t>
            </a:r>
            <a:endParaRPr lang="ko-KR" altLang="en-US" sz="8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74025361-6332-409A-9ED3-B4DC569F15A4}"/>
              </a:ext>
            </a:extLst>
          </p:cNvPr>
          <p:cNvSpPr/>
          <p:nvPr/>
        </p:nvSpPr>
        <p:spPr>
          <a:xfrm>
            <a:off x="5610498" y="1776647"/>
            <a:ext cx="673646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en-US" altLang="ko-KR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PCS</a:t>
            </a:r>
            <a:endParaRPr lang="ko-KR" altLang="en-US" sz="8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896A8CDE-D090-4223-824B-6E5F732F96F5}"/>
              </a:ext>
            </a:extLst>
          </p:cNvPr>
          <p:cNvSpPr/>
          <p:nvPr/>
        </p:nvSpPr>
        <p:spPr>
          <a:xfrm>
            <a:off x="6641480" y="1776647"/>
            <a:ext cx="673646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en-US" altLang="ko-KR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BMS</a:t>
            </a:r>
            <a:endParaRPr lang="ko-KR" altLang="en-US" sz="8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437ADA0F-08A8-41EA-A8F7-52F93AD8E01C}"/>
              </a:ext>
            </a:extLst>
          </p:cNvPr>
          <p:cNvSpPr/>
          <p:nvPr/>
        </p:nvSpPr>
        <p:spPr>
          <a:xfrm>
            <a:off x="7669915" y="1776280"/>
            <a:ext cx="673646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en-US" altLang="ko-KR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PV</a:t>
            </a:r>
            <a:endParaRPr lang="ko-KR" altLang="en-US" sz="8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6" name="타원 55">
            <a:extLst>
              <a:ext uri="{FF2B5EF4-FFF2-40B4-BE49-F238E27FC236}">
                <a16:creationId xmlns:a16="http://schemas.microsoft.com/office/drawing/2014/main" id="{4F5BBFF8-DC71-4275-B2EF-09F0FB53F93D}"/>
              </a:ext>
            </a:extLst>
          </p:cNvPr>
          <p:cNvSpPr/>
          <p:nvPr/>
        </p:nvSpPr>
        <p:spPr>
          <a:xfrm>
            <a:off x="4400101" y="1865074"/>
            <a:ext cx="131472" cy="122712"/>
          </a:xfrm>
          <a:prstGeom prst="ellipse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7" name="타원 56">
            <a:extLst>
              <a:ext uri="{FF2B5EF4-FFF2-40B4-BE49-F238E27FC236}">
                <a16:creationId xmlns:a16="http://schemas.microsoft.com/office/drawing/2014/main" id="{F150DCBD-0243-47A6-BD6A-8F4B604E5DFA}"/>
              </a:ext>
            </a:extLst>
          </p:cNvPr>
          <p:cNvSpPr/>
          <p:nvPr/>
        </p:nvSpPr>
        <p:spPr>
          <a:xfrm>
            <a:off x="5466574" y="1865074"/>
            <a:ext cx="131472" cy="122712"/>
          </a:xfrm>
          <a:prstGeom prst="ellipse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8" name="타원 57">
            <a:extLst>
              <a:ext uri="{FF2B5EF4-FFF2-40B4-BE49-F238E27FC236}">
                <a16:creationId xmlns:a16="http://schemas.microsoft.com/office/drawing/2014/main" id="{5DC52973-FB1B-4E3E-AF29-3E272387B2E7}"/>
              </a:ext>
            </a:extLst>
          </p:cNvPr>
          <p:cNvSpPr/>
          <p:nvPr/>
        </p:nvSpPr>
        <p:spPr>
          <a:xfrm>
            <a:off x="6473243" y="1871762"/>
            <a:ext cx="131472" cy="122712"/>
          </a:xfrm>
          <a:prstGeom prst="ellipse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9" name="타원 58">
            <a:extLst>
              <a:ext uri="{FF2B5EF4-FFF2-40B4-BE49-F238E27FC236}">
                <a16:creationId xmlns:a16="http://schemas.microsoft.com/office/drawing/2014/main" id="{15A4F073-2990-4297-A95B-4D06A4AABA02}"/>
              </a:ext>
            </a:extLst>
          </p:cNvPr>
          <p:cNvSpPr/>
          <p:nvPr/>
        </p:nvSpPr>
        <p:spPr>
          <a:xfrm>
            <a:off x="7487953" y="1865074"/>
            <a:ext cx="131472" cy="122712"/>
          </a:xfrm>
          <a:prstGeom prst="ellipse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60" name="그룹 59">
            <a:extLst>
              <a:ext uri="{FF2B5EF4-FFF2-40B4-BE49-F238E27FC236}">
                <a16:creationId xmlns:a16="http://schemas.microsoft.com/office/drawing/2014/main" id="{EC6621BA-B527-44A5-B27F-990A7C9AD790}"/>
              </a:ext>
            </a:extLst>
          </p:cNvPr>
          <p:cNvGrpSpPr/>
          <p:nvPr/>
        </p:nvGrpSpPr>
        <p:grpSpPr>
          <a:xfrm>
            <a:off x="416496" y="4579438"/>
            <a:ext cx="862386" cy="211955"/>
            <a:chOff x="4861742" y="3907374"/>
            <a:chExt cx="862386" cy="211955"/>
          </a:xfrm>
        </p:grpSpPr>
        <p:pic>
          <p:nvPicPr>
            <p:cNvPr id="61" name="Picture 6" descr="ìì ë¤ì´ë¡ëì ëí ì´ë¯¸ì§ ê²ìê²°ê³¼">
              <a:extLst>
                <a:ext uri="{FF2B5EF4-FFF2-40B4-BE49-F238E27FC236}">
                  <a16:creationId xmlns:a16="http://schemas.microsoft.com/office/drawing/2014/main" id="{AA2B83FB-8FE8-4F4A-AAFB-F712DA9679B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861742" y="3907374"/>
              <a:ext cx="211955" cy="21195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9BD3E16E-9FD9-4439-8B41-53E5659D5D34}"/>
                </a:ext>
              </a:extLst>
            </p:cNvPr>
            <p:cNvSpPr txBox="1"/>
            <p:nvPr/>
          </p:nvSpPr>
          <p:spPr>
            <a:xfrm>
              <a:off x="4949189" y="3921018"/>
              <a:ext cx="7749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데이터 저장하기</a:t>
              </a:r>
            </a:p>
          </p:txBody>
        </p:sp>
      </p:grpSp>
      <p:sp>
        <p:nvSpPr>
          <p:cNvPr id="64" name="TextBox 63">
            <a:extLst>
              <a:ext uri="{FF2B5EF4-FFF2-40B4-BE49-F238E27FC236}">
                <a16:creationId xmlns:a16="http://schemas.microsoft.com/office/drawing/2014/main" id="{766D9608-44C0-49A5-AE7B-0C52B8010531}"/>
              </a:ext>
            </a:extLst>
          </p:cNvPr>
          <p:cNvSpPr txBox="1"/>
          <p:nvPr/>
        </p:nvSpPr>
        <p:spPr>
          <a:xfrm>
            <a:off x="7378090" y="4452480"/>
            <a:ext cx="720080" cy="253916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상세보기</a:t>
            </a:r>
          </a:p>
        </p:txBody>
      </p:sp>
      <p:grpSp>
        <p:nvGrpSpPr>
          <p:cNvPr id="37" name="그룹 36">
            <a:extLst>
              <a:ext uri="{FF2B5EF4-FFF2-40B4-BE49-F238E27FC236}">
                <a16:creationId xmlns:a16="http://schemas.microsoft.com/office/drawing/2014/main" id="{F4DBF01D-6C22-4FEC-9429-D0C2AB43270B}"/>
              </a:ext>
            </a:extLst>
          </p:cNvPr>
          <p:cNvGrpSpPr/>
          <p:nvPr/>
        </p:nvGrpSpPr>
        <p:grpSpPr>
          <a:xfrm>
            <a:off x="210356" y="1203435"/>
            <a:ext cx="8024876" cy="260092"/>
            <a:chOff x="184526" y="1505937"/>
            <a:chExt cx="8024876" cy="260092"/>
          </a:xfrm>
        </p:grpSpPr>
        <p:sp>
          <p:nvSpPr>
            <p:cNvPr id="38" name="직사각형 37">
              <a:extLst>
                <a:ext uri="{FF2B5EF4-FFF2-40B4-BE49-F238E27FC236}">
                  <a16:creationId xmlns:a16="http://schemas.microsoft.com/office/drawing/2014/main" id="{995C1B48-7E8E-4CF7-B41F-AE0679E11CCD}"/>
                </a:ext>
              </a:extLst>
            </p:cNvPr>
            <p:cNvSpPr/>
            <p:nvPr/>
          </p:nvSpPr>
          <p:spPr>
            <a:xfrm>
              <a:off x="5810955" y="1550585"/>
              <a:ext cx="1820532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수익 현황</a:t>
              </a:r>
            </a:p>
          </p:txBody>
        </p:sp>
        <p:sp>
          <p:nvSpPr>
            <p:cNvPr id="39" name="직사각형 38">
              <a:extLst>
                <a:ext uri="{FF2B5EF4-FFF2-40B4-BE49-F238E27FC236}">
                  <a16:creationId xmlns:a16="http://schemas.microsoft.com/office/drawing/2014/main" id="{684ECB2B-0C4F-47B4-9DDA-55E8A991654A}"/>
                </a:ext>
              </a:extLst>
            </p:cNvPr>
            <p:cNvSpPr/>
            <p:nvPr/>
          </p:nvSpPr>
          <p:spPr>
            <a:xfrm>
              <a:off x="184526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에너지 모니터링</a:t>
              </a:r>
            </a:p>
          </p:txBody>
        </p:sp>
        <p:sp>
          <p:nvSpPr>
            <p:cNvPr id="41" name="직사각형 40">
              <a:extLst>
                <a:ext uri="{FF2B5EF4-FFF2-40B4-BE49-F238E27FC236}">
                  <a16:creationId xmlns:a16="http://schemas.microsoft.com/office/drawing/2014/main" id="{4BDDFDA6-EEA6-4437-98BF-2331013C7865}"/>
                </a:ext>
              </a:extLst>
            </p:cNvPr>
            <p:cNvSpPr/>
            <p:nvPr/>
          </p:nvSpPr>
          <p:spPr>
            <a:xfrm>
              <a:off x="2191085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장치 모니터링</a:t>
              </a:r>
            </a:p>
          </p:txBody>
        </p:sp>
        <p:sp>
          <p:nvSpPr>
            <p:cNvPr id="42" name="직사각형 41">
              <a:extLst>
                <a:ext uri="{FF2B5EF4-FFF2-40B4-BE49-F238E27FC236}">
                  <a16:creationId xmlns:a16="http://schemas.microsoft.com/office/drawing/2014/main" id="{EEC886D6-B99D-4616-B11C-02EA26502623}"/>
                </a:ext>
              </a:extLst>
            </p:cNvPr>
            <p:cNvSpPr/>
            <p:nvPr/>
          </p:nvSpPr>
          <p:spPr>
            <a:xfrm>
              <a:off x="4197644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상황</a:t>
              </a:r>
              <a:r>
                <a:rPr lang="en-US" altLang="ko-KR" sz="700" dirty="0"/>
                <a:t> </a:t>
              </a:r>
              <a:r>
                <a:rPr lang="ko-KR" altLang="en-US" sz="700" dirty="0"/>
                <a:t>관제</a:t>
              </a:r>
            </a:p>
          </p:txBody>
        </p:sp>
        <p:sp>
          <p:nvSpPr>
            <p:cNvPr id="43" name="직사각형 42">
              <a:extLst>
                <a:ext uri="{FF2B5EF4-FFF2-40B4-BE49-F238E27FC236}">
                  <a16:creationId xmlns:a16="http://schemas.microsoft.com/office/drawing/2014/main" id="{A7EFF57E-EDE4-4031-B200-A006F43FD8EF}"/>
                </a:ext>
              </a:extLst>
            </p:cNvPr>
            <p:cNvSpPr/>
            <p:nvPr/>
          </p:nvSpPr>
          <p:spPr>
            <a:xfrm>
              <a:off x="6204202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요금</a:t>
              </a:r>
              <a:r>
                <a:rPr lang="en-US" altLang="ko-KR" sz="700" dirty="0"/>
                <a:t>/</a:t>
              </a:r>
              <a:r>
                <a:rPr lang="ko-KR" altLang="en-US" sz="700" dirty="0"/>
                <a:t>수익</a:t>
              </a:r>
            </a:p>
          </p:txBody>
        </p:sp>
      </p:grpSp>
      <p:grpSp>
        <p:nvGrpSpPr>
          <p:cNvPr id="46" name="그룹 45">
            <a:extLst>
              <a:ext uri="{FF2B5EF4-FFF2-40B4-BE49-F238E27FC236}">
                <a16:creationId xmlns:a16="http://schemas.microsoft.com/office/drawing/2014/main" id="{18EA793B-0B4C-42CC-B42C-EA2F444EE644}"/>
              </a:ext>
            </a:extLst>
          </p:cNvPr>
          <p:cNvGrpSpPr/>
          <p:nvPr/>
        </p:nvGrpSpPr>
        <p:grpSpPr>
          <a:xfrm>
            <a:off x="1706628" y="1973999"/>
            <a:ext cx="5191327" cy="2043838"/>
            <a:chOff x="373622" y="737091"/>
            <a:chExt cx="5191327" cy="2043838"/>
          </a:xfrm>
        </p:grpSpPr>
        <p:sp>
          <p:nvSpPr>
            <p:cNvPr id="48" name="직사각형 47">
              <a:extLst>
                <a:ext uri="{FF2B5EF4-FFF2-40B4-BE49-F238E27FC236}">
                  <a16:creationId xmlns:a16="http://schemas.microsoft.com/office/drawing/2014/main" id="{78C61B54-2B70-4D77-80B7-C508B9EFBF4B}"/>
                </a:ext>
              </a:extLst>
            </p:cNvPr>
            <p:cNvSpPr/>
            <p:nvPr/>
          </p:nvSpPr>
          <p:spPr>
            <a:xfrm>
              <a:off x="373622" y="737091"/>
              <a:ext cx="5191327" cy="2043838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>
                <a:lnSpc>
                  <a:spcPct val="200000"/>
                </a:lnSpc>
              </a:pPr>
              <a:endParaRPr lang="ko-KR" altLang="en-US" sz="100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54E90EA2-47BC-4344-BD68-ECE1294DF95A}"/>
                </a:ext>
              </a:extLst>
            </p:cNvPr>
            <p:cNvSpPr txBox="1"/>
            <p:nvPr/>
          </p:nvSpPr>
          <p:spPr>
            <a:xfrm>
              <a:off x="583571" y="925139"/>
              <a:ext cx="1095982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IOE_1</a:t>
              </a:r>
              <a:endParaRPr lang="ko-KR" altLang="en-US" sz="1400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7D27CE02-A661-469C-AC6C-14797D295D61}"/>
                </a:ext>
              </a:extLst>
            </p:cNvPr>
            <p:cNvSpPr txBox="1"/>
            <p:nvPr/>
          </p:nvSpPr>
          <p:spPr>
            <a:xfrm>
              <a:off x="2926628" y="1340889"/>
              <a:ext cx="67364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Site</a:t>
              </a:r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명</a:t>
              </a:r>
              <a:r>
                <a:rPr lang="ko-KR" altLang="en-US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: 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4B427E0C-54F5-430C-8A54-CA0B30B7B994}"/>
                </a:ext>
              </a:extLst>
            </p:cNvPr>
            <p:cNvSpPr txBox="1"/>
            <p:nvPr/>
          </p:nvSpPr>
          <p:spPr>
            <a:xfrm>
              <a:off x="4170022" y="1340889"/>
              <a:ext cx="68674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Site</a:t>
              </a:r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ID</a:t>
              </a:r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: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A868AB9B-1999-4108-ACA4-5C1EB727C88A}"/>
                </a:ext>
              </a:extLst>
            </p:cNvPr>
            <p:cNvSpPr txBox="1"/>
            <p:nvPr/>
          </p:nvSpPr>
          <p:spPr>
            <a:xfrm>
              <a:off x="3493111" y="1340889"/>
              <a:ext cx="89293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제일화성</a:t>
              </a:r>
            </a:p>
          </p:txBody>
        </p: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865D2252-ED0B-4D5E-AA07-EE01F8F5A81D}"/>
                </a:ext>
              </a:extLst>
            </p:cNvPr>
            <p:cNvSpPr txBox="1"/>
            <p:nvPr/>
          </p:nvSpPr>
          <p:spPr>
            <a:xfrm>
              <a:off x="4744818" y="1340889"/>
              <a:ext cx="8092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10037202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FEC142E8-871A-4C6E-9ABB-31A537CE3066}"/>
                </a:ext>
              </a:extLst>
            </p:cNvPr>
            <p:cNvSpPr txBox="1"/>
            <p:nvPr/>
          </p:nvSpPr>
          <p:spPr>
            <a:xfrm>
              <a:off x="567924" y="1340889"/>
              <a:ext cx="67364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장치 </a:t>
              </a:r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ID</a:t>
              </a:r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: 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AB620C2E-3C2B-4E41-B044-519E74A3BFA6}"/>
                </a:ext>
              </a:extLst>
            </p:cNvPr>
            <p:cNvSpPr txBox="1"/>
            <p:nvPr/>
          </p:nvSpPr>
          <p:spPr>
            <a:xfrm>
              <a:off x="1145686" y="1340889"/>
              <a:ext cx="87590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41331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9" name="TextBox 68">
              <a:extLst>
                <a:ext uri="{FF2B5EF4-FFF2-40B4-BE49-F238E27FC236}">
                  <a16:creationId xmlns:a16="http://schemas.microsoft.com/office/drawing/2014/main" id="{0E58E5A5-FD98-478B-9271-A27D5035C23D}"/>
                </a:ext>
              </a:extLst>
            </p:cNvPr>
            <p:cNvSpPr txBox="1"/>
            <p:nvPr/>
          </p:nvSpPr>
          <p:spPr>
            <a:xfrm>
              <a:off x="632520" y="1782253"/>
              <a:ext cx="936077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연결</a:t>
              </a:r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상태</a:t>
              </a:r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: 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70" name="TextBox 69">
              <a:extLst>
                <a:ext uri="{FF2B5EF4-FFF2-40B4-BE49-F238E27FC236}">
                  <a16:creationId xmlns:a16="http://schemas.microsoft.com/office/drawing/2014/main" id="{B0EA5EF7-B1C8-46F0-A8A5-FA4A1B8BBFD4}"/>
                </a:ext>
              </a:extLst>
            </p:cNvPr>
            <p:cNvSpPr txBox="1"/>
            <p:nvPr/>
          </p:nvSpPr>
          <p:spPr>
            <a:xfrm>
              <a:off x="1844824" y="1782253"/>
              <a:ext cx="99081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CONNECTED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71" name="직사각형 70">
              <a:extLst>
                <a:ext uri="{FF2B5EF4-FFF2-40B4-BE49-F238E27FC236}">
                  <a16:creationId xmlns:a16="http://schemas.microsoft.com/office/drawing/2014/main" id="{BA40DD78-A7C2-4126-9A48-3E804A62D615}"/>
                </a:ext>
              </a:extLst>
            </p:cNvPr>
            <p:cNvSpPr/>
            <p:nvPr/>
          </p:nvSpPr>
          <p:spPr>
            <a:xfrm>
              <a:off x="3665966" y="970728"/>
              <a:ext cx="1808507" cy="2616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105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2018-06-15  2:39:01 PM</a:t>
              </a:r>
              <a:endParaRPr lang="ko-KR" altLang="en-US" sz="1050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46A31D40-E7EE-47A3-9A8A-C0DE7CADDA26}"/>
                </a:ext>
              </a:extLst>
            </p:cNvPr>
            <p:cNvSpPr txBox="1"/>
            <p:nvPr/>
          </p:nvSpPr>
          <p:spPr>
            <a:xfrm>
              <a:off x="1648184" y="1340889"/>
              <a:ext cx="79378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1000" b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장치 그룹</a:t>
              </a:r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: 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73" name="TextBox 72">
              <a:extLst>
                <a:ext uri="{FF2B5EF4-FFF2-40B4-BE49-F238E27FC236}">
                  <a16:creationId xmlns:a16="http://schemas.microsoft.com/office/drawing/2014/main" id="{91EC79CF-BF51-4CAC-9100-67084E7FDB39}"/>
                </a:ext>
              </a:extLst>
            </p:cNvPr>
            <p:cNvSpPr txBox="1"/>
            <p:nvPr/>
          </p:nvSpPr>
          <p:spPr>
            <a:xfrm>
              <a:off x="2358156" y="1340889"/>
              <a:ext cx="87590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별관</a:t>
              </a:r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_1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F72EA1F6-3183-46BF-87A5-FA6C8A4F9B6D}"/>
                </a:ext>
              </a:extLst>
            </p:cNvPr>
            <p:cNvSpPr txBox="1"/>
            <p:nvPr/>
          </p:nvSpPr>
          <p:spPr>
            <a:xfrm>
              <a:off x="4744818" y="2420888"/>
              <a:ext cx="720080" cy="253916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50000"/>
                </a:schemeClr>
              </a:solidFill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닫기</a:t>
              </a:r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BDE8B782-5280-45D8-A9D5-5187334E4D80}"/>
                </a:ext>
              </a:extLst>
            </p:cNvPr>
            <p:cNvSpPr txBox="1"/>
            <p:nvPr/>
          </p:nvSpPr>
          <p:spPr>
            <a:xfrm>
              <a:off x="632520" y="2102659"/>
              <a:ext cx="936077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알람 메시지 </a:t>
              </a:r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: 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76" name="TextBox 75">
              <a:extLst>
                <a:ext uri="{FF2B5EF4-FFF2-40B4-BE49-F238E27FC236}">
                  <a16:creationId xmlns:a16="http://schemas.microsoft.com/office/drawing/2014/main" id="{0DAFC637-DCB1-4F7D-A778-FDCA44EDD72E}"/>
                </a:ext>
              </a:extLst>
            </p:cNvPr>
            <p:cNvSpPr txBox="1"/>
            <p:nvPr/>
          </p:nvSpPr>
          <p:spPr>
            <a:xfrm>
              <a:off x="1721750" y="2122602"/>
              <a:ext cx="87590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- 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cxnSp>
          <p:nvCxnSpPr>
            <p:cNvPr id="77" name="직선 연결선 76">
              <a:extLst>
                <a:ext uri="{FF2B5EF4-FFF2-40B4-BE49-F238E27FC236}">
                  <a16:creationId xmlns:a16="http://schemas.microsoft.com/office/drawing/2014/main" id="{68042484-69D6-496F-938A-A8DBCF50A0F1}"/>
                </a:ext>
              </a:extLst>
            </p:cNvPr>
            <p:cNvCxnSpPr/>
            <p:nvPr/>
          </p:nvCxnSpPr>
          <p:spPr>
            <a:xfrm>
              <a:off x="559973" y="1652653"/>
              <a:ext cx="4862321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80" name="Picture 2" descr="enertalkì ëí ì´ë¯¸ì§ ê²ìê²°ê³¼">
              <a:extLst>
                <a:ext uri="{FF2B5EF4-FFF2-40B4-BE49-F238E27FC236}">
                  <a16:creationId xmlns:a16="http://schemas.microsoft.com/office/drawing/2014/main" id="{B4E4E39B-B2D5-4B51-9CB2-872D7C5E8DC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39097" y="837833"/>
              <a:ext cx="423124" cy="423124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1" name="Picture 4" descr="connectedì ëí ì´ë¯¸ì§ ê²ìê²°ê³¼">
              <a:extLst>
                <a:ext uri="{FF2B5EF4-FFF2-40B4-BE49-F238E27FC236}">
                  <a16:creationId xmlns:a16="http://schemas.microsoft.com/office/drawing/2014/main" id="{53329641-A609-494E-B884-6B81BA7A52A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73349" y="1771355"/>
              <a:ext cx="216000" cy="2160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227" name="타원형 설명선 226"/>
          <p:cNvSpPr/>
          <p:nvPr/>
        </p:nvSpPr>
        <p:spPr>
          <a:xfrm>
            <a:off x="4797923" y="2079886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4" name="타원형 설명선 243"/>
          <p:cNvSpPr/>
          <p:nvPr/>
        </p:nvSpPr>
        <p:spPr>
          <a:xfrm>
            <a:off x="1749526" y="2899859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5" name="타원형 설명선 244"/>
          <p:cNvSpPr/>
          <p:nvPr/>
        </p:nvSpPr>
        <p:spPr>
          <a:xfrm>
            <a:off x="1663205" y="2448901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3" name="타원형 설명선 225">
            <a:extLst>
              <a:ext uri="{FF2B5EF4-FFF2-40B4-BE49-F238E27FC236}">
                <a16:creationId xmlns:a16="http://schemas.microsoft.com/office/drawing/2014/main" id="{93402A8C-F86A-4207-9226-F02BE6AB6E19}"/>
              </a:ext>
            </a:extLst>
          </p:cNvPr>
          <p:cNvSpPr/>
          <p:nvPr/>
        </p:nvSpPr>
        <p:spPr>
          <a:xfrm>
            <a:off x="1700577" y="2045285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5" name="타원형 설명선 243">
            <a:extLst>
              <a:ext uri="{FF2B5EF4-FFF2-40B4-BE49-F238E27FC236}">
                <a16:creationId xmlns:a16="http://schemas.microsoft.com/office/drawing/2014/main" id="{88210255-9E72-4B00-A04C-D59BFB45C839}"/>
              </a:ext>
            </a:extLst>
          </p:cNvPr>
          <p:cNvSpPr/>
          <p:nvPr/>
        </p:nvSpPr>
        <p:spPr>
          <a:xfrm>
            <a:off x="1753424" y="3232137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90E7A54E-FDE9-4E01-B8C9-4D28753639DE}"/>
              </a:ext>
            </a:extLst>
          </p:cNvPr>
          <p:cNvSpPr/>
          <p:nvPr/>
        </p:nvSpPr>
        <p:spPr>
          <a:xfrm>
            <a:off x="7304456" y="4413062"/>
            <a:ext cx="849191" cy="360040"/>
          </a:xfrm>
          <a:prstGeom prst="rect">
            <a:avLst/>
          </a:prstGeom>
          <a:noFill/>
          <a:ln w="127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2" name="타원형 설명선 265">
            <a:extLst>
              <a:ext uri="{FF2B5EF4-FFF2-40B4-BE49-F238E27FC236}">
                <a16:creationId xmlns:a16="http://schemas.microsoft.com/office/drawing/2014/main" id="{32606272-0531-4317-9F2E-56CEABEC5E5F}"/>
              </a:ext>
            </a:extLst>
          </p:cNvPr>
          <p:cNvSpPr/>
          <p:nvPr/>
        </p:nvSpPr>
        <p:spPr>
          <a:xfrm>
            <a:off x="5776150" y="3477788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6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292188157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9104309" y="6645875"/>
            <a:ext cx="140029" cy="138499"/>
          </a:xfrm>
        </p:spPr>
        <p:txBody>
          <a:bodyPr/>
          <a:lstStyle/>
          <a:p>
            <a:pPr>
              <a:defRPr/>
            </a:pPr>
            <a:fld id="{9E41B634-5682-4388-99E7-FE44DCFD254B}" type="slidenum">
              <a:rPr lang="ko-KR" altLang="en-US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>
                <a:defRPr/>
              </a:pPr>
              <a:t>34</a:t>
            </a:fld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텍스트 개체 틀 8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Site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 &gt;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장치 모니터링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&gt;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장치 모니터링 현황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&gt; PCS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장치 상세보기 팝업</a:t>
            </a:r>
          </a:p>
        </p:txBody>
      </p:sp>
      <p:sp>
        <p:nvSpPr>
          <p:cNvPr id="10" name="텍스트 개체 틀 9"/>
          <p:cNvSpPr>
            <a:spLocks noGrp="1"/>
          </p:cNvSpPr>
          <p:nvPr>
            <p:ph type="body" sz="quarter" idx="10"/>
          </p:nvPr>
        </p:nvSpPr>
        <p:spPr>
          <a:xfrm>
            <a:off x="6023595" y="44624"/>
            <a:ext cx="1233661" cy="196974"/>
          </a:xfrm>
        </p:spPr>
        <p:txBody>
          <a:bodyPr/>
          <a:lstStyle/>
          <a:p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PCS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장치 상세보기</a:t>
            </a:r>
          </a:p>
        </p:txBody>
      </p:sp>
      <p:graphicFrame>
        <p:nvGraphicFramePr>
          <p:cNvPr id="102" name="Group 15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94411904"/>
              </p:ext>
            </p:extLst>
          </p:nvPr>
        </p:nvGraphicFramePr>
        <p:xfrm>
          <a:off x="8469313" y="276225"/>
          <a:ext cx="1404000" cy="4519104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3002"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Description</a:t>
                      </a: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장치 명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장치 명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2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ko-KR" altLang="en-US" sz="800" b="1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정보 조회 시간</a:t>
                      </a:r>
                      <a:endParaRPr lang="en-US" altLang="ko-KR" sz="800" b="1" u="non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en-US" altLang="ko-KR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 - </a:t>
                      </a: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장치 정보 조회 날짜</a:t>
                      </a:r>
                      <a:r>
                        <a:rPr lang="en-US" altLang="ko-KR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, </a:t>
                      </a: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시간 표시</a:t>
                      </a:r>
                      <a:endParaRPr lang="en-US" altLang="ko-KR" sz="800" b="0" u="non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3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Site</a:t>
                      </a:r>
                      <a:r>
                        <a:rPr lang="ko-KR" altLang="en-US" sz="800" b="1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및 장치 기본 정보</a:t>
                      </a:r>
                      <a:endParaRPr lang="en-US" altLang="ko-KR" sz="800" b="1" u="non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- Site, </a:t>
                      </a: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장치</a:t>
                      </a:r>
                      <a:r>
                        <a:rPr lang="en-US" altLang="ko-KR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기본 정보 표시</a:t>
                      </a:r>
                      <a:endParaRPr lang="en-US" altLang="ko-KR" sz="800" b="0" u="non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- </a:t>
                      </a: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장치</a:t>
                      </a:r>
                      <a:r>
                        <a:rPr lang="en-US" altLang="ko-KR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ID, </a:t>
                      </a: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장치그룹</a:t>
                      </a:r>
                      <a:r>
                        <a:rPr lang="en-US" altLang="ko-KR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Site</a:t>
                      </a: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r>
                        <a:rPr lang="en-US" altLang="ko-KR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사이트</a:t>
                      </a:r>
                      <a:r>
                        <a:rPr lang="en-US" altLang="ko-KR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ID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4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운전 상태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운전 상태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상태 값 확인 후 수정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5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알람 메시지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알람 발생 시의 알람 내용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6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AC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출력 정보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AC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출력 관련 정보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전압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전류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전력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역률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주파수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전력설정치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630173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7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DC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출력 정보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DC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출력 관련 정보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전압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전류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운정상태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운전모드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충전량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방전량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7171528"/>
                  </a:ext>
                </a:extLst>
              </a:tr>
              <a:tr h="38304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8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창 닫기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상세보기 창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종료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78" name="TextBox 77"/>
          <p:cNvSpPr txBox="1"/>
          <p:nvPr/>
        </p:nvSpPr>
        <p:spPr>
          <a:xfrm>
            <a:off x="7121707" y="21349"/>
            <a:ext cx="567597" cy="2308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화면</a:t>
            </a:r>
            <a:r>
              <a:rPr lang="en-US" altLang="ko-KR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ID</a:t>
            </a:r>
            <a:endParaRPr lang="ko-KR" altLang="en-US" sz="9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7689304" y="43659"/>
            <a:ext cx="792088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itchFamily="50" charset="-127"/>
                <a:ea typeface="맑은 고딕" pitchFamily="50" charset="-127"/>
              </a:rPr>
              <a:t>ewpsp_scr_018</a:t>
            </a:r>
            <a:endParaRPr lang="ko-KR" altLang="en-US" sz="70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4E378E4C-417D-46FC-8EB2-997074DCFB87}"/>
              </a:ext>
            </a:extLst>
          </p:cNvPr>
          <p:cNvSpPr txBox="1"/>
          <p:nvPr/>
        </p:nvSpPr>
        <p:spPr>
          <a:xfrm>
            <a:off x="378210" y="407514"/>
            <a:ext cx="2063759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4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PCS </a:t>
            </a:r>
            <a:r>
              <a:rPr lang="ko-KR" altLang="en-US" sz="14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장치 상세보기</a:t>
            </a:r>
          </a:p>
        </p:txBody>
      </p:sp>
      <p:grpSp>
        <p:nvGrpSpPr>
          <p:cNvPr id="7" name="그룹 6">
            <a:extLst>
              <a:ext uri="{FF2B5EF4-FFF2-40B4-BE49-F238E27FC236}">
                <a16:creationId xmlns:a16="http://schemas.microsoft.com/office/drawing/2014/main" id="{ACB2AA9B-C292-43B1-A2A5-844EEE480D15}"/>
              </a:ext>
            </a:extLst>
          </p:cNvPr>
          <p:cNvGrpSpPr/>
          <p:nvPr/>
        </p:nvGrpSpPr>
        <p:grpSpPr>
          <a:xfrm>
            <a:off x="373623" y="737090"/>
            <a:ext cx="5434338" cy="4060062"/>
            <a:chOff x="373623" y="737090"/>
            <a:chExt cx="5434338" cy="4060062"/>
          </a:xfrm>
        </p:grpSpPr>
        <p:sp>
          <p:nvSpPr>
            <p:cNvPr id="44" name="직사각형 43">
              <a:extLst>
                <a:ext uri="{FF2B5EF4-FFF2-40B4-BE49-F238E27FC236}">
                  <a16:creationId xmlns:a16="http://schemas.microsoft.com/office/drawing/2014/main" id="{80DBD963-6553-410B-BFF5-229C31D43475}"/>
                </a:ext>
              </a:extLst>
            </p:cNvPr>
            <p:cNvSpPr/>
            <p:nvPr/>
          </p:nvSpPr>
          <p:spPr>
            <a:xfrm>
              <a:off x="373623" y="737090"/>
              <a:ext cx="5371466" cy="4060062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>
                <a:lnSpc>
                  <a:spcPct val="200000"/>
                </a:lnSpc>
              </a:pPr>
              <a:endParaRPr lang="ko-KR" altLang="en-US" sz="100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2" name="TextBox 1">
              <a:extLst>
                <a:ext uri="{FF2B5EF4-FFF2-40B4-BE49-F238E27FC236}">
                  <a16:creationId xmlns:a16="http://schemas.microsoft.com/office/drawing/2014/main" id="{E2CD9C4C-AC9C-4723-9CBA-75FEECB1C4FC}"/>
                </a:ext>
              </a:extLst>
            </p:cNvPr>
            <p:cNvSpPr txBox="1"/>
            <p:nvPr/>
          </p:nvSpPr>
          <p:spPr>
            <a:xfrm>
              <a:off x="583571" y="925139"/>
              <a:ext cx="1095982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PCS_1</a:t>
              </a:r>
              <a:endParaRPr lang="ko-KR" altLang="en-US" sz="1400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081F883C-0743-43D1-B92E-549FADD9A2E0}"/>
                </a:ext>
              </a:extLst>
            </p:cNvPr>
            <p:cNvSpPr txBox="1"/>
            <p:nvPr/>
          </p:nvSpPr>
          <p:spPr>
            <a:xfrm>
              <a:off x="2926628" y="1340889"/>
              <a:ext cx="67364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Site</a:t>
              </a:r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명</a:t>
              </a:r>
              <a:r>
                <a:rPr lang="ko-KR" altLang="en-US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: 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9748951A-BFEC-4C51-B821-9796DB3D393C}"/>
                </a:ext>
              </a:extLst>
            </p:cNvPr>
            <p:cNvSpPr txBox="1"/>
            <p:nvPr/>
          </p:nvSpPr>
          <p:spPr>
            <a:xfrm>
              <a:off x="4170022" y="1340889"/>
              <a:ext cx="68674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Site</a:t>
              </a:r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ID</a:t>
              </a:r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: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45615B77-03BE-4A16-9975-F72805336E30}"/>
                </a:ext>
              </a:extLst>
            </p:cNvPr>
            <p:cNvSpPr txBox="1"/>
            <p:nvPr/>
          </p:nvSpPr>
          <p:spPr>
            <a:xfrm>
              <a:off x="3493111" y="1340889"/>
              <a:ext cx="89293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제일화성</a:t>
              </a:r>
            </a:p>
          </p:txBody>
        </p: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F4FCA0C8-B872-4EBF-84A0-E133B178310A}"/>
                </a:ext>
              </a:extLst>
            </p:cNvPr>
            <p:cNvSpPr txBox="1"/>
            <p:nvPr/>
          </p:nvSpPr>
          <p:spPr>
            <a:xfrm>
              <a:off x="4744818" y="1340889"/>
              <a:ext cx="8092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10037202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4530671C-3799-4874-BBA2-09D46A720BC7}"/>
                </a:ext>
              </a:extLst>
            </p:cNvPr>
            <p:cNvSpPr txBox="1"/>
            <p:nvPr/>
          </p:nvSpPr>
          <p:spPr>
            <a:xfrm>
              <a:off x="567924" y="1340889"/>
              <a:ext cx="67364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장치 </a:t>
              </a:r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ID</a:t>
              </a:r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: 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01D7F8B0-E3B7-41C7-963C-9E89A54D0EC2}"/>
                </a:ext>
              </a:extLst>
            </p:cNvPr>
            <p:cNvSpPr txBox="1"/>
            <p:nvPr/>
          </p:nvSpPr>
          <p:spPr>
            <a:xfrm>
              <a:off x="1145686" y="1340889"/>
              <a:ext cx="87590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41331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E6C66611-991B-40AF-80FC-1D0B8788B754}"/>
                </a:ext>
              </a:extLst>
            </p:cNvPr>
            <p:cNvSpPr txBox="1"/>
            <p:nvPr/>
          </p:nvSpPr>
          <p:spPr>
            <a:xfrm>
              <a:off x="632521" y="1802196"/>
              <a:ext cx="936077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운전</a:t>
              </a:r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상태</a:t>
              </a:r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: 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55491260-E688-4EAB-B409-1C2BE298FA42}"/>
                </a:ext>
              </a:extLst>
            </p:cNvPr>
            <p:cNvSpPr txBox="1"/>
            <p:nvPr/>
          </p:nvSpPr>
          <p:spPr>
            <a:xfrm>
              <a:off x="1844825" y="1802196"/>
              <a:ext cx="87590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RUN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76" name="TextBox 75">
              <a:extLst>
                <a:ext uri="{FF2B5EF4-FFF2-40B4-BE49-F238E27FC236}">
                  <a16:creationId xmlns:a16="http://schemas.microsoft.com/office/drawing/2014/main" id="{55B5E93C-E71C-4B8F-81A9-99A183EBD650}"/>
                </a:ext>
              </a:extLst>
            </p:cNvPr>
            <p:cNvSpPr txBox="1"/>
            <p:nvPr/>
          </p:nvSpPr>
          <p:spPr>
            <a:xfrm>
              <a:off x="767401" y="2707681"/>
              <a:ext cx="67192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전압</a:t>
              </a:r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(V)</a:t>
              </a:r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: </a:t>
              </a:r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6C536AA3-58AA-498E-9553-ED307CCA2756}"/>
                </a:ext>
              </a:extLst>
            </p:cNvPr>
            <p:cNvSpPr txBox="1"/>
            <p:nvPr/>
          </p:nvSpPr>
          <p:spPr>
            <a:xfrm>
              <a:off x="1415473" y="2707681"/>
              <a:ext cx="52497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366.2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5" name="직사각형 4">
              <a:extLst>
                <a:ext uri="{FF2B5EF4-FFF2-40B4-BE49-F238E27FC236}">
                  <a16:creationId xmlns:a16="http://schemas.microsoft.com/office/drawing/2014/main" id="{2C059726-7675-4821-9A8D-BFC8F530FB17}"/>
                </a:ext>
              </a:extLst>
            </p:cNvPr>
            <p:cNvSpPr/>
            <p:nvPr/>
          </p:nvSpPr>
          <p:spPr>
            <a:xfrm>
              <a:off x="3665966" y="970728"/>
              <a:ext cx="1808507" cy="2616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105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2018-06-15  2:39:01 PM</a:t>
              </a:r>
              <a:endParaRPr lang="ko-KR" altLang="en-US" sz="1050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80" name="TextBox 79">
              <a:extLst>
                <a:ext uri="{FF2B5EF4-FFF2-40B4-BE49-F238E27FC236}">
                  <a16:creationId xmlns:a16="http://schemas.microsoft.com/office/drawing/2014/main" id="{51DCFD66-F17E-4CAA-B4D1-318448A89980}"/>
                </a:ext>
              </a:extLst>
            </p:cNvPr>
            <p:cNvSpPr txBox="1"/>
            <p:nvPr/>
          </p:nvSpPr>
          <p:spPr>
            <a:xfrm>
              <a:off x="1648184" y="1340889"/>
              <a:ext cx="79378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1000" b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장치 그룹</a:t>
              </a:r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: 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81" name="TextBox 80">
              <a:extLst>
                <a:ext uri="{FF2B5EF4-FFF2-40B4-BE49-F238E27FC236}">
                  <a16:creationId xmlns:a16="http://schemas.microsoft.com/office/drawing/2014/main" id="{56601379-72BE-4FCD-8CCC-36B69A872757}"/>
                </a:ext>
              </a:extLst>
            </p:cNvPr>
            <p:cNvSpPr txBox="1"/>
            <p:nvPr/>
          </p:nvSpPr>
          <p:spPr>
            <a:xfrm>
              <a:off x="2358156" y="1340889"/>
              <a:ext cx="87590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별관</a:t>
              </a:r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_1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pic>
          <p:nvPicPr>
            <p:cNvPr id="1036" name="Picture 12" descr="okì ëí ì´ë¯¸ì§ ê²ìê²°ê³¼">
              <a:extLst>
                <a:ext uri="{FF2B5EF4-FFF2-40B4-BE49-F238E27FC236}">
                  <a16:creationId xmlns:a16="http://schemas.microsoft.com/office/drawing/2014/main" id="{EECD6184-7F36-43FD-AA75-A2F5D98D059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81607" y="1772816"/>
              <a:ext cx="226000" cy="2260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82" name="TextBox 81">
              <a:extLst>
                <a:ext uri="{FF2B5EF4-FFF2-40B4-BE49-F238E27FC236}">
                  <a16:creationId xmlns:a16="http://schemas.microsoft.com/office/drawing/2014/main" id="{7AB4AB62-D3A6-4677-9E3B-A880A640AA22}"/>
                </a:ext>
              </a:extLst>
            </p:cNvPr>
            <p:cNvSpPr txBox="1"/>
            <p:nvPr/>
          </p:nvSpPr>
          <p:spPr>
            <a:xfrm>
              <a:off x="4664968" y="4399220"/>
              <a:ext cx="720080" cy="253916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50000"/>
                </a:schemeClr>
              </a:solidFill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닫기</a:t>
              </a:r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37FC64FF-514E-4883-BB9A-556C7E095EEA}"/>
                </a:ext>
              </a:extLst>
            </p:cNvPr>
            <p:cNvSpPr txBox="1"/>
            <p:nvPr/>
          </p:nvSpPr>
          <p:spPr>
            <a:xfrm>
              <a:off x="632521" y="2102659"/>
              <a:ext cx="936077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알람 메시지 </a:t>
              </a:r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: 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84" name="TextBox 83">
              <a:extLst>
                <a:ext uri="{FF2B5EF4-FFF2-40B4-BE49-F238E27FC236}">
                  <a16:creationId xmlns:a16="http://schemas.microsoft.com/office/drawing/2014/main" id="{2CA30599-46B0-47D6-B24F-4FDADF8CD0DB}"/>
                </a:ext>
              </a:extLst>
            </p:cNvPr>
            <p:cNvSpPr txBox="1"/>
            <p:nvPr/>
          </p:nvSpPr>
          <p:spPr>
            <a:xfrm>
              <a:off x="1640607" y="2102659"/>
              <a:ext cx="87590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- 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pic>
          <p:nvPicPr>
            <p:cNvPr id="3074" name="Picture 2" descr="ê´ë ¨ ì´ë¯¸ì§">
              <a:extLst>
                <a:ext uri="{FF2B5EF4-FFF2-40B4-BE49-F238E27FC236}">
                  <a16:creationId xmlns:a16="http://schemas.microsoft.com/office/drawing/2014/main" id="{B3FF6F82-3471-4BF5-816D-CCD14205BB9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208997" y="843749"/>
              <a:ext cx="470556" cy="470556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E6B02F3B-7FB0-4486-8ED3-55B6EA320F57}"/>
                </a:ext>
              </a:extLst>
            </p:cNvPr>
            <p:cNvCxnSpPr>
              <a:cxnSpLocks/>
            </p:cNvCxnSpPr>
            <p:nvPr/>
          </p:nvCxnSpPr>
          <p:spPr>
            <a:xfrm>
              <a:off x="559973" y="1652653"/>
              <a:ext cx="5004817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67F5EDB3-7AFF-4532-A7EA-BE0524A05808}"/>
                </a:ext>
              </a:extLst>
            </p:cNvPr>
            <p:cNvSpPr txBox="1"/>
            <p:nvPr/>
          </p:nvSpPr>
          <p:spPr>
            <a:xfrm>
              <a:off x="767401" y="3035041"/>
              <a:ext cx="67192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전류</a:t>
              </a:r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(A)</a:t>
              </a:r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: </a:t>
              </a:r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21507F51-6C3B-4DA4-B67A-5E2CBFF2A1B9}"/>
                </a:ext>
              </a:extLst>
            </p:cNvPr>
            <p:cNvSpPr txBox="1"/>
            <p:nvPr/>
          </p:nvSpPr>
          <p:spPr>
            <a:xfrm>
              <a:off x="1415473" y="3035041"/>
              <a:ext cx="52497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1.1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BACB4506-6B50-4E78-B97C-089F939F7CA8}"/>
                </a:ext>
              </a:extLst>
            </p:cNvPr>
            <p:cNvSpPr txBox="1"/>
            <p:nvPr/>
          </p:nvSpPr>
          <p:spPr>
            <a:xfrm>
              <a:off x="2098307" y="2711403"/>
              <a:ext cx="87590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전력</a:t>
              </a:r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(kW)</a:t>
              </a:r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: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3A029E64-CD88-45D1-8E29-2101A4E049F1}"/>
                </a:ext>
              </a:extLst>
            </p:cNvPr>
            <p:cNvSpPr txBox="1"/>
            <p:nvPr/>
          </p:nvSpPr>
          <p:spPr>
            <a:xfrm>
              <a:off x="3059851" y="2711403"/>
              <a:ext cx="48468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59.7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813E8BA6-628E-445F-A710-A80CA4B4CF78}"/>
                </a:ext>
              </a:extLst>
            </p:cNvPr>
            <p:cNvSpPr txBox="1"/>
            <p:nvPr/>
          </p:nvSpPr>
          <p:spPr>
            <a:xfrm>
              <a:off x="2098307" y="3038763"/>
              <a:ext cx="87590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역률</a:t>
              </a:r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(PF)</a:t>
              </a:r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: </a:t>
              </a:r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93F224CE-6487-4360-9A6E-CAAD6F6FC0C2}"/>
                </a:ext>
              </a:extLst>
            </p:cNvPr>
            <p:cNvSpPr txBox="1"/>
            <p:nvPr/>
          </p:nvSpPr>
          <p:spPr>
            <a:xfrm>
              <a:off x="3059851" y="3038763"/>
              <a:ext cx="48468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1.0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45E7CDDD-EA85-46BB-AC97-ADE537C03221}"/>
                </a:ext>
              </a:extLst>
            </p:cNvPr>
            <p:cNvSpPr txBox="1"/>
            <p:nvPr/>
          </p:nvSpPr>
          <p:spPr>
            <a:xfrm>
              <a:off x="632520" y="2431845"/>
              <a:ext cx="936077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AC </a:t>
              </a:r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출력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43788A7C-445B-4755-8219-643250A31AE2}"/>
                </a:ext>
              </a:extLst>
            </p:cNvPr>
            <p:cNvSpPr txBox="1"/>
            <p:nvPr/>
          </p:nvSpPr>
          <p:spPr>
            <a:xfrm>
              <a:off x="3726942" y="2711975"/>
              <a:ext cx="87590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주파수</a:t>
              </a:r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(Hz)</a:t>
              </a:r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: </a:t>
              </a:r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ABA84A44-8324-42C6-B3C7-24193D374880}"/>
                </a:ext>
              </a:extLst>
            </p:cNvPr>
            <p:cNvSpPr txBox="1"/>
            <p:nvPr/>
          </p:nvSpPr>
          <p:spPr>
            <a:xfrm>
              <a:off x="4932059" y="2711975"/>
              <a:ext cx="48468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59.7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D9F82508-382A-4A86-AD80-DCBC803A25DF}"/>
                </a:ext>
              </a:extLst>
            </p:cNvPr>
            <p:cNvSpPr txBox="1"/>
            <p:nvPr/>
          </p:nvSpPr>
          <p:spPr>
            <a:xfrm>
              <a:off x="3726942" y="3039335"/>
              <a:ext cx="13364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전력설정치</a:t>
              </a:r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(kWh)</a:t>
              </a:r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: </a:t>
              </a:r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448E1C07-DBAF-4FB6-B861-7B9485A50616}"/>
                </a:ext>
              </a:extLst>
            </p:cNvPr>
            <p:cNvSpPr txBox="1"/>
            <p:nvPr/>
          </p:nvSpPr>
          <p:spPr>
            <a:xfrm>
              <a:off x="4932059" y="3039335"/>
              <a:ext cx="63273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3,486.0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BDD539E1-0148-48E8-B189-5C7DD1DBEE43}"/>
                </a:ext>
              </a:extLst>
            </p:cNvPr>
            <p:cNvSpPr txBox="1"/>
            <p:nvPr/>
          </p:nvSpPr>
          <p:spPr>
            <a:xfrm>
              <a:off x="767401" y="3643213"/>
              <a:ext cx="67192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전압</a:t>
              </a:r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(V)</a:t>
              </a:r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: </a:t>
              </a:r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48B843C0-E0DC-46E9-8D15-AC0D754C9480}"/>
                </a:ext>
              </a:extLst>
            </p:cNvPr>
            <p:cNvSpPr txBox="1"/>
            <p:nvPr/>
          </p:nvSpPr>
          <p:spPr>
            <a:xfrm>
              <a:off x="1415473" y="3643213"/>
              <a:ext cx="87590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758.2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9" name="TextBox 68">
              <a:extLst>
                <a:ext uri="{FF2B5EF4-FFF2-40B4-BE49-F238E27FC236}">
                  <a16:creationId xmlns:a16="http://schemas.microsoft.com/office/drawing/2014/main" id="{4966178B-06B0-4B04-B0EF-372C7686F5F5}"/>
                </a:ext>
              </a:extLst>
            </p:cNvPr>
            <p:cNvSpPr txBox="1"/>
            <p:nvPr/>
          </p:nvSpPr>
          <p:spPr>
            <a:xfrm>
              <a:off x="767401" y="3970573"/>
              <a:ext cx="67192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전류</a:t>
              </a:r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(A)</a:t>
              </a:r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: </a:t>
              </a:r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70" name="TextBox 69">
              <a:extLst>
                <a:ext uri="{FF2B5EF4-FFF2-40B4-BE49-F238E27FC236}">
                  <a16:creationId xmlns:a16="http://schemas.microsoft.com/office/drawing/2014/main" id="{90C7F00D-86DC-4F14-B540-73487B6374CB}"/>
                </a:ext>
              </a:extLst>
            </p:cNvPr>
            <p:cNvSpPr txBox="1"/>
            <p:nvPr/>
          </p:nvSpPr>
          <p:spPr>
            <a:xfrm>
              <a:off x="1415473" y="3970573"/>
              <a:ext cx="87590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1.6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CB2CDFF4-655B-4EFF-9448-4D9897938B34}"/>
                </a:ext>
              </a:extLst>
            </p:cNvPr>
            <p:cNvSpPr txBox="1"/>
            <p:nvPr/>
          </p:nvSpPr>
          <p:spPr>
            <a:xfrm>
              <a:off x="2098307" y="3646935"/>
              <a:ext cx="87590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운전상태 </a:t>
              </a:r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: </a:t>
              </a:r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7CF19AE4-9F30-404E-A9CF-9A8D9D1E8D99}"/>
                </a:ext>
              </a:extLst>
            </p:cNvPr>
            <p:cNvSpPr txBox="1"/>
            <p:nvPr/>
          </p:nvSpPr>
          <p:spPr>
            <a:xfrm>
              <a:off x="3059851" y="3646935"/>
              <a:ext cx="87590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충전 중</a:t>
              </a:r>
            </a:p>
          </p:txBody>
        </p:sp>
        <p:sp>
          <p:nvSpPr>
            <p:cNvPr id="73" name="TextBox 72">
              <a:extLst>
                <a:ext uri="{FF2B5EF4-FFF2-40B4-BE49-F238E27FC236}">
                  <a16:creationId xmlns:a16="http://schemas.microsoft.com/office/drawing/2014/main" id="{400C49F7-5A05-4DD0-A7DD-BDBE038844DE}"/>
                </a:ext>
              </a:extLst>
            </p:cNvPr>
            <p:cNvSpPr txBox="1"/>
            <p:nvPr/>
          </p:nvSpPr>
          <p:spPr>
            <a:xfrm>
              <a:off x="2098307" y="3974295"/>
              <a:ext cx="1008087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1000" b="1" dirty="0" err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충전량</a:t>
              </a:r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(kWh)</a:t>
              </a:r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: </a:t>
              </a:r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DA75292A-712D-4259-AA86-A428D30ECD26}"/>
                </a:ext>
              </a:extLst>
            </p:cNvPr>
            <p:cNvSpPr txBox="1"/>
            <p:nvPr/>
          </p:nvSpPr>
          <p:spPr>
            <a:xfrm>
              <a:off x="3059851" y="3974295"/>
              <a:ext cx="87590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2,089.0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89" name="TextBox 88">
              <a:extLst>
                <a:ext uri="{FF2B5EF4-FFF2-40B4-BE49-F238E27FC236}">
                  <a16:creationId xmlns:a16="http://schemas.microsoft.com/office/drawing/2014/main" id="{F8A93D5D-FE6B-436D-B531-CA4443DD18C0}"/>
                </a:ext>
              </a:extLst>
            </p:cNvPr>
            <p:cNvSpPr txBox="1"/>
            <p:nvPr/>
          </p:nvSpPr>
          <p:spPr>
            <a:xfrm>
              <a:off x="632520" y="3367377"/>
              <a:ext cx="936077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DC </a:t>
              </a:r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출력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F8D4A8D6-9FC0-4E59-B7EB-7981A7E542A5}"/>
                </a:ext>
              </a:extLst>
            </p:cNvPr>
            <p:cNvSpPr txBox="1"/>
            <p:nvPr/>
          </p:nvSpPr>
          <p:spPr>
            <a:xfrm>
              <a:off x="3726942" y="3647507"/>
              <a:ext cx="87590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운전모드 </a:t>
              </a:r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: </a:t>
              </a:r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91" name="TextBox 90">
              <a:extLst>
                <a:ext uri="{FF2B5EF4-FFF2-40B4-BE49-F238E27FC236}">
                  <a16:creationId xmlns:a16="http://schemas.microsoft.com/office/drawing/2014/main" id="{9C0A75BF-EE9F-4254-BEB2-77CE4614C37D}"/>
                </a:ext>
              </a:extLst>
            </p:cNvPr>
            <p:cNvSpPr txBox="1"/>
            <p:nvPr/>
          </p:nvSpPr>
          <p:spPr>
            <a:xfrm>
              <a:off x="4932059" y="3647507"/>
              <a:ext cx="87590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Remote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94" name="TextBox 93">
              <a:extLst>
                <a:ext uri="{FF2B5EF4-FFF2-40B4-BE49-F238E27FC236}">
                  <a16:creationId xmlns:a16="http://schemas.microsoft.com/office/drawing/2014/main" id="{2DEE0BE0-2327-4F8D-92C5-FE60B5614DD9}"/>
                </a:ext>
              </a:extLst>
            </p:cNvPr>
            <p:cNvSpPr txBox="1"/>
            <p:nvPr/>
          </p:nvSpPr>
          <p:spPr>
            <a:xfrm>
              <a:off x="3726942" y="3974867"/>
              <a:ext cx="13364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1000" b="1" dirty="0" err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방전량</a:t>
              </a:r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(kWh)</a:t>
              </a:r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: </a:t>
              </a:r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4C4D59F2-E445-4796-AB97-9991E29AD74D}"/>
                </a:ext>
              </a:extLst>
            </p:cNvPr>
            <p:cNvSpPr txBox="1"/>
            <p:nvPr/>
          </p:nvSpPr>
          <p:spPr>
            <a:xfrm>
              <a:off x="4932059" y="3974867"/>
              <a:ext cx="87590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1,564.0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227" name="타원형 설명선 226"/>
          <p:cNvSpPr/>
          <p:nvPr/>
        </p:nvSpPr>
        <p:spPr>
          <a:xfrm>
            <a:off x="3510942" y="820817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4" name="타원형 설명선 243"/>
          <p:cNvSpPr/>
          <p:nvPr/>
        </p:nvSpPr>
        <p:spPr>
          <a:xfrm>
            <a:off x="395839" y="1694371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5" name="타원형 설명선 244"/>
          <p:cNvSpPr/>
          <p:nvPr/>
        </p:nvSpPr>
        <p:spPr>
          <a:xfrm>
            <a:off x="451973" y="1196776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6" name="타원형 설명선 245"/>
          <p:cNvSpPr/>
          <p:nvPr/>
        </p:nvSpPr>
        <p:spPr>
          <a:xfrm>
            <a:off x="395839" y="2380781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6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7" name="타원형 설명선 246"/>
          <p:cNvSpPr/>
          <p:nvPr/>
        </p:nvSpPr>
        <p:spPr>
          <a:xfrm>
            <a:off x="4354219" y="4236877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8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66" name="타원형 설명선 265"/>
          <p:cNvSpPr/>
          <p:nvPr/>
        </p:nvSpPr>
        <p:spPr>
          <a:xfrm>
            <a:off x="402087" y="3304406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7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3" name="타원형 설명선 225">
            <a:extLst>
              <a:ext uri="{FF2B5EF4-FFF2-40B4-BE49-F238E27FC236}">
                <a16:creationId xmlns:a16="http://schemas.microsoft.com/office/drawing/2014/main" id="{93402A8C-F86A-4207-9226-F02BE6AB6E19}"/>
              </a:ext>
            </a:extLst>
          </p:cNvPr>
          <p:cNvSpPr/>
          <p:nvPr/>
        </p:nvSpPr>
        <p:spPr>
          <a:xfrm>
            <a:off x="451973" y="820817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6" name="타원형 설명선 245">
            <a:extLst>
              <a:ext uri="{FF2B5EF4-FFF2-40B4-BE49-F238E27FC236}">
                <a16:creationId xmlns:a16="http://schemas.microsoft.com/office/drawing/2014/main" id="{0179658D-26AA-4F1B-B86B-58DFEF09263F}"/>
              </a:ext>
            </a:extLst>
          </p:cNvPr>
          <p:cNvSpPr/>
          <p:nvPr/>
        </p:nvSpPr>
        <p:spPr>
          <a:xfrm>
            <a:off x="390245" y="2001326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371EABF5-169B-46E4-BEEC-7EB00492866D}"/>
              </a:ext>
            </a:extLst>
          </p:cNvPr>
          <p:cNvSpPr/>
          <p:nvPr/>
        </p:nvSpPr>
        <p:spPr>
          <a:xfrm>
            <a:off x="790373" y="2706533"/>
            <a:ext cx="4774417" cy="659015"/>
          </a:xfrm>
          <a:prstGeom prst="rect">
            <a:avLst/>
          </a:prstGeom>
          <a:noFill/>
          <a:ln w="127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699BB88E-AF2E-418D-B1E0-470D28573F8A}"/>
              </a:ext>
            </a:extLst>
          </p:cNvPr>
          <p:cNvSpPr/>
          <p:nvPr/>
        </p:nvSpPr>
        <p:spPr>
          <a:xfrm>
            <a:off x="789485" y="3643894"/>
            <a:ext cx="4774417" cy="659015"/>
          </a:xfrm>
          <a:prstGeom prst="rect">
            <a:avLst/>
          </a:prstGeom>
          <a:noFill/>
          <a:ln w="127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3718190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9104309" y="6645875"/>
            <a:ext cx="140029" cy="138499"/>
          </a:xfrm>
        </p:spPr>
        <p:txBody>
          <a:bodyPr/>
          <a:lstStyle/>
          <a:p>
            <a:pPr>
              <a:defRPr/>
            </a:pPr>
            <a:fld id="{9E41B634-5682-4388-99E7-FE44DCFD254B}" type="slidenum">
              <a:rPr lang="ko-KR" altLang="en-US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>
                <a:defRPr/>
              </a:pPr>
              <a:t>35</a:t>
            </a:fld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텍스트 개체 틀 8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Site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 &gt;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장치 모니터링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&gt;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장치 모니터링 현황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&gt; BMS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장치 상세보기 팝업</a:t>
            </a:r>
          </a:p>
        </p:txBody>
      </p:sp>
      <p:sp>
        <p:nvSpPr>
          <p:cNvPr id="10" name="텍스트 개체 틀 9"/>
          <p:cNvSpPr>
            <a:spLocks noGrp="1"/>
          </p:cNvSpPr>
          <p:nvPr>
            <p:ph type="body" sz="quarter" idx="10"/>
          </p:nvPr>
        </p:nvSpPr>
        <p:spPr>
          <a:xfrm>
            <a:off x="6023595" y="44624"/>
            <a:ext cx="1233661" cy="196974"/>
          </a:xfrm>
        </p:spPr>
        <p:txBody>
          <a:bodyPr/>
          <a:lstStyle/>
          <a:p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BMS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장치 상세보기</a:t>
            </a:r>
          </a:p>
        </p:txBody>
      </p:sp>
      <p:graphicFrame>
        <p:nvGraphicFramePr>
          <p:cNvPr id="102" name="Group 15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52378899"/>
              </p:ext>
            </p:extLst>
          </p:nvPr>
        </p:nvGraphicFramePr>
        <p:xfrm>
          <a:off x="8469313" y="276225"/>
          <a:ext cx="1404000" cy="4032576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3002"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Description</a:t>
                      </a: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장치 명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장치 명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2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ko-KR" altLang="en-US" sz="800" b="1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정보 조회 시간</a:t>
                      </a:r>
                      <a:endParaRPr lang="en-US" altLang="ko-KR" sz="800" b="1" u="non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en-US" altLang="ko-KR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 - </a:t>
                      </a: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장치 정보 조회 날짜</a:t>
                      </a:r>
                      <a:r>
                        <a:rPr lang="en-US" altLang="ko-KR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, </a:t>
                      </a: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시간 표시</a:t>
                      </a:r>
                      <a:endParaRPr lang="en-US" altLang="ko-KR" sz="800" b="0" u="non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3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Site</a:t>
                      </a:r>
                      <a:r>
                        <a:rPr lang="ko-KR" altLang="en-US" sz="800" b="1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및 장치 기본 정보</a:t>
                      </a:r>
                      <a:endParaRPr lang="en-US" altLang="ko-KR" sz="800" b="1" u="non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- Site, </a:t>
                      </a: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장치</a:t>
                      </a:r>
                      <a:r>
                        <a:rPr lang="en-US" altLang="ko-KR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기본 정보 표시</a:t>
                      </a:r>
                      <a:endParaRPr lang="en-US" altLang="ko-KR" sz="800" b="0" u="non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- </a:t>
                      </a: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장치</a:t>
                      </a:r>
                      <a:r>
                        <a:rPr lang="en-US" altLang="ko-KR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ID, </a:t>
                      </a: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장치그룹</a:t>
                      </a:r>
                      <a:r>
                        <a:rPr lang="en-US" altLang="ko-KR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Site</a:t>
                      </a: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r>
                        <a:rPr lang="en-US" altLang="ko-KR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사이트</a:t>
                      </a:r>
                      <a:r>
                        <a:rPr lang="en-US" altLang="ko-KR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ID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4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운전 상태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운전 상태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상태 값 확인 후 수정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5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알람 메시지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알람 발생 시의 알람 내용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8304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6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장치 상태 정보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장치의 각 상태 정보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SOC, SOC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현재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SOC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최대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SOC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최소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SOH,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출력전압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출력전류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DoD, C-rate,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충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/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방전상태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8304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7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창 닫기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상세보기 창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종료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41214334"/>
                  </a:ext>
                </a:extLst>
              </a:tr>
            </a:tbl>
          </a:graphicData>
        </a:graphic>
      </p:graphicFrame>
      <p:sp>
        <p:nvSpPr>
          <p:cNvPr id="78" name="TextBox 77"/>
          <p:cNvSpPr txBox="1"/>
          <p:nvPr/>
        </p:nvSpPr>
        <p:spPr>
          <a:xfrm>
            <a:off x="7121707" y="21349"/>
            <a:ext cx="567597" cy="2308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화면</a:t>
            </a:r>
            <a:r>
              <a:rPr lang="en-US" altLang="ko-KR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ID</a:t>
            </a:r>
            <a:endParaRPr lang="ko-KR" altLang="en-US" sz="9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7689304" y="43659"/>
            <a:ext cx="792088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itchFamily="50" charset="-127"/>
                <a:ea typeface="맑은 고딕" pitchFamily="50" charset="-127"/>
              </a:rPr>
              <a:t>ewpsp_scr_019</a:t>
            </a:r>
            <a:endParaRPr lang="ko-KR" altLang="en-US" sz="70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4E378E4C-417D-46FC-8EB2-997074DCFB87}"/>
              </a:ext>
            </a:extLst>
          </p:cNvPr>
          <p:cNvSpPr txBox="1"/>
          <p:nvPr/>
        </p:nvSpPr>
        <p:spPr>
          <a:xfrm>
            <a:off x="378210" y="407514"/>
            <a:ext cx="2063759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4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BMS </a:t>
            </a:r>
            <a:r>
              <a:rPr lang="ko-KR" altLang="en-US" sz="14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장치 상세보기</a:t>
            </a: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732FEA46-A6B3-468A-8B76-6F04034CE923}"/>
              </a:ext>
            </a:extLst>
          </p:cNvPr>
          <p:cNvGrpSpPr/>
          <p:nvPr/>
        </p:nvGrpSpPr>
        <p:grpSpPr>
          <a:xfrm>
            <a:off x="378210" y="717202"/>
            <a:ext cx="5510894" cy="3556468"/>
            <a:chOff x="378210" y="717202"/>
            <a:chExt cx="5510894" cy="3556468"/>
          </a:xfrm>
        </p:grpSpPr>
        <p:sp>
          <p:nvSpPr>
            <p:cNvPr id="44" name="직사각형 43">
              <a:extLst>
                <a:ext uri="{FF2B5EF4-FFF2-40B4-BE49-F238E27FC236}">
                  <a16:creationId xmlns:a16="http://schemas.microsoft.com/office/drawing/2014/main" id="{80DBD963-6553-410B-BFF5-229C31D43475}"/>
                </a:ext>
              </a:extLst>
            </p:cNvPr>
            <p:cNvSpPr/>
            <p:nvPr/>
          </p:nvSpPr>
          <p:spPr>
            <a:xfrm>
              <a:off x="378210" y="717202"/>
              <a:ext cx="5371466" cy="3556468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>
                <a:lnSpc>
                  <a:spcPct val="200000"/>
                </a:lnSpc>
              </a:pPr>
              <a:endParaRPr lang="ko-KR" altLang="en-US" sz="100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2" name="TextBox 1">
              <a:extLst>
                <a:ext uri="{FF2B5EF4-FFF2-40B4-BE49-F238E27FC236}">
                  <a16:creationId xmlns:a16="http://schemas.microsoft.com/office/drawing/2014/main" id="{E2CD9C4C-AC9C-4723-9CBA-75FEECB1C4FC}"/>
                </a:ext>
              </a:extLst>
            </p:cNvPr>
            <p:cNvSpPr txBox="1"/>
            <p:nvPr/>
          </p:nvSpPr>
          <p:spPr>
            <a:xfrm>
              <a:off x="588158" y="905251"/>
              <a:ext cx="1095982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BMS_1</a:t>
              </a:r>
              <a:endParaRPr lang="ko-KR" altLang="en-US" sz="1400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081F883C-0743-43D1-B92E-549FADD9A2E0}"/>
                </a:ext>
              </a:extLst>
            </p:cNvPr>
            <p:cNvSpPr txBox="1"/>
            <p:nvPr/>
          </p:nvSpPr>
          <p:spPr>
            <a:xfrm>
              <a:off x="2931215" y="1321001"/>
              <a:ext cx="67364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Site</a:t>
              </a:r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명</a:t>
              </a:r>
              <a:r>
                <a:rPr lang="ko-KR" altLang="en-US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: 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9748951A-BFEC-4C51-B821-9796DB3D393C}"/>
                </a:ext>
              </a:extLst>
            </p:cNvPr>
            <p:cNvSpPr txBox="1"/>
            <p:nvPr/>
          </p:nvSpPr>
          <p:spPr>
            <a:xfrm>
              <a:off x="4174609" y="1321001"/>
              <a:ext cx="68674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Site</a:t>
              </a:r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ID</a:t>
              </a:r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: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45615B77-03BE-4A16-9975-F72805336E30}"/>
                </a:ext>
              </a:extLst>
            </p:cNvPr>
            <p:cNvSpPr txBox="1"/>
            <p:nvPr/>
          </p:nvSpPr>
          <p:spPr>
            <a:xfrm>
              <a:off x="3497698" y="1321001"/>
              <a:ext cx="89293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제일화성</a:t>
              </a:r>
            </a:p>
          </p:txBody>
        </p: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F4FCA0C8-B872-4EBF-84A0-E133B178310A}"/>
                </a:ext>
              </a:extLst>
            </p:cNvPr>
            <p:cNvSpPr txBox="1"/>
            <p:nvPr/>
          </p:nvSpPr>
          <p:spPr>
            <a:xfrm>
              <a:off x="4749405" y="1321001"/>
              <a:ext cx="8092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10037202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4530671C-3799-4874-BBA2-09D46A720BC7}"/>
                </a:ext>
              </a:extLst>
            </p:cNvPr>
            <p:cNvSpPr txBox="1"/>
            <p:nvPr/>
          </p:nvSpPr>
          <p:spPr>
            <a:xfrm>
              <a:off x="572511" y="1321001"/>
              <a:ext cx="67364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장치 </a:t>
              </a:r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ID</a:t>
              </a:r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: 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01D7F8B0-E3B7-41C7-963C-9E89A54D0EC2}"/>
                </a:ext>
              </a:extLst>
            </p:cNvPr>
            <p:cNvSpPr txBox="1"/>
            <p:nvPr/>
          </p:nvSpPr>
          <p:spPr>
            <a:xfrm>
              <a:off x="1150273" y="1321001"/>
              <a:ext cx="87590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50001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E6C66611-991B-40AF-80FC-1D0B8788B754}"/>
                </a:ext>
              </a:extLst>
            </p:cNvPr>
            <p:cNvSpPr txBox="1"/>
            <p:nvPr/>
          </p:nvSpPr>
          <p:spPr>
            <a:xfrm>
              <a:off x="637108" y="1782308"/>
              <a:ext cx="936077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운전</a:t>
              </a:r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상태</a:t>
              </a:r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: 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55491260-E688-4EAB-B409-1C2BE298FA42}"/>
                </a:ext>
              </a:extLst>
            </p:cNvPr>
            <p:cNvSpPr txBox="1"/>
            <p:nvPr/>
          </p:nvSpPr>
          <p:spPr>
            <a:xfrm>
              <a:off x="1849412" y="1782308"/>
              <a:ext cx="87590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RUN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76" name="TextBox 75">
              <a:extLst>
                <a:ext uri="{FF2B5EF4-FFF2-40B4-BE49-F238E27FC236}">
                  <a16:creationId xmlns:a16="http://schemas.microsoft.com/office/drawing/2014/main" id="{55B5E93C-E71C-4B8F-81A9-99A183EBD650}"/>
                </a:ext>
              </a:extLst>
            </p:cNvPr>
            <p:cNvSpPr txBox="1"/>
            <p:nvPr/>
          </p:nvSpPr>
          <p:spPr>
            <a:xfrm>
              <a:off x="636738" y="2881322"/>
              <a:ext cx="71586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SOC(%)</a:t>
              </a:r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: </a:t>
              </a:r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6C536AA3-58AA-498E-9553-ED307CCA2756}"/>
                </a:ext>
              </a:extLst>
            </p:cNvPr>
            <p:cNvSpPr txBox="1"/>
            <p:nvPr/>
          </p:nvSpPr>
          <p:spPr>
            <a:xfrm>
              <a:off x="1712640" y="2881322"/>
              <a:ext cx="52497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80.0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5" name="직사각형 4">
              <a:extLst>
                <a:ext uri="{FF2B5EF4-FFF2-40B4-BE49-F238E27FC236}">
                  <a16:creationId xmlns:a16="http://schemas.microsoft.com/office/drawing/2014/main" id="{2C059726-7675-4821-9A8D-BFC8F530FB17}"/>
                </a:ext>
              </a:extLst>
            </p:cNvPr>
            <p:cNvSpPr/>
            <p:nvPr/>
          </p:nvSpPr>
          <p:spPr>
            <a:xfrm>
              <a:off x="3670553" y="950840"/>
              <a:ext cx="1808507" cy="2616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105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2018-06-15  2:39:01 PM</a:t>
              </a:r>
              <a:endParaRPr lang="ko-KR" altLang="en-US" sz="1050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80" name="TextBox 79">
              <a:extLst>
                <a:ext uri="{FF2B5EF4-FFF2-40B4-BE49-F238E27FC236}">
                  <a16:creationId xmlns:a16="http://schemas.microsoft.com/office/drawing/2014/main" id="{51DCFD66-F17E-4CAA-B4D1-318448A89980}"/>
                </a:ext>
              </a:extLst>
            </p:cNvPr>
            <p:cNvSpPr txBox="1"/>
            <p:nvPr/>
          </p:nvSpPr>
          <p:spPr>
            <a:xfrm>
              <a:off x="1652771" y="1321001"/>
              <a:ext cx="79378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1000" b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장치 그룹</a:t>
              </a:r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: 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81" name="TextBox 80">
              <a:extLst>
                <a:ext uri="{FF2B5EF4-FFF2-40B4-BE49-F238E27FC236}">
                  <a16:creationId xmlns:a16="http://schemas.microsoft.com/office/drawing/2014/main" id="{56601379-72BE-4FCD-8CCC-36B69A872757}"/>
                </a:ext>
              </a:extLst>
            </p:cNvPr>
            <p:cNvSpPr txBox="1"/>
            <p:nvPr/>
          </p:nvSpPr>
          <p:spPr>
            <a:xfrm>
              <a:off x="2362743" y="1321001"/>
              <a:ext cx="87590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별관</a:t>
              </a:r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_1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pic>
          <p:nvPicPr>
            <p:cNvPr id="1036" name="Picture 12" descr="okì ëí ì´ë¯¸ì§ ê²ìê²°ê³¼">
              <a:extLst>
                <a:ext uri="{FF2B5EF4-FFF2-40B4-BE49-F238E27FC236}">
                  <a16:creationId xmlns:a16="http://schemas.microsoft.com/office/drawing/2014/main" id="{EECD6184-7F36-43FD-AA75-A2F5D98D059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86194" y="1752928"/>
              <a:ext cx="226000" cy="2260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82" name="TextBox 81">
              <a:extLst>
                <a:ext uri="{FF2B5EF4-FFF2-40B4-BE49-F238E27FC236}">
                  <a16:creationId xmlns:a16="http://schemas.microsoft.com/office/drawing/2014/main" id="{7AB4AB62-D3A6-4677-9E3B-A880A640AA22}"/>
                </a:ext>
              </a:extLst>
            </p:cNvPr>
            <p:cNvSpPr txBox="1"/>
            <p:nvPr/>
          </p:nvSpPr>
          <p:spPr>
            <a:xfrm>
              <a:off x="4783580" y="3861048"/>
              <a:ext cx="720080" cy="253916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50000"/>
                </a:schemeClr>
              </a:solidFill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닫기</a:t>
              </a:r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37FC64FF-514E-4883-BB9A-556C7E095EEA}"/>
                </a:ext>
              </a:extLst>
            </p:cNvPr>
            <p:cNvSpPr txBox="1"/>
            <p:nvPr/>
          </p:nvSpPr>
          <p:spPr>
            <a:xfrm>
              <a:off x="637108" y="2082771"/>
              <a:ext cx="936077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알람 메시지 </a:t>
              </a:r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: 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84" name="TextBox 83">
              <a:extLst>
                <a:ext uri="{FF2B5EF4-FFF2-40B4-BE49-F238E27FC236}">
                  <a16:creationId xmlns:a16="http://schemas.microsoft.com/office/drawing/2014/main" id="{2CA30599-46B0-47D6-B24F-4FDADF8CD0DB}"/>
                </a:ext>
              </a:extLst>
            </p:cNvPr>
            <p:cNvSpPr txBox="1"/>
            <p:nvPr/>
          </p:nvSpPr>
          <p:spPr>
            <a:xfrm>
              <a:off x="1645194" y="2082771"/>
              <a:ext cx="87590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- 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E6B02F3B-7FB0-4486-8ED3-55B6EA320F57}"/>
                </a:ext>
              </a:extLst>
            </p:cNvPr>
            <p:cNvCxnSpPr>
              <a:cxnSpLocks/>
            </p:cNvCxnSpPr>
            <p:nvPr/>
          </p:nvCxnSpPr>
          <p:spPr>
            <a:xfrm>
              <a:off x="564560" y="1632765"/>
              <a:ext cx="5004817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67F5EDB3-7AFF-4532-A7EA-BE0524A05808}"/>
                </a:ext>
              </a:extLst>
            </p:cNvPr>
            <p:cNvSpPr txBox="1"/>
            <p:nvPr/>
          </p:nvSpPr>
          <p:spPr>
            <a:xfrm>
              <a:off x="636737" y="3208682"/>
              <a:ext cx="124526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SOC </a:t>
              </a:r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현재</a:t>
              </a:r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(kWh)</a:t>
              </a:r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: </a:t>
              </a:r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21507F51-6C3B-4DA4-B67A-5E2CBFF2A1B9}"/>
                </a:ext>
              </a:extLst>
            </p:cNvPr>
            <p:cNvSpPr txBox="1"/>
            <p:nvPr/>
          </p:nvSpPr>
          <p:spPr>
            <a:xfrm>
              <a:off x="1712640" y="3208682"/>
              <a:ext cx="52497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50.0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BACB4506-6B50-4E78-B97C-089F939F7CA8}"/>
                </a:ext>
              </a:extLst>
            </p:cNvPr>
            <p:cNvSpPr txBox="1"/>
            <p:nvPr/>
          </p:nvSpPr>
          <p:spPr>
            <a:xfrm>
              <a:off x="2375225" y="2885044"/>
              <a:ext cx="116504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SOC </a:t>
              </a:r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최대</a:t>
              </a:r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(kWh)</a:t>
              </a:r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: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3A029E64-CD88-45D1-8E29-2101A4E049F1}"/>
                </a:ext>
              </a:extLst>
            </p:cNvPr>
            <p:cNvSpPr txBox="1"/>
            <p:nvPr/>
          </p:nvSpPr>
          <p:spPr>
            <a:xfrm>
              <a:off x="3435924" y="2885044"/>
              <a:ext cx="48468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90.0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813E8BA6-628E-445F-A710-A80CA4B4CF78}"/>
                </a:ext>
              </a:extLst>
            </p:cNvPr>
            <p:cNvSpPr txBox="1"/>
            <p:nvPr/>
          </p:nvSpPr>
          <p:spPr>
            <a:xfrm>
              <a:off x="2375225" y="3212404"/>
              <a:ext cx="116504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SOC </a:t>
              </a:r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최소</a:t>
              </a:r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(kWh)</a:t>
              </a:r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: </a:t>
              </a:r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93F224CE-6487-4360-9A6E-CAAD6F6FC0C2}"/>
                </a:ext>
              </a:extLst>
            </p:cNvPr>
            <p:cNvSpPr txBox="1"/>
            <p:nvPr/>
          </p:nvSpPr>
          <p:spPr>
            <a:xfrm>
              <a:off x="3435924" y="3212404"/>
              <a:ext cx="48468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10.0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43788A7C-445B-4755-8219-643250A31AE2}"/>
                </a:ext>
              </a:extLst>
            </p:cNvPr>
            <p:cNvSpPr txBox="1"/>
            <p:nvPr/>
          </p:nvSpPr>
          <p:spPr>
            <a:xfrm>
              <a:off x="4103417" y="2885616"/>
              <a:ext cx="87590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SOH(%)</a:t>
              </a:r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: </a:t>
              </a:r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ABA84A44-8324-42C6-B3C7-24193D374880}"/>
                </a:ext>
              </a:extLst>
            </p:cNvPr>
            <p:cNvSpPr txBox="1"/>
            <p:nvPr/>
          </p:nvSpPr>
          <p:spPr>
            <a:xfrm>
              <a:off x="5013202" y="2881321"/>
              <a:ext cx="48468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59.7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D9F82508-382A-4A86-AD80-DCBC803A25DF}"/>
                </a:ext>
              </a:extLst>
            </p:cNvPr>
            <p:cNvSpPr txBox="1"/>
            <p:nvPr/>
          </p:nvSpPr>
          <p:spPr>
            <a:xfrm>
              <a:off x="4103417" y="3212976"/>
              <a:ext cx="13364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출력</a:t>
              </a:r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전압</a:t>
              </a:r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(V) : 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448E1C07-DBAF-4FB6-B861-7B9485A50616}"/>
                </a:ext>
              </a:extLst>
            </p:cNvPr>
            <p:cNvSpPr txBox="1"/>
            <p:nvPr/>
          </p:nvSpPr>
          <p:spPr>
            <a:xfrm>
              <a:off x="5013202" y="3214089"/>
              <a:ext cx="63273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384.0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9" name="TextBox 68">
              <a:extLst>
                <a:ext uri="{FF2B5EF4-FFF2-40B4-BE49-F238E27FC236}">
                  <a16:creationId xmlns:a16="http://schemas.microsoft.com/office/drawing/2014/main" id="{4966178B-06B0-4B04-B0EF-372C7686F5F5}"/>
                </a:ext>
              </a:extLst>
            </p:cNvPr>
            <p:cNvSpPr txBox="1"/>
            <p:nvPr/>
          </p:nvSpPr>
          <p:spPr>
            <a:xfrm>
              <a:off x="630651" y="3534930"/>
              <a:ext cx="1008087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출력 전류</a:t>
              </a:r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(A)</a:t>
              </a:r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: </a:t>
              </a:r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70" name="TextBox 69">
              <a:extLst>
                <a:ext uri="{FF2B5EF4-FFF2-40B4-BE49-F238E27FC236}">
                  <a16:creationId xmlns:a16="http://schemas.microsoft.com/office/drawing/2014/main" id="{90C7F00D-86DC-4F14-B540-73487B6374CB}"/>
                </a:ext>
              </a:extLst>
            </p:cNvPr>
            <p:cNvSpPr txBox="1"/>
            <p:nvPr/>
          </p:nvSpPr>
          <p:spPr>
            <a:xfrm>
              <a:off x="1711757" y="3534929"/>
              <a:ext cx="87590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1.6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CB2CDFF4-655B-4EFF-9448-4D9897938B34}"/>
                </a:ext>
              </a:extLst>
            </p:cNvPr>
            <p:cNvSpPr txBox="1"/>
            <p:nvPr/>
          </p:nvSpPr>
          <p:spPr>
            <a:xfrm>
              <a:off x="626679" y="2564904"/>
              <a:ext cx="102609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충</a:t>
              </a:r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/</a:t>
              </a:r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방전 상태 </a:t>
              </a:r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: </a:t>
              </a:r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7CF19AE4-9F30-404E-A9CF-9A8D9D1E8D99}"/>
                </a:ext>
              </a:extLst>
            </p:cNvPr>
            <p:cNvSpPr txBox="1"/>
            <p:nvPr/>
          </p:nvSpPr>
          <p:spPr>
            <a:xfrm>
              <a:off x="1588224" y="2564904"/>
              <a:ext cx="87590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충전 중</a:t>
              </a:r>
            </a:p>
          </p:txBody>
        </p:sp>
        <p:sp>
          <p:nvSpPr>
            <p:cNvPr id="73" name="TextBox 72">
              <a:extLst>
                <a:ext uri="{FF2B5EF4-FFF2-40B4-BE49-F238E27FC236}">
                  <a16:creationId xmlns:a16="http://schemas.microsoft.com/office/drawing/2014/main" id="{400C49F7-5A05-4DD0-A7DD-BDBE038844DE}"/>
                </a:ext>
              </a:extLst>
            </p:cNvPr>
            <p:cNvSpPr txBox="1"/>
            <p:nvPr/>
          </p:nvSpPr>
          <p:spPr>
            <a:xfrm>
              <a:off x="2370188" y="3531207"/>
              <a:ext cx="1008087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DoD(%)</a:t>
              </a:r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: </a:t>
              </a:r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DA75292A-712D-4259-AA86-A428D30ECD26}"/>
                </a:ext>
              </a:extLst>
            </p:cNvPr>
            <p:cNvSpPr txBox="1"/>
            <p:nvPr/>
          </p:nvSpPr>
          <p:spPr>
            <a:xfrm>
              <a:off x="3435924" y="3531206"/>
              <a:ext cx="56851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80.0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94" name="TextBox 93">
              <a:extLst>
                <a:ext uri="{FF2B5EF4-FFF2-40B4-BE49-F238E27FC236}">
                  <a16:creationId xmlns:a16="http://schemas.microsoft.com/office/drawing/2014/main" id="{2DEE0BE0-2327-4F8D-92C5-FE60B5614DD9}"/>
                </a:ext>
              </a:extLst>
            </p:cNvPr>
            <p:cNvSpPr txBox="1"/>
            <p:nvPr/>
          </p:nvSpPr>
          <p:spPr>
            <a:xfrm>
              <a:off x="4103417" y="3531205"/>
              <a:ext cx="13364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C-rate(C): </a:t>
              </a:r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4C4D59F2-E445-4796-AB97-9991E29AD74D}"/>
                </a:ext>
              </a:extLst>
            </p:cNvPr>
            <p:cNvSpPr txBox="1"/>
            <p:nvPr/>
          </p:nvSpPr>
          <p:spPr>
            <a:xfrm>
              <a:off x="5013202" y="3531205"/>
              <a:ext cx="87590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33.0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pic>
          <p:nvPicPr>
            <p:cNvPr id="86" name="Picture 2">
              <a:extLst>
                <a:ext uri="{FF2B5EF4-FFF2-40B4-BE49-F238E27FC236}">
                  <a16:creationId xmlns:a16="http://schemas.microsoft.com/office/drawing/2014/main" id="{960F2D23-2485-4348-BF7B-A773907B0DB9}"/>
                </a:ext>
              </a:extLst>
            </p:cNvPr>
            <p:cNvPicPr/>
            <p:nvPr/>
          </p:nvPicPr>
          <p:blipFill>
            <a:blip r:embed="rId4" cstate="print"/>
            <a:srcRect/>
            <a:stretch>
              <a:fillRect/>
            </a:stretch>
          </p:blipFill>
          <p:spPr bwMode="auto">
            <a:xfrm flipH="1">
              <a:off x="1301265" y="861437"/>
              <a:ext cx="299838" cy="37744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sp>
        <p:nvSpPr>
          <p:cNvPr id="227" name="타원형 설명선 226"/>
          <p:cNvSpPr/>
          <p:nvPr/>
        </p:nvSpPr>
        <p:spPr>
          <a:xfrm>
            <a:off x="3572647" y="805640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4" name="타원형 설명선 243"/>
          <p:cNvSpPr/>
          <p:nvPr/>
        </p:nvSpPr>
        <p:spPr>
          <a:xfrm>
            <a:off x="444139" y="1661771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5" name="타원형 설명선 244"/>
          <p:cNvSpPr/>
          <p:nvPr/>
        </p:nvSpPr>
        <p:spPr>
          <a:xfrm>
            <a:off x="389989" y="1161171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6" name="타원형 설명선 245"/>
          <p:cNvSpPr/>
          <p:nvPr/>
        </p:nvSpPr>
        <p:spPr>
          <a:xfrm>
            <a:off x="440479" y="1990418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7" name="타원형 설명선 246"/>
          <p:cNvSpPr/>
          <p:nvPr/>
        </p:nvSpPr>
        <p:spPr>
          <a:xfrm>
            <a:off x="4525922" y="3711237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7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66" name="타원형 설명선 265"/>
          <p:cNvSpPr/>
          <p:nvPr/>
        </p:nvSpPr>
        <p:spPr>
          <a:xfrm>
            <a:off x="440171" y="2442330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6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3" name="타원형 설명선 225">
            <a:extLst>
              <a:ext uri="{FF2B5EF4-FFF2-40B4-BE49-F238E27FC236}">
                <a16:creationId xmlns:a16="http://schemas.microsoft.com/office/drawing/2014/main" id="{93402A8C-F86A-4207-9226-F02BE6AB6E19}"/>
              </a:ext>
            </a:extLst>
          </p:cNvPr>
          <p:cNvSpPr/>
          <p:nvPr/>
        </p:nvSpPr>
        <p:spPr>
          <a:xfrm>
            <a:off x="389989" y="803102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98B899AE-AF8B-48DE-9878-65057CC4FB49}"/>
              </a:ext>
            </a:extLst>
          </p:cNvPr>
          <p:cNvSpPr/>
          <p:nvPr/>
        </p:nvSpPr>
        <p:spPr>
          <a:xfrm>
            <a:off x="690054" y="2609084"/>
            <a:ext cx="4807833" cy="1134178"/>
          </a:xfrm>
          <a:prstGeom prst="rect">
            <a:avLst/>
          </a:prstGeom>
          <a:noFill/>
          <a:ln w="127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622991735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9104309" y="6645875"/>
            <a:ext cx="140029" cy="138499"/>
          </a:xfrm>
        </p:spPr>
        <p:txBody>
          <a:bodyPr/>
          <a:lstStyle/>
          <a:p>
            <a:pPr>
              <a:defRPr/>
            </a:pPr>
            <a:fld id="{9E41B634-5682-4388-99E7-FE44DCFD254B}" type="slidenum">
              <a:rPr lang="ko-KR" altLang="en-US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>
                <a:defRPr/>
              </a:pPr>
              <a:t>36</a:t>
            </a:fld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텍스트 개체 틀 8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Site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 &gt;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장치 모니터링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&gt;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장치 모니터링 현황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&gt; PCS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장치 상세보기 팝업</a:t>
            </a:r>
          </a:p>
        </p:txBody>
      </p:sp>
      <p:sp>
        <p:nvSpPr>
          <p:cNvPr id="10" name="텍스트 개체 틀 9"/>
          <p:cNvSpPr>
            <a:spLocks noGrp="1"/>
          </p:cNvSpPr>
          <p:nvPr>
            <p:ph type="body" sz="quarter" idx="10"/>
          </p:nvPr>
        </p:nvSpPr>
        <p:spPr>
          <a:xfrm>
            <a:off x="6023595" y="44624"/>
            <a:ext cx="1233661" cy="196974"/>
          </a:xfrm>
        </p:spPr>
        <p:txBody>
          <a:bodyPr/>
          <a:lstStyle/>
          <a:p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PCS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장치 상세보기</a:t>
            </a:r>
          </a:p>
        </p:txBody>
      </p:sp>
      <p:graphicFrame>
        <p:nvGraphicFramePr>
          <p:cNvPr id="102" name="Group 15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2999833"/>
              </p:ext>
            </p:extLst>
          </p:nvPr>
        </p:nvGraphicFramePr>
        <p:xfrm>
          <a:off x="8469313" y="276225"/>
          <a:ext cx="1404000" cy="3910656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3002"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Description</a:t>
                      </a: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장치 명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장치 명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2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ko-KR" altLang="en-US" sz="800" b="1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정보 조회 시간</a:t>
                      </a:r>
                      <a:endParaRPr lang="en-US" altLang="ko-KR" sz="800" b="1" u="non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en-US" altLang="ko-KR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 - </a:t>
                      </a: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장치 정보 조회 날짜</a:t>
                      </a:r>
                      <a:r>
                        <a:rPr lang="en-US" altLang="ko-KR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, </a:t>
                      </a: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시간 표시</a:t>
                      </a:r>
                      <a:endParaRPr lang="en-US" altLang="ko-KR" sz="800" b="0" u="non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3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Site</a:t>
                      </a:r>
                      <a:r>
                        <a:rPr lang="ko-KR" altLang="en-US" sz="800" b="1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및 장치 기본 정보</a:t>
                      </a:r>
                      <a:endParaRPr lang="en-US" altLang="ko-KR" sz="800" b="1" u="non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- Site, </a:t>
                      </a: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장치</a:t>
                      </a:r>
                      <a:r>
                        <a:rPr lang="en-US" altLang="ko-KR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기본 정보 표시</a:t>
                      </a:r>
                      <a:endParaRPr lang="en-US" altLang="ko-KR" sz="800" b="0" u="non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- </a:t>
                      </a: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장치</a:t>
                      </a:r>
                      <a:r>
                        <a:rPr lang="en-US" altLang="ko-KR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ID, </a:t>
                      </a: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장치그룹</a:t>
                      </a:r>
                      <a:r>
                        <a:rPr lang="en-US" altLang="ko-KR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Site</a:t>
                      </a: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r>
                        <a:rPr lang="en-US" altLang="ko-KR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사이트</a:t>
                      </a:r>
                      <a:r>
                        <a:rPr lang="en-US" altLang="ko-KR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ID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4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운전 상태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운전 상태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상태 값 확인 후 수정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5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알람 메시지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알람 발생 시의 알람 내용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8304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6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장치 상태 정보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장치의 각 상태 정보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온도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수평일사량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경사일사량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오늘예측발전량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오늘누적발전량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8304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7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창 닫기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상세보기 창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종료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11973294"/>
                  </a:ext>
                </a:extLst>
              </a:tr>
            </a:tbl>
          </a:graphicData>
        </a:graphic>
      </p:graphicFrame>
      <p:sp>
        <p:nvSpPr>
          <p:cNvPr id="78" name="TextBox 77"/>
          <p:cNvSpPr txBox="1"/>
          <p:nvPr/>
        </p:nvSpPr>
        <p:spPr>
          <a:xfrm>
            <a:off x="7121707" y="21349"/>
            <a:ext cx="567597" cy="2308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화면</a:t>
            </a:r>
            <a:r>
              <a:rPr lang="en-US" altLang="ko-KR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ID</a:t>
            </a:r>
            <a:endParaRPr lang="ko-KR" altLang="en-US" sz="9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7689304" y="43659"/>
            <a:ext cx="792088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itchFamily="50" charset="-127"/>
                <a:ea typeface="맑은 고딕" pitchFamily="50" charset="-127"/>
              </a:rPr>
              <a:t>ewpsp_scr_020</a:t>
            </a:r>
            <a:endParaRPr lang="ko-KR" altLang="en-US" sz="70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80DBD963-6553-410B-BFF5-229C31D43475}"/>
              </a:ext>
            </a:extLst>
          </p:cNvPr>
          <p:cNvSpPr/>
          <p:nvPr/>
        </p:nvSpPr>
        <p:spPr>
          <a:xfrm>
            <a:off x="373622" y="737090"/>
            <a:ext cx="5191327" cy="3206203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200000"/>
              </a:lnSpc>
            </a:pPr>
            <a:endParaRPr lang="ko-KR" altLang="en-US" sz="100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E2CD9C4C-AC9C-4723-9CBA-75FEECB1C4FC}"/>
              </a:ext>
            </a:extLst>
          </p:cNvPr>
          <p:cNvSpPr txBox="1"/>
          <p:nvPr/>
        </p:nvSpPr>
        <p:spPr>
          <a:xfrm>
            <a:off x="583571" y="925139"/>
            <a:ext cx="1095982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4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PV_1</a:t>
            </a:r>
            <a:endParaRPr lang="ko-KR" altLang="en-US" sz="14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081F883C-0743-43D1-B92E-549FADD9A2E0}"/>
              </a:ext>
            </a:extLst>
          </p:cNvPr>
          <p:cNvSpPr txBox="1"/>
          <p:nvPr/>
        </p:nvSpPr>
        <p:spPr>
          <a:xfrm>
            <a:off x="2926628" y="1340889"/>
            <a:ext cx="673646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Site</a:t>
            </a:r>
            <a:r>
              <a:rPr lang="ko-KR" altLang="en-US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명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: </a:t>
            </a:r>
            <a:endParaRPr lang="ko-KR" altLang="en-US" sz="10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9748951A-BFEC-4C51-B821-9796DB3D393C}"/>
              </a:ext>
            </a:extLst>
          </p:cNvPr>
          <p:cNvSpPr txBox="1"/>
          <p:nvPr/>
        </p:nvSpPr>
        <p:spPr>
          <a:xfrm>
            <a:off x="4170022" y="1340889"/>
            <a:ext cx="686746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Site</a:t>
            </a:r>
            <a:r>
              <a:rPr lang="ko-KR" altLang="en-US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ID</a:t>
            </a:r>
            <a:r>
              <a:rPr lang="ko-KR" altLang="en-US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:</a:t>
            </a:r>
            <a:endParaRPr lang="ko-KR" altLang="en-US" sz="10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45615B77-03BE-4A16-9975-F72805336E30}"/>
              </a:ext>
            </a:extLst>
          </p:cNvPr>
          <p:cNvSpPr txBox="1"/>
          <p:nvPr/>
        </p:nvSpPr>
        <p:spPr>
          <a:xfrm>
            <a:off x="3493111" y="1340889"/>
            <a:ext cx="892935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제일화성</a:t>
            </a: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F4FCA0C8-B872-4EBF-84A0-E133B178310A}"/>
              </a:ext>
            </a:extLst>
          </p:cNvPr>
          <p:cNvSpPr txBox="1"/>
          <p:nvPr/>
        </p:nvSpPr>
        <p:spPr>
          <a:xfrm>
            <a:off x="4744818" y="1340889"/>
            <a:ext cx="80923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10037202</a:t>
            </a:r>
            <a:endParaRPr lang="ko-KR" altLang="en-US" sz="10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5" name="TextBox 64">
            <a:extLst>
              <a:ext uri="{FF2B5EF4-FFF2-40B4-BE49-F238E27FC236}">
                <a16:creationId xmlns:a16="http://schemas.microsoft.com/office/drawing/2014/main" id="{4530671C-3799-4874-BBA2-09D46A720BC7}"/>
              </a:ext>
            </a:extLst>
          </p:cNvPr>
          <p:cNvSpPr txBox="1"/>
          <p:nvPr/>
        </p:nvSpPr>
        <p:spPr>
          <a:xfrm>
            <a:off x="567924" y="1340889"/>
            <a:ext cx="673646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장치 </a:t>
            </a:r>
            <a:r>
              <a:rPr lang="en-US" altLang="ko-KR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ID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: </a:t>
            </a:r>
            <a:endParaRPr lang="ko-KR" altLang="en-US" sz="10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6" name="TextBox 65">
            <a:extLst>
              <a:ext uri="{FF2B5EF4-FFF2-40B4-BE49-F238E27FC236}">
                <a16:creationId xmlns:a16="http://schemas.microsoft.com/office/drawing/2014/main" id="{01D7F8B0-E3B7-41C7-963C-9E89A54D0EC2}"/>
              </a:ext>
            </a:extLst>
          </p:cNvPr>
          <p:cNvSpPr txBox="1"/>
          <p:nvPr/>
        </p:nvSpPr>
        <p:spPr>
          <a:xfrm>
            <a:off x="1145686" y="1340889"/>
            <a:ext cx="875902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60001</a:t>
            </a:r>
            <a:endParaRPr lang="ko-KR" altLang="en-US" sz="10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E6C66611-991B-40AF-80FC-1D0B8788B754}"/>
              </a:ext>
            </a:extLst>
          </p:cNvPr>
          <p:cNvSpPr txBox="1"/>
          <p:nvPr/>
        </p:nvSpPr>
        <p:spPr>
          <a:xfrm>
            <a:off x="632520" y="1782253"/>
            <a:ext cx="936077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PV </a:t>
            </a:r>
            <a:r>
              <a:rPr lang="ko-KR" altLang="en-US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상태</a:t>
            </a:r>
            <a:r>
              <a:rPr lang="en-US" altLang="ko-KR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: </a:t>
            </a:r>
            <a:endParaRPr lang="ko-KR" altLang="en-US" sz="10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55491260-E688-4EAB-B409-1C2BE298FA42}"/>
              </a:ext>
            </a:extLst>
          </p:cNvPr>
          <p:cNvSpPr txBox="1"/>
          <p:nvPr/>
        </p:nvSpPr>
        <p:spPr>
          <a:xfrm>
            <a:off x="1844824" y="1782253"/>
            <a:ext cx="875902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RUN</a:t>
            </a:r>
            <a:endParaRPr lang="ko-KR" altLang="en-US" sz="10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6" name="TextBox 75">
            <a:extLst>
              <a:ext uri="{FF2B5EF4-FFF2-40B4-BE49-F238E27FC236}">
                <a16:creationId xmlns:a16="http://schemas.microsoft.com/office/drawing/2014/main" id="{55B5E93C-E71C-4B8F-81A9-99A183EBD650}"/>
              </a:ext>
            </a:extLst>
          </p:cNvPr>
          <p:cNvSpPr txBox="1"/>
          <p:nvPr/>
        </p:nvSpPr>
        <p:spPr>
          <a:xfrm>
            <a:off x="628948" y="2474900"/>
            <a:ext cx="671922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온도</a:t>
            </a:r>
            <a:r>
              <a:rPr lang="en-US" altLang="ko-KR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: </a:t>
            </a:r>
            <a:endParaRPr lang="ko-KR" altLang="en-US" sz="10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7" name="TextBox 76">
            <a:extLst>
              <a:ext uri="{FF2B5EF4-FFF2-40B4-BE49-F238E27FC236}">
                <a16:creationId xmlns:a16="http://schemas.microsoft.com/office/drawing/2014/main" id="{6C536AA3-58AA-498E-9553-ED307CCA2756}"/>
              </a:ext>
            </a:extLst>
          </p:cNvPr>
          <p:cNvSpPr txBox="1"/>
          <p:nvPr/>
        </p:nvSpPr>
        <p:spPr>
          <a:xfrm>
            <a:off x="1496616" y="2474900"/>
            <a:ext cx="671922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51 </a:t>
            </a:r>
            <a:r>
              <a:rPr lang="ko-KR" altLang="en-US" sz="1000" dirty="0"/>
              <a:t>℃</a:t>
            </a:r>
            <a:endParaRPr lang="ko-KR" altLang="en-US" sz="10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2C059726-7675-4821-9A8D-BFC8F530FB17}"/>
              </a:ext>
            </a:extLst>
          </p:cNvPr>
          <p:cNvSpPr/>
          <p:nvPr/>
        </p:nvSpPr>
        <p:spPr>
          <a:xfrm>
            <a:off x="3665966" y="970728"/>
            <a:ext cx="1808507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US" altLang="ko-KR" sz="105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2018-06-15  2:39:01 PM</a:t>
            </a:r>
            <a:endParaRPr lang="ko-KR" altLang="en-US" sz="105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51DCFD66-F17E-4CAA-B4D1-318448A89980}"/>
              </a:ext>
            </a:extLst>
          </p:cNvPr>
          <p:cNvSpPr txBox="1"/>
          <p:nvPr/>
        </p:nvSpPr>
        <p:spPr>
          <a:xfrm>
            <a:off x="1648184" y="1340889"/>
            <a:ext cx="793786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장치 그룹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: </a:t>
            </a:r>
            <a:endParaRPr lang="ko-KR" altLang="en-US" sz="10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1" name="TextBox 80">
            <a:extLst>
              <a:ext uri="{FF2B5EF4-FFF2-40B4-BE49-F238E27FC236}">
                <a16:creationId xmlns:a16="http://schemas.microsoft.com/office/drawing/2014/main" id="{56601379-72BE-4FCD-8CCC-36B69A872757}"/>
              </a:ext>
            </a:extLst>
          </p:cNvPr>
          <p:cNvSpPr txBox="1"/>
          <p:nvPr/>
        </p:nvSpPr>
        <p:spPr>
          <a:xfrm>
            <a:off x="2358156" y="1340889"/>
            <a:ext cx="875902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별관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_1</a:t>
            </a:r>
            <a:endParaRPr lang="ko-KR" altLang="en-US" sz="10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032" name="Picture 8" descr="photovoltaicsì ëí ì´ë¯¸ì§ ê²ìê²°ê³¼">
            <a:extLst>
              <a:ext uri="{FF2B5EF4-FFF2-40B4-BE49-F238E27FC236}">
                <a16:creationId xmlns:a16="http://schemas.microsoft.com/office/drawing/2014/main" id="{768FB77A-8865-4616-853F-93958C53022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13846" y="837554"/>
            <a:ext cx="482945" cy="48294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36" name="Picture 12" descr="okì ëí ì´ë¯¸ì§ ê²ìê²°ê³¼">
            <a:extLst>
              <a:ext uri="{FF2B5EF4-FFF2-40B4-BE49-F238E27FC236}">
                <a16:creationId xmlns:a16="http://schemas.microsoft.com/office/drawing/2014/main" id="{EECD6184-7F36-43FD-AA75-A2F5D98D059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81606" y="1752873"/>
            <a:ext cx="226000" cy="226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82" name="TextBox 81">
            <a:extLst>
              <a:ext uri="{FF2B5EF4-FFF2-40B4-BE49-F238E27FC236}">
                <a16:creationId xmlns:a16="http://schemas.microsoft.com/office/drawing/2014/main" id="{7AB4AB62-D3A6-4677-9E3B-A880A640AA22}"/>
              </a:ext>
            </a:extLst>
          </p:cNvPr>
          <p:cNvSpPr txBox="1"/>
          <p:nvPr/>
        </p:nvSpPr>
        <p:spPr>
          <a:xfrm>
            <a:off x="4744818" y="3607132"/>
            <a:ext cx="720080" cy="253916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닫기</a:t>
            </a:r>
          </a:p>
        </p:txBody>
      </p:sp>
      <p:sp>
        <p:nvSpPr>
          <p:cNvPr id="83" name="TextBox 82">
            <a:extLst>
              <a:ext uri="{FF2B5EF4-FFF2-40B4-BE49-F238E27FC236}">
                <a16:creationId xmlns:a16="http://schemas.microsoft.com/office/drawing/2014/main" id="{37FC64FF-514E-4883-BB9A-556C7E095EEA}"/>
              </a:ext>
            </a:extLst>
          </p:cNvPr>
          <p:cNvSpPr txBox="1"/>
          <p:nvPr/>
        </p:nvSpPr>
        <p:spPr>
          <a:xfrm>
            <a:off x="632520" y="2102659"/>
            <a:ext cx="936077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알람 메시지 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: </a:t>
            </a:r>
            <a:endParaRPr lang="ko-KR" altLang="en-US" sz="10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4" name="TextBox 83">
            <a:extLst>
              <a:ext uri="{FF2B5EF4-FFF2-40B4-BE49-F238E27FC236}">
                <a16:creationId xmlns:a16="http://schemas.microsoft.com/office/drawing/2014/main" id="{2CA30599-46B0-47D6-B24F-4FDADF8CD0DB}"/>
              </a:ext>
            </a:extLst>
          </p:cNvPr>
          <p:cNvSpPr txBox="1"/>
          <p:nvPr/>
        </p:nvSpPr>
        <p:spPr>
          <a:xfrm>
            <a:off x="1721750" y="2122602"/>
            <a:ext cx="875902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- </a:t>
            </a:r>
            <a:endParaRPr lang="ko-KR" altLang="en-US" sz="10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4E378E4C-417D-46FC-8EB2-997074DCFB87}"/>
              </a:ext>
            </a:extLst>
          </p:cNvPr>
          <p:cNvSpPr txBox="1"/>
          <p:nvPr/>
        </p:nvSpPr>
        <p:spPr>
          <a:xfrm>
            <a:off x="378210" y="407514"/>
            <a:ext cx="164337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4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PV </a:t>
            </a:r>
            <a:r>
              <a:rPr lang="ko-KR" altLang="en-US" sz="14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장치 상세보기</a:t>
            </a:r>
          </a:p>
        </p:txBody>
      </p:sp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EA3E2A98-F4A7-4ADC-8F50-EFFAAF32080B}"/>
              </a:ext>
            </a:extLst>
          </p:cNvPr>
          <p:cNvCxnSpPr/>
          <p:nvPr/>
        </p:nvCxnSpPr>
        <p:spPr>
          <a:xfrm>
            <a:off x="559973" y="1652653"/>
            <a:ext cx="4862321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3" name="TextBox 52">
            <a:extLst>
              <a:ext uri="{FF2B5EF4-FFF2-40B4-BE49-F238E27FC236}">
                <a16:creationId xmlns:a16="http://schemas.microsoft.com/office/drawing/2014/main" id="{EFEC1D8C-C8F1-4E0A-ADC4-BE2E28410105}"/>
              </a:ext>
            </a:extLst>
          </p:cNvPr>
          <p:cNvSpPr txBox="1"/>
          <p:nvPr/>
        </p:nvSpPr>
        <p:spPr>
          <a:xfrm>
            <a:off x="2732558" y="2474900"/>
            <a:ext cx="124560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오늘 예측 발전량</a:t>
            </a:r>
            <a:r>
              <a:rPr lang="en-US" altLang="ko-KR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: </a:t>
            </a:r>
            <a:endParaRPr lang="ko-KR" altLang="en-US" sz="10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1DC2CB08-A1CA-4574-8F4E-34E643CF02F9}"/>
              </a:ext>
            </a:extLst>
          </p:cNvPr>
          <p:cNvSpPr txBox="1"/>
          <p:nvPr/>
        </p:nvSpPr>
        <p:spPr>
          <a:xfrm>
            <a:off x="3968650" y="2474900"/>
            <a:ext cx="739936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600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kWh</a:t>
            </a:r>
            <a:endParaRPr lang="ko-KR" altLang="en-US" sz="10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111EEC8C-DC74-4FD0-BB2A-C052D71D6A6B}"/>
              </a:ext>
            </a:extLst>
          </p:cNvPr>
          <p:cNvSpPr txBox="1"/>
          <p:nvPr/>
        </p:nvSpPr>
        <p:spPr>
          <a:xfrm>
            <a:off x="2735670" y="2817998"/>
            <a:ext cx="1242497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오늘 누적 발전량</a:t>
            </a:r>
            <a:r>
              <a:rPr lang="en-US" altLang="ko-KR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: </a:t>
            </a:r>
            <a:endParaRPr lang="ko-KR" altLang="en-US" sz="10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BB707781-840B-48F8-8315-934695493569}"/>
              </a:ext>
            </a:extLst>
          </p:cNvPr>
          <p:cNvSpPr txBox="1"/>
          <p:nvPr/>
        </p:nvSpPr>
        <p:spPr>
          <a:xfrm>
            <a:off x="3971762" y="2817998"/>
            <a:ext cx="768507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580 kWh</a:t>
            </a:r>
            <a:endParaRPr lang="ko-KR" altLang="en-US" sz="10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F10E02F7-DF9B-496F-BDDD-18492DBDE81C}"/>
              </a:ext>
            </a:extLst>
          </p:cNvPr>
          <p:cNvSpPr txBox="1"/>
          <p:nvPr/>
        </p:nvSpPr>
        <p:spPr>
          <a:xfrm>
            <a:off x="637427" y="2817998"/>
            <a:ext cx="936077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b="1">
                <a:latin typeface="맑은 고딕" panose="020B0503020000020004" pitchFamily="50" charset="-127"/>
                <a:ea typeface="맑은 고딕" panose="020B0503020000020004" pitchFamily="50" charset="-127"/>
              </a:rPr>
              <a:t>수평 일사량</a:t>
            </a:r>
            <a:r>
              <a:rPr lang="en-US" altLang="ko-KR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: </a:t>
            </a:r>
            <a:endParaRPr lang="ko-KR" altLang="en-US" sz="10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67C5D5AE-30DF-4C14-9BFB-B4D7AEA16BEB}"/>
              </a:ext>
            </a:extLst>
          </p:cNvPr>
          <p:cNvSpPr txBox="1"/>
          <p:nvPr/>
        </p:nvSpPr>
        <p:spPr>
          <a:xfrm>
            <a:off x="1505096" y="2817998"/>
            <a:ext cx="768506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251 W/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㎡</a:t>
            </a: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5FD8E50D-CDBE-40AA-844A-4E4C65FFA052}"/>
              </a:ext>
            </a:extLst>
          </p:cNvPr>
          <p:cNvSpPr txBox="1"/>
          <p:nvPr/>
        </p:nvSpPr>
        <p:spPr>
          <a:xfrm>
            <a:off x="639245" y="3161097"/>
            <a:ext cx="936077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경사 일사량</a:t>
            </a:r>
            <a:r>
              <a:rPr lang="en-US" altLang="ko-KR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: </a:t>
            </a:r>
            <a:endParaRPr lang="ko-KR" altLang="en-US" sz="10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FE47063A-ED6B-44EE-B007-EA54B6CC5A35}"/>
              </a:ext>
            </a:extLst>
          </p:cNvPr>
          <p:cNvSpPr txBox="1"/>
          <p:nvPr/>
        </p:nvSpPr>
        <p:spPr>
          <a:xfrm>
            <a:off x="1506914" y="3161097"/>
            <a:ext cx="766688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206 W/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㎡</a:t>
            </a:r>
          </a:p>
        </p:txBody>
      </p:sp>
      <p:sp>
        <p:nvSpPr>
          <p:cNvPr id="227" name="타원형 설명선 226"/>
          <p:cNvSpPr/>
          <p:nvPr/>
        </p:nvSpPr>
        <p:spPr>
          <a:xfrm>
            <a:off x="3522140" y="851829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4" name="타원형 설명선 243"/>
          <p:cNvSpPr/>
          <p:nvPr/>
        </p:nvSpPr>
        <p:spPr>
          <a:xfrm>
            <a:off x="401776" y="1684196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7" name="타원형 설명선 246"/>
          <p:cNvSpPr/>
          <p:nvPr/>
        </p:nvSpPr>
        <p:spPr>
          <a:xfrm>
            <a:off x="4428767" y="3429000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7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66" name="타원형 설명선 265"/>
          <p:cNvSpPr/>
          <p:nvPr/>
        </p:nvSpPr>
        <p:spPr>
          <a:xfrm>
            <a:off x="411901" y="2364148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6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3" name="타원형 설명선 225">
            <a:extLst>
              <a:ext uri="{FF2B5EF4-FFF2-40B4-BE49-F238E27FC236}">
                <a16:creationId xmlns:a16="http://schemas.microsoft.com/office/drawing/2014/main" id="{93402A8C-F86A-4207-9226-F02BE6AB6E19}"/>
              </a:ext>
            </a:extLst>
          </p:cNvPr>
          <p:cNvSpPr/>
          <p:nvPr/>
        </p:nvSpPr>
        <p:spPr>
          <a:xfrm>
            <a:off x="401776" y="863026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5" name="타원형 설명선 244"/>
          <p:cNvSpPr/>
          <p:nvPr/>
        </p:nvSpPr>
        <p:spPr>
          <a:xfrm>
            <a:off x="405244" y="1207010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6" name="타원형 설명선 245"/>
          <p:cNvSpPr/>
          <p:nvPr/>
        </p:nvSpPr>
        <p:spPr>
          <a:xfrm>
            <a:off x="401776" y="2008345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9B8F824D-4157-463B-B9F7-75E63BE7ACA6}"/>
              </a:ext>
            </a:extLst>
          </p:cNvPr>
          <p:cNvSpPr/>
          <p:nvPr/>
        </p:nvSpPr>
        <p:spPr>
          <a:xfrm>
            <a:off x="709216" y="2480689"/>
            <a:ext cx="4031053" cy="926626"/>
          </a:xfrm>
          <a:prstGeom prst="rect">
            <a:avLst/>
          </a:prstGeom>
          <a:noFill/>
          <a:ln w="127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755226845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9104309" y="6645875"/>
            <a:ext cx="140029" cy="138499"/>
          </a:xfrm>
        </p:spPr>
        <p:txBody>
          <a:bodyPr/>
          <a:lstStyle/>
          <a:p>
            <a:pPr>
              <a:defRPr/>
            </a:pPr>
            <a:fld id="{9E41B634-5682-4388-99E7-FE44DCFD254B}" type="slidenum">
              <a:rPr lang="ko-KR" altLang="en-US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>
                <a:defRPr/>
              </a:pPr>
              <a:t>37</a:t>
            </a:fld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텍스트 개체 틀 8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Site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 &gt;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장치 모니터링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&gt;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장치 모니터링 현황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&gt;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데이터 저장하기 팝업</a:t>
            </a:r>
          </a:p>
        </p:txBody>
      </p:sp>
      <p:sp>
        <p:nvSpPr>
          <p:cNvPr id="10" name="텍스트 개체 틀 9"/>
          <p:cNvSpPr>
            <a:spLocks noGrp="1"/>
          </p:cNvSpPr>
          <p:nvPr>
            <p:ph type="body" sz="quarter" idx="10"/>
          </p:nvPr>
        </p:nvSpPr>
        <p:spPr>
          <a:xfrm>
            <a:off x="6023595" y="44624"/>
            <a:ext cx="1233661" cy="196974"/>
          </a:xfrm>
        </p:spPr>
        <p:txBody>
          <a:bodyPr/>
          <a:lstStyle/>
          <a:p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데이터 저장하기</a:t>
            </a:r>
          </a:p>
        </p:txBody>
      </p:sp>
      <p:graphicFrame>
        <p:nvGraphicFramePr>
          <p:cNvPr id="102" name="Group 15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50985488"/>
              </p:ext>
            </p:extLst>
          </p:nvPr>
        </p:nvGraphicFramePr>
        <p:xfrm>
          <a:off x="8469313" y="276225"/>
          <a:ext cx="1404000" cy="3675072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3002"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Description</a:t>
                      </a: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데이터 저장 팝업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1)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장치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모니터링 화면 內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‘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데이터 저장하기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’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버튼을 클릭하면 출력되는 팝업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2)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전체 장치 현황 데이터가 저장됨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.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 - IOE, PCS, BMS, PV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3)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저장 파일 형식은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csv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형태의 엑셀 파일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2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파일명 지정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저장될 파일명 입력 창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3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파일형식 표시</a:t>
                      </a:r>
                      <a:endParaRPr lang="en-US" altLang="ko-KR" sz="800" b="1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csv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형식으로 고정하고 변경되지 않음</a:t>
                      </a: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.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4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저장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버튼 클릭 시에 파일 저장을 진행하고 파일 저장에 시간이 소요되는 경우에는 </a:t>
                      </a:r>
                      <a:r>
                        <a:rPr kumimoji="1" lang="en-US" altLang="ko-KR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Wating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Animation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을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5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취소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모든 작업을 취소하고 팝업을 출력시킨 장치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모니터링 화면으로 복귀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78" name="TextBox 77"/>
          <p:cNvSpPr txBox="1"/>
          <p:nvPr/>
        </p:nvSpPr>
        <p:spPr>
          <a:xfrm>
            <a:off x="7121707" y="21349"/>
            <a:ext cx="567597" cy="2308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화면</a:t>
            </a:r>
            <a:r>
              <a:rPr lang="en-US" altLang="ko-KR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ID</a:t>
            </a:r>
            <a:endParaRPr lang="ko-KR" altLang="en-US" sz="9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7689304" y="43659"/>
            <a:ext cx="792088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itchFamily="50" charset="-127"/>
                <a:ea typeface="맑은 고딕" pitchFamily="50" charset="-127"/>
              </a:rPr>
              <a:t>ewpsp_scr_015</a:t>
            </a:r>
            <a:endParaRPr lang="ko-KR" altLang="en-US" sz="700" dirty="0">
              <a:latin typeface="맑은 고딕" pitchFamily="50" charset="-127"/>
              <a:ea typeface="맑은 고딕" pitchFamily="50" charset="-127"/>
            </a:endParaRPr>
          </a:p>
        </p:txBody>
      </p:sp>
      <p:pic>
        <p:nvPicPr>
          <p:cNvPr id="18" name="Picture 3">
            <a:extLst>
              <a:ext uri="{FF2B5EF4-FFF2-40B4-BE49-F238E27FC236}">
                <a16:creationId xmlns:a16="http://schemas.microsoft.com/office/drawing/2014/main" id="{D14E8AEF-8EA8-4944-AE52-FF98A1FB783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8796" y="794365"/>
            <a:ext cx="8208912" cy="4248472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  <a:extLst/>
        </p:spPr>
      </p:pic>
      <p:pic>
        <p:nvPicPr>
          <p:cNvPr id="19" name="Picture 2">
            <a:extLst>
              <a:ext uri="{FF2B5EF4-FFF2-40B4-BE49-F238E27FC236}">
                <a16:creationId xmlns:a16="http://schemas.microsoft.com/office/drawing/2014/main" id="{6FBB0165-03FF-4BBD-A158-8DEF923CF53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2325" y="755669"/>
            <a:ext cx="8208912" cy="3487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20" name="직선 연결선 19">
            <a:extLst>
              <a:ext uri="{FF2B5EF4-FFF2-40B4-BE49-F238E27FC236}">
                <a16:creationId xmlns:a16="http://schemas.microsoft.com/office/drawing/2014/main" id="{37D07777-30AA-4506-9C18-6F3B4C7D943C}"/>
              </a:ext>
            </a:extLst>
          </p:cNvPr>
          <p:cNvCxnSpPr>
            <a:cxnSpLocks/>
          </p:cNvCxnSpPr>
          <p:nvPr/>
        </p:nvCxnSpPr>
        <p:spPr>
          <a:xfrm>
            <a:off x="128463" y="1124744"/>
            <a:ext cx="8208912" cy="0"/>
          </a:xfrm>
          <a:prstGeom prst="line">
            <a:avLst/>
          </a:prstGeom>
          <a:ln w="9525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5E84417E-CAA5-4FD3-BBB9-7CD5570EF571}"/>
              </a:ext>
            </a:extLst>
          </p:cNvPr>
          <p:cNvSpPr/>
          <p:nvPr/>
        </p:nvSpPr>
        <p:spPr>
          <a:xfrm>
            <a:off x="216315" y="1482125"/>
            <a:ext cx="1820532" cy="288032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10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장치</a:t>
            </a:r>
            <a:r>
              <a:rPr lang="en-US" altLang="ko-KR" sz="10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ko-KR" altLang="en-US" sz="10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모니터링 현황</a:t>
            </a: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180BACBD-4B64-4649-BD7C-E1EE3620FBC6}"/>
              </a:ext>
            </a:extLst>
          </p:cNvPr>
          <p:cNvSpPr/>
          <p:nvPr/>
        </p:nvSpPr>
        <p:spPr>
          <a:xfrm>
            <a:off x="120419" y="1714689"/>
            <a:ext cx="1510265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150000"/>
              </a:lnSpc>
            </a:pPr>
            <a:r>
              <a:rPr lang="en-US" altLang="ko-KR" sz="900" b="1" dirty="0">
                <a:solidFill>
                  <a:schemeClr val="bg1">
                    <a:lumMod val="6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YYYY-MM-DD hh:mm</a:t>
            </a:r>
            <a:endParaRPr lang="ko-KR" altLang="en-US" sz="900" b="1" dirty="0">
              <a:solidFill>
                <a:schemeClr val="bg1">
                  <a:lumMod val="6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47" name="Picture 2" descr="ì¤ì ì ëí ì´ë¯¸ì§ ê²ìê²°ê³¼">
            <a:extLst>
              <a:ext uri="{FF2B5EF4-FFF2-40B4-BE49-F238E27FC236}">
                <a16:creationId xmlns:a16="http://schemas.microsoft.com/office/drawing/2014/main" id="{90A888AD-844A-4544-B02A-A77BC3397C7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05865" y="844086"/>
            <a:ext cx="198592" cy="19859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2" name="직사각형 51">
            <a:extLst>
              <a:ext uri="{FF2B5EF4-FFF2-40B4-BE49-F238E27FC236}">
                <a16:creationId xmlns:a16="http://schemas.microsoft.com/office/drawing/2014/main" id="{9D066E92-3969-4163-8951-1B55C00C795F}"/>
              </a:ext>
            </a:extLst>
          </p:cNvPr>
          <p:cNvSpPr/>
          <p:nvPr/>
        </p:nvSpPr>
        <p:spPr>
          <a:xfrm>
            <a:off x="4531730" y="1773988"/>
            <a:ext cx="673646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en-US" altLang="ko-KR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IOE</a:t>
            </a:r>
            <a:endParaRPr lang="ko-KR" altLang="en-US" sz="8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74025361-6332-409A-9ED3-B4DC569F15A4}"/>
              </a:ext>
            </a:extLst>
          </p:cNvPr>
          <p:cNvSpPr/>
          <p:nvPr/>
        </p:nvSpPr>
        <p:spPr>
          <a:xfrm>
            <a:off x="5610498" y="1773988"/>
            <a:ext cx="673646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en-US" altLang="ko-KR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PCS</a:t>
            </a:r>
            <a:endParaRPr lang="ko-KR" altLang="en-US" sz="8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896A8CDE-D090-4223-824B-6E5F732F96F5}"/>
              </a:ext>
            </a:extLst>
          </p:cNvPr>
          <p:cNvSpPr/>
          <p:nvPr/>
        </p:nvSpPr>
        <p:spPr>
          <a:xfrm>
            <a:off x="6641480" y="1773988"/>
            <a:ext cx="673646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en-US" altLang="ko-KR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BMS</a:t>
            </a:r>
            <a:endParaRPr lang="ko-KR" altLang="en-US" sz="8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437ADA0F-08A8-41EA-A8F7-52F93AD8E01C}"/>
              </a:ext>
            </a:extLst>
          </p:cNvPr>
          <p:cNvSpPr/>
          <p:nvPr/>
        </p:nvSpPr>
        <p:spPr>
          <a:xfrm>
            <a:off x="7669915" y="1773621"/>
            <a:ext cx="673646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en-US" altLang="ko-KR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PV</a:t>
            </a:r>
            <a:endParaRPr lang="ko-KR" altLang="en-US" sz="8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6" name="타원 55">
            <a:extLst>
              <a:ext uri="{FF2B5EF4-FFF2-40B4-BE49-F238E27FC236}">
                <a16:creationId xmlns:a16="http://schemas.microsoft.com/office/drawing/2014/main" id="{4F5BBFF8-DC71-4275-B2EF-09F0FB53F93D}"/>
              </a:ext>
            </a:extLst>
          </p:cNvPr>
          <p:cNvSpPr/>
          <p:nvPr/>
        </p:nvSpPr>
        <p:spPr>
          <a:xfrm>
            <a:off x="7534296" y="1856895"/>
            <a:ext cx="131472" cy="122712"/>
          </a:xfrm>
          <a:prstGeom prst="ellipse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7" name="타원 56">
            <a:extLst>
              <a:ext uri="{FF2B5EF4-FFF2-40B4-BE49-F238E27FC236}">
                <a16:creationId xmlns:a16="http://schemas.microsoft.com/office/drawing/2014/main" id="{F150DCBD-0243-47A6-BD6A-8F4B604E5DFA}"/>
              </a:ext>
            </a:extLst>
          </p:cNvPr>
          <p:cNvSpPr/>
          <p:nvPr/>
        </p:nvSpPr>
        <p:spPr>
          <a:xfrm>
            <a:off x="5466574" y="1862415"/>
            <a:ext cx="131472" cy="122712"/>
          </a:xfrm>
          <a:prstGeom prst="ellipse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8" name="타원 57">
            <a:extLst>
              <a:ext uri="{FF2B5EF4-FFF2-40B4-BE49-F238E27FC236}">
                <a16:creationId xmlns:a16="http://schemas.microsoft.com/office/drawing/2014/main" id="{5DC52973-FB1B-4E3E-AF29-3E272387B2E7}"/>
              </a:ext>
            </a:extLst>
          </p:cNvPr>
          <p:cNvSpPr/>
          <p:nvPr/>
        </p:nvSpPr>
        <p:spPr>
          <a:xfrm>
            <a:off x="6473243" y="1869103"/>
            <a:ext cx="131472" cy="122712"/>
          </a:xfrm>
          <a:prstGeom prst="ellipse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9" name="타원 58">
            <a:extLst>
              <a:ext uri="{FF2B5EF4-FFF2-40B4-BE49-F238E27FC236}">
                <a16:creationId xmlns:a16="http://schemas.microsoft.com/office/drawing/2014/main" id="{15A4F073-2990-4297-A95B-4D06A4AABA02}"/>
              </a:ext>
            </a:extLst>
          </p:cNvPr>
          <p:cNvSpPr/>
          <p:nvPr/>
        </p:nvSpPr>
        <p:spPr>
          <a:xfrm>
            <a:off x="4396111" y="1861221"/>
            <a:ext cx="131472" cy="122712"/>
          </a:xfrm>
          <a:prstGeom prst="ellipse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60" name="그룹 59">
            <a:extLst>
              <a:ext uri="{FF2B5EF4-FFF2-40B4-BE49-F238E27FC236}">
                <a16:creationId xmlns:a16="http://schemas.microsoft.com/office/drawing/2014/main" id="{EC6621BA-B527-44A5-B27F-990A7C9AD790}"/>
              </a:ext>
            </a:extLst>
          </p:cNvPr>
          <p:cNvGrpSpPr/>
          <p:nvPr/>
        </p:nvGrpSpPr>
        <p:grpSpPr>
          <a:xfrm>
            <a:off x="416496" y="4579438"/>
            <a:ext cx="862386" cy="211955"/>
            <a:chOff x="4861742" y="3907374"/>
            <a:chExt cx="862386" cy="211955"/>
          </a:xfrm>
        </p:grpSpPr>
        <p:pic>
          <p:nvPicPr>
            <p:cNvPr id="61" name="Picture 6" descr="ìì ë¤ì´ë¡ëì ëí ì´ë¯¸ì§ ê²ìê²°ê³¼">
              <a:extLst>
                <a:ext uri="{FF2B5EF4-FFF2-40B4-BE49-F238E27FC236}">
                  <a16:creationId xmlns:a16="http://schemas.microsoft.com/office/drawing/2014/main" id="{AA2B83FB-8FE8-4F4A-AAFB-F712DA9679B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861742" y="3907374"/>
              <a:ext cx="211955" cy="21195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9BD3E16E-9FD9-4439-8B41-53E5659D5D34}"/>
                </a:ext>
              </a:extLst>
            </p:cNvPr>
            <p:cNvSpPr txBox="1"/>
            <p:nvPr/>
          </p:nvSpPr>
          <p:spPr>
            <a:xfrm>
              <a:off x="4949189" y="3921018"/>
              <a:ext cx="7749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데이터 저장하기</a:t>
              </a:r>
            </a:p>
          </p:txBody>
        </p:sp>
      </p:grpSp>
      <p:sp>
        <p:nvSpPr>
          <p:cNvPr id="64" name="TextBox 63">
            <a:extLst>
              <a:ext uri="{FF2B5EF4-FFF2-40B4-BE49-F238E27FC236}">
                <a16:creationId xmlns:a16="http://schemas.microsoft.com/office/drawing/2014/main" id="{766D9608-44C0-49A5-AE7B-0C52B8010531}"/>
              </a:ext>
            </a:extLst>
          </p:cNvPr>
          <p:cNvSpPr txBox="1"/>
          <p:nvPr/>
        </p:nvSpPr>
        <p:spPr>
          <a:xfrm>
            <a:off x="7378090" y="4452480"/>
            <a:ext cx="720080" cy="253916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상세보기</a:t>
            </a:r>
          </a:p>
        </p:txBody>
      </p:sp>
      <p:graphicFrame>
        <p:nvGraphicFramePr>
          <p:cNvPr id="37" name="표 36">
            <a:extLst>
              <a:ext uri="{FF2B5EF4-FFF2-40B4-BE49-F238E27FC236}">
                <a16:creationId xmlns:a16="http://schemas.microsoft.com/office/drawing/2014/main" id="{7DCEC264-2C3E-49DE-BD29-EB3774BE91D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32284942"/>
              </p:ext>
            </p:extLst>
          </p:nvPr>
        </p:nvGraphicFramePr>
        <p:xfrm>
          <a:off x="243249" y="2155868"/>
          <a:ext cx="7992888" cy="141714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004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807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807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82131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05089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088231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</a:tblGrid>
              <a:tr h="30807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solidFill>
                            <a:schemeClr val="bg1"/>
                          </a:solidFill>
                        </a:rPr>
                        <a:t>NO</a:t>
                      </a:r>
                      <a:endParaRPr lang="ko-KR" altLang="en-US" sz="1000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aseline="0" dirty="0">
                          <a:solidFill>
                            <a:schemeClr val="bg1"/>
                          </a:solidFill>
                        </a:rPr>
                        <a:t>Site Name</a:t>
                      </a:r>
                      <a:endParaRPr lang="ko-KR" altLang="en-US" sz="1000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aseline="0" dirty="0">
                          <a:solidFill>
                            <a:schemeClr val="bg1"/>
                          </a:solidFill>
                        </a:rPr>
                        <a:t>Site ID</a:t>
                      </a:r>
                      <a:endParaRPr lang="ko-KR" altLang="en-US" sz="1000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solidFill>
                            <a:schemeClr val="bg1"/>
                          </a:solidFill>
                        </a:rPr>
                        <a:t>Device</a:t>
                      </a:r>
                      <a:r>
                        <a:rPr lang="en-US" altLang="ko-KR" sz="1000" baseline="0" dirty="0">
                          <a:solidFill>
                            <a:schemeClr val="bg1"/>
                          </a:solidFill>
                        </a:rPr>
                        <a:t> Name</a:t>
                      </a:r>
                      <a:endParaRPr lang="ko-KR" altLang="en-US" sz="1000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solidFill>
                            <a:schemeClr val="bg1"/>
                          </a:solidFill>
                        </a:rPr>
                        <a:t>Device</a:t>
                      </a:r>
                      <a:r>
                        <a:rPr lang="en-US" altLang="ko-KR" sz="1000" baseline="0" dirty="0">
                          <a:solidFill>
                            <a:schemeClr val="bg1"/>
                          </a:solidFill>
                        </a:rPr>
                        <a:t> ID</a:t>
                      </a:r>
                      <a:endParaRPr lang="ko-KR" altLang="en-US" sz="1000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solidFill>
                            <a:schemeClr val="bg1"/>
                          </a:solidFill>
                        </a:rPr>
                        <a:t>PV</a:t>
                      </a:r>
                      <a:r>
                        <a:rPr lang="en-US" altLang="ko-KR" sz="1000" baseline="0" dirty="0">
                          <a:solidFill>
                            <a:schemeClr val="bg1"/>
                          </a:solidFill>
                        </a:rPr>
                        <a:t> Status</a:t>
                      </a:r>
                      <a:endParaRPr lang="ko-KR" altLang="en-US" sz="1000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solidFill>
                            <a:schemeClr val="bg1"/>
                          </a:solidFill>
                        </a:rPr>
                        <a:t>Temperature</a:t>
                      </a:r>
                      <a:endParaRPr lang="ko-KR" altLang="en-US" sz="1000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solidFill>
                            <a:schemeClr val="bg1"/>
                          </a:solidFill>
                        </a:rPr>
                        <a:t>PV</a:t>
                      </a:r>
                      <a:r>
                        <a:rPr lang="en-US" altLang="ko-KR" sz="1000" baseline="0" dirty="0">
                          <a:solidFill>
                            <a:schemeClr val="bg1"/>
                          </a:solidFill>
                        </a:rPr>
                        <a:t> </a:t>
                      </a:r>
                      <a:r>
                        <a:rPr lang="en-US" altLang="ko-KR" sz="1000" dirty="0">
                          <a:solidFill>
                            <a:schemeClr val="bg1"/>
                          </a:solidFill>
                        </a:rPr>
                        <a:t>Message</a:t>
                      </a:r>
                      <a:endParaRPr lang="ko-KR" altLang="en-US" sz="1000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solidFill>
                            <a:schemeClr val="bg1"/>
                          </a:solidFill>
                        </a:rPr>
                        <a:t>Status Time</a:t>
                      </a:r>
                      <a:endParaRPr lang="ko-KR" altLang="en-US" sz="1000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726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제일화성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10037202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PV_01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60001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RUN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51 </a:t>
                      </a:r>
                      <a:r>
                        <a:rPr lang="ko-KR" altLang="en-US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℃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-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2018-06-15  2:39:01 PM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7726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제일화성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10037202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PV_02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60002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FAULT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-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Bulk UV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2018-06-15  2:39:01 PM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7726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7726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pic>
        <p:nvPicPr>
          <p:cNvPr id="38" name="Picture 2" descr="ììë¡ ì ì¥íê¸° íìì ëí ì´ë¯¸ì§ ê²ìê²°ê³¼">
            <a:extLst>
              <a:ext uri="{FF2B5EF4-FFF2-40B4-BE49-F238E27FC236}">
                <a16:creationId xmlns:a16="http://schemas.microsoft.com/office/drawing/2014/main" id="{B2190638-9B7F-4705-B06A-F0B5E1ACDD1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74651" y="1931275"/>
            <a:ext cx="3916535" cy="183867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39" name="그룹 38">
            <a:extLst>
              <a:ext uri="{FF2B5EF4-FFF2-40B4-BE49-F238E27FC236}">
                <a16:creationId xmlns:a16="http://schemas.microsoft.com/office/drawing/2014/main" id="{264B9BEB-0271-467C-9B82-D1FC9FBEA765}"/>
              </a:ext>
            </a:extLst>
          </p:cNvPr>
          <p:cNvGrpSpPr/>
          <p:nvPr/>
        </p:nvGrpSpPr>
        <p:grpSpPr>
          <a:xfrm>
            <a:off x="210356" y="1203435"/>
            <a:ext cx="8024876" cy="260092"/>
            <a:chOff x="184526" y="1505937"/>
            <a:chExt cx="8024876" cy="260092"/>
          </a:xfrm>
        </p:grpSpPr>
        <p:sp>
          <p:nvSpPr>
            <p:cNvPr id="40" name="직사각형 39">
              <a:extLst>
                <a:ext uri="{FF2B5EF4-FFF2-40B4-BE49-F238E27FC236}">
                  <a16:creationId xmlns:a16="http://schemas.microsoft.com/office/drawing/2014/main" id="{2A56A96B-69B8-429E-AF89-968C4AF494F7}"/>
                </a:ext>
              </a:extLst>
            </p:cNvPr>
            <p:cNvSpPr/>
            <p:nvPr/>
          </p:nvSpPr>
          <p:spPr>
            <a:xfrm>
              <a:off x="5810955" y="1550585"/>
              <a:ext cx="1820532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수익 현황</a:t>
              </a:r>
            </a:p>
          </p:txBody>
        </p:sp>
        <p:sp>
          <p:nvSpPr>
            <p:cNvPr id="41" name="직사각형 40">
              <a:extLst>
                <a:ext uri="{FF2B5EF4-FFF2-40B4-BE49-F238E27FC236}">
                  <a16:creationId xmlns:a16="http://schemas.microsoft.com/office/drawing/2014/main" id="{97FF9A40-DB93-404F-8B0E-59947A5ABD92}"/>
                </a:ext>
              </a:extLst>
            </p:cNvPr>
            <p:cNvSpPr/>
            <p:nvPr/>
          </p:nvSpPr>
          <p:spPr>
            <a:xfrm>
              <a:off x="184526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에너지 모니터링</a:t>
              </a:r>
            </a:p>
          </p:txBody>
        </p:sp>
        <p:sp>
          <p:nvSpPr>
            <p:cNvPr id="42" name="직사각형 41">
              <a:extLst>
                <a:ext uri="{FF2B5EF4-FFF2-40B4-BE49-F238E27FC236}">
                  <a16:creationId xmlns:a16="http://schemas.microsoft.com/office/drawing/2014/main" id="{D15145F1-C4F0-45F7-9038-8CA3BE6E8D6E}"/>
                </a:ext>
              </a:extLst>
            </p:cNvPr>
            <p:cNvSpPr/>
            <p:nvPr/>
          </p:nvSpPr>
          <p:spPr>
            <a:xfrm>
              <a:off x="2191085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장치 모니터링</a:t>
              </a:r>
            </a:p>
          </p:txBody>
        </p:sp>
        <p:sp>
          <p:nvSpPr>
            <p:cNvPr id="43" name="직사각형 42">
              <a:extLst>
                <a:ext uri="{FF2B5EF4-FFF2-40B4-BE49-F238E27FC236}">
                  <a16:creationId xmlns:a16="http://schemas.microsoft.com/office/drawing/2014/main" id="{C34311D5-6CAB-4798-9B6D-CAB49C586455}"/>
                </a:ext>
              </a:extLst>
            </p:cNvPr>
            <p:cNvSpPr/>
            <p:nvPr/>
          </p:nvSpPr>
          <p:spPr>
            <a:xfrm>
              <a:off x="4197644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상황</a:t>
              </a:r>
              <a:r>
                <a:rPr lang="en-US" altLang="ko-KR" sz="700" dirty="0"/>
                <a:t> </a:t>
              </a:r>
              <a:r>
                <a:rPr lang="ko-KR" altLang="en-US" sz="700" dirty="0"/>
                <a:t>관제</a:t>
              </a:r>
            </a:p>
          </p:txBody>
        </p:sp>
        <p:sp>
          <p:nvSpPr>
            <p:cNvPr id="44" name="직사각형 43">
              <a:extLst>
                <a:ext uri="{FF2B5EF4-FFF2-40B4-BE49-F238E27FC236}">
                  <a16:creationId xmlns:a16="http://schemas.microsoft.com/office/drawing/2014/main" id="{7ABE93DD-CE7A-4C3A-8774-4B49585114BD}"/>
                </a:ext>
              </a:extLst>
            </p:cNvPr>
            <p:cNvSpPr/>
            <p:nvPr/>
          </p:nvSpPr>
          <p:spPr>
            <a:xfrm>
              <a:off x="6204202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요금</a:t>
              </a:r>
              <a:r>
                <a:rPr lang="en-US" altLang="ko-KR" sz="700" dirty="0"/>
                <a:t>/</a:t>
              </a:r>
              <a:r>
                <a:rPr lang="ko-KR" altLang="en-US" sz="700" dirty="0"/>
                <a:t>수익</a:t>
              </a:r>
            </a:p>
          </p:txBody>
        </p:sp>
      </p:grpSp>
      <p:sp>
        <p:nvSpPr>
          <p:cNvPr id="45" name="타원형 설명선 226">
            <a:extLst>
              <a:ext uri="{FF2B5EF4-FFF2-40B4-BE49-F238E27FC236}">
                <a16:creationId xmlns:a16="http://schemas.microsoft.com/office/drawing/2014/main" id="{CBAFB91A-2776-4A12-9351-F4B56F4665FC}"/>
              </a:ext>
            </a:extLst>
          </p:cNvPr>
          <p:cNvSpPr/>
          <p:nvPr/>
        </p:nvSpPr>
        <p:spPr>
          <a:xfrm>
            <a:off x="2922515" y="3125385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6" name="타원형 설명선 243">
            <a:extLst>
              <a:ext uri="{FF2B5EF4-FFF2-40B4-BE49-F238E27FC236}">
                <a16:creationId xmlns:a16="http://schemas.microsoft.com/office/drawing/2014/main" id="{E2E370E9-73B3-4F0E-A9BD-D1946663A517}"/>
              </a:ext>
            </a:extLst>
          </p:cNvPr>
          <p:cNvSpPr/>
          <p:nvPr/>
        </p:nvSpPr>
        <p:spPr>
          <a:xfrm>
            <a:off x="5071520" y="3136460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8" name="타원형 설명선 244">
            <a:extLst>
              <a:ext uri="{FF2B5EF4-FFF2-40B4-BE49-F238E27FC236}">
                <a16:creationId xmlns:a16="http://schemas.microsoft.com/office/drawing/2014/main" id="{1FE2CDD6-18B0-403C-B414-CE568A944338}"/>
              </a:ext>
            </a:extLst>
          </p:cNvPr>
          <p:cNvSpPr/>
          <p:nvPr/>
        </p:nvSpPr>
        <p:spPr>
          <a:xfrm>
            <a:off x="2923626" y="3359335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9" name="타원형 설명선 245">
            <a:extLst>
              <a:ext uri="{FF2B5EF4-FFF2-40B4-BE49-F238E27FC236}">
                <a16:creationId xmlns:a16="http://schemas.microsoft.com/office/drawing/2014/main" id="{F463CD09-EA66-4CBF-8981-3F16496A790A}"/>
              </a:ext>
            </a:extLst>
          </p:cNvPr>
          <p:cNvSpPr/>
          <p:nvPr/>
        </p:nvSpPr>
        <p:spPr>
          <a:xfrm>
            <a:off x="5076600" y="3368634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0" name="타원형 설명선 225">
            <a:extLst>
              <a:ext uri="{FF2B5EF4-FFF2-40B4-BE49-F238E27FC236}">
                <a16:creationId xmlns:a16="http://schemas.microsoft.com/office/drawing/2014/main" id="{34271130-CBA6-46BA-AE21-369D09B0DF01}"/>
              </a:ext>
            </a:extLst>
          </p:cNvPr>
          <p:cNvSpPr/>
          <p:nvPr/>
        </p:nvSpPr>
        <p:spPr>
          <a:xfrm>
            <a:off x="2108268" y="1812593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4141602295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9104309" y="6645875"/>
            <a:ext cx="140029" cy="138499"/>
          </a:xfrm>
        </p:spPr>
        <p:txBody>
          <a:bodyPr/>
          <a:lstStyle/>
          <a:p>
            <a:pPr>
              <a:defRPr/>
            </a:pPr>
            <a:fld id="{9E41B634-5682-4388-99E7-FE44DCFD254B}" type="slidenum">
              <a:rPr lang="ko-KR" altLang="en-US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>
                <a:defRPr/>
              </a:pPr>
              <a:t>38</a:t>
            </a:fld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텍스트 개체 틀 8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Site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 &gt;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장치 모니터링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&gt;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장치 그룹 현황</a:t>
            </a:r>
          </a:p>
        </p:txBody>
      </p:sp>
      <p:sp>
        <p:nvSpPr>
          <p:cNvPr id="10" name="텍스트 개체 틀 9"/>
          <p:cNvSpPr>
            <a:spLocks noGrp="1"/>
          </p:cNvSpPr>
          <p:nvPr>
            <p:ph type="body" sz="quarter" idx="10"/>
          </p:nvPr>
        </p:nvSpPr>
        <p:spPr>
          <a:xfrm>
            <a:off x="6023595" y="44624"/>
            <a:ext cx="1233661" cy="196974"/>
          </a:xfrm>
        </p:spPr>
        <p:txBody>
          <a:bodyPr/>
          <a:lstStyle/>
          <a:p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장치 그룹 현황</a:t>
            </a:r>
          </a:p>
        </p:txBody>
      </p:sp>
      <p:graphicFrame>
        <p:nvGraphicFramePr>
          <p:cNvPr id="102" name="Group 15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16905881"/>
              </p:ext>
            </p:extLst>
          </p:nvPr>
        </p:nvGraphicFramePr>
        <p:xfrm>
          <a:off x="8469313" y="276225"/>
          <a:ext cx="1404000" cy="6259776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3002"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Description</a:t>
                      </a: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Site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선택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1)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우측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콤보박스를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선택하면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Site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리스트가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드랍다운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된다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.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2)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드랍 다운 리스트에서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Site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를 선택하면 해당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Site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의 장치 그룹을 하단에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3)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좌측 텍스트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에디트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창에 직접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Site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명을 입력하고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엔터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키를 누르면 해당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Site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의 장치 그룹을 하단에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입력된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Site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가 존재하지 않을 경우 안내문구 출력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Wingdings" panose="05000000000000000000" pitchFamily="2" charset="2"/>
                        </a:rPr>
                        <a:t>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“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입력하신 사이트를 찾을 수 없습니다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.”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2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Site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정보 표시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현재 선택된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Site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정보 표시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(Site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명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en-US" altLang="ko-KR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SiteID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)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3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장치 그룹 리스트</a:t>
                      </a:r>
                      <a:endParaRPr lang="en-US" altLang="ko-KR" sz="800" b="1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1)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장치 그룹 편집에서 추가된 장치 그룹을 리스트 형태로 표시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2)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그룹 내 장치를 단순 정보와 이미지로 표현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- </a:t>
                      </a:r>
                      <a:r>
                        <a:rPr lang="ko-KR" altLang="en-US" sz="800" b="0" u="none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장치명</a:t>
                      </a: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장치</a:t>
                      </a: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ID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3)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장치가 그룹 내 표시 영역보다 많을 경우 좌</a:t>
                      </a: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우에 </a:t>
                      </a: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&lt; &gt;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아이콘을 생성하여 스크롤 되도록 표현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4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알람 정보 표시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1)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그룹 내 알람 정보 표시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2)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비상</a:t>
                      </a: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주의 각각의 발생 개수를 표시하고 하단에 알람 발생 장치 리스트를 출력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4730236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5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장치 그룹 현황 편집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1)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그룹 內 장치를 추가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/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삭제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/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수정 할 수 있는 편집 페이지로 이동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*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다음 페이지 참고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78" name="TextBox 77"/>
          <p:cNvSpPr txBox="1"/>
          <p:nvPr/>
        </p:nvSpPr>
        <p:spPr>
          <a:xfrm>
            <a:off x="7121707" y="21349"/>
            <a:ext cx="567597" cy="2308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화면</a:t>
            </a:r>
            <a:r>
              <a:rPr lang="en-US" altLang="ko-KR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ID</a:t>
            </a:r>
            <a:endParaRPr lang="ko-KR" altLang="en-US" sz="9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7689304" y="43659"/>
            <a:ext cx="792088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itchFamily="50" charset="-127"/>
                <a:ea typeface="맑은 고딕" pitchFamily="50" charset="-127"/>
              </a:rPr>
              <a:t>ewpsp_scr_021</a:t>
            </a:r>
            <a:endParaRPr lang="ko-KR" altLang="en-US" sz="700" dirty="0">
              <a:latin typeface="맑은 고딕" pitchFamily="50" charset="-127"/>
              <a:ea typeface="맑은 고딕" pitchFamily="50" charset="-127"/>
            </a:endParaRPr>
          </a:p>
        </p:txBody>
      </p:sp>
      <p:pic>
        <p:nvPicPr>
          <p:cNvPr id="18" name="Picture 3">
            <a:extLst>
              <a:ext uri="{FF2B5EF4-FFF2-40B4-BE49-F238E27FC236}">
                <a16:creationId xmlns:a16="http://schemas.microsoft.com/office/drawing/2014/main" id="{D14E8AEF-8EA8-4944-AE52-FF98A1FB783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8796" y="794364"/>
            <a:ext cx="8208912" cy="4815547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  <a:extLst/>
        </p:spPr>
      </p:pic>
      <p:pic>
        <p:nvPicPr>
          <p:cNvPr id="19" name="Picture 2">
            <a:extLst>
              <a:ext uri="{FF2B5EF4-FFF2-40B4-BE49-F238E27FC236}">
                <a16:creationId xmlns:a16="http://schemas.microsoft.com/office/drawing/2014/main" id="{6FBB0165-03FF-4BBD-A158-8DEF923CF53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2325" y="755669"/>
            <a:ext cx="8208912" cy="3487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20" name="직선 연결선 19">
            <a:extLst>
              <a:ext uri="{FF2B5EF4-FFF2-40B4-BE49-F238E27FC236}">
                <a16:creationId xmlns:a16="http://schemas.microsoft.com/office/drawing/2014/main" id="{37D07777-30AA-4506-9C18-6F3B4C7D943C}"/>
              </a:ext>
            </a:extLst>
          </p:cNvPr>
          <p:cNvCxnSpPr>
            <a:cxnSpLocks/>
          </p:cNvCxnSpPr>
          <p:nvPr/>
        </p:nvCxnSpPr>
        <p:spPr>
          <a:xfrm>
            <a:off x="142639" y="1124744"/>
            <a:ext cx="8208912" cy="0"/>
          </a:xfrm>
          <a:prstGeom prst="line">
            <a:avLst/>
          </a:prstGeom>
          <a:ln w="9525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5E84417E-CAA5-4FD3-BBB9-7CD5570EF571}"/>
              </a:ext>
            </a:extLst>
          </p:cNvPr>
          <p:cNvSpPr/>
          <p:nvPr/>
        </p:nvSpPr>
        <p:spPr>
          <a:xfrm>
            <a:off x="216315" y="1482125"/>
            <a:ext cx="1820532" cy="288032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10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장치</a:t>
            </a:r>
            <a:r>
              <a:rPr lang="en-US" altLang="ko-KR" sz="10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ko-KR" altLang="en-US" sz="10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그룹 현황</a:t>
            </a:r>
          </a:p>
        </p:txBody>
      </p:sp>
      <p:pic>
        <p:nvPicPr>
          <p:cNvPr id="47" name="Picture 2" descr="ì¤ì ì ëí ì´ë¯¸ì§ ê²ìê²°ê³¼">
            <a:extLst>
              <a:ext uri="{FF2B5EF4-FFF2-40B4-BE49-F238E27FC236}">
                <a16:creationId xmlns:a16="http://schemas.microsoft.com/office/drawing/2014/main" id="{90A888AD-844A-4544-B02A-A77BC3397C7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05865" y="844086"/>
            <a:ext cx="198592" cy="19859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39" name="그룹 38">
            <a:extLst>
              <a:ext uri="{FF2B5EF4-FFF2-40B4-BE49-F238E27FC236}">
                <a16:creationId xmlns:a16="http://schemas.microsoft.com/office/drawing/2014/main" id="{264B9BEB-0271-467C-9B82-D1FC9FBEA765}"/>
              </a:ext>
            </a:extLst>
          </p:cNvPr>
          <p:cNvGrpSpPr/>
          <p:nvPr/>
        </p:nvGrpSpPr>
        <p:grpSpPr>
          <a:xfrm>
            <a:off x="210356" y="1203435"/>
            <a:ext cx="8024876" cy="260092"/>
            <a:chOff x="184526" y="1505937"/>
            <a:chExt cx="8024876" cy="260092"/>
          </a:xfrm>
        </p:grpSpPr>
        <p:sp>
          <p:nvSpPr>
            <p:cNvPr id="40" name="직사각형 39">
              <a:extLst>
                <a:ext uri="{FF2B5EF4-FFF2-40B4-BE49-F238E27FC236}">
                  <a16:creationId xmlns:a16="http://schemas.microsoft.com/office/drawing/2014/main" id="{2A56A96B-69B8-429E-AF89-968C4AF494F7}"/>
                </a:ext>
              </a:extLst>
            </p:cNvPr>
            <p:cNvSpPr/>
            <p:nvPr/>
          </p:nvSpPr>
          <p:spPr>
            <a:xfrm>
              <a:off x="5810955" y="1550585"/>
              <a:ext cx="1820532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수익 현황</a:t>
              </a:r>
            </a:p>
          </p:txBody>
        </p:sp>
        <p:sp>
          <p:nvSpPr>
            <p:cNvPr id="41" name="직사각형 40">
              <a:extLst>
                <a:ext uri="{FF2B5EF4-FFF2-40B4-BE49-F238E27FC236}">
                  <a16:creationId xmlns:a16="http://schemas.microsoft.com/office/drawing/2014/main" id="{97FF9A40-DB93-404F-8B0E-59947A5ABD92}"/>
                </a:ext>
              </a:extLst>
            </p:cNvPr>
            <p:cNvSpPr/>
            <p:nvPr/>
          </p:nvSpPr>
          <p:spPr>
            <a:xfrm>
              <a:off x="184526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에너지 모니터링</a:t>
              </a:r>
            </a:p>
          </p:txBody>
        </p:sp>
        <p:sp>
          <p:nvSpPr>
            <p:cNvPr id="42" name="직사각형 41">
              <a:extLst>
                <a:ext uri="{FF2B5EF4-FFF2-40B4-BE49-F238E27FC236}">
                  <a16:creationId xmlns:a16="http://schemas.microsoft.com/office/drawing/2014/main" id="{D15145F1-C4F0-45F7-9038-8CA3BE6E8D6E}"/>
                </a:ext>
              </a:extLst>
            </p:cNvPr>
            <p:cNvSpPr/>
            <p:nvPr/>
          </p:nvSpPr>
          <p:spPr>
            <a:xfrm>
              <a:off x="2191085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장치 모니터링</a:t>
              </a:r>
            </a:p>
          </p:txBody>
        </p:sp>
        <p:sp>
          <p:nvSpPr>
            <p:cNvPr id="43" name="직사각형 42">
              <a:extLst>
                <a:ext uri="{FF2B5EF4-FFF2-40B4-BE49-F238E27FC236}">
                  <a16:creationId xmlns:a16="http://schemas.microsoft.com/office/drawing/2014/main" id="{C34311D5-6CAB-4798-9B6D-CAB49C586455}"/>
                </a:ext>
              </a:extLst>
            </p:cNvPr>
            <p:cNvSpPr/>
            <p:nvPr/>
          </p:nvSpPr>
          <p:spPr>
            <a:xfrm>
              <a:off x="4197644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상황</a:t>
              </a:r>
              <a:r>
                <a:rPr lang="en-US" altLang="ko-KR" sz="700" dirty="0"/>
                <a:t> </a:t>
              </a:r>
              <a:r>
                <a:rPr lang="ko-KR" altLang="en-US" sz="700" dirty="0"/>
                <a:t>관제</a:t>
              </a:r>
            </a:p>
          </p:txBody>
        </p:sp>
        <p:sp>
          <p:nvSpPr>
            <p:cNvPr id="44" name="직사각형 43">
              <a:extLst>
                <a:ext uri="{FF2B5EF4-FFF2-40B4-BE49-F238E27FC236}">
                  <a16:creationId xmlns:a16="http://schemas.microsoft.com/office/drawing/2014/main" id="{7ABE93DD-CE7A-4C3A-8774-4B49585114BD}"/>
                </a:ext>
              </a:extLst>
            </p:cNvPr>
            <p:cNvSpPr/>
            <p:nvPr/>
          </p:nvSpPr>
          <p:spPr>
            <a:xfrm>
              <a:off x="6204202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요금</a:t>
              </a:r>
              <a:r>
                <a:rPr lang="en-US" altLang="ko-KR" sz="700" dirty="0"/>
                <a:t>/</a:t>
              </a:r>
              <a:r>
                <a:rPr lang="ko-KR" altLang="en-US" sz="700" dirty="0"/>
                <a:t>수익</a:t>
              </a:r>
            </a:p>
          </p:txBody>
        </p:sp>
      </p:grpSp>
      <p:sp>
        <p:nvSpPr>
          <p:cNvPr id="30" name="TextBox 29">
            <a:extLst>
              <a:ext uri="{FF2B5EF4-FFF2-40B4-BE49-F238E27FC236}">
                <a16:creationId xmlns:a16="http://schemas.microsoft.com/office/drawing/2014/main" id="{3014313F-74A6-48BC-BEA3-1002DF87CBAD}"/>
              </a:ext>
            </a:extLst>
          </p:cNvPr>
          <p:cNvSpPr txBox="1"/>
          <p:nvPr/>
        </p:nvSpPr>
        <p:spPr>
          <a:xfrm>
            <a:off x="7076013" y="5157192"/>
            <a:ext cx="1079719" cy="246221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장치 그룹 편집</a:t>
            </a:r>
          </a:p>
        </p:txBody>
      </p: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07A33635-DB1C-477E-AD4C-E6FD62D42E17}"/>
              </a:ext>
            </a:extLst>
          </p:cNvPr>
          <p:cNvSpPr/>
          <p:nvPr/>
        </p:nvSpPr>
        <p:spPr>
          <a:xfrm>
            <a:off x="454928" y="1890486"/>
            <a:ext cx="7488832" cy="1457921"/>
          </a:xfrm>
          <a:prstGeom prst="rect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200000"/>
              </a:lnSpc>
            </a:pPr>
            <a:endParaRPr lang="ko-KR" altLang="en-US" sz="100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0D741837-C914-4EB2-9C62-C1BEF7FFACF1}"/>
              </a:ext>
            </a:extLst>
          </p:cNvPr>
          <p:cNvSpPr txBox="1"/>
          <p:nvPr/>
        </p:nvSpPr>
        <p:spPr>
          <a:xfrm>
            <a:off x="454928" y="1923026"/>
            <a:ext cx="89029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별관</a:t>
            </a:r>
            <a:r>
              <a:rPr lang="en-US" altLang="ko-KR" sz="10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_1</a:t>
            </a:r>
            <a:endParaRPr lang="ko-KR" altLang="en-US" sz="10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CC42CE1B-0512-4FD0-8A31-0F3208A85D11}"/>
              </a:ext>
            </a:extLst>
          </p:cNvPr>
          <p:cNvSpPr/>
          <p:nvPr/>
        </p:nvSpPr>
        <p:spPr>
          <a:xfrm>
            <a:off x="444123" y="3491482"/>
            <a:ext cx="7499637" cy="1458000"/>
          </a:xfrm>
          <a:prstGeom prst="rect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200000"/>
              </a:lnSpc>
            </a:pPr>
            <a:endParaRPr lang="ko-KR" altLang="en-US" sz="100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FF754E35-DAEF-4149-929C-3F4B06EE645B}"/>
              </a:ext>
            </a:extLst>
          </p:cNvPr>
          <p:cNvSpPr txBox="1"/>
          <p:nvPr/>
        </p:nvSpPr>
        <p:spPr>
          <a:xfrm>
            <a:off x="444123" y="3533293"/>
            <a:ext cx="89029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별관</a:t>
            </a:r>
            <a:r>
              <a:rPr lang="en-US" altLang="ko-KR" sz="10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_2</a:t>
            </a:r>
            <a:endParaRPr lang="ko-KR" altLang="en-US" sz="10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4" name="그림 3">
            <a:extLst>
              <a:ext uri="{FF2B5EF4-FFF2-40B4-BE49-F238E27FC236}">
                <a16:creationId xmlns:a16="http://schemas.microsoft.com/office/drawing/2014/main" id="{B8AF1B9C-37DB-40E7-8A4C-F877432EADD5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954093" y="1885267"/>
            <a:ext cx="115247" cy="3064215"/>
          </a:xfrm>
          <a:prstGeom prst="rect">
            <a:avLst/>
          </a:prstGeom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DF624E43-DB55-43F1-90C0-1E55E05001F1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70690" y="2242364"/>
            <a:ext cx="575548" cy="968744"/>
          </a:xfrm>
          <a:prstGeom prst="rect">
            <a:avLst/>
          </a:prstGeom>
        </p:spPr>
      </p:pic>
      <p:pic>
        <p:nvPicPr>
          <p:cNvPr id="7" name="그림 6">
            <a:extLst>
              <a:ext uri="{FF2B5EF4-FFF2-40B4-BE49-F238E27FC236}">
                <a16:creationId xmlns:a16="http://schemas.microsoft.com/office/drawing/2014/main" id="{BCE498AE-7B03-417E-9074-47B7E062A916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382604" y="2247337"/>
            <a:ext cx="572593" cy="963771"/>
          </a:xfrm>
          <a:prstGeom prst="rect">
            <a:avLst/>
          </a:prstGeom>
        </p:spPr>
      </p:pic>
      <p:pic>
        <p:nvPicPr>
          <p:cNvPr id="8" name="그림 7">
            <a:extLst>
              <a:ext uri="{FF2B5EF4-FFF2-40B4-BE49-F238E27FC236}">
                <a16:creationId xmlns:a16="http://schemas.microsoft.com/office/drawing/2014/main" id="{2576C3BE-E3AE-49B7-A448-3470EEA60E46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2091563" y="2242364"/>
            <a:ext cx="593132" cy="968744"/>
          </a:xfrm>
          <a:prstGeom prst="rect">
            <a:avLst/>
          </a:prstGeom>
        </p:spPr>
      </p:pic>
      <p:pic>
        <p:nvPicPr>
          <p:cNvPr id="11" name="그림 10">
            <a:extLst>
              <a:ext uri="{FF2B5EF4-FFF2-40B4-BE49-F238E27FC236}">
                <a16:creationId xmlns:a16="http://schemas.microsoft.com/office/drawing/2014/main" id="{C991CBAE-BC47-465F-821B-DAC69208C40B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2821060" y="2247337"/>
            <a:ext cx="586196" cy="963770"/>
          </a:xfrm>
          <a:prstGeom prst="rect">
            <a:avLst/>
          </a:prstGeom>
        </p:spPr>
      </p:pic>
      <p:pic>
        <p:nvPicPr>
          <p:cNvPr id="12" name="그림 11">
            <a:extLst>
              <a:ext uri="{FF2B5EF4-FFF2-40B4-BE49-F238E27FC236}">
                <a16:creationId xmlns:a16="http://schemas.microsoft.com/office/drawing/2014/main" id="{67E36F86-64A0-44D0-8FEE-4703E48E3E63}"/>
              </a:ext>
            </a:extLst>
          </p:cNvPr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2091564" y="3842685"/>
            <a:ext cx="593132" cy="1012989"/>
          </a:xfrm>
          <a:prstGeom prst="rect">
            <a:avLst/>
          </a:prstGeom>
        </p:spPr>
      </p:pic>
      <p:pic>
        <p:nvPicPr>
          <p:cNvPr id="13" name="그림 12">
            <a:extLst>
              <a:ext uri="{FF2B5EF4-FFF2-40B4-BE49-F238E27FC236}">
                <a16:creationId xmlns:a16="http://schemas.microsoft.com/office/drawing/2014/main" id="{EBF6230A-F2C2-49BA-87A4-41ADD9E5C413}"/>
              </a:ext>
            </a:extLst>
          </p:cNvPr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643017" y="3832369"/>
            <a:ext cx="601946" cy="1027265"/>
          </a:xfrm>
          <a:prstGeom prst="rect">
            <a:avLst/>
          </a:prstGeom>
        </p:spPr>
      </p:pic>
      <p:pic>
        <p:nvPicPr>
          <p:cNvPr id="14" name="그림 13">
            <a:extLst>
              <a:ext uri="{FF2B5EF4-FFF2-40B4-BE49-F238E27FC236}">
                <a16:creationId xmlns:a16="http://schemas.microsoft.com/office/drawing/2014/main" id="{E9E642D9-24F2-47FA-97E6-F88EB928B155}"/>
              </a:ext>
            </a:extLst>
          </p:cNvPr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1381968" y="3842685"/>
            <a:ext cx="572590" cy="1016949"/>
          </a:xfrm>
          <a:prstGeom prst="rect">
            <a:avLst/>
          </a:prstGeom>
        </p:spPr>
      </p:pic>
      <p:grpSp>
        <p:nvGrpSpPr>
          <p:cNvPr id="15" name="그룹 14">
            <a:extLst>
              <a:ext uri="{FF2B5EF4-FFF2-40B4-BE49-F238E27FC236}">
                <a16:creationId xmlns:a16="http://schemas.microsoft.com/office/drawing/2014/main" id="{10797AAF-100E-4AE4-A8C5-9714D3B232DA}"/>
              </a:ext>
            </a:extLst>
          </p:cNvPr>
          <p:cNvGrpSpPr/>
          <p:nvPr/>
        </p:nvGrpSpPr>
        <p:grpSpPr>
          <a:xfrm>
            <a:off x="5696398" y="1628800"/>
            <a:ext cx="2459334" cy="215444"/>
            <a:chOff x="1321055" y="1881972"/>
            <a:chExt cx="2459334" cy="215444"/>
          </a:xfrm>
        </p:grpSpPr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40FB992A-2CC6-45C3-BBFF-C27211F67FC9}"/>
                </a:ext>
              </a:extLst>
            </p:cNvPr>
            <p:cNvSpPr txBox="1"/>
            <p:nvPr/>
          </p:nvSpPr>
          <p:spPr>
            <a:xfrm>
              <a:off x="1321055" y="1881972"/>
              <a:ext cx="67364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Site</a:t>
              </a:r>
              <a:r>
                <a:rPr lang="ko-KR" altLang="en-US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명</a:t>
              </a:r>
              <a:r>
                <a:rPr lang="ko-KR" altLang="en-US" sz="8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en-US" altLang="ko-KR" sz="8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: </a:t>
              </a:r>
              <a:endParaRPr lang="ko-KR" altLang="en-US" sz="8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5A380CA-F55B-4A43-9D69-8C8EC7AC9661}"/>
                </a:ext>
              </a:extLst>
            </p:cNvPr>
            <p:cNvSpPr txBox="1"/>
            <p:nvPr/>
          </p:nvSpPr>
          <p:spPr>
            <a:xfrm>
              <a:off x="2564449" y="1881972"/>
              <a:ext cx="68674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Site</a:t>
              </a:r>
              <a:r>
                <a:rPr lang="ko-KR" altLang="en-US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ID</a:t>
              </a:r>
              <a:r>
                <a:rPr lang="ko-KR" altLang="en-US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en-US" altLang="ko-KR" sz="8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:</a:t>
              </a:r>
              <a:endParaRPr lang="ko-KR" altLang="en-US" sz="8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B63765F0-D975-4588-9583-7826CE0974A6}"/>
                </a:ext>
              </a:extLst>
            </p:cNvPr>
            <p:cNvSpPr txBox="1"/>
            <p:nvPr/>
          </p:nvSpPr>
          <p:spPr>
            <a:xfrm>
              <a:off x="1856656" y="1881972"/>
              <a:ext cx="892935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제일화성</a:t>
              </a:r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DB9567AB-DD31-42F1-902D-76BEBD85D850}"/>
                </a:ext>
              </a:extLst>
            </p:cNvPr>
            <p:cNvSpPr txBox="1"/>
            <p:nvPr/>
          </p:nvSpPr>
          <p:spPr>
            <a:xfrm>
              <a:off x="3080792" y="1881972"/>
              <a:ext cx="69959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8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10037202</a:t>
              </a:r>
              <a:endParaRPr lang="ko-KR" altLang="en-US" sz="8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51" name="말풍선: 모서리가 둥근 사각형 50">
            <a:extLst>
              <a:ext uri="{FF2B5EF4-FFF2-40B4-BE49-F238E27FC236}">
                <a16:creationId xmlns:a16="http://schemas.microsoft.com/office/drawing/2014/main" id="{39BCF7D5-402B-47EE-AE35-5CBF9ACB3DE6}"/>
              </a:ext>
            </a:extLst>
          </p:cNvPr>
          <p:cNvSpPr/>
          <p:nvPr/>
        </p:nvSpPr>
        <p:spPr>
          <a:xfrm>
            <a:off x="643016" y="5058888"/>
            <a:ext cx="1645688" cy="517793"/>
          </a:xfrm>
          <a:prstGeom prst="wedgeRoundRectCallout">
            <a:avLst>
              <a:gd name="adj1" fmla="val -31973"/>
              <a:gd name="adj2" fmla="val -72860"/>
              <a:gd name="adj3" fmla="val 16667"/>
            </a:avLst>
          </a:prstGeom>
          <a:ln>
            <a:solidFill>
              <a:srgbClr val="FF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eaLnBrk="0" fontAlgn="base" hangingPunct="0">
              <a:spcBef>
                <a:spcPct val="20000"/>
              </a:spcBef>
              <a:spcAft>
                <a:spcPct val="0"/>
              </a:spcAft>
            </a:pPr>
            <a:r>
              <a:rPr kumimoji="1"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  <a:sym typeface="Gill Sans"/>
              </a:rPr>
              <a:t>- </a:t>
            </a:r>
            <a:r>
              <a:rPr kumimoji="1"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  <a:sym typeface="Gill Sans"/>
              </a:rPr>
              <a:t>장치 </a:t>
            </a:r>
            <a:r>
              <a:rPr kumimoji="1"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  <a:sym typeface="Gill Sans"/>
              </a:rPr>
              <a:t>ID </a:t>
            </a:r>
            <a:r>
              <a:rPr kumimoji="1"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  <a:sym typeface="Gill Sans"/>
              </a:rPr>
              <a:t>추가 필요</a:t>
            </a:r>
            <a:endParaRPr kumimoji="1" lang="en-US" altLang="ko-KR" sz="1000" dirty="0">
              <a:latin typeface="맑은 고딕" panose="020B0503020000020004" pitchFamily="50" charset="-127"/>
              <a:ea typeface="맑은 고딕" panose="020B0503020000020004" pitchFamily="50" charset="-127"/>
              <a:cs typeface="Arial" pitchFamily="34" charset="0"/>
              <a:sym typeface="Gill Sans"/>
            </a:endParaRPr>
          </a:p>
          <a:p>
            <a:pPr lvl="0" eaLnBrk="0" fontAlgn="base" hangingPunct="0">
              <a:spcBef>
                <a:spcPct val="20000"/>
              </a:spcBef>
              <a:spcAft>
                <a:spcPct val="0"/>
              </a:spcAft>
            </a:pPr>
            <a:r>
              <a:rPr kumimoji="1"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  <a:sym typeface="Gill Sans"/>
              </a:rPr>
              <a:t>- </a:t>
            </a:r>
            <a:r>
              <a:rPr kumimoji="1"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  <a:sym typeface="Gill Sans"/>
              </a:rPr>
              <a:t>충</a:t>
            </a:r>
            <a:r>
              <a:rPr kumimoji="1"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  <a:sym typeface="Gill Sans"/>
              </a:rPr>
              <a:t>/</a:t>
            </a:r>
            <a:r>
              <a:rPr kumimoji="1" lang="ko-KR" altLang="en-US" sz="1000" dirty="0" err="1"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  <a:sym typeface="Gill Sans"/>
              </a:rPr>
              <a:t>방전량</a:t>
            </a:r>
            <a:r>
              <a:rPr kumimoji="1"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  <a:sym typeface="Gill Sans"/>
              </a:rPr>
              <a:t>, </a:t>
            </a:r>
            <a:r>
              <a:rPr kumimoji="1"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  <a:sym typeface="Gill Sans"/>
              </a:rPr>
              <a:t>전압</a:t>
            </a:r>
            <a:r>
              <a:rPr kumimoji="1"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  <a:sym typeface="Gill Sans"/>
              </a:rPr>
              <a:t>, </a:t>
            </a:r>
            <a:r>
              <a:rPr kumimoji="1"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  <a:sym typeface="Gill Sans"/>
              </a:rPr>
              <a:t>전류 등의 값은 제거</a:t>
            </a:r>
            <a:endParaRPr kumimoji="1" lang="en-US" altLang="ko-KR" sz="1000" dirty="0">
              <a:latin typeface="맑은 고딕" panose="020B0503020000020004" pitchFamily="50" charset="-127"/>
              <a:ea typeface="맑은 고딕" panose="020B0503020000020004" pitchFamily="50" charset="-127"/>
              <a:cs typeface="Arial" pitchFamily="34" charset="0"/>
              <a:sym typeface="Gill Sans"/>
            </a:endParaRPr>
          </a:p>
        </p:txBody>
      </p:sp>
      <p:grpSp>
        <p:nvGrpSpPr>
          <p:cNvPr id="16" name="그룹 15">
            <a:extLst>
              <a:ext uri="{FF2B5EF4-FFF2-40B4-BE49-F238E27FC236}">
                <a16:creationId xmlns:a16="http://schemas.microsoft.com/office/drawing/2014/main" id="{8BAFFCFA-A2C3-492D-A787-03E3E962AFE4}"/>
              </a:ext>
            </a:extLst>
          </p:cNvPr>
          <p:cNvGrpSpPr/>
          <p:nvPr/>
        </p:nvGrpSpPr>
        <p:grpSpPr>
          <a:xfrm>
            <a:off x="1504069" y="1540215"/>
            <a:ext cx="1550785" cy="249549"/>
            <a:chOff x="2397055" y="5156251"/>
            <a:chExt cx="1550785" cy="249549"/>
          </a:xfrm>
        </p:grpSpPr>
        <p:sp>
          <p:nvSpPr>
            <p:cNvPr id="52" name="직사각형 51">
              <a:extLst>
                <a:ext uri="{FF2B5EF4-FFF2-40B4-BE49-F238E27FC236}">
                  <a16:creationId xmlns:a16="http://schemas.microsoft.com/office/drawing/2014/main" id="{D5483CB7-CC12-4102-BF3E-4F25E75135EB}"/>
                </a:ext>
              </a:extLst>
            </p:cNvPr>
            <p:cNvSpPr/>
            <p:nvPr/>
          </p:nvSpPr>
          <p:spPr>
            <a:xfrm>
              <a:off x="2397055" y="5156251"/>
              <a:ext cx="1262753" cy="24954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/>
            <a:p>
              <a:pPr algn="ctr">
                <a:lnSpc>
                  <a:spcPct val="150000"/>
                </a:lnSpc>
              </a:pPr>
              <a:r>
                <a:rPr lang="ko-KR" altLang="en-US" sz="900" b="1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제일화성</a:t>
              </a:r>
            </a:p>
          </p:txBody>
        </p:sp>
        <p:sp>
          <p:nvSpPr>
            <p:cNvPr id="53" name="직사각형 52">
              <a:extLst>
                <a:ext uri="{FF2B5EF4-FFF2-40B4-BE49-F238E27FC236}">
                  <a16:creationId xmlns:a16="http://schemas.microsoft.com/office/drawing/2014/main" id="{55274408-F201-45C2-A7FB-653C4DB0852C}"/>
                </a:ext>
              </a:extLst>
            </p:cNvPr>
            <p:cNvSpPr/>
            <p:nvPr/>
          </p:nvSpPr>
          <p:spPr>
            <a:xfrm>
              <a:off x="3659808" y="5156251"/>
              <a:ext cx="288032" cy="249549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ct val="150000"/>
                </a:lnSpc>
              </a:pPr>
              <a:r>
                <a:rPr lang="ko-KR" altLang="en-US" sz="9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▼</a:t>
              </a:r>
            </a:p>
          </p:txBody>
        </p:sp>
      </p:grpSp>
      <p:sp>
        <p:nvSpPr>
          <p:cNvPr id="227" name="타원형 설명선 226"/>
          <p:cNvSpPr/>
          <p:nvPr/>
        </p:nvSpPr>
        <p:spPr>
          <a:xfrm>
            <a:off x="5466793" y="1482125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4" name="타원형 설명선 243"/>
          <p:cNvSpPr/>
          <p:nvPr/>
        </p:nvSpPr>
        <p:spPr>
          <a:xfrm>
            <a:off x="5150849" y="1719858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5" name="타원형 설명선 244"/>
          <p:cNvSpPr/>
          <p:nvPr/>
        </p:nvSpPr>
        <p:spPr>
          <a:xfrm>
            <a:off x="242464" y="1736244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3" name="타원형 설명선 225">
            <a:extLst>
              <a:ext uri="{FF2B5EF4-FFF2-40B4-BE49-F238E27FC236}">
                <a16:creationId xmlns:a16="http://schemas.microsoft.com/office/drawing/2014/main" id="{93402A8C-F86A-4207-9226-F02BE6AB6E19}"/>
              </a:ext>
            </a:extLst>
          </p:cNvPr>
          <p:cNvSpPr/>
          <p:nvPr/>
        </p:nvSpPr>
        <p:spPr>
          <a:xfrm>
            <a:off x="1269086" y="1379760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22" name="직선 연결선 21">
            <a:extLst>
              <a:ext uri="{FF2B5EF4-FFF2-40B4-BE49-F238E27FC236}">
                <a16:creationId xmlns:a16="http://schemas.microsoft.com/office/drawing/2014/main" id="{B47E1698-449E-4AE1-A781-1980A6A27A42}"/>
              </a:ext>
            </a:extLst>
          </p:cNvPr>
          <p:cNvCxnSpPr/>
          <p:nvPr/>
        </p:nvCxnSpPr>
        <p:spPr>
          <a:xfrm>
            <a:off x="5313040" y="1952244"/>
            <a:ext cx="0" cy="133274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직선 연결선 56">
            <a:extLst>
              <a:ext uri="{FF2B5EF4-FFF2-40B4-BE49-F238E27FC236}">
                <a16:creationId xmlns:a16="http://schemas.microsoft.com/office/drawing/2014/main" id="{D371AC65-B9F8-48D0-B3A1-8EEF0156D66C}"/>
              </a:ext>
            </a:extLst>
          </p:cNvPr>
          <p:cNvCxnSpPr>
            <a:cxnSpLocks/>
          </p:cNvCxnSpPr>
          <p:nvPr/>
        </p:nvCxnSpPr>
        <p:spPr>
          <a:xfrm>
            <a:off x="5312564" y="3570685"/>
            <a:ext cx="0" cy="133274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028" name="Picture 4" descr="ì£¼ìì ëí ì´ë¯¸ì§ ê²ìê²°ê³¼">
            <a:extLst>
              <a:ext uri="{FF2B5EF4-FFF2-40B4-BE49-F238E27FC236}">
                <a16:creationId xmlns:a16="http://schemas.microsoft.com/office/drawing/2014/main" id="{4DC270B1-F3B3-4A15-A20A-03BFC989B21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74849" y="1978792"/>
            <a:ext cx="287000" cy="252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30" name="Picture 6" descr="ì£¼ìì ëí ì´ë¯¸ì§ ê²ìê²°ê³¼">
            <a:extLst>
              <a:ext uri="{FF2B5EF4-FFF2-40B4-BE49-F238E27FC236}">
                <a16:creationId xmlns:a16="http://schemas.microsoft.com/office/drawing/2014/main" id="{11BC5DD0-5142-4543-8780-CA40878A00D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910487" y="1978943"/>
            <a:ext cx="275100" cy="252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64" name="TextBox 63">
            <a:extLst>
              <a:ext uri="{FF2B5EF4-FFF2-40B4-BE49-F238E27FC236}">
                <a16:creationId xmlns:a16="http://schemas.microsoft.com/office/drawing/2014/main" id="{4CABEF87-2AE6-421B-9455-B79D8E3919D5}"/>
              </a:ext>
            </a:extLst>
          </p:cNvPr>
          <p:cNvSpPr txBox="1"/>
          <p:nvPr/>
        </p:nvSpPr>
        <p:spPr>
          <a:xfrm>
            <a:off x="5877298" y="2009581"/>
            <a:ext cx="875902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비상 </a:t>
            </a:r>
            <a:r>
              <a:rPr lang="en-US" altLang="ko-KR" sz="9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(0)</a:t>
            </a:r>
            <a:endParaRPr lang="ko-KR" altLang="en-US" sz="90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5" name="TextBox 64">
            <a:extLst>
              <a:ext uri="{FF2B5EF4-FFF2-40B4-BE49-F238E27FC236}">
                <a16:creationId xmlns:a16="http://schemas.microsoft.com/office/drawing/2014/main" id="{B70A39D6-76BF-49E1-B72D-7B854226AF2A}"/>
              </a:ext>
            </a:extLst>
          </p:cNvPr>
          <p:cNvSpPr txBox="1"/>
          <p:nvPr/>
        </p:nvSpPr>
        <p:spPr>
          <a:xfrm>
            <a:off x="7205953" y="2006843"/>
            <a:ext cx="875902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rgbClr val="FF9933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주의 </a:t>
            </a:r>
            <a:r>
              <a:rPr lang="en-US" altLang="ko-KR" sz="900" dirty="0">
                <a:solidFill>
                  <a:srgbClr val="FF9933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(1)</a:t>
            </a:r>
            <a:endParaRPr lang="ko-KR" altLang="en-US" sz="900" dirty="0">
              <a:solidFill>
                <a:srgbClr val="FF9933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6" name="TextBox 65">
            <a:extLst>
              <a:ext uri="{FF2B5EF4-FFF2-40B4-BE49-F238E27FC236}">
                <a16:creationId xmlns:a16="http://schemas.microsoft.com/office/drawing/2014/main" id="{1F509F9E-F514-4692-BE9F-14936611C9DA}"/>
              </a:ext>
            </a:extLst>
          </p:cNvPr>
          <p:cNvSpPr txBox="1"/>
          <p:nvPr/>
        </p:nvSpPr>
        <p:spPr>
          <a:xfrm>
            <a:off x="7082630" y="2309868"/>
            <a:ext cx="658983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BMS_1</a:t>
            </a:r>
            <a:endParaRPr lang="ko-KR" altLang="en-US" sz="900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67" name="직선 연결선 66">
            <a:extLst>
              <a:ext uri="{FF2B5EF4-FFF2-40B4-BE49-F238E27FC236}">
                <a16:creationId xmlns:a16="http://schemas.microsoft.com/office/drawing/2014/main" id="{A0BCC7DB-4489-4F12-B3E3-5B2520A54454}"/>
              </a:ext>
            </a:extLst>
          </p:cNvPr>
          <p:cNvCxnSpPr/>
          <p:nvPr/>
        </p:nvCxnSpPr>
        <p:spPr>
          <a:xfrm>
            <a:off x="5312564" y="1952244"/>
            <a:ext cx="0" cy="133274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8" name="직선 연결선 67">
            <a:extLst>
              <a:ext uri="{FF2B5EF4-FFF2-40B4-BE49-F238E27FC236}">
                <a16:creationId xmlns:a16="http://schemas.microsoft.com/office/drawing/2014/main" id="{65363BFB-1625-4F20-8FE0-24B7088DB2D9}"/>
              </a:ext>
            </a:extLst>
          </p:cNvPr>
          <p:cNvCxnSpPr/>
          <p:nvPr/>
        </p:nvCxnSpPr>
        <p:spPr>
          <a:xfrm>
            <a:off x="6678466" y="1952244"/>
            <a:ext cx="0" cy="133274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7B03489E-56E0-47CE-9F36-3778B7711E42}"/>
              </a:ext>
            </a:extLst>
          </p:cNvPr>
          <p:cNvCxnSpPr>
            <a:cxnSpLocks/>
          </p:cNvCxnSpPr>
          <p:nvPr/>
        </p:nvCxnSpPr>
        <p:spPr>
          <a:xfrm>
            <a:off x="6678466" y="3570685"/>
            <a:ext cx="0" cy="133274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70" name="Picture 4" descr="ì£¼ìì ëí ì´ë¯¸ì§ ê²ìê²°ê³¼">
            <a:extLst>
              <a:ext uri="{FF2B5EF4-FFF2-40B4-BE49-F238E27FC236}">
                <a16:creationId xmlns:a16="http://schemas.microsoft.com/office/drawing/2014/main" id="{584CA59F-1288-4545-905A-A5FCDBAC566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73759" y="3592111"/>
            <a:ext cx="287000" cy="252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1" name="Picture 6" descr="ì£¼ìì ëí ì´ë¯¸ì§ ê²ìê²°ê³¼">
            <a:extLst>
              <a:ext uri="{FF2B5EF4-FFF2-40B4-BE49-F238E27FC236}">
                <a16:creationId xmlns:a16="http://schemas.microsoft.com/office/drawing/2014/main" id="{16AF1F1F-A741-4CB6-A12A-FADEF646D21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909397" y="3592262"/>
            <a:ext cx="275100" cy="252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2" name="TextBox 71">
            <a:extLst>
              <a:ext uri="{FF2B5EF4-FFF2-40B4-BE49-F238E27FC236}">
                <a16:creationId xmlns:a16="http://schemas.microsoft.com/office/drawing/2014/main" id="{65CC9FBA-8100-46A8-9E13-7F966EF6AA55}"/>
              </a:ext>
            </a:extLst>
          </p:cNvPr>
          <p:cNvSpPr txBox="1"/>
          <p:nvPr/>
        </p:nvSpPr>
        <p:spPr>
          <a:xfrm>
            <a:off x="5876208" y="3622900"/>
            <a:ext cx="875902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비상 </a:t>
            </a:r>
            <a:r>
              <a:rPr lang="en-US" altLang="ko-KR" sz="9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(1)</a:t>
            </a:r>
            <a:endParaRPr lang="ko-KR" altLang="en-US" sz="90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3" name="TextBox 72">
            <a:extLst>
              <a:ext uri="{FF2B5EF4-FFF2-40B4-BE49-F238E27FC236}">
                <a16:creationId xmlns:a16="http://schemas.microsoft.com/office/drawing/2014/main" id="{2A0D9DE2-2676-4412-AD46-54B701511313}"/>
              </a:ext>
            </a:extLst>
          </p:cNvPr>
          <p:cNvSpPr txBox="1"/>
          <p:nvPr/>
        </p:nvSpPr>
        <p:spPr>
          <a:xfrm>
            <a:off x="7204863" y="3620162"/>
            <a:ext cx="875902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rgbClr val="FF9933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주의 </a:t>
            </a:r>
            <a:r>
              <a:rPr lang="en-US" altLang="ko-KR" sz="900" dirty="0">
                <a:solidFill>
                  <a:srgbClr val="FF9933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(1)</a:t>
            </a:r>
            <a:endParaRPr lang="ko-KR" altLang="en-US" sz="900" dirty="0">
              <a:solidFill>
                <a:srgbClr val="FF9933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3EAD332C-B934-4375-9605-9E579AD07068}"/>
              </a:ext>
            </a:extLst>
          </p:cNvPr>
          <p:cNvSpPr txBox="1"/>
          <p:nvPr/>
        </p:nvSpPr>
        <p:spPr>
          <a:xfrm>
            <a:off x="7076013" y="3878653"/>
            <a:ext cx="658983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BMS_2</a:t>
            </a:r>
            <a:endParaRPr lang="ko-KR" altLang="en-US" sz="900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CE478706-0656-40A6-A347-7E3ABA5F56DE}"/>
              </a:ext>
            </a:extLst>
          </p:cNvPr>
          <p:cNvSpPr txBox="1"/>
          <p:nvPr/>
        </p:nvSpPr>
        <p:spPr>
          <a:xfrm>
            <a:off x="5820710" y="3880258"/>
            <a:ext cx="658983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PCS_2</a:t>
            </a:r>
            <a:endParaRPr lang="ko-KR" altLang="en-US" sz="900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6" name="말풍선: 모서리가 둥근 사각형 75">
            <a:extLst>
              <a:ext uri="{FF2B5EF4-FFF2-40B4-BE49-F238E27FC236}">
                <a16:creationId xmlns:a16="http://schemas.microsoft.com/office/drawing/2014/main" id="{144634E7-CFE1-4585-A6D7-4C26EC2828A1}"/>
              </a:ext>
            </a:extLst>
          </p:cNvPr>
          <p:cNvSpPr/>
          <p:nvPr/>
        </p:nvSpPr>
        <p:spPr>
          <a:xfrm>
            <a:off x="3929721" y="4942120"/>
            <a:ext cx="1907063" cy="517793"/>
          </a:xfrm>
          <a:prstGeom prst="wedgeRoundRectCallout">
            <a:avLst>
              <a:gd name="adj1" fmla="val -31973"/>
              <a:gd name="adj2" fmla="val -72860"/>
              <a:gd name="adj3" fmla="val 16667"/>
            </a:avLst>
          </a:prstGeom>
          <a:ln>
            <a:solidFill>
              <a:srgbClr val="FF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eaLnBrk="0" fontAlgn="base" hangingPunct="0">
              <a:spcBef>
                <a:spcPct val="20000"/>
              </a:spcBef>
              <a:spcAft>
                <a:spcPct val="0"/>
              </a:spcAft>
            </a:pPr>
            <a:r>
              <a:rPr kumimoji="1"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  <a:sym typeface="Gill Sans"/>
              </a:rPr>
              <a:t>- </a:t>
            </a:r>
            <a:r>
              <a:rPr kumimoji="1"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  <a:sym typeface="Gill Sans"/>
              </a:rPr>
              <a:t>장치가 많아질 경우</a:t>
            </a:r>
            <a:endParaRPr kumimoji="1" lang="en-US" altLang="ko-KR" sz="1000" dirty="0">
              <a:latin typeface="맑은 고딕" panose="020B0503020000020004" pitchFamily="50" charset="-127"/>
              <a:ea typeface="맑은 고딕" panose="020B0503020000020004" pitchFamily="50" charset="-127"/>
              <a:cs typeface="Arial" pitchFamily="34" charset="0"/>
              <a:sym typeface="Gill Sans"/>
            </a:endParaRPr>
          </a:p>
          <a:p>
            <a:pPr lvl="0" eaLnBrk="0" fontAlgn="base" hangingPunct="0">
              <a:spcBef>
                <a:spcPct val="20000"/>
              </a:spcBef>
              <a:spcAft>
                <a:spcPct val="0"/>
              </a:spcAft>
            </a:pPr>
            <a:r>
              <a:rPr kumimoji="1"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  <a:sym typeface="Gill Sans"/>
              </a:rPr>
              <a:t>&lt; &gt; </a:t>
            </a:r>
            <a:r>
              <a:rPr kumimoji="1"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  <a:sym typeface="Gill Sans"/>
              </a:rPr>
              <a:t>아이콘을 좌</a:t>
            </a:r>
            <a:r>
              <a:rPr kumimoji="1"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  <a:sym typeface="Gill Sans"/>
              </a:rPr>
              <a:t>, </a:t>
            </a:r>
            <a:r>
              <a:rPr kumimoji="1"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  <a:sym typeface="Gill Sans"/>
              </a:rPr>
              <a:t>우에 생성하여 </a:t>
            </a:r>
            <a:r>
              <a:rPr kumimoji="1" lang="ko-KR" altLang="en-US" sz="1000" dirty="0" err="1"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  <a:sym typeface="Gill Sans"/>
              </a:rPr>
              <a:t>이동가능하도록</a:t>
            </a:r>
            <a:r>
              <a:rPr kumimoji="1"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  <a:sym typeface="Gill Sans"/>
              </a:rPr>
              <a:t> 처리</a:t>
            </a:r>
            <a:endParaRPr kumimoji="1" lang="en-US" altLang="ko-KR" sz="1000" dirty="0">
              <a:latin typeface="맑은 고딕" panose="020B0503020000020004" pitchFamily="50" charset="-127"/>
              <a:ea typeface="맑은 고딕" panose="020B0503020000020004" pitchFamily="50" charset="-127"/>
              <a:cs typeface="Arial" pitchFamily="34" charset="0"/>
              <a:sym typeface="Gill Sans"/>
            </a:endParaRPr>
          </a:p>
        </p:txBody>
      </p:sp>
      <p:sp>
        <p:nvSpPr>
          <p:cNvPr id="77" name="타원형 설명선 243">
            <a:extLst>
              <a:ext uri="{FF2B5EF4-FFF2-40B4-BE49-F238E27FC236}">
                <a16:creationId xmlns:a16="http://schemas.microsoft.com/office/drawing/2014/main" id="{07D81748-D366-49DB-8673-099CC7324394}"/>
              </a:ext>
            </a:extLst>
          </p:cNvPr>
          <p:cNvSpPr/>
          <p:nvPr/>
        </p:nvSpPr>
        <p:spPr>
          <a:xfrm>
            <a:off x="6846408" y="4949482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975823413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9104309" y="6645875"/>
            <a:ext cx="140029" cy="138499"/>
          </a:xfrm>
        </p:spPr>
        <p:txBody>
          <a:bodyPr/>
          <a:lstStyle/>
          <a:p>
            <a:pPr>
              <a:defRPr/>
            </a:pPr>
            <a:fld id="{9E41B634-5682-4388-99E7-FE44DCFD254B}" type="slidenum">
              <a:rPr lang="ko-KR" altLang="en-US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>
                <a:defRPr/>
              </a:pPr>
              <a:t>39</a:t>
            </a:fld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텍스트 개체 틀 8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Site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 &gt;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장치 모니터링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&gt;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장치 그룹 현황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&gt;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장치 그룹 추가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/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제거</a:t>
            </a:r>
          </a:p>
        </p:txBody>
      </p:sp>
      <p:sp>
        <p:nvSpPr>
          <p:cNvPr id="10" name="텍스트 개체 틀 9"/>
          <p:cNvSpPr>
            <a:spLocks noGrp="1"/>
          </p:cNvSpPr>
          <p:nvPr>
            <p:ph type="body" sz="quarter" idx="10"/>
          </p:nvPr>
        </p:nvSpPr>
        <p:spPr>
          <a:xfrm>
            <a:off x="6023595" y="44624"/>
            <a:ext cx="1233661" cy="196974"/>
          </a:xfrm>
        </p:spPr>
        <p:txBody>
          <a:bodyPr/>
          <a:lstStyle/>
          <a:p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장치 그룹 추가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/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제거</a:t>
            </a:r>
          </a:p>
        </p:txBody>
      </p:sp>
      <p:graphicFrame>
        <p:nvGraphicFramePr>
          <p:cNvPr id="102" name="Group 15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74452104"/>
              </p:ext>
            </p:extLst>
          </p:nvPr>
        </p:nvGraphicFramePr>
        <p:xfrm>
          <a:off x="8469313" y="276225"/>
          <a:ext cx="1404000" cy="6207552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3002"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Description</a:t>
                      </a: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Site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선택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1)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콤보박스에서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Site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를 선택하면 하단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‘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장치그룹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’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과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‘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장치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’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리스트에 해당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Site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의 현황이 반영된다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.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2)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텍스트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에디트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창에 직접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Site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명을 입력하고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엔터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키를 누르면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1)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과 같이 동작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입력된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Site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가 존재하지 않을 경우 안내문구 출력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Wingdings" panose="05000000000000000000" pitchFamily="2" charset="2"/>
                        </a:rPr>
                        <a:t>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“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입력하신 사이트를 찾을 수 없습니다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.”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2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Site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內 장치 그룹 선택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1)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현재 추가된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Site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內 장치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그룹 선택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2)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위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1-2)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항목과 동일하게 동작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3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장치그룹 편집</a:t>
                      </a:r>
                      <a:endParaRPr lang="en-US" altLang="ko-KR" sz="800" b="1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Site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內 장치 그룹의 추가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/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삭제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/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수정이 가능한 팝업을 출력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*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다음 페이지 참고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4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그룹 內 장치 현황</a:t>
                      </a:r>
                      <a:endParaRPr lang="en-US" altLang="ko-KR" sz="800" b="1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현재 추가된 그룹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內 장치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리스트 표시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5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사이트 內 장치 현황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</a:t>
                      </a: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Site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內 장치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리스트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6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장치 추가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/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삭제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Wingdings" panose="05000000000000000000" pitchFamily="2" charset="2"/>
                        </a:rPr>
                        <a:t>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Wingdings" panose="05000000000000000000" pitchFamily="2" charset="2"/>
                        </a:rPr>
                        <a:t>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Wingdings" panose="05000000000000000000" pitchFamily="2" charset="2"/>
                        </a:rPr>
                        <a:t>버튼을 사용하여 각 리스트 內에 포함된 장치를 추가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Wingdings" panose="05000000000000000000" pitchFamily="2" charset="2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Wingdings" panose="05000000000000000000" pitchFamily="2" charset="2"/>
                        </a:rPr>
                        <a:t>삭제 한다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Wingdings" panose="05000000000000000000" pitchFamily="2" charset="2"/>
                        </a:rPr>
                        <a:t>.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769723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7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적용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모든 변경사항을 적용하고 이전 페이지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(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장치 그룹 현황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)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으로 이동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9020374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8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취소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모든 변경사항을 적용하지 않고 이전 페이지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(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장치 그룹 현황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)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으로 이동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6286058"/>
                  </a:ext>
                </a:extLst>
              </a:tr>
            </a:tbl>
          </a:graphicData>
        </a:graphic>
      </p:graphicFrame>
      <p:sp>
        <p:nvSpPr>
          <p:cNvPr id="78" name="TextBox 77"/>
          <p:cNvSpPr txBox="1"/>
          <p:nvPr/>
        </p:nvSpPr>
        <p:spPr>
          <a:xfrm>
            <a:off x="7121707" y="21349"/>
            <a:ext cx="567597" cy="2308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화면</a:t>
            </a:r>
            <a:r>
              <a:rPr lang="en-US" altLang="ko-KR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ID</a:t>
            </a:r>
            <a:endParaRPr lang="ko-KR" altLang="en-US" sz="9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7689304" y="43659"/>
            <a:ext cx="792088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itchFamily="50" charset="-127"/>
                <a:ea typeface="맑은 고딕" pitchFamily="50" charset="-127"/>
              </a:rPr>
              <a:t>ewpsp_scr_022</a:t>
            </a:r>
            <a:endParaRPr lang="ko-KR" altLang="en-US" sz="700" dirty="0">
              <a:latin typeface="맑은 고딕" pitchFamily="50" charset="-127"/>
              <a:ea typeface="맑은 고딕" pitchFamily="50" charset="-127"/>
            </a:endParaRPr>
          </a:p>
        </p:txBody>
      </p:sp>
      <p:pic>
        <p:nvPicPr>
          <p:cNvPr id="18" name="Picture 3">
            <a:extLst>
              <a:ext uri="{FF2B5EF4-FFF2-40B4-BE49-F238E27FC236}">
                <a16:creationId xmlns:a16="http://schemas.microsoft.com/office/drawing/2014/main" id="{D14E8AEF-8EA8-4944-AE52-FF98A1FB783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463" y="764704"/>
            <a:ext cx="8208912" cy="5040559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  <a:extLst/>
        </p:spPr>
      </p:pic>
      <p:pic>
        <p:nvPicPr>
          <p:cNvPr id="19" name="Picture 2">
            <a:extLst>
              <a:ext uri="{FF2B5EF4-FFF2-40B4-BE49-F238E27FC236}">
                <a16:creationId xmlns:a16="http://schemas.microsoft.com/office/drawing/2014/main" id="{6FBB0165-03FF-4BBD-A158-8DEF923CF53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464" y="762442"/>
            <a:ext cx="8208912" cy="3487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20" name="직선 연결선 19">
            <a:extLst>
              <a:ext uri="{FF2B5EF4-FFF2-40B4-BE49-F238E27FC236}">
                <a16:creationId xmlns:a16="http://schemas.microsoft.com/office/drawing/2014/main" id="{37D07777-30AA-4506-9C18-6F3B4C7D943C}"/>
              </a:ext>
            </a:extLst>
          </p:cNvPr>
          <p:cNvCxnSpPr>
            <a:cxnSpLocks/>
          </p:cNvCxnSpPr>
          <p:nvPr/>
        </p:nvCxnSpPr>
        <p:spPr>
          <a:xfrm>
            <a:off x="128463" y="1124744"/>
            <a:ext cx="8208912" cy="0"/>
          </a:xfrm>
          <a:prstGeom prst="line">
            <a:avLst/>
          </a:prstGeom>
          <a:ln w="9525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5E84417E-CAA5-4FD3-BBB9-7CD5570EF571}"/>
              </a:ext>
            </a:extLst>
          </p:cNvPr>
          <p:cNvSpPr/>
          <p:nvPr/>
        </p:nvSpPr>
        <p:spPr>
          <a:xfrm>
            <a:off x="216314" y="1196752"/>
            <a:ext cx="2216405" cy="288032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>
              <a:lnSpc>
                <a:spcPct val="150000"/>
              </a:lnSpc>
            </a:pPr>
            <a:r>
              <a:rPr lang="ko-KR" altLang="en-US" sz="10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장치 그룹 추가</a:t>
            </a:r>
            <a:r>
              <a:rPr lang="en-US" altLang="ko-KR" sz="10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/</a:t>
            </a:r>
            <a:r>
              <a:rPr lang="ko-KR" altLang="en-US" sz="10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제거</a:t>
            </a:r>
          </a:p>
        </p:txBody>
      </p:sp>
      <p:pic>
        <p:nvPicPr>
          <p:cNvPr id="47" name="Picture 2" descr="ì¤ì ì ëí ì´ë¯¸ì§ ê²ìê²°ê³¼">
            <a:extLst>
              <a:ext uri="{FF2B5EF4-FFF2-40B4-BE49-F238E27FC236}">
                <a16:creationId xmlns:a16="http://schemas.microsoft.com/office/drawing/2014/main" id="{90A888AD-844A-4544-B02A-A77BC3397C7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05865" y="844086"/>
            <a:ext cx="198592" cy="19859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7" name="직사각형 106">
            <a:extLst>
              <a:ext uri="{FF2B5EF4-FFF2-40B4-BE49-F238E27FC236}">
                <a16:creationId xmlns:a16="http://schemas.microsoft.com/office/drawing/2014/main" id="{6FB85F2F-51DC-4017-8C5E-AD9462F439F6}"/>
              </a:ext>
            </a:extLst>
          </p:cNvPr>
          <p:cNvSpPr/>
          <p:nvPr/>
        </p:nvSpPr>
        <p:spPr>
          <a:xfrm>
            <a:off x="344488" y="1556792"/>
            <a:ext cx="7776864" cy="3197667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endParaRPr lang="ko-KR" altLang="en-US" sz="105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grpSp>
        <p:nvGrpSpPr>
          <p:cNvPr id="125" name="그룹 124">
            <a:extLst>
              <a:ext uri="{FF2B5EF4-FFF2-40B4-BE49-F238E27FC236}">
                <a16:creationId xmlns:a16="http://schemas.microsoft.com/office/drawing/2014/main" id="{30D1016A-13FB-4513-A8E9-706EE203BB52}"/>
              </a:ext>
            </a:extLst>
          </p:cNvPr>
          <p:cNvGrpSpPr/>
          <p:nvPr/>
        </p:nvGrpSpPr>
        <p:grpSpPr>
          <a:xfrm>
            <a:off x="3039178" y="5121796"/>
            <a:ext cx="2494046" cy="323428"/>
            <a:chOff x="3791228" y="5284908"/>
            <a:chExt cx="2630919" cy="360040"/>
          </a:xfrm>
        </p:grpSpPr>
        <p:sp>
          <p:nvSpPr>
            <p:cNvPr id="126" name="직사각형 125">
              <a:extLst>
                <a:ext uri="{FF2B5EF4-FFF2-40B4-BE49-F238E27FC236}">
                  <a16:creationId xmlns:a16="http://schemas.microsoft.com/office/drawing/2014/main" id="{7726E8D3-148F-4164-832A-268A34EC9F35}"/>
                </a:ext>
              </a:extLst>
            </p:cNvPr>
            <p:cNvSpPr/>
            <p:nvPr/>
          </p:nvSpPr>
          <p:spPr>
            <a:xfrm>
              <a:off x="3791228" y="5284908"/>
              <a:ext cx="1224136" cy="360040"/>
            </a:xfrm>
            <a:prstGeom prst="rect">
              <a:avLst/>
            </a:prstGeom>
            <a:solidFill>
              <a:srgbClr val="0099FF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 algn="ctr">
                <a:lnSpc>
                  <a:spcPct val="150000"/>
                </a:lnSpc>
              </a:pPr>
              <a:r>
                <a:rPr lang="ko-KR" altLang="en-US" sz="105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적용</a:t>
              </a:r>
            </a:p>
          </p:txBody>
        </p:sp>
        <p:sp>
          <p:nvSpPr>
            <p:cNvPr id="127" name="직사각형 126">
              <a:extLst>
                <a:ext uri="{FF2B5EF4-FFF2-40B4-BE49-F238E27FC236}">
                  <a16:creationId xmlns:a16="http://schemas.microsoft.com/office/drawing/2014/main" id="{3D9A0764-2FF1-44DF-A947-222307667FC1}"/>
                </a:ext>
              </a:extLst>
            </p:cNvPr>
            <p:cNvSpPr/>
            <p:nvPr/>
          </p:nvSpPr>
          <p:spPr>
            <a:xfrm>
              <a:off x="5198011" y="5284908"/>
              <a:ext cx="1224136" cy="36004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 algn="ctr">
                <a:lnSpc>
                  <a:spcPct val="150000"/>
                </a:lnSpc>
              </a:pPr>
              <a:r>
                <a:rPr lang="ko-KR" altLang="en-US" sz="1050" b="1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취소</a:t>
              </a:r>
            </a:p>
          </p:txBody>
        </p:sp>
      </p:grp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3F865AF4-D812-4E47-8A2C-BB70C9A7446E}"/>
              </a:ext>
            </a:extLst>
          </p:cNvPr>
          <p:cNvSpPr/>
          <p:nvPr/>
        </p:nvSpPr>
        <p:spPr>
          <a:xfrm>
            <a:off x="344488" y="1700808"/>
            <a:ext cx="850276" cy="323974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r">
              <a:lnSpc>
                <a:spcPct val="150000"/>
              </a:lnSpc>
            </a:pPr>
            <a:r>
              <a:rPr lang="ko-KR" altLang="en-US" sz="105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사이트 </a:t>
            </a: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F44E89D5-57EC-4427-A76C-DEC387D92F51}"/>
              </a:ext>
            </a:extLst>
          </p:cNvPr>
          <p:cNvSpPr/>
          <p:nvPr/>
        </p:nvSpPr>
        <p:spPr>
          <a:xfrm>
            <a:off x="1328683" y="1700808"/>
            <a:ext cx="2216695" cy="323974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105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롯데 정밀 화학</a:t>
            </a: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BE2D75D4-0BB3-4E93-856D-B663937405D5}"/>
              </a:ext>
            </a:extLst>
          </p:cNvPr>
          <p:cNvSpPr/>
          <p:nvPr/>
        </p:nvSpPr>
        <p:spPr>
          <a:xfrm>
            <a:off x="1078388" y="2407121"/>
            <a:ext cx="1440160" cy="323974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105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그룹에 포함된 장치</a:t>
            </a:r>
          </a:p>
        </p:txBody>
      </p:sp>
      <p:grpSp>
        <p:nvGrpSpPr>
          <p:cNvPr id="51" name="그룹 50">
            <a:extLst>
              <a:ext uri="{FF2B5EF4-FFF2-40B4-BE49-F238E27FC236}">
                <a16:creationId xmlns:a16="http://schemas.microsoft.com/office/drawing/2014/main" id="{7F805C03-852D-4E38-823B-7B260687800F}"/>
              </a:ext>
            </a:extLst>
          </p:cNvPr>
          <p:cNvGrpSpPr/>
          <p:nvPr/>
        </p:nvGrpSpPr>
        <p:grpSpPr>
          <a:xfrm>
            <a:off x="1088559" y="2731094"/>
            <a:ext cx="3290806" cy="1626713"/>
            <a:chOff x="1100657" y="3228816"/>
            <a:chExt cx="2668622" cy="1807807"/>
          </a:xfrm>
        </p:grpSpPr>
        <p:sp>
          <p:nvSpPr>
            <p:cNvPr id="52" name="직사각형 51">
              <a:extLst>
                <a:ext uri="{FF2B5EF4-FFF2-40B4-BE49-F238E27FC236}">
                  <a16:creationId xmlns:a16="http://schemas.microsoft.com/office/drawing/2014/main" id="{0B3E5012-7687-467A-9A40-176235875AE4}"/>
                </a:ext>
              </a:extLst>
            </p:cNvPr>
            <p:cNvSpPr/>
            <p:nvPr/>
          </p:nvSpPr>
          <p:spPr>
            <a:xfrm>
              <a:off x="1100657" y="3228817"/>
              <a:ext cx="2319215" cy="178435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>
                <a:lnSpc>
                  <a:spcPct val="200000"/>
                </a:lnSpc>
              </a:pPr>
              <a:r>
                <a:rPr lang="ko-KR" altLang="en-US" sz="1000" b="1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롯데</a:t>
              </a:r>
              <a:r>
                <a:rPr lang="en-US" altLang="ko-KR" sz="1000" b="1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_PCS_01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1000" b="1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롯데</a:t>
              </a:r>
              <a:r>
                <a:rPr lang="en-US" altLang="ko-KR" sz="1000" b="1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_PCS_02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1000" b="1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롯데</a:t>
              </a:r>
              <a:r>
                <a:rPr lang="en-US" altLang="ko-KR" sz="1000" b="1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_BMS_03</a:t>
              </a:r>
              <a:endParaRPr lang="ko-KR" altLang="en-US" sz="100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cxnSp>
          <p:nvCxnSpPr>
            <p:cNvPr id="53" name="직선 연결선 52">
              <a:extLst>
                <a:ext uri="{FF2B5EF4-FFF2-40B4-BE49-F238E27FC236}">
                  <a16:creationId xmlns:a16="http://schemas.microsoft.com/office/drawing/2014/main" id="{8ABDD246-FAC3-4FD7-AED1-015D2C7A4F9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115616" y="3633802"/>
              <a:ext cx="2160000" cy="1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1717978E-CB68-4667-B2C8-4A96593EA3C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115616" y="3973891"/>
              <a:ext cx="2160000" cy="1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56D50F60-0FF8-44E4-A909-A86EB5A7EEE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115616" y="4323930"/>
              <a:ext cx="2160000" cy="1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56" name="Picture 4" descr="ê´ë ¨ ì´ë¯¸ì§">
              <a:extLst>
                <a:ext uri="{FF2B5EF4-FFF2-40B4-BE49-F238E27FC236}">
                  <a16:creationId xmlns:a16="http://schemas.microsoft.com/office/drawing/2014/main" id="{6F44EBD6-67AB-4639-88A7-F21429C496F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02287" y="3228816"/>
              <a:ext cx="866992" cy="1807807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57" name="그룹 56">
            <a:extLst>
              <a:ext uri="{FF2B5EF4-FFF2-40B4-BE49-F238E27FC236}">
                <a16:creationId xmlns:a16="http://schemas.microsoft.com/office/drawing/2014/main" id="{A6EEDE16-7A2F-439E-A0EB-09D7BA5068B2}"/>
              </a:ext>
            </a:extLst>
          </p:cNvPr>
          <p:cNvGrpSpPr/>
          <p:nvPr/>
        </p:nvGrpSpPr>
        <p:grpSpPr>
          <a:xfrm>
            <a:off x="4800064" y="2715577"/>
            <a:ext cx="3213122" cy="1626713"/>
            <a:chOff x="5364088" y="3211572"/>
            <a:chExt cx="3183311" cy="1807807"/>
          </a:xfrm>
        </p:grpSpPr>
        <p:sp>
          <p:nvSpPr>
            <p:cNvPr id="58" name="직사각형 57">
              <a:extLst>
                <a:ext uri="{FF2B5EF4-FFF2-40B4-BE49-F238E27FC236}">
                  <a16:creationId xmlns:a16="http://schemas.microsoft.com/office/drawing/2014/main" id="{52821123-AFBB-4823-AEB1-DA07B26BB164}"/>
                </a:ext>
              </a:extLst>
            </p:cNvPr>
            <p:cNvSpPr/>
            <p:nvPr/>
          </p:nvSpPr>
          <p:spPr>
            <a:xfrm>
              <a:off x="5364088" y="3211573"/>
              <a:ext cx="2766515" cy="178435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>
                <a:lnSpc>
                  <a:spcPct val="200000"/>
                </a:lnSpc>
              </a:pPr>
              <a:r>
                <a:rPr lang="ko-KR" altLang="en-US" sz="1000" b="1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롯데</a:t>
              </a:r>
              <a:r>
                <a:rPr lang="en-US" altLang="ko-KR" sz="1000" b="1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_PCS_01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1000" b="1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롯데</a:t>
              </a:r>
              <a:r>
                <a:rPr lang="en-US" altLang="ko-KR" sz="1000" b="1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_PCS_02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1000" b="1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롯데</a:t>
              </a:r>
              <a:r>
                <a:rPr lang="en-US" altLang="ko-KR" sz="1000" b="1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_PCS_03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1000" b="1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롯데</a:t>
              </a:r>
              <a:r>
                <a:rPr lang="en-US" altLang="ko-KR" sz="1000" b="1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_BMS_01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1000" b="1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롯데</a:t>
              </a:r>
              <a:r>
                <a:rPr lang="en-US" altLang="ko-KR" sz="1000" b="1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_BMS_02</a:t>
              </a:r>
              <a:endParaRPr lang="en-US" altLang="ko-KR" sz="105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81BACF2B-3F89-430B-9BC1-726CA834F6C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381932" y="3590919"/>
              <a:ext cx="2576593" cy="1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CE1917E2-7952-415E-B1F7-43B1DC41AA5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381932" y="3950056"/>
              <a:ext cx="2576593" cy="1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EF693D65-E3B0-497B-91F7-D1286E253A6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381932" y="4285724"/>
              <a:ext cx="2576593" cy="1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62" name="Picture 4" descr="ê´ë ¨ ì´ë¯¸ì§">
              <a:extLst>
                <a:ext uri="{FF2B5EF4-FFF2-40B4-BE49-F238E27FC236}">
                  <a16:creationId xmlns:a16="http://schemas.microsoft.com/office/drawing/2014/main" id="{6E0D5C54-9FEC-44ED-8A61-00725E4E784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13193" y="3211572"/>
              <a:ext cx="1034206" cy="1807807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6CD9608D-1C2B-4A79-9E37-6F8B167FEC0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381932" y="4628236"/>
              <a:ext cx="2576593" cy="1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6" name="그룹 65">
            <a:extLst>
              <a:ext uri="{FF2B5EF4-FFF2-40B4-BE49-F238E27FC236}">
                <a16:creationId xmlns:a16="http://schemas.microsoft.com/office/drawing/2014/main" id="{C24B7912-C57E-4BAC-ADE4-FC75497AA8C6}"/>
              </a:ext>
            </a:extLst>
          </p:cNvPr>
          <p:cNvGrpSpPr/>
          <p:nvPr/>
        </p:nvGrpSpPr>
        <p:grpSpPr>
          <a:xfrm>
            <a:off x="4184292" y="3145423"/>
            <a:ext cx="393759" cy="745922"/>
            <a:chOff x="4437543" y="3456671"/>
            <a:chExt cx="423448" cy="828962"/>
          </a:xfrm>
        </p:grpSpPr>
        <p:pic>
          <p:nvPicPr>
            <p:cNvPr id="67" name="Picture 6" descr="white arrowì ëí ì´ë¯¸ì§ ê²ìê²°ê³¼">
              <a:extLst>
                <a:ext uri="{FF2B5EF4-FFF2-40B4-BE49-F238E27FC236}">
                  <a16:creationId xmlns:a16="http://schemas.microsoft.com/office/drawing/2014/main" id="{42F4033E-32DD-4EA0-B8B6-9FDBCAFE5E8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>
              <a:off x="4437544" y="3456671"/>
              <a:ext cx="423447" cy="423447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68" name="Picture 8" descr="white arrowì ëí ì´ë¯¸ì§ ê²ìê²°ê³¼">
              <a:extLst>
                <a:ext uri="{FF2B5EF4-FFF2-40B4-BE49-F238E27FC236}">
                  <a16:creationId xmlns:a16="http://schemas.microsoft.com/office/drawing/2014/main" id="{D4A218E6-1CBE-4834-B8A3-5D1653EFCDE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437543" y="3862185"/>
              <a:ext cx="423448" cy="42344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C3C75D86-456C-40F9-8DD5-C0EA33A6DFA9}"/>
              </a:ext>
            </a:extLst>
          </p:cNvPr>
          <p:cNvSpPr/>
          <p:nvPr/>
        </p:nvSpPr>
        <p:spPr>
          <a:xfrm>
            <a:off x="4750796" y="2408081"/>
            <a:ext cx="1138308" cy="323974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105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사이트 내 장치</a:t>
            </a:r>
          </a:p>
        </p:txBody>
      </p:sp>
      <p:sp>
        <p:nvSpPr>
          <p:cNvPr id="70" name="직사각형 69">
            <a:extLst>
              <a:ext uri="{FF2B5EF4-FFF2-40B4-BE49-F238E27FC236}">
                <a16:creationId xmlns:a16="http://schemas.microsoft.com/office/drawing/2014/main" id="{E7F3C013-B344-4F51-9EF0-D4AB977EE137}"/>
              </a:ext>
            </a:extLst>
          </p:cNvPr>
          <p:cNvSpPr/>
          <p:nvPr/>
        </p:nvSpPr>
        <p:spPr>
          <a:xfrm>
            <a:off x="3548692" y="1700808"/>
            <a:ext cx="334796" cy="323974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 anchorCtr="0"/>
          <a:lstStyle/>
          <a:p>
            <a:pPr algn="ctr">
              <a:lnSpc>
                <a:spcPct val="150000"/>
              </a:lnSpc>
            </a:pPr>
            <a:r>
              <a:rPr lang="ko-KR" altLang="en-US" sz="105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▼</a:t>
            </a:r>
          </a:p>
        </p:txBody>
      </p:sp>
      <p:sp>
        <p:nvSpPr>
          <p:cNvPr id="227" name="타원형 설명선 226"/>
          <p:cNvSpPr/>
          <p:nvPr/>
        </p:nvSpPr>
        <p:spPr>
          <a:xfrm>
            <a:off x="4038127" y="1583164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4" name="타원형 설명선 243"/>
          <p:cNvSpPr/>
          <p:nvPr/>
        </p:nvSpPr>
        <p:spPr>
          <a:xfrm>
            <a:off x="872559" y="2350994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6" name="타원형 설명선 245"/>
          <p:cNvSpPr/>
          <p:nvPr/>
        </p:nvSpPr>
        <p:spPr>
          <a:xfrm>
            <a:off x="4576827" y="2350994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7" name="타원형 설명선 246"/>
          <p:cNvSpPr/>
          <p:nvPr/>
        </p:nvSpPr>
        <p:spPr>
          <a:xfrm>
            <a:off x="4157598" y="4925538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8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66" name="타원형 설명선 265"/>
          <p:cNvSpPr/>
          <p:nvPr/>
        </p:nvSpPr>
        <p:spPr>
          <a:xfrm>
            <a:off x="2799240" y="4925538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7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3" name="타원형 설명선 225">
            <a:extLst>
              <a:ext uri="{FF2B5EF4-FFF2-40B4-BE49-F238E27FC236}">
                <a16:creationId xmlns:a16="http://schemas.microsoft.com/office/drawing/2014/main" id="{93402A8C-F86A-4207-9226-F02BE6AB6E19}"/>
              </a:ext>
            </a:extLst>
          </p:cNvPr>
          <p:cNvSpPr/>
          <p:nvPr/>
        </p:nvSpPr>
        <p:spPr>
          <a:xfrm>
            <a:off x="458958" y="1585659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3" name="말풍선: 모서리가 둥근 사각형 72">
            <a:extLst>
              <a:ext uri="{FF2B5EF4-FFF2-40B4-BE49-F238E27FC236}">
                <a16:creationId xmlns:a16="http://schemas.microsoft.com/office/drawing/2014/main" id="{F414FDFC-4E1D-4716-9AA1-B567A1EE790F}"/>
              </a:ext>
            </a:extLst>
          </p:cNvPr>
          <p:cNvSpPr/>
          <p:nvPr/>
        </p:nvSpPr>
        <p:spPr>
          <a:xfrm>
            <a:off x="1118058" y="4397680"/>
            <a:ext cx="2394782" cy="517793"/>
          </a:xfrm>
          <a:prstGeom prst="wedgeRoundRectCallout">
            <a:avLst>
              <a:gd name="adj1" fmla="val -32861"/>
              <a:gd name="adj2" fmla="val -75598"/>
              <a:gd name="adj3" fmla="val 16667"/>
            </a:avLst>
          </a:prstGeom>
          <a:ln>
            <a:solidFill>
              <a:srgbClr val="FF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eaLnBrk="0" fontAlgn="base" hangingPunct="0">
              <a:spcBef>
                <a:spcPct val="20000"/>
              </a:spcBef>
              <a:spcAft>
                <a:spcPct val="0"/>
              </a:spcAft>
            </a:pPr>
            <a:r>
              <a:rPr kumimoji="1"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  <a:sym typeface="Gill Sans"/>
              </a:rPr>
              <a:t>Description #2-2), #2-3) </a:t>
            </a:r>
            <a:r>
              <a:rPr kumimoji="1"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  <a:sym typeface="Gill Sans"/>
              </a:rPr>
              <a:t>항목에 대한 동작을 리스트 </a:t>
            </a:r>
            <a:r>
              <a:rPr kumimoji="1"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  <a:sym typeface="Gill Sans"/>
              </a:rPr>
              <a:t>UI </a:t>
            </a:r>
            <a:r>
              <a:rPr kumimoji="1"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  <a:sym typeface="Gill Sans"/>
              </a:rPr>
              <a:t>상에 버튼 등으로 추가하는 방안 검토</a:t>
            </a:r>
            <a:endParaRPr kumimoji="1" lang="en-US" altLang="ko-KR" sz="1000" dirty="0">
              <a:latin typeface="맑은 고딕" panose="020B0503020000020004" pitchFamily="50" charset="-127"/>
              <a:ea typeface="맑은 고딕" panose="020B0503020000020004" pitchFamily="50" charset="-127"/>
              <a:cs typeface="Arial" pitchFamily="34" charset="0"/>
              <a:sym typeface="Gill Sans"/>
            </a:endParaRPr>
          </a:p>
        </p:txBody>
      </p:sp>
      <p:sp>
        <p:nvSpPr>
          <p:cNvPr id="74" name="직사각형 73">
            <a:extLst>
              <a:ext uri="{FF2B5EF4-FFF2-40B4-BE49-F238E27FC236}">
                <a16:creationId xmlns:a16="http://schemas.microsoft.com/office/drawing/2014/main" id="{F649E07A-7A68-4A13-A8F7-FD79A0570A9A}"/>
              </a:ext>
            </a:extLst>
          </p:cNvPr>
          <p:cNvSpPr/>
          <p:nvPr/>
        </p:nvSpPr>
        <p:spPr>
          <a:xfrm>
            <a:off x="3790264" y="1695986"/>
            <a:ext cx="1138308" cy="323974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r">
              <a:lnSpc>
                <a:spcPct val="150000"/>
              </a:lnSpc>
            </a:pPr>
            <a:r>
              <a:rPr lang="ko-KR" altLang="en-US" sz="105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장치</a:t>
            </a:r>
            <a:r>
              <a:rPr lang="en-US" altLang="ko-KR" sz="105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05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그룹</a:t>
            </a:r>
          </a:p>
        </p:txBody>
      </p:sp>
      <p:sp>
        <p:nvSpPr>
          <p:cNvPr id="75" name="직사각형 74">
            <a:extLst>
              <a:ext uri="{FF2B5EF4-FFF2-40B4-BE49-F238E27FC236}">
                <a16:creationId xmlns:a16="http://schemas.microsoft.com/office/drawing/2014/main" id="{0338F2B5-647D-4895-93FF-A2F587EDA292}"/>
              </a:ext>
            </a:extLst>
          </p:cNvPr>
          <p:cNvSpPr/>
          <p:nvPr/>
        </p:nvSpPr>
        <p:spPr>
          <a:xfrm>
            <a:off x="5062491" y="1695986"/>
            <a:ext cx="2216695" cy="323974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105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롯데</a:t>
            </a:r>
            <a:r>
              <a:rPr lang="en-US" altLang="ko-KR" sz="105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_</a:t>
            </a:r>
            <a:r>
              <a:rPr lang="ko-KR" altLang="en-US" sz="105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장치그룹</a:t>
            </a:r>
            <a:r>
              <a:rPr lang="en-US" altLang="ko-KR" sz="105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_01</a:t>
            </a:r>
            <a:endParaRPr lang="ko-KR" altLang="en-US" sz="105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6" name="직사각형 75">
            <a:extLst>
              <a:ext uri="{FF2B5EF4-FFF2-40B4-BE49-F238E27FC236}">
                <a16:creationId xmlns:a16="http://schemas.microsoft.com/office/drawing/2014/main" id="{95818874-825F-4255-8751-74823B8D071F}"/>
              </a:ext>
            </a:extLst>
          </p:cNvPr>
          <p:cNvSpPr/>
          <p:nvPr/>
        </p:nvSpPr>
        <p:spPr>
          <a:xfrm>
            <a:off x="7282500" y="1695986"/>
            <a:ext cx="334796" cy="323974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 anchorCtr="0"/>
          <a:lstStyle/>
          <a:p>
            <a:pPr algn="ctr">
              <a:lnSpc>
                <a:spcPct val="150000"/>
              </a:lnSpc>
            </a:pPr>
            <a:r>
              <a:rPr lang="ko-KR" altLang="en-US" sz="105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▼</a:t>
            </a:r>
          </a:p>
        </p:txBody>
      </p:sp>
      <p:pic>
        <p:nvPicPr>
          <p:cNvPr id="77" name="Picture 2" descr="editì ëí ì´ë¯¸ì§ ê²ìê²°ê³¼">
            <a:extLst>
              <a:ext uri="{FF2B5EF4-FFF2-40B4-BE49-F238E27FC236}">
                <a16:creationId xmlns:a16="http://schemas.microsoft.com/office/drawing/2014/main" id="{D1AD4A20-5A02-4BA3-9251-D7044994869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17296" y="1671491"/>
            <a:ext cx="348469" cy="34846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45" name="타원형 설명선 244"/>
          <p:cNvSpPr/>
          <p:nvPr/>
        </p:nvSpPr>
        <p:spPr>
          <a:xfrm>
            <a:off x="7418797" y="1521950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0" name="타원형 설명선 265">
            <a:extLst>
              <a:ext uri="{FF2B5EF4-FFF2-40B4-BE49-F238E27FC236}">
                <a16:creationId xmlns:a16="http://schemas.microsoft.com/office/drawing/2014/main" id="{93539A79-AC69-44AD-80F8-C257969835DB}"/>
              </a:ext>
            </a:extLst>
          </p:cNvPr>
          <p:cNvSpPr/>
          <p:nvPr/>
        </p:nvSpPr>
        <p:spPr>
          <a:xfrm>
            <a:off x="4025683" y="3043853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6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586293076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9104309" y="6645875"/>
            <a:ext cx="140029" cy="138499"/>
          </a:xfrm>
        </p:spPr>
        <p:txBody>
          <a:bodyPr/>
          <a:lstStyle/>
          <a:p>
            <a:pPr>
              <a:defRPr/>
            </a:pPr>
            <a:fld id="{9E41B634-5682-4388-99E7-FE44DCFD254B}" type="slidenum">
              <a:rPr lang="ko-KR" altLang="en-US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>
                <a:defRPr/>
              </a:pPr>
              <a:t>40</a:t>
            </a:fld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텍스트 개체 틀 8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Site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 &gt;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장치 모니터링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&gt;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장치 그룹 현황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&gt;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장치 그룹 편집</a:t>
            </a:r>
          </a:p>
        </p:txBody>
      </p:sp>
      <p:sp>
        <p:nvSpPr>
          <p:cNvPr id="10" name="텍스트 개체 틀 9"/>
          <p:cNvSpPr>
            <a:spLocks noGrp="1"/>
          </p:cNvSpPr>
          <p:nvPr>
            <p:ph type="body" sz="quarter" idx="10"/>
          </p:nvPr>
        </p:nvSpPr>
        <p:spPr>
          <a:xfrm>
            <a:off x="6023595" y="44624"/>
            <a:ext cx="1233661" cy="196974"/>
          </a:xfrm>
        </p:spPr>
        <p:txBody>
          <a:bodyPr/>
          <a:lstStyle/>
          <a:p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장치 그룹 편집</a:t>
            </a:r>
          </a:p>
        </p:txBody>
      </p:sp>
      <p:graphicFrame>
        <p:nvGraphicFramePr>
          <p:cNvPr id="102" name="Group 15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75495946"/>
              </p:ext>
            </p:extLst>
          </p:nvPr>
        </p:nvGraphicFramePr>
        <p:xfrm>
          <a:off x="8469313" y="276225"/>
          <a:ext cx="1404000" cy="5527104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3002"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Description</a:t>
                      </a: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Site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선택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1)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콤보박스에서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Site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를 선택하면 하단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‘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장치그룹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’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과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‘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장치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’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리스트에 해당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Site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의 현황이 반영된다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.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2)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텍스트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에디트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창에 직접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Site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명을 입력하고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엔터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키를 누르면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1)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과 같이 동작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입력된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Site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가 존재하지 않을 경우 안내문구 출력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Wingdings" panose="05000000000000000000" pitchFamily="2" charset="2"/>
                        </a:rPr>
                        <a:t>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“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입력하신 사이트를 찾을 수 없습니다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.”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2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Site</a:t>
                      </a:r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內 장치 그룹</a:t>
                      </a:r>
                      <a:r>
                        <a:rPr lang="en-US" altLang="ko-KR" sz="800" b="1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현황</a:t>
                      </a:r>
                      <a:endParaRPr lang="en-US" altLang="ko-KR" sz="800" b="1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1)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현재 선택된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Site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內 장치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그룹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리스트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2)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리스트 내 각 항목은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editable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상태이며 마우스 클릭 후 활성화되면 장치 그룹명을 편집 가능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3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장치 그룹 삭제</a:t>
                      </a:r>
                      <a:endParaRPr lang="en-US" altLang="ko-KR" sz="800" b="1" u="non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1) </a:t>
                      </a: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버튼 클릭하여 해당 장치 그룹 삭제</a:t>
                      </a:r>
                      <a:endParaRPr lang="en-US" altLang="ko-KR" sz="800" b="0" u="non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2)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리스트 내 장치 그룹명을 선택하고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delete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키를 누르면 동일 동작 진행</a:t>
                      </a:r>
                      <a:endParaRPr lang="en-US" altLang="ko-KR" sz="800" b="0" u="non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4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장치 그룹 추가</a:t>
                      </a:r>
                      <a:endParaRPr kumimoji="1" lang="en-US" altLang="ko-KR" sz="8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에디트</a:t>
                      </a: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영역에 장치 그룹 명을 입력하고 우측 </a:t>
                      </a:r>
                      <a:r>
                        <a:rPr kumimoji="1" lang="en-US" altLang="ko-KR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+ </a:t>
                      </a: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버튼을 클릭하면 장치 그룹 추가</a:t>
                      </a:r>
                      <a:endParaRPr kumimoji="1" lang="en-US" altLang="ko-KR" sz="8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5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확인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모든 변경사항을 적용하고 팝업을 종료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8304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6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취소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모든 변경사항을 적용하지 않고 팝업을 종료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78" name="TextBox 77"/>
          <p:cNvSpPr txBox="1"/>
          <p:nvPr/>
        </p:nvSpPr>
        <p:spPr>
          <a:xfrm>
            <a:off x="7121707" y="21349"/>
            <a:ext cx="567597" cy="2308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화면</a:t>
            </a:r>
            <a:r>
              <a:rPr lang="en-US" altLang="ko-KR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ID</a:t>
            </a:r>
            <a:endParaRPr lang="ko-KR" altLang="en-US" sz="9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7689304" y="43659"/>
            <a:ext cx="792088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itchFamily="50" charset="-127"/>
                <a:ea typeface="맑은 고딕" pitchFamily="50" charset="-127"/>
              </a:rPr>
              <a:t>ewpsp_scr_023</a:t>
            </a:r>
            <a:endParaRPr lang="ko-KR" altLang="en-US" sz="70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80DBD963-6553-410B-BFF5-229C31D43475}"/>
              </a:ext>
            </a:extLst>
          </p:cNvPr>
          <p:cNvSpPr/>
          <p:nvPr/>
        </p:nvSpPr>
        <p:spPr>
          <a:xfrm>
            <a:off x="373623" y="737091"/>
            <a:ext cx="4363353" cy="305195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200000"/>
              </a:lnSpc>
            </a:pPr>
            <a:endParaRPr lang="ko-KR" altLang="en-US" sz="100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4E378E4C-417D-46FC-8EB2-997074DCFB87}"/>
              </a:ext>
            </a:extLst>
          </p:cNvPr>
          <p:cNvSpPr txBox="1"/>
          <p:nvPr/>
        </p:nvSpPr>
        <p:spPr>
          <a:xfrm>
            <a:off x="378210" y="407514"/>
            <a:ext cx="1982502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4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장치 그룹 편집 팝업</a:t>
            </a:r>
          </a:p>
        </p:txBody>
      </p:sp>
      <p:grpSp>
        <p:nvGrpSpPr>
          <p:cNvPr id="47" name="그룹 46">
            <a:extLst>
              <a:ext uri="{FF2B5EF4-FFF2-40B4-BE49-F238E27FC236}">
                <a16:creationId xmlns:a16="http://schemas.microsoft.com/office/drawing/2014/main" id="{0AD99E74-E4F8-4B82-A2CD-9386EF543A8B}"/>
              </a:ext>
            </a:extLst>
          </p:cNvPr>
          <p:cNvGrpSpPr/>
          <p:nvPr/>
        </p:nvGrpSpPr>
        <p:grpSpPr>
          <a:xfrm>
            <a:off x="992560" y="1427641"/>
            <a:ext cx="3600400" cy="1626713"/>
            <a:chOff x="1100657" y="3228816"/>
            <a:chExt cx="2668622" cy="1807807"/>
          </a:xfrm>
        </p:grpSpPr>
        <p:sp>
          <p:nvSpPr>
            <p:cNvPr id="52" name="직사각형 51">
              <a:extLst>
                <a:ext uri="{FF2B5EF4-FFF2-40B4-BE49-F238E27FC236}">
                  <a16:creationId xmlns:a16="http://schemas.microsoft.com/office/drawing/2014/main" id="{974D6881-ECEE-4E2C-A4B3-C75BCC16014E}"/>
                </a:ext>
              </a:extLst>
            </p:cNvPr>
            <p:cNvSpPr/>
            <p:nvPr/>
          </p:nvSpPr>
          <p:spPr>
            <a:xfrm>
              <a:off x="1100657" y="3228817"/>
              <a:ext cx="2319215" cy="178435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>
                <a:lnSpc>
                  <a:spcPct val="200000"/>
                </a:lnSpc>
              </a:pPr>
              <a:r>
                <a:rPr lang="ko-KR" altLang="en-US" sz="1000" b="1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롯데</a:t>
              </a:r>
              <a:r>
                <a:rPr lang="en-US" altLang="ko-KR" sz="1000" b="1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_</a:t>
              </a:r>
              <a:r>
                <a:rPr lang="ko-KR" altLang="en-US" sz="1000" b="1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장치그룹</a:t>
              </a:r>
              <a:r>
                <a:rPr lang="en-US" altLang="ko-KR" sz="1000" b="1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_01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1000" b="1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롯데</a:t>
              </a:r>
              <a:r>
                <a:rPr lang="en-US" altLang="ko-KR" sz="1000" b="1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_</a:t>
              </a:r>
              <a:r>
                <a:rPr lang="ko-KR" altLang="en-US" sz="1000" b="1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장치그룹</a:t>
              </a:r>
              <a:r>
                <a:rPr lang="en-US" altLang="ko-KR" sz="1000" b="1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_02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1000" b="1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롯데</a:t>
              </a:r>
              <a:r>
                <a:rPr lang="en-US" altLang="ko-KR" sz="1000" b="1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_</a:t>
              </a:r>
              <a:r>
                <a:rPr lang="ko-KR" altLang="en-US" sz="1000" b="1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장치그룹</a:t>
              </a:r>
              <a:r>
                <a:rPr lang="en-US" altLang="ko-KR" sz="1000" b="1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_03</a:t>
              </a:r>
            </a:p>
          </p:txBody>
        </p: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BBE382CB-7FB4-4349-B757-F0B3756754F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115616" y="3633802"/>
              <a:ext cx="2160000" cy="1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BF3D7605-B4DA-4590-ABFB-8CDFEA0DC63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115616" y="3973891"/>
              <a:ext cx="2160000" cy="1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1291EB12-1BED-4251-8B98-71D9DC61226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115616" y="4323930"/>
              <a:ext cx="2160000" cy="1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67" name="Picture 4" descr="ê´ë ¨ ì´ë¯¸ì§">
              <a:extLst>
                <a:ext uri="{FF2B5EF4-FFF2-40B4-BE49-F238E27FC236}">
                  <a16:creationId xmlns:a16="http://schemas.microsoft.com/office/drawing/2014/main" id="{9EE981B0-52E6-4178-8F73-2925A06E2F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02287" y="3228816"/>
              <a:ext cx="866992" cy="1807807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68" name="그룹 67">
            <a:extLst>
              <a:ext uri="{FF2B5EF4-FFF2-40B4-BE49-F238E27FC236}">
                <a16:creationId xmlns:a16="http://schemas.microsoft.com/office/drawing/2014/main" id="{E60D982C-7F26-44D9-89C7-D01BD08B20FD}"/>
              </a:ext>
            </a:extLst>
          </p:cNvPr>
          <p:cNvGrpSpPr/>
          <p:nvPr/>
        </p:nvGrpSpPr>
        <p:grpSpPr>
          <a:xfrm>
            <a:off x="1222812" y="3284984"/>
            <a:ext cx="2494046" cy="323428"/>
            <a:chOff x="3791228" y="5284908"/>
            <a:chExt cx="2630919" cy="360040"/>
          </a:xfrm>
        </p:grpSpPr>
        <p:sp>
          <p:nvSpPr>
            <p:cNvPr id="69" name="직사각형 68">
              <a:extLst>
                <a:ext uri="{FF2B5EF4-FFF2-40B4-BE49-F238E27FC236}">
                  <a16:creationId xmlns:a16="http://schemas.microsoft.com/office/drawing/2014/main" id="{D78F6B5F-2DE0-46C0-804A-7FD446E3A050}"/>
                </a:ext>
              </a:extLst>
            </p:cNvPr>
            <p:cNvSpPr/>
            <p:nvPr/>
          </p:nvSpPr>
          <p:spPr>
            <a:xfrm>
              <a:off x="3791228" y="5284908"/>
              <a:ext cx="1224136" cy="360040"/>
            </a:xfrm>
            <a:prstGeom prst="rect">
              <a:avLst/>
            </a:prstGeom>
            <a:solidFill>
              <a:srgbClr val="0099FF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 algn="ctr">
                <a:lnSpc>
                  <a:spcPct val="150000"/>
                </a:lnSpc>
              </a:pPr>
              <a:r>
                <a:rPr lang="ko-KR" altLang="en-US" sz="105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확인</a:t>
              </a:r>
            </a:p>
          </p:txBody>
        </p:sp>
        <p:sp>
          <p:nvSpPr>
            <p:cNvPr id="70" name="직사각형 69">
              <a:extLst>
                <a:ext uri="{FF2B5EF4-FFF2-40B4-BE49-F238E27FC236}">
                  <a16:creationId xmlns:a16="http://schemas.microsoft.com/office/drawing/2014/main" id="{9AACB16A-A432-4E62-8840-DBA85B487862}"/>
                </a:ext>
              </a:extLst>
            </p:cNvPr>
            <p:cNvSpPr/>
            <p:nvPr/>
          </p:nvSpPr>
          <p:spPr>
            <a:xfrm>
              <a:off x="5198011" y="5284908"/>
              <a:ext cx="1224136" cy="36004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 algn="ctr">
                <a:lnSpc>
                  <a:spcPct val="150000"/>
                </a:lnSpc>
              </a:pPr>
              <a:r>
                <a:rPr lang="ko-KR" altLang="en-US" sz="1050" b="1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취소</a:t>
              </a:r>
            </a:p>
          </p:txBody>
        </p:sp>
      </p:grpSp>
      <p:sp>
        <p:nvSpPr>
          <p:cNvPr id="71" name="직사각형 70">
            <a:extLst>
              <a:ext uri="{FF2B5EF4-FFF2-40B4-BE49-F238E27FC236}">
                <a16:creationId xmlns:a16="http://schemas.microsoft.com/office/drawing/2014/main" id="{64FEF60E-79CA-4C96-93CE-80B774127007}"/>
              </a:ext>
            </a:extLst>
          </p:cNvPr>
          <p:cNvSpPr/>
          <p:nvPr/>
        </p:nvSpPr>
        <p:spPr>
          <a:xfrm>
            <a:off x="606245" y="920378"/>
            <a:ext cx="850276" cy="323974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r">
              <a:lnSpc>
                <a:spcPct val="150000"/>
              </a:lnSpc>
            </a:pPr>
            <a:r>
              <a:rPr lang="ko-KR" altLang="en-US" sz="105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사이트 </a:t>
            </a:r>
          </a:p>
        </p:txBody>
      </p: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81C41558-AAC1-4B9A-BC4B-167FE8B81F45}"/>
              </a:ext>
            </a:extLst>
          </p:cNvPr>
          <p:cNvSpPr/>
          <p:nvPr/>
        </p:nvSpPr>
        <p:spPr>
          <a:xfrm>
            <a:off x="1590440" y="920378"/>
            <a:ext cx="2216695" cy="323974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105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롯데 정밀 화학</a:t>
            </a: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6FAF4FEF-9533-470D-88B3-3E88E1FF897E}"/>
              </a:ext>
            </a:extLst>
          </p:cNvPr>
          <p:cNvSpPr/>
          <p:nvPr/>
        </p:nvSpPr>
        <p:spPr>
          <a:xfrm>
            <a:off x="3810449" y="920378"/>
            <a:ext cx="334796" cy="323974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 anchorCtr="0"/>
          <a:lstStyle/>
          <a:p>
            <a:pPr algn="ctr">
              <a:lnSpc>
                <a:spcPct val="150000"/>
              </a:lnSpc>
            </a:pPr>
            <a:r>
              <a:rPr lang="ko-KR" altLang="en-US" sz="105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▼</a:t>
            </a:r>
          </a:p>
        </p:txBody>
      </p:sp>
      <p:pic>
        <p:nvPicPr>
          <p:cNvPr id="4098" name="Picture 2" descr="ì­ì ì ëí ì´ë¯¸ì§ ê²ìê²°ê³¼">
            <a:extLst>
              <a:ext uri="{FF2B5EF4-FFF2-40B4-BE49-F238E27FC236}">
                <a16:creationId xmlns:a16="http://schemas.microsoft.com/office/drawing/2014/main" id="{99016921-344E-42F9-85A9-B6B3682D2E9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616830" y="1554316"/>
            <a:ext cx="200055" cy="20005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86" name="Picture 2" descr="ì­ì ì ëí ì´ë¯¸ì§ ê²ìê²°ê³¼">
            <a:extLst>
              <a:ext uri="{FF2B5EF4-FFF2-40B4-BE49-F238E27FC236}">
                <a16:creationId xmlns:a16="http://schemas.microsoft.com/office/drawing/2014/main" id="{13C9F879-CF66-4FED-A9DC-3D61751ED79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616829" y="1852601"/>
            <a:ext cx="200055" cy="20005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87" name="Picture 2" descr="ì­ì ì ëí ì´ë¯¸ì§ ê²ìê²°ê³¼">
            <a:extLst>
              <a:ext uri="{FF2B5EF4-FFF2-40B4-BE49-F238E27FC236}">
                <a16:creationId xmlns:a16="http://schemas.microsoft.com/office/drawing/2014/main" id="{0A0CC7A3-059E-4F56-94DD-8B29BF10D17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616829" y="2143798"/>
            <a:ext cx="200055" cy="20005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106" name="Picture 10" descr="ê´ë ¨ ì´ë¯¸ì§">
            <a:extLst>
              <a:ext uri="{FF2B5EF4-FFF2-40B4-BE49-F238E27FC236}">
                <a16:creationId xmlns:a16="http://schemas.microsoft.com/office/drawing/2014/main" id="{0C7CDA59-2BCF-410E-B829-A37678CDCC7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99856" y="2452816"/>
            <a:ext cx="234000" cy="234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1" name="직사각형 10">
            <a:extLst>
              <a:ext uri="{FF2B5EF4-FFF2-40B4-BE49-F238E27FC236}">
                <a16:creationId xmlns:a16="http://schemas.microsoft.com/office/drawing/2014/main" id="{AF80840A-E91B-4EC5-A6DB-214EF0E3555A}"/>
              </a:ext>
            </a:extLst>
          </p:cNvPr>
          <p:cNvSpPr/>
          <p:nvPr/>
        </p:nvSpPr>
        <p:spPr>
          <a:xfrm>
            <a:off x="1061392" y="2445154"/>
            <a:ext cx="2451447" cy="281946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0" name="타원형 설명선 226">
            <a:extLst>
              <a:ext uri="{FF2B5EF4-FFF2-40B4-BE49-F238E27FC236}">
                <a16:creationId xmlns:a16="http://schemas.microsoft.com/office/drawing/2014/main" id="{EFD1149C-96CE-4EA1-9D7D-C50D63557569}"/>
              </a:ext>
            </a:extLst>
          </p:cNvPr>
          <p:cNvSpPr/>
          <p:nvPr/>
        </p:nvSpPr>
        <p:spPr>
          <a:xfrm>
            <a:off x="666903" y="1239015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1" name="타원형 설명선 243">
            <a:extLst>
              <a:ext uri="{FF2B5EF4-FFF2-40B4-BE49-F238E27FC236}">
                <a16:creationId xmlns:a16="http://schemas.microsoft.com/office/drawing/2014/main" id="{D29AD12E-8E7B-4125-BDDB-6B3CDC6DCAE3}"/>
              </a:ext>
            </a:extLst>
          </p:cNvPr>
          <p:cNvSpPr/>
          <p:nvPr/>
        </p:nvSpPr>
        <p:spPr>
          <a:xfrm>
            <a:off x="758375" y="2306425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2" name="타원형 설명선 244">
            <a:extLst>
              <a:ext uri="{FF2B5EF4-FFF2-40B4-BE49-F238E27FC236}">
                <a16:creationId xmlns:a16="http://schemas.microsoft.com/office/drawing/2014/main" id="{D3163BF3-701F-4E5F-8B26-8DFB1E0E8D3C}"/>
              </a:ext>
            </a:extLst>
          </p:cNvPr>
          <p:cNvSpPr/>
          <p:nvPr/>
        </p:nvSpPr>
        <p:spPr>
          <a:xfrm>
            <a:off x="3244759" y="1366982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3" name="타원형 설명선 245">
            <a:extLst>
              <a:ext uri="{FF2B5EF4-FFF2-40B4-BE49-F238E27FC236}">
                <a16:creationId xmlns:a16="http://schemas.microsoft.com/office/drawing/2014/main" id="{16AF123E-CE29-42D9-ABE4-FDFECB49598D}"/>
              </a:ext>
            </a:extLst>
          </p:cNvPr>
          <p:cNvSpPr/>
          <p:nvPr/>
        </p:nvSpPr>
        <p:spPr>
          <a:xfrm>
            <a:off x="1032461" y="3051120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6" name="타원형 설명선 265">
            <a:extLst>
              <a:ext uri="{FF2B5EF4-FFF2-40B4-BE49-F238E27FC236}">
                <a16:creationId xmlns:a16="http://schemas.microsoft.com/office/drawing/2014/main" id="{1BCA392B-C604-4257-AC47-327CAD17BFF6}"/>
              </a:ext>
            </a:extLst>
          </p:cNvPr>
          <p:cNvSpPr/>
          <p:nvPr/>
        </p:nvSpPr>
        <p:spPr>
          <a:xfrm>
            <a:off x="2339299" y="3060738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6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7" name="타원형 설명선 225">
            <a:extLst>
              <a:ext uri="{FF2B5EF4-FFF2-40B4-BE49-F238E27FC236}">
                <a16:creationId xmlns:a16="http://schemas.microsoft.com/office/drawing/2014/main" id="{9AD54132-DB96-47B0-83A3-FD8E738F7AF6}"/>
              </a:ext>
            </a:extLst>
          </p:cNvPr>
          <p:cNvSpPr/>
          <p:nvPr/>
        </p:nvSpPr>
        <p:spPr>
          <a:xfrm>
            <a:off x="648149" y="812378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8" name="말풍선: 모서리가 둥근 사각형 97">
            <a:extLst>
              <a:ext uri="{FF2B5EF4-FFF2-40B4-BE49-F238E27FC236}">
                <a16:creationId xmlns:a16="http://schemas.microsoft.com/office/drawing/2014/main" id="{82BB19FC-0EB4-48CE-959B-A0F859D7CF3C}"/>
              </a:ext>
            </a:extLst>
          </p:cNvPr>
          <p:cNvSpPr/>
          <p:nvPr/>
        </p:nvSpPr>
        <p:spPr>
          <a:xfrm>
            <a:off x="3742550" y="3849583"/>
            <a:ext cx="2002538" cy="517793"/>
          </a:xfrm>
          <a:prstGeom prst="wedgeRoundRectCallout">
            <a:avLst>
              <a:gd name="adj1" fmla="val -31973"/>
              <a:gd name="adj2" fmla="val -72860"/>
              <a:gd name="adj3" fmla="val 16667"/>
            </a:avLst>
          </a:prstGeom>
          <a:ln>
            <a:solidFill>
              <a:srgbClr val="FF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eaLnBrk="0" fontAlgn="base" hangingPunct="0">
              <a:spcBef>
                <a:spcPct val="20000"/>
              </a:spcBef>
              <a:spcAft>
                <a:spcPct val="0"/>
              </a:spcAft>
            </a:pPr>
            <a:r>
              <a:rPr kumimoji="1"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  <a:sym typeface="Gill Sans"/>
              </a:rPr>
              <a:t>임의의 구성이므로 디자인</a:t>
            </a:r>
            <a:r>
              <a:rPr kumimoji="1"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  <a:sym typeface="Gill Sans"/>
              </a:rPr>
              <a:t>/</a:t>
            </a:r>
            <a:r>
              <a:rPr kumimoji="1"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  <a:sym typeface="Gill Sans"/>
              </a:rPr>
              <a:t>퍼블리싱 검토 시에 범용적인 형태의 편집 창으로 구성 필요</a:t>
            </a:r>
            <a:endParaRPr kumimoji="1" lang="en-US" altLang="ko-KR" sz="1000" dirty="0">
              <a:latin typeface="맑은 고딕" panose="020B0503020000020004" pitchFamily="50" charset="-127"/>
              <a:ea typeface="맑은 고딕" panose="020B0503020000020004" pitchFamily="50" charset="-127"/>
              <a:cs typeface="Arial" pitchFamily="34" charset="0"/>
              <a:sym typeface="Gill Sans"/>
            </a:endParaRPr>
          </a:p>
        </p:txBody>
      </p:sp>
    </p:spTree>
    <p:extLst>
      <p:ext uri="{BB962C8B-B14F-4D97-AF65-F5344CB8AC3E}">
        <p14:creationId xmlns:p14="http://schemas.microsoft.com/office/powerpoint/2010/main" val="984599864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9104309" y="6645875"/>
            <a:ext cx="140029" cy="138499"/>
          </a:xfrm>
        </p:spPr>
        <p:txBody>
          <a:bodyPr/>
          <a:lstStyle/>
          <a:p>
            <a:pPr>
              <a:defRPr/>
            </a:pPr>
            <a:fld id="{9E41B634-5682-4388-99E7-FE44DCFD254B}" type="slidenum">
              <a:rPr lang="ko-KR" altLang="en-US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>
                <a:defRPr/>
              </a:pPr>
              <a:t>41</a:t>
            </a:fld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텍스트 개체 틀 8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Site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 &gt;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상황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관제</a:t>
            </a:r>
          </a:p>
        </p:txBody>
      </p:sp>
      <p:sp>
        <p:nvSpPr>
          <p:cNvPr id="10" name="텍스트 개체 틀 9"/>
          <p:cNvSpPr>
            <a:spLocks noGrp="1"/>
          </p:cNvSpPr>
          <p:nvPr>
            <p:ph type="body" sz="quarter" idx="10"/>
          </p:nvPr>
        </p:nvSpPr>
        <p:spPr>
          <a:xfrm>
            <a:off x="6023595" y="44624"/>
            <a:ext cx="1233661" cy="196974"/>
          </a:xfrm>
        </p:spPr>
        <p:txBody>
          <a:bodyPr/>
          <a:lstStyle/>
          <a:p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상황 관제</a:t>
            </a:r>
          </a:p>
        </p:txBody>
      </p:sp>
      <p:graphicFrame>
        <p:nvGraphicFramePr>
          <p:cNvPr id="102" name="Group 15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20988260"/>
              </p:ext>
            </p:extLst>
          </p:nvPr>
        </p:nvGraphicFramePr>
        <p:xfrm>
          <a:off x="8469313" y="276225"/>
          <a:ext cx="1404000" cy="5430720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3002"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Description</a:t>
                      </a: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알람 확인 기간 선택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1)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알람 조회를 위한 기본 제공 기간 표시 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 - 1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일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(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오늘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), 1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주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1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개월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2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알람 확인 기간 지정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1)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알람 조회를 위한 기간 직접 입력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2)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시작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종료 일정 선택 후에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‘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’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버튼을 클릭하면 조회 및 갱신 진행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3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장치 별 알람 현황</a:t>
                      </a:r>
                      <a:endParaRPr lang="en-US" altLang="ko-KR" sz="800" b="1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1)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장치 별 알람 현황 표시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2)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비상</a:t>
                      </a: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주의 구분 없이 표시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4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비상 알람 현황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1)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기간 內 비상 알람에 대한 리스트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장치타입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장치명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장치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ID,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알람시간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알람타입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알람메시지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알람상태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조치여부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*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조치여부는 편집이 가능하도록 구성된다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.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(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사용자 편집 가능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)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*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차후 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spec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확인 후 최종 반영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5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주의 알람 현황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1)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기간 內 주의 알람에 대한 리스트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장치타입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장치명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장치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ID,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알람시간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알람타입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알람메시지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알람상태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조치여부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*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차후 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spec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확인 후 최종 반영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78" name="TextBox 77"/>
          <p:cNvSpPr txBox="1"/>
          <p:nvPr/>
        </p:nvSpPr>
        <p:spPr>
          <a:xfrm>
            <a:off x="7121707" y="21349"/>
            <a:ext cx="567597" cy="2308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화면</a:t>
            </a:r>
            <a:r>
              <a:rPr lang="en-US" altLang="ko-KR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ID</a:t>
            </a:r>
            <a:endParaRPr lang="ko-KR" altLang="en-US" sz="9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7689304" y="43659"/>
            <a:ext cx="792088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itchFamily="50" charset="-127"/>
                <a:ea typeface="맑은 고딕" pitchFamily="50" charset="-127"/>
              </a:rPr>
              <a:t>ewpsp_scr_024</a:t>
            </a:r>
            <a:endParaRPr lang="ko-KR" altLang="en-US" sz="700" dirty="0">
              <a:latin typeface="맑은 고딕" pitchFamily="50" charset="-127"/>
              <a:ea typeface="맑은 고딕" pitchFamily="50" charset="-127"/>
            </a:endParaRPr>
          </a:p>
        </p:txBody>
      </p:sp>
      <p:pic>
        <p:nvPicPr>
          <p:cNvPr id="18" name="Picture 3">
            <a:extLst>
              <a:ext uri="{FF2B5EF4-FFF2-40B4-BE49-F238E27FC236}">
                <a16:creationId xmlns:a16="http://schemas.microsoft.com/office/drawing/2014/main" id="{D14E8AEF-8EA8-4944-AE52-FF98A1FB783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463" y="764704"/>
            <a:ext cx="8208912" cy="4896537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  <a:extLst/>
        </p:spPr>
      </p:pic>
      <p:pic>
        <p:nvPicPr>
          <p:cNvPr id="19" name="Picture 2">
            <a:extLst>
              <a:ext uri="{FF2B5EF4-FFF2-40B4-BE49-F238E27FC236}">
                <a16:creationId xmlns:a16="http://schemas.microsoft.com/office/drawing/2014/main" id="{6FBB0165-03FF-4BBD-A158-8DEF923CF53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464" y="762442"/>
            <a:ext cx="8208912" cy="3487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20" name="직선 연결선 19">
            <a:extLst>
              <a:ext uri="{FF2B5EF4-FFF2-40B4-BE49-F238E27FC236}">
                <a16:creationId xmlns:a16="http://schemas.microsoft.com/office/drawing/2014/main" id="{37D07777-30AA-4506-9C18-6F3B4C7D943C}"/>
              </a:ext>
            </a:extLst>
          </p:cNvPr>
          <p:cNvCxnSpPr>
            <a:cxnSpLocks/>
          </p:cNvCxnSpPr>
          <p:nvPr/>
        </p:nvCxnSpPr>
        <p:spPr>
          <a:xfrm>
            <a:off x="128463" y="1124744"/>
            <a:ext cx="8208912" cy="0"/>
          </a:xfrm>
          <a:prstGeom prst="line">
            <a:avLst/>
          </a:prstGeom>
          <a:ln w="9525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47" name="Picture 2" descr="ì¤ì ì ëí ì´ë¯¸ì§ ê²ìê²°ê³¼">
            <a:extLst>
              <a:ext uri="{FF2B5EF4-FFF2-40B4-BE49-F238E27FC236}">
                <a16:creationId xmlns:a16="http://schemas.microsoft.com/office/drawing/2014/main" id="{90A888AD-844A-4544-B02A-A77BC3397C7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05865" y="844086"/>
            <a:ext cx="198592" cy="19859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2" name="직사각형 51">
            <a:extLst>
              <a:ext uri="{FF2B5EF4-FFF2-40B4-BE49-F238E27FC236}">
                <a16:creationId xmlns:a16="http://schemas.microsoft.com/office/drawing/2014/main" id="{FF961FF0-B06A-4DE7-80CF-7120ED9C40E4}"/>
              </a:ext>
            </a:extLst>
          </p:cNvPr>
          <p:cNvSpPr/>
          <p:nvPr/>
        </p:nvSpPr>
        <p:spPr>
          <a:xfrm>
            <a:off x="194427" y="2795104"/>
            <a:ext cx="1267003" cy="288032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8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비상 알람 현황 </a:t>
            </a:r>
            <a:r>
              <a:rPr lang="en-US" altLang="ko-KR" sz="11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(2)</a:t>
            </a:r>
            <a:endParaRPr lang="ko-KR" altLang="en-US" sz="8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F2B2C55A-CB3A-48E6-842E-AEC22848B775}"/>
              </a:ext>
            </a:extLst>
          </p:cNvPr>
          <p:cNvSpPr/>
          <p:nvPr/>
        </p:nvSpPr>
        <p:spPr>
          <a:xfrm>
            <a:off x="194427" y="4149080"/>
            <a:ext cx="1267003" cy="288032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800" b="1" dirty="0">
                <a:solidFill>
                  <a:srgbClr val="FF9933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주의 알람 현황 </a:t>
            </a:r>
            <a:r>
              <a:rPr lang="en-US" altLang="ko-KR" sz="1100" b="1" dirty="0">
                <a:solidFill>
                  <a:srgbClr val="FF9933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(3)</a:t>
            </a:r>
            <a:endParaRPr lang="ko-KR" altLang="en-US" sz="800" b="1" dirty="0">
              <a:solidFill>
                <a:srgbClr val="FF9933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04" name="그룹 103">
            <a:extLst>
              <a:ext uri="{FF2B5EF4-FFF2-40B4-BE49-F238E27FC236}">
                <a16:creationId xmlns:a16="http://schemas.microsoft.com/office/drawing/2014/main" id="{02B3EEE5-B1A0-407B-8669-F0A58C57B5F8}"/>
              </a:ext>
            </a:extLst>
          </p:cNvPr>
          <p:cNvGrpSpPr/>
          <p:nvPr/>
        </p:nvGrpSpPr>
        <p:grpSpPr>
          <a:xfrm>
            <a:off x="210356" y="1203435"/>
            <a:ext cx="8024876" cy="260092"/>
            <a:chOff x="184526" y="1505937"/>
            <a:chExt cx="8024876" cy="260092"/>
          </a:xfrm>
        </p:grpSpPr>
        <p:sp>
          <p:nvSpPr>
            <p:cNvPr id="105" name="직사각형 104">
              <a:extLst>
                <a:ext uri="{FF2B5EF4-FFF2-40B4-BE49-F238E27FC236}">
                  <a16:creationId xmlns:a16="http://schemas.microsoft.com/office/drawing/2014/main" id="{B4D1C5AF-EF0F-41CE-A5B4-C9F158E00F5E}"/>
                </a:ext>
              </a:extLst>
            </p:cNvPr>
            <p:cNvSpPr/>
            <p:nvPr/>
          </p:nvSpPr>
          <p:spPr>
            <a:xfrm>
              <a:off x="5810955" y="1550585"/>
              <a:ext cx="1820532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수익 현황</a:t>
              </a:r>
            </a:p>
          </p:txBody>
        </p:sp>
        <p:sp>
          <p:nvSpPr>
            <p:cNvPr id="106" name="직사각형 105">
              <a:extLst>
                <a:ext uri="{FF2B5EF4-FFF2-40B4-BE49-F238E27FC236}">
                  <a16:creationId xmlns:a16="http://schemas.microsoft.com/office/drawing/2014/main" id="{47B2C708-B8C6-4801-9537-07C91D6B38B1}"/>
                </a:ext>
              </a:extLst>
            </p:cNvPr>
            <p:cNvSpPr/>
            <p:nvPr/>
          </p:nvSpPr>
          <p:spPr>
            <a:xfrm>
              <a:off x="184526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에너지 모니터링</a:t>
              </a:r>
            </a:p>
          </p:txBody>
        </p:sp>
        <p:sp>
          <p:nvSpPr>
            <p:cNvPr id="107" name="직사각형 106">
              <a:extLst>
                <a:ext uri="{FF2B5EF4-FFF2-40B4-BE49-F238E27FC236}">
                  <a16:creationId xmlns:a16="http://schemas.microsoft.com/office/drawing/2014/main" id="{CDF83034-1DA8-4D53-8D2B-6BB884DC515A}"/>
                </a:ext>
              </a:extLst>
            </p:cNvPr>
            <p:cNvSpPr/>
            <p:nvPr/>
          </p:nvSpPr>
          <p:spPr>
            <a:xfrm>
              <a:off x="2191085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장치 모니터링</a:t>
              </a:r>
            </a:p>
          </p:txBody>
        </p:sp>
        <p:sp>
          <p:nvSpPr>
            <p:cNvPr id="108" name="직사각형 107">
              <a:extLst>
                <a:ext uri="{FF2B5EF4-FFF2-40B4-BE49-F238E27FC236}">
                  <a16:creationId xmlns:a16="http://schemas.microsoft.com/office/drawing/2014/main" id="{1FC06577-1B1F-41A1-A98E-D9BA4F69C11C}"/>
                </a:ext>
              </a:extLst>
            </p:cNvPr>
            <p:cNvSpPr/>
            <p:nvPr/>
          </p:nvSpPr>
          <p:spPr>
            <a:xfrm>
              <a:off x="4197644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상황</a:t>
              </a:r>
              <a:r>
                <a:rPr lang="en-US" altLang="ko-KR" sz="700" dirty="0"/>
                <a:t> </a:t>
              </a:r>
              <a:r>
                <a:rPr lang="ko-KR" altLang="en-US" sz="700" dirty="0"/>
                <a:t>관제</a:t>
              </a:r>
            </a:p>
          </p:txBody>
        </p:sp>
        <p:sp>
          <p:nvSpPr>
            <p:cNvPr id="109" name="직사각형 108">
              <a:extLst>
                <a:ext uri="{FF2B5EF4-FFF2-40B4-BE49-F238E27FC236}">
                  <a16:creationId xmlns:a16="http://schemas.microsoft.com/office/drawing/2014/main" id="{0EEB248A-4E2F-4604-809B-8DABFC1348C1}"/>
                </a:ext>
              </a:extLst>
            </p:cNvPr>
            <p:cNvSpPr/>
            <p:nvPr/>
          </p:nvSpPr>
          <p:spPr>
            <a:xfrm>
              <a:off x="6204202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요금</a:t>
              </a:r>
              <a:r>
                <a:rPr lang="en-US" altLang="ko-KR" sz="700" dirty="0"/>
                <a:t>/</a:t>
              </a:r>
              <a:r>
                <a:rPr lang="ko-KR" altLang="en-US" sz="700" dirty="0"/>
                <a:t>수익</a:t>
              </a:r>
            </a:p>
          </p:txBody>
        </p:sp>
      </p:grp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CF8F42C2-0E6E-4FC3-8743-955F5B355F21}"/>
              </a:ext>
            </a:extLst>
          </p:cNvPr>
          <p:cNvSpPr/>
          <p:nvPr/>
        </p:nvSpPr>
        <p:spPr>
          <a:xfrm>
            <a:off x="4332753" y="1564409"/>
            <a:ext cx="1262753" cy="288033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YYY-MM</a:t>
            </a:r>
            <a:endParaRPr lang="ko-KR" altLang="en-US" sz="90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E8921834-2370-409E-9FB6-957FE75767D1}"/>
              </a:ext>
            </a:extLst>
          </p:cNvPr>
          <p:cNvSpPr/>
          <p:nvPr/>
        </p:nvSpPr>
        <p:spPr>
          <a:xfrm>
            <a:off x="5595506" y="1564409"/>
            <a:ext cx="288032" cy="288033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▼</a:t>
            </a:r>
          </a:p>
        </p:txBody>
      </p:sp>
      <p:sp>
        <p:nvSpPr>
          <p:cNvPr id="136" name="직사각형 135">
            <a:extLst>
              <a:ext uri="{FF2B5EF4-FFF2-40B4-BE49-F238E27FC236}">
                <a16:creationId xmlns:a16="http://schemas.microsoft.com/office/drawing/2014/main" id="{88C0475F-767D-4968-B239-64E8DF30C9DD}"/>
              </a:ext>
            </a:extLst>
          </p:cNvPr>
          <p:cNvSpPr/>
          <p:nvPr/>
        </p:nvSpPr>
        <p:spPr>
          <a:xfrm>
            <a:off x="5883538" y="1564409"/>
            <a:ext cx="249415" cy="288033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~</a:t>
            </a:r>
            <a:endParaRPr lang="ko-KR" altLang="en-US" sz="900" b="1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5C21EEE7-E7FF-4C7B-8D0F-E42EDF56C030}"/>
              </a:ext>
            </a:extLst>
          </p:cNvPr>
          <p:cNvSpPr/>
          <p:nvPr/>
        </p:nvSpPr>
        <p:spPr>
          <a:xfrm>
            <a:off x="6132953" y="1564409"/>
            <a:ext cx="1262753" cy="288033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YYYY-MM</a:t>
            </a:r>
            <a:endParaRPr lang="ko-KR" altLang="en-US" sz="90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38" name="직사각형 137">
            <a:extLst>
              <a:ext uri="{FF2B5EF4-FFF2-40B4-BE49-F238E27FC236}">
                <a16:creationId xmlns:a16="http://schemas.microsoft.com/office/drawing/2014/main" id="{1E5A3EDC-C4EE-473B-A522-2C43DA6F2EBE}"/>
              </a:ext>
            </a:extLst>
          </p:cNvPr>
          <p:cNvSpPr/>
          <p:nvPr/>
        </p:nvSpPr>
        <p:spPr>
          <a:xfrm>
            <a:off x="7395706" y="1564409"/>
            <a:ext cx="288032" cy="288033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▼</a:t>
            </a:r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4EC2CE1F-95FF-44B6-B6E3-594018B8589D}"/>
              </a:ext>
            </a:extLst>
          </p:cNvPr>
          <p:cNvSpPr/>
          <p:nvPr/>
        </p:nvSpPr>
        <p:spPr>
          <a:xfrm>
            <a:off x="7714065" y="1564409"/>
            <a:ext cx="471046" cy="288033"/>
          </a:xfrm>
          <a:prstGeom prst="rect">
            <a:avLst/>
          </a:prstGeom>
          <a:solidFill>
            <a:srgbClr val="0099FF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ko-KR" altLang="en-US" sz="10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조회</a:t>
            </a:r>
          </a:p>
        </p:txBody>
      </p:sp>
      <p:sp>
        <p:nvSpPr>
          <p:cNvPr id="140" name="사각형: 둥근 모서리 139">
            <a:extLst>
              <a:ext uri="{FF2B5EF4-FFF2-40B4-BE49-F238E27FC236}">
                <a16:creationId xmlns:a16="http://schemas.microsoft.com/office/drawing/2014/main" id="{E1D9C8AC-4A60-4C5C-99D4-2AF4F6BDEB1B}"/>
              </a:ext>
            </a:extLst>
          </p:cNvPr>
          <p:cNvSpPr/>
          <p:nvPr/>
        </p:nvSpPr>
        <p:spPr>
          <a:xfrm>
            <a:off x="1275335" y="1556792"/>
            <a:ext cx="1013369" cy="295649"/>
          </a:xfrm>
          <a:prstGeom prst="roundRect">
            <a:avLst/>
          </a:prstGeom>
          <a:solidFill>
            <a:schemeClr val="bg1"/>
          </a:solidFill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altLang="ko-KR" sz="900" dirty="0">
                <a:solidFill>
                  <a:schemeClr val="tx1"/>
                </a:solidFill>
              </a:rPr>
              <a:t>1</a:t>
            </a:r>
            <a:r>
              <a:rPr lang="ko-KR" altLang="en-US" sz="900" dirty="0">
                <a:solidFill>
                  <a:schemeClr val="tx1"/>
                </a:solidFill>
              </a:rPr>
              <a:t>일 </a:t>
            </a:r>
            <a:r>
              <a:rPr lang="en-US" altLang="ko-KR" sz="900" dirty="0">
                <a:solidFill>
                  <a:schemeClr val="tx1"/>
                </a:solidFill>
              </a:rPr>
              <a:t>(</a:t>
            </a:r>
            <a:r>
              <a:rPr lang="ko-KR" altLang="en-US" sz="900" dirty="0">
                <a:solidFill>
                  <a:schemeClr val="tx1"/>
                </a:solidFill>
              </a:rPr>
              <a:t>오늘</a:t>
            </a:r>
            <a:r>
              <a:rPr lang="en-US" altLang="ko-KR" sz="900" dirty="0">
                <a:solidFill>
                  <a:schemeClr val="tx1"/>
                </a:solidFill>
              </a:rPr>
              <a:t>)   </a:t>
            </a:r>
            <a:r>
              <a:rPr lang="ko-KR" altLang="en-US" sz="900" dirty="0">
                <a:solidFill>
                  <a:schemeClr val="tx1"/>
                </a:solidFill>
              </a:rPr>
              <a:t>▼</a:t>
            </a:r>
          </a:p>
        </p:txBody>
      </p:sp>
      <p:sp>
        <p:nvSpPr>
          <p:cNvPr id="141" name="직사각형 140">
            <a:extLst>
              <a:ext uri="{FF2B5EF4-FFF2-40B4-BE49-F238E27FC236}">
                <a16:creationId xmlns:a16="http://schemas.microsoft.com/office/drawing/2014/main" id="{F20A0837-49C6-4153-8285-1657AE73D414}"/>
              </a:ext>
            </a:extLst>
          </p:cNvPr>
          <p:cNvSpPr/>
          <p:nvPr/>
        </p:nvSpPr>
        <p:spPr>
          <a:xfrm>
            <a:off x="216315" y="1556792"/>
            <a:ext cx="1820532" cy="288032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10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알람 현황</a:t>
            </a:r>
          </a:p>
        </p:txBody>
      </p:sp>
      <p:grpSp>
        <p:nvGrpSpPr>
          <p:cNvPr id="13" name="그룹 12">
            <a:extLst>
              <a:ext uri="{FF2B5EF4-FFF2-40B4-BE49-F238E27FC236}">
                <a16:creationId xmlns:a16="http://schemas.microsoft.com/office/drawing/2014/main" id="{B2133A3F-6B23-4ADF-822C-9DEA05C15891}"/>
              </a:ext>
            </a:extLst>
          </p:cNvPr>
          <p:cNvGrpSpPr/>
          <p:nvPr/>
        </p:nvGrpSpPr>
        <p:grpSpPr>
          <a:xfrm>
            <a:off x="321143" y="2009038"/>
            <a:ext cx="1476335" cy="835401"/>
            <a:chOff x="321143" y="1985652"/>
            <a:chExt cx="1476335" cy="835401"/>
          </a:xfrm>
        </p:grpSpPr>
        <p:sp>
          <p:nvSpPr>
            <p:cNvPr id="4" name="직사각형 3">
              <a:extLst>
                <a:ext uri="{FF2B5EF4-FFF2-40B4-BE49-F238E27FC236}">
                  <a16:creationId xmlns:a16="http://schemas.microsoft.com/office/drawing/2014/main" id="{D0068107-0BA8-4B00-A4BE-F7BE86D5D551}"/>
                </a:ext>
              </a:extLst>
            </p:cNvPr>
            <p:cNvSpPr/>
            <p:nvPr/>
          </p:nvSpPr>
          <p:spPr>
            <a:xfrm>
              <a:off x="321143" y="1985652"/>
              <a:ext cx="1476335" cy="835401"/>
            </a:xfrm>
            <a:prstGeom prst="rect">
              <a:avLst/>
            </a:prstGeom>
            <a:solidFill>
              <a:schemeClr val="bg1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pic>
          <p:nvPicPr>
            <p:cNvPr id="143" name="Picture 2" descr="enertalkì ëí ì´ë¯¸ì§ ê²ìê²°ê³¼">
              <a:extLst>
                <a:ext uri="{FF2B5EF4-FFF2-40B4-BE49-F238E27FC236}">
                  <a16:creationId xmlns:a16="http://schemas.microsoft.com/office/drawing/2014/main" id="{6D4155BC-04C5-4EDA-A9BC-9503EBBE372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9024" y="2334704"/>
              <a:ext cx="423124" cy="423124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A589BEED-C5E1-483C-A0B1-BA4604A7E73D}"/>
                </a:ext>
              </a:extLst>
            </p:cNvPr>
            <p:cNvCxnSpPr>
              <a:cxnSpLocks/>
            </p:cNvCxnSpPr>
            <p:nvPr/>
          </p:nvCxnSpPr>
          <p:spPr>
            <a:xfrm>
              <a:off x="992560" y="2014103"/>
              <a:ext cx="0" cy="773913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68BB889C-214C-48B1-A82D-487475D5D249}"/>
                </a:ext>
              </a:extLst>
            </p:cNvPr>
            <p:cNvSpPr txBox="1"/>
            <p:nvPr/>
          </p:nvSpPr>
          <p:spPr>
            <a:xfrm>
              <a:off x="349493" y="2014195"/>
              <a:ext cx="66972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IOE(</a:t>
              </a:r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건</a:t>
              </a:r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)</a:t>
              </a:r>
              <a:endParaRPr lang="ko-KR" altLang="en-US" sz="1000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AAE73F82-6355-4825-B1D8-8392DDF23AEC}"/>
                </a:ext>
              </a:extLst>
            </p:cNvPr>
            <p:cNvSpPr txBox="1"/>
            <p:nvPr/>
          </p:nvSpPr>
          <p:spPr>
            <a:xfrm>
              <a:off x="1246953" y="2147310"/>
              <a:ext cx="288032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2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0</a:t>
              </a:r>
              <a:endParaRPr lang="ko-KR" altLang="en-US" sz="28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152" name="직사각형 151">
            <a:extLst>
              <a:ext uri="{FF2B5EF4-FFF2-40B4-BE49-F238E27FC236}">
                <a16:creationId xmlns:a16="http://schemas.microsoft.com/office/drawing/2014/main" id="{BD4ECB9D-07BE-4F3A-ADBA-2E8F0B10BA5B}"/>
              </a:ext>
            </a:extLst>
          </p:cNvPr>
          <p:cNvSpPr/>
          <p:nvPr/>
        </p:nvSpPr>
        <p:spPr>
          <a:xfrm>
            <a:off x="1911269" y="2009038"/>
            <a:ext cx="1476335" cy="835401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54" name="직선 연결선 153">
            <a:extLst>
              <a:ext uri="{FF2B5EF4-FFF2-40B4-BE49-F238E27FC236}">
                <a16:creationId xmlns:a16="http://schemas.microsoft.com/office/drawing/2014/main" id="{88F3ADFA-5478-4FEC-A0D1-9CA66A194448}"/>
              </a:ext>
            </a:extLst>
          </p:cNvPr>
          <p:cNvCxnSpPr>
            <a:cxnSpLocks/>
          </p:cNvCxnSpPr>
          <p:nvPr/>
        </p:nvCxnSpPr>
        <p:spPr>
          <a:xfrm>
            <a:off x="2582686" y="2037489"/>
            <a:ext cx="0" cy="773913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5" name="TextBox 154">
            <a:extLst>
              <a:ext uri="{FF2B5EF4-FFF2-40B4-BE49-F238E27FC236}">
                <a16:creationId xmlns:a16="http://schemas.microsoft.com/office/drawing/2014/main" id="{7BBC897B-0CAB-4410-915C-C3721383F30F}"/>
              </a:ext>
            </a:extLst>
          </p:cNvPr>
          <p:cNvSpPr txBox="1"/>
          <p:nvPr/>
        </p:nvSpPr>
        <p:spPr>
          <a:xfrm>
            <a:off x="1939619" y="2037581"/>
            <a:ext cx="669725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PCS(</a:t>
            </a:r>
            <a:r>
              <a:rPr lang="ko-KR" altLang="en-US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건</a:t>
            </a:r>
            <a:r>
              <a:rPr lang="en-US" altLang="ko-KR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sz="10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BE8946D3-3B14-4B48-A646-378BBCAA8167}"/>
              </a:ext>
            </a:extLst>
          </p:cNvPr>
          <p:cNvSpPr txBox="1"/>
          <p:nvPr/>
        </p:nvSpPr>
        <p:spPr>
          <a:xfrm>
            <a:off x="2837079" y="2170696"/>
            <a:ext cx="288032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2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2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58" name="직사각형 157">
            <a:extLst>
              <a:ext uri="{FF2B5EF4-FFF2-40B4-BE49-F238E27FC236}">
                <a16:creationId xmlns:a16="http://schemas.microsoft.com/office/drawing/2014/main" id="{FC7198ED-609D-4EE8-89C9-A8BC35AF844D}"/>
              </a:ext>
            </a:extLst>
          </p:cNvPr>
          <p:cNvSpPr/>
          <p:nvPr/>
        </p:nvSpPr>
        <p:spPr>
          <a:xfrm>
            <a:off x="3501395" y="2009038"/>
            <a:ext cx="1476335" cy="835401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60" name="직선 연결선 159">
            <a:extLst>
              <a:ext uri="{FF2B5EF4-FFF2-40B4-BE49-F238E27FC236}">
                <a16:creationId xmlns:a16="http://schemas.microsoft.com/office/drawing/2014/main" id="{0463B798-7A54-4B44-B941-61B3C71C1022}"/>
              </a:ext>
            </a:extLst>
          </p:cNvPr>
          <p:cNvCxnSpPr>
            <a:cxnSpLocks/>
          </p:cNvCxnSpPr>
          <p:nvPr/>
        </p:nvCxnSpPr>
        <p:spPr>
          <a:xfrm>
            <a:off x="4172812" y="2037489"/>
            <a:ext cx="0" cy="773913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1" name="TextBox 160">
            <a:extLst>
              <a:ext uri="{FF2B5EF4-FFF2-40B4-BE49-F238E27FC236}">
                <a16:creationId xmlns:a16="http://schemas.microsoft.com/office/drawing/2014/main" id="{479B1AD8-66CE-4F41-BDBD-5F7B45A0E294}"/>
              </a:ext>
            </a:extLst>
          </p:cNvPr>
          <p:cNvSpPr txBox="1"/>
          <p:nvPr/>
        </p:nvSpPr>
        <p:spPr>
          <a:xfrm>
            <a:off x="3529745" y="2037581"/>
            <a:ext cx="669725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BMS(</a:t>
            </a:r>
            <a:r>
              <a:rPr lang="ko-KR" altLang="en-US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건</a:t>
            </a:r>
            <a:r>
              <a:rPr lang="en-US" altLang="ko-KR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sz="10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62" name="TextBox 161">
            <a:extLst>
              <a:ext uri="{FF2B5EF4-FFF2-40B4-BE49-F238E27FC236}">
                <a16:creationId xmlns:a16="http://schemas.microsoft.com/office/drawing/2014/main" id="{D1A4A63A-64C2-42A1-AD32-64181501079B}"/>
              </a:ext>
            </a:extLst>
          </p:cNvPr>
          <p:cNvSpPr txBox="1"/>
          <p:nvPr/>
        </p:nvSpPr>
        <p:spPr>
          <a:xfrm>
            <a:off x="4427205" y="2170696"/>
            <a:ext cx="288032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2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2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64" name="직사각형 163">
            <a:extLst>
              <a:ext uri="{FF2B5EF4-FFF2-40B4-BE49-F238E27FC236}">
                <a16:creationId xmlns:a16="http://schemas.microsoft.com/office/drawing/2014/main" id="{78403265-3DD2-4BCA-A7F0-45FE57C1B8F7}"/>
              </a:ext>
            </a:extLst>
          </p:cNvPr>
          <p:cNvSpPr/>
          <p:nvPr/>
        </p:nvSpPr>
        <p:spPr>
          <a:xfrm>
            <a:off x="5091521" y="2009038"/>
            <a:ext cx="1476335" cy="835401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66" name="직선 연결선 165">
            <a:extLst>
              <a:ext uri="{FF2B5EF4-FFF2-40B4-BE49-F238E27FC236}">
                <a16:creationId xmlns:a16="http://schemas.microsoft.com/office/drawing/2014/main" id="{5292FA36-9E84-4854-95CF-2E47DCBD183A}"/>
              </a:ext>
            </a:extLst>
          </p:cNvPr>
          <p:cNvCxnSpPr>
            <a:cxnSpLocks/>
          </p:cNvCxnSpPr>
          <p:nvPr/>
        </p:nvCxnSpPr>
        <p:spPr>
          <a:xfrm>
            <a:off x="5762938" y="2037489"/>
            <a:ext cx="0" cy="773913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7" name="TextBox 166">
            <a:extLst>
              <a:ext uri="{FF2B5EF4-FFF2-40B4-BE49-F238E27FC236}">
                <a16:creationId xmlns:a16="http://schemas.microsoft.com/office/drawing/2014/main" id="{4D706353-9122-4681-B7C8-EAE4D4DCDB74}"/>
              </a:ext>
            </a:extLst>
          </p:cNvPr>
          <p:cNvSpPr txBox="1"/>
          <p:nvPr/>
        </p:nvSpPr>
        <p:spPr>
          <a:xfrm>
            <a:off x="5119871" y="2037581"/>
            <a:ext cx="669725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PV(</a:t>
            </a:r>
            <a:r>
              <a:rPr lang="ko-KR" altLang="en-US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건</a:t>
            </a:r>
            <a:r>
              <a:rPr lang="en-US" altLang="ko-KR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sz="10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68" name="TextBox 167">
            <a:extLst>
              <a:ext uri="{FF2B5EF4-FFF2-40B4-BE49-F238E27FC236}">
                <a16:creationId xmlns:a16="http://schemas.microsoft.com/office/drawing/2014/main" id="{2D3DBEB0-1C8E-4947-B574-CE965E7C2C50}"/>
              </a:ext>
            </a:extLst>
          </p:cNvPr>
          <p:cNvSpPr txBox="1"/>
          <p:nvPr/>
        </p:nvSpPr>
        <p:spPr>
          <a:xfrm>
            <a:off x="6017331" y="2170696"/>
            <a:ext cx="288032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2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0</a:t>
            </a:r>
            <a:endParaRPr lang="ko-KR" altLang="en-US" sz="2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70" name="직사각형 169">
            <a:extLst>
              <a:ext uri="{FF2B5EF4-FFF2-40B4-BE49-F238E27FC236}">
                <a16:creationId xmlns:a16="http://schemas.microsoft.com/office/drawing/2014/main" id="{648B381A-0C63-4E52-A4F0-0D2CD0459AEA}"/>
              </a:ext>
            </a:extLst>
          </p:cNvPr>
          <p:cNvSpPr/>
          <p:nvPr/>
        </p:nvSpPr>
        <p:spPr>
          <a:xfrm>
            <a:off x="6681647" y="2009038"/>
            <a:ext cx="1476335" cy="835401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72" name="직선 연결선 171">
            <a:extLst>
              <a:ext uri="{FF2B5EF4-FFF2-40B4-BE49-F238E27FC236}">
                <a16:creationId xmlns:a16="http://schemas.microsoft.com/office/drawing/2014/main" id="{F7B030C4-7907-4F6D-BF1A-604AC330E8DB}"/>
              </a:ext>
            </a:extLst>
          </p:cNvPr>
          <p:cNvCxnSpPr>
            <a:cxnSpLocks/>
          </p:cNvCxnSpPr>
          <p:nvPr/>
        </p:nvCxnSpPr>
        <p:spPr>
          <a:xfrm>
            <a:off x="7353064" y="2037489"/>
            <a:ext cx="0" cy="773913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3" name="TextBox 172">
            <a:extLst>
              <a:ext uri="{FF2B5EF4-FFF2-40B4-BE49-F238E27FC236}">
                <a16:creationId xmlns:a16="http://schemas.microsoft.com/office/drawing/2014/main" id="{017D45BF-9AB5-490C-8D0A-E4B12FE0ADD6}"/>
              </a:ext>
            </a:extLst>
          </p:cNvPr>
          <p:cNvSpPr txBox="1"/>
          <p:nvPr/>
        </p:nvSpPr>
        <p:spPr>
          <a:xfrm>
            <a:off x="6709997" y="2304507"/>
            <a:ext cx="669725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11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기타</a:t>
            </a:r>
            <a:r>
              <a:rPr lang="en-US" altLang="ko-KR" sz="11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lang="ko-KR" altLang="en-US" sz="11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건</a:t>
            </a:r>
            <a:r>
              <a:rPr lang="en-US" altLang="ko-KR" sz="11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sz="11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74" name="TextBox 173">
            <a:extLst>
              <a:ext uri="{FF2B5EF4-FFF2-40B4-BE49-F238E27FC236}">
                <a16:creationId xmlns:a16="http://schemas.microsoft.com/office/drawing/2014/main" id="{B3AEFC19-0FED-4B3B-9966-635EC79D9482}"/>
              </a:ext>
            </a:extLst>
          </p:cNvPr>
          <p:cNvSpPr txBox="1"/>
          <p:nvPr/>
        </p:nvSpPr>
        <p:spPr>
          <a:xfrm>
            <a:off x="7607457" y="2170696"/>
            <a:ext cx="288032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2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0</a:t>
            </a:r>
            <a:endParaRPr lang="ko-KR" altLang="en-US" sz="2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42" name="Picture 2" descr="ê´ë ¨ ì´ë¯¸ì§">
            <a:extLst>
              <a:ext uri="{FF2B5EF4-FFF2-40B4-BE49-F238E27FC236}">
                <a16:creationId xmlns:a16="http://schemas.microsoft.com/office/drawing/2014/main" id="{BE263A1A-FE65-4E5C-A129-D7A155CB129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015922" y="2324494"/>
            <a:ext cx="470556" cy="47055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44" name="Picture 2">
            <a:extLst>
              <a:ext uri="{FF2B5EF4-FFF2-40B4-BE49-F238E27FC236}">
                <a16:creationId xmlns:a16="http://schemas.microsoft.com/office/drawing/2014/main" id="{FA878888-83E4-4101-80F3-2FAA503BF209}"/>
              </a:ext>
            </a:extLst>
          </p:cNvPr>
          <p:cNvPicPr/>
          <p:nvPr/>
        </p:nvPicPr>
        <p:blipFill>
          <a:blip r:embed="rId8" cstate="print"/>
          <a:srcRect/>
          <a:stretch>
            <a:fillRect/>
          </a:stretch>
        </p:blipFill>
        <p:spPr bwMode="auto">
          <a:xfrm flipH="1">
            <a:off x="3706988" y="2366537"/>
            <a:ext cx="299838" cy="37744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45" name="Picture 8" descr="photovoltaicsì ëí ì´ë¯¸ì§ ê²ìê²°ê³¼">
            <a:extLst>
              <a:ext uri="{FF2B5EF4-FFF2-40B4-BE49-F238E27FC236}">
                <a16:creationId xmlns:a16="http://schemas.microsoft.com/office/drawing/2014/main" id="{724265E9-8B6F-4D5A-A4DC-75352347CD6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203867" y="2312345"/>
            <a:ext cx="482945" cy="48294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4" name="그룹 13">
            <a:extLst>
              <a:ext uri="{FF2B5EF4-FFF2-40B4-BE49-F238E27FC236}">
                <a16:creationId xmlns:a16="http://schemas.microsoft.com/office/drawing/2014/main" id="{8E41B280-A5CE-44F5-B6F1-CCFDFE80D0F8}"/>
              </a:ext>
            </a:extLst>
          </p:cNvPr>
          <p:cNvGrpSpPr/>
          <p:nvPr/>
        </p:nvGrpSpPr>
        <p:grpSpPr>
          <a:xfrm>
            <a:off x="277142" y="3149457"/>
            <a:ext cx="8265127" cy="979690"/>
            <a:chOff x="277142" y="3149457"/>
            <a:chExt cx="8265127" cy="979690"/>
          </a:xfrm>
        </p:grpSpPr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6802D395-F52D-4555-A630-7B80B833AA3B}"/>
                </a:ext>
              </a:extLst>
            </p:cNvPr>
            <p:cNvCxnSpPr>
              <a:cxnSpLocks/>
            </p:cNvCxnSpPr>
            <p:nvPr/>
          </p:nvCxnSpPr>
          <p:spPr>
            <a:xfrm>
              <a:off x="277142" y="3149457"/>
              <a:ext cx="7748043" cy="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2FE84B20-D912-46CC-B65A-2CC0FD0FA29C}"/>
                </a:ext>
              </a:extLst>
            </p:cNvPr>
            <p:cNvCxnSpPr>
              <a:cxnSpLocks/>
            </p:cNvCxnSpPr>
            <p:nvPr/>
          </p:nvCxnSpPr>
          <p:spPr>
            <a:xfrm>
              <a:off x="277142" y="3343864"/>
              <a:ext cx="7748043" cy="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542F2EFD-A9DC-426D-B0B0-0C6839A7AAEA}"/>
                </a:ext>
              </a:extLst>
            </p:cNvPr>
            <p:cNvCxnSpPr>
              <a:cxnSpLocks/>
            </p:cNvCxnSpPr>
            <p:nvPr/>
          </p:nvCxnSpPr>
          <p:spPr>
            <a:xfrm>
              <a:off x="277142" y="3538271"/>
              <a:ext cx="7748043" cy="0"/>
            </a:xfrm>
            <a:prstGeom prst="line">
              <a:avLst/>
            </a:prstGeom>
            <a:ln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AB0BC9D7-C2BA-430A-BBA8-906795FE11EB}"/>
                </a:ext>
              </a:extLst>
            </p:cNvPr>
            <p:cNvCxnSpPr>
              <a:cxnSpLocks/>
            </p:cNvCxnSpPr>
            <p:nvPr/>
          </p:nvCxnSpPr>
          <p:spPr>
            <a:xfrm>
              <a:off x="277142" y="3732679"/>
              <a:ext cx="7748043" cy="0"/>
            </a:xfrm>
            <a:prstGeom prst="line">
              <a:avLst/>
            </a:prstGeom>
            <a:ln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9D658DDE-50E0-41B1-BFBB-D722E1187246}"/>
                </a:ext>
              </a:extLst>
            </p:cNvPr>
            <p:cNvCxnSpPr>
              <a:cxnSpLocks/>
            </p:cNvCxnSpPr>
            <p:nvPr/>
          </p:nvCxnSpPr>
          <p:spPr>
            <a:xfrm>
              <a:off x="277142" y="3927086"/>
              <a:ext cx="7748043" cy="0"/>
            </a:xfrm>
            <a:prstGeom prst="line">
              <a:avLst/>
            </a:prstGeom>
            <a:ln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92A9527-6DED-4C1E-8BA3-1CC2E8FD9842}"/>
                </a:ext>
              </a:extLst>
            </p:cNvPr>
            <p:cNvCxnSpPr>
              <a:cxnSpLocks/>
            </p:cNvCxnSpPr>
            <p:nvPr/>
          </p:nvCxnSpPr>
          <p:spPr>
            <a:xfrm>
              <a:off x="277142" y="4121493"/>
              <a:ext cx="7748043" cy="0"/>
            </a:xfrm>
            <a:prstGeom prst="line">
              <a:avLst/>
            </a:prstGeom>
            <a:ln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60" name="그룹 59">
              <a:extLst>
                <a:ext uri="{FF2B5EF4-FFF2-40B4-BE49-F238E27FC236}">
                  <a16:creationId xmlns:a16="http://schemas.microsoft.com/office/drawing/2014/main" id="{EC5D7B87-DF81-4C4C-BB28-29ADCE252F7E}"/>
                </a:ext>
              </a:extLst>
            </p:cNvPr>
            <p:cNvGrpSpPr/>
            <p:nvPr/>
          </p:nvGrpSpPr>
          <p:grpSpPr>
            <a:xfrm>
              <a:off x="7697939" y="3326635"/>
              <a:ext cx="844330" cy="801586"/>
              <a:chOff x="8242960" y="2282537"/>
              <a:chExt cx="866992" cy="1143702"/>
            </a:xfrm>
          </p:grpSpPr>
          <p:sp>
            <p:nvSpPr>
              <p:cNvPr id="61" name="직사각형 60">
                <a:extLst>
                  <a:ext uri="{FF2B5EF4-FFF2-40B4-BE49-F238E27FC236}">
                    <a16:creationId xmlns:a16="http://schemas.microsoft.com/office/drawing/2014/main" id="{C3321668-029B-4E3B-8BBF-0485B6487D87}"/>
                  </a:ext>
                </a:extLst>
              </p:cNvPr>
              <p:cNvSpPr/>
              <p:nvPr/>
            </p:nvSpPr>
            <p:spPr>
              <a:xfrm>
                <a:off x="8579077" y="2289300"/>
                <a:ext cx="164131" cy="1136939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20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pic>
            <p:nvPicPr>
              <p:cNvPr id="62" name="Picture 4" descr="ê´ë ¨ ì´ë¯¸ì§">
                <a:extLst>
                  <a:ext uri="{FF2B5EF4-FFF2-40B4-BE49-F238E27FC236}">
                    <a16:creationId xmlns:a16="http://schemas.microsoft.com/office/drawing/2014/main" id="{BDF92AE1-4C00-4EE5-80D9-8496CB5106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0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242960" y="2282537"/>
                <a:ext cx="866992" cy="1143702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535A7499-D871-427A-BFE9-F5533B00EAA3}"/>
                </a:ext>
              </a:extLst>
            </p:cNvPr>
            <p:cNvSpPr txBox="1"/>
            <p:nvPr/>
          </p:nvSpPr>
          <p:spPr>
            <a:xfrm>
              <a:off x="1025735" y="3158233"/>
              <a:ext cx="614897" cy="200056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장치 명</a:t>
              </a:r>
            </a:p>
          </p:txBody>
        </p:sp>
        <p:sp>
          <p:nvSpPr>
            <p:cNvPr id="69" name="TextBox 68">
              <a:extLst>
                <a:ext uri="{FF2B5EF4-FFF2-40B4-BE49-F238E27FC236}">
                  <a16:creationId xmlns:a16="http://schemas.microsoft.com/office/drawing/2014/main" id="{0E20E09F-5951-46F4-8127-EE007BF9A043}"/>
                </a:ext>
              </a:extLst>
            </p:cNvPr>
            <p:cNvSpPr txBox="1"/>
            <p:nvPr/>
          </p:nvSpPr>
          <p:spPr>
            <a:xfrm>
              <a:off x="1753330" y="3158232"/>
              <a:ext cx="614897" cy="200056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장치 </a:t>
              </a:r>
              <a:r>
                <a:rPr lang="en-US" altLang="ko-KR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ID</a:t>
              </a:r>
              <a:endParaRPr lang="ko-KR" altLang="en-US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70" name="TextBox 69">
              <a:extLst>
                <a:ext uri="{FF2B5EF4-FFF2-40B4-BE49-F238E27FC236}">
                  <a16:creationId xmlns:a16="http://schemas.microsoft.com/office/drawing/2014/main" id="{300DA903-A828-4247-99CF-B3AD6119CFED}"/>
                </a:ext>
              </a:extLst>
            </p:cNvPr>
            <p:cNvSpPr txBox="1"/>
            <p:nvPr/>
          </p:nvSpPr>
          <p:spPr>
            <a:xfrm>
              <a:off x="3420115" y="3158233"/>
              <a:ext cx="747163" cy="200057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알람 타입</a:t>
              </a:r>
            </a:p>
          </p:txBody>
        </p: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350C6183-0BCF-42FF-B08F-DF60489D516A}"/>
                </a:ext>
              </a:extLst>
            </p:cNvPr>
            <p:cNvSpPr txBox="1"/>
            <p:nvPr/>
          </p:nvSpPr>
          <p:spPr>
            <a:xfrm>
              <a:off x="4693130" y="3158233"/>
              <a:ext cx="907942" cy="200057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알람 메시지</a:t>
              </a:r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6A83A878-BF96-47AD-84E5-848417EAD324}"/>
                </a:ext>
              </a:extLst>
            </p:cNvPr>
            <p:cNvSpPr txBox="1"/>
            <p:nvPr/>
          </p:nvSpPr>
          <p:spPr>
            <a:xfrm>
              <a:off x="6151156" y="3158233"/>
              <a:ext cx="771705" cy="200057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알람 상태</a:t>
              </a:r>
            </a:p>
          </p:txBody>
        </p:sp>
        <p:sp>
          <p:nvSpPr>
            <p:cNvPr id="73" name="TextBox 72">
              <a:extLst>
                <a:ext uri="{FF2B5EF4-FFF2-40B4-BE49-F238E27FC236}">
                  <a16:creationId xmlns:a16="http://schemas.microsoft.com/office/drawing/2014/main" id="{3DA30F64-4F97-468B-82DE-A78031E001B2}"/>
                </a:ext>
              </a:extLst>
            </p:cNvPr>
            <p:cNvSpPr txBox="1"/>
            <p:nvPr/>
          </p:nvSpPr>
          <p:spPr>
            <a:xfrm>
              <a:off x="7050748" y="3156150"/>
              <a:ext cx="783748" cy="200056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조치 여부</a:t>
              </a:r>
            </a:p>
          </p:txBody>
        </p: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68E69F53-0751-45AC-AF70-D1FDEFB70256}"/>
                </a:ext>
              </a:extLst>
            </p:cNvPr>
            <p:cNvCxnSpPr>
              <a:cxnSpLocks/>
            </p:cNvCxnSpPr>
            <p:nvPr/>
          </p:nvCxnSpPr>
          <p:spPr>
            <a:xfrm>
              <a:off x="1630237" y="3343864"/>
              <a:ext cx="0" cy="777626"/>
            </a:xfrm>
            <a:prstGeom prst="line">
              <a:avLst/>
            </a:prstGeom>
            <a:ln w="6350">
              <a:solidFill>
                <a:schemeClr val="tx1">
                  <a:lumMod val="50000"/>
                  <a:lumOff val="50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71AF4BA8-D643-4191-8ECD-5CB263DB5678}"/>
                </a:ext>
              </a:extLst>
            </p:cNvPr>
            <p:cNvCxnSpPr>
              <a:cxnSpLocks/>
            </p:cNvCxnSpPr>
            <p:nvPr/>
          </p:nvCxnSpPr>
          <p:spPr>
            <a:xfrm>
              <a:off x="2426106" y="3347022"/>
              <a:ext cx="0" cy="777626"/>
            </a:xfrm>
            <a:prstGeom prst="line">
              <a:avLst/>
            </a:prstGeom>
            <a:ln w="6350">
              <a:solidFill>
                <a:schemeClr val="tx1">
                  <a:lumMod val="50000"/>
                  <a:lumOff val="50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FFD69206-8483-46D5-84EF-10A6D85E205D}"/>
                </a:ext>
              </a:extLst>
            </p:cNvPr>
            <p:cNvCxnSpPr>
              <a:cxnSpLocks/>
            </p:cNvCxnSpPr>
            <p:nvPr/>
          </p:nvCxnSpPr>
          <p:spPr>
            <a:xfrm>
              <a:off x="4232920" y="3340761"/>
              <a:ext cx="0" cy="777626"/>
            </a:xfrm>
            <a:prstGeom prst="line">
              <a:avLst/>
            </a:prstGeom>
            <a:ln w="6350">
              <a:solidFill>
                <a:schemeClr val="tx1">
                  <a:lumMod val="50000"/>
                  <a:lumOff val="50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직선 연결선 76">
              <a:extLst>
                <a:ext uri="{FF2B5EF4-FFF2-40B4-BE49-F238E27FC236}">
                  <a16:creationId xmlns:a16="http://schemas.microsoft.com/office/drawing/2014/main" id="{3D7CD2C6-2CF1-44B3-A42C-4B7CD13877C7}"/>
                </a:ext>
              </a:extLst>
            </p:cNvPr>
            <p:cNvCxnSpPr>
              <a:cxnSpLocks/>
            </p:cNvCxnSpPr>
            <p:nvPr/>
          </p:nvCxnSpPr>
          <p:spPr>
            <a:xfrm>
              <a:off x="6048170" y="3348933"/>
              <a:ext cx="0" cy="777626"/>
            </a:xfrm>
            <a:prstGeom prst="line">
              <a:avLst/>
            </a:prstGeom>
            <a:ln w="6350">
              <a:solidFill>
                <a:schemeClr val="tx1">
                  <a:lumMod val="50000"/>
                  <a:lumOff val="50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72ACAFEA-85C5-4DFD-A6EA-6C3389F6F2ED}"/>
                </a:ext>
              </a:extLst>
            </p:cNvPr>
            <p:cNvCxnSpPr>
              <a:cxnSpLocks/>
            </p:cNvCxnSpPr>
            <p:nvPr/>
          </p:nvCxnSpPr>
          <p:spPr>
            <a:xfrm>
              <a:off x="6998867" y="3340761"/>
              <a:ext cx="0" cy="777626"/>
            </a:xfrm>
            <a:prstGeom prst="line">
              <a:avLst/>
            </a:prstGeom>
            <a:ln w="6350">
              <a:solidFill>
                <a:schemeClr val="tx1">
                  <a:lumMod val="50000"/>
                  <a:lumOff val="50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1" name="TextBox 80">
              <a:extLst>
                <a:ext uri="{FF2B5EF4-FFF2-40B4-BE49-F238E27FC236}">
                  <a16:creationId xmlns:a16="http://schemas.microsoft.com/office/drawing/2014/main" id="{86B672C0-3DA3-44F7-BD43-21A19CCA3DDC}"/>
                </a:ext>
              </a:extLst>
            </p:cNvPr>
            <p:cNvSpPr txBox="1"/>
            <p:nvPr/>
          </p:nvSpPr>
          <p:spPr>
            <a:xfrm>
              <a:off x="2533785" y="3160317"/>
              <a:ext cx="747163" cy="200055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알람 시간</a:t>
              </a:r>
            </a:p>
          </p:txBody>
        </p: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9B94C967-61F5-40E0-AA9C-585FD8AD21D6}"/>
                </a:ext>
              </a:extLst>
            </p:cNvPr>
            <p:cNvCxnSpPr>
              <a:cxnSpLocks/>
            </p:cNvCxnSpPr>
            <p:nvPr/>
          </p:nvCxnSpPr>
          <p:spPr>
            <a:xfrm>
              <a:off x="3336605" y="3351521"/>
              <a:ext cx="0" cy="777626"/>
            </a:xfrm>
            <a:prstGeom prst="line">
              <a:avLst/>
            </a:prstGeom>
            <a:ln w="6350">
              <a:solidFill>
                <a:schemeClr val="tx1">
                  <a:lumMod val="50000"/>
                  <a:lumOff val="50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9" name="TextBox 178">
              <a:extLst>
                <a:ext uri="{FF2B5EF4-FFF2-40B4-BE49-F238E27FC236}">
                  <a16:creationId xmlns:a16="http://schemas.microsoft.com/office/drawing/2014/main" id="{4099CBD1-C2D5-45A9-81FB-B7E94662ECF3}"/>
                </a:ext>
              </a:extLst>
            </p:cNvPr>
            <p:cNvSpPr txBox="1"/>
            <p:nvPr/>
          </p:nvSpPr>
          <p:spPr>
            <a:xfrm>
              <a:off x="344488" y="3162060"/>
              <a:ext cx="614897" cy="200056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장치 타입</a:t>
              </a:r>
            </a:p>
          </p:txBody>
        </p:sp>
        <p:cxnSp>
          <p:nvCxnSpPr>
            <p:cNvPr id="180" name="직선 연결선 179">
              <a:extLst>
                <a:ext uri="{FF2B5EF4-FFF2-40B4-BE49-F238E27FC236}">
                  <a16:creationId xmlns:a16="http://schemas.microsoft.com/office/drawing/2014/main" id="{7689F8A2-8B90-463C-A9F8-00DA91D162D0}"/>
                </a:ext>
              </a:extLst>
            </p:cNvPr>
            <p:cNvCxnSpPr>
              <a:cxnSpLocks/>
            </p:cNvCxnSpPr>
            <p:nvPr/>
          </p:nvCxnSpPr>
          <p:spPr>
            <a:xfrm>
              <a:off x="992560" y="3347691"/>
              <a:ext cx="0" cy="777626"/>
            </a:xfrm>
            <a:prstGeom prst="line">
              <a:avLst/>
            </a:prstGeom>
            <a:ln w="6350">
              <a:solidFill>
                <a:schemeClr val="tx1">
                  <a:lumMod val="50000"/>
                  <a:lumOff val="50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81" name="그룹 180">
            <a:extLst>
              <a:ext uri="{FF2B5EF4-FFF2-40B4-BE49-F238E27FC236}">
                <a16:creationId xmlns:a16="http://schemas.microsoft.com/office/drawing/2014/main" id="{305286EA-382B-494D-A1FC-21858E17760C}"/>
              </a:ext>
            </a:extLst>
          </p:cNvPr>
          <p:cNvGrpSpPr/>
          <p:nvPr/>
        </p:nvGrpSpPr>
        <p:grpSpPr>
          <a:xfrm>
            <a:off x="277142" y="4499215"/>
            <a:ext cx="8265127" cy="979690"/>
            <a:chOff x="277142" y="3149457"/>
            <a:chExt cx="8265127" cy="979690"/>
          </a:xfrm>
        </p:grpSpPr>
        <p:cxnSp>
          <p:nvCxnSpPr>
            <p:cNvPr id="182" name="직선 연결선 181">
              <a:extLst>
                <a:ext uri="{FF2B5EF4-FFF2-40B4-BE49-F238E27FC236}">
                  <a16:creationId xmlns:a16="http://schemas.microsoft.com/office/drawing/2014/main" id="{F9146F2B-5E01-4793-8DF3-9097C5D636F7}"/>
                </a:ext>
              </a:extLst>
            </p:cNvPr>
            <p:cNvCxnSpPr>
              <a:cxnSpLocks/>
            </p:cNvCxnSpPr>
            <p:nvPr/>
          </p:nvCxnSpPr>
          <p:spPr>
            <a:xfrm>
              <a:off x="277142" y="3149457"/>
              <a:ext cx="7748043" cy="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3" name="직선 연결선 182">
              <a:extLst>
                <a:ext uri="{FF2B5EF4-FFF2-40B4-BE49-F238E27FC236}">
                  <a16:creationId xmlns:a16="http://schemas.microsoft.com/office/drawing/2014/main" id="{DAD57D93-4F79-4C78-ADE6-FC31BE483310}"/>
                </a:ext>
              </a:extLst>
            </p:cNvPr>
            <p:cNvCxnSpPr>
              <a:cxnSpLocks/>
            </p:cNvCxnSpPr>
            <p:nvPr/>
          </p:nvCxnSpPr>
          <p:spPr>
            <a:xfrm>
              <a:off x="277142" y="3343864"/>
              <a:ext cx="7748043" cy="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4" name="직선 연결선 183">
              <a:extLst>
                <a:ext uri="{FF2B5EF4-FFF2-40B4-BE49-F238E27FC236}">
                  <a16:creationId xmlns:a16="http://schemas.microsoft.com/office/drawing/2014/main" id="{6B9FB14F-E45D-48CE-8367-08FBBDD4E726}"/>
                </a:ext>
              </a:extLst>
            </p:cNvPr>
            <p:cNvCxnSpPr>
              <a:cxnSpLocks/>
            </p:cNvCxnSpPr>
            <p:nvPr/>
          </p:nvCxnSpPr>
          <p:spPr>
            <a:xfrm>
              <a:off x="277142" y="3538271"/>
              <a:ext cx="7748043" cy="0"/>
            </a:xfrm>
            <a:prstGeom prst="line">
              <a:avLst/>
            </a:prstGeom>
            <a:ln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5" name="직선 연결선 184">
              <a:extLst>
                <a:ext uri="{FF2B5EF4-FFF2-40B4-BE49-F238E27FC236}">
                  <a16:creationId xmlns:a16="http://schemas.microsoft.com/office/drawing/2014/main" id="{D8481565-8341-437E-9555-80A0BA42521F}"/>
                </a:ext>
              </a:extLst>
            </p:cNvPr>
            <p:cNvCxnSpPr>
              <a:cxnSpLocks/>
            </p:cNvCxnSpPr>
            <p:nvPr/>
          </p:nvCxnSpPr>
          <p:spPr>
            <a:xfrm>
              <a:off x="277142" y="3732679"/>
              <a:ext cx="7748043" cy="0"/>
            </a:xfrm>
            <a:prstGeom prst="line">
              <a:avLst/>
            </a:prstGeom>
            <a:ln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6" name="직선 연결선 185">
              <a:extLst>
                <a:ext uri="{FF2B5EF4-FFF2-40B4-BE49-F238E27FC236}">
                  <a16:creationId xmlns:a16="http://schemas.microsoft.com/office/drawing/2014/main" id="{19F43DD8-901E-4F75-BBBC-DAAA905CDC4B}"/>
                </a:ext>
              </a:extLst>
            </p:cNvPr>
            <p:cNvCxnSpPr>
              <a:cxnSpLocks/>
            </p:cNvCxnSpPr>
            <p:nvPr/>
          </p:nvCxnSpPr>
          <p:spPr>
            <a:xfrm>
              <a:off x="277142" y="3927086"/>
              <a:ext cx="7748043" cy="0"/>
            </a:xfrm>
            <a:prstGeom prst="line">
              <a:avLst/>
            </a:prstGeom>
            <a:ln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7" name="직선 연결선 186">
              <a:extLst>
                <a:ext uri="{FF2B5EF4-FFF2-40B4-BE49-F238E27FC236}">
                  <a16:creationId xmlns:a16="http://schemas.microsoft.com/office/drawing/2014/main" id="{402D8A46-EAFC-4765-ABC9-D17D776D5D4C}"/>
                </a:ext>
              </a:extLst>
            </p:cNvPr>
            <p:cNvCxnSpPr>
              <a:cxnSpLocks/>
            </p:cNvCxnSpPr>
            <p:nvPr/>
          </p:nvCxnSpPr>
          <p:spPr>
            <a:xfrm>
              <a:off x="277142" y="4121493"/>
              <a:ext cx="7748043" cy="0"/>
            </a:xfrm>
            <a:prstGeom prst="line">
              <a:avLst/>
            </a:prstGeom>
            <a:ln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8" name="그룹 187">
              <a:extLst>
                <a:ext uri="{FF2B5EF4-FFF2-40B4-BE49-F238E27FC236}">
                  <a16:creationId xmlns:a16="http://schemas.microsoft.com/office/drawing/2014/main" id="{7950FEBB-E40A-4F59-AF6F-46F0F3F459CA}"/>
                </a:ext>
              </a:extLst>
            </p:cNvPr>
            <p:cNvGrpSpPr/>
            <p:nvPr/>
          </p:nvGrpSpPr>
          <p:grpSpPr>
            <a:xfrm>
              <a:off x="7697939" y="3326635"/>
              <a:ext cx="844330" cy="801586"/>
              <a:chOff x="8242960" y="2282537"/>
              <a:chExt cx="866992" cy="1143702"/>
            </a:xfrm>
          </p:grpSpPr>
          <p:sp>
            <p:nvSpPr>
              <p:cNvPr id="204" name="직사각형 203">
                <a:extLst>
                  <a:ext uri="{FF2B5EF4-FFF2-40B4-BE49-F238E27FC236}">
                    <a16:creationId xmlns:a16="http://schemas.microsoft.com/office/drawing/2014/main" id="{EB9A94E9-41CB-48FA-A698-167E235E632E}"/>
                  </a:ext>
                </a:extLst>
              </p:cNvPr>
              <p:cNvSpPr/>
              <p:nvPr/>
            </p:nvSpPr>
            <p:spPr>
              <a:xfrm>
                <a:off x="8579077" y="2289300"/>
                <a:ext cx="164131" cy="1136939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20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pic>
            <p:nvPicPr>
              <p:cNvPr id="205" name="Picture 4" descr="ê´ë ¨ ì´ë¯¸ì§">
                <a:extLst>
                  <a:ext uri="{FF2B5EF4-FFF2-40B4-BE49-F238E27FC236}">
                    <a16:creationId xmlns:a16="http://schemas.microsoft.com/office/drawing/2014/main" id="{0067442B-D31C-42B5-9E0B-C127B8C539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0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242960" y="2282537"/>
                <a:ext cx="866992" cy="1143702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sp>
          <p:nvSpPr>
            <p:cNvPr id="189" name="TextBox 188">
              <a:extLst>
                <a:ext uri="{FF2B5EF4-FFF2-40B4-BE49-F238E27FC236}">
                  <a16:creationId xmlns:a16="http://schemas.microsoft.com/office/drawing/2014/main" id="{FF2D3E4F-6104-4B4C-9CF6-CE25A6F9F924}"/>
                </a:ext>
              </a:extLst>
            </p:cNvPr>
            <p:cNvSpPr txBox="1"/>
            <p:nvPr/>
          </p:nvSpPr>
          <p:spPr>
            <a:xfrm>
              <a:off x="1025735" y="3158233"/>
              <a:ext cx="614897" cy="20005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장치 명</a:t>
              </a:r>
            </a:p>
          </p:txBody>
        </p:sp>
        <p:sp>
          <p:nvSpPr>
            <p:cNvPr id="190" name="TextBox 189">
              <a:extLst>
                <a:ext uri="{FF2B5EF4-FFF2-40B4-BE49-F238E27FC236}">
                  <a16:creationId xmlns:a16="http://schemas.microsoft.com/office/drawing/2014/main" id="{0AE621C6-9812-4A94-A079-EF33F1C52EB7}"/>
                </a:ext>
              </a:extLst>
            </p:cNvPr>
            <p:cNvSpPr txBox="1"/>
            <p:nvPr/>
          </p:nvSpPr>
          <p:spPr>
            <a:xfrm>
              <a:off x="1753330" y="3158232"/>
              <a:ext cx="614897" cy="20005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장치 </a:t>
              </a:r>
              <a:r>
                <a:rPr lang="en-US" altLang="ko-KR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ID</a:t>
              </a:r>
              <a:endParaRPr lang="ko-KR" altLang="en-US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91" name="TextBox 190">
              <a:extLst>
                <a:ext uri="{FF2B5EF4-FFF2-40B4-BE49-F238E27FC236}">
                  <a16:creationId xmlns:a16="http://schemas.microsoft.com/office/drawing/2014/main" id="{37D23E3E-FB8E-4300-920A-6286722D3912}"/>
                </a:ext>
              </a:extLst>
            </p:cNvPr>
            <p:cNvSpPr txBox="1"/>
            <p:nvPr/>
          </p:nvSpPr>
          <p:spPr>
            <a:xfrm>
              <a:off x="3420115" y="3158233"/>
              <a:ext cx="747163" cy="20005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알람 타입</a:t>
              </a:r>
            </a:p>
          </p:txBody>
        </p: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14A3981E-F6C0-4C93-B8E8-9B5D6CF2C80F}"/>
                </a:ext>
              </a:extLst>
            </p:cNvPr>
            <p:cNvSpPr txBox="1"/>
            <p:nvPr/>
          </p:nvSpPr>
          <p:spPr>
            <a:xfrm>
              <a:off x="4693130" y="3158233"/>
              <a:ext cx="907942" cy="20005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알람 메시지</a:t>
              </a:r>
            </a:p>
          </p:txBody>
        </p:sp>
        <p:sp>
          <p:nvSpPr>
            <p:cNvPr id="193" name="TextBox 192">
              <a:extLst>
                <a:ext uri="{FF2B5EF4-FFF2-40B4-BE49-F238E27FC236}">
                  <a16:creationId xmlns:a16="http://schemas.microsoft.com/office/drawing/2014/main" id="{B77388BA-2884-4EEA-AEED-7C6E6EE1B6EA}"/>
                </a:ext>
              </a:extLst>
            </p:cNvPr>
            <p:cNvSpPr txBox="1"/>
            <p:nvPr/>
          </p:nvSpPr>
          <p:spPr>
            <a:xfrm>
              <a:off x="6151156" y="3158233"/>
              <a:ext cx="771705" cy="20005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알람 상태</a:t>
              </a:r>
            </a:p>
          </p:txBody>
        </p:sp>
        <p:sp>
          <p:nvSpPr>
            <p:cNvPr id="194" name="TextBox 193">
              <a:extLst>
                <a:ext uri="{FF2B5EF4-FFF2-40B4-BE49-F238E27FC236}">
                  <a16:creationId xmlns:a16="http://schemas.microsoft.com/office/drawing/2014/main" id="{9B560918-F701-4C11-973B-04FE8BB7FBBB}"/>
                </a:ext>
              </a:extLst>
            </p:cNvPr>
            <p:cNvSpPr txBox="1"/>
            <p:nvPr/>
          </p:nvSpPr>
          <p:spPr>
            <a:xfrm>
              <a:off x="7050748" y="3156150"/>
              <a:ext cx="783748" cy="20005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조치 여부</a:t>
              </a:r>
            </a:p>
          </p:txBody>
        </p:sp>
        <p:cxnSp>
          <p:nvCxnSpPr>
            <p:cNvPr id="195" name="직선 연결선 194">
              <a:extLst>
                <a:ext uri="{FF2B5EF4-FFF2-40B4-BE49-F238E27FC236}">
                  <a16:creationId xmlns:a16="http://schemas.microsoft.com/office/drawing/2014/main" id="{29197E9E-5A0E-4731-800C-8A5F2BCF93AE}"/>
                </a:ext>
              </a:extLst>
            </p:cNvPr>
            <p:cNvCxnSpPr>
              <a:cxnSpLocks/>
            </p:cNvCxnSpPr>
            <p:nvPr/>
          </p:nvCxnSpPr>
          <p:spPr>
            <a:xfrm>
              <a:off x="1630237" y="3343864"/>
              <a:ext cx="0" cy="777626"/>
            </a:xfrm>
            <a:prstGeom prst="line">
              <a:avLst/>
            </a:prstGeom>
            <a:ln w="6350">
              <a:solidFill>
                <a:schemeClr val="tx1">
                  <a:lumMod val="50000"/>
                  <a:lumOff val="50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직선 연결선 195">
              <a:extLst>
                <a:ext uri="{FF2B5EF4-FFF2-40B4-BE49-F238E27FC236}">
                  <a16:creationId xmlns:a16="http://schemas.microsoft.com/office/drawing/2014/main" id="{0723A134-84E1-4B86-8533-83DD13AD54A7}"/>
                </a:ext>
              </a:extLst>
            </p:cNvPr>
            <p:cNvCxnSpPr>
              <a:cxnSpLocks/>
            </p:cNvCxnSpPr>
            <p:nvPr/>
          </p:nvCxnSpPr>
          <p:spPr>
            <a:xfrm>
              <a:off x="2426106" y="3347022"/>
              <a:ext cx="0" cy="777626"/>
            </a:xfrm>
            <a:prstGeom prst="line">
              <a:avLst/>
            </a:prstGeom>
            <a:ln w="6350">
              <a:solidFill>
                <a:schemeClr val="tx1">
                  <a:lumMod val="50000"/>
                  <a:lumOff val="50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직선 연결선 196">
              <a:extLst>
                <a:ext uri="{FF2B5EF4-FFF2-40B4-BE49-F238E27FC236}">
                  <a16:creationId xmlns:a16="http://schemas.microsoft.com/office/drawing/2014/main" id="{9E637D8C-54A3-4933-929E-5967CA0386C8}"/>
                </a:ext>
              </a:extLst>
            </p:cNvPr>
            <p:cNvCxnSpPr>
              <a:cxnSpLocks/>
            </p:cNvCxnSpPr>
            <p:nvPr/>
          </p:nvCxnSpPr>
          <p:spPr>
            <a:xfrm>
              <a:off x="4232920" y="3340761"/>
              <a:ext cx="0" cy="777626"/>
            </a:xfrm>
            <a:prstGeom prst="line">
              <a:avLst/>
            </a:prstGeom>
            <a:ln w="6350">
              <a:solidFill>
                <a:schemeClr val="tx1">
                  <a:lumMod val="50000"/>
                  <a:lumOff val="50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직선 연결선 197">
              <a:extLst>
                <a:ext uri="{FF2B5EF4-FFF2-40B4-BE49-F238E27FC236}">
                  <a16:creationId xmlns:a16="http://schemas.microsoft.com/office/drawing/2014/main" id="{04855690-4B11-4E8D-BF66-BB5E0BC462A6}"/>
                </a:ext>
              </a:extLst>
            </p:cNvPr>
            <p:cNvCxnSpPr>
              <a:cxnSpLocks/>
            </p:cNvCxnSpPr>
            <p:nvPr/>
          </p:nvCxnSpPr>
          <p:spPr>
            <a:xfrm>
              <a:off x="6048170" y="3348933"/>
              <a:ext cx="0" cy="777626"/>
            </a:xfrm>
            <a:prstGeom prst="line">
              <a:avLst/>
            </a:prstGeom>
            <a:ln w="6350">
              <a:solidFill>
                <a:schemeClr val="tx1">
                  <a:lumMod val="50000"/>
                  <a:lumOff val="50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직선 연결선 198">
              <a:extLst>
                <a:ext uri="{FF2B5EF4-FFF2-40B4-BE49-F238E27FC236}">
                  <a16:creationId xmlns:a16="http://schemas.microsoft.com/office/drawing/2014/main" id="{EFBF856F-91AE-4027-8832-E50A27ADFA6A}"/>
                </a:ext>
              </a:extLst>
            </p:cNvPr>
            <p:cNvCxnSpPr>
              <a:cxnSpLocks/>
            </p:cNvCxnSpPr>
            <p:nvPr/>
          </p:nvCxnSpPr>
          <p:spPr>
            <a:xfrm>
              <a:off x="6998867" y="3340761"/>
              <a:ext cx="0" cy="777626"/>
            </a:xfrm>
            <a:prstGeom prst="line">
              <a:avLst/>
            </a:prstGeom>
            <a:ln w="6350">
              <a:solidFill>
                <a:schemeClr val="tx1">
                  <a:lumMod val="50000"/>
                  <a:lumOff val="50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0" name="TextBox 199">
              <a:extLst>
                <a:ext uri="{FF2B5EF4-FFF2-40B4-BE49-F238E27FC236}">
                  <a16:creationId xmlns:a16="http://schemas.microsoft.com/office/drawing/2014/main" id="{40376452-B2F4-4902-89C5-3AEA152AEE07}"/>
                </a:ext>
              </a:extLst>
            </p:cNvPr>
            <p:cNvSpPr txBox="1"/>
            <p:nvPr/>
          </p:nvSpPr>
          <p:spPr>
            <a:xfrm>
              <a:off x="2533785" y="3160317"/>
              <a:ext cx="747163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알람 시간</a:t>
              </a:r>
            </a:p>
          </p:txBody>
        </p:sp>
        <p:cxnSp>
          <p:nvCxnSpPr>
            <p:cNvPr id="201" name="직선 연결선 200">
              <a:extLst>
                <a:ext uri="{FF2B5EF4-FFF2-40B4-BE49-F238E27FC236}">
                  <a16:creationId xmlns:a16="http://schemas.microsoft.com/office/drawing/2014/main" id="{402014CA-BF57-48AD-8D49-0BD65E16E5D8}"/>
                </a:ext>
              </a:extLst>
            </p:cNvPr>
            <p:cNvCxnSpPr>
              <a:cxnSpLocks/>
            </p:cNvCxnSpPr>
            <p:nvPr/>
          </p:nvCxnSpPr>
          <p:spPr>
            <a:xfrm>
              <a:off x="3336605" y="3351521"/>
              <a:ext cx="0" cy="777626"/>
            </a:xfrm>
            <a:prstGeom prst="line">
              <a:avLst/>
            </a:prstGeom>
            <a:ln w="6350">
              <a:solidFill>
                <a:schemeClr val="tx1">
                  <a:lumMod val="50000"/>
                  <a:lumOff val="50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2" name="TextBox 201">
              <a:extLst>
                <a:ext uri="{FF2B5EF4-FFF2-40B4-BE49-F238E27FC236}">
                  <a16:creationId xmlns:a16="http://schemas.microsoft.com/office/drawing/2014/main" id="{E1FF4831-CA58-4E37-BCDE-17AC593F957B}"/>
                </a:ext>
              </a:extLst>
            </p:cNvPr>
            <p:cNvSpPr txBox="1"/>
            <p:nvPr/>
          </p:nvSpPr>
          <p:spPr>
            <a:xfrm>
              <a:off x="344488" y="3162060"/>
              <a:ext cx="614897" cy="20005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장치 타입</a:t>
              </a:r>
            </a:p>
          </p:txBody>
        </p:sp>
        <p:cxnSp>
          <p:nvCxnSpPr>
            <p:cNvPr id="203" name="직선 연결선 202">
              <a:extLst>
                <a:ext uri="{FF2B5EF4-FFF2-40B4-BE49-F238E27FC236}">
                  <a16:creationId xmlns:a16="http://schemas.microsoft.com/office/drawing/2014/main" id="{B27D6B58-9605-487C-ADB4-973026F68266}"/>
                </a:ext>
              </a:extLst>
            </p:cNvPr>
            <p:cNvCxnSpPr>
              <a:cxnSpLocks/>
            </p:cNvCxnSpPr>
            <p:nvPr/>
          </p:nvCxnSpPr>
          <p:spPr>
            <a:xfrm>
              <a:off x="992560" y="3347691"/>
              <a:ext cx="0" cy="777626"/>
            </a:xfrm>
            <a:prstGeom prst="line">
              <a:avLst/>
            </a:prstGeom>
            <a:ln w="6350">
              <a:solidFill>
                <a:schemeClr val="tx1">
                  <a:lumMod val="50000"/>
                  <a:lumOff val="50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5" name="그룹 14">
            <a:extLst>
              <a:ext uri="{FF2B5EF4-FFF2-40B4-BE49-F238E27FC236}">
                <a16:creationId xmlns:a16="http://schemas.microsoft.com/office/drawing/2014/main" id="{183D8E88-589A-49DD-B606-4FCF87EDA728}"/>
              </a:ext>
            </a:extLst>
          </p:cNvPr>
          <p:cNvGrpSpPr/>
          <p:nvPr/>
        </p:nvGrpSpPr>
        <p:grpSpPr>
          <a:xfrm>
            <a:off x="318998" y="3351344"/>
            <a:ext cx="7511272" cy="205966"/>
            <a:chOff x="304948" y="4123517"/>
            <a:chExt cx="7511272" cy="205966"/>
          </a:xfrm>
        </p:grpSpPr>
        <p:sp>
          <p:nvSpPr>
            <p:cNvPr id="214" name="TextBox 213">
              <a:extLst>
                <a:ext uri="{FF2B5EF4-FFF2-40B4-BE49-F238E27FC236}">
                  <a16:creationId xmlns:a16="http://schemas.microsoft.com/office/drawing/2014/main" id="{A08314C5-5FE8-4194-978D-8F886D824AC2}"/>
                </a:ext>
              </a:extLst>
            </p:cNvPr>
            <p:cNvSpPr txBox="1"/>
            <p:nvPr/>
          </p:nvSpPr>
          <p:spPr>
            <a:xfrm>
              <a:off x="1007459" y="4125600"/>
              <a:ext cx="614897" cy="200056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BMS_1</a:t>
              </a:r>
              <a:endParaRPr lang="ko-KR" altLang="en-US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15" name="TextBox 214">
              <a:extLst>
                <a:ext uri="{FF2B5EF4-FFF2-40B4-BE49-F238E27FC236}">
                  <a16:creationId xmlns:a16="http://schemas.microsoft.com/office/drawing/2014/main" id="{CF400D87-5D10-419C-8AE9-F15747882735}"/>
                </a:ext>
              </a:extLst>
            </p:cNvPr>
            <p:cNvSpPr txBox="1"/>
            <p:nvPr/>
          </p:nvSpPr>
          <p:spPr>
            <a:xfrm>
              <a:off x="1720878" y="4125599"/>
              <a:ext cx="614897" cy="200056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12001</a:t>
              </a:r>
              <a:endParaRPr lang="ko-KR" altLang="en-US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16" name="TextBox 215">
              <a:extLst>
                <a:ext uri="{FF2B5EF4-FFF2-40B4-BE49-F238E27FC236}">
                  <a16:creationId xmlns:a16="http://schemas.microsoft.com/office/drawing/2014/main" id="{14444AE5-9678-4887-AEEB-A7EE89ED80FB}"/>
                </a:ext>
              </a:extLst>
            </p:cNvPr>
            <p:cNvSpPr txBox="1"/>
            <p:nvPr/>
          </p:nvSpPr>
          <p:spPr>
            <a:xfrm>
              <a:off x="3380575" y="4125600"/>
              <a:ext cx="747163" cy="200057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FALUT</a:t>
              </a:r>
              <a:endParaRPr lang="ko-KR" altLang="en-US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17" name="TextBox 216">
              <a:extLst>
                <a:ext uri="{FF2B5EF4-FFF2-40B4-BE49-F238E27FC236}">
                  <a16:creationId xmlns:a16="http://schemas.microsoft.com/office/drawing/2014/main" id="{D7C95312-C453-474A-8C81-3DED91381D49}"/>
                </a:ext>
              </a:extLst>
            </p:cNvPr>
            <p:cNvSpPr txBox="1"/>
            <p:nvPr/>
          </p:nvSpPr>
          <p:spPr>
            <a:xfrm>
              <a:off x="4653590" y="4125600"/>
              <a:ext cx="907942" cy="200055"/>
            </a:xfrm>
            <a:prstGeom prst="rect">
              <a:avLst/>
            </a:prstGeom>
          </p:spPr>
          <p:txBody>
            <a:bodyPr wrap="square" rtlCol="0">
              <a:spAutoFit/>
            </a:bodyPr>
            <a:lstStyle>
              <a:defPPr>
                <a:defRPr lang="ko-KR"/>
              </a:defPPr>
              <a:lvl1pPr algn="ctr">
                <a:defRPr sz="70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1pPr>
            </a:lstStyle>
            <a:p>
              <a:r>
                <a:rPr lang="en-US" altLang="ko-KR" dirty="0"/>
                <a:t>Over cell Voltage</a:t>
              </a:r>
              <a:endParaRPr lang="ko-KR" altLang="en-US" dirty="0"/>
            </a:p>
          </p:txBody>
        </p:sp>
        <p:sp>
          <p:nvSpPr>
            <p:cNvPr id="218" name="TextBox 217">
              <a:extLst>
                <a:ext uri="{FF2B5EF4-FFF2-40B4-BE49-F238E27FC236}">
                  <a16:creationId xmlns:a16="http://schemas.microsoft.com/office/drawing/2014/main" id="{0A77E269-6C98-4BDE-B56B-E2FF7AD08553}"/>
                </a:ext>
              </a:extLst>
            </p:cNvPr>
            <p:cNvSpPr txBox="1"/>
            <p:nvPr/>
          </p:nvSpPr>
          <p:spPr>
            <a:xfrm>
              <a:off x="6111616" y="4125600"/>
              <a:ext cx="771705" cy="200057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발생</a:t>
              </a:r>
            </a:p>
          </p:txBody>
        </p:sp>
        <p:sp>
          <p:nvSpPr>
            <p:cNvPr id="219" name="TextBox 218">
              <a:extLst>
                <a:ext uri="{FF2B5EF4-FFF2-40B4-BE49-F238E27FC236}">
                  <a16:creationId xmlns:a16="http://schemas.microsoft.com/office/drawing/2014/main" id="{BC861573-1769-4EAE-9FAD-A727C7BB4AF8}"/>
                </a:ext>
              </a:extLst>
            </p:cNvPr>
            <p:cNvSpPr txBox="1"/>
            <p:nvPr/>
          </p:nvSpPr>
          <p:spPr>
            <a:xfrm>
              <a:off x="7032472" y="4123517"/>
              <a:ext cx="783748" cy="200056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700" dirty="0" err="1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미조치</a:t>
              </a:r>
              <a:endParaRPr lang="ko-KR" altLang="en-US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20" name="TextBox 219">
              <a:extLst>
                <a:ext uri="{FF2B5EF4-FFF2-40B4-BE49-F238E27FC236}">
                  <a16:creationId xmlns:a16="http://schemas.microsoft.com/office/drawing/2014/main" id="{557AF5ED-5AA8-48C8-8D2F-2F58710CE559}"/>
                </a:ext>
              </a:extLst>
            </p:cNvPr>
            <p:cNvSpPr txBox="1"/>
            <p:nvPr/>
          </p:nvSpPr>
          <p:spPr>
            <a:xfrm>
              <a:off x="2437541" y="4127684"/>
              <a:ext cx="886245" cy="184666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6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2018.07.15 16:01:02</a:t>
              </a:r>
              <a:endParaRPr lang="ko-KR" altLang="en-US" sz="6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21" name="TextBox 220">
              <a:extLst>
                <a:ext uri="{FF2B5EF4-FFF2-40B4-BE49-F238E27FC236}">
                  <a16:creationId xmlns:a16="http://schemas.microsoft.com/office/drawing/2014/main" id="{1E1C0AEE-571F-47F8-BBB9-8F82942ED42B}"/>
                </a:ext>
              </a:extLst>
            </p:cNvPr>
            <p:cNvSpPr txBox="1"/>
            <p:nvPr/>
          </p:nvSpPr>
          <p:spPr>
            <a:xfrm>
              <a:off x="304948" y="4129427"/>
              <a:ext cx="614897" cy="200056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BMS</a:t>
              </a:r>
              <a:endParaRPr lang="ko-KR" altLang="en-US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227" name="타원형 설명선 226"/>
          <p:cNvSpPr/>
          <p:nvPr/>
        </p:nvSpPr>
        <p:spPr>
          <a:xfrm>
            <a:off x="4031037" y="1460092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4" name="타원형 설명선 243"/>
          <p:cNvSpPr/>
          <p:nvPr/>
        </p:nvSpPr>
        <p:spPr>
          <a:xfrm>
            <a:off x="18434" y="2729514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5" name="타원형 설명선 244"/>
          <p:cNvSpPr/>
          <p:nvPr/>
        </p:nvSpPr>
        <p:spPr>
          <a:xfrm>
            <a:off x="119682" y="1848678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6" name="타원형 설명선 245"/>
          <p:cNvSpPr/>
          <p:nvPr/>
        </p:nvSpPr>
        <p:spPr>
          <a:xfrm>
            <a:off x="56071" y="4094355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3" name="타원형 설명선 225">
            <a:extLst>
              <a:ext uri="{FF2B5EF4-FFF2-40B4-BE49-F238E27FC236}">
                <a16:creationId xmlns:a16="http://schemas.microsoft.com/office/drawing/2014/main" id="{93402A8C-F86A-4207-9226-F02BE6AB6E19}"/>
              </a:ext>
            </a:extLst>
          </p:cNvPr>
          <p:cNvSpPr/>
          <p:nvPr/>
        </p:nvSpPr>
        <p:spPr>
          <a:xfrm>
            <a:off x="973619" y="1487634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722657770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9104309" y="6645875"/>
            <a:ext cx="140029" cy="138499"/>
          </a:xfrm>
        </p:spPr>
        <p:txBody>
          <a:bodyPr/>
          <a:lstStyle/>
          <a:p>
            <a:pPr>
              <a:defRPr/>
            </a:pPr>
            <a:fld id="{9E41B634-5682-4388-99E7-FE44DCFD254B}" type="slidenum">
              <a:rPr lang="ko-KR" altLang="en-US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>
                <a:defRPr/>
              </a:pPr>
              <a:t>42</a:t>
            </a:fld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텍스트 개체 틀 8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Site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 &gt;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요금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/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수익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&gt;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한전 요금 조회</a:t>
            </a:r>
          </a:p>
        </p:txBody>
      </p:sp>
      <p:sp>
        <p:nvSpPr>
          <p:cNvPr id="10" name="텍스트 개체 틀 9"/>
          <p:cNvSpPr>
            <a:spLocks noGrp="1"/>
          </p:cNvSpPr>
          <p:nvPr>
            <p:ph type="body" sz="quarter" idx="10"/>
          </p:nvPr>
        </p:nvSpPr>
        <p:spPr>
          <a:xfrm>
            <a:off x="6023595" y="44624"/>
            <a:ext cx="1233661" cy="196974"/>
          </a:xfrm>
        </p:spPr>
        <p:txBody>
          <a:bodyPr/>
          <a:lstStyle/>
          <a:p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한전 요금 조회</a:t>
            </a:r>
          </a:p>
        </p:txBody>
      </p:sp>
      <p:graphicFrame>
        <p:nvGraphicFramePr>
          <p:cNvPr id="102" name="Group 15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1611178"/>
              </p:ext>
            </p:extLst>
          </p:nvPr>
        </p:nvGraphicFramePr>
        <p:xfrm>
          <a:off x="8469313" y="276225"/>
          <a:ext cx="1404000" cy="5258880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3002"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Description</a:t>
                      </a: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기간설정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1)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기간은 월 단위 설정만 가능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2)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버튼을 클릭하면 조회 진행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2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그래프 표시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1)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각 항목 누적의 막대 그래프 형태로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2)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각 월 별 그래프 항목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3)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누적 데이터 항목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기본요금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사용요금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전기요금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전력산업기반기금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부가세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3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표 표시</a:t>
                      </a:r>
                      <a:endParaRPr kumimoji="1" lang="en-US" altLang="ko-KR" sz="8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  <a:p>
                      <a:r>
                        <a:rPr kumimoji="1" lang="en-US" altLang="ko-KR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 1)</a:t>
                      </a: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 한전 전기요금 구성요소를 표로 표시</a:t>
                      </a:r>
                      <a:endParaRPr kumimoji="1" lang="en-US" altLang="ko-KR" sz="8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  <a:p>
                      <a:r>
                        <a:rPr kumimoji="1" lang="en-US" altLang="ko-KR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 2) </a:t>
                      </a: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그래프에 포함되지 않은 </a:t>
                      </a:r>
                      <a:r>
                        <a:rPr lang="ko-KR" altLang="en-US" sz="800" b="0" u="none" dirty="0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역률</a:t>
                      </a:r>
                      <a:r>
                        <a:rPr lang="en-US" altLang="ko-KR" sz="800" b="0" u="none" dirty="0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</a:t>
                      </a:r>
                      <a:r>
                        <a:rPr lang="ko-KR" altLang="en-US" sz="800" b="0" u="none" dirty="0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전기요금합계</a:t>
                      </a:r>
                      <a:r>
                        <a:rPr lang="en-US" altLang="ko-KR" sz="800" b="0" u="none" dirty="0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800" b="0" u="none" dirty="0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청구금액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등의 정보를 추가로 표시</a:t>
                      </a:r>
                      <a:endParaRPr kumimoji="1" lang="ko-KR" altLang="en-US" sz="8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4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데이터 저장하기</a:t>
                      </a:r>
                      <a:endParaRPr lang="en-US" altLang="ko-KR" sz="800" b="1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1)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조회된 데이터를 </a:t>
                      </a: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csv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형태의 파일로 저장한다</a:t>
                      </a: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.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2)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표에 표시된 항목을 그대로 저장하므로 </a:t>
                      </a:r>
                      <a:r>
                        <a:rPr lang="ko-KR" altLang="en-US" sz="800" b="0" u="none" dirty="0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역률</a:t>
                      </a:r>
                      <a:r>
                        <a:rPr lang="en-US" altLang="ko-KR" sz="800" b="0" u="none" dirty="0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</a:t>
                      </a:r>
                      <a:r>
                        <a:rPr lang="ko-KR" altLang="en-US" sz="800" b="0" u="none" dirty="0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전기요금합계</a:t>
                      </a:r>
                      <a:r>
                        <a:rPr lang="en-US" altLang="ko-KR" sz="800" b="0" u="none" dirty="0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800" b="0" u="none" dirty="0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청구금액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 포함된다</a:t>
                      </a: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.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5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명세서 확인하기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1)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해당 버튼을 클릭하면 명세서 확인 및 출력 화면이 팝업 된다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.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*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다음 페이지 참고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*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그래프 내의 사용요금을 역률 포함하여 적용할지 추가 검토 필요함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.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35921563"/>
                  </a:ext>
                </a:extLst>
              </a:tr>
            </a:tbl>
          </a:graphicData>
        </a:graphic>
      </p:graphicFrame>
      <p:sp>
        <p:nvSpPr>
          <p:cNvPr id="78" name="TextBox 77"/>
          <p:cNvSpPr txBox="1"/>
          <p:nvPr/>
        </p:nvSpPr>
        <p:spPr>
          <a:xfrm>
            <a:off x="7121707" y="21349"/>
            <a:ext cx="567597" cy="2308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화면</a:t>
            </a:r>
            <a:r>
              <a:rPr lang="en-US" altLang="ko-KR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ID</a:t>
            </a:r>
            <a:endParaRPr lang="ko-KR" altLang="en-US" sz="9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7689304" y="43659"/>
            <a:ext cx="792088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itchFamily="50" charset="-127"/>
                <a:ea typeface="맑은 고딕" pitchFamily="50" charset="-127"/>
              </a:rPr>
              <a:t>ewpsp_scr_025</a:t>
            </a:r>
            <a:endParaRPr lang="ko-KR" altLang="en-US" sz="700" dirty="0">
              <a:latin typeface="맑은 고딕" pitchFamily="50" charset="-127"/>
              <a:ea typeface="맑은 고딕" pitchFamily="50" charset="-127"/>
            </a:endParaRPr>
          </a:p>
        </p:txBody>
      </p:sp>
      <p:pic>
        <p:nvPicPr>
          <p:cNvPr id="18" name="Picture 3">
            <a:extLst>
              <a:ext uri="{FF2B5EF4-FFF2-40B4-BE49-F238E27FC236}">
                <a16:creationId xmlns:a16="http://schemas.microsoft.com/office/drawing/2014/main" id="{D14E8AEF-8EA8-4944-AE52-FF98A1FB783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463" y="764705"/>
            <a:ext cx="8208912" cy="4752527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  <a:extLst/>
        </p:spPr>
      </p:pic>
      <p:pic>
        <p:nvPicPr>
          <p:cNvPr id="19" name="Picture 2">
            <a:extLst>
              <a:ext uri="{FF2B5EF4-FFF2-40B4-BE49-F238E27FC236}">
                <a16:creationId xmlns:a16="http://schemas.microsoft.com/office/drawing/2014/main" id="{6FBB0165-03FF-4BBD-A158-8DEF923CF53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464" y="762442"/>
            <a:ext cx="8208912" cy="3487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20" name="직선 연결선 19">
            <a:extLst>
              <a:ext uri="{FF2B5EF4-FFF2-40B4-BE49-F238E27FC236}">
                <a16:creationId xmlns:a16="http://schemas.microsoft.com/office/drawing/2014/main" id="{37D07777-30AA-4506-9C18-6F3B4C7D943C}"/>
              </a:ext>
            </a:extLst>
          </p:cNvPr>
          <p:cNvCxnSpPr>
            <a:cxnSpLocks/>
          </p:cNvCxnSpPr>
          <p:nvPr/>
        </p:nvCxnSpPr>
        <p:spPr>
          <a:xfrm>
            <a:off x="128463" y="1124744"/>
            <a:ext cx="8208912" cy="0"/>
          </a:xfrm>
          <a:prstGeom prst="line">
            <a:avLst/>
          </a:prstGeom>
          <a:ln w="9525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5E84417E-CAA5-4FD3-BBB9-7CD5570EF571}"/>
              </a:ext>
            </a:extLst>
          </p:cNvPr>
          <p:cNvSpPr/>
          <p:nvPr/>
        </p:nvSpPr>
        <p:spPr>
          <a:xfrm>
            <a:off x="216315" y="1568074"/>
            <a:ext cx="1820532" cy="288032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10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한전 요금 조회</a:t>
            </a:r>
          </a:p>
        </p:txBody>
      </p:sp>
      <p:grpSp>
        <p:nvGrpSpPr>
          <p:cNvPr id="37" name="그룹 36">
            <a:extLst>
              <a:ext uri="{FF2B5EF4-FFF2-40B4-BE49-F238E27FC236}">
                <a16:creationId xmlns:a16="http://schemas.microsoft.com/office/drawing/2014/main" id="{66BFF179-6D85-452E-9564-60FFD2CE0D3D}"/>
              </a:ext>
            </a:extLst>
          </p:cNvPr>
          <p:cNvGrpSpPr/>
          <p:nvPr/>
        </p:nvGrpSpPr>
        <p:grpSpPr>
          <a:xfrm>
            <a:off x="299939" y="5159516"/>
            <a:ext cx="862386" cy="211955"/>
            <a:chOff x="4861742" y="3907374"/>
            <a:chExt cx="862386" cy="211955"/>
          </a:xfrm>
        </p:grpSpPr>
        <p:pic>
          <p:nvPicPr>
            <p:cNvPr id="38" name="Picture 6" descr="ìì ë¤ì´ë¡ëì ëí ì´ë¯¸ì§ ê²ìê²°ê³¼">
              <a:extLst>
                <a:ext uri="{FF2B5EF4-FFF2-40B4-BE49-F238E27FC236}">
                  <a16:creationId xmlns:a16="http://schemas.microsoft.com/office/drawing/2014/main" id="{72CEF38D-10AD-4758-B55F-6D8F726124F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861742" y="3907374"/>
              <a:ext cx="211955" cy="21195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5AB80116-BA59-4BBD-BC55-87962E3E05DB}"/>
                </a:ext>
              </a:extLst>
            </p:cNvPr>
            <p:cNvSpPr txBox="1"/>
            <p:nvPr/>
          </p:nvSpPr>
          <p:spPr>
            <a:xfrm>
              <a:off x="4949189" y="3921018"/>
              <a:ext cx="7749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600" b="1" dirty="0">
                  <a:solidFill>
                    <a:schemeClr val="bg1"/>
                  </a:solidFill>
                </a:rPr>
                <a:t>데이터 저장하기</a:t>
              </a:r>
            </a:p>
          </p:txBody>
        </p:sp>
      </p:grp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A27B69D7-2B77-4AF2-A717-2F8B00E5023D}"/>
              </a:ext>
            </a:extLst>
          </p:cNvPr>
          <p:cNvSpPr/>
          <p:nvPr/>
        </p:nvSpPr>
        <p:spPr>
          <a:xfrm>
            <a:off x="3584848" y="1580735"/>
            <a:ext cx="1224136" cy="288033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기간 설정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51E4F555-ACF8-422A-8A4C-263DF5607ED0}"/>
              </a:ext>
            </a:extLst>
          </p:cNvPr>
          <p:cNvSpPr/>
          <p:nvPr/>
        </p:nvSpPr>
        <p:spPr>
          <a:xfrm>
            <a:off x="4304928" y="1580735"/>
            <a:ext cx="1262753" cy="288033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YYYY-MM</a:t>
            </a:r>
            <a:endParaRPr lang="ko-KR" altLang="en-US" sz="90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056B85B8-E22D-471D-BF90-7BA59FDE59DA}"/>
              </a:ext>
            </a:extLst>
          </p:cNvPr>
          <p:cNvSpPr/>
          <p:nvPr/>
        </p:nvSpPr>
        <p:spPr>
          <a:xfrm>
            <a:off x="5567681" y="1580735"/>
            <a:ext cx="288032" cy="288033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▼</a:t>
            </a: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5DE85575-6695-43D9-BA78-E72D7749FD5A}"/>
              </a:ext>
            </a:extLst>
          </p:cNvPr>
          <p:cNvSpPr/>
          <p:nvPr/>
        </p:nvSpPr>
        <p:spPr>
          <a:xfrm>
            <a:off x="5855713" y="1580735"/>
            <a:ext cx="249415" cy="288033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~</a:t>
            </a:r>
            <a:endParaRPr lang="ko-KR" altLang="en-US" sz="900" b="1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52DDF82F-9C8F-422F-B328-3979E21AEB5E}"/>
              </a:ext>
            </a:extLst>
          </p:cNvPr>
          <p:cNvSpPr/>
          <p:nvPr/>
        </p:nvSpPr>
        <p:spPr>
          <a:xfrm>
            <a:off x="6105128" y="1580735"/>
            <a:ext cx="1262753" cy="288033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YYYY-MM</a:t>
            </a:r>
            <a:endParaRPr lang="ko-KR" altLang="en-US" sz="90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508668D7-197F-47CF-8003-58499E43E073}"/>
              </a:ext>
            </a:extLst>
          </p:cNvPr>
          <p:cNvSpPr/>
          <p:nvPr/>
        </p:nvSpPr>
        <p:spPr>
          <a:xfrm>
            <a:off x="7367881" y="1580735"/>
            <a:ext cx="288032" cy="288033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▼</a:t>
            </a:r>
          </a:p>
        </p:txBody>
      </p:sp>
      <p:pic>
        <p:nvPicPr>
          <p:cNvPr id="47" name="Picture 2" descr="ì¤ì ì ëí ì´ë¯¸ì§ ê²ìê²°ê³¼">
            <a:extLst>
              <a:ext uri="{FF2B5EF4-FFF2-40B4-BE49-F238E27FC236}">
                <a16:creationId xmlns:a16="http://schemas.microsoft.com/office/drawing/2014/main" id="{90A888AD-844A-4544-B02A-A77BC3397C7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05865" y="844086"/>
            <a:ext cx="198592" cy="19859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aphicFrame>
        <p:nvGraphicFramePr>
          <p:cNvPr id="52" name="표 51">
            <a:extLst>
              <a:ext uri="{FF2B5EF4-FFF2-40B4-BE49-F238E27FC236}">
                <a16:creationId xmlns:a16="http://schemas.microsoft.com/office/drawing/2014/main" id="{187A3FC0-D27B-41FF-B010-C51E062DB6F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82473204"/>
              </p:ext>
            </p:extLst>
          </p:nvPr>
        </p:nvGraphicFramePr>
        <p:xfrm>
          <a:off x="307420" y="2156800"/>
          <a:ext cx="7885940" cy="177984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3762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706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706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7069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7069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069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7069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70693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70693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706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706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706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706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254264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dirty="0"/>
                        <a:t>원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426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100,000</a:t>
                      </a:r>
                      <a:r>
                        <a:rPr lang="ko-KR" altLang="en-US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천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5426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80,000</a:t>
                      </a:r>
                      <a:r>
                        <a:rPr lang="ko-KR" altLang="en-US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천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5426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60,000</a:t>
                      </a:r>
                      <a:r>
                        <a:rPr lang="ko-KR" altLang="en-US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천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5426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40,000</a:t>
                      </a:r>
                      <a:r>
                        <a:rPr lang="ko-KR" altLang="en-US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천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5426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20,000</a:t>
                      </a:r>
                      <a:r>
                        <a:rPr lang="ko-KR" altLang="en-US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천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54264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01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02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03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04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05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06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07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08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09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10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11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12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cxnSp>
        <p:nvCxnSpPr>
          <p:cNvPr id="53" name="직선 연결선 52">
            <a:extLst>
              <a:ext uri="{FF2B5EF4-FFF2-40B4-BE49-F238E27FC236}">
                <a16:creationId xmlns:a16="http://schemas.microsoft.com/office/drawing/2014/main" id="{EDB69066-32AC-45F9-B844-1F9F84804F23}"/>
              </a:ext>
            </a:extLst>
          </p:cNvPr>
          <p:cNvCxnSpPr/>
          <p:nvPr/>
        </p:nvCxnSpPr>
        <p:spPr>
          <a:xfrm>
            <a:off x="1280592" y="3043256"/>
            <a:ext cx="6840760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직선 연결선 53">
            <a:extLst>
              <a:ext uri="{FF2B5EF4-FFF2-40B4-BE49-F238E27FC236}">
                <a16:creationId xmlns:a16="http://schemas.microsoft.com/office/drawing/2014/main" id="{7DE02802-A0A6-40AB-96D1-E98E609E7E38}"/>
              </a:ext>
            </a:extLst>
          </p:cNvPr>
          <p:cNvCxnSpPr/>
          <p:nvPr/>
        </p:nvCxnSpPr>
        <p:spPr>
          <a:xfrm>
            <a:off x="1280592" y="2539200"/>
            <a:ext cx="6840760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5" name="표 54">
            <a:extLst>
              <a:ext uri="{FF2B5EF4-FFF2-40B4-BE49-F238E27FC236}">
                <a16:creationId xmlns:a16="http://schemas.microsoft.com/office/drawing/2014/main" id="{C76C4459-AB26-42D5-9919-06C4B3BE2AD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13389564"/>
              </p:ext>
            </p:extLst>
          </p:nvPr>
        </p:nvGraphicFramePr>
        <p:xfrm>
          <a:off x="307420" y="3976256"/>
          <a:ext cx="7885940" cy="99773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3762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706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706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7069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7069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069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7069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70693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70693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706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706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706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706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129053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구분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r>
                        <a:rPr lang="ko-KR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r>
                        <a:rPr lang="ko-KR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r>
                        <a:rPr lang="ko-KR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</a:t>
                      </a:r>
                      <a:r>
                        <a:rPr lang="ko-KR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</a:t>
                      </a:r>
                      <a:r>
                        <a:rPr lang="ko-KR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</a:t>
                      </a:r>
                      <a:r>
                        <a:rPr lang="ko-KR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</a:t>
                      </a:r>
                      <a:r>
                        <a:rPr lang="ko-KR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</a:t>
                      </a:r>
                      <a:r>
                        <a:rPr lang="ko-KR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</a:t>
                      </a:r>
                      <a:r>
                        <a:rPr lang="ko-KR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</a:t>
                      </a:r>
                      <a:r>
                        <a:rPr lang="ko-KR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29053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기본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6,847,360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6,847,360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6,847,360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6,847,360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743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역률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-54,778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-54,778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-54,778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-54,778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사용요금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35,233,601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35,233,601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35,233,601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35,233,601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전기요금합계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42,026,183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42,026,183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42,026,183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42,026,183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전력산업기반기금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1,554,960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1,554,960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1,554,960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1,554,960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6858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부가세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4,202,618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4,202,618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4,202,618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4,202,618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청구금액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47,783,760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47,783,760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47,783,760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47,783,760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pSp>
        <p:nvGrpSpPr>
          <p:cNvPr id="3" name="그룹 2">
            <a:extLst>
              <a:ext uri="{FF2B5EF4-FFF2-40B4-BE49-F238E27FC236}">
                <a16:creationId xmlns:a16="http://schemas.microsoft.com/office/drawing/2014/main" id="{843AEFFA-3B29-43D8-AD21-72D5A41FAC0C}"/>
              </a:ext>
            </a:extLst>
          </p:cNvPr>
          <p:cNvGrpSpPr/>
          <p:nvPr/>
        </p:nvGrpSpPr>
        <p:grpSpPr>
          <a:xfrm>
            <a:off x="1496616" y="3223288"/>
            <a:ext cx="288032" cy="457835"/>
            <a:chOff x="1531556" y="3127336"/>
            <a:chExt cx="288032" cy="457835"/>
          </a:xfrm>
        </p:grpSpPr>
        <p:sp>
          <p:nvSpPr>
            <p:cNvPr id="57" name="직사각형 56">
              <a:extLst>
                <a:ext uri="{FF2B5EF4-FFF2-40B4-BE49-F238E27FC236}">
                  <a16:creationId xmlns:a16="http://schemas.microsoft.com/office/drawing/2014/main" id="{C7D274B0-4EAE-4073-8439-E4E9F14E3799}"/>
                </a:ext>
              </a:extLst>
            </p:cNvPr>
            <p:cNvSpPr/>
            <p:nvPr/>
          </p:nvSpPr>
          <p:spPr>
            <a:xfrm>
              <a:off x="1531556" y="3379352"/>
              <a:ext cx="288032" cy="205819"/>
            </a:xfrm>
            <a:prstGeom prst="rect">
              <a:avLst/>
            </a:prstGeom>
            <a:solidFill>
              <a:srgbClr val="92D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58" name="직사각형 57">
              <a:extLst>
                <a:ext uri="{FF2B5EF4-FFF2-40B4-BE49-F238E27FC236}">
                  <a16:creationId xmlns:a16="http://schemas.microsoft.com/office/drawing/2014/main" id="{2F39A81B-A049-46FE-ABE5-20611839361C}"/>
                </a:ext>
              </a:extLst>
            </p:cNvPr>
            <p:cNvSpPr/>
            <p:nvPr/>
          </p:nvSpPr>
          <p:spPr>
            <a:xfrm>
              <a:off x="1531556" y="3307352"/>
              <a:ext cx="288032" cy="72000"/>
            </a:xfrm>
            <a:prstGeom prst="rect">
              <a:avLst/>
            </a:prstGeom>
            <a:solidFill>
              <a:srgbClr val="FF993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59" name="직사각형 58">
              <a:extLst>
                <a:ext uri="{FF2B5EF4-FFF2-40B4-BE49-F238E27FC236}">
                  <a16:creationId xmlns:a16="http://schemas.microsoft.com/office/drawing/2014/main" id="{45A03613-B265-49E7-A5CC-567381B01EFB}"/>
                </a:ext>
              </a:extLst>
            </p:cNvPr>
            <p:cNvSpPr/>
            <p:nvPr/>
          </p:nvSpPr>
          <p:spPr>
            <a:xfrm>
              <a:off x="1531556" y="3235344"/>
              <a:ext cx="288032" cy="72000"/>
            </a:xfrm>
            <a:prstGeom prst="rect">
              <a:avLst/>
            </a:prstGeom>
            <a:solidFill>
              <a:srgbClr val="0066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60" name="직사각형 59">
              <a:extLst>
                <a:ext uri="{FF2B5EF4-FFF2-40B4-BE49-F238E27FC236}">
                  <a16:creationId xmlns:a16="http://schemas.microsoft.com/office/drawing/2014/main" id="{13746EBC-5005-4EF3-82AD-CE3AB29F3655}"/>
                </a:ext>
              </a:extLst>
            </p:cNvPr>
            <p:cNvSpPr/>
            <p:nvPr/>
          </p:nvSpPr>
          <p:spPr>
            <a:xfrm>
              <a:off x="1531556" y="3127336"/>
              <a:ext cx="288032" cy="108000"/>
            </a:xfrm>
            <a:prstGeom prst="rect">
              <a:avLst/>
            </a:prstGeom>
            <a:solidFill>
              <a:srgbClr val="FFC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grpSp>
        <p:nvGrpSpPr>
          <p:cNvPr id="4" name="그룹 3">
            <a:extLst>
              <a:ext uri="{FF2B5EF4-FFF2-40B4-BE49-F238E27FC236}">
                <a16:creationId xmlns:a16="http://schemas.microsoft.com/office/drawing/2014/main" id="{C6DB5B47-63BC-421D-BCA1-B173C0D48AD2}"/>
              </a:ext>
            </a:extLst>
          </p:cNvPr>
          <p:cNvGrpSpPr/>
          <p:nvPr/>
        </p:nvGrpSpPr>
        <p:grpSpPr>
          <a:xfrm>
            <a:off x="2065907" y="3090860"/>
            <a:ext cx="288032" cy="590263"/>
            <a:chOff x="2124398" y="2994908"/>
            <a:chExt cx="288032" cy="590263"/>
          </a:xfrm>
        </p:grpSpPr>
        <p:sp>
          <p:nvSpPr>
            <p:cNvPr id="65" name="직사각형 64">
              <a:extLst>
                <a:ext uri="{FF2B5EF4-FFF2-40B4-BE49-F238E27FC236}">
                  <a16:creationId xmlns:a16="http://schemas.microsoft.com/office/drawing/2014/main" id="{4EABE6D8-BE6E-4F92-867E-7578C9B7D897}"/>
                </a:ext>
              </a:extLst>
            </p:cNvPr>
            <p:cNvSpPr/>
            <p:nvPr/>
          </p:nvSpPr>
          <p:spPr>
            <a:xfrm>
              <a:off x="2124398" y="3319819"/>
              <a:ext cx="288032" cy="265352"/>
            </a:xfrm>
            <a:prstGeom prst="rect">
              <a:avLst/>
            </a:prstGeom>
            <a:solidFill>
              <a:srgbClr val="92D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66" name="직사각형 65">
              <a:extLst>
                <a:ext uri="{FF2B5EF4-FFF2-40B4-BE49-F238E27FC236}">
                  <a16:creationId xmlns:a16="http://schemas.microsoft.com/office/drawing/2014/main" id="{1C6EEC31-3D32-4B90-A84A-44A6684DE15C}"/>
                </a:ext>
              </a:extLst>
            </p:cNvPr>
            <p:cNvSpPr/>
            <p:nvPr/>
          </p:nvSpPr>
          <p:spPr>
            <a:xfrm>
              <a:off x="2124398" y="3226993"/>
              <a:ext cx="288032" cy="92826"/>
            </a:xfrm>
            <a:prstGeom prst="rect">
              <a:avLst/>
            </a:prstGeom>
            <a:solidFill>
              <a:srgbClr val="FF993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67" name="직사각형 66">
              <a:extLst>
                <a:ext uri="{FF2B5EF4-FFF2-40B4-BE49-F238E27FC236}">
                  <a16:creationId xmlns:a16="http://schemas.microsoft.com/office/drawing/2014/main" id="{B26EB58A-0AF5-46C4-A519-687C2BC42182}"/>
                </a:ext>
              </a:extLst>
            </p:cNvPr>
            <p:cNvSpPr/>
            <p:nvPr/>
          </p:nvSpPr>
          <p:spPr>
            <a:xfrm>
              <a:off x="2124398" y="3134157"/>
              <a:ext cx="288032" cy="92826"/>
            </a:xfrm>
            <a:prstGeom prst="rect">
              <a:avLst/>
            </a:prstGeom>
            <a:solidFill>
              <a:srgbClr val="0066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68" name="직사각형 67">
              <a:extLst>
                <a:ext uri="{FF2B5EF4-FFF2-40B4-BE49-F238E27FC236}">
                  <a16:creationId xmlns:a16="http://schemas.microsoft.com/office/drawing/2014/main" id="{066C510D-2895-442C-9EE0-636A18FB9AFC}"/>
                </a:ext>
              </a:extLst>
            </p:cNvPr>
            <p:cNvSpPr/>
            <p:nvPr/>
          </p:nvSpPr>
          <p:spPr>
            <a:xfrm>
              <a:off x="2124398" y="2994908"/>
              <a:ext cx="288032" cy="139239"/>
            </a:xfrm>
            <a:prstGeom prst="rect">
              <a:avLst/>
            </a:prstGeom>
            <a:solidFill>
              <a:srgbClr val="FFC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grpSp>
        <p:nvGrpSpPr>
          <p:cNvPr id="5" name="그룹 4">
            <a:extLst>
              <a:ext uri="{FF2B5EF4-FFF2-40B4-BE49-F238E27FC236}">
                <a16:creationId xmlns:a16="http://schemas.microsoft.com/office/drawing/2014/main" id="{53922AA6-8387-42EC-AC9D-77A8028CACC4}"/>
              </a:ext>
            </a:extLst>
          </p:cNvPr>
          <p:cNvGrpSpPr/>
          <p:nvPr/>
        </p:nvGrpSpPr>
        <p:grpSpPr>
          <a:xfrm>
            <a:off x="2635198" y="3268906"/>
            <a:ext cx="288032" cy="412217"/>
            <a:chOff x="2717240" y="3172954"/>
            <a:chExt cx="288032" cy="412217"/>
          </a:xfrm>
        </p:grpSpPr>
        <p:sp>
          <p:nvSpPr>
            <p:cNvPr id="72" name="직사각형 71">
              <a:extLst>
                <a:ext uri="{FF2B5EF4-FFF2-40B4-BE49-F238E27FC236}">
                  <a16:creationId xmlns:a16="http://schemas.microsoft.com/office/drawing/2014/main" id="{B4C9DDC6-8976-4148-8A6D-902B71653E21}"/>
                </a:ext>
              </a:extLst>
            </p:cNvPr>
            <p:cNvSpPr/>
            <p:nvPr/>
          </p:nvSpPr>
          <p:spPr>
            <a:xfrm>
              <a:off x="2717240" y="3396815"/>
              <a:ext cx="288032" cy="188356"/>
            </a:xfrm>
            <a:prstGeom prst="rect">
              <a:avLst/>
            </a:prstGeom>
            <a:solidFill>
              <a:srgbClr val="92D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73" name="직사각형 72">
              <a:extLst>
                <a:ext uri="{FF2B5EF4-FFF2-40B4-BE49-F238E27FC236}">
                  <a16:creationId xmlns:a16="http://schemas.microsoft.com/office/drawing/2014/main" id="{FD20EB40-C3CE-4B61-A89D-83C708F60267}"/>
                </a:ext>
              </a:extLst>
            </p:cNvPr>
            <p:cNvSpPr/>
            <p:nvPr/>
          </p:nvSpPr>
          <p:spPr>
            <a:xfrm>
              <a:off x="2717240" y="3337696"/>
              <a:ext cx="288032" cy="65891"/>
            </a:xfrm>
            <a:prstGeom prst="rect">
              <a:avLst/>
            </a:prstGeom>
            <a:solidFill>
              <a:srgbClr val="FF993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74" name="직사각형 73">
              <a:extLst>
                <a:ext uri="{FF2B5EF4-FFF2-40B4-BE49-F238E27FC236}">
                  <a16:creationId xmlns:a16="http://schemas.microsoft.com/office/drawing/2014/main" id="{98EB024E-87E7-40C7-9079-F53753112848}"/>
                </a:ext>
              </a:extLst>
            </p:cNvPr>
            <p:cNvSpPr/>
            <p:nvPr/>
          </p:nvSpPr>
          <p:spPr>
            <a:xfrm>
              <a:off x="2717240" y="3271798"/>
              <a:ext cx="288032" cy="65891"/>
            </a:xfrm>
            <a:prstGeom prst="rect">
              <a:avLst/>
            </a:prstGeom>
            <a:solidFill>
              <a:srgbClr val="0066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75" name="직사각형 74">
              <a:extLst>
                <a:ext uri="{FF2B5EF4-FFF2-40B4-BE49-F238E27FC236}">
                  <a16:creationId xmlns:a16="http://schemas.microsoft.com/office/drawing/2014/main" id="{248C23FF-D7B3-44C7-9AC0-B695BFA44D47}"/>
                </a:ext>
              </a:extLst>
            </p:cNvPr>
            <p:cNvSpPr/>
            <p:nvPr/>
          </p:nvSpPr>
          <p:spPr>
            <a:xfrm>
              <a:off x="2717240" y="3172954"/>
              <a:ext cx="288032" cy="98837"/>
            </a:xfrm>
            <a:prstGeom prst="rect">
              <a:avLst/>
            </a:prstGeom>
            <a:solidFill>
              <a:srgbClr val="FFC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grpSp>
        <p:nvGrpSpPr>
          <p:cNvPr id="7" name="그룹 6">
            <a:extLst>
              <a:ext uri="{FF2B5EF4-FFF2-40B4-BE49-F238E27FC236}">
                <a16:creationId xmlns:a16="http://schemas.microsoft.com/office/drawing/2014/main" id="{2C9787B3-D8CE-41C7-AC5B-C9D189C58DD6}"/>
              </a:ext>
            </a:extLst>
          </p:cNvPr>
          <p:cNvGrpSpPr/>
          <p:nvPr/>
        </p:nvGrpSpPr>
        <p:grpSpPr>
          <a:xfrm>
            <a:off x="3211262" y="3364817"/>
            <a:ext cx="288032" cy="316306"/>
            <a:chOff x="3323367" y="3268865"/>
            <a:chExt cx="288032" cy="316306"/>
          </a:xfrm>
        </p:grpSpPr>
        <p:sp>
          <p:nvSpPr>
            <p:cNvPr id="81" name="직사각형 80">
              <a:extLst>
                <a:ext uri="{FF2B5EF4-FFF2-40B4-BE49-F238E27FC236}">
                  <a16:creationId xmlns:a16="http://schemas.microsoft.com/office/drawing/2014/main" id="{0B20D984-8171-4FA0-BA55-C5369607B0A6}"/>
                </a:ext>
              </a:extLst>
            </p:cNvPr>
            <p:cNvSpPr/>
            <p:nvPr/>
          </p:nvSpPr>
          <p:spPr>
            <a:xfrm>
              <a:off x="3323367" y="3442976"/>
              <a:ext cx="288032" cy="142195"/>
            </a:xfrm>
            <a:prstGeom prst="rect">
              <a:avLst/>
            </a:prstGeom>
            <a:solidFill>
              <a:srgbClr val="92D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82" name="직사각형 81">
              <a:extLst>
                <a:ext uri="{FF2B5EF4-FFF2-40B4-BE49-F238E27FC236}">
                  <a16:creationId xmlns:a16="http://schemas.microsoft.com/office/drawing/2014/main" id="{96BE9DCE-ACAE-4A93-B198-FC5EB29D2343}"/>
                </a:ext>
              </a:extLst>
            </p:cNvPr>
            <p:cNvSpPr/>
            <p:nvPr/>
          </p:nvSpPr>
          <p:spPr>
            <a:xfrm>
              <a:off x="3323367" y="3393233"/>
              <a:ext cx="288032" cy="49743"/>
            </a:xfrm>
            <a:prstGeom prst="rect">
              <a:avLst/>
            </a:prstGeom>
            <a:solidFill>
              <a:srgbClr val="FF993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83" name="직사각형 82">
              <a:extLst>
                <a:ext uri="{FF2B5EF4-FFF2-40B4-BE49-F238E27FC236}">
                  <a16:creationId xmlns:a16="http://schemas.microsoft.com/office/drawing/2014/main" id="{50D7C79C-0E6E-4C9A-9A96-9971046A26BF}"/>
                </a:ext>
              </a:extLst>
            </p:cNvPr>
            <p:cNvSpPr/>
            <p:nvPr/>
          </p:nvSpPr>
          <p:spPr>
            <a:xfrm>
              <a:off x="3323367" y="3343485"/>
              <a:ext cx="288032" cy="49743"/>
            </a:xfrm>
            <a:prstGeom prst="rect">
              <a:avLst/>
            </a:prstGeom>
            <a:solidFill>
              <a:srgbClr val="0066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84" name="직사각형 83">
              <a:extLst>
                <a:ext uri="{FF2B5EF4-FFF2-40B4-BE49-F238E27FC236}">
                  <a16:creationId xmlns:a16="http://schemas.microsoft.com/office/drawing/2014/main" id="{F7417BF7-8A21-4D7A-94AB-DAF510F475EE}"/>
                </a:ext>
              </a:extLst>
            </p:cNvPr>
            <p:cNvSpPr/>
            <p:nvPr/>
          </p:nvSpPr>
          <p:spPr>
            <a:xfrm>
              <a:off x="3323367" y="3268865"/>
              <a:ext cx="288032" cy="74614"/>
            </a:xfrm>
            <a:prstGeom prst="rect">
              <a:avLst/>
            </a:prstGeom>
            <a:solidFill>
              <a:srgbClr val="FFC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sp>
        <p:nvSpPr>
          <p:cNvPr id="87" name="TextBox 86">
            <a:extLst>
              <a:ext uri="{FF2B5EF4-FFF2-40B4-BE49-F238E27FC236}">
                <a16:creationId xmlns:a16="http://schemas.microsoft.com/office/drawing/2014/main" id="{8022E966-6773-477B-BC7F-8585C81A6134}"/>
              </a:ext>
            </a:extLst>
          </p:cNvPr>
          <p:cNvSpPr txBox="1"/>
          <p:nvPr/>
        </p:nvSpPr>
        <p:spPr>
          <a:xfrm>
            <a:off x="7149244" y="5157772"/>
            <a:ext cx="972108" cy="215444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square" rtlCol="0" anchor="ctr">
            <a:spAutoFit/>
          </a:bodyPr>
          <a:lstStyle/>
          <a:p>
            <a:pPr algn="ctr"/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명세서 확인하기</a:t>
            </a: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F20F794E-4C53-4A0A-95B7-4F5F07A57AAC}"/>
              </a:ext>
            </a:extLst>
          </p:cNvPr>
          <p:cNvGrpSpPr/>
          <p:nvPr/>
        </p:nvGrpSpPr>
        <p:grpSpPr>
          <a:xfrm>
            <a:off x="3306578" y="1886167"/>
            <a:ext cx="4995374" cy="253211"/>
            <a:chOff x="416536" y="5920383"/>
            <a:chExt cx="4995374" cy="253211"/>
          </a:xfrm>
        </p:grpSpPr>
        <p:cxnSp>
          <p:nvCxnSpPr>
            <p:cNvPr id="96" name="직선 연결선 95">
              <a:extLst>
                <a:ext uri="{FF2B5EF4-FFF2-40B4-BE49-F238E27FC236}">
                  <a16:creationId xmlns:a16="http://schemas.microsoft.com/office/drawing/2014/main" id="{119ABD98-86D9-477A-9484-B6813FE213DD}"/>
                </a:ext>
              </a:extLst>
            </p:cNvPr>
            <p:cNvCxnSpPr/>
            <p:nvPr/>
          </p:nvCxnSpPr>
          <p:spPr>
            <a:xfrm>
              <a:off x="416536" y="6042610"/>
              <a:ext cx="360000" cy="0"/>
            </a:xfrm>
            <a:prstGeom prst="line">
              <a:avLst/>
            </a:prstGeom>
            <a:solidFill>
              <a:schemeClr val="accent3">
                <a:lumMod val="40000"/>
                <a:lumOff val="60000"/>
              </a:schemeClr>
            </a:solidFill>
            <a:ln>
              <a:solidFill>
                <a:srgbClr val="92D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97" name="직사각형 96">
              <a:extLst>
                <a:ext uri="{FF2B5EF4-FFF2-40B4-BE49-F238E27FC236}">
                  <a16:creationId xmlns:a16="http://schemas.microsoft.com/office/drawing/2014/main" id="{248DD5B6-CD4B-48DA-A74F-B703234A794E}"/>
                </a:ext>
              </a:extLst>
            </p:cNvPr>
            <p:cNvSpPr/>
            <p:nvPr/>
          </p:nvSpPr>
          <p:spPr>
            <a:xfrm>
              <a:off x="788562" y="5920383"/>
              <a:ext cx="608104" cy="253211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t" anchorCtr="0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ko-KR" altLang="en-US" sz="8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기본요금</a:t>
              </a:r>
            </a:p>
          </p:txBody>
        </p: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4E17B173-BD8D-4E63-8378-AFFE340A318E}"/>
                </a:ext>
              </a:extLst>
            </p:cNvPr>
            <p:cNvCxnSpPr/>
            <p:nvPr/>
          </p:nvCxnSpPr>
          <p:spPr>
            <a:xfrm>
              <a:off x="1496656" y="6042610"/>
              <a:ext cx="360000" cy="0"/>
            </a:xfrm>
            <a:prstGeom prst="line">
              <a:avLst/>
            </a:prstGeom>
            <a:solidFill>
              <a:schemeClr val="accent2">
                <a:lumMod val="60000"/>
                <a:lumOff val="40000"/>
              </a:schemeClr>
            </a:solidFill>
            <a:ln>
              <a:solidFill>
                <a:srgbClr val="FF993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99" name="직사각형 98">
              <a:extLst>
                <a:ext uri="{FF2B5EF4-FFF2-40B4-BE49-F238E27FC236}">
                  <a16:creationId xmlns:a16="http://schemas.microsoft.com/office/drawing/2014/main" id="{847239BB-125B-42AD-8F62-B5C2089F8FD4}"/>
                </a:ext>
              </a:extLst>
            </p:cNvPr>
            <p:cNvSpPr/>
            <p:nvPr/>
          </p:nvSpPr>
          <p:spPr>
            <a:xfrm>
              <a:off x="1856656" y="5920383"/>
              <a:ext cx="1106851" cy="253211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t" anchorCtr="0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ko-KR" altLang="en-US" sz="8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사용요금 </a:t>
              </a:r>
              <a:r>
                <a:rPr lang="en-US" altLang="ko-KR" sz="8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(</a:t>
              </a:r>
              <a:r>
                <a:rPr lang="ko-KR" altLang="en-US" sz="8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역률 적용</a:t>
              </a:r>
              <a:r>
                <a:rPr lang="en-US" altLang="ko-KR" sz="8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)</a:t>
              </a:r>
              <a:endParaRPr lang="ko-KR" altLang="en-US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F607CC83-83B5-4499-8866-055A9A8BCB0B}"/>
                </a:ext>
              </a:extLst>
            </p:cNvPr>
            <p:cNvCxnSpPr/>
            <p:nvPr/>
          </p:nvCxnSpPr>
          <p:spPr>
            <a:xfrm>
              <a:off x="3090547" y="6042610"/>
              <a:ext cx="360000" cy="0"/>
            </a:xfrm>
            <a:prstGeom prst="line">
              <a:avLst/>
            </a:prstGeom>
            <a:solidFill>
              <a:schemeClr val="accent3">
                <a:lumMod val="40000"/>
                <a:lumOff val="60000"/>
              </a:schemeClr>
            </a:solidFill>
            <a:ln>
              <a:solidFill>
                <a:srgbClr val="0066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01" name="직사각형 100">
              <a:extLst>
                <a:ext uri="{FF2B5EF4-FFF2-40B4-BE49-F238E27FC236}">
                  <a16:creationId xmlns:a16="http://schemas.microsoft.com/office/drawing/2014/main" id="{17F68F49-FF0B-41D2-ADA0-9C53C54FB1F2}"/>
                </a:ext>
              </a:extLst>
            </p:cNvPr>
            <p:cNvSpPr/>
            <p:nvPr/>
          </p:nvSpPr>
          <p:spPr>
            <a:xfrm>
              <a:off x="3440832" y="5920383"/>
              <a:ext cx="1008112" cy="253211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t" anchorCtr="0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ko-KR" altLang="en-US" sz="8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전력산업기반기금</a:t>
              </a:r>
            </a:p>
          </p:txBody>
        </p: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ABD8719B-03D5-4496-B5C9-D9703EE880CB}"/>
                </a:ext>
              </a:extLst>
            </p:cNvPr>
            <p:cNvCxnSpPr/>
            <p:nvPr/>
          </p:nvCxnSpPr>
          <p:spPr>
            <a:xfrm>
              <a:off x="4525204" y="6042610"/>
              <a:ext cx="360000" cy="0"/>
            </a:xfrm>
            <a:prstGeom prst="line">
              <a:avLst/>
            </a:prstGeom>
            <a:solidFill>
              <a:schemeClr val="accent2">
                <a:lumMod val="60000"/>
                <a:lumOff val="40000"/>
              </a:schemeClr>
            </a:solidFill>
            <a:ln>
              <a:solidFill>
                <a:schemeClr val="accent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04" name="직사각형 103">
              <a:extLst>
                <a:ext uri="{FF2B5EF4-FFF2-40B4-BE49-F238E27FC236}">
                  <a16:creationId xmlns:a16="http://schemas.microsoft.com/office/drawing/2014/main" id="{7D159337-7D29-42B4-82D4-E936914C7E14}"/>
                </a:ext>
              </a:extLst>
            </p:cNvPr>
            <p:cNvSpPr/>
            <p:nvPr/>
          </p:nvSpPr>
          <p:spPr>
            <a:xfrm>
              <a:off x="4880992" y="5920383"/>
              <a:ext cx="530918" cy="253211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t" anchorCtr="0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ko-KR" altLang="en-US" sz="8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부가세</a:t>
              </a:r>
            </a:p>
          </p:txBody>
        </p:sp>
      </p:grpSp>
      <p:grpSp>
        <p:nvGrpSpPr>
          <p:cNvPr id="69" name="그룹 68">
            <a:extLst>
              <a:ext uri="{FF2B5EF4-FFF2-40B4-BE49-F238E27FC236}">
                <a16:creationId xmlns:a16="http://schemas.microsoft.com/office/drawing/2014/main" id="{64B67FC2-8379-49FF-8198-8F6CA4BC21E0}"/>
              </a:ext>
            </a:extLst>
          </p:cNvPr>
          <p:cNvGrpSpPr/>
          <p:nvPr/>
        </p:nvGrpSpPr>
        <p:grpSpPr>
          <a:xfrm>
            <a:off x="210356" y="1203435"/>
            <a:ext cx="8024876" cy="260092"/>
            <a:chOff x="184526" y="1505937"/>
            <a:chExt cx="8024876" cy="260092"/>
          </a:xfrm>
        </p:grpSpPr>
        <p:sp>
          <p:nvSpPr>
            <p:cNvPr id="70" name="직사각형 69">
              <a:extLst>
                <a:ext uri="{FF2B5EF4-FFF2-40B4-BE49-F238E27FC236}">
                  <a16:creationId xmlns:a16="http://schemas.microsoft.com/office/drawing/2014/main" id="{2A9796DD-A1A8-4160-9532-6B0348C513CA}"/>
                </a:ext>
              </a:extLst>
            </p:cNvPr>
            <p:cNvSpPr/>
            <p:nvPr/>
          </p:nvSpPr>
          <p:spPr>
            <a:xfrm>
              <a:off x="5810955" y="1550585"/>
              <a:ext cx="1820532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수익 현황</a:t>
              </a:r>
            </a:p>
          </p:txBody>
        </p:sp>
        <p:sp>
          <p:nvSpPr>
            <p:cNvPr id="71" name="직사각형 70">
              <a:extLst>
                <a:ext uri="{FF2B5EF4-FFF2-40B4-BE49-F238E27FC236}">
                  <a16:creationId xmlns:a16="http://schemas.microsoft.com/office/drawing/2014/main" id="{9E8C8020-268D-415C-A23A-DEE3D5FB169E}"/>
                </a:ext>
              </a:extLst>
            </p:cNvPr>
            <p:cNvSpPr/>
            <p:nvPr/>
          </p:nvSpPr>
          <p:spPr>
            <a:xfrm>
              <a:off x="184526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에너지 모니터링</a:t>
              </a:r>
            </a:p>
          </p:txBody>
        </p:sp>
        <p:sp>
          <p:nvSpPr>
            <p:cNvPr id="76" name="직사각형 75">
              <a:extLst>
                <a:ext uri="{FF2B5EF4-FFF2-40B4-BE49-F238E27FC236}">
                  <a16:creationId xmlns:a16="http://schemas.microsoft.com/office/drawing/2014/main" id="{B8A2870B-8325-49B3-9B1A-D76632897F0D}"/>
                </a:ext>
              </a:extLst>
            </p:cNvPr>
            <p:cNvSpPr/>
            <p:nvPr/>
          </p:nvSpPr>
          <p:spPr>
            <a:xfrm>
              <a:off x="2191085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장치 모니터링</a:t>
              </a:r>
            </a:p>
          </p:txBody>
        </p:sp>
        <p:sp>
          <p:nvSpPr>
            <p:cNvPr id="77" name="직사각형 76">
              <a:extLst>
                <a:ext uri="{FF2B5EF4-FFF2-40B4-BE49-F238E27FC236}">
                  <a16:creationId xmlns:a16="http://schemas.microsoft.com/office/drawing/2014/main" id="{5F1E9526-3E5A-48A3-B37F-AE4759AE32DD}"/>
                </a:ext>
              </a:extLst>
            </p:cNvPr>
            <p:cNvSpPr/>
            <p:nvPr/>
          </p:nvSpPr>
          <p:spPr>
            <a:xfrm>
              <a:off x="4197644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상황</a:t>
              </a:r>
              <a:r>
                <a:rPr lang="en-US" altLang="ko-KR" sz="700" dirty="0"/>
                <a:t> </a:t>
              </a:r>
              <a:r>
                <a:rPr lang="ko-KR" altLang="en-US" sz="700" dirty="0"/>
                <a:t>관제</a:t>
              </a:r>
            </a:p>
          </p:txBody>
        </p:sp>
        <p:sp>
          <p:nvSpPr>
            <p:cNvPr id="80" name="직사각형 79">
              <a:extLst>
                <a:ext uri="{FF2B5EF4-FFF2-40B4-BE49-F238E27FC236}">
                  <a16:creationId xmlns:a16="http://schemas.microsoft.com/office/drawing/2014/main" id="{B3190C7A-F533-4D81-81CC-80955FB95174}"/>
                </a:ext>
              </a:extLst>
            </p:cNvPr>
            <p:cNvSpPr/>
            <p:nvPr/>
          </p:nvSpPr>
          <p:spPr>
            <a:xfrm>
              <a:off x="6204202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요금</a:t>
              </a:r>
              <a:r>
                <a:rPr lang="en-US" altLang="ko-KR" sz="700" dirty="0"/>
                <a:t>/</a:t>
              </a:r>
              <a:r>
                <a:rPr lang="ko-KR" altLang="en-US" sz="700" dirty="0"/>
                <a:t>수익</a:t>
              </a:r>
            </a:p>
          </p:txBody>
        </p:sp>
      </p:grp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DAB0C8EA-329C-4CA1-AAA6-C5B99E6BCE67}"/>
              </a:ext>
            </a:extLst>
          </p:cNvPr>
          <p:cNvSpPr/>
          <p:nvPr/>
        </p:nvSpPr>
        <p:spPr>
          <a:xfrm>
            <a:off x="7680269" y="1568073"/>
            <a:ext cx="473661" cy="304569"/>
          </a:xfrm>
          <a:prstGeom prst="rect">
            <a:avLst/>
          </a:prstGeom>
          <a:solidFill>
            <a:srgbClr val="0099FF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>
              <a:lnSpc>
                <a:spcPct val="150000"/>
              </a:lnSpc>
            </a:pPr>
            <a:r>
              <a:rPr lang="ko-KR" altLang="en-US" sz="105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조회</a:t>
            </a:r>
          </a:p>
        </p:txBody>
      </p:sp>
      <p:sp>
        <p:nvSpPr>
          <p:cNvPr id="227" name="타원형 설명선 226"/>
          <p:cNvSpPr/>
          <p:nvPr/>
        </p:nvSpPr>
        <p:spPr>
          <a:xfrm>
            <a:off x="128462" y="2002731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4" name="타원형 설명선 243"/>
          <p:cNvSpPr/>
          <p:nvPr/>
        </p:nvSpPr>
        <p:spPr>
          <a:xfrm>
            <a:off x="115930" y="4965575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5" name="타원형 설명선 244"/>
          <p:cNvSpPr/>
          <p:nvPr/>
        </p:nvSpPr>
        <p:spPr>
          <a:xfrm>
            <a:off x="109942" y="3812540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6" name="타원형 설명선 245"/>
          <p:cNvSpPr/>
          <p:nvPr/>
        </p:nvSpPr>
        <p:spPr>
          <a:xfrm>
            <a:off x="6834930" y="5050235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3" name="타원형 설명선 225">
            <a:extLst>
              <a:ext uri="{FF2B5EF4-FFF2-40B4-BE49-F238E27FC236}">
                <a16:creationId xmlns:a16="http://schemas.microsoft.com/office/drawing/2014/main" id="{93402A8C-F86A-4207-9226-F02BE6AB6E19}"/>
              </a:ext>
            </a:extLst>
          </p:cNvPr>
          <p:cNvSpPr/>
          <p:nvPr/>
        </p:nvSpPr>
        <p:spPr>
          <a:xfrm>
            <a:off x="3450578" y="1458646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4065740646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>
            <a:extLst>
              <a:ext uri="{FF2B5EF4-FFF2-40B4-BE49-F238E27FC236}">
                <a16:creationId xmlns:a16="http://schemas.microsoft.com/office/drawing/2014/main" id="{11B1EB27-3DFA-4C9B-B6A6-A2D05EC26A8D}"/>
              </a:ext>
            </a:extLst>
          </p:cNvPr>
          <p:cNvSpPr/>
          <p:nvPr/>
        </p:nvSpPr>
        <p:spPr>
          <a:xfrm>
            <a:off x="107692" y="687591"/>
            <a:ext cx="8202089" cy="5390757"/>
          </a:xfrm>
          <a:prstGeom prst="rect">
            <a:avLst/>
          </a:prstGeom>
          <a:solidFill>
            <a:schemeClr val="bg1"/>
          </a:solidFill>
          <a:ln w="1270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9104309" y="6645875"/>
            <a:ext cx="140029" cy="138499"/>
          </a:xfrm>
        </p:spPr>
        <p:txBody>
          <a:bodyPr/>
          <a:lstStyle/>
          <a:p>
            <a:pPr>
              <a:defRPr/>
            </a:pPr>
            <a:fld id="{9E41B634-5682-4388-99E7-FE44DCFD254B}" type="slidenum">
              <a:rPr lang="ko-KR" altLang="en-US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>
                <a:defRPr/>
              </a:pPr>
              <a:t>43</a:t>
            </a:fld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텍스트 개체 틀 8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Site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 &gt;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요금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/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수익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&gt;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한전 요금 조회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&gt;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명세서 확인 및 출력</a:t>
            </a:r>
          </a:p>
        </p:txBody>
      </p:sp>
      <p:sp>
        <p:nvSpPr>
          <p:cNvPr id="10" name="텍스트 개체 틀 9"/>
          <p:cNvSpPr>
            <a:spLocks noGrp="1"/>
          </p:cNvSpPr>
          <p:nvPr>
            <p:ph type="body" sz="quarter" idx="10"/>
          </p:nvPr>
        </p:nvSpPr>
        <p:spPr>
          <a:xfrm>
            <a:off x="6023595" y="44624"/>
            <a:ext cx="1233661" cy="196974"/>
          </a:xfrm>
        </p:spPr>
        <p:txBody>
          <a:bodyPr/>
          <a:lstStyle/>
          <a:p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명세서 확인 및 출력</a:t>
            </a:r>
          </a:p>
        </p:txBody>
      </p:sp>
      <p:graphicFrame>
        <p:nvGraphicFramePr>
          <p:cNvPr id="102" name="Group 15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55547011"/>
              </p:ext>
            </p:extLst>
          </p:nvPr>
        </p:nvGraphicFramePr>
        <p:xfrm>
          <a:off x="8469313" y="276225"/>
          <a:ext cx="1404000" cy="3205824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3002"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Description</a:t>
                      </a: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명세서 표시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1) ESS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수익 명세서를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2)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기존 한국전력공사의 전기요금 명세서를 기반으로 표시한다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.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2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PDF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로 저장하기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현재 구성된 화면을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PDF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로 저장한다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.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*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그래프 등의 항목 표시는 차후 협의 필요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3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프린터로 인쇄하기</a:t>
                      </a:r>
                      <a:endParaRPr lang="en-US" altLang="ko-KR" sz="800" b="1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현재 구성된 화면을 </a:t>
                      </a: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PC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상에 설정 및 연결된 프린터를 통해 인쇄한다</a:t>
                      </a: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.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4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닫기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명세서 확인 및 출력 화면 종료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8304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*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한전 요금 청구서 샘플 확인 후 최종 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fix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예정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78" name="TextBox 77"/>
          <p:cNvSpPr txBox="1"/>
          <p:nvPr/>
        </p:nvSpPr>
        <p:spPr>
          <a:xfrm>
            <a:off x="7121707" y="21349"/>
            <a:ext cx="567597" cy="2308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화면</a:t>
            </a:r>
            <a:r>
              <a:rPr lang="en-US" altLang="ko-KR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ID</a:t>
            </a:r>
            <a:endParaRPr lang="ko-KR" altLang="en-US" sz="9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7689304" y="43659"/>
            <a:ext cx="792088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itchFamily="50" charset="-127"/>
                <a:ea typeface="맑은 고딕" pitchFamily="50" charset="-127"/>
              </a:rPr>
              <a:t>ewpsp_scr_026</a:t>
            </a:r>
            <a:endParaRPr lang="ko-KR" altLang="en-US" sz="700" dirty="0">
              <a:latin typeface="맑은 고딕" pitchFamily="50" charset="-127"/>
              <a:ea typeface="맑은 고딕" pitchFamily="50" charset="-127"/>
            </a:endParaRPr>
          </a:p>
        </p:txBody>
      </p:sp>
      <p:pic>
        <p:nvPicPr>
          <p:cNvPr id="19" name="Picture 2">
            <a:extLst>
              <a:ext uri="{FF2B5EF4-FFF2-40B4-BE49-F238E27FC236}">
                <a16:creationId xmlns:a16="http://schemas.microsoft.com/office/drawing/2014/main" id="{6FBB0165-03FF-4BBD-A158-8DEF923CF53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464" y="343504"/>
            <a:ext cx="8208912" cy="3487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1" name="직사각형 20">
            <a:extLst>
              <a:ext uri="{FF2B5EF4-FFF2-40B4-BE49-F238E27FC236}">
                <a16:creationId xmlns:a16="http://schemas.microsoft.com/office/drawing/2014/main" id="{5E84417E-CAA5-4FD3-BBB9-7CD5570EF571}"/>
              </a:ext>
            </a:extLst>
          </p:cNvPr>
          <p:cNvSpPr/>
          <p:nvPr/>
        </p:nvSpPr>
        <p:spPr>
          <a:xfrm>
            <a:off x="216314" y="777814"/>
            <a:ext cx="2216405" cy="288032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>
              <a:lnSpc>
                <a:spcPct val="150000"/>
              </a:lnSpc>
            </a:pPr>
            <a:r>
              <a:rPr lang="ko-KR" altLang="en-US" sz="100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명세서 확인 및 출력</a:t>
            </a:r>
          </a:p>
        </p:txBody>
      </p:sp>
      <p:pic>
        <p:nvPicPr>
          <p:cNvPr id="47" name="Picture 2" descr="ì¤ì ì ëí ì´ë¯¸ì§ ê²ìê²°ê³¼">
            <a:extLst>
              <a:ext uri="{FF2B5EF4-FFF2-40B4-BE49-F238E27FC236}">
                <a16:creationId xmlns:a16="http://schemas.microsoft.com/office/drawing/2014/main" id="{90A888AD-844A-4544-B02A-A77BC3397C7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05865" y="425148"/>
            <a:ext cx="198592" cy="19859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직사각형 2">
            <a:extLst>
              <a:ext uri="{FF2B5EF4-FFF2-40B4-BE49-F238E27FC236}">
                <a16:creationId xmlns:a16="http://schemas.microsoft.com/office/drawing/2014/main" id="{B2C5C60E-7747-4016-AE8A-04E934E77802}"/>
              </a:ext>
            </a:extLst>
          </p:cNvPr>
          <p:cNvSpPr/>
          <p:nvPr/>
        </p:nvSpPr>
        <p:spPr>
          <a:xfrm>
            <a:off x="2137613" y="844371"/>
            <a:ext cx="4608512" cy="4888886"/>
          </a:xfrm>
          <a:prstGeom prst="rect">
            <a:avLst/>
          </a:prstGeom>
          <a:solidFill>
            <a:schemeClr val="bg1"/>
          </a:solidFill>
          <a:ln w="1270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BBB78F6E-2615-4568-B7B1-45EDA691C66A}"/>
              </a:ext>
            </a:extLst>
          </p:cNvPr>
          <p:cNvSpPr txBox="1"/>
          <p:nvPr/>
        </p:nvSpPr>
        <p:spPr>
          <a:xfrm>
            <a:off x="2360712" y="980728"/>
            <a:ext cx="4176464" cy="230832"/>
          </a:xfrm>
          <a:prstGeom prst="rect">
            <a:avLst/>
          </a:prstGeom>
          <a:noFill/>
          <a:ln>
            <a:solidFill>
              <a:schemeClr val="bg1">
                <a:lumMod val="50000"/>
              </a:schemeClr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전기 요금 청구서 </a:t>
            </a:r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(’18</a:t>
            </a:r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년 </a:t>
            </a:r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</a:t>
            </a:r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월</a:t>
            </a:r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386EAC0A-2426-45D1-A774-7B7A5494ABA3}"/>
              </a:ext>
            </a:extLst>
          </p:cNvPr>
          <p:cNvSpPr txBox="1"/>
          <p:nvPr/>
        </p:nvSpPr>
        <p:spPr>
          <a:xfrm>
            <a:off x="5780695" y="1213305"/>
            <a:ext cx="828489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5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청구일 </a:t>
            </a:r>
            <a:r>
              <a:rPr lang="en-US" altLang="ko-KR" sz="5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: 2018-07-20</a:t>
            </a:r>
            <a:endParaRPr lang="ko-KR" altLang="en-US" sz="5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654B6EE5-C0C9-4812-A53C-A3875536DD03}"/>
              </a:ext>
            </a:extLst>
          </p:cNvPr>
          <p:cNvSpPr txBox="1"/>
          <p:nvPr/>
        </p:nvSpPr>
        <p:spPr>
          <a:xfrm>
            <a:off x="2288704" y="1213305"/>
            <a:ext cx="828489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5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고객명 </a:t>
            </a:r>
            <a:r>
              <a:rPr lang="en-US" altLang="ko-KR" sz="5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: </a:t>
            </a:r>
            <a:r>
              <a:rPr lang="ko-KR" altLang="en-US" sz="5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고객</a:t>
            </a:r>
            <a:r>
              <a:rPr lang="en-US" altLang="ko-KR" sz="5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Site_1</a:t>
            </a:r>
            <a:endParaRPr lang="ko-KR" altLang="en-US" sz="5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D55EDA32-13D8-454E-805A-ECAE39E5E686}"/>
              </a:ext>
            </a:extLst>
          </p:cNvPr>
          <p:cNvSpPr txBox="1"/>
          <p:nvPr/>
        </p:nvSpPr>
        <p:spPr>
          <a:xfrm>
            <a:off x="4016896" y="1348043"/>
            <a:ext cx="2376264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이번 달 청구 금액은     </a:t>
            </a:r>
            <a:r>
              <a:rPr lang="en-US" altLang="ko-KR" sz="900" dirty="0">
                <a:solidFill>
                  <a:srgbClr val="0070C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2,220,000</a:t>
            </a: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 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원 입니다</a:t>
            </a: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.</a:t>
            </a:r>
            <a:endParaRPr lang="ko-KR" altLang="en-US" sz="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E98F572A-6976-4F42-B97C-FFF14233091A}"/>
              </a:ext>
            </a:extLst>
          </p:cNvPr>
          <p:cNvSpPr txBox="1"/>
          <p:nvPr/>
        </p:nvSpPr>
        <p:spPr>
          <a:xfrm>
            <a:off x="2274556" y="3167288"/>
            <a:ext cx="828489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6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청구내역</a:t>
            </a:r>
          </a:p>
        </p:txBody>
      </p:sp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318086E8-0478-49EE-934C-A48BAE7DFE1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23271584"/>
              </p:ext>
            </p:extLst>
          </p:nvPr>
        </p:nvGraphicFramePr>
        <p:xfrm>
          <a:off x="2274556" y="3347856"/>
          <a:ext cx="2113200" cy="173732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30000">
                  <a:extLst>
                    <a:ext uri="{9D8B030D-6E8A-4147-A177-3AD203B41FA5}">
                      <a16:colId xmlns:a16="http://schemas.microsoft.com/office/drawing/2014/main" val="2143136556"/>
                    </a:ext>
                  </a:extLst>
                </a:gridCol>
                <a:gridCol w="583200">
                  <a:extLst>
                    <a:ext uri="{9D8B030D-6E8A-4147-A177-3AD203B41FA5}">
                      <a16:colId xmlns:a16="http://schemas.microsoft.com/office/drawing/2014/main" val="2151460281"/>
                    </a:ext>
                  </a:extLst>
                </a:gridCol>
              </a:tblGrid>
              <a:tr h="19110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b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기본요금</a:t>
                      </a:r>
                      <a:endParaRPr lang="en-US" altLang="ko-KR" sz="500" b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10,000</a:t>
                      </a:r>
                      <a:endParaRPr lang="ko-KR" altLang="en-US" sz="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68590192"/>
                  </a:ext>
                </a:extLst>
              </a:tr>
              <a:tr h="19110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b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전력량요금</a:t>
                      </a:r>
                      <a:endParaRPr lang="en-US" altLang="ko-KR" sz="500" b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2,000,000</a:t>
                      </a:r>
                      <a:endParaRPr lang="ko-KR" altLang="en-US" sz="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1774840"/>
                  </a:ext>
                </a:extLst>
              </a:tr>
              <a:tr h="19110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b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전기요금계</a:t>
                      </a:r>
                      <a:endParaRPr lang="en-US" altLang="ko-KR" sz="500" b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2,010,000</a:t>
                      </a:r>
                      <a:endParaRPr lang="ko-KR" altLang="en-US" sz="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5126948"/>
                  </a:ext>
                </a:extLst>
              </a:tr>
              <a:tr h="19110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부가가치세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200,000</a:t>
                      </a:r>
                      <a:endParaRPr lang="ko-KR" altLang="en-US" sz="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3717668"/>
                  </a:ext>
                </a:extLst>
              </a:tr>
              <a:tr h="19110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전력기금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10,006</a:t>
                      </a:r>
                      <a:endParaRPr lang="ko-KR" altLang="en-US" sz="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2746937"/>
                  </a:ext>
                </a:extLst>
              </a:tr>
              <a:tr h="19110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원단위절사</a:t>
                      </a:r>
                      <a:endParaRPr lang="ko-KR" altLang="en-US" sz="5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5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-6</a:t>
                      </a:r>
                      <a:endParaRPr lang="ko-KR" altLang="en-US" sz="500" b="1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7259011"/>
                  </a:ext>
                </a:extLst>
              </a:tr>
              <a:tr h="19110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당월요금계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2,220,000</a:t>
                      </a:r>
                      <a:endParaRPr lang="ko-KR" altLang="en-US" sz="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706192"/>
                  </a:ext>
                </a:extLst>
              </a:tr>
              <a:tr h="19110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미납요금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</a:t>
                      </a:r>
                      <a:endParaRPr lang="ko-KR" altLang="en-US" sz="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44566581"/>
                  </a:ext>
                </a:extLst>
              </a:tr>
              <a:tr h="208479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청구금액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6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2,220,000</a:t>
                      </a:r>
                      <a:endParaRPr lang="ko-KR" altLang="en-US" sz="6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52105426"/>
                  </a:ext>
                </a:extLst>
              </a:tr>
            </a:tbl>
          </a:graphicData>
        </a:graphic>
      </p:graphicFrame>
      <p:graphicFrame>
        <p:nvGraphicFramePr>
          <p:cNvPr id="45" name="표 44">
            <a:extLst>
              <a:ext uri="{FF2B5EF4-FFF2-40B4-BE49-F238E27FC236}">
                <a16:creationId xmlns:a16="http://schemas.microsoft.com/office/drawing/2014/main" id="{8D6BB6AB-54E5-41D8-92D6-FE046567C9E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10207852"/>
              </p:ext>
            </p:extLst>
          </p:nvPr>
        </p:nvGraphicFramePr>
        <p:xfrm>
          <a:off x="2274555" y="1792196"/>
          <a:ext cx="4334629" cy="1143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382301">
                  <a:extLst>
                    <a:ext uri="{9D8B030D-6E8A-4147-A177-3AD203B41FA5}">
                      <a16:colId xmlns:a16="http://schemas.microsoft.com/office/drawing/2014/main" val="2143136556"/>
                    </a:ext>
                  </a:extLst>
                </a:gridCol>
                <a:gridCol w="2952328">
                  <a:extLst>
                    <a:ext uri="{9D8B030D-6E8A-4147-A177-3AD203B41FA5}">
                      <a16:colId xmlns:a16="http://schemas.microsoft.com/office/drawing/2014/main" val="2715921086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전기사용장소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5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울산광역시 울주군 </a:t>
                      </a:r>
                      <a:r>
                        <a:rPr lang="ko-KR" altLang="en-US" sz="5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온산읍</a:t>
                      </a:r>
                      <a:r>
                        <a:rPr lang="ko-KR" altLang="en-US" sz="5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5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원산로</a:t>
                      </a:r>
                      <a:r>
                        <a:rPr lang="ko-KR" altLang="en-US" sz="5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5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40</a:t>
                      </a:r>
                      <a:endParaRPr lang="ko-KR" alt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0282666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고객번호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10 0000 0001</a:t>
                      </a:r>
                      <a:endParaRPr lang="ko-KR" alt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672998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청구금액</a:t>
                      </a:r>
                      <a:endParaRPr lang="ko-KR" altLang="en-US" sz="50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2,220,000 </a:t>
                      </a:r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원</a:t>
                      </a:r>
                      <a:endParaRPr lang="ko-KR" altLang="en-US" sz="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2328655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납기일</a:t>
                      </a:r>
                      <a:endParaRPr lang="ko-KR" altLang="en-US" sz="50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2018</a:t>
                      </a:r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년 </a:t>
                      </a:r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08</a:t>
                      </a:r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 </a:t>
                      </a:r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</a:t>
                      </a:r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일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392892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고객전용지정계좌 </a:t>
                      </a:r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예금주 </a:t>
                      </a:r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</a:t>
                      </a:r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한국전력공사</a:t>
                      </a:r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endParaRPr lang="ko-KR" altLang="en-US" sz="5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우리은행  </a:t>
                      </a:r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100-100000-10-100     </a:t>
                      </a:r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신한은행  </a:t>
                      </a:r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100-100000-10-100</a:t>
                      </a:r>
                    </a:p>
                    <a:p>
                      <a:pPr algn="l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국민은행  </a:t>
                      </a:r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100-100000-10-100     </a:t>
                      </a:r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농      협  </a:t>
                      </a:r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100-100000-10-100 </a:t>
                      </a:r>
                    </a:p>
                    <a:p>
                      <a:pPr algn="l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하나은행  </a:t>
                      </a:r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100-100000-10-100     </a:t>
                      </a:r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기업은행  </a:t>
                      </a:r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100-100000-10-100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외환은행  </a:t>
                      </a:r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100-100000-10-100     </a:t>
                      </a:r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우 체 국   </a:t>
                      </a:r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100-100000-10-100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5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씨티은행</a:t>
                      </a:r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</a:t>
                      </a:r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100-100000-10-100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49693837"/>
                  </a:ext>
                </a:extLst>
              </a:tr>
            </a:tbl>
          </a:graphicData>
        </a:graphic>
      </p:graphicFrame>
      <p:sp>
        <p:nvSpPr>
          <p:cNvPr id="46" name="TextBox 45">
            <a:extLst>
              <a:ext uri="{FF2B5EF4-FFF2-40B4-BE49-F238E27FC236}">
                <a16:creationId xmlns:a16="http://schemas.microsoft.com/office/drawing/2014/main" id="{3EF4418A-9C94-4827-B441-BD84D2690531}"/>
              </a:ext>
            </a:extLst>
          </p:cNvPr>
          <p:cNvSpPr txBox="1"/>
          <p:nvPr/>
        </p:nvSpPr>
        <p:spPr>
          <a:xfrm>
            <a:off x="4599781" y="3166635"/>
            <a:ext cx="1886356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6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고객 사항</a:t>
            </a: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A4CE8CEF-74E0-47BA-8A6B-55640E49F002}"/>
              </a:ext>
            </a:extLst>
          </p:cNvPr>
          <p:cNvSpPr txBox="1"/>
          <p:nvPr/>
        </p:nvSpPr>
        <p:spPr>
          <a:xfrm>
            <a:off x="2190062" y="2924944"/>
            <a:ext cx="3987073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5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※ </a:t>
            </a:r>
            <a:r>
              <a:rPr lang="ko-KR" altLang="en-US" sz="5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위 계좌번호는 고객님께서 입금할 수 있는 전용 </a:t>
            </a:r>
            <a:r>
              <a:rPr lang="ko-KR" altLang="en-US" sz="500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지정계좌입니다</a:t>
            </a:r>
            <a:r>
              <a:rPr lang="en-US" altLang="ko-KR" sz="5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. (</a:t>
            </a:r>
            <a:r>
              <a:rPr lang="ko-KR" altLang="en-US" sz="5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끝자리 원단위 입금불가</a:t>
            </a:r>
            <a:r>
              <a:rPr lang="en-US" altLang="ko-KR" sz="5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sz="5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49" name="표 48">
            <a:extLst>
              <a:ext uri="{FF2B5EF4-FFF2-40B4-BE49-F238E27FC236}">
                <a16:creationId xmlns:a16="http://schemas.microsoft.com/office/drawing/2014/main" id="{92CF4CBE-A646-431B-8CD3-09D2C5CC973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7764411"/>
              </p:ext>
            </p:extLst>
          </p:nvPr>
        </p:nvGraphicFramePr>
        <p:xfrm>
          <a:off x="4599783" y="3346464"/>
          <a:ext cx="1822174" cy="11734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06234">
                  <a:extLst>
                    <a:ext uri="{9D8B030D-6E8A-4147-A177-3AD203B41FA5}">
                      <a16:colId xmlns:a16="http://schemas.microsoft.com/office/drawing/2014/main" val="2143136556"/>
                    </a:ext>
                  </a:extLst>
                </a:gridCol>
                <a:gridCol w="1015940">
                  <a:extLst>
                    <a:ext uri="{9D8B030D-6E8A-4147-A177-3AD203B41FA5}">
                      <a16:colId xmlns:a16="http://schemas.microsoft.com/office/drawing/2014/main" val="329953040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전기사용 </a:t>
                      </a:r>
                      <a:r>
                        <a:rPr lang="ko-KR" altLang="en-US" sz="5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계약종별</a:t>
                      </a:r>
                      <a:endParaRPr lang="ko-KR" altLang="en-US" sz="5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산엽용</a:t>
                      </a:r>
                      <a:r>
                        <a:rPr lang="en-US" altLang="ko-KR" sz="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을</a:t>
                      </a:r>
                      <a:r>
                        <a:rPr lang="en-US" altLang="ko-KR" sz="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 </a:t>
                      </a:r>
                      <a:r>
                        <a:rPr lang="ko-KR" altLang="en-US" sz="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고압</a:t>
                      </a:r>
                      <a:r>
                        <a:rPr lang="en-US" altLang="ko-KR" sz="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B </a:t>
                      </a:r>
                      <a:r>
                        <a:rPr lang="ko-KR" altLang="en-US" sz="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선택 </a:t>
                      </a:r>
                      <a:r>
                        <a:rPr lang="en-US" altLang="ko-KR" sz="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III</a:t>
                      </a:r>
                      <a:endParaRPr lang="ko-KR" altLang="en-US" sz="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672998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주거구분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비주거용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167482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정기검침일</a:t>
                      </a:r>
                      <a:endParaRPr lang="ko-KR" altLang="en-US" sz="5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25</a:t>
                      </a:r>
                      <a:endParaRPr lang="ko-KR" altLang="en-US" sz="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6524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계량기번호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XXX001122</a:t>
                      </a:r>
                      <a:endParaRPr lang="ko-KR" altLang="en-US" sz="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738717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계량기배수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R" altLang="en-US" sz="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559360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계약전력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R" altLang="en-US" sz="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087682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가구수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R" altLang="en-US" sz="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49693837"/>
                  </a:ext>
                </a:extLst>
              </a:tr>
            </a:tbl>
          </a:graphicData>
        </a:graphic>
      </p:graphicFrame>
      <p:graphicFrame>
        <p:nvGraphicFramePr>
          <p:cNvPr id="50" name="표 49">
            <a:extLst>
              <a:ext uri="{FF2B5EF4-FFF2-40B4-BE49-F238E27FC236}">
                <a16:creationId xmlns:a16="http://schemas.microsoft.com/office/drawing/2014/main" id="{7B823B1F-600B-4BEF-BCB1-D3135DBCA85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82348223"/>
              </p:ext>
            </p:extLst>
          </p:nvPr>
        </p:nvGraphicFramePr>
        <p:xfrm>
          <a:off x="4604920" y="4582264"/>
          <a:ext cx="1817037" cy="5029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87381">
                  <a:extLst>
                    <a:ext uri="{9D8B030D-6E8A-4147-A177-3AD203B41FA5}">
                      <a16:colId xmlns:a16="http://schemas.microsoft.com/office/drawing/2014/main" val="2143136556"/>
                    </a:ext>
                  </a:extLst>
                </a:gridCol>
                <a:gridCol w="1029656">
                  <a:extLst>
                    <a:ext uri="{9D8B030D-6E8A-4147-A177-3AD203B41FA5}">
                      <a16:colId xmlns:a16="http://schemas.microsoft.com/office/drawing/2014/main" val="3299530404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5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미납내역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5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672998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5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미납월</a:t>
                      </a:r>
                      <a:endParaRPr lang="ko-KR" altLang="en-US" sz="5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5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금액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8788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endParaRPr lang="ko-KR" altLang="en-US" sz="5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미납요금 없음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49693837"/>
                  </a:ext>
                </a:extLst>
              </a:tr>
            </a:tbl>
          </a:graphicData>
        </a:graphic>
      </p:graphicFrame>
      <p:grpSp>
        <p:nvGrpSpPr>
          <p:cNvPr id="8" name="그룹 7">
            <a:extLst>
              <a:ext uri="{FF2B5EF4-FFF2-40B4-BE49-F238E27FC236}">
                <a16:creationId xmlns:a16="http://schemas.microsoft.com/office/drawing/2014/main" id="{778B7CF0-758C-4B27-A4AF-7925912740ED}"/>
              </a:ext>
            </a:extLst>
          </p:cNvPr>
          <p:cNvGrpSpPr/>
          <p:nvPr/>
        </p:nvGrpSpPr>
        <p:grpSpPr>
          <a:xfrm>
            <a:off x="2162704" y="5301208"/>
            <a:ext cx="4488118" cy="323428"/>
            <a:chOff x="2162704" y="5301208"/>
            <a:chExt cx="4488118" cy="323428"/>
          </a:xfrm>
        </p:grpSpPr>
        <p:pic>
          <p:nvPicPr>
            <p:cNvPr id="1028" name="Picture 4" descr="ì¸ìì ëí ì´ë¯¸ì§ ê²ìê²°ê³¼">
              <a:extLst>
                <a:ext uri="{FF2B5EF4-FFF2-40B4-BE49-F238E27FC236}">
                  <a16:creationId xmlns:a16="http://schemas.microsoft.com/office/drawing/2014/main" id="{D28EE1C7-0566-4FE4-BFB8-A89D5615E72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50465" y="5336922"/>
              <a:ext cx="252000" cy="2520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030" name="Picture 6" descr="pdfì ëí ì´ë¯¸ì§ ê²ìê²°ê³¼">
              <a:extLst>
                <a:ext uri="{FF2B5EF4-FFF2-40B4-BE49-F238E27FC236}">
                  <a16:creationId xmlns:a16="http://schemas.microsoft.com/office/drawing/2014/main" id="{8C6A3F2F-6A1E-4843-B992-1ABF3F994B5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162704" y="5336922"/>
              <a:ext cx="252000" cy="2520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26" name="직사각형 125">
              <a:extLst>
                <a:ext uri="{FF2B5EF4-FFF2-40B4-BE49-F238E27FC236}">
                  <a16:creationId xmlns:a16="http://schemas.microsoft.com/office/drawing/2014/main" id="{7726E8D3-148F-4164-832A-268A34EC9F35}"/>
                </a:ext>
              </a:extLst>
            </p:cNvPr>
            <p:cNvSpPr/>
            <p:nvPr/>
          </p:nvSpPr>
          <p:spPr>
            <a:xfrm>
              <a:off x="5490371" y="5301208"/>
              <a:ext cx="1160451" cy="323428"/>
            </a:xfrm>
            <a:prstGeom prst="rect">
              <a:avLst/>
            </a:prstGeom>
            <a:solidFill>
              <a:srgbClr val="0099FF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 algn="ctr">
                <a:lnSpc>
                  <a:spcPct val="150000"/>
                </a:lnSpc>
              </a:pPr>
              <a:r>
                <a:rPr lang="ko-KR" altLang="en-US" sz="105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닫기</a:t>
              </a:r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C85BFB14-1DE9-4E3A-8F33-3A06C8EFA333}"/>
                </a:ext>
              </a:extLst>
            </p:cNvPr>
            <p:cNvSpPr txBox="1"/>
            <p:nvPr/>
          </p:nvSpPr>
          <p:spPr>
            <a:xfrm>
              <a:off x="2401165" y="5355200"/>
              <a:ext cx="949300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PDF</a:t>
              </a: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로</a:t>
              </a:r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저장하기</a:t>
              </a:r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E55F40E9-B79E-4D8D-813B-EDD0B2B71D73}"/>
                </a:ext>
              </a:extLst>
            </p:cNvPr>
            <p:cNvSpPr txBox="1"/>
            <p:nvPr/>
          </p:nvSpPr>
          <p:spPr>
            <a:xfrm>
              <a:off x="3633103" y="5355200"/>
              <a:ext cx="1160450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프린터로 인쇄하기</a:t>
              </a:r>
            </a:p>
          </p:txBody>
        </p:sp>
      </p:grpSp>
      <p:sp>
        <p:nvSpPr>
          <p:cNvPr id="227" name="타원형 설명선 226"/>
          <p:cNvSpPr/>
          <p:nvPr/>
        </p:nvSpPr>
        <p:spPr>
          <a:xfrm>
            <a:off x="1890853" y="5193208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4" name="타원형 설명선 243"/>
          <p:cNvSpPr/>
          <p:nvPr/>
        </p:nvSpPr>
        <p:spPr>
          <a:xfrm>
            <a:off x="5199751" y="5192587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5" name="타원형 설명선 244"/>
          <p:cNvSpPr/>
          <p:nvPr/>
        </p:nvSpPr>
        <p:spPr>
          <a:xfrm>
            <a:off x="3095845" y="5192587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3" name="타원형 설명선 225">
            <a:extLst>
              <a:ext uri="{FF2B5EF4-FFF2-40B4-BE49-F238E27FC236}">
                <a16:creationId xmlns:a16="http://schemas.microsoft.com/office/drawing/2014/main" id="{93402A8C-F86A-4207-9226-F02BE6AB6E19}"/>
              </a:ext>
            </a:extLst>
          </p:cNvPr>
          <p:cNvSpPr/>
          <p:nvPr/>
        </p:nvSpPr>
        <p:spPr>
          <a:xfrm>
            <a:off x="1911319" y="803668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800774716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9104309" y="6645875"/>
            <a:ext cx="140029" cy="138499"/>
          </a:xfrm>
        </p:spPr>
        <p:txBody>
          <a:bodyPr/>
          <a:lstStyle/>
          <a:p>
            <a:pPr>
              <a:defRPr/>
            </a:pPr>
            <a:fld id="{9E41B634-5682-4388-99E7-FE44DCFD254B}" type="slidenum">
              <a:rPr lang="ko-KR" altLang="en-US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>
                <a:defRPr/>
              </a:pPr>
              <a:t>44</a:t>
            </a:fld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텍스트 개체 틀 8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Site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 &gt;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요금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/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수익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&gt; ESS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수익 조회</a:t>
            </a:r>
          </a:p>
        </p:txBody>
      </p:sp>
      <p:sp>
        <p:nvSpPr>
          <p:cNvPr id="10" name="텍스트 개체 틀 9"/>
          <p:cNvSpPr>
            <a:spLocks noGrp="1"/>
          </p:cNvSpPr>
          <p:nvPr>
            <p:ph type="body" sz="quarter" idx="10"/>
          </p:nvPr>
        </p:nvSpPr>
        <p:spPr>
          <a:xfrm>
            <a:off x="6023595" y="44624"/>
            <a:ext cx="1233661" cy="196974"/>
          </a:xfrm>
        </p:spPr>
        <p:txBody>
          <a:bodyPr/>
          <a:lstStyle/>
          <a:p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ESS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수익 조회</a:t>
            </a:r>
          </a:p>
        </p:txBody>
      </p:sp>
      <p:graphicFrame>
        <p:nvGraphicFramePr>
          <p:cNvPr id="102" name="Group 15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87000625"/>
              </p:ext>
            </p:extLst>
          </p:nvPr>
        </p:nvGraphicFramePr>
        <p:xfrm>
          <a:off x="8469313" y="276225"/>
          <a:ext cx="1404000" cy="5552640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3002"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Description</a:t>
                      </a: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기간설정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1)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기간은 월 단위 설정만 가능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2)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버튼을 클릭하면 조회 진행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2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그래프 표시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1)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각 항목 묶은 막대 그래프 형태로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2)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각 월 별 그래프 항목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3)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표시 데이터 항목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66FF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실적할인금액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66FF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66FF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고객정산금액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3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표 표시</a:t>
                      </a:r>
                      <a:endParaRPr kumimoji="1" lang="en-US" altLang="ko-KR" sz="8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  <a:p>
                      <a:r>
                        <a:rPr kumimoji="1" lang="en-US" altLang="ko-KR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 1)</a:t>
                      </a: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 </a:t>
                      </a:r>
                      <a:r>
                        <a:rPr kumimoji="1" lang="en-US" altLang="ko-KR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ESS </a:t>
                      </a:r>
                      <a:r>
                        <a:rPr kumimoji="1" lang="ko-KR" altLang="en-US" sz="8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충방전량</a:t>
                      </a: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 정보</a:t>
                      </a:r>
                      <a:r>
                        <a:rPr kumimoji="1" lang="en-US" altLang="ko-KR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, </a:t>
                      </a: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평일 일수</a:t>
                      </a:r>
                      <a:r>
                        <a:rPr kumimoji="1" lang="en-US" altLang="ko-KR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, </a:t>
                      </a: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할인 및 정산 금액 등을 표로 표시</a:t>
                      </a:r>
                      <a:endParaRPr kumimoji="1" lang="en-US" altLang="ko-KR" sz="8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  <a:p>
                      <a:r>
                        <a:rPr kumimoji="1" lang="en-US" altLang="ko-KR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 2) </a:t>
                      </a: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그래프에 포함되지 않은 </a:t>
                      </a:r>
                      <a:r>
                        <a:rPr lang="ko-KR" altLang="en-US" sz="800" b="0" u="none" dirty="0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평일일수</a:t>
                      </a:r>
                      <a:r>
                        <a:rPr lang="en-US" altLang="ko-KR" sz="800" b="0" u="none" dirty="0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800" b="0" u="none" dirty="0" err="1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경부하충전량</a:t>
                      </a:r>
                      <a:r>
                        <a:rPr lang="en-US" altLang="ko-KR" sz="800" b="0" u="none" dirty="0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800" b="0" u="none" dirty="0" err="1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중간부하충전량</a:t>
                      </a:r>
                      <a:r>
                        <a:rPr lang="en-US" altLang="ko-KR" sz="800" b="0" u="none" dirty="0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800" b="0" u="none" dirty="0" err="1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최대부하방전량</a:t>
                      </a:r>
                      <a:r>
                        <a:rPr lang="en-US" altLang="ko-KR" sz="800" b="0" u="none" dirty="0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800" b="0" u="none" dirty="0" err="1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중간부하방전량</a:t>
                      </a:r>
                      <a:r>
                        <a:rPr lang="en-US" altLang="ko-KR" sz="800" b="0" u="none" dirty="0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800" b="0" u="none" dirty="0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예상할인금액</a:t>
                      </a:r>
                      <a:r>
                        <a:rPr lang="en-US" altLang="ko-KR" sz="800" b="0" u="none" dirty="0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EWP</a:t>
                      </a:r>
                      <a:r>
                        <a:rPr lang="ko-KR" altLang="en-US" sz="800" b="0" u="none" dirty="0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정산금액</a:t>
                      </a:r>
                      <a:r>
                        <a:rPr lang="en-US" altLang="ko-KR" sz="800" b="0" u="none" dirty="0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800" b="0" u="none" dirty="0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정산비율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등의 정보를 추가로 표시</a:t>
                      </a:r>
                      <a:endParaRPr kumimoji="1" lang="ko-KR" altLang="en-US" sz="8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4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데이터 저장하기</a:t>
                      </a:r>
                      <a:endParaRPr lang="en-US" altLang="ko-KR" sz="800" b="1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1)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조회된 데이터를 </a:t>
                      </a: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csv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형태의 파일로 저장한다</a:t>
                      </a: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.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2)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표에 표시된 항목을 그대로 저장하므로 </a:t>
                      </a:r>
                      <a:r>
                        <a:rPr lang="ko-KR" altLang="en-US" sz="800" b="0" u="none" dirty="0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평일일수</a:t>
                      </a:r>
                      <a:r>
                        <a:rPr lang="en-US" altLang="ko-KR" sz="800" b="0" u="none" dirty="0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800" b="0" u="none" dirty="0" err="1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경부하충전량</a:t>
                      </a:r>
                      <a:r>
                        <a:rPr lang="en-US" altLang="ko-KR" sz="800" b="0" u="none" dirty="0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800" b="0" u="none" dirty="0" err="1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중간부하충전량</a:t>
                      </a:r>
                      <a:r>
                        <a:rPr lang="en-US" altLang="ko-KR" sz="800" b="0" u="none" dirty="0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800" b="0" u="none" dirty="0" err="1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최대부하방전량</a:t>
                      </a:r>
                      <a:r>
                        <a:rPr lang="en-US" altLang="ko-KR" sz="800" b="0" u="none" dirty="0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800" b="0" u="none" dirty="0" err="1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중간부하방전량</a:t>
                      </a:r>
                      <a:r>
                        <a:rPr lang="en-US" altLang="ko-KR" sz="800" b="0" u="none" dirty="0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800" b="0" u="none" dirty="0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예상할인금액</a:t>
                      </a:r>
                      <a:r>
                        <a:rPr lang="en-US" altLang="ko-KR" sz="800" b="0" u="none" dirty="0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EWP</a:t>
                      </a:r>
                      <a:r>
                        <a:rPr lang="ko-KR" altLang="en-US" sz="800" b="0" u="none" dirty="0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정산금액</a:t>
                      </a:r>
                      <a:r>
                        <a:rPr lang="en-US" altLang="ko-KR" sz="800" b="0" u="none" dirty="0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800" b="0" u="none" dirty="0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정산비율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등이 포함된다</a:t>
                      </a: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.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5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명세서 확인하기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1)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해당 버튼을 클릭하면 명세서 확인 및 출력 화면이 팝업 된다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.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*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다음 페이지 참고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78" name="TextBox 77"/>
          <p:cNvSpPr txBox="1"/>
          <p:nvPr/>
        </p:nvSpPr>
        <p:spPr>
          <a:xfrm>
            <a:off x="7121707" y="21349"/>
            <a:ext cx="567597" cy="2308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화면</a:t>
            </a:r>
            <a:r>
              <a:rPr lang="en-US" altLang="ko-KR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ID</a:t>
            </a:r>
            <a:endParaRPr lang="ko-KR" altLang="en-US" sz="9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7689304" y="43659"/>
            <a:ext cx="792088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itchFamily="50" charset="-127"/>
                <a:ea typeface="맑은 고딕" pitchFamily="50" charset="-127"/>
              </a:rPr>
              <a:t>ewpsp_scr_027</a:t>
            </a:r>
            <a:endParaRPr lang="ko-KR" altLang="en-US" sz="700" dirty="0">
              <a:latin typeface="맑은 고딕" pitchFamily="50" charset="-127"/>
              <a:ea typeface="맑은 고딕" pitchFamily="50" charset="-127"/>
            </a:endParaRPr>
          </a:p>
        </p:txBody>
      </p:sp>
      <p:pic>
        <p:nvPicPr>
          <p:cNvPr id="18" name="Picture 3">
            <a:extLst>
              <a:ext uri="{FF2B5EF4-FFF2-40B4-BE49-F238E27FC236}">
                <a16:creationId xmlns:a16="http://schemas.microsoft.com/office/drawing/2014/main" id="{D14E8AEF-8EA8-4944-AE52-FF98A1FB783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463" y="764706"/>
            <a:ext cx="8208912" cy="4889860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  <a:extLst/>
        </p:spPr>
      </p:pic>
      <p:pic>
        <p:nvPicPr>
          <p:cNvPr id="19" name="Picture 2">
            <a:extLst>
              <a:ext uri="{FF2B5EF4-FFF2-40B4-BE49-F238E27FC236}">
                <a16:creationId xmlns:a16="http://schemas.microsoft.com/office/drawing/2014/main" id="{6FBB0165-03FF-4BBD-A158-8DEF923CF53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464" y="762442"/>
            <a:ext cx="8208912" cy="3487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20" name="직선 연결선 19">
            <a:extLst>
              <a:ext uri="{FF2B5EF4-FFF2-40B4-BE49-F238E27FC236}">
                <a16:creationId xmlns:a16="http://schemas.microsoft.com/office/drawing/2014/main" id="{37D07777-30AA-4506-9C18-6F3B4C7D943C}"/>
              </a:ext>
            </a:extLst>
          </p:cNvPr>
          <p:cNvCxnSpPr>
            <a:cxnSpLocks/>
          </p:cNvCxnSpPr>
          <p:nvPr/>
        </p:nvCxnSpPr>
        <p:spPr>
          <a:xfrm>
            <a:off x="128463" y="1124744"/>
            <a:ext cx="8208912" cy="0"/>
          </a:xfrm>
          <a:prstGeom prst="line">
            <a:avLst/>
          </a:prstGeom>
          <a:ln w="9525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5E84417E-CAA5-4FD3-BBB9-7CD5570EF571}"/>
              </a:ext>
            </a:extLst>
          </p:cNvPr>
          <p:cNvSpPr/>
          <p:nvPr/>
        </p:nvSpPr>
        <p:spPr>
          <a:xfrm>
            <a:off x="216315" y="1544130"/>
            <a:ext cx="1820532" cy="288032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en-US" altLang="ko-KR" sz="10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ESS </a:t>
            </a:r>
            <a:r>
              <a:rPr lang="ko-KR" altLang="en-US" sz="10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수익 조회</a:t>
            </a:r>
          </a:p>
        </p:txBody>
      </p:sp>
      <p:grpSp>
        <p:nvGrpSpPr>
          <p:cNvPr id="37" name="그룹 36">
            <a:extLst>
              <a:ext uri="{FF2B5EF4-FFF2-40B4-BE49-F238E27FC236}">
                <a16:creationId xmlns:a16="http://schemas.microsoft.com/office/drawing/2014/main" id="{66BFF179-6D85-452E-9564-60FFD2CE0D3D}"/>
              </a:ext>
            </a:extLst>
          </p:cNvPr>
          <p:cNvGrpSpPr/>
          <p:nvPr/>
        </p:nvGrpSpPr>
        <p:grpSpPr>
          <a:xfrm>
            <a:off x="299939" y="5305277"/>
            <a:ext cx="862386" cy="211955"/>
            <a:chOff x="4861742" y="3907374"/>
            <a:chExt cx="862386" cy="211955"/>
          </a:xfrm>
        </p:grpSpPr>
        <p:pic>
          <p:nvPicPr>
            <p:cNvPr id="38" name="Picture 6" descr="ìì ë¤ì´ë¡ëì ëí ì´ë¯¸ì§ ê²ìê²°ê³¼">
              <a:extLst>
                <a:ext uri="{FF2B5EF4-FFF2-40B4-BE49-F238E27FC236}">
                  <a16:creationId xmlns:a16="http://schemas.microsoft.com/office/drawing/2014/main" id="{72CEF38D-10AD-4758-B55F-6D8F726124F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861742" y="3907374"/>
              <a:ext cx="211955" cy="21195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5AB80116-BA59-4BBD-BC55-87962E3E05DB}"/>
                </a:ext>
              </a:extLst>
            </p:cNvPr>
            <p:cNvSpPr txBox="1"/>
            <p:nvPr/>
          </p:nvSpPr>
          <p:spPr>
            <a:xfrm>
              <a:off x="4949189" y="3921018"/>
              <a:ext cx="7749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600" b="1" dirty="0">
                  <a:solidFill>
                    <a:schemeClr val="bg1"/>
                  </a:solidFill>
                </a:rPr>
                <a:t>데이터 저장하기</a:t>
              </a:r>
            </a:p>
          </p:txBody>
        </p:sp>
      </p:grp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A27B69D7-2B77-4AF2-A717-2F8B00E5023D}"/>
              </a:ext>
            </a:extLst>
          </p:cNvPr>
          <p:cNvSpPr/>
          <p:nvPr/>
        </p:nvSpPr>
        <p:spPr>
          <a:xfrm>
            <a:off x="3584848" y="1556791"/>
            <a:ext cx="1224136" cy="288033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기간 설정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51E4F555-ACF8-422A-8A4C-263DF5607ED0}"/>
              </a:ext>
            </a:extLst>
          </p:cNvPr>
          <p:cNvSpPr/>
          <p:nvPr/>
        </p:nvSpPr>
        <p:spPr>
          <a:xfrm>
            <a:off x="4304928" y="1556791"/>
            <a:ext cx="1262753" cy="288033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YYY-MM</a:t>
            </a:r>
            <a:endParaRPr lang="ko-KR" altLang="en-US" sz="90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056B85B8-E22D-471D-BF90-7BA59FDE59DA}"/>
              </a:ext>
            </a:extLst>
          </p:cNvPr>
          <p:cNvSpPr/>
          <p:nvPr/>
        </p:nvSpPr>
        <p:spPr>
          <a:xfrm>
            <a:off x="5567681" y="1556791"/>
            <a:ext cx="288032" cy="288033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▼</a:t>
            </a: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5DE85575-6695-43D9-BA78-E72D7749FD5A}"/>
              </a:ext>
            </a:extLst>
          </p:cNvPr>
          <p:cNvSpPr/>
          <p:nvPr/>
        </p:nvSpPr>
        <p:spPr>
          <a:xfrm>
            <a:off x="5855713" y="1556791"/>
            <a:ext cx="249415" cy="288033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~</a:t>
            </a:r>
            <a:endParaRPr lang="ko-KR" altLang="en-US" sz="900" b="1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52DDF82F-9C8F-422F-B328-3979E21AEB5E}"/>
              </a:ext>
            </a:extLst>
          </p:cNvPr>
          <p:cNvSpPr/>
          <p:nvPr/>
        </p:nvSpPr>
        <p:spPr>
          <a:xfrm>
            <a:off x="6105128" y="1556791"/>
            <a:ext cx="1262753" cy="288033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YYYY-MM</a:t>
            </a:r>
            <a:endParaRPr lang="ko-KR" altLang="en-US" sz="90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508668D7-197F-47CF-8003-58499E43E073}"/>
              </a:ext>
            </a:extLst>
          </p:cNvPr>
          <p:cNvSpPr/>
          <p:nvPr/>
        </p:nvSpPr>
        <p:spPr>
          <a:xfrm>
            <a:off x="7367881" y="1556791"/>
            <a:ext cx="288032" cy="288033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▼</a:t>
            </a:r>
          </a:p>
        </p:txBody>
      </p:sp>
      <p:pic>
        <p:nvPicPr>
          <p:cNvPr id="47" name="Picture 2" descr="ì¤ì ì ëí ì´ë¯¸ì§ ê²ìê²°ê³¼">
            <a:extLst>
              <a:ext uri="{FF2B5EF4-FFF2-40B4-BE49-F238E27FC236}">
                <a16:creationId xmlns:a16="http://schemas.microsoft.com/office/drawing/2014/main" id="{90A888AD-844A-4544-B02A-A77BC3397C7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05865" y="844086"/>
            <a:ext cx="198592" cy="19859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87" name="TextBox 86">
            <a:extLst>
              <a:ext uri="{FF2B5EF4-FFF2-40B4-BE49-F238E27FC236}">
                <a16:creationId xmlns:a16="http://schemas.microsoft.com/office/drawing/2014/main" id="{8022E966-6773-477B-BC7F-8585C81A6134}"/>
              </a:ext>
            </a:extLst>
          </p:cNvPr>
          <p:cNvSpPr txBox="1"/>
          <p:nvPr/>
        </p:nvSpPr>
        <p:spPr>
          <a:xfrm>
            <a:off x="7149244" y="5301788"/>
            <a:ext cx="972108" cy="215444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square" rtlCol="0" anchor="ctr">
            <a:spAutoFit/>
          </a:bodyPr>
          <a:lstStyle/>
          <a:p>
            <a:pPr algn="ctr"/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명세서 확인하기</a:t>
            </a:r>
          </a:p>
        </p:txBody>
      </p:sp>
      <p:graphicFrame>
        <p:nvGraphicFramePr>
          <p:cNvPr id="104" name="표 103">
            <a:extLst>
              <a:ext uri="{FF2B5EF4-FFF2-40B4-BE49-F238E27FC236}">
                <a16:creationId xmlns:a16="http://schemas.microsoft.com/office/drawing/2014/main" id="{C3C021D3-E7C8-4579-B7EF-20FD396E35E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02462261"/>
              </p:ext>
            </p:extLst>
          </p:nvPr>
        </p:nvGraphicFramePr>
        <p:xfrm>
          <a:off x="287407" y="3722272"/>
          <a:ext cx="7905957" cy="14443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3532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606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4606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46061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46061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4606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46061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46061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46061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46061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4606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4606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4606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144427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구분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r>
                        <a:rPr lang="ko-KR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r>
                        <a:rPr lang="ko-KR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r>
                        <a:rPr lang="ko-KR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</a:t>
                      </a:r>
                      <a:r>
                        <a:rPr lang="ko-KR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</a:t>
                      </a:r>
                      <a:r>
                        <a:rPr lang="ko-KR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</a:t>
                      </a:r>
                      <a:r>
                        <a:rPr lang="ko-KR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</a:t>
                      </a:r>
                      <a:r>
                        <a:rPr lang="ko-KR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</a:t>
                      </a:r>
                      <a:r>
                        <a:rPr lang="ko-KR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</a:t>
                      </a:r>
                      <a:r>
                        <a:rPr lang="ko-KR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</a:t>
                      </a:r>
                      <a:r>
                        <a:rPr lang="ko-KR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35659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평일 일수</a:t>
                      </a: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(d)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24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24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24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24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24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28379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 err="1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경부하충전량</a:t>
                      </a: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(kWh)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28379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 err="1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중간부하충전량</a:t>
                      </a: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(kWh)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28379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 err="1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최대부하방전량</a:t>
                      </a: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(kWh)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28379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 err="1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중간부하방전량</a:t>
                      </a: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(kWh)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37262"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예상</a:t>
                      </a: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할인금액</a:t>
                      </a: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￦</a:t>
                      </a: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1,100,000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1,100,000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1,100,000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1,100,000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1,100,000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28379"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실적</a:t>
                      </a: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할인금액</a:t>
                      </a: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￦</a:t>
                      </a: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28379"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고객</a:t>
                      </a: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정산금액</a:t>
                      </a: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￦</a:t>
                      </a: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200,000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200,000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200,000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200,000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200,000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28379"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EWP)</a:t>
                      </a:r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정산금액</a:t>
                      </a: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￦</a:t>
                      </a: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800,000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800,000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800,000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800,000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800,000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28379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정산비율</a:t>
                      </a: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(%)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80%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80%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80%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80%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80%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</a:tbl>
          </a:graphicData>
        </a:graphic>
      </p:graphicFrame>
      <p:graphicFrame>
        <p:nvGraphicFramePr>
          <p:cNvPr id="105" name="표 104">
            <a:extLst>
              <a:ext uri="{FF2B5EF4-FFF2-40B4-BE49-F238E27FC236}">
                <a16:creationId xmlns:a16="http://schemas.microsoft.com/office/drawing/2014/main" id="{FAD27066-A6A3-496E-AF15-D86E8E15509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08348557"/>
              </p:ext>
            </p:extLst>
          </p:nvPr>
        </p:nvGraphicFramePr>
        <p:xfrm>
          <a:off x="287407" y="2170282"/>
          <a:ext cx="7905957" cy="152350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3532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606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4606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46061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46061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4606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46061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46061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46061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46061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4606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4606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4606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217643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dirty="0"/>
                        <a:t>￦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764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2,000,000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17643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1764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1,000,000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17643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17643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17643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01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02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03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04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05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06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07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08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09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10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11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12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cxnSp>
        <p:nvCxnSpPr>
          <p:cNvPr id="106" name="직선 연결선 105">
            <a:extLst>
              <a:ext uri="{FF2B5EF4-FFF2-40B4-BE49-F238E27FC236}">
                <a16:creationId xmlns:a16="http://schemas.microsoft.com/office/drawing/2014/main" id="{6FF4D37F-52DC-433B-A04B-FB80DB63AA74}"/>
              </a:ext>
            </a:extLst>
          </p:cNvPr>
          <p:cNvCxnSpPr>
            <a:cxnSpLocks/>
          </p:cNvCxnSpPr>
          <p:nvPr/>
        </p:nvCxnSpPr>
        <p:spPr>
          <a:xfrm>
            <a:off x="1640632" y="2932297"/>
            <a:ext cx="6336704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7" name="직선 연결선 106">
            <a:extLst>
              <a:ext uri="{FF2B5EF4-FFF2-40B4-BE49-F238E27FC236}">
                <a16:creationId xmlns:a16="http://schemas.microsoft.com/office/drawing/2014/main" id="{5C5E6AD5-5BD3-41B9-8904-4227F453F8DD}"/>
              </a:ext>
            </a:extLst>
          </p:cNvPr>
          <p:cNvCxnSpPr>
            <a:cxnSpLocks/>
          </p:cNvCxnSpPr>
          <p:nvPr/>
        </p:nvCxnSpPr>
        <p:spPr>
          <a:xfrm>
            <a:off x="1640632" y="2500249"/>
            <a:ext cx="6336704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05DA4163-9BCE-49A4-B8AF-3C3F9E58DD48}"/>
              </a:ext>
            </a:extLst>
          </p:cNvPr>
          <p:cNvSpPr/>
          <p:nvPr/>
        </p:nvSpPr>
        <p:spPr>
          <a:xfrm>
            <a:off x="1824804" y="3121252"/>
            <a:ext cx="72000" cy="208587"/>
          </a:xfrm>
          <a:prstGeom prst="rect">
            <a:avLst/>
          </a:prstGeom>
          <a:solidFill>
            <a:srgbClr val="92D05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09" name="직사각형 108">
            <a:extLst>
              <a:ext uri="{FF2B5EF4-FFF2-40B4-BE49-F238E27FC236}">
                <a16:creationId xmlns:a16="http://schemas.microsoft.com/office/drawing/2014/main" id="{4E118C44-B7C2-4B8D-8E53-793F5E14364D}"/>
              </a:ext>
            </a:extLst>
          </p:cNvPr>
          <p:cNvSpPr/>
          <p:nvPr/>
        </p:nvSpPr>
        <p:spPr>
          <a:xfrm>
            <a:off x="1922916" y="2685312"/>
            <a:ext cx="72000" cy="644527"/>
          </a:xfrm>
          <a:prstGeom prst="rect">
            <a:avLst/>
          </a:prstGeom>
          <a:solidFill>
            <a:srgbClr val="FF9933"/>
          </a:solidFill>
          <a:ln>
            <a:solidFill>
              <a:srgbClr val="FF993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10" name="직사각형 109">
            <a:extLst>
              <a:ext uri="{FF2B5EF4-FFF2-40B4-BE49-F238E27FC236}">
                <a16:creationId xmlns:a16="http://schemas.microsoft.com/office/drawing/2014/main" id="{BF4FB32D-BB58-46E6-828D-CD549BD31A4D}"/>
              </a:ext>
            </a:extLst>
          </p:cNvPr>
          <p:cNvSpPr/>
          <p:nvPr/>
        </p:nvSpPr>
        <p:spPr>
          <a:xfrm>
            <a:off x="2328852" y="3121252"/>
            <a:ext cx="72000" cy="208587"/>
          </a:xfrm>
          <a:prstGeom prst="rect">
            <a:avLst/>
          </a:prstGeom>
          <a:solidFill>
            <a:srgbClr val="92D05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11" name="직사각형 110">
            <a:extLst>
              <a:ext uri="{FF2B5EF4-FFF2-40B4-BE49-F238E27FC236}">
                <a16:creationId xmlns:a16="http://schemas.microsoft.com/office/drawing/2014/main" id="{00720A06-D676-4961-9104-79F321DEB0A6}"/>
              </a:ext>
            </a:extLst>
          </p:cNvPr>
          <p:cNvSpPr/>
          <p:nvPr/>
        </p:nvSpPr>
        <p:spPr>
          <a:xfrm>
            <a:off x="2426964" y="2685312"/>
            <a:ext cx="72000" cy="644527"/>
          </a:xfrm>
          <a:prstGeom prst="rect">
            <a:avLst/>
          </a:prstGeom>
          <a:solidFill>
            <a:srgbClr val="FF9933"/>
          </a:solidFill>
          <a:ln>
            <a:solidFill>
              <a:srgbClr val="FF993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12" name="직사각형 111">
            <a:extLst>
              <a:ext uri="{FF2B5EF4-FFF2-40B4-BE49-F238E27FC236}">
                <a16:creationId xmlns:a16="http://schemas.microsoft.com/office/drawing/2014/main" id="{6E36CEA1-006B-43B9-AA30-540C2492A53E}"/>
              </a:ext>
            </a:extLst>
          </p:cNvPr>
          <p:cNvSpPr/>
          <p:nvPr/>
        </p:nvSpPr>
        <p:spPr>
          <a:xfrm>
            <a:off x="2943802" y="3121252"/>
            <a:ext cx="72000" cy="208587"/>
          </a:xfrm>
          <a:prstGeom prst="rect">
            <a:avLst/>
          </a:prstGeom>
          <a:solidFill>
            <a:srgbClr val="92D05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13" name="직사각형 112">
            <a:extLst>
              <a:ext uri="{FF2B5EF4-FFF2-40B4-BE49-F238E27FC236}">
                <a16:creationId xmlns:a16="http://schemas.microsoft.com/office/drawing/2014/main" id="{16646BD3-2C9B-42DF-8896-F67892FD3EAC}"/>
              </a:ext>
            </a:extLst>
          </p:cNvPr>
          <p:cNvSpPr/>
          <p:nvPr/>
        </p:nvSpPr>
        <p:spPr>
          <a:xfrm>
            <a:off x="3041914" y="2685312"/>
            <a:ext cx="72000" cy="644527"/>
          </a:xfrm>
          <a:prstGeom prst="rect">
            <a:avLst/>
          </a:prstGeom>
          <a:solidFill>
            <a:srgbClr val="FF9933"/>
          </a:solidFill>
          <a:ln>
            <a:solidFill>
              <a:srgbClr val="FF993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14" name="직사각형 113">
            <a:extLst>
              <a:ext uri="{FF2B5EF4-FFF2-40B4-BE49-F238E27FC236}">
                <a16:creationId xmlns:a16="http://schemas.microsoft.com/office/drawing/2014/main" id="{C26075CF-9F3B-4836-81B3-3BB2A5B22875}"/>
              </a:ext>
            </a:extLst>
          </p:cNvPr>
          <p:cNvSpPr/>
          <p:nvPr/>
        </p:nvSpPr>
        <p:spPr>
          <a:xfrm>
            <a:off x="3447850" y="3121252"/>
            <a:ext cx="72000" cy="208587"/>
          </a:xfrm>
          <a:prstGeom prst="rect">
            <a:avLst/>
          </a:prstGeom>
          <a:solidFill>
            <a:srgbClr val="92D05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15" name="직사각형 114">
            <a:extLst>
              <a:ext uri="{FF2B5EF4-FFF2-40B4-BE49-F238E27FC236}">
                <a16:creationId xmlns:a16="http://schemas.microsoft.com/office/drawing/2014/main" id="{8BB539FB-4A28-407D-BC43-D5062C353F0B}"/>
              </a:ext>
            </a:extLst>
          </p:cNvPr>
          <p:cNvSpPr/>
          <p:nvPr/>
        </p:nvSpPr>
        <p:spPr>
          <a:xfrm>
            <a:off x="3545962" y="2685312"/>
            <a:ext cx="72000" cy="644527"/>
          </a:xfrm>
          <a:prstGeom prst="rect">
            <a:avLst/>
          </a:prstGeom>
          <a:solidFill>
            <a:srgbClr val="FF9933"/>
          </a:solidFill>
          <a:ln>
            <a:solidFill>
              <a:srgbClr val="FF993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16" name="직사각형 115">
            <a:extLst>
              <a:ext uri="{FF2B5EF4-FFF2-40B4-BE49-F238E27FC236}">
                <a16:creationId xmlns:a16="http://schemas.microsoft.com/office/drawing/2014/main" id="{C7693824-BB91-4E77-A9DD-B5C253E3F92A}"/>
              </a:ext>
            </a:extLst>
          </p:cNvPr>
          <p:cNvSpPr/>
          <p:nvPr/>
        </p:nvSpPr>
        <p:spPr>
          <a:xfrm>
            <a:off x="3990800" y="3121252"/>
            <a:ext cx="72000" cy="208587"/>
          </a:xfrm>
          <a:prstGeom prst="rect">
            <a:avLst/>
          </a:prstGeom>
          <a:solidFill>
            <a:srgbClr val="92D05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17" name="직사각형 116">
            <a:extLst>
              <a:ext uri="{FF2B5EF4-FFF2-40B4-BE49-F238E27FC236}">
                <a16:creationId xmlns:a16="http://schemas.microsoft.com/office/drawing/2014/main" id="{195291E3-C496-4256-ADA3-E802872FB40C}"/>
              </a:ext>
            </a:extLst>
          </p:cNvPr>
          <p:cNvSpPr/>
          <p:nvPr/>
        </p:nvSpPr>
        <p:spPr>
          <a:xfrm>
            <a:off x="4088912" y="2685312"/>
            <a:ext cx="72000" cy="644527"/>
          </a:xfrm>
          <a:prstGeom prst="rect">
            <a:avLst/>
          </a:prstGeom>
          <a:solidFill>
            <a:srgbClr val="FF9933"/>
          </a:solidFill>
          <a:ln>
            <a:solidFill>
              <a:srgbClr val="FF993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25B329BB-EE5E-4E89-8198-18750E331D51}"/>
              </a:ext>
            </a:extLst>
          </p:cNvPr>
          <p:cNvCxnSpPr/>
          <p:nvPr/>
        </p:nvCxnSpPr>
        <p:spPr>
          <a:xfrm>
            <a:off x="5313040" y="1967052"/>
            <a:ext cx="504056" cy="0"/>
          </a:xfrm>
          <a:prstGeom prst="line">
            <a:avLst/>
          </a:prstGeom>
          <a:solidFill>
            <a:schemeClr val="accent3">
              <a:lumMod val="40000"/>
              <a:lumOff val="60000"/>
            </a:schemeClr>
          </a:solidFill>
          <a:ln>
            <a:solidFill>
              <a:srgbClr val="92D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9" name="직사각형 118">
            <a:extLst>
              <a:ext uri="{FF2B5EF4-FFF2-40B4-BE49-F238E27FC236}">
                <a16:creationId xmlns:a16="http://schemas.microsoft.com/office/drawing/2014/main" id="{29C7BCAA-D601-420B-B3F0-1175AA757E88}"/>
              </a:ext>
            </a:extLst>
          </p:cNvPr>
          <p:cNvSpPr/>
          <p:nvPr/>
        </p:nvSpPr>
        <p:spPr>
          <a:xfrm>
            <a:off x="5889104" y="1844824"/>
            <a:ext cx="1008112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고객 정산금액</a:t>
            </a:r>
          </a:p>
        </p:txBody>
      </p: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3568DB83-CA24-4EF3-AC52-77CC468FA1B3}"/>
              </a:ext>
            </a:extLst>
          </p:cNvPr>
          <p:cNvCxnSpPr/>
          <p:nvPr/>
        </p:nvCxnSpPr>
        <p:spPr>
          <a:xfrm>
            <a:off x="6747697" y="1967052"/>
            <a:ext cx="504056" cy="0"/>
          </a:xfrm>
          <a:prstGeom prst="line">
            <a:avLst/>
          </a:prstGeom>
          <a:solidFill>
            <a:schemeClr val="accent2">
              <a:lumMod val="60000"/>
              <a:lumOff val="40000"/>
            </a:schemeClr>
          </a:solidFill>
          <a:ln>
            <a:solidFill>
              <a:srgbClr val="FF993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1" name="직사각형 120">
            <a:extLst>
              <a:ext uri="{FF2B5EF4-FFF2-40B4-BE49-F238E27FC236}">
                <a16:creationId xmlns:a16="http://schemas.microsoft.com/office/drawing/2014/main" id="{B5256E29-EDBA-4EB7-AAFD-34118F3847B9}"/>
              </a:ext>
            </a:extLst>
          </p:cNvPr>
          <p:cNvSpPr/>
          <p:nvPr/>
        </p:nvSpPr>
        <p:spPr>
          <a:xfrm>
            <a:off x="7323761" y="1844824"/>
            <a:ext cx="1008112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실적 할인금액</a:t>
            </a:r>
          </a:p>
        </p:txBody>
      </p:sp>
      <p:grpSp>
        <p:nvGrpSpPr>
          <p:cNvPr id="52" name="그룹 51">
            <a:extLst>
              <a:ext uri="{FF2B5EF4-FFF2-40B4-BE49-F238E27FC236}">
                <a16:creationId xmlns:a16="http://schemas.microsoft.com/office/drawing/2014/main" id="{5CE64A58-D606-49A3-8E28-4A870346C395}"/>
              </a:ext>
            </a:extLst>
          </p:cNvPr>
          <p:cNvGrpSpPr/>
          <p:nvPr/>
        </p:nvGrpSpPr>
        <p:grpSpPr>
          <a:xfrm>
            <a:off x="210356" y="1203435"/>
            <a:ext cx="8024876" cy="260092"/>
            <a:chOff x="184526" y="1505937"/>
            <a:chExt cx="8024876" cy="260092"/>
          </a:xfrm>
        </p:grpSpPr>
        <p:sp>
          <p:nvSpPr>
            <p:cNvPr id="53" name="직사각형 52">
              <a:extLst>
                <a:ext uri="{FF2B5EF4-FFF2-40B4-BE49-F238E27FC236}">
                  <a16:creationId xmlns:a16="http://schemas.microsoft.com/office/drawing/2014/main" id="{405B9E18-4BB7-4C66-BD7A-40CCB333A820}"/>
                </a:ext>
              </a:extLst>
            </p:cNvPr>
            <p:cNvSpPr/>
            <p:nvPr/>
          </p:nvSpPr>
          <p:spPr>
            <a:xfrm>
              <a:off x="5810955" y="1550585"/>
              <a:ext cx="1820532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수익 현황</a:t>
              </a:r>
            </a:p>
          </p:txBody>
        </p:sp>
        <p:sp>
          <p:nvSpPr>
            <p:cNvPr id="54" name="직사각형 53">
              <a:extLst>
                <a:ext uri="{FF2B5EF4-FFF2-40B4-BE49-F238E27FC236}">
                  <a16:creationId xmlns:a16="http://schemas.microsoft.com/office/drawing/2014/main" id="{438952A2-303F-4398-A3B7-AFB7D449BFAA}"/>
                </a:ext>
              </a:extLst>
            </p:cNvPr>
            <p:cNvSpPr/>
            <p:nvPr/>
          </p:nvSpPr>
          <p:spPr>
            <a:xfrm>
              <a:off x="184526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에너지 모니터링</a:t>
              </a:r>
            </a:p>
          </p:txBody>
        </p:sp>
        <p:sp>
          <p:nvSpPr>
            <p:cNvPr id="55" name="직사각형 54">
              <a:extLst>
                <a:ext uri="{FF2B5EF4-FFF2-40B4-BE49-F238E27FC236}">
                  <a16:creationId xmlns:a16="http://schemas.microsoft.com/office/drawing/2014/main" id="{9ED31C6E-691A-48EF-88FB-FA1D615BB88B}"/>
                </a:ext>
              </a:extLst>
            </p:cNvPr>
            <p:cNvSpPr/>
            <p:nvPr/>
          </p:nvSpPr>
          <p:spPr>
            <a:xfrm>
              <a:off x="2191085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장치 모니터링</a:t>
              </a:r>
            </a:p>
          </p:txBody>
        </p:sp>
        <p:sp>
          <p:nvSpPr>
            <p:cNvPr id="56" name="직사각형 55">
              <a:extLst>
                <a:ext uri="{FF2B5EF4-FFF2-40B4-BE49-F238E27FC236}">
                  <a16:creationId xmlns:a16="http://schemas.microsoft.com/office/drawing/2014/main" id="{597EB79E-7849-4102-9C4C-BF16F19427E3}"/>
                </a:ext>
              </a:extLst>
            </p:cNvPr>
            <p:cNvSpPr/>
            <p:nvPr/>
          </p:nvSpPr>
          <p:spPr>
            <a:xfrm>
              <a:off x="4197644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상황</a:t>
              </a:r>
              <a:r>
                <a:rPr lang="en-US" altLang="ko-KR" sz="700" dirty="0"/>
                <a:t> </a:t>
              </a:r>
              <a:r>
                <a:rPr lang="ko-KR" altLang="en-US" sz="700" dirty="0"/>
                <a:t>관제</a:t>
              </a:r>
            </a:p>
          </p:txBody>
        </p:sp>
        <p:sp>
          <p:nvSpPr>
            <p:cNvPr id="57" name="직사각형 56">
              <a:extLst>
                <a:ext uri="{FF2B5EF4-FFF2-40B4-BE49-F238E27FC236}">
                  <a16:creationId xmlns:a16="http://schemas.microsoft.com/office/drawing/2014/main" id="{C9854B3C-6F4E-4BCF-A34F-E63A0FB24FC7}"/>
                </a:ext>
              </a:extLst>
            </p:cNvPr>
            <p:cNvSpPr/>
            <p:nvPr/>
          </p:nvSpPr>
          <p:spPr>
            <a:xfrm>
              <a:off x="6204202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요금</a:t>
              </a:r>
              <a:r>
                <a:rPr lang="en-US" altLang="ko-KR" sz="700" dirty="0"/>
                <a:t>/</a:t>
              </a:r>
              <a:r>
                <a:rPr lang="ko-KR" altLang="en-US" sz="700" dirty="0"/>
                <a:t>수익</a:t>
              </a:r>
            </a:p>
          </p:txBody>
        </p:sp>
      </p:grp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E75B1AF3-1E78-4702-9BC2-8BD9013FA1A2}"/>
              </a:ext>
            </a:extLst>
          </p:cNvPr>
          <p:cNvSpPr/>
          <p:nvPr/>
        </p:nvSpPr>
        <p:spPr>
          <a:xfrm>
            <a:off x="7680942" y="1556217"/>
            <a:ext cx="473661" cy="289182"/>
          </a:xfrm>
          <a:prstGeom prst="rect">
            <a:avLst/>
          </a:prstGeom>
          <a:solidFill>
            <a:srgbClr val="0099FF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>
              <a:lnSpc>
                <a:spcPct val="150000"/>
              </a:lnSpc>
            </a:pPr>
            <a:r>
              <a:rPr lang="ko-KR" altLang="en-US" sz="105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조회</a:t>
            </a:r>
          </a:p>
        </p:txBody>
      </p:sp>
      <p:sp>
        <p:nvSpPr>
          <p:cNvPr id="59" name="타원형 설명선 226">
            <a:extLst>
              <a:ext uri="{FF2B5EF4-FFF2-40B4-BE49-F238E27FC236}">
                <a16:creationId xmlns:a16="http://schemas.microsoft.com/office/drawing/2014/main" id="{1CF07036-98F1-4A83-92D6-9D8E54943EAF}"/>
              </a:ext>
            </a:extLst>
          </p:cNvPr>
          <p:cNvSpPr/>
          <p:nvPr/>
        </p:nvSpPr>
        <p:spPr>
          <a:xfrm>
            <a:off x="128462" y="2002731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0" name="타원형 설명선 243">
            <a:extLst>
              <a:ext uri="{FF2B5EF4-FFF2-40B4-BE49-F238E27FC236}">
                <a16:creationId xmlns:a16="http://schemas.microsoft.com/office/drawing/2014/main" id="{958A3BB6-2964-4C12-9449-5900B102B5CA}"/>
              </a:ext>
            </a:extLst>
          </p:cNvPr>
          <p:cNvSpPr/>
          <p:nvPr/>
        </p:nvSpPr>
        <p:spPr>
          <a:xfrm>
            <a:off x="115930" y="5085184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1" name="타원형 설명선 244">
            <a:extLst>
              <a:ext uri="{FF2B5EF4-FFF2-40B4-BE49-F238E27FC236}">
                <a16:creationId xmlns:a16="http://schemas.microsoft.com/office/drawing/2014/main" id="{2F2E6BC6-58B5-45DF-B09E-05CCCDA92D83}"/>
              </a:ext>
            </a:extLst>
          </p:cNvPr>
          <p:cNvSpPr/>
          <p:nvPr/>
        </p:nvSpPr>
        <p:spPr>
          <a:xfrm>
            <a:off x="109942" y="3573016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2" name="타원형 설명선 245">
            <a:extLst>
              <a:ext uri="{FF2B5EF4-FFF2-40B4-BE49-F238E27FC236}">
                <a16:creationId xmlns:a16="http://schemas.microsoft.com/office/drawing/2014/main" id="{F2F9D815-59A1-4C6E-9395-52B8167480B9}"/>
              </a:ext>
            </a:extLst>
          </p:cNvPr>
          <p:cNvSpPr/>
          <p:nvPr/>
        </p:nvSpPr>
        <p:spPr>
          <a:xfrm>
            <a:off x="6834930" y="5085184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4" name="타원형 설명선 225">
            <a:extLst>
              <a:ext uri="{FF2B5EF4-FFF2-40B4-BE49-F238E27FC236}">
                <a16:creationId xmlns:a16="http://schemas.microsoft.com/office/drawing/2014/main" id="{1AF4249B-60A4-4EEC-AE43-6FB09B549F23}"/>
              </a:ext>
            </a:extLst>
          </p:cNvPr>
          <p:cNvSpPr/>
          <p:nvPr/>
        </p:nvSpPr>
        <p:spPr>
          <a:xfrm>
            <a:off x="3450578" y="1458646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4127500205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>
            <a:extLst>
              <a:ext uri="{FF2B5EF4-FFF2-40B4-BE49-F238E27FC236}">
                <a16:creationId xmlns:a16="http://schemas.microsoft.com/office/drawing/2014/main" id="{11B1EB27-3DFA-4C9B-B6A6-A2D05EC26A8D}"/>
              </a:ext>
            </a:extLst>
          </p:cNvPr>
          <p:cNvSpPr/>
          <p:nvPr/>
        </p:nvSpPr>
        <p:spPr>
          <a:xfrm>
            <a:off x="132047" y="692284"/>
            <a:ext cx="8202089" cy="6337116"/>
          </a:xfrm>
          <a:prstGeom prst="rect">
            <a:avLst/>
          </a:prstGeom>
          <a:solidFill>
            <a:schemeClr val="bg1"/>
          </a:solidFill>
          <a:ln w="1270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9104309" y="6645875"/>
            <a:ext cx="140029" cy="138499"/>
          </a:xfrm>
        </p:spPr>
        <p:txBody>
          <a:bodyPr/>
          <a:lstStyle/>
          <a:p>
            <a:pPr>
              <a:defRPr/>
            </a:pPr>
            <a:fld id="{9E41B634-5682-4388-99E7-FE44DCFD254B}" type="slidenum">
              <a:rPr lang="ko-KR" altLang="en-US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>
                <a:defRPr/>
              </a:pPr>
              <a:t>45</a:t>
            </a:fld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텍스트 개체 틀 8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Site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 &gt;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요금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/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수익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&gt; ESS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수익 조회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&gt;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명세서 확인 및 출력</a:t>
            </a:r>
          </a:p>
        </p:txBody>
      </p:sp>
      <p:sp>
        <p:nvSpPr>
          <p:cNvPr id="10" name="텍스트 개체 틀 9"/>
          <p:cNvSpPr>
            <a:spLocks noGrp="1"/>
          </p:cNvSpPr>
          <p:nvPr>
            <p:ph type="body" sz="quarter" idx="10"/>
          </p:nvPr>
        </p:nvSpPr>
        <p:spPr>
          <a:xfrm>
            <a:off x="6023595" y="44624"/>
            <a:ext cx="1233661" cy="196974"/>
          </a:xfrm>
        </p:spPr>
        <p:txBody>
          <a:bodyPr/>
          <a:lstStyle/>
          <a:p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명세서 확인 및 출력</a:t>
            </a:r>
          </a:p>
        </p:txBody>
      </p:sp>
      <p:graphicFrame>
        <p:nvGraphicFramePr>
          <p:cNvPr id="102" name="Group 15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51544096"/>
              </p:ext>
            </p:extLst>
          </p:nvPr>
        </p:nvGraphicFramePr>
        <p:xfrm>
          <a:off x="8469313" y="276225"/>
          <a:ext cx="1404000" cy="2822784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3002"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Description</a:t>
                      </a: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명세서 표시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1) ESS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수익 배분 명세서를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2)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기존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한국동서발전의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명세서를 기반으로 표시한다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.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2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PDF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로 저장하기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현재 구성된 화면을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PDF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로 저장한다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.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*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그래프 등의 항목 표시는 차후 협의 필요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3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프린터로 인쇄하기</a:t>
                      </a:r>
                      <a:endParaRPr lang="en-US" altLang="ko-KR" sz="800" b="1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현재 구성된 화면을 </a:t>
                      </a: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PC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상에 설정 및 연결된 프린터를 통해 인쇄한다</a:t>
                      </a: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.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4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닫기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명세서 확인 및 출력 화면 종료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78" name="TextBox 77"/>
          <p:cNvSpPr txBox="1"/>
          <p:nvPr/>
        </p:nvSpPr>
        <p:spPr>
          <a:xfrm>
            <a:off x="7121707" y="21349"/>
            <a:ext cx="567597" cy="2308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화면</a:t>
            </a:r>
            <a:r>
              <a:rPr lang="en-US" altLang="ko-KR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ID</a:t>
            </a:r>
            <a:endParaRPr lang="ko-KR" altLang="en-US" sz="9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7689304" y="43659"/>
            <a:ext cx="792088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itchFamily="50" charset="-127"/>
                <a:ea typeface="맑은 고딕" pitchFamily="50" charset="-127"/>
              </a:rPr>
              <a:t>ewpsp_scr_028</a:t>
            </a:r>
            <a:endParaRPr lang="ko-KR" altLang="en-US" sz="700" dirty="0">
              <a:latin typeface="맑은 고딕" pitchFamily="50" charset="-127"/>
              <a:ea typeface="맑은 고딕" pitchFamily="50" charset="-127"/>
            </a:endParaRPr>
          </a:p>
        </p:txBody>
      </p:sp>
      <p:pic>
        <p:nvPicPr>
          <p:cNvPr id="19" name="Picture 2">
            <a:extLst>
              <a:ext uri="{FF2B5EF4-FFF2-40B4-BE49-F238E27FC236}">
                <a16:creationId xmlns:a16="http://schemas.microsoft.com/office/drawing/2014/main" id="{6FBB0165-03FF-4BBD-A158-8DEF923CF53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464" y="343504"/>
            <a:ext cx="8208912" cy="3487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1" name="직사각형 20">
            <a:extLst>
              <a:ext uri="{FF2B5EF4-FFF2-40B4-BE49-F238E27FC236}">
                <a16:creationId xmlns:a16="http://schemas.microsoft.com/office/drawing/2014/main" id="{5E84417E-CAA5-4FD3-BBB9-7CD5570EF571}"/>
              </a:ext>
            </a:extLst>
          </p:cNvPr>
          <p:cNvSpPr/>
          <p:nvPr/>
        </p:nvSpPr>
        <p:spPr>
          <a:xfrm>
            <a:off x="216314" y="777814"/>
            <a:ext cx="2216405" cy="288032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>
              <a:lnSpc>
                <a:spcPct val="150000"/>
              </a:lnSpc>
            </a:pPr>
            <a:r>
              <a:rPr lang="ko-KR" altLang="en-US" sz="100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명세서 확인 및 출력</a:t>
            </a:r>
          </a:p>
        </p:txBody>
      </p:sp>
      <p:pic>
        <p:nvPicPr>
          <p:cNvPr id="47" name="Picture 2" descr="ì¤ì ì ëí ì´ë¯¸ì§ ê²ìê²°ê³¼">
            <a:extLst>
              <a:ext uri="{FF2B5EF4-FFF2-40B4-BE49-F238E27FC236}">
                <a16:creationId xmlns:a16="http://schemas.microsoft.com/office/drawing/2014/main" id="{90A888AD-844A-4544-B02A-A77BC3397C7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05865" y="425148"/>
            <a:ext cx="198592" cy="19859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직사각형 2">
            <a:extLst>
              <a:ext uri="{FF2B5EF4-FFF2-40B4-BE49-F238E27FC236}">
                <a16:creationId xmlns:a16="http://schemas.microsoft.com/office/drawing/2014/main" id="{B2C5C60E-7747-4016-AE8A-04E934E77802}"/>
              </a:ext>
            </a:extLst>
          </p:cNvPr>
          <p:cNvSpPr/>
          <p:nvPr/>
        </p:nvSpPr>
        <p:spPr>
          <a:xfrm>
            <a:off x="2144688" y="777814"/>
            <a:ext cx="4608512" cy="6107570"/>
          </a:xfrm>
          <a:prstGeom prst="rect">
            <a:avLst/>
          </a:prstGeom>
          <a:solidFill>
            <a:schemeClr val="bg1"/>
          </a:solidFill>
          <a:ln w="1270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BBB78F6E-2615-4568-B7B1-45EDA691C66A}"/>
              </a:ext>
            </a:extLst>
          </p:cNvPr>
          <p:cNvSpPr txBox="1"/>
          <p:nvPr/>
        </p:nvSpPr>
        <p:spPr>
          <a:xfrm>
            <a:off x="2360712" y="873578"/>
            <a:ext cx="4176464" cy="230832"/>
          </a:xfrm>
          <a:prstGeom prst="rect">
            <a:avLst/>
          </a:prstGeom>
          <a:noFill/>
          <a:ln>
            <a:solidFill>
              <a:schemeClr val="bg1">
                <a:lumMod val="50000"/>
              </a:schemeClr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에너지절감 솔루션 제공 전기요금 절감 수익 배분 청구서 </a:t>
            </a:r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(’18</a:t>
            </a:r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년 </a:t>
            </a:r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</a:t>
            </a:r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월</a:t>
            </a:r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386EAC0A-2426-45D1-A774-7B7A5494ABA3}"/>
              </a:ext>
            </a:extLst>
          </p:cNvPr>
          <p:cNvSpPr txBox="1"/>
          <p:nvPr/>
        </p:nvSpPr>
        <p:spPr>
          <a:xfrm>
            <a:off x="5780695" y="1106155"/>
            <a:ext cx="828489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5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청구일 </a:t>
            </a:r>
            <a:r>
              <a:rPr lang="en-US" altLang="ko-KR" sz="5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: 2018-07-20</a:t>
            </a:r>
            <a:endParaRPr lang="ko-KR" altLang="en-US" sz="5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654B6EE5-C0C9-4812-A53C-A3875536DD03}"/>
              </a:ext>
            </a:extLst>
          </p:cNvPr>
          <p:cNvSpPr txBox="1"/>
          <p:nvPr/>
        </p:nvSpPr>
        <p:spPr>
          <a:xfrm>
            <a:off x="2288704" y="1106155"/>
            <a:ext cx="828489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5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고객명 </a:t>
            </a:r>
            <a:r>
              <a:rPr lang="en-US" altLang="ko-KR" sz="5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: </a:t>
            </a:r>
            <a:r>
              <a:rPr lang="ko-KR" altLang="en-US" sz="5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고객</a:t>
            </a:r>
            <a:r>
              <a:rPr lang="en-US" altLang="ko-KR" sz="5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Site_1</a:t>
            </a:r>
            <a:endParaRPr lang="ko-KR" altLang="en-US" sz="5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D55EDA32-13D8-454E-805A-ECAE39E5E686}"/>
              </a:ext>
            </a:extLst>
          </p:cNvPr>
          <p:cNvSpPr txBox="1"/>
          <p:nvPr/>
        </p:nvSpPr>
        <p:spPr>
          <a:xfrm>
            <a:off x="4016896" y="1240893"/>
            <a:ext cx="2376264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이번 달 청구 금액은     </a:t>
            </a:r>
            <a:r>
              <a:rPr lang="en-US" altLang="ko-KR" sz="900" dirty="0">
                <a:solidFill>
                  <a:srgbClr val="0070C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30,439,360</a:t>
            </a: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 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원 입니다</a:t>
            </a: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.</a:t>
            </a:r>
            <a:endParaRPr lang="ko-KR" altLang="en-US" sz="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3391B08A-A2DB-4EC6-9BE8-2FB935BFE7D3}"/>
              </a:ext>
            </a:extLst>
          </p:cNvPr>
          <p:cNvSpPr txBox="1"/>
          <p:nvPr/>
        </p:nvSpPr>
        <p:spPr>
          <a:xfrm>
            <a:off x="4880992" y="1409037"/>
            <a:ext cx="1429340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5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lang="ko-KR" altLang="en-US" sz="5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수익배분기간 </a:t>
            </a:r>
            <a:r>
              <a:rPr lang="en-US" altLang="ko-KR" sz="5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: 2018-01-01 ~ 2018-12-31)</a:t>
            </a:r>
            <a:endParaRPr lang="ko-KR" altLang="en-US" sz="5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E98F572A-6976-4F42-B97C-FFF14233091A}"/>
              </a:ext>
            </a:extLst>
          </p:cNvPr>
          <p:cNvSpPr txBox="1"/>
          <p:nvPr/>
        </p:nvSpPr>
        <p:spPr>
          <a:xfrm>
            <a:off x="2274556" y="1589865"/>
            <a:ext cx="828489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6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1. </a:t>
            </a:r>
            <a:r>
              <a:rPr lang="ko-KR" altLang="en-US" sz="6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청구내역</a:t>
            </a: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23E54DCF-40C1-45A0-A062-BF9B53C816C3}"/>
              </a:ext>
            </a:extLst>
          </p:cNvPr>
          <p:cNvSpPr txBox="1"/>
          <p:nvPr/>
        </p:nvSpPr>
        <p:spPr>
          <a:xfrm>
            <a:off x="4627036" y="1589865"/>
            <a:ext cx="1656184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6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2. ESS </a:t>
            </a:r>
            <a:r>
              <a:rPr lang="ko-KR" altLang="en-US" sz="600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충방전량</a:t>
            </a:r>
            <a:r>
              <a:rPr lang="ko-KR" altLang="en-US" sz="6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및 전력량 요금 절감내역</a:t>
            </a:r>
          </a:p>
        </p:txBody>
      </p:sp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318086E8-0478-49EE-934C-A48BAE7DFE1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31489917"/>
              </p:ext>
            </p:extLst>
          </p:nvPr>
        </p:nvGraphicFramePr>
        <p:xfrm>
          <a:off x="2274556" y="1770433"/>
          <a:ext cx="2113200" cy="1691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46800">
                  <a:extLst>
                    <a:ext uri="{9D8B030D-6E8A-4147-A177-3AD203B41FA5}">
                      <a16:colId xmlns:a16="http://schemas.microsoft.com/office/drawing/2014/main" val="2143136556"/>
                    </a:ext>
                  </a:extLst>
                </a:gridCol>
                <a:gridCol w="583200">
                  <a:extLst>
                    <a:ext uri="{9D8B030D-6E8A-4147-A177-3AD203B41FA5}">
                      <a16:colId xmlns:a16="http://schemas.microsoft.com/office/drawing/2014/main" val="3299530404"/>
                    </a:ext>
                  </a:extLst>
                </a:gridCol>
                <a:gridCol w="583200">
                  <a:extLst>
                    <a:ext uri="{9D8B030D-6E8A-4147-A177-3AD203B41FA5}">
                      <a16:colId xmlns:a16="http://schemas.microsoft.com/office/drawing/2014/main" val="215146028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구 분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절감금액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수익배분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0282666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①기본 요금 절감</a:t>
                      </a:r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피크저감</a:t>
                      </a:r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endParaRPr lang="ko-KR" altLang="en-US" sz="5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</a:t>
                      </a:r>
                      <a:endParaRPr lang="ko-KR" altLang="en-US" sz="5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</a:t>
                      </a:r>
                      <a:endParaRPr lang="ko-KR" altLang="en-US" sz="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672998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②</a:t>
                      </a:r>
                      <a:r>
                        <a:rPr lang="ko-KR" altLang="en-US" sz="5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전려량</a:t>
                      </a:r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요금 절감</a:t>
                      </a:r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5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계시별</a:t>
                      </a:r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endParaRPr lang="ko-KR" altLang="en-US" sz="5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3,188076</a:t>
                      </a:r>
                      <a:endParaRPr lang="ko-KR" altLang="en-US" sz="5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2,869,268</a:t>
                      </a:r>
                      <a:endParaRPr lang="ko-KR" altLang="en-US" sz="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281428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③</a:t>
                      </a:r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ESS </a:t>
                      </a:r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충전 요금 할인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2,227,088</a:t>
                      </a:r>
                      <a:endParaRPr lang="ko-KR" altLang="en-US" sz="5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2,004,379</a:t>
                      </a:r>
                      <a:endParaRPr lang="ko-KR" altLang="en-US" sz="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739032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④</a:t>
                      </a:r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ESS </a:t>
                      </a:r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전용 요금 할인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25,311,670</a:t>
                      </a:r>
                      <a:endParaRPr lang="ko-KR" altLang="en-US" sz="5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22,798,503</a:t>
                      </a:r>
                      <a:endParaRPr lang="ko-KR" altLang="en-US" sz="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202242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총   계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30,746,834</a:t>
                      </a:r>
                      <a:endParaRPr lang="ko-KR" altLang="en-US" sz="5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27,672,151</a:t>
                      </a:r>
                      <a:endParaRPr lang="ko-KR" altLang="en-US" sz="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49693837"/>
                  </a:ext>
                </a:extLst>
              </a:tr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수익배분 계</a:t>
                      </a:r>
                      <a:endParaRPr lang="en-US" altLang="ko-KR" sz="5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27,672,151</a:t>
                      </a:r>
                      <a:endParaRPr lang="ko-KR" altLang="en-US" sz="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68590192"/>
                  </a:ext>
                </a:extLst>
              </a:tr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부가가치세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2,767,215</a:t>
                      </a:r>
                      <a:endParaRPr lang="ko-KR" altLang="en-US" sz="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3717668"/>
                  </a:ext>
                </a:extLst>
              </a:tr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원단위절사</a:t>
                      </a:r>
                      <a:endParaRPr lang="ko-KR" altLang="en-US" sz="5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5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-6</a:t>
                      </a:r>
                      <a:endParaRPr lang="ko-KR" altLang="en-US" sz="500" b="1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44566581"/>
                  </a:ext>
                </a:extLst>
              </a:tr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청구금액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6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30,439,360</a:t>
                      </a:r>
                      <a:endParaRPr lang="ko-KR" altLang="en-US" sz="6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52105426"/>
                  </a:ext>
                </a:extLst>
              </a:tr>
            </a:tbl>
          </a:graphicData>
        </a:graphic>
      </p:graphicFrame>
      <p:graphicFrame>
        <p:nvGraphicFramePr>
          <p:cNvPr id="43" name="표 42">
            <a:extLst>
              <a:ext uri="{FF2B5EF4-FFF2-40B4-BE49-F238E27FC236}">
                <a16:creationId xmlns:a16="http://schemas.microsoft.com/office/drawing/2014/main" id="{23DF273D-EACE-4D01-8A7B-B500CE52065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52080792"/>
              </p:ext>
            </p:extLst>
          </p:nvPr>
        </p:nvGraphicFramePr>
        <p:xfrm>
          <a:off x="4528779" y="1770433"/>
          <a:ext cx="2088232" cy="16764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22058">
                  <a:extLst>
                    <a:ext uri="{9D8B030D-6E8A-4147-A177-3AD203B41FA5}">
                      <a16:colId xmlns:a16="http://schemas.microsoft.com/office/drawing/2014/main" val="3564815403"/>
                    </a:ext>
                  </a:extLst>
                </a:gridCol>
                <a:gridCol w="522058">
                  <a:extLst>
                    <a:ext uri="{9D8B030D-6E8A-4147-A177-3AD203B41FA5}">
                      <a16:colId xmlns:a16="http://schemas.microsoft.com/office/drawing/2014/main" val="2143136556"/>
                    </a:ext>
                  </a:extLst>
                </a:gridCol>
                <a:gridCol w="522058">
                  <a:extLst>
                    <a:ext uri="{9D8B030D-6E8A-4147-A177-3AD203B41FA5}">
                      <a16:colId xmlns:a16="http://schemas.microsoft.com/office/drawing/2014/main" val="3299530404"/>
                    </a:ext>
                  </a:extLst>
                </a:gridCol>
                <a:gridCol w="522058">
                  <a:extLst>
                    <a:ext uri="{9D8B030D-6E8A-4147-A177-3AD203B41FA5}">
                      <a16:colId xmlns:a16="http://schemas.microsoft.com/office/drawing/2014/main" val="2151460281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5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ESS</a:t>
                      </a:r>
                      <a:endParaRPr lang="ko-KR" altLang="en-US" sz="5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5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사용량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5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금액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02826666"/>
                  </a:ext>
                </a:extLst>
              </a:tr>
              <a:tr h="0">
                <a:tc rowSpan="4"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5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충전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50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경부하</a:t>
                      </a:r>
                      <a:endParaRPr lang="ko-KR" altLang="en-US" sz="50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latinLnBrk="1" hangingPunct="1"/>
                      <a:r>
                        <a:rPr lang="en-US" altLang="ko-KR" sz="5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81,728</a:t>
                      </a:r>
                      <a:endParaRPr lang="ko-KR" altLang="en-US" sz="50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latinLnBrk="1" hangingPunct="1"/>
                      <a:r>
                        <a:rPr lang="en-US" altLang="ko-KR" sz="5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4,454,176</a:t>
                      </a:r>
                      <a:endParaRPr lang="ko-KR" altLang="en-US" sz="50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6729986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5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중간부하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latinLnBrk="1" hangingPunct="1"/>
                      <a:r>
                        <a:rPr lang="en-US" altLang="ko-KR" sz="5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1,008</a:t>
                      </a:r>
                      <a:endParaRPr lang="ko-KR" altLang="en-US" sz="50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latinLnBrk="1" hangingPunct="1"/>
                      <a:r>
                        <a:rPr lang="en-US" altLang="ko-KR" sz="5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77,515</a:t>
                      </a:r>
                      <a:endParaRPr lang="ko-KR" altLang="en-US" sz="50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28142833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5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최대부하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latinLnBrk="1" hangingPunct="1"/>
                      <a:r>
                        <a:rPr lang="en-US" altLang="ko-KR" sz="5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41</a:t>
                      </a:r>
                      <a:endParaRPr lang="ko-KR" altLang="en-US" sz="50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latinLnBrk="1" hangingPunct="1"/>
                      <a:r>
                        <a:rPr lang="en-US" altLang="ko-KR" sz="5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4,395</a:t>
                      </a:r>
                      <a:endParaRPr lang="ko-KR" altLang="en-US" sz="50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7390320"/>
                  </a:ext>
                </a:extLst>
              </a:tr>
              <a:tr h="162089">
                <a:tc vMerge="1"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5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latinLnBrk="1" hangingPunct="1"/>
                      <a:r>
                        <a:rPr lang="en-US" altLang="ko-KR" sz="5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82,777</a:t>
                      </a:r>
                      <a:endParaRPr lang="ko-KR" altLang="en-US" sz="50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latinLnBrk="1" hangingPunct="1"/>
                      <a:r>
                        <a:rPr lang="en-US" altLang="ko-KR" sz="5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4,536,086</a:t>
                      </a:r>
                      <a:endParaRPr lang="ko-KR" altLang="en-US" sz="50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49693837"/>
                  </a:ext>
                </a:extLst>
              </a:tr>
              <a:tr h="0">
                <a:tc rowSpan="4"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5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방전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50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경부하</a:t>
                      </a:r>
                      <a:endParaRPr lang="ko-KR" altLang="en-US" sz="50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latinLnBrk="1" hangingPunct="1"/>
                      <a:r>
                        <a:rPr lang="en-US" altLang="ko-KR" sz="5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lang="ko-KR" altLang="en-US" sz="50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latinLnBrk="1" hangingPunct="1"/>
                      <a:r>
                        <a:rPr lang="en-US" altLang="ko-KR" sz="5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lang="ko-KR" altLang="en-US" sz="50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59825907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5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중간부하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latinLnBrk="1" hangingPunct="1"/>
                      <a:r>
                        <a:rPr lang="en-US" altLang="ko-KR" sz="5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9,847</a:t>
                      </a:r>
                      <a:endParaRPr lang="ko-KR" altLang="en-US" sz="50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latinLnBrk="1" hangingPunct="1"/>
                      <a:r>
                        <a:rPr lang="en-US" altLang="ko-KR" sz="5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757,234</a:t>
                      </a:r>
                      <a:endParaRPr lang="ko-KR" altLang="en-US" sz="50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7018770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5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최대부하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latinLnBrk="1" hangingPunct="1"/>
                      <a:r>
                        <a:rPr lang="en-US" altLang="ko-KR" sz="5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64,990</a:t>
                      </a:r>
                      <a:endParaRPr lang="ko-KR" altLang="en-US" sz="50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latinLnBrk="1" hangingPunct="1"/>
                      <a:r>
                        <a:rPr lang="en-US" altLang="ko-KR" sz="5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6,966,928</a:t>
                      </a:r>
                      <a:endParaRPr lang="ko-KR" altLang="en-US" sz="50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96614207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5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latinLnBrk="1" hangingPunct="1"/>
                      <a:r>
                        <a:rPr lang="en-US" altLang="ko-KR" sz="5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74,837</a:t>
                      </a:r>
                      <a:endParaRPr lang="ko-KR" altLang="en-US" sz="50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latinLnBrk="1" hangingPunct="1"/>
                      <a:r>
                        <a:rPr lang="en-US" altLang="ko-KR" sz="5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7,724,162</a:t>
                      </a:r>
                      <a:endParaRPr lang="ko-KR" altLang="en-US" sz="50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15110593"/>
                  </a:ext>
                </a:extLst>
              </a:tr>
              <a:tr h="0">
                <a:tc gridSpan="3"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ko-KR" altLang="en-US" sz="5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②</a:t>
                      </a:r>
                      <a:r>
                        <a:rPr lang="ko-KR" altLang="en-US" sz="50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충방전</a:t>
                      </a:r>
                      <a:r>
                        <a:rPr lang="ko-KR" altLang="en-US" sz="5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전력량요금 절감금액</a:t>
                      </a:r>
                      <a:r>
                        <a:rPr lang="en-US" altLang="ko-KR" sz="5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)(</a:t>
                      </a:r>
                      <a:r>
                        <a:rPr lang="ko-KR" altLang="en-US" sz="5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방전 </a:t>
                      </a:r>
                      <a:r>
                        <a:rPr lang="en-US" altLang="ko-KR" sz="5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– </a:t>
                      </a:r>
                      <a:r>
                        <a:rPr lang="ko-KR" altLang="en-US" sz="5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충전금액</a:t>
                      </a:r>
                      <a:r>
                        <a:rPr lang="en-US" altLang="ko-KR" sz="5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R" altLang="en-US" sz="50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r" defTabSz="914400" rtl="0" eaLnBrk="1" latinLnBrk="1" hangingPunct="1"/>
                      <a:r>
                        <a:rPr lang="en-US" altLang="ko-KR" sz="5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3,188,076</a:t>
                      </a:r>
                      <a:endParaRPr lang="ko-KR" altLang="en-US" sz="5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52105426"/>
                  </a:ext>
                </a:extLst>
              </a:tr>
            </a:tbl>
          </a:graphicData>
        </a:graphic>
      </p:graphicFrame>
      <p:sp>
        <p:nvSpPr>
          <p:cNvPr id="44" name="TextBox 43">
            <a:extLst>
              <a:ext uri="{FF2B5EF4-FFF2-40B4-BE49-F238E27FC236}">
                <a16:creationId xmlns:a16="http://schemas.microsoft.com/office/drawing/2014/main" id="{D2333A1D-2944-4389-8C62-10F019D03189}"/>
              </a:ext>
            </a:extLst>
          </p:cNvPr>
          <p:cNvSpPr txBox="1"/>
          <p:nvPr/>
        </p:nvSpPr>
        <p:spPr>
          <a:xfrm>
            <a:off x="2274556" y="3567188"/>
            <a:ext cx="1886356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6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3. ESS </a:t>
            </a:r>
            <a:r>
              <a:rPr lang="ko-KR" altLang="en-US" sz="6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피크저감</a:t>
            </a:r>
            <a:r>
              <a:rPr lang="en-US" altLang="ko-KR" sz="6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, </a:t>
            </a:r>
            <a:r>
              <a:rPr lang="ko-KR" altLang="en-US" sz="6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충전</a:t>
            </a:r>
            <a:r>
              <a:rPr lang="en-US" altLang="ko-KR" sz="6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, </a:t>
            </a:r>
            <a:r>
              <a:rPr lang="ko-KR" altLang="en-US" sz="6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전용 요금 할인 계산 내역</a:t>
            </a:r>
          </a:p>
        </p:txBody>
      </p:sp>
      <p:graphicFrame>
        <p:nvGraphicFramePr>
          <p:cNvPr id="45" name="표 44">
            <a:extLst>
              <a:ext uri="{FF2B5EF4-FFF2-40B4-BE49-F238E27FC236}">
                <a16:creationId xmlns:a16="http://schemas.microsoft.com/office/drawing/2014/main" id="{8D6BB6AB-54E5-41D8-92D6-FE046567C9E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26558212"/>
              </p:ext>
            </p:extLst>
          </p:nvPr>
        </p:nvGraphicFramePr>
        <p:xfrm>
          <a:off x="2274556" y="3745496"/>
          <a:ext cx="4334629" cy="6705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94268">
                  <a:extLst>
                    <a:ext uri="{9D8B030D-6E8A-4147-A177-3AD203B41FA5}">
                      <a16:colId xmlns:a16="http://schemas.microsoft.com/office/drawing/2014/main" val="2143136556"/>
                    </a:ext>
                  </a:extLst>
                </a:gridCol>
                <a:gridCol w="648072">
                  <a:extLst>
                    <a:ext uri="{9D8B030D-6E8A-4147-A177-3AD203B41FA5}">
                      <a16:colId xmlns:a16="http://schemas.microsoft.com/office/drawing/2014/main" val="3299530404"/>
                    </a:ext>
                  </a:extLst>
                </a:gridCol>
                <a:gridCol w="2592289">
                  <a:extLst>
                    <a:ext uri="{9D8B030D-6E8A-4147-A177-3AD203B41FA5}">
                      <a16:colId xmlns:a16="http://schemas.microsoft.com/office/drawing/2014/main" val="215146028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구 분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금액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계산 내역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0282666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①기본 요금 절감</a:t>
                      </a:r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피크저감</a:t>
                      </a:r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endParaRPr lang="ko-KR" altLang="en-US" sz="5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</a:t>
                      </a:r>
                      <a:endParaRPr lang="ko-KR" altLang="en-US" sz="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ESS</a:t>
                      </a:r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피크저감 효과가 전기요금에 반영되는 시점부터 적용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672998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③</a:t>
                      </a:r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ESS </a:t>
                      </a:r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충전 요금 할인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2,227,088</a:t>
                      </a:r>
                      <a:endParaRPr lang="ko-KR" altLang="en-US" sz="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(81,728 kW x 0.5 x 54.5 </a:t>
                      </a:r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원 </a:t>
                      </a:r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x 1)</a:t>
                      </a:r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281428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④</a:t>
                      </a:r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ESS </a:t>
                      </a:r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전용 요금 할인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25,331,670</a:t>
                      </a:r>
                      <a:endParaRPr lang="ko-KR" altLang="en-US" sz="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Min[(40,527 kW x</a:t>
                      </a:r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8,190</a:t>
                      </a:r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원</a:t>
                      </a:r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), (((64,990 kW – 41 kW) / (21 </a:t>
                      </a:r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일 </a:t>
                      </a:r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x 3)) x 3 x 1 x 8,190 </a:t>
                      </a:r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원</a:t>
                      </a:r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)] </a:t>
                      </a:r>
                      <a:endParaRPr lang="ko-KR" altLang="en-US" sz="5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49693837"/>
                  </a:ext>
                </a:extLst>
              </a:tr>
            </a:tbl>
          </a:graphicData>
        </a:graphic>
      </p:graphicFrame>
      <p:sp>
        <p:nvSpPr>
          <p:cNvPr id="46" name="TextBox 45">
            <a:extLst>
              <a:ext uri="{FF2B5EF4-FFF2-40B4-BE49-F238E27FC236}">
                <a16:creationId xmlns:a16="http://schemas.microsoft.com/office/drawing/2014/main" id="{3EF4418A-9C94-4827-B441-BD84D2690531}"/>
              </a:ext>
            </a:extLst>
          </p:cNvPr>
          <p:cNvSpPr txBox="1"/>
          <p:nvPr/>
        </p:nvSpPr>
        <p:spPr>
          <a:xfrm>
            <a:off x="2274556" y="4647308"/>
            <a:ext cx="1886356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6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4. </a:t>
            </a:r>
            <a:r>
              <a:rPr lang="ko-KR" altLang="en-US" sz="6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고객 사항</a:t>
            </a: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A4CE8CEF-74E0-47BA-8A6B-55640E49F002}"/>
              </a:ext>
            </a:extLst>
          </p:cNvPr>
          <p:cNvSpPr txBox="1"/>
          <p:nvPr/>
        </p:nvSpPr>
        <p:spPr>
          <a:xfrm>
            <a:off x="2190062" y="4421523"/>
            <a:ext cx="3987073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5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※ ESS </a:t>
            </a:r>
            <a:r>
              <a:rPr lang="ko-KR" altLang="en-US" sz="5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충전</a:t>
            </a:r>
            <a:r>
              <a:rPr lang="en-US" altLang="ko-KR" sz="5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, </a:t>
            </a:r>
            <a:r>
              <a:rPr lang="ko-KR" altLang="en-US" sz="5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전용 요금 할인은 당월 계량지침 및 고지서 기준 준용 산출</a:t>
            </a:r>
            <a:r>
              <a:rPr lang="en-US" altLang="ko-KR" sz="5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lang="ko-KR" altLang="en-US" sz="5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평균 사용량 계산은 소수점 첫째 자리 사사오입 적용</a:t>
            </a:r>
            <a:r>
              <a:rPr lang="en-US" altLang="ko-KR" sz="5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sz="5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49" name="표 48">
            <a:extLst>
              <a:ext uri="{FF2B5EF4-FFF2-40B4-BE49-F238E27FC236}">
                <a16:creationId xmlns:a16="http://schemas.microsoft.com/office/drawing/2014/main" id="{92CF4CBE-A646-431B-8CD3-09D2C5CC973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30273769"/>
              </p:ext>
            </p:extLst>
          </p:nvPr>
        </p:nvGraphicFramePr>
        <p:xfrm>
          <a:off x="2274558" y="4827137"/>
          <a:ext cx="1822174" cy="3352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06234">
                  <a:extLst>
                    <a:ext uri="{9D8B030D-6E8A-4147-A177-3AD203B41FA5}">
                      <a16:colId xmlns:a16="http://schemas.microsoft.com/office/drawing/2014/main" val="2143136556"/>
                    </a:ext>
                  </a:extLst>
                </a:gridCol>
                <a:gridCol w="1015940">
                  <a:extLst>
                    <a:ext uri="{9D8B030D-6E8A-4147-A177-3AD203B41FA5}">
                      <a16:colId xmlns:a16="http://schemas.microsoft.com/office/drawing/2014/main" val="329953040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전기사용 </a:t>
                      </a:r>
                      <a:r>
                        <a:rPr lang="ko-KR" altLang="en-US" sz="5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계약종별</a:t>
                      </a:r>
                      <a:endParaRPr lang="ko-KR" altLang="en-US" sz="5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산엽용</a:t>
                      </a:r>
                      <a:r>
                        <a:rPr lang="en-US" altLang="ko-KR" sz="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을</a:t>
                      </a:r>
                      <a:r>
                        <a:rPr lang="en-US" altLang="ko-KR" sz="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 </a:t>
                      </a:r>
                      <a:r>
                        <a:rPr lang="ko-KR" altLang="en-US" sz="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고압</a:t>
                      </a:r>
                      <a:r>
                        <a:rPr lang="en-US" altLang="ko-KR" sz="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B </a:t>
                      </a:r>
                      <a:r>
                        <a:rPr lang="ko-KR" altLang="en-US" sz="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선택 </a:t>
                      </a:r>
                      <a:r>
                        <a:rPr lang="en-US" altLang="ko-KR" sz="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III</a:t>
                      </a:r>
                      <a:endParaRPr lang="ko-KR" altLang="en-US" sz="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672998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기본요금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8,190</a:t>
                      </a:r>
                      <a:endParaRPr lang="ko-KR" altLang="en-US" sz="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49693837"/>
                  </a:ext>
                </a:extLst>
              </a:tr>
            </a:tbl>
          </a:graphicData>
        </a:graphic>
      </p:graphicFrame>
      <p:graphicFrame>
        <p:nvGraphicFramePr>
          <p:cNvPr id="50" name="표 49">
            <a:extLst>
              <a:ext uri="{FF2B5EF4-FFF2-40B4-BE49-F238E27FC236}">
                <a16:creationId xmlns:a16="http://schemas.microsoft.com/office/drawing/2014/main" id="{7B823B1F-600B-4BEF-BCB1-D3135DBCA85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64278482"/>
              </p:ext>
            </p:extLst>
          </p:nvPr>
        </p:nvGraphicFramePr>
        <p:xfrm>
          <a:off x="4199630" y="4821831"/>
          <a:ext cx="2417382" cy="3352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47530">
                  <a:extLst>
                    <a:ext uri="{9D8B030D-6E8A-4147-A177-3AD203B41FA5}">
                      <a16:colId xmlns:a16="http://schemas.microsoft.com/office/drawing/2014/main" val="2143136556"/>
                    </a:ext>
                  </a:extLst>
                </a:gridCol>
                <a:gridCol w="1369852">
                  <a:extLst>
                    <a:ext uri="{9D8B030D-6E8A-4147-A177-3AD203B41FA5}">
                      <a16:colId xmlns:a16="http://schemas.microsoft.com/office/drawing/2014/main" val="329953040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5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ESS </a:t>
                      </a:r>
                      <a:r>
                        <a:rPr lang="ko-KR" altLang="en-US" sz="5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구축 용량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5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ESS Battery : 3.6 MWh,</a:t>
                      </a:r>
                      <a:r>
                        <a:rPr lang="ko-KR" altLang="en-US" sz="5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5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PCS</a:t>
                      </a:r>
                      <a:r>
                        <a:rPr lang="ko-KR" altLang="en-US" sz="5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5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</a:t>
                      </a:r>
                      <a:r>
                        <a:rPr lang="ko-KR" altLang="en-US" sz="5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5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1.5</a:t>
                      </a:r>
                      <a:r>
                        <a:rPr lang="ko-KR" altLang="en-US" sz="5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5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MW</a:t>
                      </a:r>
                      <a:endParaRPr lang="ko-KR" altLang="en-US" sz="5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672998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할인금액 차등비율</a:t>
                      </a:r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가중치</a:t>
                      </a:r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endParaRPr lang="ko-KR" altLang="en-US" sz="5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R" altLang="en-US" sz="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49693837"/>
                  </a:ext>
                </a:extLst>
              </a:tr>
            </a:tbl>
          </a:graphicData>
        </a:graphic>
      </p:graphicFrame>
      <p:sp>
        <p:nvSpPr>
          <p:cNvPr id="55" name="TextBox 54">
            <a:extLst>
              <a:ext uri="{FF2B5EF4-FFF2-40B4-BE49-F238E27FC236}">
                <a16:creationId xmlns:a16="http://schemas.microsoft.com/office/drawing/2014/main" id="{CFB82BD7-DB76-482D-86E7-D30CF1EF5905}"/>
              </a:ext>
            </a:extLst>
          </p:cNvPr>
          <p:cNvSpPr txBox="1"/>
          <p:nvPr/>
        </p:nvSpPr>
        <p:spPr>
          <a:xfrm>
            <a:off x="2274556" y="5295380"/>
            <a:ext cx="1886356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6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5. </a:t>
            </a:r>
            <a:r>
              <a:rPr lang="ko-KR" altLang="en-US" sz="6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전기요금 절감효과</a:t>
            </a:r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A5CC979B-2ED9-4F54-9A85-83ABB8BF9E4F}"/>
              </a:ext>
            </a:extLst>
          </p:cNvPr>
          <p:cNvSpPr txBox="1"/>
          <p:nvPr/>
        </p:nvSpPr>
        <p:spPr>
          <a:xfrm>
            <a:off x="4578812" y="5295380"/>
            <a:ext cx="1886356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6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6</a:t>
            </a:r>
            <a:r>
              <a:rPr lang="en-US" altLang="ko-KR" sz="600">
                <a:latin typeface="맑은 고딕" panose="020B0503020000020004" pitchFamily="50" charset="-127"/>
                <a:ea typeface="맑은 고딕" panose="020B0503020000020004" pitchFamily="50" charset="-127"/>
              </a:rPr>
              <a:t>. </a:t>
            </a:r>
            <a:r>
              <a:rPr lang="ko-KR" altLang="en-US" sz="600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납입처</a:t>
            </a:r>
            <a:endParaRPr lang="ko-KR" altLang="en-US" sz="6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57" name="표 56">
            <a:extLst>
              <a:ext uri="{FF2B5EF4-FFF2-40B4-BE49-F238E27FC236}">
                <a16:creationId xmlns:a16="http://schemas.microsoft.com/office/drawing/2014/main" id="{C9D2F77A-E7E9-4CFC-8DE0-09881D0772A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17140254"/>
              </p:ext>
            </p:extLst>
          </p:nvPr>
        </p:nvGraphicFramePr>
        <p:xfrm>
          <a:off x="4539062" y="5503035"/>
          <a:ext cx="2070122" cy="93171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27499">
                  <a:extLst>
                    <a:ext uri="{9D8B030D-6E8A-4147-A177-3AD203B41FA5}">
                      <a16:colId xmlns:a16="http://schemas.microsoft.com/office/drawing/2014/main" val="2143136556"/>
                    </a:ext>
                  </a:extLst>
                </a:gridCol>
                <a:gridCol w="1142623">
                  <a:extLst>
                    <a:ext uri="{9D8B030D-6E8A-4147-A177-3AD203B41FA5}">
                      <a16:colId xmlns:a16="http://schemas.microsoft.com/office/drawing/2014/main" val="3299530404"/>
                    </a:ext>
                  </a:extLst>
                </a:gridCol>
              </a:tblGrid>
              <a:tr h="18634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은행명</a:t>
                      </a:r>
                      <a:endParaRPr lang="ko-KR" altLang="en-US" sz="5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우리은행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6729986"/>
                  </a:ext>
                </a:extLst>
              </a:tr>
              <a:tr h="18634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계좌번호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1005 – 802 - 498030</a:t>
                      </a:r>
                      <a:endParaRPr lang="ko-KR" altLang="en-US" sz="5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28142833"/>
                  </a:ext>
                </a:extLst>
              </a:tr>
              <a:tr h="18634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예금주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한국동서발전</a:t>
                      </a:r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㈜</a:t>
                      </a:r>
                      <a:endParaRPr lang="en-US" altLang="ko-KR" sz="5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7390320"/>
                  </a:ext>
                </a:extLst>
              </a:tr>
              <a:tr h="18634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납입금액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30,439,360</a:t>
                      </a:r>
                      <a:endParaRPr lang="ko-KR" altLang="en-US" sz="5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2022420"/>
                  </a:ext>
                </a:extLst>
              </a:tr>
              <a:tr h="18634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납기일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2018-06-24</a:t>
                      </a:r>
                      <a:endParaRPr lang="ko-KR" altLang="en-US" sz="5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49693837"/>
                  </a:ext>
                </a:extLst>
              </a:tr>
            </a:tbl>
          </a:graphicData>
        </a:graphic>
      </p:graphicFrame>
      <p:graphicFrame>
        <p:nvGraphicFramePr>
          <p:cNvPr id="31" name="차트 30">
            <a:extLst>
              <a:ext uri="{FF2B5EF4-FFF2-40B4-BE49-F238E27FC236}">
                <a16:creationId xmlns:a16="http://schemas.microsoft.com/office/drawing/2014/main" id="{730311A7-C3A2-4939-A871-92F3A15A1316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506023434"/>
              </p:ext>
            </p:extLst>
          </p:nvPr>
        </p:nvGraphicFramePr>
        <p:xfrm>
          <a:off x="2000672" y="5439396"/>
          <a:ext cx="1493025" cy="99535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70" name="차트 69">
            <a:extLst>
              <a:ext uri="{FF2B5EF4-FFF2-40B4-BE49-F238E27FC236}">
                <a16:creationId xmlns:a16="http://schemas.microsoft.com/office/drawing/2014/main" id="{E93CEA49-FD4B-496E-80F1-471A27B13271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227293794"/>
              </p:ext>
            </p:extLst>
          </p:nvPr>
        </p:nvGraphicFramePr>
        <p:xfrm>
          <a:off x="3044684" y="5189255"/>
          <a:ext cx="3351414" cy="118624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sp>
        <p:nvSpPr>
          <p:cNvPr id="236" name="TextBox 235">
            <a:extLst>
              <a:ext uri="{FF2B5EF4-FFF2-40B4-BE49-F238E27FC236}">
                <a16:creationId xmlns:a16="http://schemas.microsoft.com/office/drawing/2014/main" id="{F6A882AC-223E-45B3-8C4A-CDFA9300972D}"/>
              </a:ext>
            </a:extLst>
          </p:cNvPr>
          <p:cNvSpPr txBox="1"/>
          <p:nvPr/>
        </p:nvSpPr>
        <p:spPr>
          <a:xfrm>
            <a:off x="3669298" y="5484542"/>
            <a:ext cx="530331" cy="7848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5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②</a:t>
            </a:r>
            <a:endParaRPr lang="en-US" altLang="ko-KR" sz="5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 algn="ctr"/>
            <a:r>
              <a:rPr lang="en-US" altLang="ko-KR" sz="5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3,188,076</a:t>
            </a:r>
          </a:p>
          <a:p>
            <a:pPr algn="ctr"/>
            <a:r>
              <a:rPr lang="en-US" altLang="ko-KR" sz="5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0%</a:t>
            </a:r>
          </a:p>
          <a:p>
            <a:pPr algn="ctr"/>
            <a:r>
              <a:rPr lang="ko-KR" altLang="en-US" sz="5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③</a:t>
            </a:r>
            <a:endParaRPr lang="en-US" altLang="ko-KR" sz="5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 algn="ctr"/>
            <a:r>
              <a:rPr lang="en-US" altLang="ko-KR" sz="5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2,227,088</a:t>
            </a:r>
          </a:p>
          <a:p>
            <a:pPr algn="ctr"/>
            <a:r>
              <a:rPr lang="en-US" altLang="ko-KR" sz="5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0%</a:t>
            </a:r>
          </a:p>
          <a:p>
            <a:pPr algn="ctr"/>
            <a:r>
              <a:rPr lang="ko-KR" altLang="en-US" sz="5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④</a:t>
            </a:r>
            <a:endParaRPr lang="en-US" altLang="ko-KR" sz="5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 algn="ctr"/>
            <a:r>
              <a:rPr lang="en-US" altLang="ko-KR" sz="5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25,331,670</a:t>
            </a:r>
          </a:p>
          <a:p>
            <a:pPr algn="ctr"/>
            <a:r>
              <a:rPr lang="en-US" altLang="ko-KR" sz="5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1%</a:t>
            </a:r>
            <a:endParaRPr lang="ko-KR" altLang="en-US" sz="5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DC579568-C64D-4244-B725-42D267DD43BF}"/>
              </a:ext>
            </a:extLst>
          </p:cNvPr>
          <p:cNvSpPr txBox="1"/>
          <p:nvPr/>
        </p:nvSpPr>
        <p:spPr>
          <a:xfrm>
            <a:off x="2327165" y="6288957"/>
            <a:ext cx="1833747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5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※ </a:t>
            </a:r>
            <a:r>
              <a:rPr lang="ko-KR" altLang="en-US" sz="5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전기요금 </a:t>
            </a:r>
            <a:r>
              <a:rPr lang="ko-KR" altLang="en-US" sz="500" b="1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절감분</a:t>
            </a:r>
            <a:r>
              <a:rPr lang="ko-KR" altLang="en-US" sz="5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대한 전력기금 </a:t>
            </a:r>
            <a:r>
              <a:rPr lang="en-US" altLang="ko-KR" sz="5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3.7% </a:t>
            </a:r>
            <a:r>
              <a:rPr lang="ko-KR" altLang="en-US" sz="5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절감 효과 </a:t>
            </a:r>
            <a:r>
              <a:rPr lang="ko-KR" altLang="en-US" sz="500" b="1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미반영</a:t>
            </a:r>
            <a:endParaRPr lang="ko-KR" altLang="en-US" sz="5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7" name="사각형: 둥근 모서리 26">
            <a:extLst>
              <a:ext uri="{FF2B5EF4-FFF2-40B4-BE49-F238E27FC236}">
                <a16:creationId xmlns:a16="http://schemas.microsoft.com/office/drawing/2014/main" id="{0B8ACD99-1112-4F00-859F-D88658E64FF1}"/>
              </a:ext>
            </a:extLst>
          </p:cNvPr>
          <p:cNvSpPr/>
          <p:nvPr/>
        </p:nvSpPr>
        <p:spPr>
          <a:xfrm>
            <a:off x="2274556" y="5503035"/>
            <a:ext cx="1925073" cy="931711"/>
          </a:xfrm>
          <a:prstGeom prst="roundRect">
            <a:avLst/>
          </a:prstGeom>
          <a:noFill/>
          <a:ln w="1270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225" name="직선 연결선 224">
            <a:extLst>
              <a:ext uri="{FF2B5EF4-FFF2-40B4-BE49-F238E27FC236}">
                <a16:creationId xmlns:a16="http://schemas.microsoft.com/office/drawing/2014/main" id="{2D69C394-EEBA-4B85-9EF3-DE709B430B3D}"/>
              </a:ext>
            </a:extLst>
          </p:cNvPr>
          <p:cNvCxnSpPr>
            <a:cxnSpLocks/>
          </p:cNvCxnSpPr>
          <p:nvPr/>
        </p:nvCxnSpPr>
        <p:spPr>
          <a:xfrm flipV="1">
            <a:off x="3095709" y="5655420"/>
            <a:ext cx="273115" cy="242551"/>
          </a:xfrm>
          <a:prstGeom prst="line">
            <a:avLst/>
          </a:prstGeom>
          <a:ln w="6350"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5" name="직선 연결선 64">
            <a:extLst>
              <a:ext uri="{FF2B5EF4-FFF2-40B4-BE49-F238E27FC236}">
                <a16:creationId xmlns:a16="http://schemas.microsoft.com/office/drawing/2014/main" id="{87E3DCBF-88A6-4819-940C-D2CBFAC0D5E9}"/>
              </a:ext>
            </a:extLst>
          </p:cNvPr>
          <p:cNvCxnSpPr>
            <a:cxnSpLocks/>
          </p:cNvCxnSpPr>
          <p:nvPr/>
        </p:nvCxnSpPr>
        <p:spPr>
          <a:xfrm>
            <a:off x="3095709" y="5956339"/>
            <a:ext cx="273115" cy="242551"/>
          </a:xfrm>
          <a:prstGeom prst="line">
            <a:avLst/>
          </a:prstGeom>
          <a:ln w="6350"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1" name="직선 연결선 240">
            <a:extLst>
              <a:ext uri="{FF2B5EF4-FFF2-40B4-BE49-F238E27FC236}">
                <a16:creationId xmlns:a16="http://schemas.microsoft.com/office/drawing/2014/main" id="{B2F8D2E0-ADA5-4EC5-8068-2393D45FCA2F}"/>
              </a:ext>
            </a:extLst>
          </p:cNvPr>
          <p:cNvCxnSpPr>
            <a:cxnSpLocks/>
          </p:cNvCxnSpPr>
          <p:nvPr/>
        </p:nvCxnSpPr>
        <p:spPr>
          <a:xfrm>
            <a:off x="3715269" y="5727583"/>
            <a:ext cx="72463" cy="109744"/>
          </a:xfrm>
          <a:prstGeom prst="line">
            <a:avLst/>
          </a:prstGeom>
          <a:ln w="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" name="직선 연결선 82">
            <a:extLst>
              <a:ext uri="{FF2B5EF4-FFF2-40B4-BE49-F238E27FC236}">
                <a16:creationId xmlns:a16="http://schemas.microsoft.com/office/drawing/2014/main" id="{7251402E-20C1-42FA-A413-5950FFB72768}"/>
              </a:ext>
            </a:extLst>
          </p:cNvPr>
          <p:cNvCxnSpPr>
            <a:cxnSpLocks/>
          </p:cNvCxnSpPr>
          <p:nvPr/>
        </p:nvCxnSpPr>
        <p:spPr>
          <a:xfrm>
            <a:off x="3712808" y="5967870"/>
            <a:ext cx="74924" cy="94004"/>
          </a:xfrm>
          <a:prstGeom prst="line">
            <a:avLst/>
          </a:prstGeom>
          <a:ln w="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6" name="그룹 85">
            <a:extLst>
              <a:ext uri="{FF2B5EF4-FFF2-40B4-BE49-F238E27FC236}">
                <a16:creationId xmlns:a16="http://schemas.microsoft.com/office/drawing/2014/main" id="{85926613-4267-4824-B38B-540F9933A74D}"/>
              </a:ext>
            </a:extLst>
          </p:cNvPr>
          <p:cNvGrpSpPr/>
          <p:nvPr/>
        </p:nvGrpSpPr>
        <p:grpSpPr>
          <a:xfrm>
            <a:off x="2193074" y="6525344"/>
            <a:ext cx="4488118" cy="323428"/>
            <a:chOff x="2162704" y="5301208"/>
            <a:chExt cx="4488118" cy="323428"/>
          </a:xfrm>
        </p:grpSpPr>
        <p:pic>
          <p:nvPicPr>
            <p:cNvPr id="87" name="Picture 4" descr="ì¸ìì ëí ì´ë¯¸ì§ ê²ìê²°ê³¼">
              <a:extLst>
                <a:ext uri="{FF2B5EF4-FFF2-40B4-BE49-F238E27FC236}">
                  <a16:creationId xmlns:a16="http://schemas.microsoft.com/office/drawing/2014/main" id="{EAD9AE6D-2E0E-4945-B864-855376934AD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50465" y="5336922"/>
              <a:ext cx="252000" cy="2520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8" name="Picture 6" descr="pdfì ëí ì´ë¯¸ì§ ê²ìê²°ê³¼">
              <a:extLst>
                <a:ext uri="{FF2B5EF4-FFF2-40B4-BE49-F238E27FC236}">
                  <a16:creationId xmlns:a16="http://schemas.microsoft.com/office/drawing/2014/main" id="{05E723B1-6CFD-4FB4-9E01-852C21D3C3A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162704" y="5336922"/>
              <a:ext cx="252000" cy="2520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89" name="직사각형 88">
              <a:extLst>
                <a:ext uri="{FF2B5EF4-FFF2-40B4-BE49-F238E27FC236}">
                  <a16:creationId xmlns:a16="http://schemas.microsoft.com/office/drawing/2014/main" id="{D7EC86FB-852E-4297-BC4B-3C9B1EE028B2}"/>
                </a:ext>
              </a:extLst>
            </p:cNvPr>
            <p:cNvSpPr/>
            <p:nvPr/>
          </p:nvSpPr>
          <p:spPr>
            <a:xfrm>
              <a:off x="5490371" y="5301208"/>
              <a:ext cx="1160451" cy="323428"/>
            </a:xfrm>
            <a:prstGeom prst="rect">
              <a:avLst/>
            </a:prstGeom>
            <a:solidFill>
              <a:srgbClr val="0099FF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 algn="ctr">
                <a:lnSpc>
                  <a:spcPct val="150000"/>
                </a:lnSpc>
              </a:pPr>
              <a:r>
                <a:rPr lang="ko-KR" altLang="en-US" sz="105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닫기</a:t>
              </a:r>
            </a:p>
          </p:txBody>
        </p:sp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C4654583-48F7-49B2-B64D-2F6528902323}"/>
                </a:ext>
              </a:extLst>
            </p:cNvPr>
            <p:cNvSpPr txBox="1"/>
            <p:nvPr/>
          </p:nvSpPr>
          <p:spPr>
            <a:xfrm>
              <a:off x="2401165" y="5355200"/>
              <a:ext cx="949300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PDF</a:t>
              </a: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로</a:t>
              </a:r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저장하기</a:t>
              </a:r>
            </a:p>
          </p:txBody>
        </p:sp>
        <p:sp>
          <p:nvSpPr>
            <p:cNvPr id="91" name="TextBox 90">
              <a:extLst>
                <a:ext uri="{FF2B5EF4-FFF2-40B4-BE49-F238E27FC236}">
                  <a16:creationId xmlns:a16="http://schemas.microsoft.com/office/drawing/2014/main" id="{EB5FA843-EF59-4EFE-9D2B-F5BB548FB658}"/>
                </a:ext>
              </a:extLst>
            </p:cNvPr>
            <p:cNvSpPr txBox="1"/>
            <p:nvPr/>
          </p:nvSpPr>
          <p:spPr>
            <a:xfrm>
              <a:off x="3633103" y="5355200"/>
              <a:ext cx="1160450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프린터로 인쇄하기</a:t>
              </a:r>
            </a:p>
          </p:txBody>
        </p:sp>
      </p:grpSp>
      <p:sp>
        <p:nvSpPr>
          <p:cNvPr id="227" name="타원형 설명선 226"/>
          <p:cNvSpPr/>
          <p:nvPr/>
        </p:nvSpPr>
        <p:spPr>
          <a:xfrm>
            <a:off x="1943389" y="6417344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4" name="타원형 설명선 243"/>
          <p:cNvSpPr/>
          <p:nvPr/>
        </p:nvSpPr>
        <p:spPr>
          <a:xfrm>
            <a:off x="5245057" y="6434745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5" name="타원형 설명선 244"/>
          <p:cNvSpPr/>
          <p:nvPr/>
        </p:nvSpPr>
        <p:spPr>
          <a:xfrm>
            <a:off x="3131858" y="6435190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3" name="타원형 설명선 225">
            <a:extLst>
              <a:ext uri="{FF2B5EF4-FFF2-40B4-BE49-F238E27FC236}">
                <a16:creationId xmlns:a16="http://schemas.microsoft.com/office/drawing/2014/main" id="{93402A8C-F86A-4207-9226-F02BE6AB6E19}"/>
              </a:ext>
            </a:extLst>
          </p:cNvPr>
          <p:cNvSpPr/>
          <p:nvPr/>
        </p:nvSpPr>
        <p:spPr>
          <a:xfrm>
            <a:off x="1925448" y="819084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927189421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9104309" y="6645875"/>
            <a:ext cx="140029" cy="138499"/>
          </a:xfrm>
        </p:spPr>
        <p:txBody>
          <a:bodyPr/>
          <a:lstStyle/>
          <a:p>
            <a:pPr>
              <a:defRPr/>
            </a:pPr>
            <a:fld id="{9E41B634-5682-4388-99E7-FE44DCFD254B}" type="slidenum">
              <a:rPr lang="ko-KR" altLang="en-US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>
                <a:defRPr/>
              </a:pPr>
              <a:t>46</a:t>
            </a:fld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텍스트 개체 틀 8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Site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 &gt;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요금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/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수익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&gt; DR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수익 조회</a:t>
            </a:r>
          </a:p>
        </p:txBody>
      </p:sp>
      <p:sp>
        <p:nvSpPr>
          <p:cNvPr id="10" name="텍스트 개체 틀 9"/>
          <p:cNvSpPr>
            <a:spLocks noGrp="1"/>
          </p:cNvSpPr>
          <p:nvPr>
            <p:ph type="body" sz="quarter" idx="10"/>
          </p:nvPr>
        </p:nvSpPr>
        <p:spPr>
          <a:xfrm>
            <a:off x="6023595" y="44624"/>
            <a:ext cx="1233661" cy="196974"/>
          </a:xfrm>
        </p:spPr>
        <p:txBody>
          <a:bodyPr/>
          <a:lstStyle/>
          <a:p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DR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수익 조회</a:t>
            </a:r>
          </a:p>
        </p:txBody>
      </p:sp>
      <p:graphicFrame>
        <p:nvGraphicFramePr>
          <p:cNvPr id="102" name="Group 15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40248417"/>
              </p:ext>
            </p:extLst>
          </p:nvPr>
        </p:nvGraphicFramePr>
        <p:xfrm>
          <a:off x="8469313" y="276225"/>
          <a:ext cx="1404000" cy="5552640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3002"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Description</a:t>
                      </a: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기간설정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1)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기간은 월 단위 설정만 가능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2)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버튼을 클릭하면 조회 진행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2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그래프 표시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1)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각 항목 묶은 막대 그래프 형태로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2)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각 월 별 그래프 항목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3)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표시 데이터 항목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66FF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총정산금액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66FF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66FF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고객정산금액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3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표 표시</a:t>
                      </a:r>
                      <a:endParaRPr kumimoji="1" lang="en-US" altLang="ko-KR" sz="8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  <a:p>
                      <a:r>
                        <a:rPr kumimoji="1" lang="en-US" altLang="ko-KR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 1)</a:t>
                      </a: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 </a:t>
                      </a:r>
                      <a:r>
                        <a:rPr kumimoji="1" lang="en-US" altLang="ko-KR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ESS </a:t>
                      </a:r>
                      <a:r>
                        <a:rPr kumimoji="1" lang="ko-KR" altLang="en-US" sz="8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충방전량</a:t>
                      </a: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 정보</a:t>
                      </a:r>
                      <a:r>
                        <a:rPr kumimoji="1" lang="en-US" altLang="ko-KR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, </a:t>
                      </a: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평일 일수</a:t>
                      </a:r>
                      <a:r>
                        <a:rPr kumimoji="1" lang="en-US" altLang="ko-KR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, </a:t>
                      </a: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할인 및 정산 금액 등을 표로 표시</a:t>
                      </a:r>
                      <a:endParaRPr kumimoji="1" lang="en-US" altLang="ko-KR" sz="8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  <a:p>
                      <a:r>
                        <a:rPr kumimoji="1" lang="en-US" altLang="ko-KR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 2) </a:t>
                      </a: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그래프에 포함되지 않은 </a:t>
                      </a:r>
                      <a:r>
                        <a:rPr lang="ko-KR" altLang="en-US" sz="800" b="0" u="none" dirty="0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감축횟수</a:t>
                      </a:r>
                      <a:r>
                        <a:rPr lang="en-US" altLang="ko-KR" sz="800" b="0" u="none" dirty="0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r>
                        <a:rPr lang="ko-KR" altLang="en-US" sz="800" b="0" u="none" dirty="0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시간</a:t>
                      </a:r>
                      <a:r>
                        <a:rPr lang="en-US" altLang="ko-KR" sz="800" b="0" u="none" dirty="0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800" b="0" u="none" dirty="0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감축이행용량</a:t>
                      </a:r>
                      <a:r>
                        <a:rPr lang="en-US" altLang="ko-KR" sz="800" b="0" u="none" dirty="0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800" b="0" u="none" dirty="0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감축인정용량</a:t>
                      </a:r>
                      <a:r>
                        <a:rPr lang="en-US" altLang="ko-KR" sz="800" b="0" u="none" dirty="0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800" b="0" u="none" dirty="0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감축이행율</a:t>
                      </a:r>
                      <a:r>
                        <a:rPr lang="en-US" altLang="ko-KR" sz="800" b="0" u="none" dirty="0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800" b="0" u="none" dirty="0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용량정산금</a:t>
                      </a:r>
                      <a:r>
                        <a:rPr lang="en-US" altLang="ko-KR" sz="800" b="0" u="none" dirty="0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800" b="0" u="none" dirty="0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감축정산금</a:t>
                      </a:r>
                      <a:r>
                        <a:rPr lang="en-US" altLang="ko-KR" sz="800" b="0" u="none" dirty="0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EWP</a:t>
                      </a:r>
                      <a:r>
                        <a:rPr lang="ko-KR" altLang="en-US" sz="800" b="0" u="none" dirty="0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정산금액</a:t>
                      </a:r>
                      <a:r>
                        <a:rPr lang="en-US" altLang="ko-KR" sz="800" b="0" u="none" dirty="0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800" b="0" u="none" dirty="0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수익비율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등의 정보를 추가로 표시</a:t>
                      </a:r>
                      <a:endParaRPr kumimoji="1" lang="ko-KR" altLang="en-US" sz="8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4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데이터 저장하기</a:t>
                      </a:r>
                      <a:endParaRPr lang="en-US" altLang="ko-KR" sz="800" b="1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1)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조회된 데이터를 </a:t>
                      </a: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csv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형태의 파일로 저장한다</a:t>
                      </a: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.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2)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표에 표시된 항목을 그대로 저장하므로 </a:t>
                      </a:r>
                      <a:r>
                        <a:rPr lang="ko-KR" altLang="en-US" sz="800" b="0" u="none" dirty="0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감축횟수</a:t>
                      </a:r>
                      <a:r>
                        <a:rPr lang="en-US" altLang="ko-KR" sz="800" b="0" u="none" dirty="0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r>
                        <a:rPr lang="ko-KR" altLang="en-US" sz="800" b="0" u="none" dirty="0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시간</a:t>
                      </a:r>
                      <a:r>
                        <a:rPr lang="en-US" altLang="ko-KR" sz="800" b="0" u="none" dirty="0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800" b="0" u="none" dirty="0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감축이행용량</a:t>
                      </a:r>
                      <a:r>
                        <a:rPr lang="en-US" altLang="ko-KR" sz="800" b="0" u="none" dirty="0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800" b="0" u="none" dirty="0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감축인정용량</a:t>
                      </a:r>
                      <a:r>
                        <a:rPr lang="en-US" altLang="ko-KR" sz="800" b="0" u="none" dirty="0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800" b="0" u="none" dirty="0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감축이행율</a:t>
                      </a:r>
                      <a:r>
                        <a:rPr lang="en-US" altLang="ko-KR" sz="800" b="0" u="none" dirty="0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800" b="0" u="none" dirty="0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용량정산금</a:t>
                      </a:r>
                      <a:r>
                        <a:rPr lang="en-US" altLang="ko-KR" sz="800" b="0" u="none" dirty="0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800" b="0" u="none" dirty="0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감축정산금</a:t>
                      </a:r>
                      <a:r>
                        <a:rPr lang="en-US" altLang="ko-KR" sz="800" b="0" u="none" dirty="0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EWP</a:t>
                      </a:r>
                      <a:r>
                        <a:rPr lang="ko-KR" altLang="en-US" sz="800" b="0" u="none" dirty="0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정산금액</a:t>
                      </a:r>
                      <a:r>
                        <a:rPr lang="en-US" altLang="ko-KR" sz="800" b="0" u="none" dirty="0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800" b="0" u="none" dirty="0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수익비율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등이 포함된다</a:t>
                      </a: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.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5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명세서 확인하기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1)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해당 버튼을 클릭하면 명세서 확인 및 출력 화면이 팝업 된다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.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*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다음 페이지 참고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78" name="TextBox 77"/>
          <p:cNvSpPr txBox="1"/>
          <p:nvPr/>
        </p:nvSpPr>
        <p:spPr>
          <a:xfrm>
            <a:off x="7121707" y="21349"/>
            <a:ext cx="567597" cy="2308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화면</a:t>
            </a:r>
            <a:r>
              <a:rPr lang="en-US" altLang="ko-KR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ID</a:t>
            </a:r>
            <a:endParaRPr lang="ko-KR" altLang="en-US" sz="9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7689304" y="43659"/>
            <a:ext cx="792088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itchFamily="50" charset="-127"/>
                <a:ea typeface="맑은 고딕" pitchFamily="50" charset="-127"/>
              </a:rPr>
              <a:t>ewpsp_scr_029</a:t>
            </a:r>
            <a:endParaRPr lang="ko-KR" altLang="en-US" sz="700" dirty="0">
              <a:latin typeface="맑은 고딕" pitchFamily="50" charset="-127"/>
              <a:ea typeface="맑은 고딕" pitchFamily="50" charset="-127"/>
            </a:endParaRPr>
          </a:p>
        </p:txBody>
      </p:sp>
      <p:pic>
        <p:nvPicPr>
          <p:cNvPr id="18" name="Picture 3">
            <a:extLst>
              <a:ext uri="{FF2B5EF4-FFF2-40B4-BE49-F238E27FC236}">
                <a16:creationId xmlns:a16="http://schemas.microsoft.com/office/drawing/2014/main" id="{D14E8AEF-8EA8-4944-AE52-FF98A1FB783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463" y="764705"/>
            <a:ext cx="8208912" cy="4889859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  <a:extLst/>
        </p:spPr>
      </p:pic>
      <p:pic>
        <p:nvPicPr>
          <p:cNvPr id="19" name="Picture 2">
            <a:extLst>
              <a:ext uri="{FF2B5EF4-FFF2-40B4-BE49-F238E27FC236}">
                <a16:creationId xmlns:a16="http://schemas.microsoft.com/office/drawing/2014/main" id="{6FBB0165-03FF-4BBD-A158-8DEF923CF53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464" y="762442"/>
            <a:ext cx="8208912" cy="3487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20" name="직선 연결선 19">
            <a:extLst>
              <a:ext uri="{FF2B5EF4-FFF2-40B4-BE49-F238E27FC236}">
                <a16:creationId xmlns:a16="http://schemas.microsoft.com/office/drawing/2014/main" id="{37D07777-30AA-4506-9C18-6F3B4C7D943C}"/>
              </a:ext>
            </a:extLst>
          </p:cNvPr>
          <p:cNvCxnSpPr>
            <a:cxnSpLocks/>
          </p:cNvCxnSpPr>
          <p:nvPr/>
        </p:nvCxnSpPr>
        <p:spPr>
          <a:xfrm>
            <a:off x="128463" y="1124744"/>
            <a:ext cx="8208912" cy="0"/>
          </a:xfrm>
          <a:prstGeom prst="line">
            <a:avLst/>
          </a:prstGeom>
          <a:ln w="9525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5E84417E-CAA5-4FD3-BBB9-7CD5570EF571}"/>
              </a:ext>
            </a:extLst>
          </p:cNvPr>
          <p:cNvSpPr/>
          <p:nvPr/>
        </p:nvSpPr>
        <p:spPr>
          <a:xfrm>
            <a:off x="216315" y="1540252"/>
            <a:ext cx="1820532" cy="288032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en-US" altLang="ko-KR" sz="10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DR </a:t>
            </a:r>
            <a:r>
              <a:rPr lang="ko-KR" altLang="en-US" sz="10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수익 조회</a:t>
            </a:r>
          </a:p>
        </p:txBody>
      </p:sp>
      <p:grpSp>
        <p:nvGrpSpPr>
          <p:cNvPr id="37" name="그룹 36">
            <a:extLst>
              <a:ext uri="{FF2B5EF4-FFF2-40B4-BE49-F238E27FC236}">
                <a16:creationId xmlns:a16="http://schemas.microsoft.com/office/drawing/2014/main" id="{66BFF179-6D85-452E-9564-60FFD2CE0D3D}"/>
              </a:ext>
            </a:extLst>
          </p:cNvPr>
          <p:cNvGrpSpPr/>
          <p:nvPr/>
        </p:nvGrpSpPr>
        <p:grpSpPr>
          <a:xfrm>
            <a:off x="299939" y="5303532"/>
            <a:ext cx="862386" cy="211955"/>
            <a:chOff x="4861742" y="3907374"/>
            <a:chExt cx="862386" cy="211955"/>
          </a:xfrm>
        </p:grpSpPr>
        <p:pic>
          <p:nvPicPr>
            <p:cNvPr id="38" name="Picture 6" descr="ìì ë¤ì´ë¡ëì ëí ì´ë¯¸ì§ ê²ìê²°ê³¼">
              <a:extLst>
                <a:ext uri="{FF2B5EF4-FFF2-40B4-BE49-F238E27FC236}">
                  <a16:creationId xmlns:a16="http://schemas.microsoft.com/office/drawing/2014/main" id="{72CEF38D-10AD-4758-B55F-6D8F726124F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861742" y="3907374"/>
              <a:ext cx="211955" cy="21195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5AB80116-BA59-4BBD-BC55-87962E3E05DB}"/>
                </a:ext>
              </a:extLst>
            </p:cNvPr>
            <p:cNvSpPr txBox="1"/>
            <p:nvPr/>
          </p:nvSpPr>
          <p:spPr>
            <a:xfrm>
              <a:off x="4949189" y="3921018"/>
              <a:ext cx="7749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600" b="1" dirty="0">
                  <a:solidFill>
                    <a:schemeClr val="bg1"/>
                  </a:solidFill>
                </a:rPr>
                <a:t>데이터 저장하기</a:t>
              </a:r>
            </a:p>
          </p:txBody>
        </p:sp>
      </p:grp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A27B69D7-2B77-4AF2-A717-2F8B00E5023D}"/>
              </a:ext>
            </a:extLst>
          </p:cNvPr>
          <p:cNvSpPr/>
          <p:nvPr/>
        </p:nvSpPr>
        <p:spPr>
          <a:xfrm>
            <a:off x="3584848" y="1552913"/>
            <a:ext cx="1224136" cy="288033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기간 설정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51E4F555-ACF8-422A-8A4C-263DF5607ED0}"/>
              </a:ext>
            </a:extLst>
          </p:cNvPr>
          <p:cNvSpPr/>
          <p:nvPr/>
        </p:nvSpPr>
        <p:spPr>
          <a:xfrm>
            <a:off x="4304928" y="1552913"/>
            <a:ext cx="1262753" cy="288033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YYY-MM</a:t>
            </a:r>
            <a:endParaRPr lang="ko-KR" altLang="en-US" sz="90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056B85B8-E22D-471D-BF90-7BA59FDE59DA}"/>
              </a:ext>
            </a:extLst>
          </p:cNvPr>
          <p:cNvSpPr/>
          <p:nvPr/>
        </p:nvSpPr>
        <p:spPr>
          <a:xfrm>
            <a:off x="5567681" y="1552913"/>
            <a:ext cx="288032" cy="288033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▼</a:t>
            </a: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5DE85575-6695-43D9-BA78-E72D7749FD5A}"/>
              </a:ext>
            </a:extLst>
          </p:cNvPr>
          <p:cNvSpPr/>
          <p:nvPr/>
        </p:nvSpPr>
        <p:spPr>
          <a:xfrm>
            <a:off x="5855713" y="1552913"/>
            <a:ext cx="249415" cy="288033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~</a:t>
            </a:r>
            <a:endParaRPr lang="ko-KR" altLang="en-US" sz="900" b="1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52DDF82F-9C8F-422F-B328-3979E21AEB5E}"/>
              </a:ext>
            </a:extLst>
          </p:cNvPr>
          <p:cNvSpPr/>
          <p:nvPr/>
        </p:nvSpPr>
        <p:spPr>
          <a:xfrm>
            <a:off x="6105128" y="1552913"/>
            <a:ext cx="1262753" cy="288033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YYYY-MM</a:t>
            </a:r>
            <a:endParaRPr lang="ko-KR" altLang="en-US" sz="90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508668D7-197F-47CF-8003-58499E43E073}"/>
              </a:ext>
            </a:extLst>
          </p:cNvPr>
          <p:cNvSpPr/>
          <p:nvPr/>
        </p:nvSpPr>
        <p:spPr>
          <a:xfrm>
            <a:off x="7367881" y="1552913"/>
            <a:ext cx="288032" cy="288033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▼</a:t>
            </a:r>
          </a:p>
        </p:txBody>
      </p:sp>
      <p:pic>
        <p:nvPicPr>
          <p:cNvPr id="47" name="Picture 2" descr="ì¤ì ì ëí ì´ë¯¸ì§ ê²ìê²°ê³¼">
            <a:extLst>
              <a:ext uri="{FF2B5EF4-FFF2-40B4-BE49-F238E27FC236}">
                <a16:creationId xmlns:a16="http://schemas.microsoft.com/office/drawing/2014/main" id="{90A888AD-844A-4544-B02A-A77BC3397C7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05865" y="844086"/>
            <a:ext cx="198592" cy="19859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87" name="TextBox 86">
            <a:extLst>
              <a:ext uri="{FF2B5EF4-FFF2-40B4-BE49-F238E27FC236}">
                <a16:creationId xmlns:a16="http://schemas.microsoft.com/office/drawing/2014/main" id="{8022E966-6773-477B-BC7F-8585C81A6134}"/>
              </a:ext>
            </a:extLst>
          </p:cNvPr>
          <p:cNvSpPr txBox="1"/>
          <p:nvPr/>
        </p:nvSpPr>
        <p:spPr>
          <a:xfrm>
            <a:off x="7149244" y="5301788"/>
            <a:ext cx="972108" cy="215444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square" rtlCol="0" anchor="ctr">
            <a:spAutoFit/>
          </a:bodyPr>
          <a:lstStyle/>
          <a:p>
            <a:pPr algn="ctr"/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명세서 확인하기</a:t>
            </a:r>
          </a:p>
        </p:txBody>
      </p: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25B329BB-EE5E-4E89-8198-18750E331D51}"/>
              </a:ext>
            </a:extLst>
          </p:cNvPr>
          <p:cNvCxnSpPr/>
          <p:nvPr/>
        </p:nvCxnSpPr>
        <p:spPr>
          <a:xfrm>
            <a:off x="5313040" y="2039060"/>
            <a:ext cx="504056" cy="0"/>
          </a:xfrm>
          <a:prstGeom prst="line">
            <a:avLst/>
          </a:prstGeom>
          <a:solidFill>
            <a:schemeClr val="accent3">
              <a:lumMod val="40000"/>
              <a:lumOff val="60000"/>
            </a:schemeClr>
          </a:solidFill>
          <a:ln>
            <a:solidFill>
              <a:srgbClr val="92D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9" name="직사각형 118">
            <a:extLst>
              <a:ext uri="{FF2B5EF4-FFF2-40B4-BE49-F238E27FC236}">
                <a16:creationId xmlns:a16="http://schemas.microsoft.com/office/drawing/2014/main" id="{29C7BCAA-D601-420B-B3F0-1175AA757E88}"/>
              </a:ext>
            </a:extLst>
          </p:cNvPr>
          <p:cNvSpPr/>
          <p:nvPr/>
        </p:nvSpPr>
        <p:spPr>
          <a:xfrm>
            <a:off x="5889104" y="1916832"/>
            <a:ext cx="1008112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총 정산금액</a:t>
            </a:r>
          </a:p>
        </p:txBody>
      </p: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3568DB83-CA24-4EF3-AC52-77CC468FA1B3}"/>
              </a:ext>
            </a:extLst>
          </p:cNvPr>
          <p:cNvCxnSpPr/>
          <p:nvPr/>
        </p:nvCxnSpPr>
        <p:spPr>
          <a:xfrm>
            <a:off x="6747697" y="2039060"/>
            <a:ext cx="504056" cy="0"/>
          </a:xfrm>
          <a:prstGeom prst="line">
            <a:avLst/>
          </a:prstGeom>
          <a:solidFill>
            <a:schemeClr val="accent2">
              <a:lumMod val="60000"/>
              <a:lumOff val="40000"/>
            </a:schemeClr>
          </a:solidFill>
          <a:ln>
            <a:solidFill>
              <a:srgbClr val="FF993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1" name="직사각형 120">
            <a:extLst>
              <a:ext uri="{FF2B5EF4-FFF2-40B4-BE49-F238E27FC236}">
                <a16:creationId xmlns:a16="http://schemas.microsoft.com/office/drawing/2014/main" id="{B5256E29-EDBA-4EB7-AAFD-34118F3847B9}"/>
              </a:ext>
            </a:extLst>
          </p:cNvPr>
          <p:cNvSpPr/>
          <p:nvPr/>
        </p:nvSpPr>
        <p:spPr>
          <a:xfrm>
            <a:off x="7323761" y="1916832"/>
            <a:ext cx="1008112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고객 정산금액</a:t>
            </a:r>
          </a:p>
        </p:txBody>
      </p:sp>
      <p:graphicFrame>
        <p:nvGraphicFramePr>
          <p:cNvPr id="52" name="표 51">
            <a:extLst>
              <a:ext uri="{FF2B5EF4-FFF2-40B4-BE49-F238E27FC236}">
                <a16:creationId xmlns:a16="http://schemas.microsoft.com/office/drawing/2014/main" id="{5A0679D4-57A6-4057-B70A-B346336A8E8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11313604"/>
              </p:ext>
            </p:extLst>
          </p:nvPr>
        </p:nvGraphicFramePr>
        <p:xfrm>
          <a:off x="272482" y="3809359"/>
          <a:ext cx="7920878" cy="136349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2413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5806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5806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5806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5806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5806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5806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5806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5806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58062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58062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58062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58062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129053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구분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66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66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66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r>
                        <a:rPr lang="ko-KR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66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r>
                        <a:rPr lang="ko-KR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66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r>
                        <a:rPr lang="ko-KR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66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</a:t>
                      </a:r>
                      <a:r>
                        <a:rPr lang="ko-KR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66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</a:t>
                      </a:r>
                      <a:r>
                        <a:rPr lang="ko-KR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66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</a:t>
                      </a:r>
                      <a:r>
                        <a:rPr lang="ko-KR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66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</a:t>
                      </a:r>
                      <a:r>
                        <a:rPr lang="ko-KR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66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</a:t>
                      </a:r>
                      <a:r>
                        <a:rPr lang="ko-KR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66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</a:t>
                      </a:r>
                      <a:r>
                        <a:rPr lang="ko-KR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66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</a:t>
                      </a:r>
                      <a:r>
                        <a:rPr lang="ko-KR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66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29053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감축 횟수</a:t>
                      </a: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</a:t>
                      </a: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r>
                        <a:rPr lang="en-US" altLang="ko-KR" sz="800" b="1" kern="1200" dirty="0" err="1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hr</a:t>
                      </a: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1-2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1-2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1-2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1-2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1-2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6858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감축이행용량</a:t>
                      </a: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(kWh)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감축인정용량</a:t>
                      </a: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(kWh)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160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160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160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160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160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1200" dirty="0" err="1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감축이행율</a:t>
                      </a: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(%)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용량정산금</a:t>
                      </a: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￦</a:t>
                      </a: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900,000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900,000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900,000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900,000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900,000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감축정산금</a:t>
                      </a: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￦</a:t>
                      </a: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100,000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100,000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100,000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100,000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100,000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68580"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실적</a:t>
                      </a: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총정산금액</a:t>
                      </a: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￦</a:t>
                      </a: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68580"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고객</a:t>
                      </a: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정산금액</a:t>
                      </a: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￦</a:t>
                      </a: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800,000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800,000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800,000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800,000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800,000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68580"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EWP)</a:t>
                      </a:r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정산금액</a:t>
                      </a: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￦</a:t>
                      </a: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200,000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200,000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200,000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200,000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200,000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수익비율</a:t>
                      </a: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(%)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20%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20%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20%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20%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20%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</a:tbl>
          </a:graphicData>
        </a:graphic>
      </p:graphicFrame>
      <p:graphicFrame>
        <p:nvGraphicFramePr>
          <p:cNvPr id="53" name="표 52">
            <a:extLst>
              <a:ext uri="{FF2B5EF4-FFF2-40B4-BE49-F238E27FC236}">
                <a16:creationId xmlns:a16="http://schemas.microsoft.com/office/drawing/2014/main" id="{95EB64A5-3614-49FB-804B-FB37AAC8585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42092086"/>
              </p:ext>
            </p:extLst>
          </p:nvPr>
        </p:nvGraphicFramePr>
        <p:xfrm>
          <a:off x="272482" y="2236923"/>
          <a:ext cx="7920878" cy="155444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2413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5806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5806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5806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5806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5806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5806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5806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5806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58062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58062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58062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58062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222064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dirty="0"/>
                        <a:t>￦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206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2,000,000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2064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206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1,000,000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2064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2064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2064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01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02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03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04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05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06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07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08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09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10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11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12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cxnSp>
        <p:nvCxnSpPr>
          <p:cNvPr id="54" name="직선 연결선 53">
            <a:extLst>
              <a:ext uri="{FF2B5EF4-FFF2-40B4-BE49-F238E27FC236}">
                <a16:creationId xmlns:a16="http://schemas.microsoft.com/office/drawing/2014/main" id="{E1341F35-4643-4FFF-B7FF-0C7ABA562912}"/>
              </a:ext>
            </a:extLst>
          </p:cNvPr>
          <p:cNvCxnSpPr/>
          <p:nvPr/>
        </p:nvCxnSpPr>
        <p:spPr>
          <a:xfrm>
            <a:off x="1303114" y="3010498"/>
            <a:ext cx="6840760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직선 연결선 54">
            <a:extLst>
              <a:ext uri="{FF2B5EF4-FFF2-40B4-BE49-F238E27FC236}">
                <a16:creationId xmlns:a16="http://schemas.microsoft.com/office/drawing/2014/main" id="{1321C349-C060-4D13-BDDF-01218664D8CD}"/>
              </a:ext>
            </a:extLst>
          </p:cNvPr>
          <p:cNvCxnSpPr/>
          <p:nvPr/>
        </p:nvCxnSpPr>
        <p:spPr>
          <a:xfrm>
            <a:off x="1303114" y="2564904"/>
            <a:ext cx="6840760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" name="그룹 1">
            <a:extLst>
              <a:ext uri="{FF2B5EF4-FFF2-40B4-BE49-F238E27FC236}">
                <a16:creationId xmlns:a16="http://schemas.microsoft.com/office/drawing/2014/main" id="{974FE334-EF98-49CA-A92C-693EB79E9705}"/>
              </a:ext>
            </a:extLst>
          </p:cNvPr>
          <p:cNvGrpSpPr/>
          <p:nvPr/>
        </p:nvGrpSpPr>
        <p:grpSpPr>
          <a:xfrm>
            <a:off x="1699094" y="2793855"/>
            <a:ext cx="2390292" cy="527108"/>
            <a:chOff x="1254498" y="2635699"/>
            <a:chExt cx="2390292" cy="347113"/>
          </a:xfrm>
        </p:grpSpPr>
        <p:sp>
          <p:nvSpPr>
            <p:cNvPr id="56" name="직사각형 55">
              <a:extLst>
                <a:ext uri="{FF2B5EF4-FFF2-40B4-BE49-F238E27FC236}">
                  <a16:creationId xmlns:a16="http://schemas.microsoft.com/office/drawing/2014/main" id="{CE19614C-4234-458C-B4E0-14516A35AA20}"/>
                </a:ext>
              </a:extLst>
            </p:cNvPr>
            <p:cNvSpPr/>
            <p:nvPr/>
          </p:nvSpPr>
          <p:spPr>
            <a:xfrm>
              <a:off x="1254498" y="2635699"/>
              <a:ext cx="72000" cy="347113"/>
            </a:xfrm>
            <a:prstGeom prst="rect">
              <a:avLst/>
            </a:prstGeom>
            <a:solidFill>
              <a:srgbClr val="92D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57" name="직사각형 56">
              <a:extLst>
                <a:ext uri="{FF2B5EF4-FFF2-40B4-BE49-F238E27FC236}">
                  <a16:creationId xmlns:a16="http://schemas.microsoft.com/office/drawing/2014/main" id="{D58C0C0E-9A2E-42A4-8DBD-CC791E900B1E}"/>
                </a:ext>
              </a:extLst>
            </p:cNvPr>
            <p:cNvSpPr/>
            <p:nvPr/>
          </p:nvSpPr>
          <p:spPr>
            <a:xfrm>
              <a:off x="1352610" y="2857851"/>
              <a:ext cx="72000" cy="124961"/>
            </a:xfrm>
            <a:prstGeom prst="rect">
              <a:avLst/>
            </a:prstGeom>
            <a:solidFill>
              <a:srgbClr val="FF993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58" name="직사각형 57">
              <a:extLst>
                <a:ext uri="{FF2B5EF4-FFF2-40B4-BE49-F238E27FC236}">
                  <a16:creationId xmlns:a16="http://schemas.microsoft.com/office/drawing/2014/main" id="{EFF0C1AF-2E2B-4746-8A24-5235069F80DE}"/>
                </a:ext>
              </a:extLst>
            </p:cNvPr>
            <p:cNvSpPr/>
            <p:nvPr/>
          </p:nvSpPr>
          <p:spPr>
            <a:xfrm>
              <a:off x="1811239" y="2635699"/>
              <a:ext cx="72000" cy="347113"/>
            </a:xfrm>
            <a:prstGeom prst="rect">
              <a:avLst/>
            </a:prstGeom>
            <a:solidFill>
              <a:srgbClr val="92D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59" name="직사각형 58">
              <a:extLst>
                <a:ext uri="{FF2B5EF4-FFF2-40B4-BE49-F238E27FC236}">
                  <a16:creationId xmlns:a16="http://schemas.microsoft.com/office/drawing/2014/main" id="{6158DF30-3782-4FA6-9B18-5AFDA6F91E40}"/>
                </a:ext>
              </a:extLst>
            </p:cNvPr>
            <p:cNvSpPr/>
            <p:nvPr/>
          </p:nvSpPr>
          <p:spPr>
            <a:xfrm>
              <a:off x="1909351" y="2857851"/>
              <a:ext cx="72000" cy="124961"/>
            </a:xfrm>
            <a:prstGeom prst="rect">
              <a:avLst/>
            </a:prstGeom>
            <a:solidFill>
              <a:srgbClr val="FF993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60" name="직사각형 59">
              <a:extLst>
                <a:ext uri="{FF2B5EF4-FFF2-40B4-BE49-F238E27FC236}">
                  <a16:creationId xmlns:a16="http://schemas.microsoft.com/office/drawing/2014/main" id="{9F1AA584-3860-4A7F-A20E-09B6E41758B5}"/>
                </a:ext>
              </a:extLst>
            </p:cNvPr>
            <p:cNvSpPr/>
            <p:nvPr/>
          </p:nvSpPr>
          <p:spPr>
            <a:xfrm>
              <a:off x="2373496" y="2635699"/>
              <a:ext cx="72000" cy="347113"/>
            </a:xfrm>
            <a:prstGeom prst="rect">
              <a:avLst/>
            </a:prstGeom>
            <a:solidFill>
              <a:srgbClr val="92D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61" name="직사각형 60">
              <a:extLst>
                <a:ext uri="{FF2B5EF4-FFF2-40B4-BE49-F238E27FC236}">
                  <a16:creationId xmlns:a16="http://schemas.microsoft.com/office/drawing/2014/main" id="{021BF623-7FC1-46F7-82B9-092299E66899}"/>
                </a:ext>
              </a:extLst>
            </p:cNvPr>
            <p:cNvSpPr/>
            <p:nvPr/>
          </p:nvSpPr>
          <p:spPr>
            <a:xfrm>
              <a:off x="2471608" y="2857851"/>
              <a:ext cx="72000" cy="124961"/>
            </a:xfrm>
            <a:prstGeom prst="rect">
              <a:avLst/>
            </a:prstGeom>
            <a:solidFill>
              <a:srgbClr val="FF993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62" name="직사각형 61">
              <a:extLst>
                <a:ext uri="{FF2B5EF4-FFF2-40B4-BE49-F238E27FC236}">
                  <a16:creationId xmlns:a16="http://schemas.microsoft.com/office/drawing/2014/main" id="{93A590AE-1C95-4E53-A5C2-638A7DCE2319}"/>
                </a:ext>
              </a:extLst>
            </p:cNvPr>
            <p:cNvSpPr/>
            <p:nvPr/>
          </p:nvSpPr>
          <p:spPr>
            <a:xfrm>
              <a:off x="2913177" y="2635699"/>
              <a:ext cx="72000" cy="347113"/>
            </a:xfrm>
            <a:prstGeom prst="rect">
              <a:avLst/>
            </a:prstGeom>
            <a:solidFill>
              <a:srgbClr val="92D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64" name="직사각형 63">
              <a:extLst>
                <a:ext uri="{FF2B5EF4-FFF2-40B4-BE49-F238E27FC236}">
                  <a16:creationId xmlns:a16="http://schemas.microsoft.com/office/drawing/2014/main" id="{D33532AF-1122-4B6D-8CC7-7C95D549C255}"/>
                </a:ext>
              </a:extLst>
            </p:cNvPr>
            <p:cNvSpPr/>
            <p:nvPr/>
          </p:nvSpPr>
          <p:spPr>
            <a:xfrm>
              <a:off x="3011289" y="2857851"/>
              <a:ext cx="72000" cy="124961"/>
            </a:xfrm>
            <a:prstGeom prst="rect">
              <a:avLst/>
            </a:prstGeom>
            <a:solidFill>
              <a:srgbClr val="FF993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65" name="직사각형 64">
              <a:extLst>
                <a:ext uri="{FF2B5EF4-FFF2-40B4-BE49-F238E27FC236}">
                  <a16:creationId xmlns:a16="http://schemas.microsoft.com/office/drawing/2014/main" id="{6E4CAA77-734B-47F9-BCBB-D9321EDEEB3E}"/>
                </a:ext>
              </a:extLst>
            </p:cNvPr>
            <p:cNvSpPr/>
            <p:nvPr/>
          </p:nvSpPr>
          <p:spPr>
            <a:xfrm>
              <a:off x="3474678" y="2635699"/>
              <a:ext cx="72000" cy="347113"/>
            </a:xfrm>
            <a:prstGeom prst="rect">
              <a:avLst/>
            </a:prstGeom>
            <a:solidFill>
              <a:srgbClr val="92D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66" name="직사각형 65">
              <a:extLst>
                <a:ext uri="{FF2B5EF4-FFF2-40B4-BE49-F238E27FC236}">
                  <a16:creationId xmlns:a16="http://schemas.microsoft.com/office/drawing/2014/main" id="{C0C55AB9-6F4B-4FE6-91C9-FE7C1C44F740}"/>
                </a:ext>
              </a:extLst>
            </p:cNvPr>
            <p:cNvSpPr/>
            <p:nvPr/>
          </p:nvSpPr>
          <p:spPr>
            <a:xfrm>
              <a:off x="3572790" y="2857851"/>
              <a:ext cx="72000" cy="124961"/>
            </a:xfrm>
            <a:prstGeom prst="rect">
              <a:avLst/>
            </a:prstGeom>
            <a:solidFill>
              <a:srgbClr val="FF993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grpSp>
        <p:nvGrpSpPr>
          <p:cNvPr id="67" name="그룹 66">
            <a:extLst>
              <a:ext uri="{FF2B5EF4-FFF2-40B4-BE49-F238E27FC236}">
                <a16:creationId xmlns:a16="http://schemas.microsoft.com/office/drawing/2014/main" id="{7878E1A8-E47B-4303-BDBE-D9153574C0DF}"/>
              </a:ext>
            </a:extLst>
          </p:cNvPr>
          <p:cNvGrpSpPr/>
          <p:nvPr/>
        </p:nvGrpSpPr>
        <p:grpSpPr>
          <a:xfrm>
            <a:off x="210356" y="1203435"/>
            <a:ext cx="8024876" cy="260092"/>
            <a:chOff x="184526" y="1505937"/>
            <a:chExt cx="8024876" cy="260092"/>
          </a:xfrm>
        </p:grpSpPr>
        <p:sp>
          <p:nvSpPr>
            <p:cNvPr id="68" name="직사각형 67">
              <a:extLst>
                <a:ext uri="{FF2B5EF4-FFF2-40B4-BE49-F238E27FC236}">
                  <a16:creationId xmlns:a16="http://schemas.microsoft.com/office/drawing/2014/main" id="{22E66FFF-8A3A-4BFE-8CB3-FDC27F9A445E}"/>
                </a:ext>
              </a:extLst>
            </p:cNvPr>
            <p:cNvSpPr/>
            <p:nvPr/>
          </p:nvSpPr>
          <p:spPr>
            <a:xfrm>
              <a:off x="5810955" y="1550585"/>
              <a:ext cx="1820532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수익 현황</a:t>
              </a:r>
            </a:p>
          </p:txBody>
        </p:sp>
        <p:sp>
          <p:nvSpPr>
            <p:cNvPr id="69" name="직사각형 68">
              <a:extLst>
                <a:ext uri="{FF2B5EF4-FFF2-40B4-BE49-F238E27FC236}">
                  <a16:creationId xmlns:a16="http://schemas.microsoft.com/office/drawing/2014/main" id="{860A8CA5-5E74-48C5-9DB5-0A2D5DDEAD5A}"/>
                </a:ext>
              </a:extLst>
            </p:cNvPr>
            <p:cNvSpPr/>
            <p:nvPr/>
          </p:nvSpPr>
          <p:spPr>
            <a:xfrm>
              <a:off x="184526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에너지 모니터링</a:t>
              </a:r>
            </a:p>
          </p:txBody>
        </p:sp>
        <p:sp>
          <p:nvSpPr>
            <p:cNvPr id="70" name="직사각형 69">
              <a:extLst>
                <a:ext uri="{FF2B5EF4-FFF2-40B4-BE49-F238E27FC236}">
                  <a16:creationId xmlns:a16="http://schemas.microsoft.com/office/drawing/2014/main" id="{D85D8CA3-BC51-40A6-9651-3BF06AFF7D01}"/>
                </a:ext>
              </a:extLst>
            </p:cNvPr>
            <p:cNvSpPr/>
            <p:nvPr/>
          </p:nvSpPr>
          <p:spPr>
            <a:xfrm>
              <a:off x="2191085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장치 모니터링</a:t>
              </a:r>
            </a:p>
          </p:txBody>
        </p:sp>
        <p:sp>
          <p:nvSpPr>
            <p:cNvPr id="71" name="직사각형 70">
              <a:extLst>
                <a:ext uri="{FF2B5EF4-FFF2-40B4-BE49-F238E27FC236}">
                  <a16:creationId xmlns:a16="http://schemas.microsoft.com/office/drawing/2014/main" id="{1EEA0171-B769-44E1-818F-0C260333DE72}"/>
                </a:ext>
              </a:extLst>
            </p:cNvPr>
            <p:cNvSpPr/>
            <p:nvPr/>
          </p:nvSpPr>
          <p:spPr>
            <a:xfrm>
              <a:off x="4197644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상황</a:t>
              </a:r>
              <a:r>
                <a:rPr lang="en-US" altLang="ko-KR" sz="700" dirty="0"/>
                <a:t> </a:t>
              </a:r>
              <a:r>
                <a:rPr lang="ko-KR" altLang="en-US" sz="700" dirty="0"/>
                <a:t>관제</a:t>
              </a:r>
            </a:p>
          </p:txBody>
        </p:sp>
        <p:sp>
          <p:nvSpPr>
            <p:cNvPr id="72" name="직사각형 71">
              <a:extLst>
                <a:ext uri="{FF2B5EF4-FFF2-40B4-BE49-F238E27FC236}">
                  <a16:creationId xmlns:a16="http://schemas.microsoft.com/office/drawing/2014/main" id="{CB44465B-AD92-45D5-A3E7-512C4BDB6F8F}"/>
                </a:ext>
              </a:extLst>
            </p:cNvPr>
            <p:cNvSpPr/>
            <p:nvPr/>
          </p:nvSpPr>
          <p:spPr>
            <a:xfrm>
              <a:off x="6204202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요금</a:t>
              </a:r>
              <a:r>
                <a:rPr lang="en-US" altLang="ko-KR" sz="700" dirty="0"/>
                <a:t>/</a:t>
              </a:r>
              <a:r>
                <a:rPr lang="ko-KR" altLang="en-US" sz="700" dirty="0"/>
                <a:t>수익</a:t>
              </a:r>
            </a:p>
          </p:txBody>
        </p:sp>
      </p:grp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88716980-2DA9-4A24-B5F7-34A83C891CE1}"/>
              </a:ext>
            </a:extLst>
          </p:cNvPr>
          <p:cNvSpPr/>
          <p:nvPr/>
        </p:nvSpPr>
        <p:spPr>
          <a:xfrm>
            <a:off x="7683627" y="1550916"/>
            <a:ext cx="473661" cy="289182"/>
          </a:xfrm>
          <a:prstGeom prst="rect">
            <a:avLst/>
          </a:prstGeom>
          <a:solidFill>
            <a:srgbClr val="0099FF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>
              <a:lnSpc>
                <a:spcPct val="150000"/>
              </a:lnSpc>
            </a:pPr>
            <a:r>
              <a:rPr lang="ko-KR" altLang="en-US" sz="105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조회</a:t>
            </a:r>
          </a:p>
        </p:txBody>
      </p:sp>
      <p:sp>
        <p:nvSpPr>
          <p:cNvPr id="74" name="타원형 설명선 226">
            <a:extLst>
              <a:ext uri="{FF2B5EF4-FFF2-40B4-BE49-F238E27FC236}">
                <a16:creationId xmlns:a16="http://schemas.microsoft.com/office/drawing/2014/main" id="{54785E2F-2D4D-484E-9ED3-1763342D3835}"/>
              </a:ext>
            </a:extLst>
          </p:cNvPr>
          <p:cNvSpPr/>
          <p:nvPr/>
        </p:nvSpPr>
        <p:spPr>
          <a:xfrm>
            <a:off x="128462" y="2002731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5" name="타원형 설명선 243">
            <a:extLst>
              <a:ext uri="{FF2B5EF4-FFF2-40B4-BE49-F238E27FC236}">
                <a16:creationId xmlns:a16="http://schemas.microsoft.com/office/drawing/2014/main" id="{F4C23757-3715-48E1-8DAE-FF0AD0F369DE}"/>
              </a:ext>
            </a:extLst>
          </p:cNvPr>
          <p:cNvSpPr/>
          <p:nvPr/>
        </p:nvSpPr>
        <p:spPr>
          <a:xfrm>
            <a:off x="115930" y="5085208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6" name="타원형 설명선 244">
            <a:extLst>
              <a:ext uri="{FF2B5EF4-FFF2-40B4-BE49-F238E27FC236}">
                <a16:creationId xmlns:a16="http://schemas.microsoft.com/office/drawing/2014/main" id="{39182858-D5AD-4D2D-B53A-E367DBEA7C19}"/>
              </a:ext>
            </a:extLst>
          </p:cNvPr>
          <p:cNvSpPr/>
          <p:nvPr/>
        </p:nvSpPr>
        <p:spPr>
          <a:xfrm>
            <a:off x="109942" y="3645024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7" name="타원형 설명선 245">
            <a:extLst>
              <a:ext uri="{FF2B5EF4-FFF2-40B4-BE49-F238E27FC236}">
                <a16:creationId xmlns:a16="http://schemas.microsoft.com/office/drawing/2014/main" id="{05FF4988-80C5-461D-8A36-D6BFF737FF84}"/>
              </a:ext>
            </a:extLst>
          </p:cNvPr>
          <p:cNvSpPr/>
          <p:nvPr/>
        </p:nvSpPr>
        <p:spPr>
          <a:xfrm>
            <a:off x="6834930" y="5085184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0" name="타원형 설명선 225">
            <a:extLst>
              <a:ext uri="{FF2B5EF4-FFF2-40B4-BE49-F238E27FC236}">
                <a16:creationId xmlns:a16="http://schemas.microsoft.com/office/drawing/2014/main" id="{03D53C94-A5E1-41BF-87C4-3C5C67CBADBE}"/>
              </a:ext>
            </a:extLst>
          </p:cNvPr>
          <p:cNvSpPr/>
          <p:nvPr/>
        </p:nvSpPr>
        <p:spPr>
          <a:xfrm>
            <a:off x="3450578" y="1458646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913903366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>
            <a:extLst>
              <a:ext uri="{FF2B5EF4-FFF2-40B4-BE49-F238E27FC236}">
                <a16:creationId xmlns:a16="http://schemas.microsoft.com/office/drawing/2014/main" id="{11B1EB27-3DFA-4C9B-B6A6-A2D05EC26A8D}"/>
              </a:ext>
            </a:extLst>
          </p:cNvPr>
          <p:cNvSpPr/>
          <p:nvPr/>
        </p:nvSpPr>
        <p:spPr>
          <a:xfrm>
            <a:off x="132047" y="692284"/>
            <a:ext cx="8202089" cy="5617036"/>
          </a:xfrm>
          <a:prstGeom prst="rect">
            <a:avLst/>
          </a:prstGeom>
          <a:solidFill>
            <a:schemeClr val="bg1"/>
          </a:solidFill>
          <a:ln w="1270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9104309" y="6645875"/>
            <a:ext cx="140029" cy="138499"/>
          </a:xfrm>
        </p:spPr>
        <p:txBody>
          <a:bodyPr/>
          <a:lstStyle/>
          <a:p>
            <a:pPr>
              <a:defRPr/>
            </a:pPr>
            <a:fld id="{9E41B634-5682-4388-99E7-FE44DCFD254B}" type="slidenum">
              <a:rPr lang="ko-KR" altLang="en-US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>
                <a:defRPr/>
              </a:pPr>
              <a:t>47</a:t>
            </a:fld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텍스트 개체 틀 8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Site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 &gt;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요금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/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수익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&gt; DR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수익 조회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&gt;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명세서 확인 및 출력</a:t>
            </a:r>
          </a:p>
        </p:txBody>
      </p:sp>
      <p:sp>
        <p:nvSpPr>
          <p:cNvPr id="10" name="텍스트 개체 틀 9"/>
          <p:cNvSpPr>
            <a:spLocks noGrp="1"/>
          </p:cNvSpPr>
          <p:nvPr>
            <p:ph type="body" sz="quarter" idx="10"/>
          </p:nvPr>
        </p:nvSpPr>
        <p:spPr>
          <a:xfrm>
            <a:off x="6023595" y="44624"/>
            <a:ext cx="1233661" cy="196974"/>
          </a:xfrm>
        </p:spPr>
        <p:txBody>
          <a:bodyPr/>
          <a:lstStyle/>
          <a:p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명세서 확인 및 출력</a:t>
            </a:r>
          </a:p>
        </p:txBody>
      </p:sp>
      <p:graphicFrame>
        <p:nvGraphicFramePr>
          <p:cNvPr id="102" name="Group 15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06400740"/>
              </p:ext>
            </p:extLst>
          </p:nvPr>
        </p:nvGraphicFramePr>
        <p:xfrm>
          <a:off x="8469313" y="276225"/>
          <a:ext cx="1404000" cy="2870400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3002"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Description</a:t>
                      </a: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명세서 표시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1) DR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수익 배분 명세서를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2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PDF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로 저장하기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현재 구성된 화면을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PDF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로 저장한다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.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3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프린터로 인쇄하기</a:t>
                      </a:r>
                      <a:endParaRPr lang="en-US" altLang="ko-KR" sz="800" b="1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현재 구성된 화면을 </a:t>
                      </a: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PC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상에 설정 및 연결된 프린터를 통해 인쇄한다</a:t>
                      </a: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.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4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닫기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명세서 확인 및 출력 화면 종료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8304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*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수익배분 및 청구 내역 구성에 대한 샘플 확인 필요 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–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확인 후 추가 업데이트 예정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78" name="TextBox 77"/>
          <p:cNvSpPr txBox="1"/>
          <p:nvPr/>
        </p:nvSpPr>
        <p:spPr>
          <a:xfrm>
            <a:off x="7121707" y="21349"/>
            <a:ext cx="567597" cy="2308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화면</a:t>
            </a:r>
            <a:r>
              <a:rPr lang="en-US" altLang="ko-KR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ID</a:t>
            </a:r>
            <a:endParaRPr lang="ko-KR" altLang="en-US" sz="9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7689304" y="43659"/>
            <a:ext cx="792088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itchFamily="50" charset="-127"/>
                <a:ea typeface="맑은 고딕" pitchFamily="50" charset="-127"/>
              </a:rPr>
              <a:t>ewpsp_scr_030</a:t>
            </a:r>
            <a:endParaRPr lang="ko-KR" altLang="en-US" sz="700" dirty="0">
              <a:latin typeface="맑은 고딕" pitchFamily="50" charset="-127"/>
              <a:ea typeface="맑은 고딕" pitchFamily="50" charset="-127"/>
            </a:endParaRPr>
          </a:p>
        </p:txBody>
      </p:sp>
      <p:pic>
        <p:nvPicPr>
          <p:cNvPr id="19" name="Picture 2">
            <a:extLst>
              <a:ext uri="{FF2B5EF4-FFF2-40B4-BE49-F238E27FC236}">
                <a16:creationId xmlns:a16="http://schemas.microsoft.com/office/drawing/2014/main" id="{6FBB0165-03FF-4BBD-A158-8DEF923CF53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464" y="343504"/>
            <a:ext cx="8208912" cy="3487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1" name="직사각형 20">
            <a:extLst>
              <a:ext uri="{FF2B5EF4-FFF2-40B4-BE49-F238E27FC236}">
                <a16:creationId xmlns:a16="http://schemas.microsoft.com/office/drawing/2014/main" id="{5E84417E-CAA5-4FD3-BBB9-7CD5570EF571}"/>
              </a:ext>
            </a:extLst>
          </p:cNvPr>
          <p:cNvSpPr/>
          <p:nvPr/>
        </p:nvSpPr>
        <p:spPr>
          <a:xfrm>
            <a:off x="216314" y="777814"/>
            <a:ext cx="2216405" cy="288032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>
              <a:lnSpc>
                <a:spcPct val="150000"/>
              </a:lnSpc>
            </a:pPr>
            <a:r>
              <a:rPr lang="ko-KR" altLang="en-US" sz="100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명세서 확인 및 출력</a:t>
            </a:r>
          </a:p>
        </p:txBody>
      </p:sp>
      <p:pic>
        <p:nvPicPr>
          <p:cNvPr id="47" name="Picture 2" descr="ì¤ì ì ëí ì´ë¯¸ì§ ê²ìê²°ê³¼">
            <a:extLst>
              <a:ext uri="{FF2B5EF4-FFF2-40B4-BE49-F238E27FC236}">
                <a16:creationId xmlns:a16="http://schemas.microsoft.com/office/drawing/2014/main" id="{90A888AD-844A-4544-B02A-A77BC3397C7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05865" y="425148"/>
            <a:ext cx="198592" cy="19859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직사각형 2">
            <a:extLst>
              <a:ext uri="{FF2B5EF4-FFF2-40B4-BE49-F238E27FC236}">
                <a16:creationId xmlns:a16="http://schemas.microsoft.com/office/drawing/2014/main" id="{B2C5C60E-7747-4016-AE8A-04E934E77802}"/>
              </a:ext>
            </a:extLst>
          </p:cNvPr>
          <p:cNvSpPr/>
          <p:nvPr/>
        </p:nvSpPr>
        <p:spPr>
          <a:xfrm>
            <a:off x="2126342" y="873578"/>
            <a:ext cx="4608512" cy="4067590"/>
          </a:xfrm>
          <a:prstGeom prst="rect">
            <a:avLst/>
          </a:prstGeom>
          <a:solidFill>
            <a:schemeClr val="bg1"/>
          </a:solidFill>
          <a:ln w="1270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grpSp>
        <p:nvGrpSpPr>
          <p:cNvPr id="53" name="그룹 52">
            <a:extLst>
              <a:ext uri="{FF2B5EF4-FFF2-40B4-BE49-F238E27FC236}">
                <a16:creationId xmlns:a16="http://schemas.microsoft.com/office/drawing/2014/main" id="{E6C8B849-6BDA-418C-8E1E-709BEEC9E492}"/>
              </a:ext>
            </a:extLst>
          </p:cNvPr>
          <p:cNvGrpSpPr/>
          <p:nvPr/>
        </p:nvGrpSpPr>
        <p:grpSpPr>
          <a:xfrm>
            <a:off x="2162704" y="4401716"/>
            <a:ext cx="4488118" cy="323428"/>
            <a:chOff x="2162704" y="5301208"/>
            <a:chExt cx="4488118" cy="323428"/>
          </a:xfrm>
        </p:grpSpPr>
        <p:pic>
          <p:nvPicPr>
            <p:cNvPr id="54" name="Picture 4" descr="ì¸ìì ëí ì´ë¯¸ì§ ê²ìê²°ê³¼">
              <a:extLst>
                <a:ext uri="{FF2B5EF4-FFF2-40B4-BE49-F238E27FC236}">
                  <a16:creationId xmlns:a16="http://schemas.microsoft.com/office/drawing/2014/main" id="{C321C231-E3A3-46C8-AB70-A17CE595346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50465" y="5336922"/>
              <a:ext cx="252000" cy="2520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58" name="Picture 6" descr="pdfì ëí ì´ë¯¸ì§ ê²ìê²°ê³¼">
              <a:extLst>
                <a:ext uri="{FF2B5EF4-FFF2-40B4-BE49-F238E27FC236}">
                  <a16:creationId xmlns:a16="http://schemas.microsoft.com/office/drawing/2014/main" id="{5435E049-087D-4E49-960C-08D514DC86B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162704" y="5336922"/>
              <a:ext cx="252000" cy="2520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59" name="직사각형 58">
              <a:extLst>
                <a:ext uri="{FF2B5EF4-FFF2-40B4-BE49-F238E27FC236}">
                  <a16:creationId xmlns:a16="http://schemas.microsoft.com/office/drawing/2014/main" id="{15839C1F-30C4-4AFE-BCBC-8F47661F0A41}"/>
                </a:ext>
              </a:extLst>
            </p:cNvPr>
            <p:cNvSpPr/>
            <p:nvPr/>
          </p:nvSpPr>
          <p:spPr>
            <a:xfrm>
              <a:off x="5490371" y="5301208"/>
              <a:ext cx="1160451" cy="323428"/>
            </a:xfrm>
            <a:prstGeom prst="rect">
              <a:avLst/>
            </a:prstGeom>
            <a:solidFill>
              <a:srgbClr val="0099FF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 algn="ctr">
                <a:lnSpc>
                  <a:spcPct val="150000"/>
                </a:lnSpc>
              </a:pPr>
              <a:r>
                <a:rPr lang="ko-KR" altLang="en-US" sz="105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닫기</a:t>
              </a: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8082294F-9183-4EFE-8B1B-48F2B67D09EE}"/>
                </a:ext>
              </a:extLst>
            </p:cNvPr>
            <p:cNvSpPr txBox="1"/>
            <p:nvPr/>
          </p:nvSpPr>
          <p:spPr>
            <a:xfrm>
              <a:off x="2401165" y="5355200"/>
              <a:ext cx="949300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PDF</a:t>
              </a: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로</a:t>
              </a:r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저장하기</a:t>
              </a:r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AEFEDAAF-B357-4A6B-A056-3ED337E8D9DC}"/>
                </a:ext>
              </a:extLst>
            </p:cNvPr>
            <p:cNvSpPr txBox="1"/>
            <p:nvPr/>
          </p:nvSpPr>
          <p:spPr>
            <a:xfrm>
              <a:off x="3633103" y="5355200"/>
              <a:ext cx="1160450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프린터로 인쇄하기</a:t>
              </a:r>
            </a:p>
          </p:txBody>
        </p:sp>
      </p:grpSp>
      <p:sp>
        <p:nvSpPr>
          <p:cNvPr id="20" name="TextBox 19">
            <a:extLst>
              <a:ext uri="{FF2B5EF4-FFF2-40B4-BE49-F238E27FC236}">
                <a16:creationId xmlns:a16="http://schemas.microsoft.com/office/drawing/2014/main" id="{F20B8AA5-54A6-4686-8F84-23ED7E2D7832}"/>
              </a:ext>
            </a:extLst>
          </p:cNvPr>
          <p:cNvSpPr txBox="1"/>
          <p:nvPr/>
        </p:nvSpPr>
        <p:spPr>
          <a:xfrm>
            <a:off x="2360712" y="1054206"/>
            <a:ext cx="4176464" cy="230832"/>
          </a:xfrm>
          <a:prstGeom prst="rect">
            <a:avLst/>
          </a:prstGeom>
          <a:noFill/>
          <a:ln>
            <a:solidFill>
              <a:schemeClr val="bg1">
                <a:lumMod val="50000"/>
              </a:schemeClr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DR (</a:t>
            </a:r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수요반응</a:t>
            </a:r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 </a:t>
            </a:r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수익 배분 청구서 </a:t>
            </a:r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(’18</a:t>
            </a:r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년 </a:t>
            </a:r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</a:t>
            </a:r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월</a:t>
            </a:r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D5D71635-63E1-478A-BB51-0D7CF38B368D}"/>
              </a:ext>
            </a:extLst>
          </p:cNvPr>
          <p:cNvSpPr txBox="1"/>
          <p:nvPr/>
        </p:nvSpPr>
        <p:spPr>
          <a:xfrm>
            <a:off x="5780695" y="1286783"/>
            <a:ext cx="828489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5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청구일 </a:t>
            </a:r>
            <a:r>
              <a:rPr lang="en-US" altLang="ko-KR" sz="5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: 2018-07-20</a:t>
            </a:r>
            <a:endParaRPr lang="ko-KR" altLang="en-US" sz="5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4A831D49-D700-43F0-B0A2-4588FA3BD4D0}"/>
              </a:ext>
            </a:extLst>
          </p:cNvPr>
          <p:cNvSpPr txBox="1"/>
          <p:nvPr/>
        </p:nvSpPr>
        <p:spPr>
          <a:xfrm>
            <a:off x="2288704" y="1286783"/>
            <a:ext cx="828489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5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고객명 </a:t>
            </a:r>
            <a:r>
              <a:rPr lang="en-US" altLang="ko-KR" sz="5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: </a:t>
            </a:r>
            <a:r>
              <a:rPr lang="ko-KR" altLang="en-US" sz="5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고객</a:t>
            </a:r>
            <a:r>
              <a:rPr lang="en-US" altLang="ko-KR" sz="5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Site_1</a:t>
            </a:r>
            <a:endParaRPr lang="ko-KR" altLang="en-US" sz="5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2DC44560-361D-4A20-A611-78B7E6E8AAF6}"/>
              </a:ext>
            </a:extLst>
          </p:cNvPr>
          <p:cNvSpPr txBox="1"/>
          <p:nvPr/>
        </p:nvSpPr>
        <p:spPr>
          <a:xfrm>
            <a:off x="4160912" y="1421521"/>
            <a:ext cx="2376264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이번 달 청구 금액은     </a:t>
            </a:r>
            <a:r>
              <a:rPr lang="en-US" altLang="ko-KR" sz="900" dirty="0">
                <a:solidFill>
                  <a:srgbClr val="0070C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220,000</a:t>
            </a: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 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원 입니다</a:t>
            </a: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.</a:t>
            </a:r>
            <a:endParaRPr lang="ko-KR" altLang="en-US" sz="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20AF82A1-D9C0-4D42-9219-C26005498243}"/>
              </a:ext>
            </a:extLst>
          </p:cNvPr>
          <p:cNvSpPr txBox="1"/>
          <p:nvPr/>
        </p:nvSpPr>
        <p:spPr>
          <a:xfrm>
            <a:off x="4880992" y="1589665"/>
            <a:ext cx="1429340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5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lang="ko-KR" altLang="en-US" sz="5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수익배분기간 </a:t>
            </a:r>
            <a:r>
              <a:rPr lang="en-US" altLang="ko-KR" sz="5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: 2018-01-01 ~ 2018-12-31)</a:t>
            </a:r>
            <a:endParaRPr lang="ko-KR" altLang="en-US" sz="5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AB30CD2E-D09A-4AFE-99D5-5E79FE147C13}"/>
              </a:ext>
            </a:extLst>
          </p:cNvPr>
          <p:cNvSpPr txBox="1"/>
          <p:nvPr/>
        </p:nvSpPr>
        <p:spPr>
          <a:xfrm>
            <a:off x="2274556" y="1770493"/>
            <a:ext cx="828489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6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1. </a:t>
            </a:r>
            <a:r>
              <a:rPr lang="ko-KR" altLang="en-US" sz="6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청구내역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1F141C31-83E5-488A-BA3D-9B31E6BA15C3}"/>
              </a:ext>
            </a:extLst>
          </p:cNvPr>
          <p:cNvSpPr txBox="1"/>
          <p:nvPr/>
        </p:nvSpPr>
        <p:spPr>
          <a:xfrm>
            <a:off x="4627036" y="1770493"/>
            <a:ext cx="1656184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6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2. </a:t>
            </a:r>
            <a:r>
              <a:rPr lang="ko-KR" altLang="en-US" sz="6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감축 정보</a:t>
            </a:r>
          </a:p>
        </p:txBody>
      </p:sp>
      <p:graphicFrame>
        <p:nvGraphicFramePr>
          <p:cNvPr id="28" name="표 27">
            <a:extLst>
              <a:ext uri="{FF2B5EF4-FFF2-40B4-BE49-F238E27FC236}">
                <a16:creationId xmlns:a16="http://schemas.microsoft.com/office/drawing/2014/main" id="{0783A0F4-194E-43E4-8A0C-D7A8180C73B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2201934"/>
              </p:ext>
            </p:extLst>
          </p:nvPr>
        </p:nvGraphicFramePr>
        <p:xfrm>
          <a:off x="2274556" y="1951061"/>
          <a:ext cx="2038198" cy="1524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22260">
                  <a:extLst>
                    <a:ext uri="{9D8B030D-6E8A-4147-A177-3AD203B41FA5}">
                      <a16:colId xmlns:a16="http://schemas.microsoft.com/office/drawing/2014/main" val="2143136556"/>
                    </a:ext>
                  </a:extLst>
                </a:gridCol>
                <a:gridCol w="1015938">
                  <a:extLst>
                    <a:ext uri="{9D8B030D-6E8A-4147-A177-3AD203B41FA5}">
                      <a16:colId xmlns:a16="http://schemas.microsoft.com/office/drawing/2014/main" val="215146028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구 분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금액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0282666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용량 </a:t>
                      </a:r>
                      <a:r>
                        <a:rPr lang="ko-KR" altLang="en-US" sz="5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정산금</a:t>
                      </a:r>
                      <a:endParaRPr lang="ko-KR" altLang="en-US" sz="5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900,000</a:t>
                      </a:r>
                      <a:endParaRPr lang="ko-KR" altLang="en-US" sz="5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672998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감축 </a:t>
                      </a:r>
                      <a:r>
                        <a:rPr lang="ko-KR" altLang="en-US" sz="5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정산금</a:t>
                      </a:r>
                      <a:endParaRPr lang="ko-KR" altLang="en-US" sz="5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100,000</a:t>
                      </a:r>
                      <a:endParaRPr lang="ko-KR" altLang="en-US" sz="5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281428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총 정산금액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1,000,000</a:t>
                      </a:r>
                      <a:endParaRPr lang="ko-KR" altLang="en-US" sz="5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739032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고객 정산 금액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800,000</a:t>
                      </a:r>
                      <a:endParaRPr lang="ko-KR" altLang="en-US" sz="5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496938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①수익배분 계</a:t>
                      </a:r>
                      <a:endParaRPr lang="en-US" altLang="ko-KR" sz="5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200,000</a:t>
                      </a:r>
                      <a:endParaRPr lang="ko-KR" altLang="en-US" sz="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6859019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부가가치세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20,006</a:t>
                      </a:r>
                      <a:endParaRPr lang="ko-KR" altLang="en-US" sz="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371766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원단위절사</a:t>
                      </a:r>
                      <a:endParaRPr lang="ko-KR" altLang="en-US" sz="5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5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-6</a:t>
                      </a:r>
                      <a:endParaRPr lang="ko-KR" altLang="en-US" sz="500" b="1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4456658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청구금액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6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220,000</a:t>
                      </a:r>
                      <a:endParaRPr lang="ko-KR" altLang="en-US" sz="6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52105426"/>
                  </a:ext>
                </a:extLst>
              </a:tr>
            </a:tbl>
          </a:graphicData>
        </a:graphic>
      </p:graphicFrame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DC0F1261-1AE0-4CD8-93F3-29D6A6720FA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66664229"/>
              </p:ext>
            </p:extLst>
          </p:nvPr>
        </p:nvGraphicFramePr>
        <p:xfrm>
          <a:off x="4528778" y="1951061"/>
          <a:ext cx="2070122" cy="10058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28278">
                  <a:extLst>
                    <a:ext uri="{9D8B030D-6E8A-4147-A177-3AD203B41FA5}">
                      <a16:colId xmlns:a16="http://schemas.microsoft.com/office/drawing/2014/main" val="3299530404"/>
                    </a:ext>
                  </a:extLst>
                </a:gridCol>
                <a:gridCol w="1141844">
                  <a:extLst>
                    <a:ext uri="{9D8B030D-6E8A-4147-A177-3AD203B41FA5}">
                      <a16:colId xmlns:a16="http://schemas.microsoft.com/office/drawing/2014/main" val="2151460281"/>
                    </a:ext>
                  </a:extLst>
                </a:gridCol>
              </a:tblGrid>
              <a:tr h="151285"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5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구분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5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내용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02826666"/>
                  </a:ext>
                </a:extLst>
              </a:tr>
              <a:tr h="151285"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5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감축횟수</a:t>
                      </a:r>
                      <a:r>
                        <a:rPr lang="en-US" altLang="ko-KR" sz="5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r>
                        <a:rPr lang="ko-KR" altLang="en-US" sz="5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 </a:t>
                      </a:r>
                      <a:r>
                        <a:rPr lang="en-US" altLang="ko-KR" sz="5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5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</a:t>
                      </a:r>
                      <a:r>
                        <a:rPr lang="en-US" altLang="ko-KR" sz="5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r>
                        <a:rPr lang="ko-KR" altLang="en-US" sz="5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  <a:r>
                        <a:rPr lang="en-US" altLang="ko-KR" sz="5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R" altLang="en-US" sz="50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5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1-2</a:t>
                      </a:r>
                      <a:endParaRPr lang="ko-KR" altLang="en-US" sz="50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6729986"/>
                  </a:ext>
                </a:extLst>
              </a:tr>
              <a:tr h="151285"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5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감축 이행 용량 </a:t>
                      </a:r>
                      <a:r>
                        <a:rPr lang="en-US" altLang="ko-KR" sz="5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(kWh)</a:t>
                      </a:r>
                      <a:endParaRPr lang="ko-KR" altLang="en-US" sz="50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5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lang="ko-KR" altLang="en-US" sz="50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28142833"/>
                  </a:ext>
                </a:extLst>
              </a:tr>
              <a:tr h="151285"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5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감축 인정 용량 </a:t>
                      </a:r>
                      <a:r>
                        <a:rPr lang="en-US" altLang="ko-KR" sz="5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(kWh)</a:t>
                      </a:r>
                      <a:endParaRPr lang="ko-KR" altLang="en-US" sz="50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5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16</a:t>
                      </a:r>
                      <a:endParaRPr lang="ko-KR" altLang="en-US" sz="50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7390320"/>
                  </a:ext>
                </a:extLst>
              </a:tr>
              <a:tr h="151285"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5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감축 </a:t>
                      </a:r>
                      <a:r>
                        <a:rPr lang="ko-KR" altLang="en-US" sz="50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이행율</a:t>
                      </a:r>
                      <a:r>
                        <a:rPr lang="ko-KR" altLang="en-US" sz="5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5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(%)</a:t>
                      </a:r>
                      <a:endParaRPr lang="ko-KR" altLang="en-US" sz="50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5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80</a:t>
                      </a:r>
                      <a:endParaRPr lang="ko-KR" altLang="en-US" sz="50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49693837"/>
                  </a:ext>
                </a:extLst>
              </a:tr>
              <a:tr h="151285"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5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수익 배분 </a:t>
                      </a:r>
                      <a:r>
                        <a:rPr lang="en-US" altLang="ko-KR" sz="5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(%)</a:t>
                      </a:r>
                      <a:endParaRPr lang="ko-KR" altLang="en-US" sz="50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5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</a:t>
                      </a:r>
                      <a:endParaRPr lang="ko-KR" altLang="en-US" sz="50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19922688"/>
                  </a:ext>
                </a:extLst>
              </a:tr>
            </a:tbl>
          </a:graphicData>
        </a:graphic>
      </p:graphicFrame>
      <p:sp>
        <p:nvSpPr>
          <p:cNvPr id="31" name="TextBox 30">
            <a:extLst>
              <a:ext uri="{FF2B5EF4-FFF2-40B4-BE49-F238E27FC236}">
                <a16:creationId xmlns:a16="http://schemas.microsoft.com/office/drawing/2014/main" id="{D7076826-4958-494B-B837-B7F65CFC619B}"/>
              </a:ext>
            </a:extLst>
          </p:cNvPr>
          <p:cNvSpPr txBox="1"/>
          <p:nvPr/>
        </p:nvSpPr>
        <p:spPr>
          <a:xfrm>
            <a:off x="4572586" y="3070943"/>
            <a:ext cx="1886356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6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4. </a:t>
            </a:r>
            <a:r>
              <a:rPr lang="ko-KR" altLang="en-US" sz="600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납입처</a:t>
            </a:r>
            <a:endParaRPr lang="ko-KR" altLang="en-US" sz="6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32" name="표 31">
            <a:extLst>
              <a:ext uri="{FF2B5EF4-FFF2-40B4-BE49-F238E27FC236}">
                <a16:creationId xmlns:a16="http://schemas.microsoft.com/office/drawing/2014/main" id="{2C723B85-60CE-4141-BBA0-2DFCD52A219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83938397"/>
              </p:ext>
            </p:extLst>
          </p:nvPr>
        </p:nvGraphicFramePr>
        <p:xfrm>
          <a:off x="4532836" y="3278598"/>
          <a:ext cx="2070122" cy="93171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27499">
                  <a:extLst>
                    <a:ext uri="{9D8B030D-6E8A-4147-A177-3AD203B41FA5}">
                      <a16:colId xmlns:a16="http://schemas.microsoft.com/office/drawing/2014/main" val="2143136556"/>
                    </a:ext>
                  </a:extLst>
                </a:gridCol>
                <a:gridCol w="1142623">
                  <a:extLst>
                    <a:ext uri="{9D8B030D-6E8A-4147-A177-3AD203B41FA5}">
                      <a16:colId xmlns:a16="http://schemas.microsoft.com/office/drawing/2014/main" val="3299530404"/>
                    </a:ext>
                  </a:extLst>
                </a:gridCol>
              </a:tblGrid>
              <a:tr h="18634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은행명</a:t>
                      </a:r>
                      <a:endParaRPr lang="ko-KR" altLang="en-US" sz="5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우리은행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6729986"/>
                  </a:ext>
                </a:extLst>
              </a:tr>
              <a:tr h="18634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계좌번호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1005 – 802 - 498030</a:t>
                      </a:r>
                      <a:endParaRPr lang="ko-KR" altLang="en-US" sz="5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28142833"/>
                  </a:ext>
                </a:extLst>
              </a:tr>
              <a:tr h="18634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예금주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한국동서발전</a:t>
                      </a:r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㈜</a:t>
                      </a:r>
                      <a:endParaRPr lang="en-US" altLang="ko-KR" sz="5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7390320"/>
                  </a:ext>
                </a:extLst>
              </a:tr>
              <a:tr h="18634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납입금액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30,439,360</a:t>
                      </a:r>
                      <a:endParaRPr lang="ko-KR" altLang="en-US" sz="5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2022420"/>
                  </a:ext>
                </a:extLst>
              </a:tr>
              <a:tr h="18634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납기일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2018-06-24</a:t>
                      </a:r>
                      <a:endParaRPr lang="ko-KR" altLang="en-US" sz="5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49693837"/>
                  </a:ext>
                </a:extLst>
              </a:tr>
            </a:tbl>
          </a:graphicData>
        </a:graphic>
      </p:graphicFrame>
      <p:graphicFrame>
        <p:nvGraphicFramePr>
          <p:cNvPr id="33" name="표 32">
            <a:extLst>
              <a:ext uri="{FF2B5EF4-FFF2-40B4-BE49-F238E27FC236}">
                <a16:creationId xmlns:a16="http://schemas.microsoft.com/office/drawing/2014/main" id="{A7557E00-D0CB-4743-AE5E-D6DA8D2F168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60270741"/>
              </p:ext>
            </p:extLst>
          </p:nvPr>
        </p:nvGraphicFramePr>
        <p:xfrm>
          <a:off x="2276500" y="3867998"/>
          <a:ext cx="2036254" cy="3352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82375">
                  <a:extLst>
                    <a:ext uri="{9D8B030D-6E8A-4147-A177-3AD203B41FA5}">
                      <a16:colId xmlns:a16="http://schemas.microsoft.com/office/drawing/2014/main" val="2143136556"/>
                    </a:ext>
                  </a:extLst>
                </a:gridCol>
                <a:gridCol w="1153879">
                  <a:extLst>
                    <a:ext uri="{9D8B030D-6E8A-4147-A177-3AD203B41FA5}">
                      <a16:colId xmlns:a16="http://schemas.microsoft.com/office/drawing/2014/main" val="329953040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5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구분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5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계산 내역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8788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①수익배분 계</a:t>
                      </a:r>
                      <a:endParaRPr lang="en-US" altLang="ko-KR" sz="5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b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총 정산금액 </a:t>
                      </a:r>
                      <a:r>
                        <a:rPr lang="en-US" altLang="ko-KR" sz="500" b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x </a:t>
                      </a:r>
                      <a:r>
                        <a:rPr lang="ko-KR" altLang="en-US" sz="500" b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수익배분</a:t>
                      </a:r>
                      <a:r>
                        <a:rPr lang="en-US" altLang="ko-KR" sz="500" b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(0.2)</a:t>
                      </a:r>
                      <a:r>
                        <a:rPr lang="ko-KR" altLang="en-US" sz="500" b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49693837"/>
                  </a:ext>
                </a:extLst>
              </a:tr>
            </a:tbl>
          </a:graphicData>
        </a:graphic>
      </p:graphicFrame>
      <p:sp>
        <p:nvSpPr>
          <p:cNvPr id="34" name="TextBox 33">
            <a:extLst>
              <a:ext uri="{FF2B5EF4-FFF2-40B4-BE49-F238E27FC236}">
                <a16:creationId xmlns:a16="http://schemas.microsoft.com/office/drawing/2014/main" id="{317AF002-7C58-4615-A989-2C43DEBCC9CC}"/>
              </a:ext>
            </a:extLst>
          </p:cNvPr>
          <p:cNvSpPr txBox="1"/>
          <p:nvPr/>
        </p:nvSpPr>
        <p:spPr>
          <a:xfrm>
            <a:off x="2276004" y="3640986"/>
            <a:ext cx="107446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6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3. </a:t>
            </a:r>
            <a:r>
              <a:rPr lang="ko-KR" altLang="en-US" sz="6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수익분배 계산 내역</a:t>
            </a:r>
          </a:p>
        </p:txBody>
      </p:sp>
      <p:sp>
        <p:nvSpPr>
          <p:cNvPr id="35" name="타원형 설명선 226">
            <a:extLst>
              <a:ext uri="{FF2B5EF4-FFF2-40B4-BE49-F238E27FC236}">
                <a16:creationId xmlns:a16="http://schemas.microsoft.com/office/drawing/2014/main" id="{AB0D8D82-A1F3-49D1-8F9A-C578D92DB5BB}"/>
              </a:ext>
            </a:extLst>
          </p:cNvPr>
          <p:cNvSpPr/>
          <p:nvPr/>
        </p:nvSpPr>
        <p:spPr>
          <a:xfrm>
            <a:off x="1919527" y="4293716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6" name="타원형 설명선 243">
            <a:extLst>
              <a:ext uri="{FF2B5EF4-FFF2-40B4-BE49-F238E27FC236}">
                <a16:creationId xmlns:a16="http://schemas.microsoft.com/office/drawing/2014/main" id="{C96D6F86-DE67-4397-97A1-A44C3B5A0A54}"/>
              </a:ext>
            </a:extLst>
          </p:cNvPr>
          <p:cNvSpPr/>
          <p:nvPr/>
        </p:nvSpPr>
        <p:spPr>
          <a:xfrm>
            <a:off x="5175340" y="4294835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7" name="타원형 설명선 244">
            <a:extLst>
              <a:ext uri="{FF2B5EF4-FFF2-40B4-BE49-F238E27FC236}">
                <a16:creationId xmlns:a16="http://schemas.microsoft.com/office/drawing/2014/main" id="{6CFCD386-A890-4B1E-8FF6-699596D5A93D}"/>
              </a:ext>
            </a:extLst>
          </p:cNvPr>
          <p:cNvSpPr/>
          <p:nvPr/>
        </p:nvSpPr>
        <p:spPr>
          <a:xfrm>
            <a:off x="3113376" y="4293716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8" name="타원형 설명선 225">
            <a:extLst>
              <a:ext uri="{FF2B5EF4-FFF2-40B4-BE49-F238E27FC236}">
                <a16:creationId xmlns:a16="http://schemas.microsoft.com/office/drawing/2014/main" id="{AD2A08A9-A02A-4506-866F-631A9A5FCA9D}"/>
              </a:ext>
            </a:extLst>
          </p:cNvPr>
          <p:cNvSpPr/>
          <p:nvPr/>
        </p:nvSpPr>
        <p:spPr>
          <a:xfrm>
            <a:off x="1983457" y="946258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5618219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9104309" y="6645875"/>
            <a:ext cx="140029" cy="138499"/>
          </a:xfrm>
        </p:spPr>
        <p:txBody>
          <a:bodyPr/>
          <a:lstStyle/>
          <a:p>
            <a:pPr>
              <a:defRPr/>
            </a:pPr>
            <a:fld id="{9E41B634-5682-4388-99E7-FE44DCFD254B}" type="slidenum">
              <a:rPr lang="ko-KR" altLang="en-US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>
                <a:defRPr/>
              </a:pPr>
              <a:t>48</a:t>
            </a:fld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텍스트 개체 틀 8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Site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 &gt;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요금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/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수익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&gt; PV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수익 조회</a:t>
            </a:r>
          </a:p>
        </p:txBody>
      </p:sp>
      <p:sp>
        <p:nvSpPr>
          <p:cNvPr id="10" name="텍스트 개체 틀 9"/>
          <p:cNvSpPr>
            <a:spLocks noGrp="1"/>
          </p:cNvSpPr>
          <p:nvPr>
            <p:ph type="body" sz="quarter" idx="10"/>
          </p:nvPr>
        </p:nvSpPr>
        <p:spPr>
          <a:xfrm>
            <a:off x="6023595" y="44624"/>
            <a:ext cx="1233661" cy="196974"/>
          </a:xfrm>
        </p:spPr>
        <p:txBody>
          <a:bodyPr/>
          <a:lstStyle/>
          <a:p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PV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수익 조회</a:t>
            </a:r>
          </a:p>
        </p:txBody>
      </p:sp>
      <p:graphicFrame>
        <p:nvGraphicFramePr>
          <p:cNvPr id="102" name="Group 15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73631715"/>
              </p:ext>
            </p:extLst>
          </p:nvPr>
        </p:nvGraphicFramePr>
        <p:xfrm>
          <a:off x="8469313" y="276225"/>
          <a:ext cx="1404000" cy="4821120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3002"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Description</a:t>
                      </a: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기간설정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1)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기간은 월 단위 설정만 가능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2)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버튼을 클릭하면 조회 진행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2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그래프 표시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1)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각 항목 묶은 막대 그래프 형태로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2)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각 월 별 그래프 항목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3)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표시 데이터 항목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 -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rgbClr val="0066FF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총수익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66FF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SMP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66FF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수익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66FF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REC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66FF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수익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3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표 표시</a:t>
                      </a:r>
                      <a:endParaRPr kumimoji="1" lang="en-US" altLang="ko-KR" sz="8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  <a:p>
                      <a:r>
                        <a:rPr kumimoji="1" lang="en-US" altLang="ko-KR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 1)</a:t>
                      </a: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 </a:t>
                      </a:r>
                      <a:r>
                        <a:rPr kumimoji="1" lang="en-US" altLang="ko-KR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ESS </a:t>
                      </a:r>
                      <a:r>
                        <a:rPr kumimoji="1" lang="ko-KR" altLang="en-US" sz="8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충방전량</a:t>
                      </a: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 정보</a:t>
                      </a:r>
                      <a:r>
                        <a:rPr kumimoji="1" lang="en-US" altLang="ko-KR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, </a:t>
                      </a: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평일 일수</a:t>
                      </a:r>
                      <a:r>
                        <a:rPr kumimoji="1" lang="en-US" altLang="ko-KR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, </a:t>
                      </a: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할인 및 정산 금액 등을 표로 표시</a:t>
                      </a:r>
                      <a:endParaRPr kumimoji="1" lang="en-US" altLang="ko-KR" sz="8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  <a:p>
                      <a:r>
                        <a:rPr kumimoji="1" lang="en-US" altLang="ko-KR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 2) </a:t>
                      </a: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그래프에 포함되지 않은 </a:t>
                      </a:r>
                      <a:r>
                        <a:rPr lang="ko-KR" altLang="en-US" sz="800" b="0" u="none" dirty="0" err="1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총발전량</a:t>
                      </a:r>
                      <a:r>
                        <a:rPr lang="en-US" altLang="ko-KR" sz="800" b="0" u="none" dirty="0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SMP</a:t>
                      </a:r>
                      <a:r>
                        <a:rPr lang="ko-KR" altLang="en-US" sz="800" b="0" u="none" dirty="0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거래량</a:t>
                      </a:r>
                      <a:r>
                        <a:rPr lang="en-US" altLang="ko-KR" sz="800" b="0" u="none" dirty="0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REC</a:t>
                      </a:r>
                      <a:r>
                        <a:rPr lang="ko-KR" altLang="en-US" sz="800" b="0" u="none" dirty="0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거래량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등의 정보를 추가로 표시</a:t>
                      </a:r>
                      <a:endParaRPr kumimoji="1" lang="ko-KR" altLang="en-US" sz="8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4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데이터 저장하기</a:t>
                      </a:r>
                      <a:endParaRPr lang="en-US" altLang="ko-KR" sz="800" b="1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1)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조회된 데이터를 </a:t>
                      </a: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csv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형태의 파일로 저장한다</a:t>
                      </a: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.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2)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표에 표시된 항목을 그대로 저장하므로 </a:t>
                      </a:r>
                      <a:r>
                        <a:rPr lang="ko-KR" altLang="en-US" sz="800" b="0" u="none" dirty="0" err="1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총발전량</a:t>
                      </a:r>
                      <a:r>
                        <a:rPr lang="en-US" altLang="ko-KR" sz="800" b="0" u="none" dirty="0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SMP</a:t>
                      </a:r>
                      <a:r>
                        <a:rPr lang="ko-KR" altLang="en-US" sz="800" b="0" u="none" dirty="0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거래량</a:t>
                      </a:r>
                      <a:r>
                        <a:rPr lang="en-US" altLang="ko-KR" sz="800" b="0" u="none" dirty="0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REC</a:t>
                      </a:r>
                      <a:r>
                        <a:rPr lang="ko-KR" altLang="en-US" sz="800" b="0" u="none" dirty="0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거래량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등이 포함된다</a:t>
                      </a: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.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5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명세서 확인하기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1)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해당 버튼을 클릭하면 명세서 확인 및 출력 화면이 팝업 된다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.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*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다음 페이지 참고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78" name="TextBox 77"/>
          <p:cNvSpPr txBox="1"/>
          <p:nvPr/>
        </p:nvSpPr>
        <p:spPr>
          <a:xfrm>
            <a:off x="7121707" y="21349"/>
            <a:ext cx="567597" cy="2308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화면</a:t>
            </a:r>
            <a:r>
              <a:rPr lang="en-US" altLang="ko-KR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ID</a:t>
            </a:r>
            <a:endParaRPr lang="ko-KR" altLang="en-US" sz="9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7689304" y="43659"/>
            <a:ext cx="792088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itchFamily="50" charset="-127"/>
                <a:ea typeface="맑은 고딕" pitchFamily="50" charset="-127"/>
              </a:rPr>
              <a:t>ewpsp_scr_031</a:t>
            </a:r>
            <a:endParaRPr lang="ko-KR" altLang="en-US" sz="700" dirty="0">
              <a:latin typeface="맑은 고딕" pitchFamily="50" charset="-127"/>
              <a:ea typeface="맑은 고딕" pitchFamily="50" charset="-127"/>
            </a:endParaRPr>
          </a:p>
        </p:txBody>
      </p:sp>
      <p:pic>
        <p:nvPicPr>
          <p:cNvPr id="18" name="Picture 3">
            <a:extLst>
              <a:ext uri="{FF2B5EF4-FFF2-40B4-BE49-F238E27FC236}">
                <a16:creationId xmlns:a16="http://schemas.microsoft.com/office/drawing/2014/main" id="{D14E8AEF-8EA8-4944-AE52-FF98A1FB783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3671" y="920973"/>
            <a:ext cx="8208912" cy="4668261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  <a:extLst/>
        </p:spPr>
      </p:pic>
      <p:pic>
        <p:nvPicPr>
          <p:cNvPr id="19" name="Picture 2">
            <a:extLst>
              <a:ext uri="{FF2B5EF4-FFF2-40B4-BE49-F238E27FC236}">
                <a16:creationId xmlns:a16="http://schemas.microsoft.com/office/drawing/2014/main" id="{6FBB0165-03FF-4BBD-A158-8DEF923CF53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7605" y="847972"/>
            <a:ext cx="8208912" cy="3487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20" name="직선 연결선 19">
            <a:extLst>
              <a:ext uri="{FF2B5EF4-FFF2-40B4-BE49-F238E27FC236}">
                <a16:creationId xmlns:a16="http://schemas.microsoft.com/office/drawing/2014/main" id="{37D07777-30AA-4506-9C18-6F3B4C7D943C}"/>
              </a:ext>
            </a:extLst>
          </p:cNvPr>
          <p:cNvCxnSpPr>
            <a:cxnSpLocks/>
          </p:cNvCxnSpPr>
          <p:nvPr/>
        </p:nvCxnSpPr>
        <p:spPr>
          <a:xfrm>
            <a:off x="148782" y="1196752"/>
            <a:ext cx="8208912" cy="0"/>
          </a:xfrm>
          <a:prstGeom prst="line">
            <a:avLst/>
          </a:prstGeom>
          <a:ln w="9525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5E84417E-CAA5-4FD3-BBB9-7CD5570EF571}"/>
              </a:ext>
            </a:extLst>
          </p:cNvPr>
          <p:cNvSpPr/>
          <p:nvPr/>
        </p:nvSpPr>
        <p:spPr>
          <a:xfrm>
            <a:off x="216315" y="1612260"/>
            <a:ext cx="1820532" cy="288032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en-US" altLang="ko-KR" sz="10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PV </a:t>
            </a:r>
            <a:r>
              <a:rPr lang="ko-KR" altLang="en-US" sz="10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수익 조회</a:t>
            </a:r>
          </a:p>
        </p:txBody>
      </p:sp>
      <p:grpSp>
        <p:nvGrpSpPr>
          <p:cNvPr id="37" name="그룹 36">
            <a:extLst>
              <a:ext uri="{FF2B5EF4-FFF2-40B4-BE49-F238E27FC236}">
                <a16:creationId xmlns:a16="http://schemas.microsoft.com/office/drawing/2014/main" id="{66BFF179-6D85-452E-9564-60FFD2CE0D3D}"/>
              </a:ext>
            </a:extLst>
          </p:cNvPr>
          <p:cNvGrpSpPr/>
          <p:nvPr/>
        </p:nvGrpSpPr>
        <p:grpSpPr>
          <a:xfrm>
            <a:off x="299939" y="5231524"/>
            <a:ext cx="862386" cy="211955"/>
            <a:chOff x="4861742" y="3907374"/>
            <a:chExt cx="862386" cy="211955"/>
          </a:xfrm>
        </p:grpSpPr>
        <p:pic>
          <p:nvPicPr>
            <p:cNvPr id="38" name="Picture 6" descr="ìì ë¤ì´ë¡ëì ëí ì´ë¯¸ì§ ê²ìê²°ê³¼">
              <a:extLst>
                <a:ext uri="{FF2B5EF4-FFF2-40B4-BE49-F238E27FC236}">
                  <a16:creationId xmlns:a16="http://schemas.microsoft.com/office/drawing/2014/main" id="{72CEF38D-10AD-4758-B55F-6D8F726124F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861742" y="3907374"/>
              <a:ext cx="211955" cy="21195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5AB80116-BA59-4BBD-BC55-87962E3E05DB}"/>
                </a:ext>
              </a:extLst>
            </p:cNvPr>
            <p:cNvSpPr txBox="1"/>
            <p:nvPr/>
          </p:nvSpPr>
          <p:spPr>
            <a:xfrm>
              <a:off x="4949189" y="3921018"/>
              <a:ext cx="7749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600" b="1" dirty="0">
                  <a:solidFill>
                    <a:schemeClr val="bg1"/>
                  </a:solidFill>
                </a:rPr>
                <a:t>데이터 저장하기</a:t>
              </a:r>
            </a:p>
          </p:txBody>
        </p:sp>
      </p:grp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A27B69D7-2B77-4AF2-A717-2F8B00E5023D}"/>
              </a:ext>
            </a:extLst>
          </p:cNvPr>
          <p:cNvSpPr/>
          <p:nvPr/>
        </p:nvSpPr>
        <p:spPr>
          <a:xfrm>
            <a:off x="3584848" y="1624921"/>
            <a:ext cx="1224136" cy="288033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기간 설정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51E4F555-ACF8-422A-8A4C-263DF5607ED0}"/>
              </a:ext>
            </a:extLst>
          </p:cNvPr>
          <p:cNvSpPr/>
          <p:nvPr/>
        </p:nvSpPr>
        <p:spPr>
          <a:xfrm>
            <a:off x="4304928" y="1624921"/>
            <a:ext cx="1262753" cy="288033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YYY-MM</a:t>
            </a:r>
            <a:endParaRPr lang="ko-KR" altLang="en-US" sz="90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056B85B8-E22D-471D-BF90-7BA59FDE59DA}"/>
              </a:ext>
            </a:extLst>
          </p:cNvPr>
          <p:cNvSpPr/>
          <p:nvPr/>
        </p:nvSpPr>
        <p:spPr>
          <a:xfrm>
            <a:off x="5567681" y="1624921"/>
            <a:ext cx="288032" cy="288033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▼</a:t>
            </a: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5DE85575-6695-43D9-BA78-E72D7749FD5A}"/>
              </a:ext>
            </a:extLst>
          </p:cNvPr>
          <p:cNvSpPr/>
          <p:nvPr/>
        </p:nvSpPr>
        <p:spPr>
          <a:xfrm>
            <a:off x="5855713" y="1624921"/>
            <a:ext cx="249415" cy="288033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~</a:t>
            </a:r>
            <a:endParaRPr lang="ko-KR" altLang="en-US" sz="900" b="1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52DDF82F-9C8F-422F-B328-3979E21AEB5E}"/>
              </a:ext>
            </a:extLst>
          </p:cNvPr>
          <p:cNvSpPr/>
          <p:nvPr/>
        </p:nvSpPr>
        <p:spPr>
          <a:xfrm>
            <a:off x="6105128" y="1624921"/>
            <a:ext cx="1262753" cy="288033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YYYY-MM</a:t>
            </a:r>
            <a:endParaRPr lang="ko-KR" altLang="en-US" sz="90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508668D7-197F-47CF-8003-58499E43E073}"/>
              </a:ext>
            </a:extLst>
          </p:cNvPr>
          <p:cNvSpPr/>
          <p:nvPr/>
        </p:nvSpPr>
        <p:spPr>
          <a:xfrm>
            <a:off x="7367881" y="1624921"/>
            <a:ext cx="288032" cy="288033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▼</a:t>
            </a:r>
          </a:p>
        </p:txBody>
      </p:sp>
      <p:pic>
        <p:nvPicPr>
          <p:cNvPr id="47" name="Picture 2" descr="ì¤ì ì ëí ì´ë¯¸ì§ ê²ìê²°ê³¼">
            <a:extLst>
              <a:ext uri="{FF2B5EF4-FFF2-40B4-BE49-F238E27FC236}">
                <a16:creationId xmlns:a16="http://schemas.microsoft.com/office/drawing/2014/main" id="{90A888AD-844A-4544-B02A-A77BC3397C7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05865" y="844086"/>
            <a:ext cx="198592" cy="19859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87" name="TextBox 86">
            <a:extLst>
              <a:ext uri="{FF2B5EF4-FFF2-40B4-BE49-F238E27FC236}">
                <a16:creationId xmlns:a16="http://schemas.microsoft.com/office/drawing/2014/main" id="{8022E966-6773-477B-BC7F-8585C81A6134}"/>
              </a:ext>
            </a:extLst>
          </p:cNvPr>
          <p:cNvSpPr txBox="1"/>
          <p:nvPr/>
        </p:nvSpPr>
        <p:spPr>
          <a:xfrm>
            <a:off x="7149244" y="5229780"/>
            <a:ext cx="972108" cy="215444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square" rtlCol="0" anchor="ctr">
            <a:spAutoFit/>
          </a:bodyPr>
          <a:lstStyle/>
          <a:p>
            <a:pPr algn="ctr"/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명세서 확인하기</a:t>
            </a:r>
          </a:p>
        </p:txBody>
      </p:sp>
      <p:sp>
        <p:nvSpPr>
          <p:cNvPr id="119" name="직사각형 118">
            <a:extLst>
              <a:ext uri="{FF2B5EF4-FFF2-40B4-BE49-F238E27FC236}">
                <a16:creationId xmlns:a16="http://schemas.microsoft.com/office/drawing/2014/main" id="{29C7BCAA-D601-420B-B3F0-1175AA757E88}"/>
              </a:ext>
            </a:extLst>
          </p:cNvPr>
          <p:cNvSpPr/>
          <p:nvPr/>
        </p:nvSpPr>
        <p:spPr>
          <a:xfrm>
            <a:off x="4736976" y="1988840"/>
            <a:ext cx="1008112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총 수익</a:t>
            </a:r>
          </a:p>
        </p:txBody>
      </p:sp>
      <p:sp>
        <p:nvSpPr>
          <p:cNvPr id="121" name="직사각형 120">
            <a:extLst>
              <a:ext uri="{FF2B5EF4-FFF2-40B4-BE49-F238E27FC236}">
                <a16:creationId xmlns:a16="http://schemas.microsoft.com/office/drawing/2014/main" id="{B5256E29-EDBA-4EB7-AAFD-34118F3847B9}"/>
              </a:ext>
            </a:extLst>
          </p:cNvPr>
          <p:cNvSpPr/>
          <p:nvPr/>
        </p:nvSpPr>
        <p:spPr>
          <a:xfrm>
            <a:off x="6105128" y="1988840"/>
            <a:ext cx="1008112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en-US" altLang="ko-KR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SMP </a:t>
            </a:r>
            <a:r>
              <a:rPr lang="ko-KR" altLang="en-US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수익</a:t>
            </a:r>
          </a:p>
        </p:txBody>
      </p:sp>
      <p:cxnSp>
        <p:nvCxnSpPr>
          <p:cNvPr id="83" name="직선 연결선 82">
            <a:extLst>
              <a:ext uri="{FF2B5EF4-FFF2-40B4-BE49-F238E27FC236}">
                <a16:creationId xmlns:a16="http://schemas.microsoft.com/office/drawing/2014/main" id="{FF56CDFC-3B94-4C7C-B074-DE46915AB355}"/>
              </a:ext>
            </a:extLst>
          </p:cNvPr>
          <p:cNvCxnSpPr/>
          <p:nvPr/>
        </p:nvCxnSpPr>
        <p:spPr>
          <a:xfrm>
            <a:off x="4160912" y="2111068"/>
            <a:ext cx="504056" cy="0"/>
          </a:xfrm>
          <a:prstGeom prst="line">
            <a:avLst/>
          </a:prstGeom>
          <a:solidFill>
            <a:schemeClr val="accent3">
              <a:lumMod val="40000"/>
              <a:lumOff val="60000"/>
            </a:schemeClr>
          </a:solidFill>
          <a:ln>
            <a:solidFill>
              <a:srgbClr val="92D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E662AB0-314D-4E09-BDDF-E02966A5EF6E}"/>
              </a:ext>
            </a:extLst>
          </p:cNvPr>
          <p:cNvCxnSpPr/>
          <p:nvPr/>
        </p:nvCxnSpPr>
        <p:spPr>
          <a:xfrm>
            <a:off x="5529064" y="2111068"/>
            <a:ext cx="504056" cy="0"/>
          </a:xfrm>
          <a:prstGeom prst="line">
            <a:avLst/>
          </a:prstGeom>
          <a:solidFill>
            <a:schemeClr val="accent2">
              <a:lumMod val="60000"/>
              <a:lumOff val="40000"/>
            </a:schemeClr>
          </a:solidFill>
          <a:ln>
            <a:solidFill>
              <a:srgbClr val="FF993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aphicFrame>
        <p:nvGraphicFramePr>
          <p:cNvPr id="85" name="표 84">
            <a:extLst>
              <a:ext uri="{FF2B5EF4-FFF2-40B4-BE49-F238E27FC236}">
                <a16:creationId xmlns:a16="http://schemas.microsoft.com/office/drawing/2014/main" id="{9BD5E43D-104B-443D-B1F6-27B460190E3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81361609"/>
              </p:ext>
            </p:extLst>
          </p:nvPr>
        </p:nvGraphicFramePr>
        <p:xfrm>
          <a:off x="272482" y="2308931"/>
          <a:ext cx="7920874" cy="155444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9614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5206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5206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52061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52061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5206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52061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52061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52061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52061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5206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5206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5206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222064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dirty="0"/>
                        <a:t>￦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206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2,000,000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2064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206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1,000,000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2064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2064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2064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01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02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03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04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05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06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07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08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09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10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11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12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cxnSp>
        <p:nvCxnSpPr>
          <p:cNvPr id="86" name="직선 연결선 85">
            <a:extLst>
              <a:ext uri="{FF2B5EF4-FFF2-40B4-BE49-F238E27FC236}">
                <a16:creationId xmlns:a16="http://schemas.microsoft.com/office/drawing/2014/main" id="{8138AD86-BA64-40C8-8DDA-F5A6A43D0D17}"/>
              </a:ext>
            </a:extLst>
          </p:cNvPr>
          <p:cNvCxnSpPr/>
          <p:nvPr/>
        </p:nvCxnSpPr>
        <p:spPr>
          <a:xfrm>
            <a:off x="1303114" y="3082506"/>
            <a:ext cx="6840760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8" name="직선 연결선 87">
            <a:extLst>
              <a:ext uri="{FF2B5EF4-FFF2-40B4-BE49-F238E27FC236}">
                <a16:creationId xmlns:a16="http://schemas.microsoft.com/office/drawing/2014/main" id="{9333C2C6-2396-4FB6-9DEA-3B6D517F7801}"/>
              </a:ext>
            </a:extLst>
          </p:cNvPr>
          <p:cNvCxnSpPr/>
          <p:nvPr/>
        </p:nvCxnSpPr>
        <p:spPr>
          <a:xfrm>
            <a:off x="1303114" y="2636912"/>
            <a:ext cx="6840760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9" name="그룹 88">
            <a:extLst>
              <a:ext uri="{FF2B5EF4-FFF2-40B4-BE49-F238E27FC236}">
                <a16:creationId xmlns:a16="http://schemas.microsoft.com/office/drawing/2014/main" id="{B023C2E5-191F-4401-92C6-46B2622A2CBA}"/>
              </a:ext>
            </a:extLst>
          </p:cNvPr>
          <p:cNvGrpSpPr/>
          <p:nvPr/>
        </p:nvGrpSpPr>
        <p:grpSpPr>
          <a:xfrm>
            <a:off x="1770620" y="2865863"/>
            <a:ext cx="2390292" cy="527108"/>
            <a:chOff x="1254498" y="2635699"/>
            <a:chExt cx="2390292" cy="347113"/>
          </a:xfrm>
        </p:grpSpPr>
        <p:sp>
          <p:nvSpPr>
            <p:cNvPr id="90" name="직사각형 89">
              <a:extLst>
                <a:ext uri="{FF2B5EF4-FFF2-40B4-BE49-F238E27FC236}">
                  <a16:creationId xmlns:a16="http://schemas.microsoft.com/office/drawing/2014/main" id="{0EF0177D-9980-4862-8EE3-9FCFC5EE5A1C}"/>
                </a:ext>
              </a:extLst>
            </p:cNvPr>
            <p:cNvSpPr/>
            <p:nvPr/>
          </p:nvSpPr>
          <p:spPr>
            <a:xfrm>
              <a:off x="1254498" y="2635699"/>
              <a:ext cx="72000" cy="347113"/>
            </a:xfrm>
            <a:prstGeom prst="rect">
              <a:avLst/>
            </a:prstGeom>
            <a:solidFill>
              <a:srgbClr val="92D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91" name="직사각형 90">
              <a:extLst>
                <a:ext uri="{FF2B5EF4-FFF2-40B4-BE49-F238E27FC236}">
                  <a16:creationId xmlns:a16="http://schemas.microsoft.com/office/drawing/2014/main" id="{7ED53488-58A9-4E19-9E77-B7A4E2955C19}"/>
                </a:ext>
              </a:extLst>
            </p:cNvPr>
            <p:cNvSpPr/>
            <p:nvPr/>
          </p:nvSpPr>
          <p:spPr>
            <a:xfrm>
              <a:off x="1352610" y="2857851"/>
              <a:ext cx="72000" cy="124961"/>
            </a:xfrm>
            <a:prstGeom prst="rect">
              <a:avLst/>
            </a:prstGeom>
            <a:solidFill>
              <a:srgbClr val="FF993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92" name="직사각형 91">
              <a:extLst>
                <a:ext uri="{FF2B5EF4-FFF2-40B4-BE49-F238E27FC236}">
                  <a16:creationId xmlns:a16="http://schemas.microsoft.com/office/drawing/2014/main" id="{4AC93C2C-D1E5-43B7-A8BE-D984A4CEDFE8}"/>
                </a:ext>
              </a:extLst>
            </p:cNvPr>
            <p:cNvSpPr/>
            <p:nvPr/>
          </p:nvSpPr>
          <p:spPr>
            <a:xfrm>
              <a:off x="1811239" y="2635699"/>
              <a:ext cx="72000" cy="347113"/>
            </a:xfrm>
            <a:prstGeom prst="rect">
              <a:avLst/>
            </a:prstGeom>
            <a:solidFill>
              <a:srgbClr val="92D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93" name="직사각형 92">
              <a:extLst>
                <a:ext uri="{FF2B5EF4-FFF2-40B4-BE49-F238E27FC236}">
                  <a16:creationId xmlns:a16="http://schemas.microsoft.com/office/drawing/2014/main" id="{DE24756D-DF19-4C59-BDED-AD3D37C8E73E}"/>
                </a:ext>
              </a:extLst>
            </p:cNvPr>
            <p:cNvSpPr/>
            <p:nvPr/>
          </p:nvSpPr>
          <p:spPr>
            <a:xfrm>
              <a:off x="1909351" y="2857851"/>
              <a:ext cx="72000" cy="124961"/>
            </a:xfrm>
            <a:prstGeom prst="rect">
              <a:avLst/>
            </a:prstGeom>
            <a:solidFill>
              <a:srgbClr val="FF993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94" name="직사각형 93">
              <a:extLst>
                <a:ext uri="{FF2B5EF4-FFF2-40B4-BE49-F238E27FC236}">
                  <a16:creationId xmlns:a16="http://schemas.microsoft.com/office/drawing/2014/main" id="{E83AF217-23EB-476D-941B-AA094DDA798F}"/>
                </a:ext>
              </a:extLst>
            </p:cNvPr>
            <p:cNvSpPr/>
            <p:nvPr/>
          </p:nvSpPr>
          <p:spPr>
            <a:xfrm>
              <a:off x="2373496" y="2635699"/>
              <a:ext cx="72000" cy="347113"/>
            </a:xfrm>
            <a:prstGeom prst="rect">
              <a:avLst/>
            </a:prstGeom>
            <a:solidFill>
              <a:srgbClr val="92D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95" name="직사각형 94">
              <a:extLst>
                <a:ext uri="{FF2B5EF4-FFF2-40B4-BE49-F238E27FC236}">
                  <a16:creationId xmlns:a16="http://schemas.microsoft.com/office/drawing/2014/main" id="{D6A3DACF-363D-45DD-92FE-D2ECEAF3DBF0}"/>
                </a:ext>
              </a:extLst>
            </p:cNvPr>
            <p:cNvSpPr/>
            <p:nvPr/>
          </p:nvSpPr>
          <p:spPr>
            <a:xfrm>
              <a:off x="2471608" y="2857851"/>
              <a:ext cx="72000" cy="124961"/>
            </a:xfrm>
            <a:prstGeom prst="rect">
              <a:avLst/>
            </a:prstGeom>
            <a:solidFill>
              <a:srgbClr val="FF993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96" name="직사각형 95">
              <a:extLst>
                <a:ext uri="{FF2B5EF4-FFF2-40B4-BE49-F238E27FC236}">
                  <a16:creationId xmlns:a16="http://schemas.microsoft.com/office/drawing/2014/main" id="{9677FDC2-9790-4A3C-81AC-5F917853628F}"/>
                </a:ext>
              </a:extLst>
            </p:cNvPr>
            <p:cNvSpPr/>
            <p:nvPr/>
          </p:nvSpPr>
          <p:spPr>
            <a:xfrm>
              <a:off x="2913177" y="2635699"/>
              <a:ext cx="72000" cy="347113"/>
            </a:xfrm>
            <a:prstGeom prst="rect">
              <a:avLst/>
            </a:prstGeom>
            <a:solidFill>
              <a:srgbClr val="92D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97" name="직사각형 96">
              <a:extLst>
                <a:ext uri="{FF2B5EF4-FFF2-40B4-BE49-F238E27FC236}">
                  <a16:creationId xmlns:a16="http://schemas.microsoft.com/office/drawing/2014/main" id="{137273C7-B2BA-4FD2-8B6D-EE260CE782F4}"/>
                </a:ext>
              </a:extLst>
            </p:cNvPr>
            <p:cNvSpPr/>
            <p:nvPr/>
          </p:nvSpPr>
          <p:spPr>
            <a:xfrm>
              <a:off x="3011289" y="2857851"/>
              <a:ext cx="72000" cy="124961"/>
            </a:xfrm>
            <a:prstGeom prst="rect">
              <a:avLst/>
            </a:prstGeom>
            <a:solidFill>
              <a:srgbClr val="FF993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98" name="직사각형 97">
              <a:extLst>
                <a:ext uri="{FF2B5EF4-FFF2-40B4-BE49-F238E27FC236}">
                  <a16:creationId xmlns:a16="http://schemas.microsoft.com/office/drawing/2014/main" id="{EC557756-0ECF-473B-9404-8CBE1043C140}"/>
                </a:ext>
              </a:extLst>
            </p:cNvPr>
            <p:cNvSpPr/>
            <p:nvPr/>
          </p:nvSpPr>
          <p:spPr>
            <a:xfrm>
              <a:off x="3474678" y="2635699"/>
              <a:ext cx="72000" cy="347113"/>
            </a:xfrm>
            <a:prstGeom prst="rect">
              <a:avLst/>
            </a:prstGeom>
            <a:solidFill>
              <a:srgbClr val="92D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99" name="직사각형 98">
              <a:extLst>
                <a:ext uri="{FF2B5EF4-FFF2-40B4-BE49-F238E27FC236}">
                  <a16:creationId xmlns:a16="http://schemas.microsoft.com/office/drawing/2014/main" id="{17E6608E-2FB8-46BC-97F2-874DC0DF958C}"/>
                </a:ext>
              </a:extLst>
            </p:cNvPr>
            <p:cNvSpPr/>
            <p:nvPr/>
          </p:nvSpPr>
          <p:spPr>
            <a:xfrm>
              <a:off x="3572790" y="2857851"/>
              <a:ext cx="72000" cy="124961"/>
            </a:xfrm>
            <a:prstGeom prst="rect">
              <a:avLst/>
            </a:prstGeom>
            <a:solidFill>
              <a:srgbClr val="FF993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graphicFrame>
        <p:nvGraphicFramePr>
          <p:cNvPr id="100" name="표 99">
            <a:extLst>
              <a:ext uri="{FF2B5EF4-FFF2-40B4-BE49-F238E27FC236}">
                <a16:creationId xmlns:a16="http://schemas.microsoft.com/office/drawing/2014/main" id="{D5428C4B-7325-49A8-B9F2-16638C5D33B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85276760"/>
              </p:ext>
            </p:extLst>
          </p:nvPr>
        </p:nvGraphicFramePr>
        <p:xfrm>
          <a:off x="272476" y="3901193"/>
          <a:ext cx="7920880" cy="118399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961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5206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5206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52061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52061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5206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52061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52061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52061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52061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5206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5206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5206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15121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구분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r>
                        <a:rPr lang="ko-KR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r>
                        <a:rPr lang="ko-KR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r>
                        <a:rPr lang="ko-KR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</a:t>
                      </a:r>
                      <a:r>
                        <a:rPr lang="ko-KR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</a:t>
                      </a:r>
                      <a:r>
                        <a:rPr lang="ko-KR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</a:t>
                      </a:r>
                      <a:r>
                        <a:rPr lang="ko-KR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</a:t>
                      </a:r>
                      <a:r>
                        <a:rPr lang="ko-KR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</a:t>
                      </a:r>
                      <a:r>
                        <a:rPr lang="ko-KR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</a:t>
                      </a:r>
                      <a:r>
                        <a:rPr lang="ko-KR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</a:t>
                      </a:r>
                      <a:r>
                        <a:rPr lang="ko-KR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42279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총 발전량</a:t>
                      </a:r>
                      <a:endParaRPr lang="en-US" altLang="ko-KR" sz="7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344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SMP </a:t>
                      </a:r>
                      <a:r>
                        <a:rPr lang="ko-KR" altLang="en-US" sz="7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거래량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344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SMP</a:t>
                      </a:r>
                      <a:r>
                        <a:rPr lang="ko-KR" altLang="en-US" sz="7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수익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3441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REC</a:t>
                      </a:r>
                      <a:r>
                        <a:rPr lang="ko-KR" altLang="en-US" sz="7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거래량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344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REC </a:t>
                      </a:r>
                      <a:r>
                        <a:rPr lang="ko-KR" altLang="en-US" sz="7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수익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5283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총 수익</a:t>
                      </a:r>
                      <a:endParaRPr lang="en-US" altLang="ko-KR" sz="7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algn="ctr" latinLnBrk="1"/>
                      <a:r>
                        <a:rPr lang="ko-KR" altLang="en-US" sz="7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발전량</a:t>
                      </a:r>
                      <a:r>
                        <a:rPr lang="en-US" altLang="ko-KR" sz="7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x(SMP</a:t>
                      </a:r>
                      <a:r>
                        <a:rPr lang="ko-KR" altLang="en-US" sz="7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거래가격</a:t>
                      </a:r>
                      <a:r>
                        <a:rPr lang="en-US" altLang="ko-KR" sz="7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+</a:t>
                      </a:r>
                    </a:p>
                    <a:p>
                      <a:pPr algn="ctr" latinLnBrk="1"/>
                      <a:r>
                        <a:rPr lang="en-US" altLang="ko-KR" sz="7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REC</a:t>
                      </a:r>
                      <a:r>
                        <a:rPr lang="ko-KR" altLang="en-US" sz="7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거래가격</a:t>
                      </a:r>
                      <a:r>
                        <a:rPr lang="en-US" altLang="ko-KR" sz="700" b="1" kern="1200" dirty="0" err="1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xREC</a:t>
                      </a:r>
                      <a:r>
                        <a:rPr lang="ko-KR" altLang="en-US" sz="7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가중치</a:t>
                      </a:r>
                      <a:r>
                        <a:rPr lang="en-US" altLang="ko-KR" sz="7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R" altLang="en-US" sz="7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4B6AB879-C521-4B65-B256-96E52086466E}"/>
              </a:ext>
            </a:extLst>
          </p:cNvPr>
          <p:cNvSpPr/>
          <p:nvPr/>
        </p:nvSpPr>
        <p:spPr>
          <a:xfrm>
            <a:off x="7517537" y="1992619"/>
            <a:ext cx="1008112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en-US" altLang="ko-KR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REC</a:t>
            </a:r>
            <a:r>
              <a:rPr lang="ko-KR" altLang="en-US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 수익</a:t>
            </a:r>
          </a:p>
        </p:txBody>
      </p:sp>
      <p:cxnSp>
        <p:nvCxnSpPr>
          <p:cNvPr id="103" name="직선 연결선 102">
            <a:extLst>
              <a:ext uri="{FF2B5EF4-FFF2-40B4-BE49-F238E27FC236}">
                <a16:creationId xmlns:a16="http://schemas.microsoft.com/office/drawing/2014/main" id="{EC4632A4-0C68-4961-B50A-7B514051EA06}"/>
              </a:ext>
            </a:extLst>
          </p:cNvPr>
          <p:cNvCxnSpPr/>
          <p:nvPr/>
        </p:nvCxnSpPr>
        <p:spPr>
          <a:xfrm>
            <a:off x="6941473" y="2114847"/>
            <a:ext cx="504056" cy="0"/>
          </a:xfrm>
          <a:prstGeom prst="line">
            <a:avLst/>
          </a:prstGeom>
          <a:solidFill>
            <a:schemeClr val="accent2">
              <a:lumMod val="60000"/>
              <a:lumOff val="40000"/>
            </a:schemeClr>
          </a:solidFill>
          <a:ln>
            <a:solidFill>
              <a:srgbClr val="0066F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DADAE4B5-FA7C-4650-B211-22FAE2A62FC2}"/>
              </a:ext>
            </a:extLst>
          </p:cNvPr>
          <p:cNvSpPr/>
          <p:nvPr/>
        </p:nvSpPr>
        <p:spPr>
          <a:xfrm>
            <a:off x="1973941" y="3131016"/>
            <a:ext cx="59387" cy="261955"/>
          </a:xfrm>
          <a:prstGeom prst="rect">
            <a:avLst/>
          </a:prstGeom>
          <a:solidFill>
            <a:srgbClr val="0066FF"/>
          </a:solidFill>
          <a:ln>
            <a:solidFill>
              <a:srgbClr val="0066F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05" name="직사각형 104">
            <a:extLst>
              <a:ext uri="{FF2B5EF4-FFF2-40B4-BE49-F238E27FC236}">
                <a16:creationId xmlns:a16="http://schemas.microsoft.com/office/drawing/2014/main" id="{1EB9400A-98FF-48CE-AC46-95E197ED2C1B}"/>
              </a:ext>
            </a:extLst>
          </p:cNvPr>
          <p:cNvSpPr/>
          <p:nvPr/>
        </p:nvSpPr>
        <p:spPr>
          <a:xfrm>
            <a:off x="2518069" y="3131016"/>
            <a:ext cx="59387" cy="261955"/>
          </a:xfrm>
          <a:prstGeom prst="rect">
            <a:avLst/>
          </a:prstGeom>
          <a:solidFill>
            <a:srgbClr val="0066FF"/>
          </a:solidFill>
          <a:ln>
            <a:solidFill>
              <a:srgbClr val="0066F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06" name="직사각형 105">
            <a:extLst>
              <a:ext uri="{FF2B5EF4-FFF2-40B4-BE49-F238E27FC236}">
                <a16:creationId xmlns:a16="http://schemas.microsoft.com/office/drawing/2014/main" id="{1F2FB687-16EC-4230-9626-DE538ADB1AFF}"/>
              </a:ext>
            </a:extLst>
          </p:cNvPr>
          <p:cNvSpPr/>
          <p:nvPr/>
        </p:nvSpPr>
        <p:spPr>
          <a:xfrm>
            <a:off x="3086627" y="3131016"/>
            <a:ext cx="59387" cy="261955"/>
          </a:xfrm>
          <a:prstGeom prst="rect">
            <a:avLst/>
          </a:prstGeom>
          <a:solidFill>
            <a:srgbClr val="0066FF"/>
          </a:solidFill>
          <a:ln>
            <a:solidFill>
              <a:srgbClr val="0066F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07" name="직사각형 106">
            <a:extLst>
              <a:ext uri="{FF2B5EF4-FFF2-40B4-BE49-F238E27FC236}">
                <a16:creationId xmlns:a16="http://schemas.microsoft.com/office/drawing/2014/main" id="{E79E1FBC-8FE7-4BEF-9A4C-B5A566E8229E}"/>
              </a:ext>
            </a:extLst>
          </p:cNvPr>
          <p:cNvSpPr/>
          <p:nvPr/>
        </p:nvSpPr>
        <p:spPr>
          <a:xfrm>
            <a:off x="3619132" y="3131016"/>
            <a:ext cx="59387" cy="261955"/>
          </a:xfrm>
          <a:prstGeom prst="rect">
            <a:avLst/>
          </a:prstGeom>
          <a:solidFill>
            <a:srgbClr val="0066FF"/>
          </a:solidFill>
          <a:ln>
            <a:solidFill>
              <a:srgbClr val="0066F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CCFAD2F5-08D5-4862-AFED-98628E969EE5}"/>
              </a:ext>
            </a:extLst>
          </p:cNvPr>
          <p:cNvSpPr/>
          <p:nvPr/>
        </p:nvSpPr>
        <p:spPr>
          <a:xfrm>
            <a:off x="4179727" y="3131016"/>
            <a:ext cx="59387" cy="261955"/>
          </a:xfrm>
          <a:prstGeom prst="rect">
            <a:avLst/>
          </a:prstGeom>
          <a:solidFill>
            <a:srgbClr val="0066FF"/>
          </a:solidFill>
          <a:ln>
            <a:solidFill>
              <a:srgbClr val="0066F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grpSp>
        <p:nvGrpSpPr>
          <p:cNvPr id="60" name="그룹 59">
            <a:extLst>
              <a:ext uri="{FF2B5EF4-FFF2-40B4-BE49-F238E27FC236}">
                <a16:creationId xmlns:a16="http://schemas.microsoft.com/office/drawing/2014/main" id="{1CFD9424-7997-4450-A24A-93DD2A68DCB9}"/>
              </a:ext>
            </a:extLst>
          </p:cNvPr>
          <p:cNvGrpSpPr/>
          <p:nvPr/>
        </p:nvGrpSpPr>
        <p:grpSpPr>
          <a:xfrm>
            <a:off x="242160" y="1268760"/>
            <a:ext cx="8024876" cy="260092"/>
            <a:chOff x="184526" y="1505937"/>
            <a:chExt cx="8024876" cy="260092"/>
          </a:xfrm>
        </p:grpSpPr>
        <p:sp>
          <p:nvSpPr>
            <p:cNvPr id="61" name="직사각형 60">
              <a:extLst>
                <a:ext uri="{FF2B5EF4-FFF2-40B4-BE49-F238E27FC236}">
                  <a16:creationId xmlns:a16="http://schemas.microsoft.com/office/drawing/2014/main" id="{8A774828-0E1F-40C6-B342-3A5C51D546F7}"/>
                </a:ext>
              </a:extLst>
            </p:cNvPr>
            <p:cNvSpPr/>
            <p:nvPr/>
          </p:nvSpPr>
          <p:spPr>
            <a:xfrm>
              <a:off x="5810955" y="1550585"/>
              <a:ext cx="1820532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수익 현황</a:t>
              </a:r>
            </a:p>
          </p:txBody>
        </p:sp>
        <p:sp>
          <p:nvSpPr>
            <p:cNvPr id="62" name="직사각형 61">
              <a:extLst>
                <a:ext uri="{FF2B5EF4-FFF2-40B4-BE49-F238E27FC236}">
                  <a16:creationId xmlns:a16="http://schemas.microsoft.com/office/drawing/2014/main" id="{63AEAE6E-AE4E-4A23-B419-15C6646C54C7}"/>
                </a:ext>
              </a:extLst>
            </p:cNvPr>
            <p:cNvSpPr/>
            <p:nvPr/>
          </p:nvSpPr>
          <p:spPr>
            <a:xfrm>
              <a:off x="184526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에너지 모니터링</a:t>
              </a:r>
            </a:p>
          </p:txBody>
        </p:sp>
        <p:sp>
          <p:nvSpPr>
            <p:cNvPr id="64" name="직사각형 63">
              <a:extLst>
                <a:ext uri="{FF2B5EF4-FFF2-40B4-BE49-F238E27FC236}">
                  <a16:creationId xmlns:a16="http://schemas.microsoft.com/office/drawing/2014/main" id="{F5FCA6BA-F75D-46B5-A73E-5BCEA687835C}"/>
                </a:ext>
              </a:extLst>
            </p:cNvPr>
            <p:cNvSpPr/>
            <p:nvPr/>
          </p:nvSpPr>
          <p:spPr>
            <a:xfrm>
              <a:off x="2191085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장치 모니터링</a:t>
              </a:r>
            </a:p>
          </p:txBody>
        </p:sp>
        <p:sp>
          <p:nvSpPr>
            <p:cNvPr id="65" name="직사각형 64">
              <a:extLst>
                <a:ext uri="{FF2B5EF4-FFF2-40B4-BE49-F238E27FC236}">
                  <a16:creationId xmlns:a16="http://schemas.microsoft.com/office/drawing/2014/main" id="{902C8DF0-2648-41F4-A1CE-6B5CFDB07201}"/>
                </a:ext>
              </a:extLst>
            </p:cNvPr>
            <p:cNvSpPr/>
            <p:nvPr/>
          </p:nvSpPr>
          <p:spPr>
            <a:xfrm>
              <a:off x="4197644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상황</a:t>
              </a:r>
              <a:r>
                <a:rPr lang="en-US" altLang="ko-KR" sz="700" dirty="0"/>
                <a:t> </a:t>
              </a:r>
              <a:r>
                <a:rPr lang="ko-KR" altLang="en-US" sz="700" dirty="0"/>
                <a:t>관제</a:t>
              </a:r>
            </a:p>
          </p:txBody>
        </p:sp>
        <p:sp>
          <p:nvSpPr>
            <p:cNvPr id="66" name="직사각형 65">
              <a:extLst>
                <a:ext uri="{FF2B5EF4-FFF2-40B4-BE49-F238E27FC236}">
                  <a16:creationId xmlns:a16="http://schemas.microsoft.com/office/drawing/2014/main" id="{C8B412A3-C7D2-407C-8A69-59C324E0620A}"/>
                </a:ext>
              </a:extLst>
            </p:cNvPr>
            <p:cNvSpPr/>
            <p:nvPr/>
          </p:nvSpPr>
          <p:spPr>
            <a:xfrm>
              <a:off x="6204202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요금</a:t>
              </a:r>
              <a:r>
                <a:rPr lang="en-US" altLang="ko-KR" sz="700" dirty="0"/>
                <a:t>/</a:t>
              </a:r>
              <a:r>
                <a:rPr lang="ko-KR" altLang="en-US" sz="700" dirty="0"/>
                <a:t>수익</a:t>
              </a:r>
            </a:p>
          </p:txBody>
        </p:sp>
      </p:grp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8C35DCB0-E1EF-4116-9F44-258818DCEA0A}"/>
              </a:ext>
            </a:extLst>
          </p:cNvPr>
          <p:cNvSpPr/>
          <p:nvPr/>
        </p:nvSpPr>
        <p:spPr>
          <a:xfrm>
            <a:off x="7688753" y="1625875"/>
            <a:ext cx="473661" cy="289182"/>
          </a:xfrm>
          <a:prstGeom prst="rect">
            <a:avLst/>
          </a:prstGeom>
          <a:solidFill>
            <a:srgbClr val="0099FF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>
              <a:lnSpc>
                <a:spcPct val="150000"/>
              </a:lnSpc>
            </a:pPr>
            <a:r>
              <a:rPr lang="ko-KR" altLang="en-US" sz="105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조회</a:t>
            </a:r>
          </a:p>
        </p:txBody>
      </p:sp>
      <p:sp>
        <p:nvSpPr>
          <p:cNvPr id="68" name="타원형 설명선 226">
            <a:extLst>
              <a:ext uri="{FF2B5EF4-FFF2-40B4-BE49-F238E27FC236}">
                <a16:creationId xmlns:a16="http://schemas.microsoft.com/office/drawing/2014/main" id="{32CC2DB9-610D-4D37-9809-E62B20A6AFEA}"/>
              </a:ext>
            </a:extLst>
          </p:cNvPr>
          <p:cNvSpPr/>
          <p:nvPr/>
        </p:nvSpPr>
        <p:spPr>
          <a:xfrm>
            <a:off x="128462" y="2002731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9" name="타원형 설명선 243">
            <a:extLst>
              <a:ext uri="{FF2B5EF4-FFF2-40B4-BE49-F238E27FC236}">
                <a16:creationId xmlns:a16="http://schemas.microsoft.com/office/drawing/2014/main" id="{D1F85B76-89CB-4144-9F59-936C77470B0B}"/>
              </a:ext>
            </a:extLst>
          </p:cNvPr>
          <p:cNvSpPr/>
          <p:nvPr/>
        </p:nvSpPr>
        <p:spPr>
          <a:xfrm>
            <a:off x="115930" y="5013176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0" name="타원형 설명선 244">
            <a:extLst>
              <a:ext uri="{FF2B5EF4-FFF2-40B4-BE49-F238E27FC236}">
                <a16:creationId xmlns:a16="http://schemas.microsoft.com/office/drawing/2014/main" id="{2CFDBB99-43C9-4543-9883-A38F8DB80250}"/>
              </a:ext>
            </a:extLst>
          </p:cNvPr>
          <p:cNvSpPr/>
          <p:nvPr/>
        </p:nvSpPr>
        <p:spPr>
          <a:xfrm>
            <a:off x="109942" y="3812540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1" name="타원형 설명선 245">
            <a:extLst>
              <a:ext uri="{FF2B5EF4-FFF2-40B4-BE49-F238E27FC236}">
                <a16:creationId xmlns:a16="http://schemas.microsoft.com/office/drawing/2014/main" id="{B80F2AA6-49E2-4322-A21F-D3AC42FE9C15}"/>
              </a:ext>
            </a:extLst>
          </p:cNvPr>
          <p:cNvSpPr/>
          <p:nvPr/>
        </p:nvSpPr>
        <p:spPr>
          <a:xfrm>
            <a:off x="6834930" y="5050235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2" name="타원형 설명선 225">
            <a:extLst>
              <a:ext uri="{FF2B5EF4-FFF2-40B4-BE49-F238E27FC236}">
                <a16:creationId xmlns:a16="http://schemas.microsoft.com/office/drawing/2014/main" id="{5C94B5E0-6E60-41AA-8A92-3141C46E344E}"/>
              </a:ext>
            </a:extLst>
          </p:cNvPr>
          <p:cNvSpPr/>
          <p:nvPr/>
        </p:nvSpPr>
        <p:spPr>
          <a:xfrm>
            <a:off x="3450578" y="1458646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197849161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>
            <a:extLst>
              <a:ext uri="{FF2B5EF4-FFF2-40B4-BE49-F238E27FC236}">
                <a16:creationId xmlns:a16="http://schemas.microsoft.com/office/drawing/2014/main" id="{11B1EB27-3DFA-4C9B-B6A6-A2D05EC26A8D}"/>
              </a:ext>
            </a:extLst>
          </p:cNvPr>
          <p:cNvSpPr/>
          <p:nvPr/>
        </p:nvSpPr>
        <p:spPr>
          <a:xfrm>
            <a:off x="131028" y="692284"/>
            <a:ext cx="8202089" cy="5617036"/>
          </a:xfrm>
          <a:prstGeom prst="rect">
            <a:avLst/>
          </a:prstGeom>
          <a:solidFill>
            <a:schemeClr val="bg1"/>
          </a:solidFill>
          <a:ln w="1270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9104309" y="6645875"/>
            <a:ext cx="140029" cy="138499"/>
          </a:xfrm>
        </p:spPr>
        <p:txBody>
          <a:bodyPr/>
          <a:lstStyle/>
          <a:p>
            <a:pPr>
              <a:defRPr/>
            </a:pPr>
            <a:fld id="{9E41B634-5682-4388-99E7-FE44DCFD254B}" type="slidenum">
              <a:rPr lang="ko-KR" altLang="en-US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>
                <a:defRPr/>
              </a:pPr>
              <a:t>49</a:t>
            </a:fld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텍스트 개체 틀 8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Site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 &gt;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요금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/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수익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&gt; PV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수익 조회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&gt;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명세서 확인 및 출력</a:t>
            </a:r>
          </a:p>
        </p:txBody>
      </p:sp>
      <p:sp>
        <p:nvSpPr>
          <p:cNvPr id="10" name="텍스트 개체 틀 9"/>
          <p:cNvSpPr>
            <a:spLocks noGrp="1"/>
          </p:cNvSpPr>
          <p:nvPr>
            <p:ph type="body" sz="quarter" idx="10"/>
          </p:nvPr>
        </p:nvSpPr>
        <p:spPr>
          <a:xfrm>
            <a:off x="6023595" y="44624"/>
            <a:ext cx="1233661" cy="196974"/>
          </a:xfrm>
        </p:spPr>
        <p:txBody>
          <a:bodyPr/>
          <a:lstStyle/>
          <a:p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명세서 확인 및 출력</a:t>
            </a:r>
          </a:p>
        </p:txBody>
      </p:sp>
      <p:graphicFrame>
        <p:nvGraphicFramePr>
          <p:cNvPr id="102" name="Group 15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98912113"/>
              </p:ext>
            </p:extLst>
          </p:nvPr>
        </p:nvGraphicFramePr>
        <p:xfrm>
          <a:off x="8469313" y="276225"/>
          <a:ext cx="1404000" cy="2547456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3002"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Description</a:t>
                      </a: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명세서 표시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1) PV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발전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수익 배분 명세서를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2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PDF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로 저장하기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현재 구성된 화면을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PDF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로 저장한다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.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3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프린터로 인쇄하기</a:t>
                      </a:r>
                      <a:endParaRPr lang="en-US" altLang="ko-KR" sz="800" b="1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현재 구성된 화면을 </a:t>
                      </a: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PC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상에 설정 및 연결된 프린터를 통해 인쇄한다</a:t>
                      </a: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.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4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닫기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명세서 확인 및 출력 화면 종료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8304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* PV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발전 수익 배분 정책 확인 후 업데이트 예정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78" name="TextBox 77"/>
          <p:cNvSpPr txBox="1"/>
          <p:nvPr/>
        </p:nvSpPr>
        <p:spPr>
          <a:xfrm>
            <a:off x="7121707" y="21349"/>
            <a:ext cx="567597" cy="2308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화면</a:t>
            </a:r>
            <a:r>
              <a:rPr lang="en-US" altLang="ko-KR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ID</a:t>
            </a:r>
            <a:endParaRPr lang="ko-KR" altLang="en-US" sz="9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7689304" y="43659"/>
            <a:ext cx="792088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itchFamily="50" charset="-127"/>
                <a:ea typeface="맑은 고딕" pitchFamily="50" charset="-127"/>
              </a:rPr>
              <a:t>ewpsp_scr_032</a:t>
            </a:r>
            <a:endParaRPr lang="ko-KR" altLang="en-US" sz="700" dirty="0">
              <a:latin typeface="맑은 고딕" pitchFamily="50" charset="-127"/>
              <a:ea typeface="맑은 고딕" pitchFamily="50" charset="-127"/>
            </a:endParaRPr>
          </a:p>
        </p:txBody>
      </p:sp>
      <p:pic>
        <p:nvPicPr>
          <p:cNvPr id="19" name="Picture 2">
            <a:extLst>
              <a:ext uri="{FF2B5EF4-FFF2-40B4-BE49-F238E27FC236}">
                <a16:creationId xmlns:a16="http://schemas.microsoft.com/office/drawing/2014/main" id="{6FBB0165-03FF-4BBD-A158-8DEF923CF53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464" y="343504"/>
            <a:ext cx="8208912" cy="3487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1" name="직사각형 20">
            <a:extLst>
              <a:ext uri="{FF2B5EF4-FFF2-40B4-BE49-F238E27FC236}">
                <a16:creationId xmlns:a16="http://schemas.microsoft.com/office/drawing/2014/main" id="{5E84417E-CAA5-4FD3-BBB9-7CD5570EF571}"/>
              </a:ext>
            </a:extLst>
          </p:cNvPr>
          <p:cNvSpPr/>
          <p:nvPr/>
        </p:nvSpPr>
        <p:spPr>
          <a:xfrm>
            <a:off x="216314" y="777814"/>
            <a:ext cx="2216405" cy="288032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>
              <a:lnSpc>
                <a:spcPct val="150000"/>
              </a:lnSpc>
            </a:pPr>
            <a:r>
              <a:rPr lang="ko-KR" altLang="en-US" sz="100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명세서 확인 및 출력</a:t>
            </a:r>
          </a:p>
        </p:txBody>
      </p:sp>
      <p:pic>
        <p:nvPicPr>
          <p:cNvPr id="47" name="Picture 2" descr="ì¤ì ì ëí ì´ë¯¸ì§ ê²ìê²°ê³¼">
            <a:extLst>
              <a:ext uri="{FF2B5EF4-FFF2-40B4-BE49-F238E27FC236}">
                <a16:creationId xmlns:a16="http://schemas.microsoft.com/office/drawing/2014/main" id="{90A888AD-844A-4544-B02A-A77BC3397C7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05865" y="425148"/>
            <a:ext cx="198592" cy="19859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직사각형 2">
            <a:extLst>
              <a:ext uri="{FF2B5EF4-FFF2-40B4-BE49-F238E27FC236}">
                <a16:creationId xmlns:a16="http://schemas.microsoft.com/office/drawing/2014/main" id="{B2C5C60E-7747-4016-AE8A-04E934E77802}"/>
              </a:ext>
            </a:extLst>
          </p:cNvPr>
          <p:cNvSpPr/>
          <p:nvPr/>
        </p:nvSpPr>
        <p:spPr>
          <a:xfrm>
            <a:off x="2141448" y="777815"/>
            <a:ext cx="4608512" cy="5099458"/>
          </a:xfrm>
          <a:prstGeom prst="rect">
            <a:avLst/>
          </a:prstGeom>
          <a:solidFill>
            <a:schemeClr val="bg1"/>
          </a:solidFill>
          <a:ln w="1270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grpSp>
        <p:nvGrpSpPr>
          <p:cNvPr id="26" name="그룹 25">
            <a:extLst>
              <a:ext uri="{FF2B5EF4-FFF2-40B4-BE49-F238E27FC236}">
                <a16:creationId xmlns:a16="http://schemas.microsoft.com/office/drawing/2014/main" id="{DB4E966B-3025-4C6D-BE8B-0CEF882847B9}"/>
              </a:ext>
            </a:extLst>
          </p:cNvPr>
          <p:cNvGrpSpPr/>
          <p:nvPr/>
        </p:nvGrpSpPr>
        <p:grpSpPr>
          <a:xfrm>
            <a:off x="2162704" y="5445224"/>
            <a:ext cx="4488118" cy="323428"/>
            <a:chOff x="2162704" y="5301208"/>
            <a:chExt cx="4488118" cy="323428"/>
          </a:xfrm>
        </p:grpSpPr>
        <p:pic>
          <p:nvPicPr>
            <p:cNvPr id="27" name="Picture 4" descr="ì¸ìì ëí ì´ë¯¸ì§ ê²ìê²°ê³¼">
              <a:extLst>
                <a:ext uri="{FF2B5EF4-FFF2-40B4-BE49-F238E27FC236}">
                  <a16:creationId xmlns:a16="http://schemas.microsoft.com/office/drawing/2014/main" id="{7ACDCB8C-EECE-43EA-80CB-7DE1D6C0250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50465" y="5336922"/>
              <a:ext cx="252000" cy="2520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8" name="Picture 6" descr="pdfì ëí ì´ë¯¸ì§ ê²ìê²°ê³¼">
              <a:extLst>
                <a:ext uri="{FF2B5EF4-FFF2-40B4-BE49-F238E27FC236}">
                  <a16:creationId xmlns:a16="http://schemas.microsoft.com/office/drawing/2014/main" id="{F6447086-52BB-4C6A-87B3-F1058CE230C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162704" y="5336922"/>
              <a:ext cx="252000" cy="2520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9" name="직사각형 28">
              <a:extLst>
                <a:ext uri="{FF2B5EF4-FFF2-40B4-BE49-F238E27FC236}">
                  <a16:creationId xmlns:a16="http://schemas.microsoft.com/office/drawing/2014/main" id="{F6999647-2CEE-4125-8ECA-12D1C3503A16}"/>
                </a:ext>
              </a:extLst>
            </p:cNvPr>
            <p:cNvSpPr/>
            <p:nvPr/>
          </p:nvSpPr>
          <p:spPr>
            <a:xfrm>
              <a:off x="5490371" y="5301208"/>
              <a:ext cx="1160451" cy="323428"/>
            </a:xfrm>
            <a:prstGeom prst="rect">
              <a:avLst/>
            </a:prstGeom>
            <a:solidFill>
              <a:srgbClr val="0099FF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 algn="ctr">
                <a:lnSpc>
                  <a:spcPct val="150000"/>
                </a:lnSpc>
              </a:pPr>
              <a:r>
                <a:rPr lang="ko-KR" altLang="en-US" sz="105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닫기</a:t>
              </a: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CEFBAAD0-CA63-43D3-828C-B1E536C13E2E}"/>
                </a:ext>
              </a:extLst>
            </p:cNvPr>
            <p:cNvSpPr txBox="1"/>
            <p:nvPr/>
          </p:nvSpPr>
          <p:spPr>
            <a:xfrm>
              <a:off x="2401165" y="5355200"/>
              <a:ext cx="949300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PDF</a:t>
              </a: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로</a:t>
              </a:r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저장하기</a:t>
              </a: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3B7B0FD6-F1CD-4539-870D-9F2C346E92E4}"/>
                </a:ext>
              </a:extLst>
            </p:cNvPr>
            <p:cNvSpPr txBox="1"/>
            <p:nvPr/>
          </p:nvSpPr>
          <p:spPr>
            <a:xfrm>
              <a:off x="3633103" y="5355200"/>
              <a:ext cx="1160450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프린터로 인쇄하기</a:t>
              </a:r>
            </a:p>
          </p:txBody>
        </p:sp>
      </p:grpSp>
      <p:sp>
        <p:nvSpPr>
          <p:cNvPr id="20" name="TextBox 19">
            <a:extLst>
              <a:ext uri="{FF2B5EF4-FFF2-40B4-BE49-F238E27FC236}">
                <a16:creationId xmlns:a16="http://schemas.microsoft.com/office/drawing/2014/main" id="{8293881F-4C80-4BA0-A8B5-A2AA768DB492}"/>
              </a:ext>
            </a:extLst>
          </p:cNvPr>
          <p:cNvSpPr txBox="1"/>
          <p:nvPr/>
        </p:nvSpPr>
        <p:spPr>
          <a:xfrm>
            <a:off x="2360712" y="873578"/>
            <a:ext cx="4176464" cy="230832"/>
          </a:xfrm>
          <a:prstGeom prst="rect">
            <a:avLst/>
          </a:prstGeom>
          <a:noFill/>
          <a:ln>
            <a:solidFill>
              <a:schemeClr val="bg1">
                <a:lumMod val="50000"/>
              </a:schemeClr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태양열 발전 수익 배분 청구서 </a:t>
            </a:r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(’18</a:t>
            </a:r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년 </a:t>
            </a:r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</a:t>
            </a:r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월</a:t>
            </a:r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D1DA4741-7818-4306-9809-6CE3E801803B}"/>
              </a:ext>
            </a:extLst>
          </p:cNvPr>
          <p:cNvSpPr txBox="1"/>
          <p:nvPr/>
        </p:nvSpPr>
        <p:spPr>
          <a:xfrm>
            <a:off x="5780695" y="1106155"/>
            <a:ext cx="828489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5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청구일 </a:t>
            </a:r>
            <a:r>
              <a:rPr lang="en-US" altLang="ko-KR" sz="5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: 2018-07-20</a:t>
            </a:r>
            <a:endParaRPr lang="ko-KR" altLang="en-US" sz="5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D083EC9F-0CB7-4A74-B83C-1540AD243779}"/>
              </a:ext>
            </a:extLst>
          </p:cNvPr>
          <p:cNvSpPr txBox="1"/>
          <p:nvPr/>
        </p:nvSpPr>
        <p:spPr>
          <a:xfrm>
            <a:off x="2288704" y="1106155"/>
            <a:ext cx="828489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5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고객명 </a:t>
            </a:r>
            <a:r>
              <a:rPr lang="en-US" altLang="ko-KR" sz="5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: </a:t>
            </a:r>
            <a:r>
              <a:rPr lang="ko-KR" altLang="en-US" sz="5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고객</a:t>
            </a:r>
            <a:r>
              <a:rPr lang="en-US" altLang="ko-KR" sz="5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Site_1</a:t>
            </a:r>
            <a:endParaRPr lang="ko-KR" altLang="en-US" sz="5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88C4CE17-E1BB-4AD3-8662-BFE96BCBBA45}"/>
              </a:ext>
            </a:extLst>
          </p:cNvPr>
          <p:cNvSpPr txBox="1"/>
          <p:nvPr/>
        </p:nvSpPr>
        <p:spPr>
          <a:xfrm>
            <a:off x="4088904" y="1240893"/>
            <a:ext cx="2376264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이번 달 청구 금액은     </a:t>
            </a:r>
            <a:r>
              <a:rPr lang="en-US" altLang="ko-KR" sz="900" dirty="0">
                <a:solidFill>
                  <a:srgbClr val="0070C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5,058,900</a:t>
            </a: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 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원 입니다</a:t>
            </a: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.</a:t>
            </a:r>
            <a:endParaRPr lang="ko-KR" altLang="en-US" sz="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54FA23C6-4825-4A2A-A0BE-64BBE088413C}"/>
              </a:ext>
            </a:extLst>
          </p:cNvPr>
          <p:cNvSpPr txBox="1"/>
          <p:nvPr/>
        </p:nvSpPr>
        <p:spPr>
          <a:xfrm>
            <a:off x="4880992" y="1409037"/>
            <a:ext cx="1429340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5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lang="ko-KR" altLang="en-US" sz="5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수익배분기간 </a:t>
            </a:r>
            <a:r>
              <a:rPr lang="en-US" altLang="ko-KR" sz="5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: 2018-01-01 ~ 2018-12-31)</a:t>
            </a:r>
            <a:endParaRPr lang="ko-KR" altLang="en-US" sz="5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9" name="타원형 설명선 225">
            <a:extLst>
              <a:ext uri="{FF2B5EF4-FFF2-40B4-BE49-F238E27FC236}">
                <a16:creationId xmlns:a16="http://schemas.microsoft.com/office/drawing/2014/main" id="{64F5164F-2C45-4E25-ADAE-431B2C0711A8}"/>
              </a:ext>
            </a:extLst>
          </p:cNvPr>
          <p:cNvSpPr/>
          <p:nvPr/>
        </p:nvSpPr>
        <p:spPr>
          <a:xfrm>
            <a:off x="1925448" y="819084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31240FAC-A469-4C23-AE87-C534ADF2CE40}"/>
              </a:ext>
            </a:extLst>
          </p:cNvPr>
          <p:cNvSpPr txBox="1"/>
          <p:nvPr/>
        </p:nvSpPr>
        <p:spPr>
          <a:xfrm>
            <a:off x="2274556" y="1628800"/>
            <a:ext cx="828489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6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1. </a:t>
            </a:r>
            <a:r>
              <a:rPr lang="ko-KR" altLang="en-US" sz="6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청구내역</a:t>
            </a: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A8E6D2A2-F2B2-4EDE-827F-A35E84816B9B}"/>
              </a:ext>
            </a:extLst>
          </p:cNvPr>
          <p:cNvSpPr txBox="1"/>
          <p:nvPr/>
        </p:nvSpPr>
        <p:spPr>
          <a:xfrm>
            <a:off x="4627036" y="1628800"/>
            <a:ext cx="1656184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6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2. </a:t>
            </a:r>
            <a:r>
              <a:rPr lang="ko-KR" altLang="en-US" sz="6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발전 정보</a:t>
            </a:r>
          </a:p>
        </p:txBody>
      </p:sp>
      <p:graphicFrame>
        <p:nvGraphicFramePr>
          <p:cNvPr id="42" name="표 41">
            <a:extLst>
              <a:ext uri="{FF2B5EF4-FFF2-40B4-BE49-F238E27FC236}">
                <a16:creationId xmlns:a16="http://schemas.microsoft.com/office/drawing/2014/main" id="{B355DC39-1F31-4011-A866-8663CD576C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05135078"/>
              </p:ext>
            </p:extLst>
          </p:nvPr>
        </p:nvGraphicFramePr>
        <p:xfrm>
          <a:off x="2274556" y="1809368"/>
          <a:ext cx="2038198" cy="1524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22260">
                  <a:extLst>
                    <a:ext uri="{9D8B030D-6E8A-4147-A177-3AD203B41FA5}">
                      <a16:colId xmlns:a16="http://schemas.microsoft.com/office/drawing/2014/main" val="2143136556"/>
                    </a:ext>
                  </a:extLst>
                </a:gridCol>
                <a:gridCol w="1015938">
                  <a:extLst>
                    <a:ext uri="{9D8B030D-6E8A-4147-A177-3AD203B41FA5}">
                      <a16:colId xmlns:a16="http://schemas.microsoft.com/office/drawing/2014/main" val="215146028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구 분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금액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0282666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5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①</a:t>
                      </a:r>
                      <a:r>
                        <a:rPr lang="en-US" altLang="ko-KR" sz="5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REC </a:t>
                      </a:r>
                      <a:r>
                        <a:rPr lang="ko-KR" altLang="en-US" sz="5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수익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latinLnBrk="1" hangingPunct="1"/>
                      <a:r>
                        <a:rPr lang="en-US" altLang="ko-KR" sz="5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12,775,000</a:t>
                      </a:r>
                      <a:endParaRPr lang="ko-KR" altLang="en-US" sz="50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672998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5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②</a:t>
                      </a:r>
                      <a:r>
                        <a:rPr lang="en-US" altLang="ko-KR" sz="5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SMP </a:t>
                      </a:r>
                      <a:r>
                        <a:rPr lang="ko-KR" altLang="en-US" sz="5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수익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latinLnBrk="1" hangingPunct="1"/>
                      <a:r>
                        <a:rPr lang="en-US" altLang="ko-KR" sz="5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10,220,000</a:t>
                      </a:r>
                      <a:endParaRPr lang="ko-KR" altLang="en-US" sz="50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281428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5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③총 수익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latinLnBrk="1" hangingPunct="1"/>
                      <a:r>
                        <a:rPr lang="en-US" altLang="ko-KR" sz="5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22,995,000</a:t>
                      </a:r>
                      <a:endParaRPr lang="ko-KR" altLang="en-US" sz="50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739032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5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고객 정산 금액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5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496938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5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④수익배분 계</a:t>
                      </a:r>
                      <a:endParaRPr lang="en-US" altLang="ko-KR" sz="50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4,599,000</a:t>
                      </a:r>
                      <a:endParaRPr lang="ko-KR" altLang="en-US" sz="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6859019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5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부가가치세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459,906</a:t>
                      </a:r>
                      <a:endParaRPr lang="ko-KR" altLang="en-US" sz="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371766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원단위절사</a:t>
                      </a:r>
                      <a:endParaRPr lang="ko-KR" altLang="en-US" sz="5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5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-6</a:t>
                      </a:r>
                      <a:endParaRPr lang="ko-KR" altLang="en-US" sz="500" b="1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4456658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청구금액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6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5,058,900</a:t>
                      </a:r>
                      <a:endParaRPr lang="ko-KR" altLang="en-US" sz="6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52105426"/>
                  </a:ext>
                </a:extLst>
              </a:tr>
            </a:tbl>
          </a:graphicData>
        </a:graphic>
      </p:graphicFrame>
      <p:graphicFrame>
        <p:nvGraphicFramePr>
          <p:cNvPr id="43" name="표 42">
            <a:extLst>
              <a:ext uri="{FF2B5EF4-FFF2-40B4-BE49-F238E27FC236}">
                <a16:creationId xmlns:a16="http://schemas.microsoft.com/office/drawing/2014/main" id="{31B67689-AF51-4F05-9051-5985A3C6F74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86808516"/>
              </p:ext>
            </p:extLst>
          </p:nvPr>
        </p:nvGraphicFramePr>
        <p:xfrm>
          <a:off x="4528778" y="1809367"/>
          <a:ext cx="2070122" cy="1524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28278">
                  <a:extLst>
                    <a:ext uri="{9D8B030D-6E8A-4147-A177-3AD203B41FA5}">
                      <a16:colId xmlns:a16="http://schemas.microsoft.com/office/drawing/2014/main" val="3299530404"/>
                    </a:ext>
                  </a:extLst>
                </a:gridCol>
                <a:gridCol w="1141844">
                  <a:extLst>
                    <a:ext uri="{9D8B030D-6E8A-4147-A177-3AD203B41FA5}">
                      <a16:colId xmlns:a16="http://schemas.microsoft.com/office/drawing/2014/main" val="2151460281"/>
                    </a:ext>
                  </a:extLst>
                </a:gridCol>
              </a:tblGrid>
              <a:tr h="190500"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5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구분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5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내용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02826666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5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총 발전량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5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127,750 kWh</a:t>
                      </a:r>
                      <a:endParaRPr lang="ko-KR" altLang="en-US" sz="50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6729986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5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SMP </a:t>
                      </a:r>
                      <a:r>
                        <a:rPr lang="ko-KR" altLang="en-US" sz="5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거래량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5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127,750 kWh</a:t>
                      </a:r>
                      <a:endParaRPr lang="ko-KR" altLang="en-US" sz="50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57985902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5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SMP</a:t>
                      </a:r>
                      <a:r>
                        <a:rPr lang="ko-KR" altLang="en-US" sz="5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단가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5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80</a:t>
                      </a:r>
                      <a:endParaRPr lang="ko-KR" altLang="en-US" sz="50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41708021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5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REC </a:t>
                      </a:r>
                      <a:r>
                        <a:rPr lang="ko-KR" altLang="en-US" sz="5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거래량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5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127.75 kWh</a:t>
                      </a:r>
                      <a:endParaRPr lang="ko-KR" altLang="en-US" sz="50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28142833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5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REC </a:t>
                      </a:r>
                      <a:r>
                        <a:rPr lang="ko-KR" altLang="en-US" sz="5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단가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5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100,000</a:t>
                      </a:r>
                      <a:endParaRPr lang="ko-KR" altLang="en-US" sz="50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90642322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5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REC </a:t>
                      </a:r>
                      <a:r>
                        <a:rPr lang="ko-KR" altLang="en-US" sz="5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가중치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5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  <a:endParaRPr lang="ko-KR" altLang="en-US" sz="50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7390320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5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수익 배분 </a:t>
                      </a:r>
                      <a:r>
                        <a:rPr lang="en-US" altLang="ko-KR" sz="5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(%)</a:t>
                      </a:r>
                      <a:endParaRPr lang="ko-KR" altLang="en-US" sz="50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5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</a:t>
                      </a:r>
                      <a:endParaRPr lang="ko-KR" altLang="en-US" sz="50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19922688"/>
                  </a:ext>
                </a:extLst>
              </a:tr>
            </a:tbl>
          </a:graphicData>
        </a:graphic>
      </p:graphicFrame>
      <p:sp>
        <p:nvSpPr>
          <p:cNvPr id="44" name="TextBox 43">
            <a:extLst>
              <a:ext uri="{FF2B5EF4-FFF2-40B4-BE49-F238E27FC236}">
                <a16:creationId xmlns:a16="http://schemas.microsoft.com/office/drawing/2014/main" id="{7A868FF5-0FB7-4E01-8A7F-94DD0A7A1C17}"/>
              </a:ext>
            </a:extLst>
          </p:cNvPr>
          <p:cNvSpPr txBox="1"/>
          <p:nvPr/>
        </p:nvSpPr>
        <p:spPr>
          <a:xfrm>
            <a:off x="2314306" y="4581128"/>
            <a:ext cx="1886356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6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4. </a:t>
            </a:r>
            <a:r>
              <a:rPr lang="ko-KR" altLang="en-US" sz="6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납입 정보</a:t>
            </a:r>
          </a:p>
        </p:txBody>
      </p:sp>
      <p:graphicFrame>
        <p:nvGraphicFramePr>
          <p:cNvPr id="45" name="표 44">
            <a:extLst>
              <a:ext uri="{FF2B5EF4-FFF2-40B4-BE49-F238E27FC236}">
                <a16:creationId xmlns:a16="http://schemas.microsoft.com/office/drawing/2014/main" id="{CCDBCD82-06F7-4DAF-A98B-F44F0783682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17514414"/>
              </p:ext>
            </p:extLst>
          </p:nvPr>
        </p:nvGraphicFramePr>
        <p:xfrm>
          <a:off x="2274555" y="4788783"/>
          <a:ext cx="2113799" cy="55902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47068">
                  <a:extLst>
                    <a:ext uri="{9D8B030D-6E8A-4147-A177-3AD203B41FA5}">
                      <a16:colId xmlns:a16="http://schemas.microsoft.com/office/drawing/2014/main" val="2143136556"/>
                    </a:ext>
                  </a:extLst>
                </a:gridCol>
                <a:gridCol w="1166731">
                  <a:extLst>
                    <a:ext uri="{9D8B030D-6E8A-4147-A177-3AD203B41FA5}">
                      <a16:colId xmlns:a16="http://schemas.microsoft.com/office/drawing/2014/main" val="3299530404"/>
                    </a:ext>
                  </a:extLst>
                </a:gridCol>
              </a:tblGrid>
              <a:tr h="18634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b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청구 금액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5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5,058,900</a:t>
                      </a:r>
                      <a:endParaRPr lang="ko-KR" altLang="en-US" sz="5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6729986"/>
                  </a:ext>
                </a:extLst>
              </a:tr>
              <a:tr h="18634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b="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은행명</a:t>
                      </a:r>
                      <a:endParaRPr lang="ko-KR" altLang="en-US" sz="500" b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b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우리은행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28142833"/>
                  </a:ext>
                </a:extLst>
              </a:tr>
              <a:tr h="18634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계좌번호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1005 – 802 - 498030</a:t>
                      </a:r>
                      <a:endParaRPr lang="ko-KR" altLang="en-US" sz="5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7390320"/>
                  </a:ext>
                </a:extLst>
              </a:tr>
            </a:tbl>
          </a:graphicData>
        </a:graphic>
      </p:graphicFrame>
      <p:graphicFrame>
        <p:nvGraphicFramePr>
          <p:cNvPr id="46" name="표 45">
            <a:extLst>
              <a:ext uri="{FF2B5EF4-FFF2-40B4-BE49-F238E27FC236}">
                <a16:creationId xmlns:a16="http://schemas.microsoft.com/office/drawing/2014/main" id="{25AC58E8-2CB2-488A-A95B-CCCC55EB115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97780992"/>
              </p:ext>
            </p:extLst>
          </p:nvPr>
        </p:nvGraphicFramePr>
        <p:xfrm>
          <a:off x="2276500" y="3628633"/>
          <a:ext cx="4332684" cy="838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20316">
                  <a:extLst>
                    <a:ext uri="{9D8B030D-6E8A-4147-A177-3AD203B41FA5}">
                      <a16:colId xmlns:a16="http://schemas.microsoft.com/office/drawing/2014/main" val="2143136556"/>
                    </a:ext>
                  </a:extLst>
                </a:gridCol>
                <a:gridCol w="3312368">
                  <a:extLst>
                    <a:ext uri="{9D8B030D-6E8A-4147-A177-3AD203B41FA5}">
                      <a16:colId xmlns:a16="http://schemas.microsoft.com/office/drawing/2014/main" val="329953040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5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구분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5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계산 내역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8788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5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①</a:t>
                      </a:r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REC</a:t>
                      </a:r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수익</a:t>
                      </a:r>
                      <a:endParaRPr lang="en-US" altLang="ko-KR" sz="5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5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REC </a:t>
                      </a:r>
                      <a:r>
                        <a:rPr lang="ko-KR" altLang="en-US" sz="5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거래량</a:t>
                      </a:r>
                      <a:r>
                        <a:rPr lang="en-US" altLang="ko-KR" sz="5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x REC </a:t>
                      </a:r>
                      <a:r>
                        <a:rPr lang="ko-KR" altLang="en-US" sz="5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단가 </a:t>
                      </a:r>
                      <a:r>
                        <a:rPr lang="en-US" altLang="ko-KR" sz="5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(217.75 x 100,000)</a:t>
                      </a:r>
                      <a:endParaRPr lang="ko-KR" altLang="en-US" sz="50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496938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5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②</a:t>
                      </a:r>
                      <a:r>
                        <a:rPr lang="en-US" altLang="ko-KR" sz="5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SMP </a:t>
                      </a:r>
                      <a:r>
                        <a:rPr lang="ko-KR" altLang="en-US" sz="5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수익</a:t>
                      </a:r>
                      <a:endParaRPr lang="en-US" altLang="ko-KR" sz="5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50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연간발전량</a:t>
                      </a:r>
                      <a:r>
                        <a:rPr lang="en-US" altLang="ko-KR" sz="5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(kWh) x SMP</a:t>
                      </a:r>
                      <a:r>
                        <a:rPr lang="ko-KR" altLang="en-US" sz="5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단가 </a:t>
                      </a:r>
                      <a:r>
                        <a:rPr lang="en-US" altLang="ko-KR" sz="5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(127,750 x 80)</a:t>
                      </a:r>
                      <a:endParaRPr lang="ko-KR" altLang="en-US" sz="50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7235805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5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③총</a:t>
                      </a:r>
                      <a:r>
                        <a:rPr lang="en-US" altLang="ko-KR" sz="5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5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수익</a:t>
                      </a:r>
                      <a:endParaRPr lang="en-US" altLang="ko-KR" sz="5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5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①</a:t>
                      </a:r>
                      <a:r>
                        <a:rPr lang="en-US" altLang="ko-KR" sz="5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REC </a:t>
                      </a:r>
                      <a:r>
                        <a:rPr lang="ko-KR" altLang="en-US" sz="5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수익 </a:t>
                      </a:r>
                      <a:r>
                        <a:rPr lang="en-US" altLang="ko-KR" sz="5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+ </a:t>
                      </a:r>
                      <a:r>
                        <a:rPr lang="ko-KR" altLang="en-US" sz="5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②</a:t>
                      </a:r>
                      <a:r>
                        <a:rPr lang="en-US" altLang="ko-KR" sz="5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SMP </a:t>
                      </a:r>
                      <a:r>
                        <a:rPr lang="ko-KR" altLang="en-US" sz="5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수익 </a:t>
                      </a:r>
                      <a:r>
                        <a:rPr lang="en-US" altLang="ko-KR" sz="5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(12,775,000</a:t>
                      </a:r>
                      <a:r>
                        <a:rPr lang="ko-KR" altLang="en-US" sz="5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5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+</a:t>
                      </a:r>
                      <a:r>
                        <a:rPr lang="ko-KR" altLang="en-US" sz="5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5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10,220,000)</a:t>
                      </a:r>
                      <a:endParaRPr lang="ko-KR" altLang="en-US" sz="50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022110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5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④수익배분 계</a:t>
                      </a:r>
                      <a:endParaRPr lang="en-US" altLang="ko-KR" sz="5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5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③총</a:t>
                      </a:r>
                      <a:r>
                        <a:rPr lang="en-US" altLang="ko-KR" sz="5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5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수익 </a:t>
                      </a:r>
                      <a:r>
                        <a:rPr lang="en-US" altLang="ko-KR" sz="5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x </a:t>
                      </a:r>
                      <a:r>
                        <a:rPr lang="ko-KR" altLang="en-US" sz="5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수익 배분 </a:t>
                      </a:r>
                      <a:r>
                        <a:rPr lang="en-US" altLang="ko-KR" sz="5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(22,995,000</a:t>
                      </a:r>
                      <a:r>
                        <a:rPr lang="ko-KR" altLang="en-US" sz="5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5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x 0.2)</a:t>
                      </a:r>
                      <a:endParaRPr lang="ko-KR" altLang="en-US" sz="50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6590134"/>
                  </a:ext>
                </a:extLst>
              </a:tr>
            </a:tbl>
          </a:graphicData>
        </a:graphic>
      </p:graphicFrame>
      <p:sp>
        <p:nvSpPr>
          <p:cNvPr id="48" name="TextBox 47">
            <a:extLst>
              <a:ext uri="{FF2B5EF4-FFF2-40B4-BE49-F238E27FC236}">
                <a16:creationId xmlns:a16="http://schemas.microsoft.com/office/drawing/2014/main" id="{B07EAF56-3F1B-4153-86EF-4C600210B624}"/>
              </a:ext>
            </a:extLst>
          </p:cNvPr>
          <p:cNvSpPr txBox="1"/>
          <p:nvPr/>
        </p:nvSpPr>
        <p:spPr>
          <a:xfrm>
            <a:off x="2276004" y="3401621"/>
            <a:ext cx="107446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6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3. </a:t>
            </a:r>
            <a:r>
              <a:rPr lang="ko-KR" altLang="en-US" sz="6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수익분배 계산 내역</a:t>
            </a:r>
          </a:p>
        </p:txBody>
      </p:sp>
      <p:graphicFrame>
        <p:nvGraphicFramePr>
          <p:cNvPr id="49" name="표 48">
            <a:extLst>
              <a:ext uri="{FF2B5EF4-FFF2-40B4-BE49-F238E27FC236}">
                <a16:creationId xmlns:a16="http://schemas.microsoft.com/office/drawing/2014/main" id="{A059C01B-B493-4CFB-9766-F790B03A8E5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64907785"/>
              </p:ext>
            </p:extLst>
          </p:nvPr>
        </p:nvGraphicFramePr>
        <p:xfrm>
          <a:off x="4388354" y="4788783"/>
          <a:ext cx="2205300" cy="55902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88064">
                  <a:extLst>
                    <a:ext uri="{9D8B030D-6E8A-4147-A177-3AD203B41FA5}">
                      <a16:colId xmlns:a16="http://schemas.microsoft.com/office/drawing/2014/main" val="2143136556"/>
                    </a:ext>
                  </a:extLst>
                </a:gridCol>
                <a:gridCol w="1217236">
                  <a:extLst>
                    <a:ext uri="{9D8B030D-6E8A-4147-A177-3AD203B41FA5}">
                      <a16:colId xmlns:a16="http://schemas.microsoft.com/office/drawing/2014/main" val="3299530404"/>
                    </a:ext>
                  </a:extLst>
                </a:gridCol>
              </a:tblGrid>
              <a:tr h="18634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예금주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한국동서발전</a:t>
                      </a:r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㈜</a:t>
                      </a:r>
                      <a:endParaRPr lang="en-US" altLang="ko-KR" sz="5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6729986"/>
                  </a:ext>
                </a:extLst>
              </a:tr>
              <a:tr h="18634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납입금액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30,439,360</a:t>
                      </a:r>
                      <a:endParaRPr lang="ko-KR" altLang="en-US" sz="5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28142833"/>
                  </a:ext>
                </a:extLst>
              </a:tr>
              <a:tr h="18634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납기일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2018-06-24</a:t>
                      </a:r>
                      <a:endParaRPr lang="ko-KR" altLang="en-US" sz="5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7390320"/>
                  </a:ext>
                </a:extLst>
              </a:tr>
            </a:tbl>
          </a:graphicData>
        </a:graphic>
      </p:graphicFrame>
      <p:sp>
        <p:nvSpPr>
          <p:cNvPr id="50" name="타원형 설명선 226">
            <a:extLst>
              <a:ext uri="{FF2B5EF4-FFF2-40B4-BE49-F238E27FC236}">
                <a16:creationId xmlns:a16="http://schemas.microsoft.com/office/drawing/2014/main" id="{80CB27C4-F50B-476B-9FEA-4D2D5FC660EC}"/>
              </a:ext>
            </a:extLst>
          </p:cNvPr>
          <p:cNvSpPr/>
          <p:nvPr/>
        </p:nvSpPr>
        <p:spPr>
          <a:xfrm>
            <a:off x="1890853" y="5301232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1" name="타원형 설명선 243">
            <a:extLst>
              <a:ext uri="{FF2B5EF4-FFF2-40B4-BE49-F238E27FC236}">
                <a16:creationId xmlns:a16="http://schemas.microsoft.com/office/drawing/2014/main" id="{11725DE3-ACD4-439E-AAEA-40D2EE0ACAF1}"/>
              </a:ext>
            </a:extLst>
          </p:cNvPr>
          <p:cNvSpPr/>
          <p:nvPr/>
        </p:nvSpPr>
        <p:spPr>
          <a:xfrm>
            <a:off x="5199751" y="5300611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2" name="타원형 설명선 244">
            <a:extLst>
              <a:ext uri="{FF2B5EF4-FFF2-40B4-BE49-F238E27FC236}">
                <a16:creationId xmlns:a16="http://schemas.microsoft.com/office/drawing/2014/main" id="{8DB86A8B-75FD-4730-9F27-2EAADD1A6C47}"/>
              </a:ext>
            </a:extLst>
          </p:cNvPr>
          <p:cNvSpPr/>
          <p:nvPr/>
        </p:nvSpPr>
        <p:spPr>
          <a:xfrm>
            <a:off x="3095845" y="5300611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3" name="타원형 설명선 225">
            <a:extLst>
              <a:ext uri="{FF2B5EF4-FFF2-40B4-BE49-F238E27FC236}">
                <a16:creationId xmlns:a16="http://schemas.microsoft.com/office/drawing/2014/main" id="{F867C211-3075-41D2-A13A-6D81A1AA4DB5}"/>
              </a:ext>
            </a:extLst>
          </p:cNvPr>
          <p:cNvSpPr/>
          <p:nvPr/>
        </p:nvSpPr>
        <p:spPr>
          <a:xfrm>
            <a:off x="1911319" y="803668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149961982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>
            <a:extLst>
              <a:ext uri="{FF2B5EF4-FFF2-40B4-BE49-F238E27FC236}">
                <a16:creationId xmlns:a16="http://schemas.microsoft.com/office/drawing/2014/main" id="{11B1EB27-3DFA-4C9B-B6A6-A2D05EC26A8D}"/>
              </a:ext>
            </a:extLst>
          </p:cNvPr>
          <p:cNvSpPr/>
          <p:nvPr/>
        </p:nvSpPr>
        <p:spPr>
          <a:xfrm>
            <a:off x="135592" y="681248"/>
            <a:ext cx="8202089" cy="6092090"/>
          </a:xfrm>
          <a:prstGeom prst="rect">
            <a:avLst/>
          </a:prstGeom>
          <a:solidFill>
            <a:schemeClr val="bg1"/>
          </a:solidFill>
          <a:ln w="1270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9104309" y="6645875"/>
            <a:ext cx="140029" cy="138499"/>
          </a:xfrm>
        </p:spPr>
        <p:txBody>
          <a:bodyPr/>
          <a:lstStyle/>
          <a:p>
            <a:pPr>
              <a:defRPr/>
            </a:pPr>
            <a:fld id="{9E41B634-5682-4388-99E7-FE44DCFD254B}" type="slidenum">
              <a:rPr lang="ko-KR" altLang="en-US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>
                <a:defRPr/>
              </a:pPr>
              <a:t>50</a:t>
            </a:fld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텍스트 개체 틀 8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Site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 &gt;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요금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/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수익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&gt;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통합 명세서 확인 및 출력</a:t>
            </a:r>
          </a:p>
        </p:txBody>
      </p:sp>
      <p:sp>
        <p:nvSpPr>
          <p:cNvPr id="10" name="텍스트 개체 틀 9"/>
          <p:cNvSpPr>
            <a:spLocks noGrp="1"/>
          </p:cNvSpPr>
          <p:nvPr>
            <p:ph type="body" sz="quarter" idx="10"/>
          </p:nvPr>
        </p:nvSpPr>
        <p:spPr>
          <a:xfrm>
            <a:off x="6023595" y="44624"/>
            <a:ext cx="1233661" cy="196974"/>
          </a:xfrm>
        </p:spPr>
        <p:txBody>
          <a:bodyPr/>
          <a:lstStyle/>
          <a:p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통합 명세서 확인</a:t>
            </a:r>
          </a:p>
        </p:txBody>
      </p:sp>
      <p:graphicFrame>
        <p:nvGraphicFramePr>
          <p:cNvPr id="102" name="Group 15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85579310"/>
              </p:ext>
            </p:extLst>
          </p:nvPr>
        </p:nvGraphicFramePr>
        <p:xfrm>
          <a:off x="8469313" y="276225"/>
          <a:ext cx="1404000" cy="2808576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3002"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Description</a:t>
                      </a: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명세서 표시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1)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통합 명세서를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2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PDF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로 저장하기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현재 구성된 화면을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PDF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로 저장한다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.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3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프린터로 인쇄하기</a:t>
                      </a:r>
                      <a:endParaRPr lang="en-US" altLang="ko-KR" sz="800" b="1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현재 구성된 화면을 </a:t>
                      </a: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PC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상에 설정 및 연결된 프린터를 통해 인쇄한다</a:t>
                      </a: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.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4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닫기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명세서 확인 및 출력 화면 종료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8304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*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통합 명세서 구성 협의 후 업데이트 예정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8304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*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통합 명세서 출력 화면 접근 경로 검토 진행 중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48639392"/>
                  </a:ext>
                </a:extLst>
              </a:tr>
            </a:tbl>
          </a:graphicData>
        </a:graphic>
      </p:graphicFrame>
      <p:sp>
        <p:nvSpPr>
          <p:cNvPr id="78" name="TextBox 77"/>
          <p:cNvSpPr txBox="1"/>
          <p:nvPr/>
        </p:nvSpPr>
        <p:spPr>
          <a:xfrm>
            <a:off x="7121707" y="21349"/>
            <a:ext cx="567597" cy="2308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화면</a:t>
            </a:r>
            <a:r>
              <a:rPr lang="en-US" altLang="ko-KR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ID</a:t>
            </a:r>
            <a:endParaRPr lang="ko-KR" altLang="en-US" sz="9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7689304" y="43659"/>
            <a:ext cx="792088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itchFamily="50" charset="-127"/>
                <a:ea typeface="맑은 고딕" pitchFamily="50" charset="-127"/>
              </a:rPr>
              <a:t>ewpsp_scr_033</a:t>
            </a:r>
            <a:endParaRPr lang="ko-KR" altLang="en-US" sz="70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06" name="타원형 설명선 205"/>
          <p:cNvSpPr/>
          <p:nvPr/>
        </p:nvSpPr>
        <p:spPr>
          <a:xfrm>
            <a:off x="-788740" y="2744866"/>
            <a:ext cx="216000" cy="216000"/>
          </a:xfrm>
          <a:prstGeom prst="wedgeEllipseCallout">
            <a:avLst>
              <a:gd name="adj1" fmla="val 74230"/>
              <a:gd name="adj2" fmla="val 21822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/>
              <a:t>9</a:t>
            </a:r>
            <a:endParaRPr lang="ko-KR" altLang="en-US" sz="900" b="1" dirty="0"/>
          </a:p>
        </p:txBody>
      </p:sp>
      <p:sp>
        <p:nvSpPr>
          <p:cNvPr id="226" name="타원형 설명선 225"/>
          <p:cNvSpPr/>
          <p:nvPr/>
        </p:nvSpPr>
        <p:spPr>
          <a:xfrm>
            <a:off x="-834519" y="3213000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27" name="타원형 설명선 226"/>
          <p:cNvSpPr/>
          <p:nvPr/>
        </p:nvSpPr>
        <p:spPr>
          <a:xfrm>
            <a:off x="-788740" y="1884839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4" name="타원형 설명선 243"/>
          <p:cNvSpPr/>
          <p:nvPr/>
        </p:nvSpPr>
        <p:spPr>
          <a:xfrm>
            <a:off x="-796619" y="2150818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5" name="타원형 설명선 244"/>
          <p:cNvSpPr/>
          <p:nvPr/>
        </p:nvSpPr>
        <p:spPr>
          <a:xfrm>
            <a:off x="-808982" y="3727293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6" name="타원형 설명선 245"/>
          <p:cNvSpPr/>
          <p:nvPr/>
        </p:nvSpPr>
        <p:spPr>
          <a:xfrm>
            <a:off x="-808982" y="4273670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7" name="타원형 설명선 246"/>
          <p:cNvSpPr/>
          <p:nvPr/>
        </p:nvSpPr>
        <p:spPr>
          <a:xfrm>
            <a:off x="-796619" y="1324215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7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8" name="타원형 설명선 247"/>
          <p:cNvSpPr/>
          <p:nvPr/>
        </p:nvSpPr>
        <p:spPr>
          <a:xfrm>
            <a:off x="-796619" y="1576196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8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66" name="타원형 설명선 265"/>
          <p:cNvSpPr/>
          <p:nvPr/>
        </p:nvSpPr>
        <p:spPr>
          <a:xfrm>
            <a:off x="-786711" y="2456904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6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3" name="타원형 설명선 225">
            <a:extLst>
              <a:ext uri="{FF2B5EF4-FFF2-40B4-BE49-F238E27FC236}">
                <a16:creationId xmlns:a16="http://schemas.microsoft.com/office/drawing/2014/main" id="{93402A8C-F86A-4207-9226-F02BE6AB6E19}"/>
              </a:ext>
            </a:extLst>
          </p:cNvPr>
          <p:cNvSpPr/>
          <p:nvPr/>
        </p:nvSpPr>
        <p:spPr>
          <a:xfrm>
            <a:off x="-667135" y="976983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9" name="Picture 2">
            <a:extLst>
              <a:ext uri="{FF2B5EF4-FFF2-40B4-BE49-F238E27FC236}">
                <a16:creationId xmlns:a16="http://schemas.microsoft.com/office/drawing/2014/main" id="{6FBB0165-03FF-4BBD-A158-8DEF923CF53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464" y="343504"/>
            <a:ext cx="8208912" cy="3487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1" name="직사각형 20">
            <a:extLst>
              <a:ext uri="{FF2B5EF4-FFF2-40B4-BE49-F238E27FC236}">
                <a16:creationId xmlns:a16="http://schemas.microsoft.com/office/drawing/2014/main" id="{5E84417E-CAA5-4FD3-BBB9-7CD5570EF571}"/>
              </a:ext>
            </a:extLst>
          </p:cNvPr>
          <p:cNvSpPr/>
          <p:nvPr/>
        </p:nvSpPr>
        <p:spPr>
          <a:xfrm>
            <a:off x="216314" y="777814"/>
            <a:ext cx="2216405" cy="288032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>
              <a:lnSpc>
                <a:spcPct val="150000"/>
              </a:lnSpc>
            </a:pPr>
            <a:r>
              <a:rPr lang="ko-KR" altLang="en-US" sz="100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통합 명세서 확인 및 출력</a:t>
            </a:r>
          </a:p>
        </p:txBody>
      </p:sp>
      <p:pic>
        <p:nvPicPr>
          <p:cNvPr id="47" name="Picture 2" descr="ì¤ì ì ëí ì´ë¯¸ì§ ê²ìê²°ê³¼">
            <a:extLst>
              <a:ext uri="{FF2B5EF4-FFF2-40B4-BE49-F238E27FC236}">
                <a16:creationId xmlns:a16="http://schemas.microsoft.com/office/drawing/2014/main" id="{90A888AD-844A-4544-B02A-A77BC3397C7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05865" y="425148"/>
            <a:ext cx="198592" cy="19859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직사각형 2">
            <a:extLst>
              <a:ext uri="{FF2B5EF4-FFF2-40B4-BE49-F238E27FC236}">
                <a16:creationId xmlns:a16="http://schemas.microsoft.com/office/drawing/2014/main" id="{B2C5C60E-7747-4016-AE8A-04E934E77802}"/>
              </a:ext>
            </a:extLst>
          </p:cNvPr>
          <p:cNvSpPr/>
          <p:nvPr/>
        </p:nvSpPr>
        <p:spPr>
          <a:xfrm>
            <a:off x="2144688" y="777814"/>
            <a:ext cx="4608512" cy="5868061"/>
          </a:xfrm>
          <a:prstGeom prst="rect">
            <a:avLst/>
          </a:prstGeom>
          <a:solidFill>
            <a:schemeClr val="bg1"/>
          </a:solidFill>
          <a:ln w="1270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grpSp>
        <p:nvGrpSpPr>
          <p:cNvPr id="26" name="그룹 25">
            <a:extLst>
              <a:ext uri="{FF2B5EF4-FFF2-40B4-BE49-F238E27FC236}">
                <a16:creationId xmlns:a16="http://schemas.microsoft.com/office/drawing/2014/main" id="{AAD329AB-F121-464D-BA89-F227BA97A70B}"/>
              </a:ext>
            </a:extLst>
          </p:cNvPr>
          <p:cNvGrpSpPr/>
          <p:nvPr/>
        </p:nvGrpSpPr>
        <p:grpSpPr>
          <a:xfrm>
            <a:off x="2162704" y="6237312"/>
            <a:ext cx="4488118" cy="323428"/>
            <a:chOff x="2162704" y="5301208"/>
            <a:chExt cx="4488118" cy="323428"/>
          </a:xfrm>
        </p:grpSpPr>
        <p:pic>
          <p:nvPicPr>
            <p:cNvPr id="27" name="Picture 4" descr="ì¸ìì ëí ì´ë¯¸ì§ ê²ìê²°ê³¼">
              <a:extLst>
                <a:ext uri="{FF2B5EF4-FFF2-40B4-BE49-F238E27FC236}">
                  <a16:creationId xmlns:a16="http://schemas.microsoft.com/office/drawing/2014/main" id="{BFDF783E-718B-43D7-843F-D530A429E87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50465" y="5336922"/>
              <a:ext cx="252000" cy="2520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8" name="Picture 6" descr="pdfì ëí ì´ë¯¸ì§ ê²ìê²°ê³¼">
              <a:extLst>
                <a:ext uri="{FF2B5EF4-FFF2-40B4-BE49-F238E27FC236}">
                  <a16:creationId xmlns:a16="http://schemas.microsoft.com/office/drawing/2014/main" id="{1E17A422-F987-43A1-A6E3-1BCF9FB338E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162704" y="5336922"/>
              <a:ext cx="252000" cy="2520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9" name="직사각형 28">
              <a:extLst>
                <a:ext uri="{FF2B5EF4-FFF2-40B4-BE49-F238E27FC236}">
                  <a16:creationId xmlns:a16="http://schemas.microsoft.com/office/drawing/2014/main" id="{5EE51833-1CA9-481F-9795-90D4F9DEE1CA}"/>
                </a:ext>
              </a:extLst>
            </p:cNvPr>
            <p:cNvSpPr/>
            <p:nvPr/>
          </p:nvSpPr>
          <p:spPr>
            <a:xfrm>
              <a:off x="5490371" y="5301208"/>
              <a:ext cx="1160451" cy="323428"/>
            </a:xfrm>
            <a:prstGeom prst="rect">
              <a:avLst/>
            </a:prstGeom>
            <a:solidFill>
              <a:srgbClr val="0099FF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 algn="ctr">
                <a:lnSpc>
                  <a:spcPct val="150000"/>
                </a:lnSpc>
              </a:pPr>
              <a:r>
                <a:rPr lang="ko-KR" altLang="en-US" sz="105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닫기</a:t>
              </a: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4EDFFBB2-3534-4DA7-BFBC-6199F7BBF0BA}"/>
                </a:ext>
              </a:extLst>
            </p:cNvPr>
            <p:cNvSpPr txBox="1"/>
            <p:nvPr/>
          </p:nvSpPr>
          <p:spPr>
            <a:xfrm>
              <a:off x="2401165" y="5355200"/>
              <a:ext cx="949300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PDF</a:t>
              </a: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로</a:t>
              </a:r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저장하기</a:t>
              </a: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97A173E1-5984-4F7E-9814-EF15BA907159}"/>
                </a:ext>
              </a:extLst>
            </p:cNvPr>
            <p:cNvSpPr txBox="1"/>
            <p:nvPr/>
          </p:nvSpPr>
          <p:spPr>
            <a:xfrm>
              <a:off x="3633103" y="5355200"/>
              <a:ext cx="1160450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프린터로 인쇄하기</a:t>
              </a:r>
            </a:p>
          </p:txBody>
        </p:sp>
      </p:grpSp>
      <p:sp>
        <p:nvSpPr>
          <p:cNvPr id="32" name="TextBox 31">
            <a:extLst>
              <a:ext uri="{FF2B5EF4-FFF2-40B4-BE49-F238E27FC236}">
                <a16:creationId xmlns:a16="http://schemas.microsoft.com/office/drawing/2014/main" id="{9DDE9934-E94E-4DBF-8628-7007CD3A2270}"/>
              </a:ext>
            </a:extLst>
          </p:cNvPr>
          <p:cNvSpPr txBox="1"/>
          <p:nvPr/>
        </p:nvSpPr>
        <p:spPr>
          <a:xfrm>
            <a:off x="2360712" y="873578"/>
            <a:ext cx="4176464" cy="230832"/>
          </a:xfrm>
          <a:prstGeom prst="rect">
            <a:avLst/>
          </a:prstGeom>
          <a:noFill/>
          <a:ln>
            <a:solidFill>
              <a:schemeClr val="bg1">
                <a:lumMod val="50000"/>
              </a:schemeClr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종합</a:t>
            </a:r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에너지절감 솔루션 제공 전기요금 절감 수익 배분 청구서 </a:t>
            </a:r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(’18</a:t>
            </a:r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년 </a:t>
            </a:r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</a:t>
            </a:r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월</a:t>
            </a:r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492E9F80-BD9F-4193-BBF9-50D77DD37414}"/>
              </a:ext>
            </a:extLst>
          </p:cNvPr>
          <p:cNvSpPr txBox="1"/>
          <p:nvPr/>
        </p:nvSpPr>
        <p:spPr>
          <a:xfrm>
            <a:off x="5780695" y="1106155"/>
            <a:ext cx="828489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5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청구일 </a:t>
            </a:r>
            <a:r>
              <a:rPr lang="en-US" altLang="ko-KR" sz="5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: 2018-07-20</a:t>
            </a:r>
            <a:endParaRPr lang="ko-KR" altLang="en-US" sz="5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687BF653-D90F-4336-986A-DF0116B39408}"/>
              </a:ext>
            </a:extLst>
          </p:cNvPr>
          <p:cNvSpPr txBox="1"/>
          <p:nvPr/>
        </p:nvSpPr>
        <p:spPr>
          <a:xfrm>
            <a:off x="2288704" y="1106155"/>
            <a:ext cx="828489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5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고객명 </a:t>
            </a:r>
            <a:r>
              <a:rPr lang="en-US" altLang="ko-KR" sz="5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: </a:t>
            </a:r>
            <a:r>
              <a:rPr lang="ko-KR" altLang="en-US" sz="5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고객</a:t>
            </a:r>
            <a:r>
              <a:rPr lang="en-US" altLang="ko-KR" sz="5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Site_1</a:t>
            </a:r>
            <a:endParaRPr lang="ko-KR" altLang="en-US" sz="5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B3FCBA45-9DED-4DBF-9C6A-AF05FE873DAF}"/>
              </a:ext>
            </a:extLst>
          </p:cNvPr>
          <p:cNvSpPr txBox="1"/>
          <p:nvPr/>
        </p:nvSpPr>
        <p:spPr>
          <a:xfrm>
            <a:off x="4016896" y="1240893"/>
            <a:ext cx="2376264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이번 달 청구 금액은     </a:t>
            </a:r>
            <a:r>
              <a:rPr lang="en-US" altLang="ko-KR" sz="900" dirty="0">
                <a:solidFill>
                  <a:srgbClr val="0070C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37,938,260</a:t>
            </a: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 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원 입니다</a:t>
            </a: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.</a:t>
            </a:r>
            <a:endParaRPr lang="ko-KR" altLang="en-US" sz="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37ED4949-BBE5-4E36-8660-66EDFFF41FA3}"/>
              </a:ext>
            </a:extLst>
          </p:cNvPr>
          <p:cNvSpPr txBox="1"/>
          <p:nvPr/>
        </p:nvSpPr>
        <p:spPr>
          <a:xfrm>
            <a:off x="4880992" y="1409037"/>
            <a:ext cx="1429340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5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lang="ko-KR" altLang="en-US" sz="5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수익배분기간 </a:t>
            </a:r>
            <a:r>
              <a:rPr lang="en-US" altLang="ko-KR" sz="5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: 2018-01-01 ~ 2018-12-31)</a:t>
            </a:r>
            <a:endParaRPr lang="ko-KR" altLang="en-US" sz="5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057FFD89-A642-468B-80F6-AA5AF4474DC7}"/>
              </a:ext>
            </a:extLst>
          </p:cNvPr>
          <p:cNvSpPr txBox="1"/>
          <p:nvPr/>
        </p:nvSpPr>
        <p:spPr>
          <a:xfrm>
            <a:off x="4495984" y="1628800"/>
            <a:ext cx="1681152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6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2. </a:t>
            </a:r>
            <a:r>
              <a:rPr lang="ko-KR" altLang="en-US" sz="6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에너지 절감 솔루션 수익 분배 청구 내역 </a:t>
            </a:r>
          </a:p>
        </p:txBody>
      </p:sp>
      <p:graphicFrame>
        <p:nvGraphicFramePr>
          <p:cNvPr id="39" name="표 38">
            <a:extLst>
              <a:ext uri="{FF2B5EF4-FFF2-40B4-BE49-F238E27FC236}">
                <a16:creationId xmlns:a16="http://schemas.microsoft.com/office/drawing/2014/main" id="{1900750B-693B-4607-8913-82F79138A12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32025242"/>
              </p:ext>
            </p:extLst>
          </p:nvPr>
        </p:nvGraphicFramePr>
        <p:xfrm>
          <a:off x="4495984" y="1835688"/>
          <a:ext cx="2113200" cy="173733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46800">
                  <a:extLst>
                    <a:ext uri="{9D8B030D-6E8A-4147-A177-3AD203B41FA5}">
                      <a16:colId xmlns:a16="http://schemas.microsoft.com/office/drawing/2014/main" val="2143136556"/>
                    </a:ext>
                  </a:extLst>
                </a:gridCol>
                <a:gridCol w="583200">
                  <a:extLst>
                    <a:ext uri="{9D8B030D-6E8A-4147-A177-3AD203B41FA5}">
                      <a16:colId xmlns:a16="http://schemas.microsoft.com/office/drawing/2014/main" val="3299530404"/>
                    </a:ext>
                  </a:extLst>
                </a:gridCol>
                <a:gridCol w="583200">
                  <a:extLst>
                    <a:ext uri="{9D8B030D-6E8A-4147-A177-3AD203B41FA5}">
                      <a16:colId xmlns:a16="http://schemas.microsoft.com/office/drawing/2014/main" val="2151460281"/>
                    </a:ext>
                  </a:extLst>
                </a:gridCol>
              </a:tblGrid>
              <a:tr h="17216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구 분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절감금액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수익배분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02826666"/>
                  </a:ext>
                </a:extLst>
              </a:tr>
              <a:tr h="17216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①기본 요금 절감</a:t>
                      </a:r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피크저감</a:t>
                      </a:r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endParaRPr lang="ko-KR" altLang="en-US" sz="5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</a:t>
                      </a:r>
                      <a:endParaRPr lang="ko-KR" altLang="en-US" sz="5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</a:t>
                      </a:r>
                      <a:endParaRPr lang="ko-KR" altLang="en-US" sz="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6729986"/>
                  </a:ext>
                </a:extLst>
              </a:tr>
              <a:tr h="17216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②</a:t>
                      </a:r>
                      <a:r>
                        <a:rPr lang="ko-KR" altLang="en-US" sz="5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전려량</a:t>
                      </a:r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요금 절감</a:t>
                      </a:r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5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계시별</a:t>
                      </a:r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endParaRPr lang="ko-KR" altLang="en-US" sz="5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3,188076</a:t>
                      </a:r>
                      <a:endParaRPr lang="ko-KR" altLang="en-US" sz="5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2,869,268</a:t>
                      </a:r>
                      <a:endParaRPr lang="ko-KR" altLang="en-US" sz="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28142833"/>
                  </a:ext>
                </a:extLst>
              </a:tr>
              <a:tr h="17216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③</a:t>
                      </a:r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ESS </a:t>
                      </a:r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충전 요금 할인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2,227,088</a:t>
                      </a:r>
                      <a:endParaRPr lang="ko-KR" altLang="en-US" sz="5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2,004,379</a:t>
                      </a:r>
                      <a:endParaRPr lang="ko-KR" altLang="en-US" sz="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7390320"/>
                  </a:ext>
                </a:extLst>
              </a:tr>
              <a:tr h="17216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④</a:t>
                      </a:r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ESS </a:t>
                      </a:r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전용 요금 할인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25,311,670</a:t>
                      </a:r>
                      <a:endParaRPr lang="ko-KR" altLang="en-US" sz="5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22,798,503</a:t>
                      </a:r>
                      <a:endParaRPr lang="ko-KR" altLang="en-US" sz="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2022420"/>
                  </a:ext>
                </a:extLst>
              </a:tr>
              <a:tr h="17216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총   계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30,746,834</a:t>
                      </a:r>
                      <a:endParaRPr lang="ko-KR" altLang="en-US" sz="5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27,672,151</a:t>
                      </a:r>
                      <a:endParaRPr lang="ko-KR" altLang="en-US" sz="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49693837"/>
                  </a:ext>
                </a:extLst>
              </a:tr>
              <a:tr h="172168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수익배분 계</a:t>
                      </a:r>
                      <a:endParaRPr lang="en-US" altLang="ko-KR" sz="5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27,672,151</a:t>
                      </a:r>
                      <a:endParaRPr lang="ko-KR" altLang="en-US" sz="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68590192"/>
                  </a:ext>
                </a:extLst>
              </a:tr>
              <a:tr h="172168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부가가치세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2,767,215</a:t>
                      </a:r>
                      <a:endParaRPr lang="ko-KR" altLang="en-US" sz="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3717668"/>
                  </a:ext>
                </a:extLst>
              </a:tr>
              <a:tr h="172168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원단위절사</a:t>
                      </a:r>
                      <a:endParaRPr lang="ko-KR" altLang="en-US" sz="5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5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-6</a:t>
                      </a:r>
                      <a:endParaRPr lang="ko-KR" altLang="en-US" sz="500" b="1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44566581"/>
                  </a:ext>
                </a:extLst>
              </a:tr>
              <a:tr h="187819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청구금액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6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30,439,360</a:t>
                      </a:r>
                      <a:endParaRPr lang="ko-KR" altLang="en-US" sz="6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52105426"/>
                  </a:ext>
                </a:extLst>
              </a:tr>
            </a:tbl>
          </a:graphicData>
        </a:graphic>
      </p:graphicFrame>
      <p:sp>
        <p:nvSpPr>
          <p:cNvPr id="41" name="타원형 설명선 225">
            <a:extLst>
              <a:ext uri="{FF2B5EF4-FFF2-40B4-BE49-F238E27FC236}">
                <a16:creationId xmlns:a16="http://schemas.microsoft.com/office/drawing/2014/main" id="{5FAFC3BB-1D9B-4A7C-A618-302447B15D39}"/>
              </a:ext>
            </a:extLst>
          </p:cNvPr>
          <p:cNvSpPr/>
          <p:nvPr/>
        </p:nvSpPr>
        <p:spPr>
          <a:xfrm>
            <a:off x="1925448" y="819084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664D5D24-126F-4517-ABB4-DE52225B6B95}"/>
              </a:ext>
            </a:extLst>
          </p:cNvPr>
          <p:cNvSpPr txBox="1"/>
          <p:nvPr/>
        </p:nvSpPr>
        <p:spPr>
          <a:xfrm>
            <a:off x="2269938" y="1628800"/>
            <a:ext cx="828489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6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1. </a:t>
            </a:r>
            <a:r>
              <a:rPr lang="ko-KR" altLang="en-US" sz="6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전기요금 내역</a:t>
            </a:r>
          </a:p>
        </p:txBody>
      </p:sp>
      <p:graphicFrame>
        <p:nvGraphicFramePr>
          <p:cNvPr id="43" name="표 42">
            <a:extLst>
              <a:ext uri="{FF2B5EF4-FFF2-40B4-BE49-F238E27FC236}">
                <a16:creationId xmlns:a16="http://schemas.microsoft.com/office/drawing/2014/main" id="{B80FC621-3FF5-4A0F-896E-EC98AA6ECC7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26163774"/>
              </p:ext>
            </p:extLst>
          </p:nvPr>
        </p:nvGraphicFramePr>
        <p:xfrm>
          <a:off x="2269938" y="1835689"/>
          <a:ext cx="2113200" cy="173732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30000">
                  <a:extLst>
                    <a:ext uri="{9D8B030D-6E8A-4147-A177-3AD203B41FA5}">
                      <a16:colId xmlns:a16="http://schemas.microsoft.com/office/drawing/2014/main" val="2143136556"/>
                    </a:ext>
                  </a:extLst>
                </a:gridCol>
                <a:gridCol w="583200">
                  <a:extLst>
                    <a:ext uri="{9D8B030D-6E8A-4147-A177-3AD203B41FA5}">
                      <a16:colId xmlns:a16="http://schemas.microsoft.com/office/drawing/2014/main" val="2151460281"/>
                    </a:ext>
                  </a:extLst>
                </a:gridCol>
              </a:tblGrid>
              <a:tr h="19110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b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기본요금</a:t>
                      </a:r>
                      <a:endParaRPr lang="en-US" altLang="ko-KR" sz="500" b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10,000</a:t>
                      </a:r>
                      <a:endParaRPr lang="ko-KR" altLang="en-US" sz="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68590192"/>
                  </a:ext>
                </a:extLst>
              </a:tr>
              <a:tr h="19110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b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전력량요금</a:t>
                      </a:r>
                      <a:endParaRPr lang="en-US" altLang="ko-KR" sz="500" b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2,000,000</a:t>
                      </a:r>
                      <a:endParaRPr lang="ko-KR" altLang="en-US" sz="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1774840"/>
                  </a:ext>
                </a:extLst>
              </a:tr>
              <a:tr h="19110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b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전기요금계</a:t>
                      </a:r>
                      <a:endParaRPr lang="en-US" altLang="ko-KR" sz="500" b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2,010,000</a:t>
                      </a:r>
                      <a:endParaRPr lang="ko-KR" altLang="en-US" sz="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5126948"/>
                  </a:ext>
                </a:extLst>
              </a:tr>
              <a:tr h="19110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부가가치세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200,000</a:t>
                      </a:r>
                      <a:endParaRPr lang="ko-KR" altLang="en-US" sz="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3717668"/>
                  </a:ext>
                </a:extLst>
              </a:tr>
              <a:tr h="19110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전력기금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10,006</a:t>
                      </a:r>
                      <a:endParaRPr lang="ko-KR" altLang="en-US" sz="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2746937"/>
                  </a:ext>
                </a:extLst>
              </a:tr>
              <a:tr h="19110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원단위절사</a:t>
                      </a:r>
                      <a:endParaRPr lang="ko-KR" altLang="en-US" sz="5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5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-6</a:t>
                      </a:r>
                      <a:endParaRPr lang="ko-KR" altLang="en-US" sz="500" b="1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7259011"/>
                  </a:ext>
                </a:extLst>
              </a:tr>
              <a:tr h="19110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당월요금계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2,220,000</a:t>
                      </a:r>
                      <a:endParaRPr lang="ko-KR" altLang="en-US" sz="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706192"/>
                  </a:ext>
                </a:extLst>
              </a:tr>
              <a:tr h="19110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미납요금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</a:t>
                      </a:r>
                      <a:endParaRPr lang="ko-KR" altLang="en-US" sz="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44566581"/>
                  </a:ext>
                </a:extLst>
              </a:tr>
              <a:tr h="208479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청구금액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6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2,220,000</a:t>
                      </a:r>
                      <a:endParaRPr lang="ko-KR" altLang="en-US" sz="6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52105426"/>
                  </a:ext>
                </a:extLst>
              </a:tr>
            </a:tbl>
          </a:graphicData>
        </a:graphic>
      </p:graphicFrame>
      <p:sp>
        <p:nvSpPr>
          <p:cNvPr id="44" name="TextBox 43">
            <a:extLst>
              <a:ext uri="{FF2B5EF4-FFF2-40B4-BE49-F238E27FC236}">
                <a16:creationId xmlns:a16="http://schemas.microsoft.com/office/drawing/2014/main" id="{B008F79B-0024-41EC-94F7-0DA33CA60147}"/>
              </a:ext>
            </a:extLst>
          </p:cNvPr>
          <p:cNvSpPr txBox="1"/>
          <p:nvPr/>
        </p:nvSpPr>
        <p:spPr>
          <a:xfrm>
            <a:off x="2269938" y="3645024"/>
            <a:ext cx="1602942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6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3. DR (</a:t>
            </a:r>
            <a:r>
              <a:rPr lang="ko-KR" altLang="en-US" sz="6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수요반응</a:t>
            </a:r>
            <a:r>
              <a:rPr lang="en-US" altLang="ko-KR" sz="6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 </a:t>
            </a:r>
            <a:r>
              <a:rPr lang="ko-KR" altLang="en-US" sz="6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수익 배분 청구 내역</a:t>
            </a:r>
          </a:p>
        </p:txBody>
      </p:sp>
      <p:graphicFrame>
        <p:nvGraphicFramePr>
          <p:cNvPr id="45" name="표 44">
            <a:extLst>
              <a:ext uri="{FF2B5EF4-FFF2-40B4-BE49-F238E27FC236}">
                <a16:creationId xmlns:a16="http://schemas.microsoft.com/office/drawing/2014/main" id="{D7B98CFC-DEB2-4C95-A6BA-54D1AC81A69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60402191"/>
              </p:ext>
            </p:extLst>
          </p:nvPr>
        </p:nvGraphicFramePr>
        <p:xfrm>
          <a:off x="2269938" y="3849216"/>
          <a:ext cx="2110206" cy="1524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58376">
                  <a:extLst>
                    <a:ext uri="{9D8B030D-6E8A-4147-A177-3AD203B41FA5}">
                      <a16:colId xmlns:a16="http://schemas.microsoft.com/office/drawing/2014/main" val="2143136556"/>
                    </a:ext>
                  </a:extLst>
                </a:gridCol>
                <a:gridCol w="1051830">
                  <a:extLst>
                    <a:ext uri="{9D8B030D-6E8A-4147-A177-3AD203B41FA5}">
                      <a16:colId xmlns:a16="http://schemas.microsoft.com/office/drawing/2014/main" val="215146028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구 분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금액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0282666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용량 </a:t>
                      </a:r>
                      <a:r>
                        <a:rPr lang="ko-KR" altLang="en-US" sz="5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정산금</a:t>
                      </a:r>
                      <a:endParaRPr lang="ko-KR" altLang="en-US" sz="5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900,000</a:t>
                      </a:r>
                      <a:endParaRPr lang="ko-KR" altLang="en-US" sz="5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672998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감축 </a:t>
                      </a:r>
                      <a:r>
                        <a:rPr lang="ko-KR" altLang="en-US" sz="5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정산금</a:t>
                      </a:r>
                      <a:endParaRPr lang="ko-KR" altLang="en-US" sz="5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100,000</a:t>
                      </a:r>
                      <a:endParaRPr lang="ko-KR" altLang="en-US" sz="5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281428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총 정산금액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1,000,000</a:t>
                      </a:r>
                      <a:endParaRPr lang="ko-KR" altLang="en-US" sz="5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739032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고객 정산 금액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800,000</a:t>
                      </a:r>
                      <a:endParaRPr lang="ko-KR" altLang="en-US" sz="5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496938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①수익배분 계</a:t>
                      </a:r>
                      <a:endParaRPr lang="en-US" altLang="ko-KR" sz="5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200,000</a:t>
                      </a:r>
                      <a:endParaRPr lang="ko-KR" altLang="en-US" sz="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6859019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부가가치세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20,006</a:t>
                      </a:r>
                      <a:endParaRPr lang="ko-KR" altLang="en-US" sz="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371766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원단위절사</a:t>
                      </a:r>
                      <a:endParaRPr lang="ko-KR" altLang="en-US" sz="5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5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-6</a:t>
                      </a:r>
                      <a:endParaRPr lang="ko-KR" altLang="en-US" sz="500" b="1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4456658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청구금액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6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220,000</a:t>
                      </a:r>
                      <a:endParaRPr lang="ko-KR" altLang="en-US" sz="6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52105426"/>
                  </a:ext>
                </a:extLst>
              </a:tr>
            </a:tbl>
          </a:graphicData>
        </a:graphic>
      </p:graphicFrame>
      <p:sp>
        <p:nvSpPr>
          <p:cNvPr id="46" name="TextBox 45">
            <a:extLst>
              <a:ext uri="{FF2B5EF4-FFF2-40B4-BE49-F238E27FC236}">
                <a16:creationId xmlns:a16="http://schemas.microsoft.com/office/drawing/2014/main" id="{1005FACC-EC0E-47DF-9F31-9A3EC66086EA}"/>
              </a:ext>
            </a:extLst>
          </p:cNvPr>
          <p:cNvSpPr txBox="1"/>
          <p:nvPr/>
        </p:nvSpPr>
        <p:spPr>
          <a:xfrm>
            <a:off x="4547573" y="3645024"/>
            <a:ext cx="1337948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6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4. PV </a:t>
            </a:r>
            <a:r>
              <a:rPr lang="ko-KR" altLang="en-US" sz="6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발전 수익 배분 청구 내역</a:t>
            </a:r>
          </a:p>
        </p:txBody>
      </p:sp>
      <p:graphicFrame>
        <p:nvGraphicFramePr>
          <p:cNvPr id="48" name="표 47">
            <a:extLst>
              <a:ext uri="{FF2B5EF4-FFF2-40B4-BE49-F238E27FC236}">
                <a16:creationId xmlns:a16="http://schemas.microsoft.com/office/drawing/2014/main" id="{F2166955-1CCD-4C87-9CE7-A3D55F6FD64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79218978"/>
              </p:ext>
            </p:extLst>
          </p:nvPr>
        </p:nvGraphicFramePr>
        <p:xfrm>
          <a:off x="4505393" y="3849216"/>
          <a:ext cx="2080377" cy="1524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43415">
                  <a:extLst>
                    <a:ext uri="{9D8B030D-6E8A-4147-A177-3AD203B41FA5}">
                      <a16:colId xmlns:a16="http://schemas.microsoft.com/office/drawing/2014/main" val="2143136556"/>
                    </a:ext>
                  </a:extLst>
                </a:gridCol>
                <a:gridCol w="1036962">
                  <a:extLst>
                    <a:ext uri="{9D8B030D-6E8A-4147-A177-3AD203B41FA5}">
                      <a16:colId xmlns:a16="http://schemas.microsoft.com/office/drawing/2014/main" val="215146028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구 분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금액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0282666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5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①</a:t>
                      </a:r>
                      <a:r>
                        <a:rPr lang="en-US" altLang="ko-KR" sz="5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REC </a:t>
                      </a:r>
                      <a:r>
                        <a:rPr lang="ko-KR" altLang="en-US" sz="5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수익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latinLnBrk="1" hangingPunct="1"/>
                      <a:r>
                        <a:rPr lang="en-US" altLang="ko-KR" sz="5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12,775,000</a:t>
                      </a:r>
                      <a:endParaRPr lang="ko-KR" altLang="en-US" sz="50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672998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5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②</a:t>
                      </a:r>
                      <a:r>
                        <a:rPr lang="en-US" altLang="ko-KR" sz="5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SMP </a:t>
                      </a:r>
                      <a:r>
                        <a:rPr lang="ko-KR" altLang="en-US" sz="5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수익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latinLnBrk="1" hangingPunct="1"/>
                      <a:r>
                        <a:rPr lang="en-US" altLang="ko-KR" sz="5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10,220,000</a:t>
                      </a:r>
                      <a:endParaRPr lang="ko-KR" altLang="en-US" sz="50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281428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5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③총 수익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latinLnBrk="1" hangingPunct="1"/>
                      <a:r>
                        <a:rPr lang="en-US" altLang="ko-KR" sz="5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22,995,000</a:t>
                      </a:r>
                      <a:endParaRPr lang="ko-KR" altLang="en-US" sz="50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739032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5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고객 정산 금액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5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496938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5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④수익배분 계</a:t>
                      </a:r>
                      <a:endParaRPr lang="en-US" altLang="ko-KR" sz="50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4,599,000</a:t>
                      </a:r>
                      <a:endParaRPr lang="ko-KR" altLang="en-US" sz="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6859019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5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부가가치세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459,906</a:t>
                      </a:r>
                      <a:endParaRPr lang="ko-KR" altLang="en-US" sz="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371766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원단위절사</a:t>
                      </a:r>
                      <a:endParaRPr lang="ko-KR" altLang="en-US" sz="5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5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-6</a:t>
                      </a:r>
                      <a:endParaRPr lang="ko-KR" altLang="en-US" sz="500" b="1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4456658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청구금액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6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5,058,900</a:t>
                      </a:r>
                      <a:endParaRPr lang="ko-KR" altLang="en-US" sz="6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52105426"/>
                  </a:ext>
                </a:extLst>
              </a:tr>
            </a:tbl>
          </a:graphicData>
        </a:graphic>
      </p:graphicFrame>
      <p:sp>
        <p:nvSpPr>
          <p:cNvPr id="49" name="TextBox 48">
            <a:extLst>
              <a:ext uri="{FF2B5EF4-FFF2-40B4-BE49-F238E27FC236}">
                <a16:creationId xmlns:a16="http://schemas.microsoft.com/office/drawing/2014/main" id="{79373348-589C-4166-8D0F-459EE1A66707}"/>
              </a:ext>
            </a:extLst>
          </p:cNvPr>
          <p:cNvSpPr txBox="1"/>
          <p:nvPr/>
        </p:nvSpPr>
        <p:spPr>
          <a:xfrm>
            <a:off x="2331216" y="5444117"/>
            <a:ext cx="1886356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6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4. </a:t>
            </a:r>
            <a:r>
              <a:rPr lang="ko-KR" altLang="en-US" sz="6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납입 정보</a:t>
            </a:r>
          </a:p>
        </p:txBody>
      </p:sp>
      <p:graphicFrame>
        <p:nvGraphicFramePr>
          <p:cNvPr id="50" name="표 49">
            <a:extLst>
              <a:ext uri="{FF2B5EF4-FFF2-40B4-BE49-F238E27FC236}">
                <a16:creationId xmlns:a16="http://schemas.microsoft.com/office/drawing/2014/main" id="{82C66FA6-F67D-48DF-ADF4-019948544A7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57047457"/>
              </p:ext>
            </p:extLst>
          </p:nvPr>
        </p:nvGraphicFramePr>
        <p:xfrm>
          <a:off x="2291465" y="5651772"/>
          <a:ext cx="4294306" cy="2438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021575">
                  <a:extLst>
                    <a:ext uri="{9D8B030D-6E8A-4147-A177-3AD203B41FA5}">
                      <a16:colId xmlns:a16="http://schemas.microsoft.com/office/drawing/2014/main" val="2143136556"/>
                    </a:ext>
                  </a:extLst>
                </a:gridCol>
                <a:gridCol w="1272731">
                  <a:extLst>
                    <a:ext uri="{9D8B030D-6E8A-4147-A177-3AD203B41FA5}">
                      <a16:colId xmlns:a16="http://schemas.microsoft.com/office/drawing/2014/main" val="3299530404"/>
                    </a:ext>
                  </a:extLst>
                </a:gridCol>
              </a:tblGrid>
              <a:tr h="18634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b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총 청구 금액</a:t>
                      </a:r>
                      <a:endParaRPr lang="en-US" altLang="ko-KR" sz="500" b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ctr" latinLnBrk="1"/>
                      <a:r>
                        <a:rPr lang="en-US" altLang="ko-KR" sz="500" b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500" b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전기요금 </a:t>
                      </a:r>
                      <a:r>
                        <a:rPr lang="en-US" altLang="ko-KR" sz="500" b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+ </a:t>
                      </a:r>
                      <a:r>
                        <a:rPr lang="ko-KR" altLang="en-US" sz="500" b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에너지 절감 수익 배분 </a:t>
                      </a:r>
                      <a:r>
                        <a:rPr lang="en-US" altLang="ko-KR" sz="500" b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+ DR </a:t>
                      </a:r>
                      <a:r>
                        <a:rPr lang="ko-KR" altLang="en-US" sz="500" b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수익 배분 </a:t>
                      </a:r>
                      <a:r>
                        <a:rPr lang="en-US" altLang="ko-KR" sz="500" b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+ PV </a:t>
                      </a:r>
                      <a:r>
                        <a:rPr lang="ko-KR" altLang="en-US" sz="500" b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발전 수익 배분</a:t>
                      </a:r>
                      <a:r>
                        <a:rPr lang="en-US" altLang="ko-KR" sz="500" b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endParaRPr lang="ko-KR" altLang="en-US" sz="500" b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9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37,938,260</a:t>
                      </a:r>
                      <a:endParaRPr lang="ko-KR" altLang="en-US" sz="9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6729986"/>
                  </a:ext>
                </a:extLst>
              </a:tr>
            </a:tbl>
          </a:graphicData>
        </a:graphic>
      </p:graphicFrame>
      <p:sp>
        <p:nvSpPr>
          <p:cNvPr id="51" name="타원형 설명선 226">
            <a:extLst>
              <a:ext uri="{FF2B5EF4-FFF2-40B4-BE49-F238E27FC236}">
                <a16:creationId xmlns:a16="http://schemas.microsoft.com/office/drawing/2014/main" id="{CB804DF6-99B1-4E0E-861E-39CAE5CACD90}"/>
              </a:ext>
            </a:extLst>
          </p:cNvPr>
          <p:cNvSpPr/>
          <p:nvPr/>
        </p:nvSpPr>
        <p:spPr>
          <a:xfrm>
            <a:off x="1890853" y="6093320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2" name="타원형 설명선 243">
            <a:extLst>
              <a:ext uri="{FF2B5EF4-FFF2-40B4-BE49-F238E27FC236}">
                <a16:creationId xmlns:a16="http://schemas.microsoft.com/office/drawing/2014/main" id="{E01D4574-E570-4F00-A4D7-C4B3479A0D3E}"/>
              </a:ext>
            </a:extLst>
          </p:cNvPr>
          <p:cNvSpPr/>
          <p:nvPr/>
        </p:nvSpPr>
        <p:spPr>
          <a:xfrm>
            <a:off x="5199751" y="6092699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3" name="타원형 설명선 244">
            <a:extLst>
              <a:ext uri="{FF2B5EF4-FFF2-40B4-BE49-F238E27FC236}">
                <a16:creationId xmlns:a16="http://schemas.microsoft.com/office/drawing/2014/main" id="{5FEBDDD4-E530-4248-B078-02A5BE580379}"/>
              </a:ext>
            </a:extLst>
          </p:cNvPr>
          <p:cNvSpPr/>
          <p:nvPr/>
        </p:nvSpPr>
        <p:spPr>
          <a:xfrm>
            <a:off x="3095845" y="6092699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4" name="타원형 설명선 225">
            <a:extLst>
              <a:ext uri="{FF2B5EF4-FFF2-40B4-BE49-F238E27FC236}">
                <a16:creationId xmlns:a16="http://schemas.microsoft.com/office/drawing/2014/main" id="{66391022-3886-4EF9-9D1B-60C7ADAA12FF}"/>
              </a:ext>
            </a:extLst>
          </p:cNvPr>
          <p:cNvSpPr/>
          <p:nvPr/>
        </p:nvSpPr>
        <p:spPr>
          <a:xfrm>
            <a:off x="1911319" y="803668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97324682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9104309" y="6645875"/>
            <a:ext cx="140029" cy="138499"/>
          </a:xfrm>
        </p:spPr>
        <p:txBody>
          <a:bodyPr/>
          <a:lstStyle/>
          <a:p>
            <a:pPr>
              <a:defRPr/>
            </a:pPr>
            <a:fld id="{9E41B634-5682-4388-99E7-FE44DCFD254B}" type="slidenum">
              <a:rPr lang="ko-KR" altLang="en-US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>
                <a:defRPr/>
              </a:pPr>
              <a:t>51</a:t>
            </a:fld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텍스트 개체 틀 8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 &gt;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설정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&gt;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한전 계약 및 전력관리 정보</a:t>
            </a:r>
          </a:p>
        </p:txBody>
      </p:sp>
      <p:sp>
        <p:nvSpPr>
          <p:cNvPr id="10" name="텍스트 개체 틀 9"/>
          <p:cNvSpPr>
            <a:spLocks noGrp="1"/>
          </p:cNvSpPr>
          <p:nvPr>
            <p:ph type="body" sz="quarter" idx="10"/>
          </p:nvPr>
        </p:nvSpPr>
        <p:spPr>
          <a:xfrm>
            <a:off x="6023595" y="44624"/>
            <a:ext cx="1233661" cy="196974"/>
          </a:xfrm>
        </p:spPr>
        <p:txBody>
          <a:bodyPr/>
          <a:lstStyle/>
          <a:p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한전계약 및 전력관리</a:t>
            </a:r>
          </a:p>
        </p:txBody>
      </p:sp>
      <p:graphicFrame>
        <p:nvGraphicFramePr>
          <p:cNvPr id="102" name="Group 15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13632653"/>
              </p:ext>
            </p:extLst>
          </p:nvPr>
        </p:nvGraphicFramePr>
        <p:xfrm>
          <a:off x="8469313" y="276225"/>
          <a:ext cx="1404000" cy="4370496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3002"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Description</a:t>
                      </a: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건물요금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확인 필요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2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계약 전력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확인 필요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3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검침일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확인 필요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4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요금 적용 전력 기간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확인 필요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5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요금 적용 전력 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확인 필요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5822159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6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목표 전력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피크 전력 현황에서 사용되는 목표전력을 설정한다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.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94608923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7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요금적용전력대비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확인 필요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44105779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8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확인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모든 변경사항을 적용하고 이전화면으로 돌아간다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.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8212072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9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취소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모든 변경사항을 적용하지 않고 이전화면으로 돌아간다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.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8304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78" name="TextBox 77"/>
          <p:cNvSpPr txBox="1"/>
          <p:nvPr/>
        </p:nvSpPr>
        <p:spPr>
          <a:xfrm>
            <a:off x="7121707" y="21349"/>
            <a:ext cx="567597" cy="2308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화면</a:t>
            </a:r>
            <a:r>
              <a:rPr lang="en-US" altLang="ko-KR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ID</a:t>
            </a:r>
            <a:endParaRPr lang="ko-KR" altLang="en-US" sz="9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7689304" y="43659"/>
            <a:ext cx="792088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itchFamily="50" charset="-127"/>
                <a:ea typeface="맑은 고딕" pitchFamily="50" charset="-127"/>
              </a:rPr>
              <a:t>ewpsp_scr_034</a:t>
            </a:r>
            <a:endParaRPr lang="ko-KR" altLang="en-US" sz="70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06" name="타원형 설명선 205"/>
          <p:cNvSpPr/>
          <p:nvPr/>
        </p:nvSpPr>
        <p:spPr>
          <a:xfrm>
            <a:off x="-788740" y="2744866"/>
            <a:ext cx="216000" cy="216000"/>
          </a:xfrm>
          <a:prstGeom prst="wedgeEllipseCallout">
            <a:avLst>
              <a:gd name="adj1" fmla="val 74230"/>
              <a:gd name="adj2" fmla="val 21822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/>
              <a:t>9</a:t>
            </a:r>
            <a:endParaRPr lang="ko-KR" altLang="en-US" sz="900" b="1" dirty="0"/>
          </a:p>
        </p:txBody>
      </p:sp>
      <p:sp>
        <p:nvSpPr>
          <p:cNvPr id="226" name="타원형 설명선 225"/>
          <p:cNvSpPr/>
          <p:nvPr/>
        </p:nvSpPr>
        <p:spPr>
          <a:xfrm>
            <a:off x="-834519" y="3213000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27" name="타원형 설명선 226"/>
          <p:cNvSpPr/>
          <p:nvPr/>
        </p:nvSpPr>
        <p:spPr>
          <a:xfrm>
            <a:off x="-788740" y="1884839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4" name="타원형 설명선 243"/>
          <p:cNvSpPr/>
          <p:nvPr/>
        </p:nvSpPr>
        <p:spPr>
          <a:xfrm>
            <a:off x="-796619" y="2150818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5" name="타원형 설명선 244"/>
          <p:cNvSpPr/>
          <p:nvPr/>
        </p:nvSpPr>
        <p:spPr>
          <a:xfrm>
            <a:off x="-808982" y="3727293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6" name="타원형 설명선 245"/>
          <p:cNvSpPr/>
          <p:nvPr/>
        </p:nvSpPr>
        <p:spPr>
          <a:xfrm>
            <a:off x="-808982" y="4273670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7" name="타원형 설명선 246"/>
          <p:cNvSpPr/>
          <p:nvPr/>
        </p:nvSpPr>
        <p:spPr>
          <a:xfrm>
            <a:off x="-796619" y="1324215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7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8" name="타원형 설명선 247"/>
          <p:cNvSpPr/>
          <p:nvPr/>
        </p:nvSpPr>
        <p:spPr>
          <a:xfrm>
            <a:off x="-796619" y="1576196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8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66" name="타원형 설명선 265"/>
          <p:cNvSpPr/>
          <p:nvPr/>
        </p:nvSpPr>
        <p:spPr>
          <a:xfrm>
            <a:off x="-786711" y="2456904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6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3" name="타원형 설명선 225">
            <a:extLst>
              <a:ext uri="{FF2B5EF4-FFF2-40B4-BE49-F238E27FC236}">
                <a16:creationId xmlns:a16="http://schemas.microsoft.com/office/drawing/2014/main" id="{93402A8C-F86A-4207-9226-F02BE6AB6E19}"/>
              </a:ext>
            </a:extLst>
          </p:cNvPr>
          <p:cNvSpPr/>
          <p:nvPr/>
        </p:nvSpPr>
        <p:spPr>
          <a:xfrm>
            <a:off x="-667135" y="976983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8" name="Picture 3">
            <a:extLst>
              <a:ext uri="{FF2B5EF4-FFF2-40B4-BE49-F238E27FC236}">
                <a16:creationId xmlns:a16="http://schemas.microsoft.com/office/drawing/2014/main" id="{D14E8AEF-8EA8-4944-AE52-FF98A1FB783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463" y="764704"/>
            <a:ext cx="8208912" cy="5040559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  <a:extLst/>
        </p:spPr>
      </p:pic>
      <p:pic>
        <p:nvPicPr>
          <p:cNvPr id="19" name="Picture 2">
            <a:extLst>
              <a:ext uri="{FF2B5EF4-FFF2-40B4-BE49-F238E27FC236}">
                <a16:creationId xmlns:a16="http://schemas.microsoft.com/office/drawing/2014/main" id="{6FBB0165-03FF-4BBD-A158-8DEF923CF53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464" y="762442"/>
            <a:ext cx="8208912" cy="3487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20" name="직선 연결선 19">
            <a:extLst>
              <a:ext uri="{FF2B5EF4-FFF2-40B4-BE49-F238E27FC236}">
                <a16:creationId xmlns:a16="http://schemas.microsoft.com/office/drawing/2014/main" id="{37D07777-30AA-4506-9C18-6F3B4C7D943C}"/>
              </a:ext>
            </a:extLst>
          </p:cNvPr>
          <p:cNvCxnSpPr>
            <a:cxnSpLocks/>
          </p:cNvCxnSpPr>
          <p:nvPr/>
        </p:nvCxnSpPr>
        <p:spPr>
          <a:xfrm>
            <a:off x="128463" y="1124744"/>
            <a:ext cx="8208912" cy="0"/>
          </a:xfrm>
          <a:prstGeom prst="line">
            <a:avLst/>
          </a:prstGeom>
          <a:ln w="9525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5E84417E-CAA5-4FD3-BBB9-7CD5570EF571}"/>
              </a:ext>
            </a:extLst>
          </p:cNvPr>
          <p:cNvSpPr/>
          <p:nvPr/>
        </p:nvSpPr>
        <p:spPr>
          <a:xfrm>
            <a:off x="216314" y="1324228"/>
            <a:ext cx="2216405" cy="288032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>
              <a:lnSpc>
                <a:spcPct val="150000"/>
              </a:lnSpc>
            </a:pPr>
            <a:r>
              <a:rPr lang="ko-KR" altLang="en-US" sz="10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설정</a:t>
            </a:r>
            <a:r>
              <a:rPr lang="en-US" altLang="ko-KR" sz="10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 – </a:t>
            </a:r>
            <a:r>
              <a:rPr lang="ko-KR" altLang="en-US" sz="10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한전 계약 및 전력관리 정보</a:t>
            </a:r>
          </a:p>
        </p:txBody>
      </p:sp>
      <p:pic>
        <p:nvPicPr>
          <p:cNvPr id="47" name="Picture 2" descr="ì¤ì ì ëí ì´ë¯¸ì§ ê²ìê²°ê³¼">
            <a:extLst>
              <a:ext uri="{FF2B5EF4-FFF2-40B4-BE49-F238E27FC236}">
                <a16:creationId xmlns:a16="http://schemas.microsoft.com/office/drawing/2014/main" id="{90A888AD-844A-4544-B02A-A77BC3397C7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05865" y="844086"/>
            <a:ext cx="198592" cy="19859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" name="그룹 1">
            <a:extLst>
              <a:ext uri="{FF2B5EF4-FFF2-40B4-BE49-F238E27FC236}">
                <a16:creationId xmlns:a16="http://schemas.microsoft.com/office/drawing/2014/main" id="{25E1193C-C045-4DBB-A17D-488132145FCE}"/>
              </a:ext>
            </a:extLst>
          </p:cNvPr>
          <p:cNvGrpSpPr/>
          <p:nvPr/>
        </p:nvGrpSpPr>
        <p:grpSpPr>
          <a:xfrm>
            <a:off x="344488" y="1708105"/>
            <a:ext cx="7776864" cy="3737119"/>
            <a:chOff x="496982" y="1958075"/>
            <a:chExt cx="8203656" cy="4160163"/>
          </a:xfrm>
        </p:grpSpPr>
        <p:sp>
          <p:nvSpPr>
            <p:cNvPr id="107" name="직사각형 106">
              <a:extLst>
                <a:ext uri="{FF2B5EF4-FFF2-40B4-BE49-F238E27FC236}">
                  <a16:creationId xmlns:a16="http://schemas.microsoft.com/office/drawing/2014/main" id="{6FB85F2F-51DC-4017-8C5E-AD9462F439F6}"/>
                </a:ext>
              </a:extLst>
            </p:cNvPr>
            <p:cNvSpPr/>
            <p:nvPr/>
          </p:nvSpPr>
          <p:spPr>
            <a:xfrm>
              <a:off x="496982" y="1958075"/>
              <a:ext cx="8203656" cy="3559645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>
                <a:lnSpc>
                  <a:spcPct val="150000"/>
                </a:lnSpc>
              </a:pPr>
              <a:endParaRPr lang="ko-KR" altLang="en-US" sz="105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08" name="직사각형 107">
              <a:extLst>
                <a:ext uri="{FF2B5EF4-FFF2-40B4-BE49-F238E27FC236}">
                  <a16:creationId xmlns:a16="http://schemas.microsoft.com/office/drawing/2014/main" id="{D76BB61B-EB69-48A3-9B16-AD0D85F99A5F}"/>
                </a:ext>
              </a:extLst>
            </p:cNvPr>
            <p:cNvSpPr/>
            <p:nvPr/>
          </p:nvSpPr>
          <p:spPr>
            <a:xfrm>
              <a:off x="713006" y="2292713"/>
              <a:ext cx="1224136" cy="36004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 algn="r">
                <a:lnSpc>
                  <a:spcPct val="150000"/>
                </a:lnSpc>
              </a:pPr>
              <a:r>
                <a:rPr lang="ko-KR" altLang="en-US" sz="105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건물 요금</a:t>
              </a:r>
            </a:p>
          </p:txBody>
        </p:sp>
        <p:sp>
          <p:nvSpPr>
            <p:cNvPr id="109" name="직사각형 108">
              <a:extLst>
                <a:ext uri="{FF2B5EF4-FFF2-40B4-BE49-F238E27FC236}">
                  <a16:creationId xmlns:a16="http://schemas.microsoft.com/office/drawing/2014/main" id="{3DD3059B-7D0A-48A4-87DD-3EF5273677A1}"/>
                </a:ext>
              </a:extLst>
            </p:cNvPr>
            <p:cNvSpPr/>
            <p:nvPr/>
          </p:nvSpPr>
          <p:spPr>
            <a:xfrm>
              <a:off x="2081158" y="2292713"/>
              <a:ext cx="5904656" cy="36004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>
                <a:lnSpc>
                  <a:spcPct val="150000"/>
                </a:lnSpc>
              </a:pPr>
              <a:r>
                <a:rPr lang="ko-KR" altLang="en-US" sz="1050" b="1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일반용</a:t>
              </a:r>
              <a:r>
                <a:rPr lang="en-US" altLang="ko-KR" sz="1050" b="1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(</a:t>
              </a:r>
              <a:r>
                <a:rPr lang="ko-KR" altLang="en-US" sz="1050" b="1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을</a:t>
              </a:r>
              <a:r>
                <a:rPr lang="en-US" altLang="ko-KR" sz="1050" b="1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) – </a:t>
              </a:r>
              <a:r>
                <a:rPr lang="ko-KR" altLang="en-US" sz="1050" b="1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고압 </a:t>
              </a:r>
              <a:r>
                <a:rPr lang="en-US" altLang="ko-KR" sz="1050" b="1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A: </a:t>
              </a:r>
              <a:r>
                <a:rPr lang="ko-KR" altLang="en-US" sz="1050" b="1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선택 </a:t>
              </a:r>
              <a:r>
                <a:rPr lang="en-US" altLang="ko-KR" sz="1050" b="1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II</a:t>
              </a:r>
              <a:endParaRPr lang="ko-KR" altLang="en-US" sz="105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10" name="직사각형 109">
              <a:extLst>
                <a:ext uri="{FF2B5EF4-FFF2-40B4-BE49-F238E27FC236}">
                  <a16:creationId xmlns:a16="http://schemas.microsoft.com/office/drawing/2014/main" id="{2D00898D-7121-466D-9484-DE1730F427D5}"/>
                </a:ext>
              </a:extLst>
            </p:cNvPr>
            <p:cNvSpPr/>
            <p:nvPr/>
          </p:nvSpPr>
          <p:spPr>
            <a:xfrm>
              <a:off x="7985814" y="2292713"/>
              <a:ext cx="360040" cy="36004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 anchorCtr="0"/>
            <a:lstStyle/>
            <a:p>
              <a:pPr algn="ctr">
                <a:lnSpc>
                  <a:spcPct val="150000"/>
                </a:lnSpc>
              </a:pPr>
              <a:r>
                <a:rPr lang="ko-KR" altLang="en-US" sz="105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▼</a:t>
              </a:r>
            </a:p>
          </p:txBody>
        </p:sp>
        <p:sp>
          <p:nvSpPr>
            <p:cNvPr id="111" name="직사각형 110">
              <a:extLst>
                <a:ext uri="{FF2B5EF4-FFF2-40B4-BE49-F238E27FC236}">
                  <a16:creationId xmlns:a16="http://schemas.microsoft.com/office/drawing/2014/main" id="{6921FF9B-B232-4EE2-BF1F-C19E454227F7}"/>
                </a:ext>
              </a:extLst>
            </p:cNvPr>
            <p:cNvSpPr/>
            <p:nvPr/>
          </p:nvSpPr>
          <p:spPr>
            <a:xfrm>
              <a:off x="713006" y="2868777"/>
              <a:ext cx="1224136" cy="36004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 algn="r">
                <a:lnSpc>
                  <a:spcPct val="150000"/>
                </a:lnSpc>
              </a:pPr>
              <a:r>
                <a:rPr lang="ko-KR" altLang="en-US" sz="105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계약 전력</a:t>
              </a:r>
            </a:p>
          </p:txBody>
        </p:sp>
        <p:sp>
          <p:nvSpPr>
            <p:cNvPr id="112" name="직사각형 111">
              <a:extLst>
                <a:ext uri="{FF2B5EF4-FFF2-40B4-BE49-F238E27FC236}">
                  <a16:creationId xmlns:a16="http://schemas.microsoft.com/office/drawing/2014/main" id="{FD8C4313-1BCB-438F-97EE-7AD58E3B3AD6}"/>
                </a:ext>
              </a:extLst>
            </p:cNvPr>
            <p:cNvSpPr/>
            <p:nvPr/>
          </p:nvSpPr>
          <p:spPr>
            <a:xfrm>
              <a:off x="2081158" y="2868777"/>
              <a:ext cx="5760640" cy="36004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>
                <a:lnSpc>
                  <a:spcPct val="150000"/>
                </a:lnSpc>
              </a:pPr>
              <a:r>
                <a:rPr lang="en-US" altLang="ko-KR" sz="1050" b="1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2,000</a:t>
              </a:r>
              <a:endParaRPr lang="ko-KR" altLang="en-US" sz="105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13" name="직사각형 112">
              <a:extLst>
                <a:ext uri="{FF2B5EF4-FFF2-40B4-BE49-F238E27FC236}">
                  <a16:creationId xmlns:a16="http://schemas.microsoft.com/office/drawing/2014/main" id="{1C9DB54F-6C1F-4D30-8BB5-B1F176D2C9BE}"/>
                </a:ext>
              </a:extLst>
            </p:cNvPr>
            <p:cNvSpPr/>
            <p:nvPr/>
          </p:nvSpPr>
          <p:spPr>
            <a:xfrm>
              <a:off x="7481758" y="2868777"/>
              <a:ext cx="864096" cy="36004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 algn="r">
                <a:lnSpc>
                  <a:spcPct val="150000"/>
                </a:lnSpc>
              </a:pPr>
              <a:r>
                <a:rPr lang="en-US" altLang="ko-KR" sz="105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KW</a:t>
              </a:r>
              <a:endParaRPr lang="ko-KR" altLang="en-US" sz="105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14" name="직사각형 113">
              <a:extLst>
                <a:ext uri="{FF2B5EF4-FFF2-40B4-BE49-F238E27FC236}">
                  <a16:creationId xmlns:a16="http://schemas.microsoft.com/office/drawing/2014/main" id="{EB1A4E56-CF77-4437-A347-8E7FFE28F8AD}"/>
                </a:ext>
              </a:extLst>
            </p:cNvPr>
            <p:cNvSpPr/>
            <p:nvPr/>
          </p:nvSpPr>
          <p:spPr>
            <a:xfrm>
              <a:off x="713006" y="3444841"/>
              <a:ext cx="1224136" cy="36004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 algn="r">
                <a:lnSpc>
                  <a:spcPct val="150000"/>
                </a:lnSpc>
              </a:pPr>
              <a:r>
                <a:rPr lang="ko-KR" altLang="en-US" sz="105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검침일</a:t>
              </a:r>
            </a:p>
          </p:txBody>
        </p:sp>
        <p:sp>
          <p:nvSpPr>
            <p:cNvPr id="115" name="직사각형 114">
              <a:extLst>
                <a:ext uri="{FF2B5EF4-FFF2-40B4-BE49-F238E27FC236}">
                  <a16:creationId xmlns:a16="http://schemas.microsoft.com/office/drawing/2014/main" id="{93B68E3D-B29A-4E4D-9945-AC41D19FD8A2}"/>
                </a:ext>
              </a:extLst>
            </p:cNvPr>
            <p:cNvSpPr/>
            <p:nvPr/>
          </p:nvSpPr>
          <p:spPr>
            <a:xfrm>
              <a:off x="2081158" y="3444841"/>
              <a:ext cx="5904656" cy="36004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>
                <a:lnSpc>
                  <a:spcPct val="150000"/>
                </a:lnSpc>
              </a:pPr>
              <a:r>
                <a:rPr lang="en-US" altLang="ko-KR" sz="1050" b="1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30</a:t>
              </a:r>
              <a:r>
                <a:rPr lang="ko-KR" altLang="en-US" sz="1050" b="1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일</a:t>
              </a:r>
            </a:p>
          </p:txBody>
        </p:sp>
        <p:sp>
          <p:nvSpPr>
            <p:cNvPr id="116" name="직사각형 115">
              <a:extLst>
                <a:ext uri="{FF2B5EF4-FFF2-40B4-BE49-F238E27FC236}">
                  <a16:creationId xmlns:a16="http://schemas.microsoft.com/office/drawing/2014/main" id="{B7672307-B364-426F-A28D-A607AD98270F}"/>
                </a:ext>
              </a:extLst>
            </p:cNvPr>
            <p:cNvSpPr/>
            <p:nvPr/>
          </p:nvSpPr>
          <p:spPr>
            <a:xfrm>
              <a:off x="7985814" y="3444841"/>
              <a:ext cx="360040" cy="36004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 anchorCtr="0"/>
            <a:lstStyle/>
            <a:p>
              <a:pPr algn="ctr">
                <a:lnSpc>
                  <a:spcPct val="150000"/>
                </a:lnSpc>
              </a:pPr>
              <a:r>
                <a:rPr lang="ko-KR" altLang="en-US" sz="105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▼</a:t>
              </a:r>
            </a:p>
          </p:txBody>
        </p:sp>
        <p:sp>
          <p:nvSpPr>
            <p:cNvPr id="117" name="직사각형 116">
              <a:extLst>
                <a:ext uri="{FF2B5EF4-FFF2-40B4-BE49-F238E27FC236}">
                  <a16:creationId xmlns:a16="http://schemas.microsoft.com/office/drawing/2014/main" id="{85B7855A-7938-4DA6-A426-9AA48BFF085A}"/>
                </a:ext>
              </a:extLst>
            </p:cNvPr>
            <p:cNvSpPr/>
            <p:nvPr/>
          </p:nvSpPr>
          <p:spPr>
            <a:xfrm>
              <a:off x="713006" y="4092913"/>
              <a:ext cx="1224136" cy="36004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 algn="r">
                <a:lnSpc>
                  <a:spcPct val="150000"/>
                </a:lnSpc>
              </a:pPr>
              <a:r>
                <a:rPr lang="ko-KR" altLang="en-US" sz="105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요금 적용 전력</a:t>
              </a:r>
            </a:p>
          </p:txBody>
        </p:sp>
        <p:sp>
          <p:nvSpPr>
            <p:cNvPr id="118" name="직사각형 117">
              <a:extLst>
                <a:ext uri="{FF2B5EF4-FFF2-40B4-BE49-F238E27FC236}">
                  <a16:creationId xmlns:a16="http://schemas.microsoft.com/office/drawing/2014/main" id="{2048CCEF-E1D3-408A-A919-2F7C4FA8934A}"/>
                </a:ext>
              </a:extLst>
            </p:cNvPr>
            <p:cNvSpPr/>
            <p:nvPr/>
          </p:nvSpPr>
          <p:spPr>
            <a:xfrm>
              <a:off x="2081158" y="4092913"/>
              <a:ext cx="2451902" cy="36004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>
                <a:lnSpc>
                  <a:spcPct val="150000"/>
                </a:lnSpc>
              </a:pPr>
              <a:r>
                <a:rPr lang="en-US" altLang="ko-KR" sz="1050" b="1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2018</a:t>
              </a:r>
              <a:r>
                <a:rPr lang="ko-KR" altLang="en-US" sz="1050" b="1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년 </a:t>
              </a:r>
              <a:r>
                <a:rPr lang="en-US" altLang="ko-KR" sz="1050" b="1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05</a:t>
              </a:r>
              <a:r>
                <a:rPr lang="ko-KR" altLang="en-US" sz="1050" b="1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월</a:t>
              </a:r>
            </a:p>
          </p:txBody>
        </p:sp>
        <p:sp>
          <p:nvSpPr>
            <p:cNvPr id="119" name="직사각형 118">
              <a:extLst>
                <a:ext uri="{FF2B5EF4-FFF2-40B4-BE49-F238E27FC236}">
                  <a16:creationId xmlns:a16="http://schemas.microsoft.com/office/drawing/2014/main" id="{B09CC0CE-834F-43ED-9FB1-5EAC883D15BA}"/>
                </a:ext>
              </a:extLst>
            </p:cNvPr>
            <p:cNvSpPr/>
            <p:nvPr/>
          </p:nvSpPr>
          <p:spPr>
            <a:xfrm>
              <a:off x="4533060" y="4092913"/>
              <a:ext cx="360040" cy="36004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 anchorCtr="0"/>
            <a:lstStyle/>
            <a:p>
              <a:pPr algn="ctr">
                <a:lnSpc>
                  <a:spcPct val="150000"/>
                </a:lnSpc>
              </a:pPr>
              <a:r>
                <a:rPr lang="ko-KR" altLang="en-US" sz="105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▼</a:t>
              </a:r>
            </a:p>
          </p:txBody>
        </p:sp>
        <p:sp>
          <p:nvSpPr>
            <p:cNvPr id="120" name="직사각형 119">
              <a:extLst>
                <a:ext uri="{FF2B5EF4-FFF2-40B4-BE49-F238E27FC236}">
                  <a16:creationId xmlns:a16="http://schemas.microsoft.com/office/drawing/2014/main" id="{46A66324-CF64-47EC-8564-8C54DD26E7F0}"/>
                </a:ext>
              </a:extLst>
            </p:cNvPr>
            <p:cNvSpPr/>
            <p:nvPr/>
          </p:nvSpPr>
          <p:spPr>
            <a:xfrm>
              <a:off x="5033486" y="4092913"/>
              <a:ext cx="2808312" cy="36004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>
                <a:lnSpc>
                  <a:spcPct val="150000"/>
                </a:lnSpc>
              </a:pPr>
              <a:r>
                <a:rPr lang="en-US" altLang="ko-KR" sz="105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500</a:t>
              </a:r>
              <a:endParaRPr lang="ko-KR" altLang="en-US" sz="105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21" name="직사각형 120">
              <a:extLst>
                <a:ext uri="{FF2B5EF4-FFF2-40B4-BE49-F238E27FC236}">
                  <a16:creationId xmlns:a16="http://schemas.microsoft.com/office/drawing/2014/main" id="{70C930F6-A7C9-44DC-80C7-D8DB49B87255}"/>
                </a:ext>
              </a:extLst>
            </p:cNvPr>
            <p:cNvSpPr/>
            <p:nvPr/>
          </p:nvSpPr>
          <p:spPr>
            <a:xfrm>
              <a:off x="7481759" y="4092913"/>
              <a:ext cx="864096" cy="36004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 algn="r">
                <a:lnSpc>
                  <a:spcPct val="150000"/>
                </a:lnSpc>
              </a:pPr>
              <a:r>
                <a:rPr lang="en-US" altLang="ko-KR" sz="105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KW</a:t>
              </a:r>
              <a:endParaRPr lang="ko-KR" altLang="en-US" sz="105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22" name="직사각형 121">
              <a:extLst>
                <a:ext uri="{FF2B5EF4-FFF2-40B4-BE49-F238E27FC236}">
                  <a16:creationId xmlns:a16="http://schemas.microsoft.com/office/drawing/2014/main" id="{F2ACFC8A-5CA1-41FB-B0F0-567E3686BD53}"/>
                </a:ext>
              </a:extLst>
            </p:cNvPr>
            <p:cNvSpPr/>
            <p:nvPr/>
          </p:nvSpPr>
          <p:spPr>
            <a:xfrm>
              <a:off x="713006" y="4740985"/>
              <a:ext cx="1224136" cy="36004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 algn="r">
                <a:lnSpc>
                  <a:spcPct val="150000"/>
                </a:lnSpc>
              </a:pPr>
              <a:r>
                <a:rPr lang="ko-KR" altLang="en-US" sz="105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목표 전력</a:t>
              </a:r>
            </a:p>
          </p:txBody>
        </p:sp>
        <p:sp>
          <p:nvSpPr>
            <p:cNvPr id="123" name="직사각형 122">
              <a:extLst>
                <a:ext uri="{FF2B5EF4-FFF2-40B4-BE49-F238E27FC236}">
                  <a16:creationId xmlns:a16="http://schemas.microsoft.com/office/drawing/2014/main" id="{6DB4BABA-2C24-4120-ACBD-8B44264FC38D}"/>
                </a:ext>
              </a:extLst>
            </p:cNvPr>
            <p:cNvSpPr/>
            <p:nvPr/>
          </p:nvSpPr>
          <p:spPr>
            <a:xfrm>
              <a:off x="2081158" y="4740985"/>
              <a:ext cx="2451902" cy="36004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>
                <a:lnSpc>
                  <a:spcPct val="150000"/>
                </a:lnSpc>
              </a:pPr>
              <a:r>
                <a:rPr lang="en-US" altLang="ko-KR" sz="1050" b="1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450</a:t>
              </a:r>
              <a:endParaRPr lang="ko-KR" altLang="en-US" sz="105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24" name="직사각형 123">
              <a:extLst>
                <a:ext uri="{FF2B5EF4-FFF2-40B4-BE49-F238E27FC236}">
                  <a16:creationId xmlns:a16="http://schemas.microsoft.com/office/drawing/2014/main" id="{4DA0D1B4-3322-4523-985F-4EF9BA2C2613}"/>
                </a:ext>
              </a:extLst>
            </p:cNvPr>
            <p:cNvSpPr/>
            <p:nvPr/>
          </p:nvSpPr>
          <p:spPr>
            <a:xfrm>
              <a:off x="7481759" y="4740985"/>
              <a:ext cx="864096" cy="36004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 algn="r">
                <a:lnSpc>
                  <a:spcPct val="150000"/>
                </a:lnSpc>
              </a:pPr>
              <a:r>
                <a:rPr lang="en-US" altLang="ko-KR" sz="105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%</a:t>
              </a:r>
              <a:endParaRPr lang="ko-KR" altLang="en-US" sz="105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grpSp>
          <p:nvGrpSpPr>
            <p:cNvPr id="125" name="그룹 124">
              <a:extLst>
                <a:ext uri="{FF2B5EF4-FFF2-40B4-BE49-F238E27FC236}">
                  <a16:creationId xmlns:a16="http://schemas.microsoft.com/office/drawing/2014/main" id="{30D1016A-13FB-4513-A8E9-706EE203BB52}"/>
                </a:ext>
              </a:extLst>
            </p:cNvPr>
            <p:cNvGrpSpPr/>
            <p:nvPr/>
          </p:nvGrpSpPr>
          <p:grpSpPr>
            <a:xfrm>
              <a:off x="3339556" y="5758198"/>
              <a:ext cx="2630919" cy="360040"/>
              <a:chOff x="3791228" y="5284908"/>
              <a:chExt cx="2630919" cy="360040"/>
            </a:xfrm>
          </p:grpSpPr>
          <p:sp>
            <p:nvSpPr>
              <p:cNvPr id="126" name="직사각형 125">
                <a:extLst>
                  <a:ext uri="{FF2B5EF4-FFF2-40B4-BE49-F238E27FC236}">
                    <a16:creationId xmlns:a16="http://schemas.microsoft.com/office/drawing/2014/main" id="{7726E8D3-148F-4164-832A-268A34EC9F35}"/>
                  </a:ext>
                </a:extLst>
              </p:cNvPr>
              <p:cNvSpPr/>
              <p:nvPr/>
            </p:nvSpPr>
            <p:spPr>
              <a:xfrm>
                <a:off x="3791228" y="5284908"/>
                <a:ext cx="1224136" cy="360040"/>
              </a:xfrm>
              <a:prstGeom prst="rect">
                <a:avLst/>
              </a:prstGeom>
              <a:solidFill>
                <a:srgbClr val="0099FF"/>
              </a:solidFill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t" anchorCtr="0"/>
              <a:lstStyle/>
              <a:p>
                <a:pPr algn="ctr">
                  <a:lnSpc>
                    <a:spcPct val="150000"/>
                  </a:lnSpc>
                </a:pPr>
                <a:r>
                  <a:rPr lang="ko-KR" altLang="en-US" sz="1050" b="1" dirty="0">
                    <a:solidFill>
                      <a:schemeClr val="bg1"/>
                    </a:solidFill>
                    <a:latin typeface="맑은 고딕" pitchFamily="50" charset="-127"/>
                    <a:ea typeface="맑은 고딕" pitchFamily="50" charset="-127"/>
                  </a:rPr>
                  <a:t>확인</a:t>
                </a:r>
              </a:p>
            </p:txBody>
          </p:sp>
          <p:sp>
            <p:nvSpPr>
              <p:cNvPr id="127" name="직사각형 126">
                <a:extLst>
                  <a:ext uri="{FF2B5EF4-FFF2-40B4-BE49-F238E27FC236}">
                    <a16:creationId xmlns:a16="http://schemas.microsoft.com/office/drawing/2014/main" id="{3D9A0764-2FF1-44DF-A947-222307667FC1}"/>
                  </a:ext>
                </a:extLst>
              </p:cNvPr>
              <p:cNvSpPr/>
              <p:nvPr/>
            </p:nvSpPr>
            <p:spPr>
              <a:xfrm>
                <a:off x="5198011" y="5284908"/>
                <a:ext cx="1224136" cy="36004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t" anchorCtr="0"/>
              <a:lstStyle/>
              <a:p>
                <a:pPr algn="ctr">
                  <a:lnSpc>
                    <a:spcPct val="150000"/>
                  </a:lnSpc>
                </a:pPr>
                <a:r>
                  <a:rPr lang="ko-KR" altLang="en-US" sz="1050" b="1" dirty="0">
                    <a:solidFill>
                      <a:schemeClr val="tx1"/>
                    </a:solidFill>
                    <a:latin typeface="맑은 고딕" pitchFamily="50" charset="-127"/>
                    <a:ea typeface="맑은 고딕" pitchFamily="50" charset="-127"/>
                  </a:rPr>
                  <a:t>취소</a:t>
                </a:r>
              </a:p>
            </p:txBody>
          </p:sp>
        </p:grpSp>
        <p:sp>
          <p:nvSpPr>
            <p:cNvPr id="128" name="직사각형 127">
              <a:extLst>
                <a:ext uri="{FF2B5EF4-FFF2-40B4-BE49-F238E27FC236}">
                  <a16:creationId xmlns:a16="http://schemas.microsoft.com/office/drawing/2014/main" id="{43247140-853E-4569-B5FF-5BEC4BAF1FA2}"/>
                </a:ext>
              </a:extLst>
            </p:cNvPr>
            <p:cNvSpPr/>
            <p:nvPr/>
          </p:nvSpPr>
          <p:spPr>
            <a:xfrm>
              <a:off x="6840946" y="4753016"/>
              <a:ext cx="1000852" cy="36004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>
                <a:lnSpc>
                  <a:spcPct val="150000"/>
                </a:lnSpc>
              </a:pPr>
              <a:r>
                <a:rPr lang="en-US" altLang="ko-KR" sz="1050" b="1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90</a:t>
              </a:r>
              <a:endParaRPr lang="ko-KR" altLang="en-US" sz="105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29" name="직사각형 128">
              <a:extLst>
                <a:ext uri="{FF2B5EF4-FFF2-40B4-BE49-F238E27FC236}">
                  <a16:creationId xmlns:a16="http://schemas.microsoft.com/office/drawing/2014/main" id="{AC0338E5-ACB9-4599-9164-14CBAA0BB152}"/>
                </a:ext>
              </a:extLst>
            </p:cNvPr>
            <p:cNvSpPr/>
            <p:nvPr/>
          </p:nvSpPr>
          <p:spPr>
            <a:xfrm>
              <a:off x="4029004" y="4752333"/>
              <a:ext cx="864096" cy="36004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 algn="r">
                <a:lnSpc>
                  <a:spcPct val="150000"/>
                </a:lnSpc>
              </a:pPr>
              <a:r>
                <a:rPr lang="en-US" altLang="ko-KR" sz="105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KW</a:t>
              </a:r>
              <a:endParaRPr lang="ko-KR" altLang="en-US" sz="105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30" name="직사각형 129">
              <a:extLst>
                <a:ext uri="{FF2B5EF4-FFF2-40B4-BE49-F238E27FC236}">
                  <a16:creationId xmlns:a16="http://schemas.microsoft.com/office/drawing/2014/main" id="{F70D8862-861E-48D5-90FB-1CED54845816}"/>
                </a:ext>
              </a:extLst>
            </p:cNvPr>
            <p:cNvSpPr/>
            <p:nvPr/>
          </p:nvSpPr>
          <p:spPr>
            <a:xfrm>
              <a:off x="5135494" y="4758497"/>
              <a:ext cx="1554176" cy="36004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 algn="r">
                <a:lnSpc>
                  <a:spcPct val="150000"/>
                </a:lnSpc>
              </a:pPr>
              <a:r>
                <a:rPr lang="ko-KR" altLang="en-US" sz="105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요금적용전력대비</a:t>
              </a:r>
            </a:p>
          </p:txBody>
        </p:sp>
      </p:grpSp>
      <p:sp>
        <p:nvSpPr>
          <p:cNvPr id="48" name="타원형 설명선 226">
            <a:extLst>
              <a:ext uri="{FF2B5EF4-FFF2-40B4-BE49-F238E27FC236}">
                <a16:creationId xmlns:a16="http://schemas.microsoft.com/office/drawing/2014/main" id="{AF9D284A-3A35-4242-ABB2-8FD84B79DE9C}"/>
              </a:ext>
            </a:extLst>
          </p:cNvPr>
          <p:cNvSpPr/>
          <p:nvPr/>
        </p:nvSpPr>
        <p:spPr>
          <a:xfrm>
            <a:off x="704528" y="2428003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9" name="타원형 설명선 243">
            <a:extLst>
              <a:ext uri="{FF2B5EF4-FFF2-40B4-BE49-F238E27FC236}">
                <a16:creationId xmlns:a16="http://schemas.microsoft.com/office/drawing/2014/main" id="{41FA36C8-8BBF-40EB-891B-4C0B3B355309}"/>
              </a:ext>
            </a:extLst>
          </p:cNvPr>
          <p:cNvSpPr/>
          <p:nvPr/>
        </p:nvSpPr>
        <p:spPr>
          <a:xfrm>
            <a:off x="468077" y="3516722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0" name="타원형 설명선 244">
            <a:extLst>
              <a:ext uri="{FF2B5EF4-FFF2-40B4-BE49-F238E27FC236}">
                <a16:creationId xmlns:a16="http://schemas.microsoft.com/office/drawing/2014/main" id="{AD393632-3072-4534-92E8-DC3566C5C782}"/>
              </a:ext>
            </a:extLst>
          </p:cNvPr>
          <p:cNvSpPr/>
          <p:nvPr/>
        </p:nvSpPr>
        <p:spPr>
          <a:xfrm>
            <a:off x="904792" y="2960808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1" name="타원형 설명선 225">
            <a:extLst>
              <a:ext uri="{FF2B5EF4-FFF2-40B4-BE49-F238E27FC236}">
                <a16:creationId xmlns:a16="http://schemas.microsoft.com/office/drawing/2014/main" id="{7B84FF0F-D742-465B-A8F3-88AC29882150}"/>
              </a:ext>
            </a:extLst>
          </p:cNvPr>
          <p:cNvSpPr/>
          <p:nvPr/>
        </p:nvSpPr>
        <p:spPr>
          <a:xfrm>
            <a:off x="704528" y="1900714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2" name="타원형 설명선 243">
            <a:extLst>
              <a:ext uri="{FF2B5EF4-FFF2-40B4-BE49-F238E27FC236}">
                <a16:creationId xmlns:a16="http://schemas.microsoft.com/office/drawing/2014/main" id="{9636F9EC-6BDA-472F-AE42-09A43C1B0D49}"/>
              </a:ext>
            </a:extLst>
          </p:cNvPr>
          <p:cNvSpPr/>
          <p:nvPr/>
        </p:nvSpPr>
        <p:spPr>
          <a:xfrm>
            <a:off x="746731" y="4110217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6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3" name="타원형 설명선 243">
            <a:extLst>
              <a:ext uri="{FF2B5EF4-FFF2-40B4-BE49-F238E27FC236}">
                <a16:creationId xmlns:a16="http://schemas.microsoft.com/office/drawing/2014/main" id="{3E357F8A-BBE1-4C93-8C2A-7F8D874D589D}"/>
              </a:ext>
            </a:extLst>
          </p:cNvPr>
          <p:cNvSpPr/>
          <p:nvPr/>
        </p:nvSpPr>
        <p:spPr>
          <a:xfrm>
            <a:off x="4396752" y="3453168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4" name="타원형 설명선 243">
            <a:extLst>
              <a:ext uri="{FF2B5EF4-FFF2-40B4-BE49-F238E27FC236}">
                <a16:creationId xmlns:a16="http://schemas.microsoft.com/office/drawing/2014/main" id="{6BA3F173-7802-4541-B551-3B45711BC810}"/>
              </a:ext>
            </a:extLst>
          </p:cNvPr>
          <p:cNvSpPr/>
          <p:nvPr/>
        </p:nvSpPr>
        <p:spPr>
          <a:xfrm>
            <a:off x="4810979" y="4116760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7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5" name="타원형 설명선 243">
            <a:extLst>
              <a:ext uri="{FF2B5EF4-FFF2-40B4-BE49-F238E27FC236}">
                <a16:creationId xmlns:a16="http://schemas.microsoft.com/office/drawing/2014/main" id="{5186BE68-69EE-407F-A26D-C253D21D5FC5}"/>
              </a:ext>
            </a:extLst>
          </p:cNvPr>
          <p:cNvSpPr/>
          <p:nvPr/>
        </p:nvSpPr>
        <p:spPr>
          <a:xfrm>
            <a:off x="2736606" y="4927143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8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6" name="타원형 설명선 243">
            <a:extLst>
              <a:ext uri="{FF2B5EF4-FFF2-40B4-BE49-F238E27FC236}">
                <a16:creationId xmlns:a16="http://schemas.microsoft.com/office/drawing/2014/main" id="{CF6AF6FA-7D7A-40EC-83EE-E95A2D1B5C5E}"/>
              </a:ext>
            </a:extLst>
          </p:cNvPr>
          <p:cNvSpPr/>
          <p:nvPr/>
        </p:nvSpPr>
        <p:spPr>
          <a:xfrm>
            <a:off x="4102329" y="4926563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9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216737170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9104309" y="6645875"/>
            <a:ext cx="140029" cy="138499"/>
          </a:xfrm>
        </p:spPr>
        <p:txBody>
          <a:bodyPr/>
          <a:lstStyle/>
          <a:p>
            <a:pPr>
              <a:defRPr/>
            </a:pPr>
            <a:fld id="{9E41B634-5682-4388-99E7-FE44DCFD254B}" type="slidenum">
              <a:rPr lang="ko-KR" altLang="en-US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>
                <a:defRPr/>
              </a:pPr>
              <a:t>52</a:t>
            </a:fld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텍스트 개체 틀 8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 &gt;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설정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&gt;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사이트 관리</a:t>
            </a:r>
          </a:p>
        </p:txBody>
      </p:sp>
      <p:sp>
        <p:nvSpPr>
          <p:cNvPr id="10" name="텍스트 개체 틀 9"/>
          <p:cNvSpPr>
            <a:spLocks noGrp="1"/>
          </p:cNvSpPr>
          <p:nvPr>
            <p:ph type="body" sz="quarter" idx="10"/>
          </p:nvPr>
        </p:nvSpPr>
        <p:spPr>
          <a:xfrm>
            <a:off x="6023595" y="44624"/>
            <a:ext cx="1233661" cy="196974"/>
          </a:xfrm>
        </p:spPr>
        <p:txBody>
          <a:bodyPr/>
          <a:lstStyle/>
          <a:p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사이트 관리</a:t>
            </a:r>
          </a:p>
        </p:txBody>
      </p:sp>
      <p:graphicFrame>
        <p:nvGraphicFramePr>
          <p:cNvPr id="102" name="Group 15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6103105"/>
              </p:ext>
            </p:extLst>
          </p:nvPr>
        </p:nvGraphicFramePr>
        <p:xfrm>
          <a:off x="8469313" y="276225"/>
          <a:ext cx="1404000" cy="3399744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3002"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Description</a:t>
                      </a: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사이트 리스트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등록된 사이트 리스트를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2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사이트 편집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리스트 內 항목이 확장되면서 추가 및 편집이 가능한 </a:t>
                      </a:r>
                      <a:r>
                        <a:rPr kumimoji="1"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UI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3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사이트 추가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신규 사이트 등록 화면으로 이동한다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.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*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다음 페이지 참고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4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확인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모든 변경사항을 적용하고 이전화면으로 돌아간다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.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5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취소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모든 변경사항을 적용하지 않고 이전화면으로 돌아간다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.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8304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78" name="TextBox 77"/>
          <p:cNvSpPr txBox="1"/>
          <p:nvPr/>
        </p:nvSpPr>
        <p:spPr>
          <a:xfrm>
            <a:off x="7121707" y="21349"/>
            <a:ext cx="567597" cy="2308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화면</a:t>
            </a:r>
            <a:r>
              <a:rPr lang="en-US" altLang="ko-KR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ID</a:t>
            </a:r>
            <a:endParaRPr lang="ko-KR" altLang="en-US" sz="9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7689304" y="43659"/>
            <a:ext cx="792088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itchFamily="50" charset="-127"/>
                <a:ea typeface="맑은 고딕" pitchFamily="50" charset="-127"/>
              </a:rPr>
              <a:t>ewpsp_scr_035</a:t>
            </a:r>
            <a:endParaRPr lang="ko-KR" altLang="en-US" sz="70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06" name="타원형 설명선 205"/>
          <p:cNvSpPr/>
          <p:nvPr/>
        </p:nvSpPr>
        <p:spPr>
          <a:xfrm>
            <a:off x="-788740" y="2744866"/>
            <a:ext cx="216000" cy="216000"/>
          </a:xfrm>
          <a:prstGeom prst="wedgeEllipseCallout">
            <a:avLst>
              <a:gd name="adj1" fmla="val 74230"/>
              <a:gd name="adj2" fmla="val 21822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/>
              <a:t>9</a:t>
            </a:r>
            <a:endParaRPr lang="ko-KR" altLang="en-US" sz="900" b="1" dirty="0"/>
          </a:p>
        </p:txBody>
      </p:sp>
      <p:sp>
        <p:nvSpPr>
          <p:cNvPr id="226" name="타원형 설명선 225"/>
          <p:cNvSpPr/>
          <p:nvPr/>
        </p:nvSpPr>
        <p:spPr>
          <a:xfrm>
            <a:off x="-834519" y="3213000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27" name="타원형 설명선 226"/>
          <p:cNvSpPr/>
          <p:nvPr/>
        </p:nvSpPr>
        <p:spPr>
          <a:xfrm>
            <a:off x="-788740" y="1884839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4" name="타원형 설명선 243"/>
          <p:cNvSpPr/>
          <p:nvPr/>
        </p:nvSpPr>
        <p:spPr>
          <a:xfrm>
            <a:off x="-796619" y="2150818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5" name="타원형 설명선 244"/>
          <p:cNvSpPr/>
          <p:nvPr/>
        </p:nvSpPr>
        <p:spPr>
          <a:xfrm>
            <a:off x="-808982" y="3727293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6" name="타원형 설명선 245"/>
          <p:cNvSpPr/>
          <p:nvPr/>
        </p:nvSpPr>
        <p:spPr>
          <a:xfrm>
            <a:off x="-808982" y="4273670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7" name="타원형 설명선 246"/>
          <p:cNvSpPr/>
          <p:nvPr/>
        </p:nvSpPr>
        <p:spPr>
          <a:xfrm>
            <a:off x="-796619" y="1324215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7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8" name="타원형 설명선 247"/>
          <p:cNvSpPr/>
          <p:nvPr/>
        </p:nvSpPr>
        <p:spPr>
          <a:xfrm>
            <a:off x="-796619" y="1576196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8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66" name="타원형 설명선 265"/>
          <p:cNvSpPr/>
          <p:nvPr/>
        </p:nvSpPr>
        <p:spPr>
          <a:xfrm>
            <a:off x="-786711" y="2456904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6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3" name="타원형 설명선 225">
            <a:extLst>
              <a:ext uri="{FF2B5EF4-FFF2-40B4-BE49-F238E27FC236}">
                <a16:creationId xmlns:a16="http://schemas.microsoft.com/office/drawing/2014/main" id="{93402A8C-F86A-4207-9226-F02BE6AB6E19}"/>
              </a:ext>
            </a:extLst>
          </p:cNvPr>
          <p:cNvSpPr/>
          <p:nvPr/>
        </p:nvSpPr>
        <p:spPr>
          <a:xfrm>
            <a:off x="-667135" y="976983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8" name="Picture 3">
            <a:extLst>
              <a:ext uri="{FF2B5EF4-FFF2-40B4-BE49-F238E27FC236}">
                <a16:creationId xmlns:a16="http://schemas.microsoft.com/office/drawing/2014/main" id="{D14E8AEF-8EA8-4944-AE52-FF98A1FB783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463" y="764704"/>
            <a:ext cx="8208912" cy="5040559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  <a:extLst/>
        </p:spPr>
      </p:pic>
      <p:pic>
        <p:nvPicPr>
          <p:cNvPr id="19" name="Picture 2">
            <a:extLst>
              <a:ext uri="{FF2B5EF4-FFF2-40B4-BE49-F238E27FC236}">
                <a16:creationId xmlns:a16="http://schemas.microsoft.com/office/drawing/2014/main" id="{6FBB0165-03FF-4BBD-A158-8DEF923CF53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464" y="762442"/>
            <a:ext cx="8208912" cy="3487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20" name="직선 연결선 19">
            <a:extLst>
              <a:ext uri="{FF2B5EF4-FFF2-40B4-BE49-F238E27FC236}">
                <a16:creationId xmlns:a16="http://schemas.microsoft.com/office/drawing/2014/main" id="{37D07777-30AA-4506-9C18-6F3B4C7D943C}"/>
              </a:ext>
            </a:extLst>
          </p:cNvPr>
          <p:cNvCxnSpPr>
            <a:cxnSpLocks/>
          </p:cNvCxnSpPr>
          <p:nvPr/>
        </p:nvCxnSpPr>
        <p:spPr>
          <a:xfrm>
            <a:off x="128463" y="1124744"/>
            <a:ext cx="8208912" cy="0"/>
          </a:xfrm>
          <a:prstGeom prst="line">
            <a:avLst/>
          </a:prstGeom>
          <a:ln w="9525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5E84417E-CAA5-4FD3-BBB9-7CD5570EF571}"/>
              </a:ext>
            </a:extLst>
          </p:cNvPr>
          <p:cNvSpPr/>
          <p:nvPr/>
        </p:nvSpPr>
        <p:spPr>
          <a:xfrm>
            <a:off x="216314" y="1324228"/>
            <a:ext cx="2216405" cy="288032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>
              <a:lnSpc>
                <a:spcPct val="150000"/>
              </a:lnSpc>
            </a:pPr>
            <a:r>
              <a:rPr lang="ko-KR" altLang="en-US" sz="10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설정</a:t>
            </a:r>
            <a:r>
              <a:rPr lang="en-US" altLang="ko-KR" sz="10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 – </a:t>
            </a:r>
            <a:r>
              <a:rPr lang="ko-KR" altLang="en-US" sz="10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사이트 관리</a:t>
            </a:r>
          </a:p>
        </p:txBody>
      </p:sp>
      <p:pic>
        <p:nvPicPr>
          <p:cNvPr id="47" name="Picture 2" descr="ì¤ì ì ëí ì´ë¯¸ì§ ê²ìê²°ê³¼">
            <a:extLst>
              <a:ext uri="{FF2B5EF4-FFF2-40B4-BE49-F238E27FC236}">
                <a16:creationId xmlns:a16="http://schemas.microsoft.com/office/drawing/2014/main" id="{90A888AD-844A-4544-B02A-A77BC3397C7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05865" y="844086"/>
            <a:ext cx="198592" cy="19859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aphicFrame>
        <p:nvGraphicFramePr>
          <p:cNvPr id="26" name="표 25">
            <a:extLst>
              <a:ext uri="{FF2B5EF4-FFF2-40B4-BE49-F238E27FC236}">
                <a16:creationId xmlns:a16="http://schemas.microsoft.com/office/drawing/2014/main" id="{CAE1C9B4-839C-4259-9692-BDAE3D5A830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90345368"/>
              </p:ext>
            </p:extLst>
          </p:nvPr>
        </p:nvGraphicFramePr>
        <p:xfrm>
          <a:off x="344488" y="2011852"/>
          <a:ext cx="7776864" cy="141714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5262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8881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8881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36534">
                  <a:extLst>
                    <a:ext uri="{9D8B030D-6E8A-4147-A177-3AD203B41FA5}">
                      <a16:colId xmlns:a16="http://schemas.microsoft.com/office/drawing/2014/main" val="3133273923"/>
                    </a:ext>
                  </a:extLst>
                </a:gridCol>
                <a:gridCol w="2405035">
                  <a:extLst>
                    <a:ext uri="{9D8B030D-6E8A-4147-A177-3AD203B41FA5}">
                      <a16:colId xmlns:a16="http://schemas.microsoft.com/office/drawing/2014/main" val="1728993893"/>
                    </a:ext>
                  </a:extLst>
                </a:gridCol>
                <a:gridCol w="2405035">
                  <a:extLst>
                    <a:ext uri="{9D8B030D-6E8A-4147-A177-3AD203B41FA5}">
                      <a16:colId xmlns:a16="http://schemas.microsoft.com/office/drawing/2014/main" val="3305922908"/>
                    </a:ext>
                  </a:extLst>
                </a:gridCol>
              </a:tblGrid>
              <a:tr h="30807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solidFill>
                            <a:schemeClr val="bg1"/>
                          </a:solidFill>
                        </a:rPr>
                        <a:t>NO</a:t>
                      </a:r>
                      <a:endParaRPr lang="ko-KR" altLang="en-US" sz="1000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aseline="0" dirty="0">
                          <a:solidFill>
                            <a:schemeClr val="bg1"/>
                          </a:solidFill>
                        </a:rPr>
                        <a:t>사이트 명</a:t>
                      </a:r>
                      <a:endParaRPr lang="ko-KR" altLang="en-US" sz="1000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aseline="0" dirty="0">
                          <a:solidFill>
                            <a:schemeClr val="bg1"/>
                          </a:solidFill>
                        </a:rPr>
                        <a:t>사이트 </a:t>
                      </a:r>
                      <a:r>
                        <a:rPr lang="en-US" altLang="ko-KR" sz="1000" baseline="0" dirty="0">
                          <a:solidFill>
                            <a:schemeClr val="bg1"/>
                          </a:solidFill>
                        </a:rPr>
                        <a:t>ID</a:t>
                      </a:r>
                      <a:endParaRPr lang="ko-KR" altLang="en-US" sz="1000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dirty="0">
                          <a:solidFill>
                            <a:schemeClr val="bg1"/>
                          </a:solidFill>
                        </a:rPr>
                        <a:t>그룹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solidFill>
                            <a:schemeClr val="bg1"/>
                          </a:solidFill>
                        </a:rPr>
                        <a:t>Local</a:t>
                      </a:r>
                      <a:r>
                        <a:rPr lang="ko-KR" altLang="en-US" sz="1000" dirty="0">
                          <a:solidFill>
                            <a:schemeClr val="bg1"/>
                          </a:solidFill>
                        </a:rPr>
                        <a:t> </a:t>
                      </a:r>
                      <a:r>
                        <a:rPr lang="en-US" altLang="ko-KR" sz="1000" dirty="0">
                          <a:solidFill>
                            <a:schemeClr val="bg1"/>
                          </a:solidFill>
                        </a:rPr>
                        <a:t>EMS </a:t>
                      </a:r>
                      <a:r>
                        <a:rPr lang="ko-KR" altLang="en-US" sz="1000" dirty="0">
                          <a:solidFill>
                            <a:schemeClr val="bg1"/>
                          </a:solidFill>
                        </a:rPr>
                        <a:t>주소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dirty="0">
                          <a:solidFill>
                            <a:schemeClr val="bg1"/>
                          </a:solidFill>
                        </a:rPr>
                        <a:t>등록 장치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726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제일화성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10037202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그룹</a:t>
                      </a:r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_1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PCS_1 PCS_2 BMS_1 BMS_2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7726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제일화성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10037202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그룹</a:t>
                      </a:r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_1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PCS_3 PCS_4 BMS_3 BMS_4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7726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7726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27" name="TextBox 26">
            <a:extLst>
              <a:ext uri="{FF2B5EF4-FFF2-40B4-BE49-F238E27FC236}">
                <a16:creationId xmlns:a16="http://schemas.microsoft.com/office/drawing/2014/main" id="{E2F83205-F9F5-44DA-BD66-A7372F195E14}"/>
              </a:ext>
            </a:extLst>
          </p:cNvPr>
          <p:cNvSpPr txBox="1"/>
          <p:nvPr/>
        </p:nvSpPr>
        <p:spPr>
          <a:xfrm>
            <a:off x="7149244" y="3492686"/>
            <a:ext cx="972108" cy="215444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square" rtlCol="0" anchor="ctr">
            <a:spAutoFit/>
          </a:bodyPr>
          <a:lstStyle/>
          <a:p>
            <a:pPr algn="ctr"/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사이트 추가하기</a:t>
            </a:r>
          </a:p>
        </p:txBody>
      </p:sp>
      <p:pic>
        <p:nvPicPr>
          <p:cNvPr id="28" name="Picture 2" descr="editì ëí ì´ë¯¸ì§ ê²ìê²°ê³¼">
            <a:extLst>
              <a:ext uri="{FF2B5EF4-FFF2-40B4-BE49-F238E27FC236}">
                <a16:creationId xmlns:a16="http://schemas.microsoft.com/office/drawing/2014/main" id="{B28A14A0-3A37-42A6-B62B-4FACB903435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897436" y="2344946"/>
            <a:ext cx="223916" cy="22391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9" name="Picture 2" descr="editì ëí ì´ë¯¸ì§ ê²ìê²°ê³¼">
            <a:extLst>
              <a:ext uri="{FF2B5EF4-FFF2-40B4-BE49-F238E27FC236}">
                <a16:creationId xmlns:a16="http://schemas.microsoft.com/office/drawing/2014/main" id="{81CE7C41-EDA2-463A-B17C-6D90157ACD5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1155" y="2628950"/>
            <a:ext cx="223916" cy="22391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0" name="말풍선: 모서리가 둥근 사각형 29">
            <a:extLst>
              <a:ext uri="{FF2B5EF4-FFF2-40B4-BE49-F238E27FC236}">
                <a16:creationId xmlns:a16="http://schemas.microsoft.com/office/drawing/2014/main" id="{2023721B-059F-44F7-8C31-14835F102F6F}"/>
              </a:ext>
            </a:extLst>
          </p:cNvPr>
          <p:cNvSpPr/>
          <p:nvPr/>
        </p:nvSpPr>
        <p:spPr>
          <a:xfrm>
            <a:off x="3728864" y="1281318"/>
            <a:ext cx="2002538" cy="517793"/>
          </a:xfrm>
          <a:prstGeom prst="wedgeRoundRectCallout">
            <a:avLst>
              <a:gd name="adj1" fmla="val -32905"/>
              <a:gd name="adj2" fmla="val 77306"/>
              <a:gd name="adj3" fmla="val 16667"/>
            </a:avLst>
          </a:prstGeom>
          <a:ln>
            <a:solidFill>
              <a:srgbClr val="FF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eaLnBrk="0" fontAlgn="base" hangingPunct="0">
              <a:spcBef>
                <a:spcPct val="20000"/>
              </a:spcBef>
              <a:spcAft>
                <a:spcPct val="0"/>
              </a:spcAft>
            </a:pPr>
            <a:r>
              <a:rPr kumimoji="1"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  <a:sym typeface="Gill Sans"/>
              </a:rPr>
              <a:t>리스트 內 항목이 확장되면서 추가 및 편집이 가능한 </a:t>
            </a:r>
            <a:r>
              <a:rPr kumimoji="1"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  <a:sym typeface="Gill Sans"/>
              </a:rPr>
              <a:t>UI </a:t>
            </a:r>
            <a:r>
              <a:rPr kumimoji="1"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  <a:sym typeface="Gill Sans"/>
              </a:rPr>
              <a:t>권장 </a:t>
            </a:r>
            <a:endParaRPr kumimoji="1" lang="en-US" altLang="ko-KR" sz="1000" dirty="0">
              <a:latin typeface="맑은 고딕" panose="020B0503020000020004" pitchFamily="50" charset="-127"/>
              <a:ea typeface="맑은 고딕" panose="020B0503020000020004" pitchFamily="50" charset="-127"/>
              <a:cs typeface="Arial" pitchFamily="34" charset="0"/>
              <a:sym typeface="Gill Sans"/>
            </a:endParaRPr>
          </a:p>
        </p:txBody>
      </p:sp>
      <p:sp>
        <p:nvSpPr>
          <p:cNvPr id="31" name="타원형 설명선 226">
            <a:extLst>
              <a:ext uri="{FF2B5EF4-FFF2-40B4-BE49-F238E27FC236}">
                <a16:creationId xmlns:a16="http://schemas.microsoft.com/office/drawing/2014/main" id="{75AB5558-AC4C-45F1-8659-197E0B123AC8}"/>
              </a:ext>
            </a:extLst>
          </p:cNvPr>
          <p:cNvSpPr/>
          <p:nvPr/>
        </p:nvSpPr>
        <p:spPr>
          <a:xfrm>
            <a:off x="498245" y="2200715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2" name="타원형 설명선 243">
            <a:extLst>
              <a:ext uri="{FF2B5EF4-FFF2-40B4-BE49-F238E27FC236}">
                <a16:creationId xmlns:a16="http://schemas.microsoft.com/office/drawing/2014/main" id="{8406E2F9-4C41-487F-BBEA-01BDFADBBDF7}"/>
              </a:ext>
            </a:extLst>
          </p:cNvPr>
          <p:cNvSpPr/>
          <p:nvPr/>
        </p:nvSpPr>
        <p:spPr>
          <a:xfrm>
            <a:off x="2758034" y="4905796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3" name="타원형 설명선 244">
            <a:extLst>
              <a:ext uri="{FF2B5EF4-FFF2-40B4-BE49-F238E27FC236}">
                <a16:creationId xmlns:a16="http://schemas.microsoft.com/office/drawing/2014/main" id="{6754E7CD-60A1-4B25-857F-E67127ED430C}"/>
              </a:ext>
            </a:extLst>
          </p:cNvPr>
          <p:cNvSpPr/>
          <p:nvPr/>
        </p:nvSpPr>
        <p:spPr>
          <a:xfrm>
            <a:off x="6863924" y="3304680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4" name="타원형 설명선 225">
            <a:extLst>
              <a:ext uri="{FF2B5EF4-FFF2-40B4-BE49-F238E27FC236}">
                <a16:creationId xmlns:a16="http://schemas.microsoft.com/office/drawing/2014/main" id="{092F279A-E8F7-4E77-A1F9-216E893E5F3C}"/>
              </a:ext>
            </a:extLst>
          </p:cNvPr>
          <p:cNvSpPr/>
          <p:nvPr/>
        </p:nvSpPr>
        <p:spPr>
          <a:xfrm>
            <a:off x="181001" y="1863143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6" name="타원형 설명선 243">
            <a:extLst>
              <a:ext uri="{FF2B5EF4-FFF2-40B4-BE49-F238E27FC236}">
                <a16:creationId xmlns:a16="http://schemas.microsoft.com/office/drawing/2014/main" id="{4A9CCC4F-137A-4AB6-BAD0-49CE4668CBE3}"/>
              </a:ext>
            </a:extLst>
          </p:cNvPr>
          <p:cNvSpPr/>
          <p:nvPr/>
        </p:nvSpPr>
        <p:spPr>
          <a:xfrm>
            <a:off x="4153076" y="4907202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D0E2892A-9029-488B-B7D5-029EC7B60792}"/>
              </a:ext>
            </a:extLst>
          </p:cNvPr>
          <p:cNvSpPr/>
          <p:nvPr/>
        </p:nvSpPr>
        <p:spPr>
          <a:xfrm>
            <a:off x="3039178" y="5121796"/>
            <a:ext cx="1160451" cy="323428"/>
          </a:xfrm>
          <a:prstGeom prst="rect">
            <a:avLst/>
          </a:prstGeom>
          <a:solidFill>
            <a:srgbClr val="0099FF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ko-KR" altLang="en-US" sz="105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확인</a:t>
            </a: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1CDF0EE3-9282-42D2-B92F-B0429C347189}"/>
              </a:ext>
            </a:extLst>
          </p:cNvPr>
          <p:cNvSpPr/>
          <p:nvPr/>
        </p:nvSpPr>
        <p:spPr>
          <a:xfrm>
            <a:off x="4372773" y="5121796"/>
            <a:ext cx="1160451" cy="323428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ko-KR" altLang="en-US" sz="105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취소</a:t>
            </a:r>
          </a:p>
        </p:txBody>
      </p:sp>
    </p:spTree>
    <p:extLst>
      <p:ext uri="{BB962C8B-B14F-4D97-AF65-F5344CB8AC3E}">
        <p14:creationId xmlns:p14="http://schemas.microsoft.com/office/powerpoint/2010/main" val="1659789109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" name="직사각형 35">
            <a:extLst>
              <a:ext uri="{FF2B5EF4-FFF2-40B4-BE49-F238E27FC236}">
                <a16:creationId xmlns:a16="http://schemas.microsoft.com/office/drawing/2014/main" id="{A9FCF855-5391-4BAF-BEC3-0614AD2EFDDA}"/>
              </a:ext>
            </a:extLst>
          </p:cNvPr>
          <p:cNvSpPr/>
          <p:nvPr/>
        </p:nvSpPr>
        <p:spPr>
          <a:xfrm>
            <a:off x="1549232" y="1052736"/>
            <a:ext cx="5371466" cy="3240355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200000"/>
              </a:lnSpc>
            </a:pPr>
            <a:endParaRPr lang="ko-KR" altLang="en-US" sz="100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9104309" y="6645875"/>
            <a:ext cx="140029" cy="138499"/>
          </a:xfrm>
        </p:spPr>
        <p:txBody>
          <a:bodyPr/>
          <a:lstStyle/>
          <a:p>
            <a:pPr>
              <a:defRPr/>
            </a:pPr>
            <a:fld id="{9E41B634-5682-4388-99E7-FE44DCFD254B}" type="slidenum">
              <a:rPr lang="ko-KR" altLang="en-US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>
                <a:defRPr/>
              </a:pPr>
              <a:t>53</a:t>
            </a:fld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텍스트 개체 틀 8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 &gt;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설정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&gt;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사이트 관리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&gt;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신규 사이트 등록</a:t>
            </a:r>
          </a:p>
        </p:txBody>
      </p:sp>
      <p:sp>
        <p:nvSpPr>
          <p:cNvPr id="10" name="텍스트 개체 틀 9"/>
          <p:cNvSpPr>
            <a:spLocks noGrp="1"/>
          </p:cNvSpPr>
          <p:nvPr>
            <p:ph type="body" sz="quarter" idx="10"/>
          </p:nvPr>
        </p:nvSpPr>
        <p:spPr>
          <a:xfrm>
            <a:off x="6023595" y="44624"/>
            <a:ext cx="1233661" cy="196974"/>
          </a:xfrm>
        </p:spPr>
        <p:txBody>
          <a:bodyPr/>
          <a:lstStyle/>
          <a:p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신규 사이트 등록</a:t>
            </a:r>
          </a:p>
        </p:txBody>
      </p:sp>
      <p:graphicFrame>
        <p:nvGraphicFramePr>
          <p:cNvPr id="102" name="Group 15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1581254"/>
              </p:ext>
            </p:extLst>
          </p:nvPr>
        </p:nvGraphicFramePr>
        <p:xfrm>
          <a:off x="8469313" y="276225"/>
          <a:ext cx="1404000" cy="4646976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3002"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Description</a:t>
                      </a: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사이트 명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신규 등록할 사이트 명을 입력한다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.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2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사이트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ID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신규 등록할 사이트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ID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를 입력한다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.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* ID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자동 생성 및 할당 관련 검토 필요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3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그룹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신규 등록할 사이트가 속할 그룹을 선택한다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.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4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Local EMS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주소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신규 등록할 사이트의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Local EMS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주소를 입력한다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.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5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Local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EMS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암호키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Local EMS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경로 접근을 위한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암호키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등록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*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암호키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처리 관련 추가 확인 필요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6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확인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모든 변경사항을 적용하고 팝업을 종료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1511802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7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취소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모든 변경사항을 적용하지 않고 팝업을 종료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906115"/>
                  </a:ext>
                </a:extLst>
              </a:tr>
              <a:tr h="38304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*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별도의 팝업이 아닌 이전 페이지의 사이트 리스트에서 바로 추가가 가능한 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UI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검토 필요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78" name="TextBox 77"/>
          <p:cNvSpPr txBox="1"/>
          <p:nvPr/>
        </p:nvSpPr>
        <p:spPr>
          <a:xfrm>
            <a:off x="7121707" y="21349"/>
            <a:ext cx="567597" cy="2308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화면</a:t>
            </a:r>
            <a:r>
              <a:rPr lang="en-US" altLang="ko-KR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ID</a:t>
            </a:r>
            <a:endParaRPr lang="ko-KR" altLang="en-US" sz="9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7689304" y="43659"/>
            <a:ext cx="792088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itchFamily="50" charset="-127"/>
                <a:ea typeface="맑은 고딕" pitchFamily="50" charset="-127"/>
              </a:rPr>
              <a:t>ewpsp_scr_036</a:t>
            </a:r>
            <a:endParaRPr lang="ko-KR" altLang="en-US" sz="70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06" name="타원형 설명선 205"/>
          <p:cNvSpPr/>
          <p:nvPr/>
        </p:nvSpPr>
        <p:spPr>
          <a:xfrm>
            <a:off x="-788740" y="2744866"/>
            <a:ext cx="216000" cy="216000"/>
          </a:xfrm>
          <a:prstGeom prst="wedgeEllipseCallout">
            <a:avLst>
              <a:gd name="adj1" fmla="val 74230"/>
              <a:gd name="adj2" fmla="val 21822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/>
              <a:t>9</a:t>
            </a:r>
            <a:endParaRPr lang="ko-KR" altLang="en-US" sz="900" b="1" dirty="0"/>
          </a:p>
        </p:txBody>
      </p:sp>
      <p:sp>
        <p:nvSpPr>
          <p:cNvPr id="226" name="타원형 설명선 225"/>
          <p:cNvSpPr/>
          <p:nvPr/>
        </p:nvSpPr>
        <p:spPr>
          <a:xfrm>
            <a:off x="-834519" y="3213000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27" name="타원형 설명선 226"/>
          <p:cNvSpPr/>
          <p:nvPr/>
        </p:nvSpPr>
        <p:spPr>
          <a:xfrm>
            <a:off x="-788740" y="1884839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4" name="타원형 설명선 243"/>
          <p:cNvSpPr/>
          <p:nvPr/>
        </p:nvSpPr>
        <p:spPr>
          <a:xfrm>
            <a:off x="-796619" y="2150818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5" name="타원형 설명선 244"/>
          <p:cNvSpPr/>
          <p:nvPr/>
        </p:nvSpPr>
        <p:spPr>
          <a:xfrm>
            <a:off x="-808982" y="3727293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6" name="타원형 설명선 245"/>
          <p:cNvSpPr/>
          <p:nvPr/>
        </p:nvSpPr>
        <p:spPr>
          <a:xfrm>
            <a:off x="-808982" y="4273670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7" name="타원형 설명선 246"/>
          <p:cNvSpPr/>
          <p:nvPr/>
        </p:nvSpPr>
        <p:spPr>
          <a:xfrm>
            <a:off x="-796619" y="1324215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7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8" name="타원형 설명선 247"/>
          <p:cNvSpPr/>
          <p:nvPr/>
        </p:nvSpPr>
        <p:spPr>
          <a:xfrm>
            <a:off x="-796619" y="1576196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8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66" name="타원형 설명선 265"/>
          <p:cNvSpPr/>
          <p:nvPr/>
        </p:nvSpPr>
        <p:spPr>
          <a:xfrm>
            <a:off x="-786711" y="2456904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6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3" name="타원형 설명선 225">
            <a:extLst>
              <a:ext uri="{FF2B5EF4-FFF2-40B4-BE49-F238E27FC236}">
                <a16:creationId xmlns:a16="http://schemas.microsoft.com/office/drawing/2014/main" id="{93402A8C-F86A-4207-9226-F02BE6AB6E19}"/>
              </a:ext>
            </a:extLst>
          </p:cNvPr>
          <p:cNvSpPr/>
          <p:nvPr/>
        </p:nvSpPr>
        <p:spPr>
          <a:xfrm>
            <a:off x="-667135" y="976983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25" name="그룹 124">
            <a:extLst>
              <a:ext uri="{FF2B5EF4-FFF2-40B4-BE49-F238E27FC236}">
                <a16:creationId xmlns:a16="http://schemas.microsoft.com/office/drawing/2014/main" id="{30D1016A-13FB-4513-A8E9-706EE203BB52}"/>
              </a:ext>
            </a:extLst>
          </p:cNvPr>
          <p:cNvGrpSpPr/>
          <p:nvPr/>
        </p:nvGrpSpPr>
        <p:grpSpPr>
          <a:xfrm>
            <a:off x="3039178" y="3681637"/>
            <a:ext cx="2494046" cy="323428"/>
            <a:chOff x="3791228" y="5284908"/>
            <a:chExt cx="2630919" cy="360040"/>
          </a:xfrm>
        </p:grpSpPr>
        <p:sp>
          <p:nvSpPr>
            <p:cNvPr id="126" name="직사각형 125">
              <a:extLst>
                <a:ext uri="{FF2B5EF4-FFF2-40B4-BE49-F238E27FC236}">
                  <a16:creationId xmlns:a16="http://schemas.microsoft.com/office/drawing/2014/main" id="{7726E8D3-148F-4164-832A-268A34EC9F35}"/>
                </a:ext>
              </a:extLst>
            </p:cNvPr>
            <p:cNvSpPr/>
            <p:nvPr/>
          </p:nvSpPr>
          <p:spPr>
            <a:xfrm>
              <a:off x="3791228" y="5284908"/>
              <a:ext cx="1224136" cy="360040"/>
            </a:xfrm>
            <a:prstGeom prst="rect">
              <a:avLst/>
            </a:prstGeom>
            <a:solidFill>
              <a:srgbClr val="0099FF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 algn="ctr">
                <a:lnSpc>
                  <a:spcPct val="150000"/>
                </a:lnSpc>
              </a:pPr>
              <a:r>
                <a:rPr lang="ko-KR" altLang="en-US" sz="105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확인</a:t>
              </a:r>
            </a:p>
          </p:txBody>
        </p:sp>
        <p:sp>
          <p:nvSpPr>
            <p:cNvPr id="127" name="직사각형 126">
              <a:extLst>
                <a:ext uri="{FF2B5EF4-FFF2-40B4-BE49-F238E27FC236}">
                  <a16:creationId xmlns:a16="http://schemas.microsoft.com/office/drawing/2014/main" id="{3D9A0764-2FF1-44DF-A947-222307667FC1}"/>
                </a:ext>
              </a:extLst>
            </p:cNvPr>
            <p:cNvSpPr/>
            <p:nvPr/>
          </p:nvSpPr>
          <p:spPr>
            <a:xfrm>
              <a:off x="5198011" y="5284908"/>
              <a:ext cx="1224136" cy="36004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 algn="ctr">
                <a:lnSpc>
                  <a:spcPct val="150000"/>
                </a:lnSpc>
              </a:pPr>
              <a:r>
                <a:rPr lang="ko-KR" altLang="en-US" sz="1050" b="1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취소</a:t>
              </a:r>
            </a:p>
          </p:txBody>
        </p:sp>
      </p:grp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A51507A6-6DC2-4700-8A8B-608C9D16AA26}"/>
              </a:ext>
            </a:extLst>
          </p:cNvPr>
          <p:cNvSpPr/>
          <p:nvPr/>
        </p:nvSpPr>
        <p:spPr>
          <a:xfrm>
            <a:off x="1712640" y="1412777"/>
            <a:ext cx="1272225" cy="323974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105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사이트 명</a:t>
            </a:r>
          </a:p>
        </p:txBody>
      </p: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1EE22907-23EF-4DC4-A448-E6C8457692DF}"/>
              </a:ext>
            </a:extLst>
          </p:cNvPr>
          <p:cNvSpPr/>
          <p:nvPr/>
        </p:nvSpPr>
        <p:spPr>
          <a:xfrm>
            <a:off x="3188653" y="1412777"/>
            <a:ext cx="3558684" cy="323974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endParaRPr lang="ko-KR" altLang="en-US" sz="105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32" name="직사각형 31">
            <a:extLst>
              <a:ext uri="{FF2B5EF4-FFF2-40B4-BE49-F238E27FC236}">
                <a16:creationId xmlns:a16="http://schemas.microsoft.com/office/drawing/2014/main" id="{1E9911D3-ABA6-41CD-9FB7-70E779FC86E1}"/>
              </a:ext>
            </a:extLst>
          </p:cNvPr>
          <p:cNvSpPr/>
          <p:nvPr/>
        </p:nvSpPr>
        <p:spPr>
          <a:xfrm>
            <a:off x="1712640" y="1818995"/>
            <a:ext cx="1331997" cy="323974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105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사이트 </a:t>
            </a:r>
            <a:r>
              <a:rPr lang="en-US" altLang="ko-KR" sz="105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ID</a:t>
            </a:r>
            <a:endParaRPr lang="ko-KR" altLang="en-US" sz="105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2F62D155-370B-419A-A2E2-419E0E082F3A}"/>
              </a:ext>
            </a:extLst>
          </p:cNvPr>
          <p:cNvSpPr/>
          <p:nvPr/>
        </p:nvSpPr>
        <p:spPr>
          <a:xfrm>
            <a:off x="3188653" y="1818995"/>
            <a:ext cx="3553224" cy="323974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endParaRPr lang="ko-KR" altLang="en-US" sz="105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5E96ABEF-6C66-493B-9806-DED10E5EA7ED}"/>
              </a:ext>
            </a:extLst>
          </p:cNvPr>
          <p:cNvSpPr/>
          <p:nvPr/>
        </p:nvSpPr>
        <p:spPr>
          <a:xfrm>
            <a:off x="1712640" y="2268862"/>
            <a:ext cx="1272225" cy="323974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105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그룹</a:t>
            </a: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BB31CAAD-AD06-4F6C-B42F-E432DC3E13BC}"/>
              </a:ext>
            </a:extLst>
          </p:cNvPr>
          <p:cNvSpPr/>
          <p:nvPr/>
        </p:nvSpPr>
        <p:spPr>
          <a:xfrm>
            <a:off x="3188653" y="2267642"/>
            <a:ext cx="3223885" cy="325194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endParaRPr lang="ko-KR" altLang="en-US" sz="105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151ED3D6-5952-4D1C-98E2-EA986A4EF5CA}"/>
              </a:ext>
            </a:extLst>
          </p:cNvPr>
          <p:cNvSpPr/>
          <p:nvPr/>
        </p:nvSpPr>
        <p:spPr>
          <a:xfrm>
            <a:off x="6412540" y="2267642"/>
            <a:ext cx="334796" cy="325084"/>
          </a:xfrm>
          <a:prstGeom prst="rect">
            <a:avLst/>
          </a:prstGeom>
          <a:noFill/>
          <a:ln w="317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algn="ctr">
              <a:lnSpc>
                <a:spcPct val="150000"/>
              </a:lnSpc>
            </a:pPr>
            <a:endParaRPr lang="ko-KR" altLang="en-US" sz="1050" b="1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2AD961B4-8F37-4619-8862-3C6CEB04E2E6}"/>
              </a:ext>
            </a:extLst>
          </p:cNvPr>
          <p:cNvSpPr txBox="1"/>
          <p:nvPr/>
        </p:nvSpPr>
        <p:spPr>
          <a:xfrm>
            <a:off x="6471926" y="2276873"/>
            <a:ext cx="216024" cy="3077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ko-KR" altLang="en-US" sz="14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▽</a:t>
            </a: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24DF2DB9-9C51-46E6-945D-767F4F3D5024}"/>
              </a:ext>
            </a:extLst>
          </p:cNvPr>
          <p:cNvSpPr/>
          <p:nvPr/>
        </p:nvSpPr>
        <p:spPr>
          <a:xfrm>
            <a:off x="1712640" y="2690947"/>
            <a:ext cx="1272225" cy="323974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en-US" altLang="ko-KR" sz="105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Local EMS </a:t>
            </a:r>
            <a:r>
              <a:rPr lang="ko-KR" altLang="en-US" sz="105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주소</a:t>
            </a: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BBC81B47-6BCF-4A8D-A182-81E9D7872D05}"/>
              </a:ext>
            </a:extLst>
          </p:cNvPr>
          <p:cNvSpPr/>
          <p:nvPr/>
        </p:nvSpPr>
        <p:spPr>
          <a:xfrm>
            <a:off x="3188653" y="2690947"/>
            <a:ext cx="3558684" cy="323974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endParaRPr lang="ko-KR" altLang="en-US" sz="105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1AA1358E-BD49-433C-8380-EA312F4BC3E7}"/>
              </a:ext>
            </a:extLst>
          </p:cNvPr>
          <p:cNvSpPr/>
          <p:nvPr/>
        </p:nvSpPr>
        <p:spPr>
          <a:xfrm>
            <a:off x="1707181" y="3114789"/>
            <a:ext cx="1331997" cy="323974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en-US" altLang="ko-KR" sz="105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Local EMS </a:t>
            </a:r>
            <a:r>
              <a:rPr lang="ko-KR" altLang="en-US" sz="1050" b="1" dirty="0" err="1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암호키</a:t>
            </a:r>
            <a:endParaRPr lang="ko-KR" altLang="en-US" sz="105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EBBBEA98-E8BB-48EF-83F7-251178DC3C98}"/>
              </a:ext>
            </a:extLst>
          </p:cNvPr>
          <p:cNvSpPr/>
          <p:nvPr/>
        </p:nvSpPr>
        <p:spPr>
          <a:xfrm>
            <a:off x="3183194" y="3114789"/>
            <a:ext cx="3223885" cy="322754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endParaRPr lang="ko-KR" altLang="en-US" sz="105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22FE0130-22E3-47B5-BD0F-33E988137895}"/>
              </a:ext>
            </a:extLst>
          </p:cNvPr>
          <p:cNvSpPr/>
          <p:nvPr/>
        </p:nvSpPr>
        <p:spPr>
          <a:xfrm>
            <a:off x="6407081" y="3113569"/>
            <a:ext cx="334796" cy="323974"/>
          </a:xfrm>
          <a:prstGeom prst="rect">
            <a:avLst/>
          </a:prstGeom>
          <a:noFill/>
          <a:ln w="317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algn="ctr">
              <a:lnSpc>
                <a:spcPct val="150000"/>
              </a:lnSpc>
            </a:pPr>
            <a:endParaRPr lang="ko-KR" altLang="en-US" sz="1050" b="1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F545A729-AC69-4F7F-9373-C9003BB9D8B3}"/>
              </a:ext>
            </a:extLst>
          </p:cNvPr>
          <p:cNvSpPr txBox="1"/>
          <p:nvPr/>
        </p:nvSpPr>
        <p:spPr>
          <a:xfrm>
            <a:off x="6466467" y="3051702"/>
            <a:ext cx="216024" cy="40011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+</a:t>
            </a:r>
            <a:endParaRPr lang="ko-KR" altLang="en-US" sz="20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6" name="타원형 설명선 226">
            <a:extLst>
              <a:ext uri="{FF2B5EF4-FFF2-40B4-BE49-F238E27FC236}">
                <a16:creationId xmlns:a16="http://schemas.microsoft.com/office/drawing/2014/main" id="{E58527BB-1A60-41F2-9171-FDEB80FBB770}"/>
              </a:ext>
            </a:extLst>
          </p:cNvPr>
          <p:cNvSpPr/>
          <p:nvPr/>
        </p:nvSpPr>
        <p:spPr>
          <a:xfrm>
            <a:off x="1544574" y="1759589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8" name="타원형 설명선 243">
            <a:extLst>
              <a:ext uri="{FF2B5EF4-FFF2-40B4-BE49-F238E27FC236}">
                <a16:creationId xmlns:a16="http://schemas.microsoft.com/office/drawing/2014/main" id="{8359EB17-51BD-4152-910D-3CDD36D99190}"/>
              </a:ext>
            </a:extLst>
          </p:cNvPr>
          <p:cNvSpPr/>
          <p:nvPr/>
        </p:nvSpPr>
        <p:spPr>
          <a:xfrm>
            <a:off x="1544574" y="2653277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9" name="타원형 설명선 244">
            <a:extLst>
              <a:ext uri="{FF2B5EF4-FFF2-40B4-BE49-F238E27FC236}">
                <a16:creationId xmlns:a16="http://schemas.microsoft.com/office/drawing/2014/main" id="{B1320E0F-9B43-4E64-A5F8-44BC766857D6}"/>
              </a:ext>
            </a:extLst>
          </p:cNvPr>
          <p:cNvSpPr/>
          <p:nvPr/>
        </p:nvSpPr>
        <p:spPr>
          <a:xfrm>
            <a:off x="1544574" y="2208421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0" name="타원형 설명선 225">
            <a:extLst>
              <a:ext uri="{FF2B5EF4-FFF2-40B4-BE49-F238E27FC236}">
                <a16:creationId xmlns:a16="http://schemas.microsoft.com/office/drawing/2014/main" id="{BEDCD32F-CCF0-47C8-9FE7-BF586C480AEF}"/>
              </a:ext>
            </a:extLst>
          </p:cNvPr>
          <p:cNvSpPr/>
          <p:nvPr/>
        </p:nvSpPr>
        <p:spPr>
          <a:xfrm>
            <a:off x="1544574" y="1327866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1" name="타원형 설명선 243">
            <a:extLst>
              <a:ext uri="{FF2B5EF4-FFF2-40B4-BE49-F238E27FC236}">
                <a16:creationId xmlns:a16="http://schemas.microsoft.com/office/drawing/2014/main" id="{82292B2E-2C73-4006-867D-FFECEBF5E13F}"/>
              </a:ext>
            </a:extLst>
          </p:cNvPr>
          <p:cNvSpPr/>
          <p:nvPr/>
        </p:nvSpPr>
        <p:spPr>
          <a:xfrm>
            <a:off x="2809238" y="3483901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6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2" name="타원형 설명선 243">
            <a:extLst>
              <a:ext uri="{FF2B5EF4-FFF2-40B4-BE49-F238E27FC236}">
                <a16:creationId xmlns:a16="http://schemas.microsoft.com/office/drawing/2014/main" id="{9FCA3245-F772-4057-848A-4B1417164CA4}"/>
              </a:ext>
            </a:extLst>
          </p:cNvPr>
          <p:cNvSpPr/>
          <p:nvPr/>
        </p:nvSpPr>
        <p:spPr>
          <a:xfrm>
            <a:off x="1544574" y="3069651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3" name="타원형 설명선 243">
            <a:extLst>
              <a:ext uri="{FF2B5EF4-FFF2-40B4-BE49-F238E27FC236}">
                <a16:creationId xmlns:a16="http://schemas.microsoft.com/office/drawing/2014/main" id="{3B8D0934-64A5-4621-B68A-2A9432C14BD3}"/>
              </a:ext>
            </a:extLst>
          </p:cNvPr>
          <p:cNvSpPr/>
          <p:nvPr/>
        </p:nvSpPr>
        <p:spPr>
          <a:xfrm>
            <a:off x="4177244" y="3483901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7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776CB608-FF32-4C0E-87E7-0594D9CE86CF}"/>
              </a:ext>
            </a:extLst>
          </p:cNvPr>
          <p:cNvSpPr txBox="1"/>
          <p:nvPr/>
        </p:nvSpPr>
        <p:spPr>
          <a:xfrm>
            <a:off x="378210" y="407514"/>
            <a:ext cx="3062622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4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설정 </a:t>
            </a:r>
            <a:r>
              <a:rPr lang="en-US" altLang="ko-KR" sz="14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– </a:t>
            </a:r>
            <a:r>
              <a:rPr lang="ko-KR" altLang="en-US" sz="14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신규 </a:t>
            </a:r>
            <a:r>
              <a:rPr lang="en-US" altLang="ko-KR" sz="14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Site </a:t>
            </a:r>
            <a:r>
              <a:rPr lang="ko-KR" altLang="en-US" sz="14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등록 팝업</a:t>
            </a:r>
          </a:p>
        </p:txBody>
      </p:sp>
    </p:spTree>
    <p:extLst>
      <p:ext uri="{BB962C8B-B14F-4D97-AF65-F5344CB8AC3E}">
        <p14:creationId xmlns:p14="http://schemas.microsoft.com/office/powerpoint/2010/main" val="2332959465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" name="직사각형 35">
            <a:extLst>
              <a:ext uri="{FF2B5EF4-FFF2-40B4-BE49-F238E27FC236}">
                <a16:creationId xmlns:a16="http://schemas.microsoft.com/office/drawing/2014/main" id="{A9FCF855-5391-4BAF-BEC3-0614AD2EFDDA}"/>
              </a:ext>
            </a:extLst>
          </p:cNvPr>
          <p:cNvSpPr/>
          <p:nvPr/>
        </p:nvSpPr>
        <p:spPr>
          <a:xfrm>
            <a:off x="1712640" y="1124744"/>
            <a:ext cx="5208058" cy="2736304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200000"/>
              </a:lnSpc>
            </a:pPr>
            <a:endParaRPr lang="ko-KR" altLang="en-US" sz="100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9104309" y="6645875"/>
            <a:ext cx="140029" cy="138499"/>
          </a:xfrm>
        </p:spPr>
        <p:txBody>
          <a:bodyPr/>
          <a:lstStyle/>
          <a:p>
            <a:pPr>
              <a:defRPr/>
            </a:pPr>
            <a:fld id="{9E41B634-5682-4388-99E7-FE44DCFD254B}" type="slidenum">
              <a:rPr lang="ko-KR" altLang="en-US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>
                <a:defRPr/>
              </a:pPr>
              <a:t>54</a:t>
            </a:fld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텍스트 개체 틀 8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 &gt;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설정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&gt;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신규 장치 등록</a:t>
            </a:r>
          </a:p>
        </p:txBody>
      </p:sp>
      <p:sp>
        <p:nvSpPr>
          <p:cNvPr id="10" name="텍스트 개체 틀 9"/>
          <p:cNvSpPr>
            <a:spLocks noGrp="1"/>
          </p:cNvSpPr>
          <p:nvPr>
            <p:ph type="body" sz="quarter" idx="10"/>
          </p:nvPr>
        </p:nvSpPr>
        <p:spPr>
          <a:xfrm>
            <a:off x="6023595" y="44624"/>
            <a:ext cx="1233661" cy="196974"/>
          </a:xfrm>
        </p:spPr>
        <p:txBody>
          <a:bodyPr/>
          <a:lstStyle/>
          <a:p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신규 장치 등록</a:t>
            </a:r>
          </a:p>
        </p:txBody>
      </p:sp>
      <p:graphicFrame>
        <p:nvGraphicFramePr>
          <p:cNvPr id="102" name="Group 15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880280"/>
              </p:ext>
            </p:extLst>
          </p:nvPr>
        </p:nvGraphicFramePr>
        <p:xfrm>
          <a:off x="8469313" y="276225"/>
          <a:ext cx="1404000" cy="4915200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3002"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Description</a:t>
                      </a: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장치 배치 사이트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신규 등록할 장치가 위치하는 사이트를 선택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2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장치 명</a:t>
                      </a:r>
                      <a:endParaRPr kumimoji="1" lang="en-US" altLang="ko-KR" sz="8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신규 등록할 장치 명을 입력한다</a:t>
                      </a:r>
                      <a:r>
                        <a:rPr kumimoji="1" lang="en-US" altLang="ko-KR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.</a:t>
                      </a:r>
                      <a:endParaRPr kumimoji="1" lang="ko-KR" altLang="en-US" sz="8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58862645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3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사이트 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ID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신규 등록할 장치의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ID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를 입력한다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.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* ID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자동 생성 및 할당 관련 검토 필요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4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장치 타입</a:t>
                      </a:r>
                      <a:endParaRPr lang="en-US" altLang="ko-KR" sz="800" b="1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1)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신규 등록할 장치의 타입을 선택한다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.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2)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장치 타입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부하측정기기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PV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모니터링기기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ESS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모니터링기기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PCS, BMS, PV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등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*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전체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장치 리스트 확인 및 업데이트 예정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5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확인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모든 변경사항을 적용하고 팝업을 종료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15529937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6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취소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모든 변경사항을 적용하지 않고 팝업을 종료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59158452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* </a:t>
                      </a:r>
                      <a:r>
                        <a:rPr lang="ko-KR" altLang="en-US" sz="800" b="0" u="none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장치 등록을 장치</a:t>
                      </a:r>
                      <a:r>
                        <a:rPr lang="en-US" altLang="ko-KR" sz="800" b="0" u="none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800" b="0" u="none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모니터링 쪽으로 이동하는 방안도 검토 필요</a:t>
                      </a:r>
                      <a:endParaRPr lang="en-US" altLang="ko-KR" sz="800" b="0" u="none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60219032"/>
                  </a:ext>
                </a:extLst>
              </a:tr>
              <a:tr h="38304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* ‘</a:t>
                      </a:r>
                      <a:r>
                        <a:rPr kumimoji="1" lang="ko-KR" altLang="en-US" sz="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에너톡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디바이스 설정하기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‘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적용 방안 확인 필요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78" name="TextBox 77"/>
          <p:cNvSpPr txBox="1"/>
          <p:nvPr/>
        </p:nvSpPr>
        <p:spPr>
          <a:xfrm>
            <a:off x="7121707" y="21349"/>
            <a:ext cx="567597" cy="2308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화면</a:t>
            </a:r>
            <a:r>
              <a:rPr lang="en-US" altLang="ko-KR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ID</a:t>
            </a:r>
            <a:endParaRPr lang="ko-KR" altLang="en-US" sz="9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7689304" y="43659"/>
            <a:ext cx="792088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itchFamily="50" charset="-127"/>
                <a:ea typeface="맑은 고딕" pitchFamily="50" charset="-127"/>
              </a:rPr>
              <a:t>ewpsp_scr_037</a:t>
            </a:r>
            <a:endParaRPr lang="ko-KR" altLang="en-US" sz="70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06" name="타원형 설명선 205"/>
          <p:cNvSpPr/>
          <p:nvPr/>
        </p:nvSpPr>
        <p:spPr>
          <a:xfrm>
            <a:off x="-788740" y="2744866"/>
            <a:ext cx="216000" cy="216000"/>
          </a:xfrm>
          <a:prstGeom prst="wedgeEllipseCallout">
            <a:avLst>
              <a:gd name="adj1" fmla="val 74230"/>
              <a:gd name="adj2" fmla="val 21822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/>
              <a:t>9</a:t>
            </a:r>
            <a:endParaRPr lang="ko-KR" altLang="en-US" sz="900" b="1" dirty="0"/>
          </a:p>
        </p:txBody>
      </p:sp>
      <p:sp>
        <p:nvSpPr>
          <p:cNvPr id="226" name="타원형 설명선 225"/>
          <p:cNvSpPr/>
          <p:nvPr/>
        </p:nvSpPr>
        <p:spPr>
          <a:xfrm>
            <a:off x="-834519" y="3213000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27" name="타원형 설명선 226"/>
          <p:cNvSpPr/>
          <p:nvPr/>
        </p:nvSpPr>
        <p:spPr>
          <a:xfrm>
            <a:off x="-788740" y="1884839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4" name="타원형 설명선 243"/>
          <p:cNvSpPr/>
          <p:nvPr/>
        </p:nvSpPr>
        <p:spPr>
          <a:xfrm>
            <a:off x="-796619" y="2150818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5" name="타원형 설명선 244"/>
          <p:cNvSpPr/>
          <p:nvPr/>
        </p:nvSpPr>
        <p:spPr>
          <a:xfrm>
            <a:off x="-808982" y="3727293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6" name="타원형 설명선 245"/>
          <p:cNvSpPr/>
          <p:nvPr/>
        </p:nvSpPr>
        <p:spPr>
          <a:xfrm>
            <a:off x="-808982" y="4273670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7" name="타원형 설명선 246"/>
          <p:cNvSpPr/>
          <p:nvPr/>
        </p:nvSpPr>
        <p:spPr>
          <a:xfrm>
            <a:off x="-796619" y="1324215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7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8" name="타원형 설명선 247"/>
          <p:cNvSpPr/>
          <p:nvPr/>
        </p:nvSpPr>
        <p:spPr>
          <a:xfrm>
            <a:off x="-796619" y="1576196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8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66" name="타원형 설명선 265"/>
          <p:cNvSpPr/>
          <p:nvPr/>
        </p:nvSpPr>
        <p:spPr>
          <a:xfrm>
            <a:off x="-786711" y="2456904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6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3" name="타원형 설명선 225">
            <a:extLst>
              <a:ext uri="{FF2B5EF4-FFF2-40B4-BE49-F238E27FC236}">
                <a16:creationId xmlns:a16="http://schemas.microsoft.com/office/drawing/2014/main" id="{93402A8C-F86A-4207-9226-F02BE6AB6E19}"/>
              </a:ext>
            </a:extLst>
          </p:cNvPr>
          <p:cNvSpPr/>
          <p:nvPr/>
        </p:nvSpPr>
        <p:spPr>
          <a:xfrm>
            <a:off x="-667135" y="976983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25" name="그룹 124">
            <a:extLst>
              <a:ext uri="{FF2B5EF4-FFF2-40B4-BE49-F238E27FC236}">
                <a16:creationId xmlns:a16="http://schemas.microsoft.com/office/drawing/2014/main" id="{30D1016A-13FB-4513-A8E9-706EE203BB52}"/>
              </a:ext>
            </a:extLst>
          </p:cNvPr>
          <p:cNvGrpSpPr/>
          <p:nvPr/>
        </p:nvGrpSpPr>
        <p:grpSpPr>
          <a:xfrm>
            <a:off x="3186625" y="3249587"/>
            <a:ext cx="2494046" cy="323428"/>
            <a:chOff x="3791228" y="5284908"/>
            <a:chExt cx="2630919" cy="360040"/>
          </a:xfrm>
        </p:grpSpPr>
        <p:sp>
          <p:nvSpPr>
            <p:cNvPr id="126" name="직사각형 125">
              <a:extLst>
                <a:ext uri="{FF2B5EF4-FFF2-40B4-BE49-F238E27FC236}">
                  <a16:creationId xmlns:a16="http://schemas.microsoft.com/office/drawing/2014/main" id="{7726E8D3-148F-4164-832A-268A34EC9F35}"/>
                </a:ext>
              </a:extLst>
            </p:cNvPr>
            <p:cNvSpPr/>
            <p:nvPr/>
          </p:nvSpPr>
          <p:spPr>
            <a:xfrm>
              <a:off x="3791228" y="5284908"/>
              <a:ext cx="1224136" cy="360040"/>
            </a:xfrm>
            <a:prstGeom prst="rect">
              <a:avLst/>
            </a:prstGeom>
            <a:solidFill>
              <a:srgbClr val="0099FF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 algn="ctr">
                <a:lnSpc>
                  <a:spcPct val="150000"/>
                </a:lnSpc>
              </a:pPr>
              <a:r>
                <a:rPr lang="ko-KR" altLang="en-US" sz="105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확인</a:t>
              </a:r>
            </a:p>
          </p:txBody>
        </p:sp>
        <p:sp>
          <p:nvSpPr>
            <p:cNvPr id="127" name="직사각형 126">
              <a:extLst>
                <a:ext uri="{FF2B5EF4-FFF2-40B4-BE49-F238E27FC236}">
                  <a16:creationId xmlns:a16="http://schemas.microsoft.com/office/drawing/2014/main" id="{3D9A0764-2FF1-44DF-A947-222307667FC1}"/>
                </a:ext>
              </a:extLst>
            </p:cNvPr>
            <p:cNvSpPr/>
            <p:nvPr/>
          </p:nvSpPr>
          <p:spPr>
            <a:xfrm>
              <a:off x="5198011" y="5284908"/>
              <a:ext cx="1224136" cy="36004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 algn="ctr">
                <a:lnSpc>
                  <a:spcPct val="150000"/>
                </a:lnSpc>
              </a:pPr>
              <a:r>
                <a:rPr lang="ko-KR" altLang="en-US" sz="1050" b="1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취소</a:t>
              </a:r>
            </a:p>
          </p:txBody>
        </p:sp>
      </p:grp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A51507A6-6DC2-4700-8A8B-608C9D16AA26}"/>
              </a:ext>
            </a:extLst>
          </p:cNvPr>
          <p:cNvSpPr/>
          <p:nvPr/>
        </p:nvSpPr>
        <p:spPr>
          <a:xfrm>
            <a:off x="1887584" y="1772815"/>
            <a:ext cx="1272225" cy="323974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105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장치 명</a:t>
            </a:r>
          </a:p>
        </p:txBody>
      </p: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1EE22907-23EF-4DC4-A448-E6C8457692DF}"/>
              </a:ext>
            </a:extLst>
          </p:cNvPr>
          <p:cNvSpPr/>
          <p:nvPr/>
        </p:nvSpPr>
        <p:spPr>
          <a:xfrm>
            <a:off x="2936777" y="1772815"/>
            <a:ext cx="3810560" cy="323974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endParaRPr lang="ko-KR" altLang="en-US" sz="105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32" name="직사각형 31">
            <a:extLst>
              <a:ext uri="{FF2B5EF4-FFF2-40B4-BE49-F238E27FC236}">
                <a16:creationId xmlns:a16="http://schemas.microsoft.com/office/drawing/2014/main" id="{1E9911D3-ABA6-41CD-9FB7-70E779FC86E1}"/>
              </a:ext>
            </a:extLst>
          </p:cNvPr>
          <p:cNvSpPr/>
          <p:nvPr/>
        </p:nvSpPr>
        <p:spPr>
          <a:xfrm>
            <a:off x="1887584" y="2179033"/>
            <a:ext cx="1331997" cy="323974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105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장치 </a:t>
            </a:r>
            <a:r>
              <a:rPr lang="en-US" altLang="ko-KR" sz="105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ID</a:t>
            </a:r>
            <a:endParaRPr lang="ko-KR" altLang="en-US" sz="105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2F62D155-370B-419A-A2E2-419E0E082F3A}"/>
              </a:ext>
            </a:extLst>
          </p:cNvPr>
          <p:cNvSpPr/>
          <p:nvPr/>
        </p:nvSpPr>
        <p:spPr>
          <a:xfrm>
            <a:off x="2936777" y="2179033"/>
            <a:ext cx="3475762" cy="322754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endParaRPr lang="ko-KR" altLang="en-US" sz="105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5087C8A0-A23B-4558-A142-1EC9A028343D}"/>
              </a:ext>
            </a:extLst>
          </p:cNvPr>
          <p:cNvSpPr/>
          <p:nvPr/>
        </p:nvSpPr>
        <p:spPr>
          <a:xfrm>
            <a:off x="6412540" y="2177813"/>
            <a:ext cx="334796" cy="323974"/>
          </a:xfrm>
          <a:prstGeom prst="rect">
            <a:avLst/>
          </a:prstGeom>
          <a:noFill/>
          <a:ln w="317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algn="ctr">
              <a:lnSpc>
                <a:spcPct val="150000"/>
              </a:lnSpc>
            </a:pPr>
            <a:endParaRPr lang="ko-KR" altLang="en-US" sz="1050" b="1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45AF2764-4AFA-4249-B1D0-863F4F9A6172}"/>
              </a:ext>
            </a:extLst>
          </p:cNvPr>
          <p:cNvSpPr txBox="1"/>
          <p:nvPr/>
        </p:nvSpPr>
        <p:spPr>
          <a:xfrm>
            <a:off x="6471926" y="2114771"/>
            <a:ext cx="216024" cy="40011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+</a:t>
            </a:r>
            <a:endParaRPr lang="ko-KR" altLang="en-US" sz="20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AE4278D7-28A4-4B2E-9690-AB9657D28A5C}"/>
              </a:ext>
            </a:extLst>
          </p:cNvPr>
          <p:cNvSpPr/>
          <p:nvPr/>
        </p:nvSpPr>
        <p:spPr>
          <a:xfrm>
            <a:off x="1892811" y="2595905"/>
            <a:ext cx="1331997" cy="323974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105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장치 타입</a:t>
            </a: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8511C39C-3CAC-4013-97A0-60A8DF2F4296}"/>
              </a:ext>
            </a:extLst>
          </p:cNvPr>
          <p:cNvSpPr/>
          <p:nvPr/>
        </p:nvSpPr>
        <p:spPr>
          <a:xfrm>
            <a:off x="2936776" y="2595905"/>
            <a:ext cx="3480989" cy="323974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endParaRPr lang="ko-KR" altLang="en-US" sz="105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D0B6EF87-EA6E-4F5C-B1B3-9DB4681DC8D1}"/>
              </a:ext>
            </a:extLst>
          </p:cNvPr>
          <p:cNvSpPr/>
          <p:nvPr/>
        </p:nvSpPr>
        <p:spPr>
          <a:xfrm>
            <a:off x="6417767" y="2594555"/>
            <a:ext cx="334796" cy="323974"/>
          </a:xfrm>
          <a:prstGeom prst="rect">
            <a:avLst/>
          </a:prstGeom>
          <a:noFill/>
          <a:ln w="317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algn="ctr">
              <a:lnSpc>
                <a:spcPct val="150000"/>
              </a:lnSpc>
            </a:pPr>
            <a:endParaRPr lang="ko-KR" altLang="en-US" sz="1050" b="1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492D92F3-254C-4F5F-98CD-CD819E569D5B}"/>
              </a:ext>
            </a:extLst>
          </p:cNvPr>
          <p:cNvSpPr txBox="1"/>
          <p:nvPr/>
        </p:nvSpPr>
        <p:spPr>
          <a:xfrm>
            <a:off x="6484366" y="2612031"/>
            <a:ext cx="216024" cy="3077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ko-KR" altLang="en-US" sz="14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▽</a:t>
            </a: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4CA39E0C-E3DF-45A7-BD5F-8CB06F477AA7}"/>
              </a:ext>
            </a:extLst>
          </p:cNvPr>
          <p:cNvSpPr/>
          <p:nvPr/>
        </p:nvSpPr>
        <p:spPr>
          <a:xfrm>
            <a:off x="1892811" y="1355453"/>
            <a:ext cx="1272225" cy="323974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105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배치 사이트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E0C94030-0B57-4E93-8E10-5F0B567B5730}"/>
              </a:ext>
            </a:extLst>
          </p:cNvPr>
          <p:cNvSpPr/>
          <p:nvPr/>
        </p:nvSpPr>
        <p:spPr>
          <a:xfrm>
            <a:off x="2936776" y="1355453"/>
            <a:ext cx="3475763" cy="323974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endParaRPr lang="ko-KR" altLang="en-US" sz="105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17CDCFEB-3D60-40B6-88B8-17AEE1357036}"/>
              </a:ext>
            </a:extLst>
          </p:cNvPr>
          <p:cNvSpPr/>
          <p:nvPr/>
        </p:nvSpPr>
        <p:spPr>
          <a:xfrm>
            <a:off x="6411547" y="1358856"/>
            <a:ext cx="334796" cy="323974"/>
          </a:xfrm>
          <a:prstGeom prst="rect">
            <a:avLst/>
          </a:prstGeom>
          <a:noFill/>
          <a:ln w="317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algn="ctr">
              <a:lnSpc>
                <a:spcPct val="150000"/>
              </a:lnSpc>
            </a:pPr>
            <a:endParaRPr lang="ko-KR" altLang="en-US" sz="1050" b="1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EDDB62B1-218C-4C75-8173-E95169E1A7E7}"/>
              </a:ext>
            </a:extLst>
          </p:cNvPr>
          <p:cNvSpPr txBox="1"/>
          <p:nvPr/>
        </p:nvSpPr>
        <p:spPr>
          <a:xfrm>
            <a:off x="6478146" y="1376072"/>
            <a:ext cx="216024" cy="3077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ko-KR" altLang="en-US" sz="14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▽</a:t>
            </a:r>
          </a:p>
        </p:txBody>
      </p:sp>
      <p:sp>
        <p:nvSpPr>
          <p:cNvPr id="45" name="타원형 설명선 226">
            <a:extLst>
              <a:ext uri="{FF2B5EF4-FFF2-40B4-BE49-F238E27FC236}">
                <a16:creationId xmlns:a16="http://schemas.microsoft.com/office/drawing/2014/main" id="{34B59F5B-8DC5-4D74-B1E8-1BF50C26B402}"/>
              </a:ext>
            </a:extLst>
          </p:cNvPr>
          <p:cNvSpPr/>
          <p:nvPr/>
        </p:nvSpPr>
        <p:spPr>
          <a:xfrm>
            <a:off x="1704761" y="1692731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6" name="타원형 설명선 243">
            <a:extLst>
              <a:ext uri="{FF2B5EF4-FFF2-40B4-BE49-F238E27FC236}">
                <a16:creationId xmlns:a16="http://schemas.microsoft.com/office/drawing/2014/main" id="{38184039-0DF7-4FF1-9A1B-F342A9F48197}"/>
              </a:ext>
            </a:extLst>
          </p:cNvPr>
          <p:cNvSpPr/>
          <p:nvPr/>
        </p:nvSpPr>
        <p:spPr>
          <a:xfrm>
            <a:off x="1704761" y="2492895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8" name="타원형 설명선 244">
            <a:extLst>
              <a:ext uri="{FF2B5EF4-FFF2-40B4-BE49-F238E27FC236}">
                <a16:creationId xmlns:a16="http://schemas.microsoft.com/office/drawing/2014/main" id="{235C11D5-30A1-4075-81FB-E3B0E2A17222}"/>
              </a:ext>
            </a:extLst>
          </p:cNvPr>
          <p:cNvSpPr/>
          <p:nvPr/>
        </p:nvSpPr>
        <p:spPr>
          <a:xfrm>
            <a:off x="1704761" y="2060847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9" name="타원형 설명선 225">
            <a:extLst>
              <a:ext uri="{FF2B5EF4-FFF2-40B4-BE49-F238E27FC236}">
                <a16:creationId xmlns:a16="http://schemas.microsoft.com/office/drawing/2014/main" id="{83E09703-1120-4626-A6DE-1385C07B2CB5}"/>
              </a:ext>
            </a:extLst>
          </p:cNvPr>
          <p:cNvSpPr/>
          <p:nvPr/>
        </p:nvSpPr>
        <p:spPr>
          <a:xfrm>
            <a:off x="1704761" y="1261008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0" name="타원형 설명선 243">
            <a:extLst>
              <a:ext uri="{FF2B5EF4-FFF2-40B4-BE49-F238E27FC236}">
                <a16:creationId xmlns:a16="http://schemas.microsoft.com/office/drawing/2014/main" id="{63F19BDD-2F51-4095-B68F-533E33F75C1E}"/>
              </a:ext>
            </a:extLst>
          </p:cNvPr>
          <p:cNvSpPr/>
          <p:nvPr/>
        </p:nvSpPr>
        <p:spPr>
          <a:xfrm>
            <a:off x="4258052" y="3058950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6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1" name="타원형 설명선 243">
            <a:extLst>
              <a:ext uri="{FF2B5EF4-FFF2-40B4-BE49-F238E27FC236}">
                <a16:creationId xmlns:a16="http://schemas.microsoft.com/office/drawing/2014/main" id="{BCFDF6D4-918E-487F-B6B8-9C86D9818E87}"/>
              </a:ext>
            </a:extLst>
          </p:cNvPr>
          <p:cNvSpPr/>
          <p:nvPr/>
        </p:nvSpPr>
        <p:spPr>
          <a:xfrm>
            <a:off x="2942149" y="3058950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DB88DC16-C5FA-4180-B474-C60D3866AF95}"/>
              </a:ext>
            </a:extLst>
          </p:cNvPr>
          <p:cNvSpPr txBox="1"/>
          <p:nvPr/>
        </p:nvSpPr>
        <p:spPr>
          <a:xfrm>
            <a:off x="378210" y="407514"/>
            <a:ext cx="2808415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4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설정 </a:t>
            </a:r>
            <a:r>
              <a:rPr lang="en-US" altLang="ko-KR" sz="14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– </a:t>
            </a:r>
            <a:r>
              <a:rPr lang="ko-KR" altLang="en-US" sz="14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신규 장치 등록 팝업</a:t>
            </a:r>
          </a:p>
        </p:txBody>
      </p:sp>
    </p:spTree>
    <p:extLst>
      <p:ext uri="{BB962C8B-B14F-4D97-AF65-F5344CB8AC3E}">
        <p14:creationId xmlns:p14="http://schemas.microsoft.com/office/powerpoint/2010/main" val="4022134576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9104309" y="6645875"/>
            <a:ext cx="140029" cy="138499"/>
          </a:xfrm>
        </p:spPr>
        <p:txBody>
          <a:bodyPr/>
          <a:lstStyle/>
          <a:p>
            <a:pPr>
              <a:defRPr/>
            </a:pPr>
            <a:fld id="{9E41B634-5682-4388-99E7-FE44DCFD254B}" type="slidenum">
              <a:rPr lang="ko-KR" altLang="en-US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>
                <a:defRPr/>
              </a:pPr>
              <a:t>55</a:t>
            </a:fld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텍스트 개체 틀 8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 &gt;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설정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&gt;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사이트 그룹 정보</a:t>
            </a:r>
          </a:p>
        </p:txBody>
      </p:sp>
      <p:sp>
        <p:nvSpPr>
          <p:cNvPr id="10" name="텍스트 개체 틀 9"/>
          <p:cNvSpPr>
            <a:spLocks noGrp="1"/>
          </p:cNvSpPr>
          <p:nvPr>
            <p:ph type="body" sz="quarter" idx="10"/>
          </p:nvPr>
        </p:nvSpPr>
        <p:spPr>
          <a:xfrm>
            <a:off x="6023595" y="44624"/>
            <a:ext cx="1233661" cy="196974"/>
          </a:xfrm>
        </p:spPr>
        <p:txBody>
          <a:bodyPr/>
          <a:lstStyle/>
          <a:p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사이트 그룹 정보</a:t>
            </a:r>
          </a:p>
        </p:txBody>
      </p:sp>
      <p:graphicFrame>
        <p:nvGraphicFramePr>
          <p:cNvPr id="102" name="Group 15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55671973"/>
              </p:ext>
            </p:extLst>
          </p:nvPr>
        </p:nvGraphicFramePr>
        <p:xfrm>
          <a:off x="8469313" y="276225"/>
          <a:ext cx="1404000" cy="3332544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3002"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Description</a:t>
                      </a: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그룹 명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편집을 할 사이트 그룹을 선택한다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.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2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그룹 내 사이트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이미 그룹에 속해 있는 사이트 리스트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3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전체 사이트</a:t>
                      </a:r>
                      <a:endParaRPr lang="en-US" altLang="ko-KR" sz="800" b="1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아직 그룹에 속해 있지 않은 전체 사이트 리스트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4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사이트 추가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/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삭제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Wingdings" panose="05000000000000000000" pitchFamily="2" charset="2"/>
                        </a:rPr>
                        <a:t>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Wingdings" panose="05000000000000000000" pitchFamily="2" charset="2"/>
                        </a:rPr>
                        <a:t>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Wingdings" panose="05000000000000000000" pitchFamily="2" charset="2"/>
                        </a:rPr>
                        <a:t>버튼을 사용하여 각 리스트 內에 포함된 사이트를 추가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Wingdings" panose="05000000000000000000" pitchFamily="2" charset="2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Wingdings" panose="05000000000000000000" pitchFamily="2" charset="2"/>
                        </a:rPr>
                        <a:t>삭제 한다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Wingdings" panose="05000000000000000000" pitchFamily="2" charset="2"/>
                        </a:rPr>
                        <a:t>.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61031769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5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확인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모든 변경사항을 적용하고 이전화면으로 돌아간다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.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6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취소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모든 변경사항을 적용하지 않고 이전화면으로 돌아간다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.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78" name="TextBox 77"/>
          <p:cNvSpPr txBox="1"/>
          <p:nvPr/>
        </p:nvSpPr>
        <p:spPr>
          <a:xfrm>
            <a:off x="7121707" y="21349"/>
            <a:ext cx="567597" cy="2308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화면</a:t>
            </a:r>
            <a:r>
              <a:rPr lang="en-US" altLang="ko-KR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ID</a:t>
            </a:r>
            <a:endParaRPr lang="ko-KR" altLang="en-US" sz="9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7689304" y="43659"/>
            <a:ext cx="792088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itchFamily="50" charset="-127"/>
                <a:ea typeface="맑은 고딕" pitchFamily="50" charset="-127"/>
              </a:rPr>
              <a:t>ewpsp_scr_038</a:t>
            </a:r>
            <a:endParaRPr lang="ko-KR" altLang="en-US" sz="70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06" name="타원형 설명선 205"/>
          <p:cNvSpPr/>
          <p:nvPr/>
        </p:nvSpPr>
        <p:spPr>
          <a:xfrm>
            <a:off x="-788740" y="2744866"/>
            <a:ext cx="216000" cy="216000"/>
          </a:xfrm>
          <a:prstGeom prst="wedgeEllipseCallout">
            <a:avLst>
              <a:gd name="adj1" fmla="val 74230"/>
              <a:gd name="adj2" fmla="val 21822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/>
              <a:t>9</a:t>
            </a:r>
            <a:endParaRPr lang="ko-KR" altLang="en-US" sz="900" b="1" dirty="0"/>
          </a:p>
        </p:txBody>
      </p:sp>
      <p:sp>
        <p:nvSpPr>
          <p:cNvPr id="226" name="타원형 설명선 225"/>
          <p:cNvSpPr/>
          <p:nvPr/>
        </p:nvSpPr>
        <p:spPr>
          <a:xfrm>
            <a:off x="-834519" y="3213000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27" name="타원형 설명선 226"/>
          <p:cNvSpPr/>
          <p:nvPr/>
        </p:nvSpPr>
        <p:spPr>
          <a:xfrm>
            <a:off x="-788740" y="1884839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4" name="타원형 설명선 243"/>
          <p:cNvSpPr/>
          <p:nvPr/>
        </p:nvSpPr>
        <p:spPr>
          <a:xfrm>
            <a:off x="-796619" y="2150818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5" name="타원형 설명선 244"/>
          <p:cNvSpPr/>
          <p:nvPr/>
        </p:nvSpPr>
        <p:spPr>
          <a:xfrm>
            <a:off x="-808982" y="3727293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6" name="타원형 설명선 245"/>
          <p:cNvSpPr/>
          <p:nvPr/>
        </p:nvSpPr>
        <p:spPr>
          <a:xfrm>
            <a:off x="-808982" y="4273670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7" name="타원형 설명선 246"/>
          <p:cNvSpPr/>
          <p:nvPr/>
        </p:nvSpPr>
        <p:spPr>
          <a:xfrm>
            <a:off x="-796619" y="1324215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7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8" name="타원형 설명선 247"/>
          <p:cNvSpPr/>
          <p:nvPr/>
        </p:nvSpPr>
        <p:spPr>
          <a:xfrm>
            <a:off x="-796619" y="1576196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8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66" name="타원형 설명선 265"/>
          <p:cNvSpPr/>
          <p:nvPr/>
        </p:nvSpPr>
        <p:spPr>
          <a:xfrm>
            <a:off x="-786711" y="2456904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6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3" name="타원형 설명선 225">
            <a:extLst>
              <a:ext uri="{FF2B5EF4-FFF2-40B4-BE49-F238E27FC236}">
                <a16:creationId xmlns:a16="http://schemas.microsoft.com/office/drawing/2014/main" id="{93402A8C-F86A-4207-9226-F02BE6AB6E19}"/>
              </a:ext>
            </a:extLst>
          </p:cNvPr>
          <p:cNvSpPr/>
          <p:nvPr/>
        </p:nvSpPr>
        <p:spPr>
          <a:xfrm>
            <a:off x="-667135" y="976983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8" name="Picture 3">
            <a:extLst>
              <a:ext uri="{FF2B5EF4-FFF2-40B4-BE49-F238E27FC236}">
                <a16:creationId xmlns:a16="http://schemas.microsoft.com/office/drawing/2014/main" id="{D14E8AEF-8EA8-4944-AE52-FF98A1FB783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463" y="764704"/>
            <a:ext cx="8208912" cy="5040559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  <a:extLst/>
        </p:spPr>
      </p:pic>
      <p:pic>
        <p:nvPicPr>
          <p:cNvPr id="19" name="Picture 2">
            <a:extLst>
              <a:ext uri="{FF2B5EF4-FFF2-40B4-BE49-F238E27FC236}">
                <a16:creationId xmlns:a16="http://schemas.microsoft.com/office/drawing/2014/main" id="{6FBB0165-03FF-4BBD-A158-8DEF923CF53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464" y="762442"/>
            <a:ext cx="8208912" cy="3487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20" name="직선 연결선 19">
            <a:extLst>
              <a:ext uri="{FF2B5EF4-FFF2-40B4-BE49-F238E27FC236}">
                <a16:creationId xmlns:a16="http://schemas.microsoft.com/office/drawing/2014/main" id="{37D07777-30AA-4506-9C18-6F3B4C7D943C}"/>
              </a:ext>
            </a:extLst>
          </p:cNvPr>
          <p:cNvCxnSpPr>
            <a:cxnSpLocks/>
          </p:cNvCxnSpPr>
          <p:nvPr/>
        </p:nvCxnSpPr>
        <p:spPr>
          <a:xfrm>
            <a:off x="128463" y="1124744"/>
            <a:ext cx="8208912" cy="0"/>
          </a:xfrm>
          <a:prstGeom prst="line">
            <a:avLst/>
          </a:prstGeom>
          <a:ln w="9525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5E84417E-CAA5-4FD3-BBB9-7CD5570EF571}"/>
              </a:ext>
            </a:extLst>
          </p:cNvPr>
          <p:cNvSpPr/>
          <p:nvPr/>
        </p:nvSpPr>
        <p:spPr>
          <a:xfrm>
            <a:off x="216314" y="1324228"/>
            <a:ext cx="2216405" cy="288032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>
              <a:lnSpc>
                <a:spcPct val="150000"/>
              </a:lnSpc>
            </a:pPr>
            <a:r>
              <a:rPr lang="ko-KR" altLang="en-US" sz="10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설정</a:t>
            </a:r>
            <a:r>
              <a:rPr lang="en-US" altLang="ko-KR" sz="10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 – </a:t>
            </a:r>
            <a:r>
              <a:rPr lang="ko-KR" altLang="en-US" sz="10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사이트 그룹 정보</a:t>
            </a:r>
          </a:p>
        </p:txBody>
      </p:sp>
      <p:pic>
        <p:nvPicPr>
          <p:cNvPr id="47" name="Picture 2" descr="ì¤ì ì ëí ì´ë¯¸ì§ ê²ìê²°ê³¼">
            <a:extLst>
              <a:ext uri="{FF2B5EF4-FFF2-40B4-BE49-F238E27FC236}">
                <a16:creationId xmlns:a16="http://schemas.microsoft.com/office/drawing/2014/main" id="{90A888AD-844A-4544-B02A-A77BC3397C7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05865" y="844086"/>
            <a:ext cx="198592" cy="19859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7" name="직사각형 106">
            <a:extLst>
              <a:ext uri="{FF2B5EF4-FFF2-40B4-BE49-F238E27FC236}">
                <a16:creationId xmlns:a16="http://schemas.microsoft.com/office/drawing/2014/main" id="{6FB85F2F-51DC-4017-8C5E-AD9462F439F6}"/>
              </a:ext>
            </a:extLst>
          </p:cNvPr>
          <p:cNvSpPr/>
          <p:nvPr/>
        </p:nvSpPr>
        <p:spPr>
          <a:xfrm>
            <a:off x="344488" y="1708105"/>
            <a:ext cx="7776864" cy="3197667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endParaRPr lang="ko-KR" altLang="en-US" sz="105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grpSp>
        <p:nvGrpSpPr>
          <p:cNvPr id="125" name="그룹 124">
            <a:extLst>
              <a:ext uri="{FF2B5EF4-FFF2-40B4-BE49-F238E27FC236}">
                <a16:creationId xmlns:a16="http://schemas.microsoft.com/office/drawing/2014/main" id="{30D1016A-13FB-4513-A8E9-706EE203BB52}"/>
              </a:ext>
            </a:extLst>
          </p:cNvPr>
          <p:cNvGrpSpPr/>
          <p:nvPr/>
        </p:nvGrpSpPr>
        <p:grpSpPr>
          <a:xfrm>
            <a:off x="3039178" y="5121796"/>
            <a:ext cx="2494046" cy="323428"/>
            <a:chOff x="3791228" y="5284908"/>
            <a:chExt cx="2630919" cy="360040"/>
          </a:xfrm>
        </p:grpSpPr>
        <p:sp>
          <p:nvSpPr>
            <p:cNvPr id="126" name="직사각형 125">
              <a:extLst>
                <a:ext uri="{FF2B5EF4-FFF2-40B4-BE49-F238E27FC236}">
                  <a16:creationId xmlns:a16="http://schemas.microsoft.com/office/drawing/2014/main" id="{7726E8D3-148F-4164-832A-268A34EC9F35}"/>
                </a:ext>
              </a:extLst>
            </p:cNvPr>
            <p:cNvSpPr/>
            <p:nvPr/>
          </p:nvSpPr>
          <p:spPr>
            <a:xfrm>
              <a:off x="3791228" y="5284908"/>
              <a:ext cx="1224136" cy="360040"/>
            </a:xfrm>
            <a:prstGeom prst="rect">
              <a:avLst/>
            </a:prstGeom>
            <a:solidFill>
              <a:srgbClr val="0099FF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 algn="ctr">
                <a:lnSpc>
                  <a:spcPct val="150000"/>
                </a:lnSpc>
              </a:pPr>
              <a:r>
                <a:rPr lang="ko-KR" altLang="en-US" sz="105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확인</a:t>
              </a:r>
            </a:p>
          </p:txBody>
        </p:sp>
        <p:sp>
          <p:nvSpPr>
            <p:cNvPr id="127" name="직사각형 126">
              <a:extLst>
                <a:ext uri="{FF2B5EF4-FFF2-40B4-BE49-F238E27FC236}">
                  <a16:creationId xmlns:a16="http://schemas.microsoft.com/office/drawing/2014/main" id="{3D9A0764-2FF1-44DF-A947-222307667FC1}"/>
                </a:ext>
              </a:extLst>
            </p:cNvPr>
            <p:cNvSpPr/>
            <p:nvPr/>
          </p:nvSpPr>
          <p:spPr>
            <a:xfrm>
              <a:off x="5198011" y="5284908"/>
              <a:ext cx="1224136" cy="36004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 algn="ctr">
                <a:lnSpc>
                  <a:spcPct val="150000"/>
                </a:lnSpc>
              </a:pPr>
              <a:r>
                <a:rPr lang="ko-KR" altLang="en-US" sz="1050" b="1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취소</a:t>
              </a:r>
            </a:p>
          </p:txBody>
        </p:sp>
      </p:grpSp>
      <p:grpSp>
        <p:nvGrpSpPr>
          <p:cNvPr id="3" name="그룹 2">
            <a:extLst>
              <a:ext uri="{FF2B5EF4-FFF2-40B4-BE49-F238E27FC236}">
                <a16:creationId xmlns:a16="http://schemas.microsoft.com/office/drawing/2014/main" id="{E71D6F2F-4D76-4573-B317-7143359A41E1}"/>
              </a:ext>
            </a:extLst>
          </p:cNvPr>
          <p:cNvGrpSpPr/>
          <p:nvPr/>
        </p:nvGrpSpPr>
        <p:grpSpPr>
          <a:xfrm>
            <a:off x="452652" y="2040076"/>
            <a:ext cx="7560534" cy="2469044"/>
            <a:chOff x="416802" y="2292713"/>
            <a:chExt cx="8130597" cy="2743910"/>
          </a:xfrm>
        </p:grpSpPr>
        <p:sp>
          <p:nvSpPr>
            <p:cNvPr id="48" name="직사각형 47">
              <a:extLst>
                <a:ext uri="{FF2B5EF4-FFF2-40B4-BE49-F238E27FC236}">
                  <a16:creationId xmlns:a16="http://schemas.microsoft.com/office/drawing/2014/main" id="{3F865AF4-D812-4E47-8A2C-BB70C9A7446E}"/>
                </a:ext>
              </a:extLst>
            </p:cNvPr>
            <p:cNvSpPr/>
            <p:nvPr/>
          </p:nvSpPr>
          <p:spPr>
            <a:xfrm>
              <a:off x="416802" y="2292713"/>
              <a:ext cx="1224136" cy="36004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 algn="r">
                <a:lnSpc>
                  <a:spcPct val="150000"/>
                </a:lnSpc>
              </a:pPr>
              <a:r>
                <a:rPr lang="ko-KR" altLang="en-US" sz="105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그룹 명</a:t>
              </a:r>
            </a:p>
          </p:txBody>
        </p:sp>
        <p:sp>
          <p:nvSpPr>
            <p:cNvPr id="49" name="직사각형 48">
              <a:extLst>
                <a:ext uri="{FF2B5EF4-FFF2-40B4-BE49-F238E27FC236}">
                  <a16:creationId xmlns:a16="http://schemas.microsoft.com/office/drawing/2014/main" id="{F44E89D5-57EC-4427-A76C-DEC387D92F51}"/>
                </a:ext>
              </a:extLst>
            </p:cNvPr>
            <p:cNvSpPr/>
            <p:nvPr/>
          </p:nvSpPr>
          <p:spPr>
            <a:xfrm>
              <a:off x="1784954" y="2292713"/>
              <a:ext cx="5904656" cy="36004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>
                <a:lnSpc>
                  <a:spcPct val="150000"/>
                </a:lnSpc>
              </a:pPr>
              <a:r>
                <a:rPr lang="ko-KR" altLang="en-US" sz="1050" b="1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롯데 정밀 화학</a:t>
              </a:r>
            </a:p>
          </p:txBody>
        </p:sp>
        <p:sp>
          <p:nvSpPr>
            <p:cNvPr id="50" name="직사각형 49">
              <a:extLst>
                <a:ext uri="{FF2B5EF4-FFF2-40B4-BE49-F238E27FC236}">
                  <a16:creationId xmlns:a16="http://schemas.microsoft.com/office/drawing/2014/main" id="{BE2D75D4-0BB3-4E93-856D-B663937405D5}"/>
                </a:ext>
              </a:extLst>
            </p:cNvPr>
            <p:cNvSpPr/>
            <p:nvPr/>
          </p:nvSpPr>
          <p:spPr>
            <a:xfrm>
              <a:off x="1089718" y="2868777"/>
              <a:ext cx="1224136" cy="36004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>
                <a:lnSpc>
                  <a:spcPct val="150000"/>
                </a:lnSpc>
              </a:pPr>
              <a:r>
                <a:rPr lang="ko-KR" altLang="en-US" sz="105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그룹 내 사이트</a:t>
              </a:r>
            </a:p>
          </p:txBody>
        </p:sp>
        <p:grpSp>
          <p:nvGrpSpPr>
            <p:cNvPr id="51" name="그룹 50">
              <a:extLst>
                <a:ext uri="{FF2B5EF4-FFF2-40B4-BE49-F238E27FC236}">
                  <a16:creationId xmlns:a16="http://schemas.microsoft.com/office/drawing/2014/main" id="{7F805C03-852D-4E38-823B-7B260687800F}"/>
                </a:ext>
              </a:extLst>
            </p:cNvPr>
            <p:cNvGrpSpPr/>
            <p:nvPr/>
          </p:nvGrpSpPr>
          <p:grpSpPr>
            <a:xfrm>
              <a:off x="1100656" y="3228816"/>
              <a:ext cx="3538932" cy="1807807"/>
              <a:chOff x="1100657" y="3228816"/>
              <a:chExt cx="2668622" cy="1807807"/>
            </a:xfrm>
          </p:grpSpPr>
          <p:sp>
            <p:nvSpPr>
              <p:cNvPr id="52" name="직사각형 51">
                <a:extLst>
                  <a:ext uri="{FF2B5EF4-FFF2-40B4-BE49-F238E27FC236}">
                    <a16:creationId xmlns:a16="http://schemas.microsoft.com/office/drawing/2014/main" id="{0B3E5012-7687-467A-9A40-176235875AE4}"/>
                  </a:ext>
                </a:extLst>
              </p:cNvPr>
              <p:cNvSpPr/>
              <p:nvPr/>
            </p:nvSpPr>
            <p:spPr>
              <a:xfrm>
                <a:off x="1100657" y="3228817"/>
                <a:ext cx="2319215" cy="1784359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t" anchorCtr="0"/>
              <a:lstStyle/>
              <a:p>
                <a:pPr>
                  <a:lnSpc>
                    <a:spcPct val="200000"/>
                  </a:lnSpc>
                </a:pPr>
                <a:r>
                  <a:rPr lang="ko-KR" altLang="en-US" sz="1000" b="1" dirty="0">
                    <a:solidFill>
                      <a:schemeClr val="tx1"/>
                    </a:solidFill>
                    <a:latin typeface="맑은 고딕" pitchFamily="50" charset="-127"/>
                    <a:ea typeface="맑은 고딕" pitchFamily="50" charset="-127"/>
                  </a:rPr>
                  <a:t>롯데</a:t>
                </a:r>
                <a:r>
                  <a:rPr lang="en-US" altLang="ko-KR" sz="1000" b="1" dirty="0">
                    <a:solidFill>
                      <a:schemeClr val="tx1"/>
                    </a:solidFill>
                    <a:latin typeface="맑은 고딕" pitchFamily="50" charset="-127"/>
                    <a:ea typeface="맑은 고딕" pitchFamily="50" charset="-127"/>
                  </a:rPr>
                  <a:t>_Site_01</a:t>
                </a:r>
              </a:p>
              <a:p>
                <a:pPr>
                  <a:lnSpc>
                    <a:spcPct val="200000"/>
                  </a:lnSpc>
                </a:pPr>
                <a:r>
                  <a:rPr lang="ko-KR" altLang="en-US" sz="1000" b="1" dirty="0">
                    <a:solidFill>
                      <a:schemeClr val="tx1"/>
                    </a:solidFill>
                    <a:latin typeface="맑은 고딕" pitchFamily="50" charset="-127"/>
                    <a:ea typeface="맑은 고딕" pitchFamily="50" charset="-127"/>
                  </a:rPr>
                  <a:t>롯데</a:t>
                </a:r>
                <a:r>
                  <a:rPr lang="en-US" altLang="ko-KR" sz="1000" b="1" dirty="0">
                    <a:solidFill>
                      <a:schemeClr val="tx1"/>
                    </a:solidFill>
                    <a:latin typeface="맑은 고딕" pitchFamily="50" charset="-127"/>
                    <a:ea typeface="맑은 고딕" pitchFamily="50" charset="-127"/>
                  </a:rPr>
                  <a:t>_Site_02</a:t>
                </a:r>
              </a:p>
              <a:p>
                <a:pPr>
                  <a:lnSpc>
                    <a:spcPct val="200000"/>
                  </a:lnSpc>
                </a:pPr>
                <a:r>
                  <a:rPr lang="ko-KR" altLang="en-US" sz="1000" b="1" dirty="0">
                    <a:solidFill>
                      <a:schemeClr val="tx1"/>
                    </a:solidFill>
                    <a:latin typeface="맑은 고딕" pitchFamily="50" charset="-127"/>
                    <a:ea typeface="맑은 고딕" pitchFamily="50" charset="-127"/>
                  </a:rPr>
                  <a:t>롯데</a:t>
                </a:r>
                <a:r>
                  <a:rPr lang="en-US" altLang="ko-KR" sz="1000" b="1" dirty="0">
                    <a:solidFill>
                      <a:schemeClr val="tx1"/>
                    </a:solidFill>
                    <a:latin typeface="맑은 고딕" pitchFamily="50" charset="-127"/>
                    <a:ea typeface="맑은 고딕" pitchFamily="50" charset="-127"/>
                  </a:rPr>
                  <a:t>_Site_03</a:t>
                </a:r>
                <a:endParaRPr lang="ko-KR" altLang="en-US" sz="1000" b="1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  <p:cxnSp>
            <p:nvCxnSpPr>
              <p:cNvPr id="53" name="직선 연결선 52">
                <a:extLst>
                  <a:ext uri="{FF2B5EF4-FFF2-40B4-BE49-F238E27FC236}">
                    <a16:creationId xmlns:a16="http://schemas.microsoft.com/office/drawing/2014/main" id="{8ABDD246-FAC3-4FD7-AED1-015D2C7A4F9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115616" y="3633802"/>
                <a:ext cx="2160000" cy="1"/>
              </a:xfrm>
              <a:prstGeom prst="line">
                <a:avLst/>
              </a:prstGeom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" name="직선 연결선 53">
                <a:extLst>
                  <a:ext uri="{FF2B5EF4-FFF2-40B4-BE49-F238E27FC236}">
                    <a16:creationId xmlns:a16="http://schemas.microsoft.com/office/drawing/2014/main" id="{1717978E-CB68-4667-B2C8-4A96593EA3C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115616" y="3973891"/>
                <a:ext cx="2160000" cy="1"/>
              </a:xfrm>
              <a:prstGeom prst="line">
                <a:avLst/>
              </a:prstGeom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" name="직선 연결선 54">
                <a:extLst>
                  <a:ext uri="{FF2B5EF4-FFF2-40B4-BE49-F238E27FC236}">
                    <a16:creationId xmlns:a16="http://schemas.microsoft.com/office/drawing/2014/main" id="{56D50F60-0FF8-44E4-A909-A86EB5A7EEE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115616" y="4323930"/>
                <a:ext cx="2160000" cy="1"/>
              </a:xfrm>
              <a:prstGeom prst="line">
                <a:avLst/>
              </a:prstGeom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56" name="Picture 4" descr="ê´ë ¨ ì´ë¯¸ì§">
                <a:extLst>
                  <a:ext uri="{FF2B5EF4-FFF2-40B4-BE49-F238E27FC236}">
                    <a16:creationId xmlns:a16="http://schemas.microsoft.com/office/drawing/2014/main" id="{6F44EBD6-67AB-4639-88A7-F21429C496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02287" y="3228816"/>
                <a:ext cx="866992" cy="1807807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grpSp>
          <p:nvGrpSpPr>
            <p:cNvPr id="57" name="그룹 56">
              <a:extLst>
                <a:ext uri="{FF2B5EF4-FFF2-40B4-BE49-F238E27FC236}">
                  <a16:creationId xmlns:a16="http://schemas.microsoft.com/office/drawing/2014/main" id="{A6EEDE16-7A2F-439E-A0EB-09D7BA5068B2}"/>
                </a:ext>
              </a:extLst>
            </p:cNvPr>
            <p:cNvGrpSpPr/>
            <p:nvPr/>
          </p:nvGrpSpPr>
          <p:grpSpPr>
            <a:xfrm>
              <a:off x="5092008" y="3211572"/>
              <a:ext cx="3455391" cy="1807807"/>
              <a:chOff x="5364088" y="3211572"/>
              <a:chExt cx="3183311" cy="1807807"/>
            </a:xfrm>
          </p:grpSpPr>
          <p:sp>
            <p:nvSpPr>
              <p:cNvPr id="58" name="직사각형 57">
                <a:extLst>
                  <a:ext uri="{FF2B5EF4-FFF2-40B4-BE49-F238E27FC236}">
                    <a16:creationId xmlns:a16="http://schemas.microsoft.com/office/drawing/2014/main" id="{52821123-AFBB-4823-AEB1-DA07B26BB164}"/>
                  </a:ext>
                </a:extLst>
              </p:cNvPr>
              <p:cNvSpPr/>
              <p:nvPr/>
            </p:nvSpPr>
            <p:spPr>
              <a:xfrm>
                <a:off x="5364088" y="3211573"/>
                <a:ext cx="2766515" cy="1784359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t" anchorCtr="0"/>
              <a:lstStyle/>
              <a:p>
                <a:pPr>
                  <a:lnSpc>
                    <a:spcPct val="200000"/>
                  </a:lnSpc>
                </a:pPr>
                <a:r>
                  <a:rPr lang="ko-KR" altLang="en-US" sz="1000" b="1" dirty="0">
                    <a:solidFill>
                      <a:schemeClr val="tx1"/>
                    </a:solidFill>
                    <a:latin typeface="맑은 고딕" pitchFamily="50" charset="-127"/>
                    <a:ea typeface="맑은 고딕" pitchFamily="50" charset="-127"/>
                  </a:rPr>
                  <a:t>롯데</a:t>
                </a:r>
                <a:r>
                  <a:rPr lang="en-US" altLang="ko-KR" sz="1000" b="1" dirty="0">
                    <a:solidFill>
                      <a:schemeClr val="tx1"/>
                    </a:solidFill>
                    <a:latin typeface="맑은 고딕" pitchFamily="50" charset="-127"/>
                    <a:ea typeface="맑은 고딕" pitchFamily="50" charset="-127"/>
                  </a:rPr>
                  <a:t>_Site_01</a:t>
                </a:r>
              </a:p>
              <a:p>
                <a:pPr>
                  <a:lnSpc>
                    <a:spcPct val="200000"/>
                  </a:lnSpc>
                </a:pPr>
                <a:r>
                  <a:rPr lang="ko-KR" altLang="en-US" sz="1000" b="1" dirty="0">
                    <a:solidFill>
                      <a:schemeClr val="tx1"/>
                    </a:solidFill>
                    <a:latin typeface="맑은 고딕" pitchFamily="50" charset="-127"/>
                    <a:ea typeface="맑은 고딕" pitchFamily="50" charset="-127"/>
                  </a:rPr>
                  <a:t>롯데</a:t>
                </a:r>
                <a:r>
                  <a:rPr lang="en-US" altLang="ko-KR" sz="1000" b="1" dirty="0">
                    <a:solidFill>
                      <a:schemeClr val="tx1"/>
                    </a:solidFill>
                    <a:latin typeface="맑은 고딕" pitchFamily="50" charset="-127"/>
                    <a:ea typeface="맑은 고딕" pitchFamily="50" charset="-127"/>
                  </a:rPr>
                  <a:t>_Site_02</a:t>
                </a:r>
              </a:p>
              <a:p>
                <a:pPr>
                  <a:lnSpc>
                    <a:spcPct val="200000"/>
                  </a:lnSpc>
                </a:pPr>
                <a:r>
                  <a:rPr lang="ko-KR" altLang="en-US" sz="1000" b="1" dirty="0">
                    <a:solidFill>
                      <a:schemeClr val="tx1"/>
                    </a:solidFill>
                    <a:latin typeface="맑은 고딕" pitchFamily="50" charset="-127"/>
                    <a:ea typeface="맑은 고딕" pitchFamily="50" charset="-127"/>
                  </a:rPr>
                  <a:t>롯데</a:t>
                </a:r>
                <a:r>
                  <a:rPr lang="en-US" altLang="ko-KR" sz="1000" b="1" dirty="0">
                    <a:solidFill>
                      <a:schemeClr val="tx1"/>
                    </a:solidFill>
                    <a:latin typeface="맑은 고딕" pitchFamily="50" charset="-127"/>
                    <a:ea typeface="맑은 고딕" pitchFamily="50" charset="-127"/>
                  </a:rPr>
                  <a:t>_Site_03</a:t>
                </a:r>
              </a:p>
              <a:p>
                <a:pPr>
                  <a:lnSpc>
                    <a:spcPct val="200000"/>
                  </a:lnSpc>
                </a:pPr>
                <a:r>
                  <a:rPr lang="ko-KR" altLang="en-US" sz="1000" b="1" dirty="0">
                    <a:solidFill>
                      <a:schemeClr val="tx1"/>
                    </a:solidFill>
                    <a:latin typeface="맑은 고딕" pitchFamily="50" charset="-127"/>
                    <a:ea typeface="맑은 고딕" pitchFamily="50" charset="-127"/>
                  </a:rPr>
                  <a:t>롯데 </a:t>
                </a:r>
                <a:r>
                  <a:rPr lang="en-US" altLang="ko-KR" sz="1000" b="1" dirty="0">
                    <a:solidFill>
                      <a:schemeClr val="tx1"/>
                    </a:solidFill>
                    <a:latin typeface="맑은 고딕" pitchFamily="50" charset="-127"/>
                    <a:ea typeface="맑은 고딕" pitchFamily="50" charset="-127"/>
                  </a:rPr>
                  <a:t>Site_04</a:t>
                </a:r>
              </a:p>
              <a:p>
                <a:pPr>
                  <a:lnSpc>
                    <a:spcPct val="200000"/>
                  </a:lnSpc>
                </a:pPr>
                <a:r>
                  <a:rPr lang="ko-KR" altLang="en-US" sz="1000" b="1" dirty="0">
                    <a:solidFill>
                      <a:schemeClr val="tx1"/>
                    </a:solidFill>
                    <a:latin typeface="맑은 고딕" pitchFamily="50" charset="-127"/>
                    <a:ea typeface="맑은 고딕" pitchFamily="50" charset="-127"/>
                  </a:rPr>
                  <a:t>롯데 </a:t>
                </a:r>
                <a:r>
                  <a:rPr lang="en-US" altLang="ko-KR" sz="1000" b="1" dirty="0">
                    <a:solidFill>
                      <a:schemeClr val="tx1"/>
                    </a:solidFill>
                    <a:latin typeface="맑은 고딕" pitchFamily="50" charset="-127"/>
                    <a:ea typeface="맑은 고딕" pitchFamily="50" charset="-127"/>
                  </a:rPr>
                  <a:t>Site_05</a:t>
                </a:r>
                <a:endParaRPr lang="en-US" altLang="ko-KR" sz="1050" b="1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  <p:cxnSp>
            <p:nvCxnSpPr>
              <p:cNvPr id="59" name="직선 연결선 58">
                <a:extLst>
                  <a:ext uri="{FF2B5EF4-FFF2-40B4-BE49-F238E27FC236}">
                    <a16:creationId xmlns:a16="http://schemas.microsoft.com/office/drawing/2014/main" id="{81BACF2B-3F89-430B-9BC1-726CA834F6C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81932" y="3590919"/>
                <a:ext cx="2576593" cy="1"/>
              </a:xfrm>
              <a:prstGeom prst="line">
                <a:avLst/>
              </a:prstGeom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" name="직선 연결선 59">
                <a:extLst>
                  <a:ext uri="{FF2B5EF4-FFF2-40B4-BE49-F238E27FC236}">
                    <a16:creationId xmlns:a16="http://schemas.microsoft.com/office/drawing/2014/main" id="{CE1917E2-7952-415E-B1F7-43B1DC41AA5D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81932" y="3950056"/>
                <a:ext cx="2576593" cy="1"/>
              </a:xfrm>
              <a:prstGeom prst="line">
                <a:avLst/>
              </a:prstGeom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1" name="직선 연결선 60">
                <a:extLst>
                  <a:ext uri="{FF2B5EF4-FFF2-40B4-BE49-F238E27FC236}">
                    <a16:creationId xmlns:a16="http://schemas.microsoft.com/office/drawing/2014/main" id="{EF693D65-E3B0-497B-91F7-D1286E253A6C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81932" y="4285724"/>
                <a:ext cx="2576593" cy="1"/>
              </a:xfrm>
              <a:prstGeom prst="line">
                <a:avLst/>
              </a:prstGeom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62" name="Picture 4" descr="ê´ë ¨ ì´ë¯¸ì§">
                <a:extLst>
                  <a:ext uri="{FF2B5EF4-FFF2-40B4-BE49-F238E27FC236}">
                    <a16:creationId xmlns:a16="http://schemas.microsoft.com/office/drawing/2014/main" id="{6E0D5C54-9FEC-44ED-8A61-00725E4E78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513193" y="3211572"/>
                <a:ext cx="1034206" cy="1807807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cxnSp>
            <p:nvCxnSpPr>
              <p:cNvPr id="64" name="직선 연결선 63">
                <a:extLst>
                  <a:ext uri="{FF2B5EF4-FFF2-40B4-BE49-F238E27FC236}">
                    <a16:creationId xmlns:a16="http://schemas.microsoft.com/office/drawing/2014/main" id="{6CD9608D-1C2B-4A79-9E37-6F8B167FEC0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81932" y="4628236"/>
                <a:ext cx="2576593" cy="1"/>
              </a:xfrm>
              <a:prstGeom prst="line">
                <a:avLst/>
              </a:prstGeom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6" name="그룹 65">
              <a:extLst>
                <a:ext uri="{FF2B5EF4-FFF2-40B4-BE49-F238E27FC236}">
                  <a16:creationId xmlns:a16="http://schemas.microsoft.com/office/drawing/2014/main" id="{C24B7912-C57E-4BAC-ADE4-FC75497AA8C6}"/>
                </a:ext>
              </a:extLst>
            </p:cNvPr>
            <p:cNvGrpSpPr/>
            <p:nvPr/>
          </p:nvGrpSpPr>
          <p:grpSpPr>
            <a:xfrm>
              <a:off x="4429807" y="3689271"/>
              <a:ext cx="423448" cy="828962"/>
              <a:chOff x="4437543" y="3456671"/>
              <a:chExt cx="423448" cy="828962"/>
            </a:xfrm>
          </p:grpSpPr>
          <p:pic>
            <p:nvPicPr>
              <p:cNvPr id="67" name="Picture 6" descr="white arrowì ëí ì´ë¯¸ì§ ê²ìê²°ê³¼">
                <a:extLst>
                  <a:ext uri="{FF2B5EF4-FFF2-40B4-BE49-F238E27FC236}">
                    <a16:creationId xmlns:a16="http://schemas.microsoft.com/office/drawing/2014/main" id="{42F4033E-32DD-4EA0-B8B6-9FDBCAFE5E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800000">
                <a:off x="4437544" y="3456671"/>
                <a:ext cx="423447" cy="423447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68" name="Picture 8" descr="white arrowì ëí ì´ë¯¸ì§ ê²ìê²°ê³¼">
                <a:extLst>
                  <a:ext uri="{FF2B5EF4-FFF2-40B4-BE49-F238E27FC236}">
                    <a16:creationId xmlns:a16="http://schemas.microsoft.com/office/drawing/2014/main" id="{D4A218E6-1CBE-4834-B8A3-5D1653EFCD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437543" y="3862185"/>
                <a:ext cx="423448" cy="423448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sp>
          <p:nvSpPr>
            <p:cNvPr id="69" name="직사각형 68">
              <a:extLst>
                <a:ext uri="{FF2B5EF4-FFF2-40B4-BE49-F238E27FC236}">
                  <a16:creationId xmlns:a16="http://schemas.microsoft.com/office/drawing/2014/main" id="{C3C75D86-456C-40F9-8DD5-C0EA33A6DFA9}"/>
                </a:ext>
              </a:extLst>
            </p:cNvPr>
            <p:cNvSpPr/>
            <p:nvPr/>
          </p:nvSpPr>
          <p:spPr>
            <a:xfrm>
              <a:off x="5039025" y="2869844"/>
              <a:ext cx="1224136" cy="36004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>
                <a:lnSpc>
                  <a:spcPct val="150000"/>
                </a:lnSpc>
              </a:pPr>
              <a:r>
                <a:rPr lang="ko-KR" altLang="en-US" sz="1050" b="1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전체 사이트</a:t>
              </a:r>
              <a:endParaRPr lang="ko-KR" altLang="en-US" sz="105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70" name="직사각형 69">
              <a:extLst>
                <a:ext uri="{FF2B5EF4-FFF2-40B4-BE49-F238E27FC236}">
                  <a16:creationId xmlns:a16="http://schemas.microsoft.com/office/drawing/2014/main" id="{E7F3C013-B344-4F51-9EF0-D4AB977EE137}"/>
                </a:ext>
              </a:extLst>
            </p:cNvPr>
            <p:cNvSpPr/>
            <p:nvPr/>
          </p:nvSpPr>
          <p:spPr>
            <a:xfrm>
              <a:off x="7689610" y="2292713"/>
              <a:ext cx="360040" cy="36004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 anchorCtr="0"/>
            <a:lstStyle/>
            <a:p>
              <a:pPr algn="ctr">
                <a:lnSpc>
                  <a:spcPct val="150000"/>
                </a:lnSpc>
              </a:pPr>
              <a:r>
                <a:rPr lang="ko-KR" altLang="en-US" sz="105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▼</a:t>
              </a:r>
            </a:p>
          </p:txBody>
        </p:sp>
      </p:grpSp>
      <p:sp>
        <p:nvSpPr>
          <p:cNvPr id="65" name="타원형 설명선 226">
            <a:extLst>
              <a:ext uri="{FF2B5EF4-FFF2-40B4-BE49-F238E27FC236}">
                <a16:creationId xmlns:a16="http://schemas.microsoft.com/office/drawing/2014/main" id="{E6364402-B9C9-4774-AC1A-8F0AF7DDE5DF}"/>
              </a:ext>
            </a:extLst>
          </p:cNvPr>
          <p:cNvSpPr/>
          <p:nvPr/>
        </p:nvSpPr>
        <p:spPr>
          <a:xfrm>
            <a:off x="821567" y="2535569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1" name="타원형 설명선 243">
            <a:extLst>
              <a:ext uri="{FF2B5EF4-FFF2-40B4-BE49-F238E27FC236}">
                <a16:creationId xmlns:a16="http://schemas.microsoft.com/office/drawing/2014/main" id="{FCE95DD2-4E01-492B-902D-83E7026632FE}"/>
              </a:ext>
            </a:extLst>
          </p:cNvPr>
          <p:cNvSpPr/>
          <p:nvPr/>
        </p:nvSpPr>
        <p:spPr>
          <a:xfrm>
            <a:off x="4534795" y="2512942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2" name="타원형 설명선 244">
            <a:extLst>
              <a:ext uri="{FF2B5EF4-FFF2-40B4-BE49-F238E27FC236}">
                <a16:creationId xmlns:a16="http://schemas.microsoft.com/office/drawing/2014/main" id="{91058315-74C2-486F-8984-82AB121E428B}"/>
              </a:ext>
            </a:extLst>
          </p:cNvPr>
          <p:cNvSpPr/>
          <p:nvPr/>
        </p:nvSpPr>
        <p:spPr>
          <a:xfrm>
            <a:off x="4050843" y="3105000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3" name="타원형 설명선 225">
            <a:extLst>
              <a:ext uri="{FF2B5EF4-FFF2-40B4-BE49-F238E27FC236}">
                <a16:creationId xmlns:a16="http://schemas.microsoft.com/office/drawing/2014/main" id="{35E4A3D9-45FF-41AE-820A-D77D49757B6C}"/>
              </a:ext>
            </a:extLst>
          </p:cNvPr>
          <p:cNvSpPr/>
          <p:nvPr/>
        </p:nvSpPr>
        <p:spPr>
          <a:xfrm>
            <a:off x="805806" y="1952209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4" name="타원형 설명선 243">
            <a:extLst>
              <a:ext uri="{FF2B5EF4-FFF2-40B4-BE49-F238E27FC236}">
                <a16:creationId xmlns:a16="http://schemas.microsoft.com/office/drawing/2014/main" id="{730E1177-1AD4-42A1-8276-7C8454308CFA}"/>
              </a:ext>
            </a:extLst>
          </p:cNvPr>
          <p:cNvSpPr/>
          <p:nvPr/>
        </p:nvSpPr>
        <p:spPr>
          <a:xfrm>
            <a:off x="2758034" y="4905796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5" name="타원형 설명선 243">
            <a:extLst>
              <a:ext uri="{FF2B5EF4-FFF2-40B4-BE49-F238E27FC236}">
                <a16:creationId xmlns:a16="http://schemas.microsoft.com/office/drawing/2014/main" id="{A9CB9123-EEAE-445F-8EA3-E8E4F482A895}"/>
              </a:ext>
            </a:extLst>
          </p:cNvPr>
          <p:cNvSpPr/>
          <p:nvPr/>
        </p:nvSpPr>
        <p:spPr>
          <a:xfrm>
            <a:off x="4153076" y="4907202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6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4212097026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9104309" y="6645875"/>
            <a:ext cx="140029" cy="138499"/>
          </a:xfrm>
        </p:spPr>
        <p:txBody>
          <a:bodyPr/>
          <a:lstStyle/>
          <a:p>
            <a:pPr>
              <a:defRPr/>
            </a:pPr>
            <a:fld id="{9E41B634-5682-4388-99E7-FE44DCFD254B}" type="slidenum">
              <a:rPr lang="ko-KR" altLang="en-US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>
                <a:defRPr/>
              </a:pPr>
              <a:t>56</a:t>
            </a:fld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텍스트 개체 틀 8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 &gt;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설정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&gt;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사용자 관리</a:t>
            </a:r>
          </a:p>
        </p:txBody>
      </p:sp>
      <p:sp>
        <p:nvSpPr>
          <p:cNvPr id="10" name="텍스트 개체 틀 9"/>
          <p:cNvSpPr>
            <a:spLocks noGrp="1"/>
          </p:cNvSpPr>
          <p:nvPr>
            <p:ph type="body" sz="quarter" idx="10"/>
          </p:nvPr>
        </p:nvSpPr>
        <p:spPr>
          <a:xfrm>
            <a:off x="6023595" y="44624"/>
            <a:ext cx="1233661" cy="196974"/>
          </a:xfrm>
        </p:spPr>
        <p:txBody>
          <a:bodyPr/>
          <a:lstStyle/>
          <a:p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사용자 관리</a:t>
            </a:r>
          </a:p>
        </p:txBody>
      </p:sp>
      <p:graphicFrame>
        <p:nvGraphicFramePr>
          <p:cNvPr id="102" name="Group 15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79787588"/>
              </p:ext>
            </p:extLst>
          </p:nvPr>
        </p:nvGraphicFramePr>
        <p:xfrm>
          <a:off x="8469313" y="276225"/>
          <a:ext cx="1404000" cy="3773760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3002"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Description</a:t>
                      </a: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사용자 리스트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1)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현재 등록된 사용자 리스트를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2)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사용자 정보 항목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 - ID,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권한등급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그룹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설명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등록일자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3)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설정 버튼을 클릭하면 수정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삭제 메뉴가 팝업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수정을 선택하면 인라인 편집이 가능하도록 처리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삭제를 선택하면 해당 사용자 항목을 삭제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2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사용자 추가하기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사용자 추가 팝업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*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별도의 팝업이 아닌 이전 페이지의 사이트 리스트에서 바로 추가가 가능한 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UI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검토 필요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3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확인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모든 변경사항을 적용하고 팝업을 종료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4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취소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모든 변경사항을 적용하지 않고 팝업을 종료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78" name="TextBox 77"/>
          <p:cNvSpPr txBox="1"/>
          <p:nvPr/>
        </p:nvSpPr>
        <p:spPr>
          <a:xfrm>
            <a:off x="7121707" y="21349"/>
            <a:ext cx="567597" cy="2308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화면</a:t>
            </a:r>
            <a:r>
              <a:rPr lang="en-US" altLang="ko-KR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ID</a:t>
            </a:r>
            <a:endParaRPr lang="ko-KR" altLang="en-US" sz="9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7689304" y="43659"/>
            <a:ext cx="792088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itchFamily="50" charset="-127"/>
                <a:ea typeface="맑은 고딕" pitchFamily="50" charset="-127"/>
              </a:rPr>
              <a:t>ewpsp_scr_039</a:t>
            </a:r>
            <a:endParaRPr lang="ko-KR" altLang="en-US" sz="70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06" name="타원형 설명선 205"/>
          <p:cNvSpPr/>
          <p:nvPr/>
        </p:nvSpPr>
        <p:spPr>
          <a:xfrm>
            <a:off x="-569205" y="2663105"/>
            <a:ext cx="216000" cy="216000"/>
          </a:xfrm>
          <a:prstGeom prst="wedgeEllipseCallout">
            <a:avLst>
              <a:gd name="adj1" fmla="val 74230"/>
              <a:gd name="adj2" fmla="val 21822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/>
              <a:t>9</a:t>
            </a:r>
            <a:endParaRPr lang="ko-KR" altLang="en-US" sz="900" b="1" dirty="0"/>
          </a:p>
        </p:txBody>
      </p:sp>
      <p:sp>
        <p:nvSpPr>
          <p:cNvPr id="226" name="타원형 설명선 225"/>
          <p:cNvSpPr/>
          <p:nvPr/>
        </p:nvSpPr>
        <p:spPr>
          <a:xfrm>
            <a:off x="-614984" y="3131239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27" name="타원형 설명선 226"/>
          <p:cNvSpPr/>
          <p:nvPr/>
        </p:nvSpPr>
        <p:spPr>
          <a:xfrm>
            <a:off x="-569205" y="1803078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4" name="타원형 설명선 243"/>
          <p:cNvSpPr/>
          <p:nvPr/>
        </p:nvSpPr>
        <p:spPr>
          <a:xfrm>
            <a:off x="-577084" y="2069057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5" name="타원형 설명선 244"/>
          <p:cNvSpPr/>
          <p:nvPr/>
        </p:nvSpPr>
        <p:spPr>
          <a:xfrm>
            <a:off x="-589447" y="3645532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6" name="타원형 설명선 245"/>
          <p:cNvSpPr/>
          <p:nvPr/>
        </p:nvSpPr>
        <p:spPr>
          <a:xfrm>
            <a:off x="-589447" y="4191909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7" name="타원형 설명선 246"/>
          <p:cNvSpPr/>
          <p:nvPr/>
        </p:nvSpPr>
        <p:spPr>
          <a:xfrm>
            <a:off x="-577084" y="1242454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7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8" name="타원형 설명선 247"/>
          <p:cNvSpPr/>
          <p:nvPr/>
        </p:nvSpPr>
        <p:spPr>
          <a:xfrm>
            <a:off x="-577084" y="1494435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8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66" name="타원형 설명선 265"/>
          <p:cNvSpPr/>
          <p:nvPr/>
        </p:nvSpPr>
        <p:spPr>
          <a:xfrm>
            <a:off x="-567176" y="2375143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6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3" name="타원형 설명선 225">
            <a:extLst>
              <a:ext uri="{FF2B5EF4-FFF2-40B4-BE49-F238E27FC236}">
                <a16:creationId xmlns:a16="http://schemas.microsoft.com/office/drawing/2014/main" id="{93402A8C-F86A-4207-9226-F02BE6AB6E19}"/>
              </a:ext>
            </a:extLst>
          </p:cNvPr>
          <p:cNvSpPr/>
          <p:nvPr/>
        </p:nvSpPr>
        <p:spPr>
          <a:xfrm>
            <a:off x="-447600" y="895222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8" name="Picture 3">
            <a:extLst>
              <a:ext uri="{FF2B5EF4-FFF2-40B4-BE49-F238E27FC236}">
                <a16:creationId xmlns:a16="http://schemas.microsoft.com/office/drawing/2014/main" id="{D14E8AEF-8EA8-4944-AE52-FF98A1FB783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3772" y="762442"/>
            <a:ext cx="8208912" cy="5040559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  <a:extLst/>
        </p:spPr>
      </p:pic>
      <p:pic>
        <p:nvPicPr>
          <p:cNvPr id="19" name="Picture 2">
            <a:extLst>
              <a:ext uri="{FF2B5EF4-FFF2-40B4-BE49-F238E27FC236}">
                <a16:creationId xmlns:a16="http://schemas.microsoft.com/office/drawing/2014/main" id="{6FBB0165-03FF-4BBD-A158-8DEF923CF53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464" y="762442"/>
            <a:ext cx="8208912" cy="3487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20" name="직선 연결선 19">
            <a:extLst>
              <a:ext uri="{FF2B5EF4-FFF2-40B4-BE49-F238E27FC236}">
                <a16:creationId xmlns:a16="http://schemas.microsoft.com/office/drawing/2014/main" id="{37D07777-30AA-4506-9C18-6F3B4C7D943C}"/>
              </a:ext>
            </a:extLst>
          </p:cNvPr>
          <p:cNvCxnSpPr>
            <a:cxnSpLocks/>
          </p:cNvCxnSpPr>
          <p:nvPr/>
        </p:nvCxnSpPr>
        <p:spPr>
          <a:xfrm>
            <a:off x="128463" y="1124744"/>
            <a:ext cx="8208912" cy="0"/>
          </a:xfrm>
          <a:prstGeom prst="line">
            <a:avLst/>
          </a:prstGeom>
          <a:ln w="9525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5E84417E-CAA5-4FD3-BBB9-7CD5570EF571}"/>
              </a:ext>
            </a:extLst>
          </p:cNvPr>
          <p:cNvSpPr/>
          <p:nvPr/>
        </p:nvSpPr>
        <p:spPr>
          <a:xfrm>
            <a:off x="216314" y="1324228"/>
            <a:ext cx="2216405" cy="288032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>
              <a:lnSpc>
                <a:spcPct val="150000"/>
              </a:lnSpc>
            </a:pPr>
            <a:r>
              <a:rPr lang="ko-KR" altLang="en-US" sz="10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설정</a:t>
            </a:r>
            <a:r>
              <a:rPr lang="en-US" altLang="ko-KR" sz="10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 – </a:t>
            </a:r>
            <a:r>
              <a:rPr lang="ko-KR" altLang="en-US" sz="10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사용자 관리</a:t>
            </a:r>
          </a:p>
        </p:txBody>
      </p:sp>
      <p:pic>
        <p:nvPicPr>
          <p:cNvPr id="47" name="Picture 2" descr="ì¤ì ì ëí ì´ë¯¸ì§ ê²ìê²°ê³¼">
            <a:extLst>
              <a:ext uri="{FF2B5EF4-FFF2-40B4-BE49-F238E27FC236}">
                <a16:creationId xmlns:a16="http://schemas.microsoft.com/office/drawing/2014/main" id="{90A888AD-844A-4544-B02A-A77BC3397C7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05865" y="844086"/>
            <a:ext cx="198592" cy="19859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25" name="그룹 124">
            <a:extLst>
              <a:ext uri="{FF2B5EF4-FFF2-40B4-BE49-F238E27FC236}">
                <a16:creationId xmlns:a16="http://schemas.microsoft.com/office/drawing/2014/main" id="{30D1016A-13FB-4513-A8E9-706EE203BB52}"/>
              </a:ext>
            </a:extLst>
          </p:cNvPr>
          <p:cNvGrpSpPr/>
          <p:nvPr/>
        </p:nvGrpSpPr>
        <p:grpSpPr>
          <a:xfrm>
            <a:off x="3039178" y="5121796"/>
            <a:ext cx="2494046" cy="323428"/>
            <a:chOff x="3791228" y="5284908"/>
            <a:chExt cx="2630919" cy="360040"/>
          </a:xfrm>
        </p:grpSpPr>
        <p:sp>
          <p:nvSpPr>
            <p:cNvPr id="126" name="직사각형 125">
              <a:extLst>
                <a:ext uri="{FF2B5EF4-FFF2-40B4-BE49-F238E27FC236}">
                  <a16:creationId xmlns:a16="http://schemas.microsoft.com/office/drawing/2014/main" id="{7726E8D3-148F-4164-832A-268A34EC9F35}"/>
                </a:ext>
              </a:extLst>
            </p:cNvPr>
            <p:cNvSpPr/>
            <p:nvPr/>
          </p:nvSpPr>
          <p:spPr>
            <a:xfrm>
              <a:off x="3791228" y="5284908"/>
              <a:ext cx="1224136" cy="360040"/>
            </a:xfrm>
            <a:prstGeom prst="rect">
              <a:avLst/>
            </a:prstGeom>
            <a:solidFill>
              <a:srgbClr val="0099FF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 algn="ctr">
                <a:lnSpc>
                  <a:spcPct val="150000"/>
                </a:lnSpc>
              </a:pPr>
              <a:r>
                <a:rPr lang="ko-KR" altLang="en-US" sz="105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확인</a:t>
              </a:r>
            </a:p>
          </p:txBody>
        </p:sp>
        <p:sp>
          <p:nvSpPr>
            <p:cNvPr id="127" name="직사각형 126">
              <a:extLst>
                <a:ext uri="{FF2B5EF4-FFF2-40B4-BE49-F238E27FC236}">
                  <a16:creationId xmlns:a16="http://schemas.microsoft.com/office/drawing/2014/main" id="{3D9A0764-2FF1-44DF-A947-222307667FC1}"/>
                </a:ext>
              </a:extLst>
            </p:cNvPr>
            <p:cNvSpPr/>
            <p:nvPr/>
          </p:nvSpPr>
          <p:spPr>
            <a:xfrm>
              <a:off x="5198011" y="5284908"/>
              <a:ext cx="1224136" cy="36004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 algn="ctr">
                <a:lnSpc>
                  <a:spcPct val="150000"/>
                </a:lnSpc>
              </a:pPr>
              <a:r>
                <a:rPr lang="ko-KR" altLang="en-US" sz="1050" b="1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취소</a:t>
              </a:r>
            </a:p>
          </p:txBody>
        </p:sp>
      </p:grpSp>
      <p:cxnSp>
        <p:nvCxnSpPr>
          <p:cNvPr id="27" name="직선 연결선 26">
            <a:extLst>
              <a:ext uri="{FF2B5EF4-FFF2-40B4-BE49-F238E27FC236}">
                <a16:creationId xmlns:a16="http://schemas.microsoft.com/office/drawing/2014/main" id="{7244994E-9DC4-4C8E-BAB1-FB940836456B}"/>
              </a:ext>
            </a:extLst>
          </p:cNvPr>
          <p:cNvCxnSpPr>
            <a:cxnSpLocks/>
          </p:cNvCxnSpPr>
          <p:nvPr/>
        </p:nvCxnSpPr>
        <p:spPr>
          <a:xfrm>
            <a:off x="344488" y="1823405"/>
            <a:ext cx="7748043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직선 연결선 27">
            <a:extLst>
              <a:ext uri="{FF2B5EF4-FFF2-40B4-BE49-F238E27FC236}">
                <a16:creationId xmlns:a16="http://schemas.microsoft.com/office/drawing/2014/main" id="{B37040FB-D1F6-4C80-9404-B6B73FD626E9}"/>
              </a:ext>
            </a:extLst>
          </p:cNvPr>
          <p:cNvCxnSpPr>
            <a:cxnSpLocks/>
          </p:cNvCxnSpPr>
          <p:nvPr/>
        </p:nvCxnSpPr>
        <p:spPr>
          <a:xfrm>
            <a:off x="344488" y="2017812"/>
            <a:ext cx="7748043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직선 연결선 28">
            <a:extLst>
              <a:ext uri="{FF2B5EF4-FFF2-40B4-BE49-F238E27FC236}">
                <a16:creationId xmlns:a16="http://schemas.microsoft.com/office/drawing/2014/main" id="{E43706B7-151F-426F-94A7-B5C9422A4791}"/>
              </a:ext>
            </a:extLst>
          </p:cNvPr>
          <p:cNvCxnSpPr>
            <a:cxnSpLocks/>
          </p:cNvCxnSpPr>
          <p:nvPr/>
        </p:nvCxnSpPr>
        <p:spPr>
          <a:xfrm>
            <a:off x="344488" y="2341722"/>
            <a:ext cx="7748043" cy="0"/>
          </a:xfrm>
          <a:prstGeom prst="line">
            <a:avLst/>
          </a:prstGeom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직선 연결선 29">
            <a:extLst>
              <a:ext uri="{FF2B5EF4-FFF2-40B4-BE49-F238E27FC236}">
                <a16:creationId xmlns:a16="http://schemas.microsoft.com/office/drawing/2014/main" id="{D38C65EC-8028-4C78-BC7C-0CFBA7F4F8EA}"/>
              </a:ext>
            </a:extLst>
          </p:cNvPr>
          <p:cNvCxnSpPr>
            <a:cxnSpLocks/>
          </p:cNvCxnSpPr>
          <p:nvPr/>
        </p:nvCxnSpPr>
        <p:spPr>
          <a:xfrm>
            <a:off x="344488" y="2680146"/>
            <a:ext cx="7748043" cy="0"/>
          </a:xfrm>
          <a:prstGeom prst="line">
            <a:avLst/>
          </a:prstGeom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직선 연결선 30">
            <a:extLst>
              <a:ext uri="{FF2B5EF4-FFF2-40B4-BE49-F238E27FC236}">
                <a16:creationId xmlns:a16="http://schemas.microsoft.com/office/drawing/2014/main" id="{A6EF59E6-F8A7-405D-9763-885CB369B059}"/>
              </a:ext>
            </a:extLst>
          </p:cNvPr>
          <p:cNvCxnSpPr>
            <a:cxnSpLocks/>
          </p:cNvCxnSpPr>
          <p:nvPr/>
        </p:nvCxnSpPr>
        <p:spPr>
          <a:xfrm>
            <a:off x="344488" y="3018569"/>
            <a:ext cx="7748043" cy="0"/>
          </a:xfrm>
          <a:prstGeom prst="line">
            <a:avLst/>
          </a:prstGeom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직선 연결선 31">
            <a:extLst>
              <a:ext uri="{FF2B5EF4-FFF2-40B4-BE49-F238E27FC236}">
                <a16:creationId xmlns:a16="http://schemas.microsoft.com/office/drawing/2014/main" id="{289B82EC-2354-4A77-AEEC-50D7FCE6BF8E}"/>
              </a:ext>
            </a:extLst>
          </p:cNvPr>
          <p:cNvCxnSpPr>
            <a:cxnSpLocks/>
          </p:cNvCxnSpPr>
          <p:nvPr/>
        </p:nvCxnSpPr>
        <p:spPr>
          <a:xfrm>
            <a:off x="344488" y="3356992"/>
            <a:ext cx="7748043" cy="0"/>
          </a:xfrm>
          <a:prstGeom prst="line">
            <a:avLst/>
          </a:prstGeom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3" name="그룹 32">
            <a:extLst>
              <a:ext uri="{FF2B5EF4-FFF2-40B4-BE49-F238E27FC236}">
                <a16:creationId xmlns:a16="http://schemas.microsoft.com/office/drawing/2014/main" id="{A5C4DD5B-D5F4-4A33-8986-C3052201C826}"/>
              </a:ext>
            </a:extLst>
          </p:cNvPr>
          <p:cNvGrpSpPr/>
          <p:nvPr/>
        </p:nvGrpSpPr>
        <p:grpSpPr>
          <a:xfrm>
            <a:off x="7765285" y="2000582"/>
            <a:ext cx="844330" cy="1356407"/>
            <a:chOff x="8242960" y="2282537"/>
            <a:chExt cx="866992" cy="1143702"/>
          </a:xfrm>
        </p:grpSpPr>
        <p:sp>
          <p:nvSpPr>
            <p:cNvPr id="50" name="직사각형 49">
              <a:extLst>
                <a:ext uri="{FF2B5EF4-FFF2-40B4-BE49-F238E27FC236}">
                  <a16:creationId xmlns:a16="http://schemas.microsoft.com/office/drawing/2014/main" id="{EBDD9E68-207E-4E7D-9B96-88A09E82655C}"/>
                </a:ext>
              </a:extLst>
            </p:cNvPr>
            <p:cNvSpPr/>
            <p:nvPr/>
          </p:nvSpPr>
          <p:spPr>
            <a:xfrm>
              <a:off x="8579077" y="2289300"/>
              <a:ext cx="164131" cy="1136939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pic>
          <p:nvPicPr>
            <p:cNvPr id="51" name="Picture 4" descr="ê´ë ¨ ì´ë¯¸ì§">
              <a:extLst>
                <a:ext uri="{FF2B5EF4-FFF2-40B4-BE49-F238E27FC236}">
                  <a16:creationId xmlns:a16="http://schemas.microsoft.com/office/drawing/2014/main" id="{3870CD28-AFE4-47E3-BFB1-EEBA57B7B2A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242960" y="2282537"/>
              <a:ext cx="866992" cy="114370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35" name="TextBox 34">
            <a:extLst>
              <a:ext uri="{FF2B5EF4-FFF2-40B4-BE49-F238E27FC236}">
                <a16:creationId xmlns:a16="http://schemas.microsoft.com/office/drawing/2014/main" id="{7C7A48CF-65DC-47FF-BD6D-11B210F2860A}"/>
              </a:ext>
            </a:extLst>
          </p:cNvPr>
          <p:cNvSpPr txBox="1"/>
          <p:nvPr/>
        </p:nvSpPr>
        <p:spPr>
          <a:xfrm>
            <a:off x="1817823" y="1832180"/>
            <a:ext cx="614897" cy="20005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권한 등급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BD59850E-23A4-42D0-9D60-D3BD84EEDD47}"/>
              </a:ext>
            </a:extLst>
          </p:cNvPr>
          <p:cNvSpPr txBox="1"/>
          <p:nvPr/>
        </p:nvSpPr>
        <p:spPr>
          <a:xfrm>
            <a:off x="2936776" y="1832181"/>
            <a:ext cx="747163" cy="20005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70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그룹</a:t>
            </a:r>
            <a:endParaRPr lang="ko-KR" altLang="en-US" sz="700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97A2807B-12AC-4E44-89C6-D168BB7709C8}"/>
              </a:ext>
            </a:extLst>
          </p:cNvPr>
          <p:cNvSpPr txBox="1"/>
          <p:nvPr/>
        </p:nvSpPr>
        <p:spPr>
          <a:xfrm>
            <a:off x="4520952" y="1832181"/>
            <a:ext cx="907942" cy="20005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설명</a:t>
            </a: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C1DBC8A4-93E2-40FB-BEBE-16AFD5B072C3}"/>
              </a:ext>
            </a:extLst>
          </p:cNvPr>
          <p:cNvSpPr txBox="1"/>
          <p:nvPr/>
        </p:nvSpPr>
        <p:spPr>
          <a:xfrm>
            <a:off x="6701575" y="1832181"/>
            <a:ext cx="771705" cy="20005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등록일자</a:t>
            </a:r>
          </a:p>
        </p:txBody>
      </p:sp>
      <p:cxnSp>
        <p:nvCxnSpPr>
          <p:cNvPr id="42" name="직선 연결선 41">
            <a:extLst>
              <a:ext uri="{FF2B5EF4-FFF2-40B4-BE49-F238E27FC236}">
                <a16:creationId xmlns:a16="http://schemas.microsoft.com/office/drawing/2014/main" id="{B23EAC81-7ABE-4961-855A-66F755910C84}"/>
              </a:ext>
            </a:extLst>
          </p:cNvPr>
          <p:cNvCxnSpPr>
            <a:cxnSpLocks/>
          </p:cNvCxnSpPr>
          <p:nvPr/>
        </p:nvCxnSpPr>
        <p:spPr>
          <a:xfrm>
            <a:off x="3944888" y="2014709"/>
            <a:ext cx="0" cy="1335600"/>
          </a:xfrm>
          <a:prstGeom prst="line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직선 연결선 42">
            <a:extLst>
              <a:ext uri="{FF2B5EF4-FFF2-40B4-BE49-F238E27FC236}">
                <a16:creationId xmlns:a16="http://schemas.microsoft.com/office/drawing/2014/main" id="{6A67AF43-AF3D-4E27-B1A9-93F51BDC0F8F}"/>
              </a:ext>
            </a:extLst>
          </p:cNvPr>
          <p:cNvCxnSpPr>
            <a:cxnSpLocks/>
          </p:cNvCxnSpPr>
          <p:nvPr/>
        </p:nvCxnSpPr>
        <p:spPr>
          <a:xfrm>
            <a:off x="6115516" y="2022881"/>
            <a:ext cx="0" cy="1335600"/>
          </a:xfrm>
          <a:prstGeom prst="line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직선 연결선 45">
            <a:extLst>
              <a:ext uri="{FF2B5EF4-FFF2-40B4-BE49-F238E27FC236}">
                <a16:creationId xmlns:a16="http://schemas.microsoft.com/office/drawing/2014/main" id="{3EA1BBD3-2087-42E1-B2BA-B990D3E06B0A}"/>
              </a:ext>
            </a:extLst>
          </p:cNvPr>
          <p:cNvCxnSpPr>
            <a:cxnSpLocks/>
          </p:cNvCxnSpPr>
          <p:nvPr/>
        </p:nvCxnSpPr>
        <p:spPr>
          <a:xfrm>
            <a:off x="2720752" y="2025469"/>
            <a:ext cx="0" cy="1335600"/>
          </a:xfrm>
          <a:prstGeom prst="line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8" name="TextBox 47">
            <a:extLst>
              <a:ext uri="{FF2B5EF4-FFF2-40B4-BE49-F238E27FC236}">
                <a16:creationId xmlns:a16="http://schemas.microsoft.com/office/drawing/2014/main" id="{9E383FC1-FE85-4DAB-B980-059EE0D909EF}"/>
              </a:ext>
            </a:extLst>
          </p:cNvPr>
          <p:cNvSpPr txBox="1"/>
          <p:nvPr/>
        </p:nvSpPr>
        <p:spPr>
          <a:xfrm>
            <a:off x="593687" y="1836008"/>
            <a:ext cx="614897" cy="20005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ID</a:t>
            </a:r>
            <a:endParaRPr lang="ko-KR" altLang="en-US" sz="700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49" name="직선 연결선 48">
            <a:extLst>
              <a:ext uri="{FF2B5EF4-FFF2-40B4-BE49-F238E27FC236}">
                <a16:creationId xmlns:a16="http://schemas.microsoft.com/office/drawing/2014/main" id="{1C94B1DC-413E-4253-9F1B-5D37E943B82A}"/>
              </a:ext>
            </a:extLst>
          </p:cNvPr>
          <p:cNvCxnSpPr>
            <a:cxnSpLocks/>
          </p:cNvCxnSpPr>
          <p:nvPr/>
        </p:nvCxnSpPr>
        <p:spPr>
          <a:xfrm>
            <a:off x="1496616" y="2021639"/>
            <a:ext cx="0" cy="1335350"/>
          </a:xfrm>
          <a:prstGeom prst="line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2" name="TextBox 51">
            <a:extLst>
              <a:ext uri="{FF2B5EF4-FFF2-40B4-BE49-F238E27FC236}">
                <a16:creationId xmlns:a16="http://schemas.microsoft.com/office/drawing/2014/main" id="{C72067C2-6D4A-4018-95F0-369D495BEDEF}"/>
              </a:ext>
            </a:extLst>
          </p:cNvPr>
          <p:cNvSpPr txBox="1"/>
          <p:nvPr/>
        </p:nvSpPr>
        <p:spPr>
          <a:xfrm>
            <a:off x="7149244" y="3429000"/>
            <a:ext cx="972108" cy="215444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square" rtlCol="0" anchor="ctr">
            <a:spAutoFit/>
          </a:bodyPr>
          <a:lstStyle/>
          <a:p>
            <a:pPr algn="ctr"/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사용자 추가하기</a:t>
            </a: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D7BC9E13-93AC-441B-A0FB-FE6ADED1A1E3}"/>
              </a:ext>
            </a:extLst>
          </p:cNvPr>
          <p:cNvSpPr/>
          <p:nvPr/>
        </p:nvSpPr>
        <p:spPr>
          <a:xfrm>
            <a:off x="3650506" y="2045322"/>
            <a:ext cx="288032" cy="288000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 anchorCtr="0"/>
          <a:lstStyle/>
          <a:p>
            <a:pPr algn="ctr">
              <a:lnSpc>
                <a:spcPct val="150000"/>
              </a:lnSpc>
            </a:pPr>
            <a:r>
              <a:rPr lang="ko-KR" altLang="en-US" sz="105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▼</a:t>
            </a:r>
          </a:p>
        </p:txBody>
      </p: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DEC51708-934F-4DB2-8365-9D59CB4BE3EF}"/>
              </a:ext>
            </a:extLst>
          </p:cNvPr>
          <p:cNvSpPr/>
          <p:nvPr/>
        </p:nvSpPr>
        <p:spPr>
          <a:xfrm>
            <a:off x="3656856" y="2368206"/>
            <a:ext cx="288032" cy="288000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 anchorCtr="0"/>
          <a:lstStyle/>
          <a:p>
            <a:pPr algn="ctr">
              <a:lnSpc>
                <a:spcPct val="150000"/>
              </a:lnSpc>
            </a:pPr>
            <a:r>
              <a:rPr lang="ko-KR" altLang="en-US" sz="105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▼</a:t>
            </a:r>
          </a:p>
        </p:txBody>
      </p: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58FF7EF4-6E99-4645-8839-3EA44F19C55F}"/>
              </a:ext>
            </a:extLst>
          </p:cNvPr>
          <p:cNvSpPr/>
          <p:nvPr/>
        </p:nvSpPr>
        <p:spPr>
          <a:xfrm>
            <a:off x="3650506" y="2705790"/>
            <a:ext cx="288032" cy="288000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 anchorCtr="0"/>
          <a:lstStyle/>
          <a:p>
            <a:pPr algn="ctr">
              <a:lnSpc>
                <a:spcPct val="150000"/>
              </a:lnSpc>
            </a:pPr>
            <a:r>
              <a:rPr lang="ko-KR" altLang="en-US" sz="105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▼</a:t>
            </a:r>
          </a:p>
        </p:txBody>
      </p:sp>
      <p:pic>
        <p:nvPicPr>
          <p:cNvPr id="2056" name="Picture 8" descr="ì¤ì ì ëí ì´ë¯¸ì§ ê²ìê²°ê³¼">
            <a:extLst>
              <a:ext uri="{FF2B5EF4-FFF2-40B4-BE49-F238E27FC236}">
                <a16:creationId xmlns:a16="http://schemas.microsoft.com/office/drawing/2014/main" id="{BE0D4D5A-ABDD-4688-9968-8AF6B6BA28A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822727" y="2045362"/>
            <a:ext cx="269804" cy="26980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5" name="Picture 8" descr="ì¤ì ì ëí ì´ë¯¸ì§ ê²ìê²°ê³¼">
            <a:extLst>
              <a:ext uri="{FF2B5EF4-FFF2-40B4-BE49-F238E27FC236}">
                <a16:creationId xmlns:a16="http://schemas.microsoft.com/office/drawing/2014/main" id="{51412CC5-A10E-42CB-964A-69876C495C2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822727" y="2372636"/>
            <a:ext cx="269804" cy="26980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6" name="Picture 8" descr="ì¤ì ì ëí ì´ë¯¸ì§ ê²ìê²°ê³¼">
            <a:extLst>
              <a:ext uri="{FF2B5EF4-FFF2-40B4-BE49-F238E27FC236}">
                <a16:creationId xmlns:a16="http://schemas.microsoft.com/office/drawing/2014/main" id="{A63E7002-8352-47DD-B5F7-071C63F5A0B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822727" y="2714448"/>
            <a:ext cx="269804" cy="26980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67" name="그룹 66">
            <a:extLst>
              <a:ext uri="{FF2B5EF4-FFF2-40B4-BE49-F238E27FC236}">
                <a16:creationId xmlns:a16="http://schemas.microsoft.com/office/drawing/2014/main" id="{6E2737C2-DC00-4E69-85EC-A32C38E71325}"/>
              </a:ext>
            </a:extLst>
          </p:cNvPr>
          <p:cNvGrpSpPr/>
          <p:nvPr/>
        </p:nvGrpSpPr>
        <p:grpSpPr>
          <a:xfrm>
            <a:off x="7212121" y="2749860"/>
            <a:ext cx="648067" cy="457306"/>
            <a:chOff x="5986543" y="6211595"/>
            <a:chExt cx="1044000" cy="457306"/>
          </a:xfrm>
        </p:grpSpPr>
        <p:sp>
          <p:nvSpPr>
            <p:cNvPr id="68" name="직사각형 67">
              <a:extLst>
                <a:ext uri="{FF2B5EF4-FFF2-40B4-BE49-F238E27FC236}">
                  <a16:creationId xmlns:a16="http://schemas.microsoft.com/office/drawing/2014/main" id="{DDD092FB-D2AD-414E-8F57-B96A407D65FB}"/>
                </a:ext>
              </a:extLst>
            </p:cNvPr>
            <p:cNvSpPr/>
            <p:nvPr/>
          </p:nvSpPr>
          <p:spPr>
            <a:xfrm>
              <a:off x="6052050" y="6211595"/>
              <a:ext cx="912986" cy="457306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3200" b="1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9" name="TextBox 68">
              <a:extLst>
                <a:ext uri="{FF2B5EF4-FFF2-40B4-BE49-F238E27FC236}">
                  <a16:creationId xmlns:a16="http://schemas.microsoft.com/office/drawing/2014/main" id="{4D286AD7-FF48-4607-8F99-0586D283033D}"/>
                </a:ext>
              </a:extLst>
            </p:cNvPr>
            <p:cNvSpPr txBox="1"/>
            <p:nvPr/>
          </p:nvSpPr>
          <p:spPr>
            <a:xfrm>
              <a:off x="5986543" y="6226906"/>
              <a:ext cx="1044000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9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수정</a:t>
              </a:r>
            </a:p>
          </p:txBody>
        </p:sp>
        <p:cxnSp>
          <p:nvCxnSpPr>
            <p:cNvPr id="70" name="직선 연결선 69">
              <a:extLst>
                <a:ext uri="{FF2B5EF4-FFF2-40B4-BE49-F238E27FC236}">
                  <a16:creationId xmlns:a16="http://schemas.microsoft.com/office/drawing/2014/main" id="{D9F289FC-ED7C-460C-900F-3DF1E50235ED}"/>
                </a:ext>
              </a:extLst>
            </p:cNvPr>
            <p:cNvCxnSpPr/>
            <p:nvPr/>
          </p:nvCxnSpPr>
          <p:spPr>
            <a:xfrm>
              <a:off x="6184543" y="6440859"/>
              <a:ext cx="648000" cy="0"/>
            </a:xfrm>
            <a:prstGeom prst="line">
              <a:avLst/>
            </a:prstGeom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3CB4FF64-2278-4D16-B635-026147189773}"/>
                </a:ext>
              </a:extLst>
            </p:cNvPr>
            <p:cNvSpPr txBox="1"/>
            <p:nvPr/>
          </p:nvSpPr>
          <p:spPr>
            <a:xfrm>
              <a:off x="5986543" y="6438069"/>
              <a:ext cx="1044000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9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삭제</a:t>
              </a:r>
            </a:p>
          </p:txBody>
        </p:sp>
      </p:grpSp>
      <p:sp>
        <p:nvSpPr>
          <p:cNvPr id="76" name="타원형 설명선 226">
            <a:extLst>
              <a:ext uri="{FF2B5EF4-FFF2-40B4-BE49-F238E27FC236}">
                <a16:creationId xmlns:a16="http://schemas.microsoft.com/office/drawing/2014/main" id="{4173E212-4B95-4F9E-80EB-802C09DC7394}"/>
              </a:ext>
            </a:extLst>
          </p:cNvPr>
          <p:cNvSpPr/>
          <p:nvPr/>
        </p:nvSpPr>
        <p:spPr>
          <a:xfrm>
            <a:off x="6804953" y="3295688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7" name="타원형 설명선 243">
            <a:extLst>
              <a:ext uri="{FF2B5EF4-FFF2-40B4-BE49-F238E27FC236}">
                <a16:creationId xmlns:a16="http://schemas.microsoft.com/office/drawing/2014/main" id="{A22BF49E-2915-44C1-B533-2B277FA66797}"/>
              </a:ext>
            </a:extLst>
          </p:cNvPr>
          <p:cNvSpPr/>
          <p:nvPr/>
        </p:nvSpPr>
        <p:spPr>
          <a:xfrm>
            <a:off x="4156773" y="4905796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0" name="타원형 설명선 244">
            <a:extLst>
              <a:ext uri="{FF2B5EF4-FFF2-40B4-BE49-F238E27FC236}">
                <a16:creationId xmlns:a16="http://schemas.microsoft.com/office/drawing/2014/main" id="{96459B74-89C9-4F29-99F3-9C7F4405341B}"/>
              </a:ext>
            </a:extLst>
          </p:cNvPr>
          <p:cNvSpPr/>
          <p:nvPr/>
        </p:nvSpPr>
        <p:spPr>
          <a:xfrm>
            <a:off x="2798486" y="4905796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1" name="타원형 설명선 225">
            <a:extLst>
              <a:ext uri="{FF2B5EF4-FFF2-40B4-BE49-F238E27FC236}">
                <a16:creationId xmlns:a16="http://schemas.microsoft.com/office/drawing/2014/main" id="{758FEDBF-E01D-4D76-AA2F-8CE28E20F1F0}"/>
              </a:ext>
            </a:extLst>
          </p:cNvPr>
          <p:cNvSpPr/>
          <p:nvPr/>
        </p:nvSpPr>
        <p:spPr>
          <a:xfrm>
            <a:off x="233659" y="1684155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631660131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" name="직사각형 35">
            <a:extLst>
              <a:ext uri="{FF2B5EF4-FFF2-40B4-BE49-F238E27FC236}">
                <a16:creationId xmlns:a16="http://schemas.microsoft.com/office/drawing/2014/main" id="{A9FCF855-5391-4BAF-BEC3-0614AD2EFDDA}"/>
              </a:ext>
            </a:extLst>
          </p:cNvPr>
          <p:cNvSpPr/>
          <p:nvPr/>
        </p:nvSpPr>
        <p:spPr>
          <a:xfrm>
            <a:off x="1712640" y="1052736"/>
            <a:ext cx="5208058" cy="4032445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200000"/>
              </a:lnSpc>
            </a:pPr>
            <a:endParaRPr lang="ko-KR" altLang="en-US" sz="100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9104309" y="6645875"/>
            <a:ext cx="140029" cy="138499"/>
          </a:xfrm>
        </p:spPr>
        <p:txBody>
          <a:bodyPr/>
          <a:lstStyle/>
          <a:p>
            <a:pPr>
              <a:defRPr/>
            </a:pPr>
            <a:fld id="{9E41B634-5682-4388-99E7-FE44DCFD254B}" type="slidenum">
              <a:rPr lang="ko-KR" altLang="en-US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>
                <a:defRPr/>
              </a:pPr>
              <a:t>57</a:t>
            </a:fld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텍스트 개체 틀 8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 &gt;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설정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&gt;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사용자 관리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&gt;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사용자 추가</a:t>
            </a:r>
          </a:p>
        </p:txBody>
      </p:sp>
      <p:sp>
        <p:nvSpPr>
          <p:cNvPr id="10" name="텍스트 개체 틀 9"/>
          <p:cNvSpPr>
            <a:spLocks noGrp="1"/>
          </p:cNvSpPr>
          <p:nvPr>
            <p:ph type="body" sz="quarter" idx="10"/>
          </p:nvPr>
        </p:nvSpPr>
        <p:spPr>
          <a:xfrm>
            <a:off x="6023595" y="44624"/>
            <a:ext cx="1233661" cy="196974"/>
          </a:xfrm>
        </p:spPr>
        <p:txBody>
          <a:bodyPr/>
          <a:lstStyle/>
          <a:p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사용자 추가</a:t>
            </a:r>
          </a:p>
        </p:txBody>
      </p:sp>
      <p:graphicFrame>
        <p:nvGraphicFramePr>
          <p:cNvPr id="102" name="Group 15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67587914"/>
              </p:ext>
            </p:extLst>
          </p:nvPr>
        </p:nvGraphicFramePr>
        <p:xfrm>
          <a:off x="8469313" y="276225"/>
          <a:ext cx="1404000" cy="4354368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3002"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Description</a:t>
                      </a: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사용자 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ID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사용자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ID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입력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2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비밀번호</a:t>
                      </a:r>
                      <a:endParaRPr kumimoji="1" lang="en-US" altLang="ko-KR" sz="8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비밀번호 입력</a:t>
                      </a:r>
                      <a:endParaRPr kumimoji="1" lang="en-US" altLang="ko-KR" sz="8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58862645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3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비밀번호 확인</a:t>
                      </a: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  <a:endParaRPr kumimoji="1" lang="en-US" altLang="ko-KR" sz="8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비밀번호 재입력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4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그룹</a:t>
                      </a:r>
                      <a:endParaRPr kumimoji="1" lang="en-US" altLang="ko-KR" sz="8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1) </a:t>
                      </a: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사용자 소속 그룹</a:t>
                      </a:r>
                      <a:r>
                        <a:rPr kumimoji="1" lang="en-US" altLang="ko-KR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선택</a:t>
                      </a:r>
                      <a:endParaRPr kumimoji="1" lang="en-US" altLang="ko-KR" sz="8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2) </a:t>
                      </a: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사이트 그룹관리에서 추가된 그룹 중 선택</a:t>
                      </a:r>
                      <a:endParaRPr kumimoji="1" lang="en-US" altLang="ko-KR" sz="8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5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사용자 권한</a:t>
                      </a:r>
                      <a:endParaRPr kumimoji="1" lang="en-US" altLang="ko-KR" sz="8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1) </a:t>
                      </a: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서비스 포털 내 사용자 권한 설정</a:t>
                      </a:r>
                      <a:endParaRPr kumimoji="1" lang="en-US" altLang="ko-KR" sz="8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2) </a:t>
                      </a: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사용자 권한</a:t>
                      </a:r>
                      <a:endParaRPr kumimoji="1" lang="en-US" altLang="ko-KR" sz="8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 - </a:t>
                      </a: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포털 관리자</a:t>
                      </a:r>
                      <a:r>
                        <a:rPr kumimoji="1" lang="en-US" altLang="ko-KR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그룹 관리자</a:t>
                      </a:r>
                      <a:r>
                        <a:rPr kumimoji="1" lang="en-US" altLang="ko-KR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사이트 관리자</a:t>
                      </a:r>
                      <a:r>
                        <a:rPr kumimoji="1" lang="en-US" altLang="ko-KR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사이트 이용자</a:t>
                      </a:r>
                      <a:endParaRPr kumimoji="1" lang="en-US" altLang="ko-KR" sz="8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*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권한 관련 추가 검토 필요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08605959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6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설명</a:t>
                      </a:r>
                      <a:endParaRPr kumimoji="1" lang="en-US" altLang="ko-KR" sz="8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사용자 추가 정보 입력</a:t>
                      </a:r>
                      <a:endParaRPr kumimoji="1" lang="en-US" altLang="ko-KR" sz="8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21035890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7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확인</a:t>
                      </a:r>
                      <a:endParaRPr kumimoji="1" lang="en-US" altLang="ko-KR" sz="8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모든 변경사항을 적용하고 팝업을 종료</a:t>
                      </a:r>
                      <a:endParaRPr kumimoji="1" lang="en-US" altLang="ko-KR" sz="8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15529937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8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취소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모든 변경사항을 적용하지 않고 팝업을 종료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59158452"/>
                  </a:ext>
                </a:extLst>
              </a:tr>
            </a:tbl>
          </a:graphicData>
        </a:graphic>
      </p:graphicFrame>
      <p:sp>
        <p:nvSpPr>
          <p:cNvPr id="78" name="TextBox 77"/>
          <p:cNvSpPr txBox="1"/>
          <p:nvPr/>
        </p:nvSpPr>
        <p:spPr>
          <a:xfrm>
            <a:off x="7121707" y="21349"/>
            <a:ext cx="567597" cy="2308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화면</a:t>
            </a:r>
            <a:r>
              <a:rPr lang="en-US" altLang="ko-KR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ID</a:t>
            </a:r>
            <a:endParaRPr lang="ko-KR" altLang="en-US" sz="9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7689304" y="43659"/>
            <a:ext cx="792088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itchFamily="50" charset="-127"/>
                <a:ea typeface="맑은 고딕" pitchFamily="50" charset="-127"/>
              </a:rPr>
              <a:t>ewpsp_scr_040</a:t>
            </a:r>
            <a:endParaRPr lang="ko-KR" altLang="en-US" sz="70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06" name="타원형 설명선 205"/>
          <p:cNvSpPr/>
          <p:nvPr/>
        </p:nvSpPr>
        <p:spPr>
          <a:xfrm>
            <a:off x="-788740" y="2744866"/>
            <a:ext cx="216000" cy="216000"/>
          </a:xfrm>
          <a:prstGeom prst="wedgeEllipseCallout">
            <a:avLst>
              <a:gd name="adj1" fmla="val 74230"/>
              <a:gd name="adj2" fmla="val 21822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/>
              <a:t>9</a:t>
            </a:r>
            <a:endParaRPr lang="ko-KR" altLang="en-US" sz="900" b="1" dirty="0"/>
          </a:p>
        </p:txBody>
      </p:sp>
      <p:sp>
        <p:nvSpPr>
          <p:cNvPr id="226" name="타원형 설명선 225"/>
          <p:cNvSpPr/>
          <p:nvPr/>
        </p:nvSpPr>
        <p:spPr>
          <a:xfrm>
            <a:off x="-834519" y="3213000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27" name="타원형 설명선 226"/>
          <p:cNvSpPr/>
          <p:nvPr/>
        </p:nvSpPr>
        <p:spPr>
          <a:xfrm>
            <a:off x="-788740" y="1884839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4" name="타원형 설명선 243"/>
          <p:cNvSpPr/>
          <p:nvPr/>
        </p:nvSpPr>
        <p:spPr>
          <a:xfrm>
            <a:off x="-796619" y="2150818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5" name="타원형 설명선 244"/>
          <p:cNvSpPr/>
          <p:nvPr/>
        </p:nvSpPr>
        <p:spPr>
          <a:xfrm>
            <a:off x="-808982" y="3727293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6" name="타원형 설명선 245"/>
          <p:cNvSpPr/>
          <p:nvPr/>
        </p:nvSpPr>
        <p:spPr>
          <a:xfrm>
            <a:off x="-808982" y="4273670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7" name="타원형 설명선 246"/>
          <p:cNvSpPr/>
          <p:nvPr/>
        </p:nvSpPr>
        <p:spPr>
          <a:xfrm>
            <a:off x="-796619" y="1324215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7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8" name="타원형 설명선 247"/>
          <p:cNvSpPr/>
          <p:nvPr/>
        </p:nvSpPr>
        <p:spPr>
          <a:xfrm>
            <a:off x="-796619" y="1576196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8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66" name="타원형 설명선 265"/>
          <p:cNvSpPr/>
          <p:nvPr/>
        </p:nvSpPr>
        <p:spPr>
          <a:xfrm>
            <a:off x="-786711" y="2456904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6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3" name="타원형 설명선 225">
            <a:extLst>
              <a:ext uri="{FF2B5EF4-FFF2-40B4-BE49-F238E27FC236}">
                <a16:creationId xmlns:a16="http://schemas.microsoft.com/office/drawing/2014/main" id="{93402A8C-F86A-4207-9226-F02BE6AB6E19}"/>
              </a:ext>
            </a:extLst>
          </p:cNvPr>
          <p:cNvSpPr/>
          <p:nvPr/>
        </p:nvSpPr>
        <p:spPr>
          <a:xfrm>
            <a:off x="-667135" y="976983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25" name="그룹 124">
            <a:extLst>
              <a:ext uri="{FF2B5EF4-FFF2-40B4-BE49-F238E27FC236}">
                <a16:creationId xmlns:a16="http://schemas.microsoft.com/office/drawing/2014/main" id="{30D1016A-13FB-4513-A8E9-706EE203BB52}"/>
              </a:ext>
            </a:extLst>
          </p:cNvPr>
          <p:cNvGrpSpPr/>
          <p:nvPr/>
        </p:nvGrpSpPr>
        <p:grpSpPr>
          <a:xfrm>
            <a:off x="3186625" y="4401716"/>
            <a:ext cx="2494046" cy="323428"/>
            <a:chOff x="3791228" y="5284908"/>
            <a:chExt cx="2630919" cy="360040"/>
          </a:xfrm>
        </p:grpSpPr>
        <p:sp>
          <p:nvSpPr>
            <p:cNvPr id="126" name="직사각형 125">
              <a:extLst>
                <a:ext uri="{FF2B5EF4-FFF2-40B4-BE49-F238E27FC236}">
                  <a16:creationId xmlns:a16="http://schemas.microsoft.com/office/drawing/2014/main" id="{7726E8D3-148F-4164-832A-268A34EC9F35}"/>
                </a:ext>
              </a:extLst>
            </p:cNvPr>
            <p:cNvSpPr/>
            <p:nvPr/>
          </p:nvSpPr>
          <p:spPr>
            <a:xfrm>
              <a:off x="3791228" y="5284908"/>
              <a:ext cx="1224136" cy="360040"/>
            </a:xfrm>
            <a:prstGeom prst="rect">
              <a:avLst/>
            </a:prstGeom>
            <a:solidFill>
              <a:srgbClr val="0099FF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 algn="ctr">
                <a:lnSpc>
                  <a:spcPct val="150000"/>
                </a:lnSpc>
              </a:pPr>
              <a:r>
                <a:rPr lang="ko-KR" altLang="en-US" sz="105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확인</a:t>
              </a:r>
            </a:p>
          </p:txBody>
        </p:sp>
        <p:sp>
          <p:nvSpPr>
            <p:cNvPr id="127" name="직사각형 126">
              <a:extLst>
                <a:ext uri="{FF2B5EF4-FFF2-40B4-BE49-F238E27FC236}">
                  <a16:creationId xmlns:a16="http://schemas.microsoft.com/office/drawing/2014/main" id="{3D9A0764-2FF1-44DF-A947-222307667FC1}"/>
                </a:ext>
              </a:extLst>
            </p:cNvPr>
            <p:cNvSpPr/>
            <p:nvPr/>
          </p:nvSpPr>
          <p:spPr>
            <a:xfrm>
              <a:off x="5198011" y="5284908"/>
              <a:ext cx="1224136" cy="36004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 algn="ctr">
                <a:lnSpc>
                  <a:spcPct val="150000"/>
                </a:lnSpc>
              </a:pPr>
              <a:r>
                <a:rPr lang="ko-KR" altLang="en-US" sz="1050" b="1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취소</a:t>
              </a:r>
            </a:p>
          </p:txBody>
        </p:sp>
      </p:grp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A51507A6-6DC2-4700-8A8B-608C9D16AA26}"/>
              </a:ext>
            </a:extLst>
          </p:cNvPr>
          <p:cNvSpPr/>
          <p:nvPr/>
        </p:nvSpPr>
        <p:spPr>
          <a:xfrm>
            <a:off x="1887584" y="1700808"/>
            <a:ext cx="1272225" cy="323974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105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비밀번호</a:t>
            </a:r>
          </a:p>
        </p:txBody>
      </p: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1EE22907-23EF-4DC4-A448-E6C8457692DF}"/>
              </a:ext>
            </a:extLst>
          </p:cNvPr>
          <p:cNvSpPr/>
          <p:nvPr/>
        </p:nvSpPr>
        <p:spPr>
          <a:xfrm>
            <a:off x="2936777" y="1700808"/>
            <a:ext cx="3810560" cy="323974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endParaRPr lang="ko-KR" altLang="en-US" sz="105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32" name="직사각형 31">
            <a:extLst>
              <a:ext uri="{FF2B5EF4-FFF2-40B4-BE49-F238E27FC236}">
                <a16:creationId xmlns:a16="http://schemas.microsoft.com/office/drawing/2014/main" id="{1E9911D3-ABA6-41CD-9FB7-70E779FC86E1}"/>
              </a:ext>
            </a:extLst>
          </p:cNvPr>
          <p:cNvSpPr/>
          <p:nvPr/>
        </p:nvSpPr>
        <p:spPr>
          <a:xfrm>
            <a:off x="1887584" y="2107026"/>
            <a:ext cx="1331997" cy="323974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105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비밀번호 확인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2F62D155-370B-419A-A2E2-419E0E082F3A}"/>
              </a:ext>
            </a:extLst>
          </p:cNvPr>
          <p:cNvSpPr/>
          <p:nvPr/>
        </p:nvSpPr>
        <p:spPr>
          <a:xfrm>
            <a:off x="2936777" y="2107026"/>
            <a:ext cx="3809566" cy="322754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endParaRPr lang="ko-KR" altLang="en-US" sz="105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AE4278D7-28A4-4B2E-9690-AB9657D28A5C}"/>
              </a:ext>
            </a:extLst>
          </p:cNvPr>
          <p:cNvSpPr/>
          <p:nvPr/>
        </p:nvSpPr>
        <p:spPr>
          <a:xfrm>
            <a:off x="1892811" y="2523898"/>
            <a:ext cx="1331997" cy="323974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105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그룹</a:t>
            </a: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8511C39C-3CAC-4013-97A0-60A8DF2F4296}"/>
              </a:ext>
            </a:extLst>
          </p:cNvPr>
          <p:cNvSpPr/>
          <p:nvPr/>
        </p:nvSpPr>
        <p:spPr>
          <a:xfrm>
            <a:off x="2936776" y="2523898"/>
            <a:ext cx="3480989" cy="323974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endParaRPr lang="ko-KR" altLang="en-US" sz="105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D0B6EF87-EA6E-4F5C-B1B3-9DB4681DC8D1}"/>
              </a:ext>
            </a:extLst>
          </p:cNvPr>
          <p:cNvSpPr/>
          <p:nvPr/>
        </p:nvSpPr>
        <p:spPr>
          <a:xfrm>
            <a:off x="6417767" y="2522548"/>
            <a:ext cx="334796" cy="323974"/>
          </a:xfrm>
          <a:prstGeom prst="rect">
            <a:avLst/>
          </a:prstGeom>
          <a:noFill/>
          <a:ln w="317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algn="ctr">
              <a:lnSpc>
                <a:spcPct val="150000"/>
              </a:lnSpc>
            </a:pPr>
            <a:endParaRPr lang="ko-KR" altLang="en-US" sz="1050" b="1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492D92F3-254C-4F5F-98CD-CD819E569D5B}"/>
              </a:ext>
            </a:extLst>
          </p:cNvPr>
          <p:cNvSpPr txBox="1"/>
          <p:nvPr/>
        </p:nvSpPr>
        <p:spPr>
          <a:xfrm>
            <a:off x="6484366" y="2540024"/>
            <a:ext cx="216024" cy="3077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ko-KR" altLang="en-US" sz="14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▽</a:t>
            </a: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4CA39E0C-E3DF-45A7-BD5F-8CB06F477AA7}"/>
              </a:ext>
            </a:extLst>
          </p:cNvPr>
          <p:cNvSpPr/>
          <p:nvPr/>
        </p:nvSpPr>
        <p:spPr>
          <a:xfrm>
            <a:off x="1892811" y="1283446"/>
            <a:ext cx="1272225" cy="323974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105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사용자 </a:t>
            </a:r>
            <a:r>
              <a:rPr lang="en-US" altLang="ko-KR" sz="105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ID</a:t>
            </a:r>
            <a:endParaRPr lang="ko-KR" altLang="en-US" sz="105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E0C94030-0B57-4E93-8E10-5F0B567B5730}"/>
              </a:ext>
            </a:extLst>
          </p:cNvPr>
          <p:cNvSpPr/>
          <p:nvPr/>
        </p:nvSpPr>
        <p:spPr>
          <a:xfrm>
            <a:off x="2936776" y="1283446"/>
            <a:ext cx="3804190" cy="323974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endParaRPr lang="ko-KR" altLang="en-US" sz="105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5" name="타원형 설명선 226">
            <a:extLst>
              <a:ext uri="{FF2B5EF4-FFF2-40B4-BE49-F238E27FC236}">
                <a16:creationId xmlns:a16="http://schemas.microsoft.com/office/drawing/2014/main" id="{34B59F5B-8DC5-4D74-B1E8-1BF50C26B402}"/>
              </a:ext>
            </a:extLst>
          </p:cNvPr>
          <p:cNvSpPr/>
          <p:nvPr/>
        </p:nvSpPr>
        <p:spPr>
          <a:xfrm>
            <a:off x="1704761" y="1620724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6" name="타원형 설명선 243">
            <a:extLst>
              <a:ext uri="{FF2B5EF4-FFF2-40B4-BE49-F238E27FC236}">
                <a16:creationId xmlns:a16="http://schemas.microsoft.com/office/drawing/2014/main" id="{38184039-0DF7-4FF1-9A1B-F342A9F48197}"/>
              </a:ext>
            </a:extLst>
          </p:cNvPr>
          <p:cNvSpPr/>
          <p:nvPr/>
        </p:nvSpPr>
        <p:spPr>
          <a:xfrm>
            <a:off x="1704761" y="2420888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8" name="타원형 설명선 244">
            <a:extLst>
              <a:ext uri="{FF2B5EF4-FFF2-40B4-BE49-F238E27FC236}">
                <a16:creationId xmlns:a16="http://schemas.microsoft.com/office/drawing/2014/main" id="{235C11D5-30A1-4075-81FB-E3B0E2A17222}"/>
              </a:ext>
            </a:extLst>
          </p:cNvPr>
          <p:cNvSpPr/>
          <p:nvPr/>
        </p:nvSpPr>
        <p:spPr>
          <a:xfrm>
            <a:off x="1704761" y="1988840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9" name="타원형 설명선 225">
            <a:extLst>
              <a:ext uri="{FF2B5EF4-FFF2-40B4-BE49-F238E27FC236}">
                <a16:creationId xmlns:a16="http://schemas.microsoft.com/office/drawing/2014/main" id="{83E09703-1120-4626-A6DE-1385C07B2CB5}"/>
              </a:ext>
            </a:extLst>
          </p:cNvPr>
          <p:cNvSpPr/>
          <p:nvPr/>
        </p:nvSpPr>
        <p:spPr>
          <a:xfrm>
            <a:off x="1704761" y="1189001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0" name="타원형 설명선 243">
            <a:extLst>
              <a:ext uri="{FF2B5EF4-FFF2-40B4-BE49-F238E27FC236}">
                <a16:creationId xmlns:a16="http://schemas.microsoft.com/office/drawing/2014/main" id="{63F19BDD-2F51-4095-B68F-533E33F75C1E}"/>
              </a:ext>
            </a:extLst>
          </p:cNvPr>
          <p:cNvSpPr/>
          <p:nvPr/>
        </p:nvSpPr>
        <p:spPr>
          <a:xfrm>
            <a:off x="4258052" y="4211079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8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1" name="타원형 설명선 243">
            <a:extLst>
              <a:ext uri="{FF2B5EF4-FFF2-40B4-BE49-F238E27FC236}">
                <a16:creationId xmlns:a16="http://schemas.microsoft.com/office/drawing/2014/main" id="{BCFDF6D4-918E-487F-B6B8-9C86D9818E87}"/>
              </a:ext>
            </a:extLst>
          </p:cNvPr>
          <p:cNvSpPr/>
          <p:nvPr/>
        </p:nvSpPr>
        <p:spPr>
          <a:xfrm>
            <a:off x="2942149" y="4211079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7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E8652590-981F-4185-BA14-0E8C58869DE2}"/>
              </a:ext>
            </a:extLst>
          </p:cNvPr>
          <p:cNvSpPr/>
          <p:nvPr/>
        </p:nvSpPr>
        <p:spPr>
          <a:xfrm>
            <a:off x="1886590" y="2967211"/>
            <a:ext cx="1272225" cy="323974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105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권한</a:t>
            </a: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D99A5725-00E3-4EA2-BD95-302D4D30DD16}"/>
              </a:ext>
            </a:extLst>
          </p:cNvPr>
          <p:cNvSpPr/>
          <p:nvPr/>
        </p:nvSpPr>
        <p:spPr>
          <a:xfrm>
            <a:off x="2935783" y="2967211"/>
            <a:ext cx="3475764" cy="323974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endParaRPr lang="ko-KR" altLang="en-US" sz="105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FEFE9A9C-32FE-46D1-A0EB-5864252E40CC}"/>
              </a:ext>
            </a:extLst>
          </p:cNvPr>
          <p:cNvSpPr/>
          <p:nvPr/>
        </p:nvSpPr>
        <p:spPr>
          <a:xfrm>
            <a:off x="6411547" y="2972211"/>
            <a:ext cx="334796" cy="323974"/>
          </a:xfrm>
          <a:prstGeom prst="rect">
            <a:avLst/>
          </a:prstGeom>
          <a:noFill/>
          <a:ln w="317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algn="ctr">
              <a:lnSpc>
                <a:spcPct val="150000"/>
              </a:lnSpc>
            </a:pPr>
            <a:endParaRPr lang="ko-KR" altLang="en-US" sz="1050" b="1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1DC9686F-140A-4791-9DE3-D81F13D913E1}"/>
              </a:ext>
            </a:extLst>
          </p:cNvPr>
          <p:cNvSpPr txBox="1"/>
          <p:nvPr/>
        </p:nvSpPr>
        <p:spPr>
          <a:xfrm>
            <a:off x="6478146" y="2989687"/>
            <a:ext cx="216024" cy="3077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ko-KR" altLang="en-US" sz="14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▽</a:t>
            </a: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6EC698EB-3D6A-4572-8A9C-934AA63827E1}"/>
              </a:ext>
            </a:extLst>
          </p:cNvPr>
          <p:cNvSpPr/>
          <p:nvPr/>
        </p:nvSpPr>
        <p:spPr>
          <a:xfrm>
            <a:off x="1886590" y="3387122"/>
            <a:ext cx="1272225" cy="323974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105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설명</a:t>
            </a: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E935AC88-7E30-4037-AAF6-4924D3C11452}"/>
              </a:ext>
            </a:extLst>
          </p:cNvPr>
          <p:cNvSpPr/>
          <p:nvPr/>
        </p:nvSpPr>
        <p:spPr>
          <a:xfrm>
            <a:off x="2935783" y="3387122"/>
            <a:ext cx="3811554" cy="761958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endParaRPr lang="ko-KR" altLang="en-US" sz="105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58" name="타원형 설명선 243">
            <a:extLst>
              <a:ext uri="{FF2B5EF4-FFF2-40B4-BE49-F238E27FC236}">
                <a16:creationId xmlns:a16="http://schemas.microsoft.com/office/drawing/2014/main" id="{08CC2643-3552-4C08-A9E6-149BA9DE724B}"/>
              </a:ext>
            </a:extLst>
          </p:cNvPr>
          <p:cNvSpPr/>
          <p:nvPr/>
        </p:nvSpPr>
        <p:spPr>
          <a:xfrm>
            <a:off x="1704761" y="2899213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9" name="타원형 설명선 243">
            <a:extLst>
              <a:ext uri="{FF2B5EF4-FFF2-40B4-BE49-F238E27FC236}">
                <a16:creationId xmlns:a16="http://schemas.microsoft.com/office/drawing/2014/main" id="{07677392-B131-49B5-A6FB-57570E3EF7E7}"/>
              </a:ext>
            </a:extLst>
          </p:cNvPr>
          <p:cNvSpPr/>
          <p:nvPr/>
        </p:nvSpPr>
        <p:spPr>
          <a:xfrm>
            <a:off x="1704761" y="3302524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6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629853F6-C7F0-4A0A-BCE5-057AF1F2C06F}"/>
              </a:ext>
            </a:extLst>
          </p:cNvPr>
          <p:cNvSpPr txBox="1"/>
          <p:nvPr/>
        </p:nvSpPr>
        <p:spPr>
          <a:xfrm>
            <a:off x="378210" y="407514"/>
            <a:ext cx="241455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4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설정 </a:t>
            </a:r>
            <a:r>
              <a:rPr lang="en-US" altLang="ko-KR" sz="14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– </a:t>
            </a:r>
            <a:r>
              <a:rPr lang="ko-KR" altLang="en-US" sz="1400" b="1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사용차</a:t>
            </a:r>
            <a:r>
              <a:rPr lang="ko-KR" altLang="en-US" sz="14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추가 팝업</a:t>
            </a:r>
          </a:p>
        </p:txBody>
      </p:sp>
    </p:spTree>
    <p:extLst>
      <p:ext uri="{BB962C8B-B14F-4D97-AF65-F5344CB8AC3E}">
        <p14:creationId xmlns:p14="http://schemas.microsoft.com/office/powerpoint/2010/main" val="190976807"/>
      </p:ext>
    </p:extLst>
  </p:cSld>
  <p:clrMapOvr>
    <a:masterClrMapping/>
  </p:clrMapOvr>
</p:sld>
</file>

<file path=ppt/theme/_rels/theme1.xml.rels><?xml version="1.0" encoding="UTF-8" standalone="yes"?>
<Relationships xmlns="http://schemas.openxmlformats.org/package/2006/relationships"><Relationship Id="rId1" Type="http://schemas.openxmlformats.org/officeDocument/2006/relationships/image" Target="../media/image1.jpeg"/></Relationships>
</file>

<file path=ppt/theme/theme1.xml><?xml version="1.0" encoding="utf-8"?>
<a:theme xmlns:a="http://schemas.openxmlformats.org/drawingml/2006/main" name="필수">
  <a:themeElements>
    <a:clrScheme name="필수">
      <a:dk1>
        <a:srgbClr val="000000"/>
      </a:dk1>
      <a:lt1>
        <a:srgbClr val="FFFFFF"/>
      </a:lt1>
      <a:dk2>
        <a:srgbClr val="D1282E"/>
      </a:dk2>
      <a:lt2>
        <a:srgbClr val="C8C8B1"/>
      </a:lt2>
      <a:accent1>
        <a:srgbClr val="7A7A7A"/>
      </a:accent1>
      <a:accent2>
        <a:srgbClr val="F5C201"/>
      </a:accent2>
      <a:accent3>
        <a:srgbClr val="526DB0"/>
      </a:accent3>
      <a:accent4>
        <a:srgbClr val="989AAC"/>
      </a:accent4>
      <a:accent5>
        <a:srgbClr val="DC5924"/>
      </a:accent5>
      <a:accent6>
        <a:srgbClr val="B4B392"/>
      </a:accent6>
      <a:hlink>
        <a:srgbClr val="CC9900"/>
      </a:hlink>
      <a:folHlink>
        <a:srgbClr val="969696"/>
      </a:folHlink>
    </a:clrScheme>
    <a:fontScheme name="필수">
      <a:majorFont>
        <a:latin typeface="Arial Black"/>
        <a:ea typeface=""/>
        <a:cs typeface=""/>
        <a:font script="Jpan" typeface="ＭＳ Ｐゴシック"/>
        <a:font script="Hang" typeface="HY견고딕"/>
        <a:font script="Hans" typeface="微软雅黑"/>
        <a:font script="Hant" typeface="微軟正黑體"/>
        <a:font script="Arab" typeface="Tahoma"/>
        <a:font script="Hebr" typeface="Tahoma"/>
        <a:font script="Thai" typeface="Tahoma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돋움"/>
        <a:font script="Hans" typeface="黑体"/>
        <a:font script="Hant" typeface="微軟正黑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필수">
      <a:fillStyleLst>
        <a:solidFill>
          <a:schemeClr val="phClr"/>
        </a:solidFill>
        <a:gradFill rotWithShape="1">
          <a:gsLst>
            <a:gs pos="0">
              <a:schemeClr val="phClr">
                <a:tint val="60000"/>
                <a:satMod val="250000"/>
              </a:schemeClr>
            </a:gs>
            <a:gs pos="35000">
              <a:schemeClr val="phClr">
                <a:tint val="47000"/>
                <a:satMod val="275000"/>
              </a:schemeClr>
            </a:gs>
            <a:gs pos="100000">
              <a:schemeClr val="phClr">
                <a:tint val="25000"/>
                <a:satMod val="300000"/>
              </a:schemeClr>
            </a:gs>
          </a:gsLst>
          <a:lin ang="16200000" scaled="1"/>
        </a:gradFill>
        <a:solidFill>
          <a:schemeClr val="phClr">
            <a:satMod val="110000"/>
          </a:schemeClr>
        </a:solidFill>
      </a:fillStyleLst>
      <a:lnStyleLst>
        <a:ln w="12700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8575" cap="flat" cmpd="sng" algn="ctr">
          <a:solidFill>
            <a:schemeClr val="phClr"/>
          </a:solidFill>
          <a:prstDash val="solid"/>
        </a:ln>
        <a:ln w="41275" cap="flat" cmpd="sng" algn="ctr">
          <a:solidFill>
            <a:schemeClr val="phClr"/>
          </a:solidFill>
          <a:prstDash val="solid"/>
        </a:ln>
      </a:lnStyleLst>
      <a:effectStyleLst>
        <a:effectStyle>
          <a:effectLst/>
        </a:effectStyle>
        <a:effectStyle>
          <a:effectLst>
            <a:outerShdw blurRad="39999" dist="23000" algn="bl" rotWithShape="0">
              <a:srgbClr val="000000">
                <a:alpha val="40000"/>
              </a:srgbClr>
            </a:outerShdw>
          </a:effectLst>
        </a:effectStyle>
        <a:effectStyle>
          <a:effectLst>
            <a:outerShdw blurRad="38100" dist="19050" algn="bl" rotWithShape="0">
              <a:srgbClr val="000000">
                <a:alpha val="60000"/>
              </a:srgbClr>
            </a:outerShdw>
          </a:effectLst>
          <a:scene3d>
            <a:camera prst="orthographicFront">
              <a:rot lat="0" lon="0" rev="0"/>
            </a:camera>
            <a:lightRig rig="balanced" dir="l"/>
          </a:scene3d>
          <a:sp3d prstMaterial="plastic">
            <a:bevelT w="38100" h="31750"/>
          </a:sp3d>
        </a:effectStyle>
      </a:effectStyleLst>
      <a:bgFillStyleLst>
        <a:solidFill>
          <a:schemeClr val="phClr"/>
        </a:solidFill>
        <a:blipFill rotWithShape="1">
          <a:blip xmlns:r="http://schemas.openxmlformats.org/officeDocument/2006/relationships" r:embed="rId1">
            <a:duotone>
              <a:schemeClr val="phClr">
                <a:tint val="96000"/>
              </a:schemeClr>
              <a:schemeClr val="phClr">
                <a:shade val="94000"/>
              </a:schemeClr>
            </a:duotone>
          </a:blip>
          <a:tile tx="0" ty="0" sx="100000" sy="100000" flip="none" algn="tl"/>
        </a:blipFill>
        <a:gradFill rotWithShape="1">
          <a:gsLst>
            <a:gs pos="0">
              <a:schemeClr val="phClr">
                <a:tint val="84000"/>
                <a:satMod val="110000"/>
              </a:schemeClr>
            </a:gs>
            <a:gs pos="44000">
              <a:schemeClr val="phClr">
                <a:tint val="93000"/>
                <a:satMod val="115000"/>
              </a:schemeClr>
            </a:gs>
            <a:gs pos="100000">
              <a:schemeClr val="phClr">
                <a:tint val="100000"/>
                <a:shade val="59000"/>
                <a:satMod val="120000"/>
              </a:schemeClr>
            </a:gs>
          </a:gsLst>
          <a:path path="circle">
            <a:fillToRect l="40000" t="60000" r="60000" b="4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Office 테마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emplate>Essential</Template>
  <TotalTime>10536</TotalTime>
  <Words>17379</Words>
  <Application>Microsoft Office PowerPoint</Application>
  <PresentationFormat>A4 용지(210x297mm)</PresentationFormat>
  <Paragraphs>7302</Paragraphs>
  <Slides>57</Slides>
  <Notes>57</Notes>
  <HiddenSlides>0</HiddenSlides>
  <MMClips>0</MMClips>
  <ScaleCrop>false</ScaleCrop>
  <HeadingPairs>
    <vt:vector size="6" baseType="variant">
      <vt:variant>
        <vt:lpstr>사용한 글꼴</vt:lpstr>
      </vt:variant>
      <vt:variant>
        <vt:i4>9</vt:i4>
      </vt:variant>
      <vt:variant>
        <vt:lpstr>테마</vt:lpstr>
      </vt:variant>
      <vt:variant>
        <vt:i4>1</vt:i4>
      </vt:variant>
      <vt:variant>
        <vt:lpstr>슬라이드 제목</vt:lpstr>
      </vt:variant>
      <vt:variant>
        <vt:i4>57</vt:i4>
      </vt:variant>
    </vt:vector>
  </HeadingPairs>
  <TitlesOfParts>
    <vt:vector size="67" baseType="lpstr">
      <vt:lpstr>Gill Sans</vt:lpstr>
      <vt:lpstr>HY견고딕</vt:lpstr>
      <vt:lpstr>굴림</vt:lpstr>
      <vt:lpstr>돋움</vt:lpstr>
      <vt:lpstr>맑은 고딕</vt:lpstr>
      <vt:lpstr>Arial</vt:lpstr>
      <vt:lpstr>Arial Black</vt:lpstr>
      <vt:lpstr>Times New Roman</vt:lpstr>
      <vt:lpstr>Wingdings</vt:lpstr>
      <vt:lpstr>필수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프레젠테이션</dc:title>
  <dc:creator>inlab17</dc:creator>
  <cp:lastModifiedBy>Kim Lein</cp:lastModifiedBy>
  <cp:revision>624</cp:revision>
  <cp:lastPrinted>2013-09-25T02:48:14Z</cp:lastPrinted>
  <dcterms:created xsi:type="dcterms:W3CDTF">2013-09-25T02:46:15Z</dcterms:created>
  <dcterms:modified xsi:type="dcterms:W3CDTF">2018-08-01T14:38:23Z</dcterms:modified>
</cp:coreProperties>
</file>
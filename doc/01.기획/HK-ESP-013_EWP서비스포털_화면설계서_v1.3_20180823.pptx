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8" r:id="rId1"/>
  </p:sldMasterIdLst>
  <p:notesMasterIdLst>
    <p:notesMasterId r:id="rId60"/>
  </p:notesMasterIdLst>
  <p:sldIdLst>
    <p:sldId id="330" r:id="rId2"/>
    <p:sldId id="331" r:id="rId3"/>
    <p:sldId id="315" r:id="rId4"/>
    <p:sldId id="332" r:id="rId5"/>
    <p:sldId id="333" r:id="rId6"/>
    <p:sldId id="335" r:id="rId7"/>
    <p:sldId id="336" r:id="rId8"/>
    <p:sldId id="337" r:id="rId9"/>
    <p:sldId id="393" r:id="rId10"/>
    <p:sldId id="396" r:id="rId11"/>
    <p:sldId id="394" r:id="rId12"/>
    <p:sldId id="395" r:id="rId13"/>
    <p:sldId id="339" r:id="rId14"/>
    <p:sldId id="364" r:id="rId15"/>
    <p:sldId id="342" r:id="rId16"/>
    <p:sldId id="397" r:id="rId17"/>
    <p:sldId id="341" r:id="rId18"/>
    <p:sldId id="398" r:id="rId19"/>
    <p:sldId id="344" r:id="rId20"/>
    <p:sldId id="345" r:id="rId21"/>
    <p:sldId id="369" r:id="rId22"/>
    <p:sldId id="346" r:id="rId23"/>
    <p:sldId id="370" r:id="rId24"/>
    <p:sldId id="371" r:id="rId25"/>
    <p:sldId id="404" r:id="rId26"/>
    <p:sldId id="347" r:id="rId27"/>
    <p:sldId id="349" r:id="rId28"/>
    <p:sldId id="348" r:id="rId29"/>
    <p:sldId id="372" r:id="rId30"/>
    <p:sldId id="351" r:id="rId31"/>
    <p:sldId id="399" r:id="rId32"/>
    <p:sldId id="374" r:id="rId33"/>
    <p:sldId id="379" r:id="rId34"/>
    <p:sldId id="376" r:id="rId35"/>
    <p:sldId id="377" r:id="rId36"/>
    <p:sldId id="375" r:id="rId37"/>
    <p:sldId id="355" r:id="rId38"/>
    <p:sldId id="368" r:id="rId39"/>
    <p:sldId id="380" r:id="rId40"/>
    <p:sldId id="381" r:id="rId41"/>
    <p:sldId id="356" r:id="rId42"/>
    <p:sldId id="400" r:id="rId43"/>
    <p:sldId id="385" r:id="rId44"/>
    <p:sldId id="358" r:id="rId45"/>
    <p:sldId id="384" r:id="rId46"/>
    <p:sldId id="401" r:id="rId47"/>
    <p:sldId id="389" r:id="rId48"/>
    <p:sldId id="402" r:id="rId49"/>
    <p:sldId id="360" r:id="rId50"/>
    <p:sldId id="390" r:id="rId51"/>
    <p:sldId id="391" r:id="rId52"/>
    <p:sldId id="343" r:id="rId53"/>
    <p:sldId id="386" r:id="rId54"/>
    <p:sldId id="388" r:id="rId55"/>
    <p:sldId id="387" r:id="rId56"/>
    <p:sldId id="361" r:id="rId57"/>
    <p:sldId id="382" r:id="rId58"/>
    <p:sldId id="392" r:id="rId59"/>
  </p:sldIdLst>
  <p:sldSz cx="9906000" cy="6858000" type="A4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pos="308" userDrawn="1">
          <p15:clr>
            <a:srgbClr val="A4A3A4"/>
          </p15:clr>
        </p15:guide>
        <p15:guide id="3" pos="49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9933"/>
    <a:srgbClr val="0066FF"/>
    <a:srgbClr val="313155"/>
    <a:srgbClr val="FF6600"/>
    <a:srgbClr val="CCECFF"/>
    <a:srgbClr val="0099FF"/>
    <a:srgbClr val="353760"/>
    <a:srgbClr val="008080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0" autoAdjust="0"/>
    <p:restoredTop sz="96370" autoAdjust="0"/>
  </p:normalViewPr>
  <p:slideViewPr>
    <p:cSldViewPr>
      <p:cViewPr varScale="1">
        <p:scale>
          <a:sx n="114" d="100"/>
          <a:sy n="114" d="100"/>
        </p:scale>
        <p:origin x="1296" y="108"/>
      </p:cViewPr>
      <p:guideLst>
        <p:guide orient="horz" pos="663"/>
        <p:guide pos="308"/>
        <p:guide pos="49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1" d="100"/>
          <a:sy n="81" d="100"/>
        </p:scale>
        <p:origin x="233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3E0-476F-9E2A-29309113FC3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C3E0-476F-9E2A-29309113FC3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13F-464E-8745-54076EDEFCC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13F-464E-8745-54076EDEFCC2}"/>
              </c:ext>
            </c:extLst>
          </c:dPt>
          <c:cat>
            <c:strRef>
              <c:f>Sheet1!$A$2:$A$5</c:f>
              <c:strCache>
                <c:ptCount val="2"/>
                <c:pt idx="0">
                  <c:v>전기요금 절감 30,746,834</c:v>
                </c:pt>
                <c:pt idx="1">
                  <c:v>전기요금 납부액 2,185,494,380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E0-476F-9E2A-29309113FC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85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75-43DB-84BA-101240F0E3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rgbClr val="FF660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75-43DB-84BA-101240F0E3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75-43DB-84BA-101240F0E3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85239296"/>
        <c:axId val="685240608"/>
      </c:barChart>
      <c:catAx>
        <c:axId val="68523929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85240608"/>
        <c:crosses val="autoZero"/>
        <c:auto val="1"/>
        <c:lblAlgn val="ctr"/>
        <c:lblOffset val="100"/>
        <c:noMultiLvlLbl val="0"/>
      </c:catAx>
      <c:valAx>
        <c:axId val="685240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8523929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A7093-58B2-4FDF-8F49-8AF83CC55B51}" type="datetimeFigureOut">
              <a:rPr lang="ko-KR" altLang="en-US" smtClean="0"/>
              <a:pPr/>
              <a:t>2018-08-23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3537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45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4046E-A8C5-48C1-8A0A-C37BBB40AD6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656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>
              <a:latin typeface="Arial" pitchFamily="34" charset="0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머리글 개체 틀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99413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9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23BE2C-2CF6-4163-9A53-6ABC355E8F0A}" type="slidenum">
              <a:rPr lang="en-US" altLang="ko-KR" smtClean="0"/>
              <a:pPr/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91415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821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229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882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817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835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676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455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972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27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3906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677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174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8874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3514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0882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4982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444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4634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7954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9077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5369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1605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1977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175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5640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5889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0740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8533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8644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1335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6737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8828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5534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2065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7842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4125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9005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3996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79098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7184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49073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33438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6242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062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43213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681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9523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3675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11725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3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93653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98132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16211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21547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03915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4046E-A8C5-48C1-8A0A-C37BBB40AD6E}" type="slidenum">
              <a:rPr lang="ko-KR" altLang="en-US" smtClean="0"/>
              <a:pPr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440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969224" y="6525344"/>
            <a:ext cx="225222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/>
              <a:t>Copyright 2015 INSIGHTLAB. All Right Reserved</a:t>
            </a:r>
            <a:endParaRPr lang="ko-KR" altLang="en-US" sz="800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0" y="2699395"/>
            <a:ext cx="9906000" cy="1224677"/>
            <a:chOff x="2400" y="942"/>
            <a:chExt cx="4320" cy="834"/>
          </a:xfrm>
        </p:grpSpPr>
        <p:sp>
          <p:nvSpPr>
            <p:cNvPr id="13" name="Line 5"/>
            <p:cNvSpPr>
              <a:spLocks noChangeShapeType="1"/>
            </p:cNvSpPr>
            <p:nvPr/>
          </p:nvSpPr>
          <p:spPr bwMode="auto">
            <a:xfrm>
              <a:off x="2400" y="1536"/>
              <a:ext cx="432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Line 6"/>
            <p:cNvSpPr>
              <a:spLocks noChangeShapeType="1"/>
            </p:cNvSpPr>
            <p:nvPr/>
          </p:nvSpPr>
          <p:spPr bwMode="auto">
            <a:xfrm>
              <a:off x="2400" y="1776"/>
              <a:ext cx="432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Line 5"/>
            <p:cNvSpPr>
              <a:spLocks noChangeShapeType="1"/>
            </p:cNvSpPr>
            <p:nvPr/>
          </p:nvSpPr>
          <p:spPr bwMode="auto">
            <a:xfrm>
              <a:off x="2400" y="942"/>
              <a:ext cx="432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413271" y="3681961"/>
            <a:ext cx="2376000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80803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404813" defTabSz="80803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808038" defTabSz="80803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212850" defTabSz="80803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617663" defTabSz="80803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074863" defTabSz="8080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532063" defTabSz="8080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2989263" defTabSz="8080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446463" defTabSz="8080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dist">
              <a:spcBef>
                <a:spcPct val="50000"/>
              </a:spcBef>
            </a:pPr>
            <a:r>
              <a:rPr lang="en-US" altLang="ko-KR" sz="900" b="1">
                <a:latin typeface="+mn-lt"/>
              </a:rPr>
              <a:t>WEBSITE STORY BOARD </a:t>
            </a:r>
          </a:p>
        </p:txBody>
      </p:sp>
      <p:sp>
        <p:nvSpPr>
          <p:cNvPr id="3" name="텍스트 개체 틀 2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394221" y="2818220"/>
            <a:ext cx="7812000" cy="615553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4000" b="0" smtClean="0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ko-KR" altLang="en-US"/>
              <a:t>프로젝트 제목</a:t>
            </a:r>
          </a:p>
        </p:txBody>
      </p:sp>
      <p:sp>
        <p:nvSpPr>
          <p:cNvPr id="36" name="텍스트 개체 틀 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680096" y="3681961"/>
            <a:ext cx="756000" cy="138499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900" b="1" smtClean="0">
                <a:latin typeface="+mn-lt"/>
                <a:ea typeface="+mj-ea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/>
              <a:t>YYYY/MM/DD</a:t>
            </a:r>
            <a:endParaRPr lang="ko-KR" altLang="en-US"/>
          </a:p>
        </p:txBody>
      </p:sp>
      <p:sp>
        <p:nvSpPr>
          <p:cNvPr id="37" name="Text Box 7"/>
          <p:cNvSpPr txBox="1">
            <a:spLocks noChangeArrowheads="1"/>
          </p:cNvSpPr>
          <p:nvPr userDrawn="1"/>
        </p:nvSpPr>
        <p:spPr bwMode="auto">
          <a:xfrm>
            <a:off x="4036380" y="3681961"/>
            <a:ext cx="636393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defTabSz="80803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404813" defTabSz="80803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808038" defTabSz="80803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212850" defTabSz="80803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617663" defTabSz="80803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074863" defTabSz="8080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532063" defTabSz="8080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2989263" defTabSz="8080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446463" defTabSz="8080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ko-KR" sz="900" b="1">
                <a:latin typeface="+mn-lt"/>
              </a:rPr>
              <a:t>|    </a:t>
            </a:r>
            <a:r>
              <a:rPr lang="ko-KR" altLang="en-US" sz="900" b="1">
                <a:latin typeface="+mn-lt"/>
              </a:rPr>
              <a:t>작성일  </a:t>
            </a:r>
            <a:r>
              <a:rPr lang="en-US" altLang="ko-KR" sz="900" b="1">
                <a:latin typeface="+mn-lt"/>
              </a:rPr>
              <a:t>: </a:t>
            </a:r>
          </a:p>
        </p:txBody>
      </p:sp>
      <p:sp>
        <p:nvSpPr>
          <p:cNvPr id="38" name="텍스트 개체 틀 2"/>
          <p:cNvSpPr>
            <a:spLocks noGrp="1"/>
          </p:cNvSpPr>
          <p:nvPr>
            <p:ph type="body" sz="quarter" idx="12" hasCustomPrompt="1"/>
          </p:nvPr>
        </p:nvSpPr>
        <p:spPr>
          <a:xfrm>
            <a:off x="6271515" y="3681961"/>
            <a:ext cx="756000" cy="138499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900" b="1" smtClean="0">
                <a:latin typeface="+mn-lt"/>
                <a:ea typeface="+mj-ea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/>
              <a:t>0.X</a:t>
            </a:r>
            <a:endParaRPr lang="ko-KR" altLang="en-US"/>
          </a:p>
        </p:txBody>
      </p:sp>
      <p:sp>
        <p:nvSpPr>
          <p:cNvPr id="40" name="Text Box 7"/>
          <p:cNvSpPr txBox="1">
            <a:spLocks noChangeArrowheads="1"/>
          </p:cNvSpPr>
          <p:nvPr userDrawn="1"/>
        </p:nvSpPr>
        <p:spPr bwMode="auto">
          <a:xfrm>
            <a:off x="5534397" y="3681961"/>
            <a:ext cx="718145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defTabSz="80803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404813" defTabSz="80803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808038" defTabSz="80803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212850" defTabSz="80803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617663" defTabSz="808038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074863" defTabSz="8080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532063" defTabSz="8080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2989263" defTabSz="8080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446463" defTabSz="808038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ko-KR" sz="900" b="1">
                <a:latin typeface="+mn-lt"/>
              </a:rPr>
              <a:t>|    Version  : </a:t>
            </a:r>
          </a:p>
        </p:txBody>
      </p:sp>
      <p:pic>
        <p:nvPicPr>
          <p:cNvPr id="21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69559" y="6469286"/>
            <a:ext cx="1584176" cy="2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40892765"/>
              </p:ext>
            </p:extLst>
          </p:nvPr>
        </p:nvGraphicFramePr>
        <p:xfrm>
          <a:off x="19050" y="30163"/>
          <a:ext cx="9855736" cy="679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bg1"/>
                          </a:solidFill>
                          <a:latin typeface="돋움" pitchFamily="50" charset="-127"/>
                          <a:ea typeface="돋움" pitchFamily="50" charset="-127"/>
                        </a:rPr>
                        <a:t>메뉴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>
                        <a:solidFill>
                          <a:schemeClr val="bg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bg1"/>
                          </a:solidFill>
                          <a:latin typeface="돋움" pitchFamily="50" charset="-127"/>
                          <a:ea typeface="돋움" pitchFamily="50" charset="-127"/>
                        </a:rPr>
                        <a:t>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>
                        <a:solidFill>
                          <a:schemeClr val="bg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i="0">
                          <a:solidFill>
                            <a:schemeClr val="bg1"/>
                          </a:solidFill>
                          <a:latin typeface="Arial" pitchFamily="34" charset="0"/>
                          <a:ea typeface="돋움" pitchFamily="50" charset="-127"/>
                          <a:cs typeface="Arial" pitchFamily="34" charset="0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2000">
                <a:tc gridSpan="4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bg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bg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gridSpan="4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bg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solidFill>
                            <a:schemeClr val="bg1"/>
                          </a:solidFill>
                          <a:latin typeface="돋움" pitchFamily="50" charset="-127"/>
                          <a:ea typeface="돋움" pitchFamily="50" charset="-127"/>
                        </a:rPr>
                        <a:t>-      -</a:t>
                      </a:r>
                      <a:endParaRPr lang="ko-KR" altLang="en-US" sz="900" b="0">
                        <a:solidFill>
                          <a:schemeClr val="bg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67440" y="6645875"/>
            <a:ext cx="213767" cy="138499"/>
          </a:xfrm>
          <a:prstGeom prst="rect">
            <a:avLst/>
          </a:prstGeom>
        </p:spPr>
        <p:txBody>
          <a:bodyPr wrap="none" lIns="36000" tIns="0" rIns="36000" bIns="0" anchor="ctr" anchorCtr="0">
            <a:spAutoFit/>
          </a:bodyPr>
          <a:lstStyle>
            <a:lvl1pPr algn="ctr">
              <a:defRPr sz="900" b="1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9E41B634-5682-4388-99E7-FE44DCFD254B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0"/>
          </p:nvPr>
        </p:nvSpPr>
        <p:spPr>
          <a:xfrm>
            <a:off x="6023595" y="63674"/>
            <a:ext cx="2376000" cy="13849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 sz="900" b="0"/>
            </a:lvl1pPr>
          </a:lstStyle>
          <a:p>
            <a:pPr lvl="0"/>
            <a:endParaRPr lang="ko-KR" altLang="en-US"/>
          </a:p>
        </p:txBody>
      </p:sp>
      <p:sp>
        <p:nvSpPr>
          <p:cNvPr id="21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606245" y="63674"/>
            <a:ext cx="4824000" cy="13849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 sz="900" b="0"/>
            </a:lvl1pPr>
          </a:lstStyle>
          <a:p>
            <a:pPr lvl="0"/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9"/>
          <p:cNvSpPr/>
          <p:nvPr userDrawn="1"/>
        </p:nvSpPr>
        <p:spPr>
          <a:xfrm>
            <a:off x="9728423" y="0"/>
            <a:ext cx="180000" cy="48463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8"/>
          <p:cNvSpPr/>
          <p:nvPr userDrawn="1"/>
        </p:nvSpPr>
        <p:spPr>
          <a:xfrm>
            <a:off x="9728423" y="3933056"/>
            <a:ext cx="180000" cy="29249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60526247"/>
              </p:ext>
            </p:extLst>
          </p:nvPr>
        </p:nvGraphicFramePr>
        <p:xfrm>
          <a:off x="19050" y="30163"/>
          <a:ext cx="9684000" cy="679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>
                        <a:solidFill>
                          <a:schemeClr val="bg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2000">
                <a:tc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bg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bg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65981" y="49957"/>
            <a:ext cx="3959845" cy="16158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264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447801"/>
            <a:ext cx="8420100" cy="432117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228601"/>
            <a:ext cx="8420100" cy="1066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95300" y="6172201"/>
            <a:ext cx="3714750" cy="3048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 rot="16200000">
            <a:off x="8967814" y="5870284"/>
            <a:ext cx="1315721" cy="395552"/>
          </a:xfrm>
          <a:prstGeom prst="rect">
            <a:avLst/>
          </a:prstGeom>
        </p:spPr>
        <p:txBody>
          <a:bodyPr/>
          <a:lstStyle/>
          <a:p>
            <a:fld id="{ABFCFCC8-316A-47DE-A400-916B2561717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95300" y="6492876"/>
            <a:ext cx="3714750" cy="28384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52718"/>
            <a:ext cx="6273800" cy="13716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66570" y="1574800"/>
            <a:ext cx="356616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14340" y="1574800"/>
            <a:ext cx="356616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95300" y="6172201"/>
            <a:ext cx="3714750" cy="3048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95300" y="6492876"/>
            <a:ext cx="3714750" cy="28384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16200000">
            <a:off x="8967814" y="5870284"/>
            <a:ext cx="1315721" cy="395552"/>
          </a:xfrm>
          <a:prstGeom prst="rect">
            <a:avLst/>
          </a:prstGeom>
        </p:spPr>
        <p:txBody>
          <a:bodyPr/>
          <a:lstStyle/>
          <a:p>
            <a:fld id="{ABFCFCC8-316A-47DE-A400-916B2561717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52718"/>
            <a:ext cx="6273800" cy="1371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3268" y="1572768"/>
            <a:ext cx="3566160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63268" y="2259366"/>
            <a:ext cx="3566160" cy="384048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17642" y="1572768"/>
            <a:ext cx="3566160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17642" y="2259366"/>
            <a:ext cx="3566160" cy="384048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95300" y="6172201"/>
            <a:ext cx="3714750" cy="3048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95300" y="6492876"/>
            <a:ext cx="3714750" cy="28384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 rot="16200000">
            <a:off x="8967814" y="5870284"/>
            <a:ext cx="1315721" cy="395552"/>
          </a:xfrm>
          <a:prstGeom prst="rect">
            <a:avLst/>
          </a:prstGeom>
        </p:spPr>
        <p:txBody>
          <a:bodyPr/>
          <a:lstStyle/>
          <a:p>
            <a:fld id="{ABFCFCC8-316A-47DE-A400-916B2561717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52718"/>
            <a:ext cx="6273800" cy="13716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95300" y="6172201"/>
            <a:ext cx="3714750" cy="3048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5300" y="6492876"/>
            <a:ext cx="3714750" cy="28384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 rot="16200000">
            <a:off x="8967814" y="5870284"/>
            <a:ext cx="1315721" cy="395552"/>
          </a:xfrm>
          <a:prstGeom prst="rect">
            <a:avLst/>
          </a:prstGeom>
        </p:spPr>
        <p:txBody>
          <a:bodyPr/>
          <a:lstStyle/>
          <a:p>
            <a:fld id="{ABFCFCC8-316A-47DE-A400-916B2561717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95300" y="6172201"/>
            <a:ext cx="3714750" cy="3048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95300" y="6492876"/>
            <a:ext cx="3714750" cy="28384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8967814" y="5870284"/>
            <a:ext cx="1315721" cy="395552"/>
          </a:xfrm>
          <a:prstGeom prst="rect">
            <a:avLst/>
          </a:prstGeom>
        </p:spPr>
        <p:txBody>
          <a:bodyPr/>
          <a:lstStyle/>
          <a:p>
            <a:fld id="{ABFCFCC8-316A-47DE-A400-916B2561717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1600200"/>
            <a:ext cx="5537729" cy="448056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600200"/>
            <a:ext cx="3259006" cy="44805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95300" y="6172201"/>
            <a:ext cx="3714750" cy="3048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95300" y="6492876"/>
            <a:ext cx="3714750" cy="28384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16200000">
            <a:off x="8967814" y="5870284"/>
            <a:ext cx="1315721" cy="395552"/>
          </a:xfrm>
          <a:prstGeom prst="rect">
            <a:avLst/>
          </a:prstGeom>
        </p:spPr>
        <p:txBody>
          <a:bodyPr/>
          <a:lstStyle/>
          <a:p>
            <a:fld id="{ABFCFCC8-316A-47DE-A400-916B2561717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95300" y="152718"/>
            <a:ext cx="6273800" cy="13716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751218" y="4846320"/>
            <a:ext cx="154782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750950" cy="48463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5715000"/>
            <a:ext cx="8832850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95300" y="6172201"/>
            <a:ext cx="3714750" cy="3048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95300" y="6492876"/>
            <a:ext cx="3714750" cy="28384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16200000">
            <a:off x="8967814" y="5870284"/>
            <a:ext cx="1315721" cy="3955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FCFCC8-316A-47DE-A400-916B2561717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95300" y="4953000"/>
            <a:ext cx="8832850" cy="762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751218" y="0"/>
            <a:ext cx="154782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52718"/>
            <a:ext cx="6273800" cy="13716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1752601"/>
            <a:ext cx="8255000" cy="4373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172201"/>
            <a:ext cx="3714750" cy="3048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5300" y="6492876"/>
            <a:ext cx="3714750" cy="28384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16200000">
            <a:off x="8967814" y="5870284"/>
            <a:ext cx="1315721" cy="395552"/>
          </a:xfrm>
          <a:prstGeom prst="rect">
            <a:avLst/>
          </a:prstGeom>
        </p:spPr>
        <p:txBody>
          <a:bodyPr/>
          <a:lstStyle/>
          <a:p>
            <a:fld id="{ABFCFCC8-316A-47DE-A400-916B2561717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172201"/>
            <a:ext cx="3714750" cy="3048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5300" y="6492876"/>
            <a:ext cx="3714750" cy="28384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16200000">
            <a:off x="8967814" y="5870284"/>
            <a:ext cx="1315721" cy="395552"/>
          </a:xfrm>
          <a:prstGeom prst="rect">
            <a:avLst/>
          </a:prstGeom>
        </p:spPr>
        <p:txBody>
          <a:bodyPr/>
          <a:lstStyle/>
          <a:p>
            <a:fld id="{ABFCFCC8-316A-47DE-A400-916B2561717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755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6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  <p:sldLayoutId id="2147483959" r:id="rId12"/>
    <p:sldLayoutId id="2147483961" r:id="rId13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gif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gi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gi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25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27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26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25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5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27.png"/><Relationship Id="rId10" Type="http://schemas.openxmlformats.org/officeDocument/2006/relationships/image" Target="../media/image53.png"/><Relationship Id="rId4" Type="http://schemas.openxmlformats.org/officeDocument/2006/relationships/image" Target="../media/image26.png"/><Relationship Id="rId9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2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2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 422">
            <a:extLst>
              <a:ext uri="{FF2B5EF4-FFF2-40B4-BE49-F238E27FC236}">
                <a16:creationId xmlns:a16="http://schemas.microsoft.com/office/drawing/2014/main" id="{22BA4FA9-8ABD-489B-86CA-7B858355A5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976" y="2687638"/>
            <a:ext cx="9047163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 Box 423">
            <a:extLst>
              <a:ext uri="{FF2B5EF4-FFF2-40B4-BE49-F238E27FC236}">
                <a16:creationId xmlns:a16="http://schemas.microsoft.com/office/drawing/2014/main" id="{0A891955-1C33-4136-B95E-012299335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975" y="2184402"/>
            <a:ext cx="6756400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latinLnBrk="0">
              <a:spcBef>
                <a:spcPct val="50000"/>
              </a:spcBef>
            </a:pP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화면 설계서</a:t>
            </a:r>
          </a:p>
        </p:txBody>
      </p:sp>
      <p:sp>
        <p:nvSpPr>
          <p:cNvPr id="16" name="Text Box 425">
            <a:extLst>
              <a:ext uri="{FF2B5EF4-FFF2-40B4-BE49-F238E27FC236}">
                <a16:creationId xmlns:a16="http://schemas.microsoft.com/office/drawing/2014/main" id="{DB63DBB6-FE6F-487C-B5AB-10B426DC4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0944" y="3818155"/>
            <a:ext cx="2128837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latinLnBrk="0">
              <a:spcBef>
                <a:spcPct val="50000"/>
              </a:spcBef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Ver. 1.2</a:t>
            </a:r>
          </a:p>
        </p:txBody>
      </p:sp>
      <p:sp>
        <p:nvSpPr>
          <p:cNvPr id="17" name="Text Box 448">
            <a:extLst>
              <a:ext uri="{FF2B5EF4-FFF2-40B4-BE49-F238E27FC236}">
                <a16:creationId xmlns:a16="http://schemas.microsoft.com/office/drawing/2014/main" id="{D0B9ABB4-77B1-4097-BD78-549BE6983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4119" y="4302851"/>
            <a:ext cx="1352550" cy="5663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latinLnBrk="0" hangingPunct="0">
              <a:spcBef>
                <a:spcPct val="20000"/>
              </a:spcBef>
            </a:pP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시스템명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  <a:p>
            <a:pPr algn="r" eaLnBrk="0" latinLnBrk="0" hangingPunct="0">
              <a:spcBef>
                <a:spcPct val="20000"/>
              </a:spcBef>
            </a:pP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단계명</a:t>
            </a:r>
            <a:r>
              <a: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</p:txBody>
      </p:sp>
      <p:sp>
        <p:nvSpPr>
          <p:cNvPr id="18" name="Text Box 453">
            <a:extLst>
              <a:ext uri="{FF2B5EF4-FFF2-40B4-BE49-F238E27FC236}">
                <a16:creationId xmlns:a16="http://schemas.microsoft.com/office/drawing/2014/main" id="{25373915-B57C-4199-8BAB-A20313714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0944" y="4302851"/>
            <a:ext cx="1982975" cy="5663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20000"/>
              </a:spcBef>
            </a:pP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포털</a:t>
            </a:r>
            <a:endParaRPr kumimoji="0"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0" latinLnBrk="0" hangingPunct="0">
              <a:spcBef>
                <a:spcPct val="20000"/>
              </a:spcBef>
            </a:pPr>
            <a:r>
              <a:rPr kumimoji="0"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8034A1AE-18CB-44FE-A1A0-47B6A1F5E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 Box 426">
            <a:extLst>
              <a:ext uri="{FF2B5EF4-FFF2-40B4-BE49-F238E27FC236}">
                <a16:creationId xmlns:a16="http://schemas.microsoft.com/office/drawing/2014/main" id="{9CBFF8BD-645C-44E8-AC5E-1919B3715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5480" y="1376363"/>
            <a:ext cx="72214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r" eaLnBrk="1" latinLnBrk="0" hangingPunct="1">
              <a:spcBef>
                <a:spcPct val="50000"/>
              </a:spcBef>
            </a:pPr>
            <a:r>
              <a:rPr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한국동서발전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서비스 포털 개발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63582C6-624E-4114-B5C9-A89CDC7E19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456" y="6058287"/>
            <a:ext cx="1571625" cy="41671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C64EEC2-E296-46A5-9D16-CC7E4F84C9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5978612"/>
            <a:ext cx="1537438" cy="576063"/>
          </a:xfrm>
          <a:prstGeom prst="rect">
            <a:avLst/>
          </a:prstGeom>
        </p:spPr>
      </p:pic>
      <p:pic>
        <p:nvPicPr>
          <p:cNvPr id="23" name="그림 22" descr="ëìë°ì ì ëí ì´ë¯¸ì§ ê²ìê²°ê³¼">
            <a:extLst>
              <a:ext uri="{FF2B5EF4-FFF2-40B4-BE49-F238E27FC236}">
                <a16:creationId xmlns:a16="http://schemas.microsoft.com/office/drawing/2014/main" id="{77D27B3B-2BF2-4CFA-A5C9-D3758273B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82" y="193020"/>
            <a:ext cx="2962275" cy="33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1F67DA71-532B-4323-91AD-23A132BED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283513"/>
              </p:ext>
            </p:extLst>
          </p:nvPr>
        </p:nvGraphicFramePr>
        <p:xfrm>
          <a:off x="6681192" y="3300241"/>
          <a:ext cx="2715140" cy="400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5140">
                  <a:extLst>
                    <a:ext uri="{9D8B030D-6E8A-4147-A177-3AD203B41FA5}">
                      <a16:colId xmlns:a16="http://schemas.microsoft.com/office/drawing/2014/main" val="194916643"/>
                    </a:ext>
                  </a:extLst>
                </a:gridCol>
              </a:tblGrid>
              <a:tr h="374015">
                <a:tc>
                  <a:txBody>
                    <a:bodyPr/>
                    <a:lstStyle/>
                    <a:p>
                      <a:pPr algn="r" latinLnBrk="0">
                        <a:lnSpc>
                          <a:spcPct val="160000"/>
                        </a:lnSpc>
                        <a:spcAft>
                          <a:spcPts val="0"/>
                        </a:spcAft>
                      </a:pPr>
                      <a:r>
                        <a:rPr lang="ko-KR" sz="19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번호</a:t>
                      </a:r>
                      <a:r>
                        <a:rPr lang="en-US" sz="19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: HK-ESP-013</a:t>
                      </a:r>
                      <a:endParaRPr lang="ko-KR" sz="1100" kern="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202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963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48"/>
          <p:cNvSpPr txBox="1">
            <a:spLocks noChangeArrowheads="1"/>
          </p:cNvSpPr>
          <p:nvPr/>
        </p:nvSpPr>
        <p:spPr bwMode="auto">
          <a:xfrm>
            <a:off x="3729780" y="504109"/>
            <a:ext cx="285313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pPr algn="ctr" latinLnBrk="0"/>
            <a:r>
              <a:rPr kumimoji="0" lang="ko-KR" altLang="en-US" sz="14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력</a:t>
            </a:r>
            <a:endParaRPr kumimoji="0" lang="ko-KR" altLang="en-US" sz="1400" b="1" u="sng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 Box 289"/>
          <p:cNvSpPr txBox="1">
            <a:spLocks noChangeArrowheads="1"/>
          </p:cNvSpPr>
          <p:nvPr/>
        </p:nvSpPr>
        <p:spPr bwMode="auto">
          <a:xfrm>
            <a:off x="159492" y="5980122"/>
            <a:ext cx="55948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pPr eaLnBrk="1" latinLnBrk="0" hangingPunct="1"/>
            <a:r>
              <a:rPr lang="en-US" altLang="ko-KR" baseline="30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 사유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 중 선택 기입</a:t>
            </a:r>
          </a:p>
          <a:p>
            <a:pPr eaLnBrk="1" latinLnBrk="0" hangingPunct="1"/>
            <a:r>
              <a:rPr lang="en-US" altLang="ko-KR" baseline="30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 내용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변경이 발생되는 위치와 변경 내용을 자세히 기록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절과 변경 내용을 기술한다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.) </a:t>
            </a:r>
          </a:p>
        </p:txBody>
      </p:sp>
      <p:graphicFrame>
        <p:nvGraphicFramePr>
          <p:cNvPr id="1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786524"/>
              </p:ext>
            </p:extLst>
          </p:nvPr>
        </p:nvGraphicFramePr>
        <p:xfrm>
          <a:off x="245482" y="947021"/>
          <a:ext cx="9430148" cy="4984236"/>
        </p:xfrm>
        <a:graphic>
          <a:graphicData uri="http://schemas.openxmlformats.org/drawingml/2006/table">
            <a:tbl>
              <a:tblPr/>
              <a:tblGrid>
                <a:gridCol w="878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4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8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5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68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90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 marL="99060" marR="9906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99060" marR="990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변경사유</a:t>
                      </a:r>
                      <a:r>
                        <a:rPr kumimoji="0" lang="en-US" altLang="ko-KR" sz="11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9060" marR="990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변경내용</a:t>
                      </a:r>
                      <a:r>
                        <a:rPr kumimoji="0" lang="en-US" altLang="ko-KR" sz="11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9060" marR="990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99060" marR="990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99060" marR="990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Ver. 1.0</a:t>
                      </a:r>
                    </a:p>
                  </a:txBody>
                  <a:tcPr marL="99060" marR="990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2018-07-17</a:t>
                      </a:r>
                    </a:p>
                  </a:txBody>
                  <a:tcPr marL="99060" marR="990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산출물 최초작성</a:t>
                      </a: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김진오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 1.1</a:t>
                      </a: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2018-08-01</a:t>
                      </a: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 사항 반영</a:t>
                      </a: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김진오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 1.2</a:t>
                      </a: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2018-08-01</a:t>
                      </a: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사항 반영</a:t>
                      </a: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김진오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 1.3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2018-08-23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</a:t>
                      </a:r>
                      <a:endParaRPr kumimoji="1" lang="ko-KR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 이미지 교체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및 변경사항 반영</a:t>
                      </a:r>
                      <a:endParaRPr kumimoji="1" lang="ko-KR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김진오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4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0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2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7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7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7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7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7500" marR="975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9895" y="-3035"/>
            <a:ext cx="2225289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1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한국동서발전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서비스 포털 개발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698" y="6125196"/>
            <a:ext cx="1798834" cy="70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49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이용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시작 페이지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시작 페이지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564225"/>
              </p:ext>
            </p:extLst>
          </p:nvPr>
        </p:nvGraphicFramePr>
        <p:xfrm>
          <a:off x="8469313" y="276225"/>
          <a:ext cx="1404000" cy="300960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로그인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아이디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비밀번호 입력 후 로그인 진행하고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군관리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Main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으로 이동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서비스 소개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서비스 소개 페이지로 이동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ID/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찾기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ID/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찾기 화면으로 이동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서비스 가입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서비스 가입 화면으로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FAQ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자주하는 질문 화면으로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시작 페이지 디자인 시안 확정 후 변경 예정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ewpsp_scr_001 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2DD3D857-4DF8-48EC-8B37-019254BB3C1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598" y="276225"/>
            <a:ext cx="4876594" cy="6431287"/>
          </a:xfrm>
          <a:prstGeom prst="rect">
            <a:avLst/>
          </a:prstGeom>
        </p:spPr>
      </p:pic>
      <p:sp>
        <p:nvSpPr>
          <p:cNvPr id="226" name="타원형 설명선 225"/>
          <p:cNvSpPr/>
          <p:nvPr/>
        </p:nvSpPr>
        <p:spPr>
          <a:xfrm>
            <a:off x="2216696" y="2960866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" name="타원형 설명선 226"/>
          <p:cNvSpPr/>
          <p:nvPr/>
        </p:nvSpPr>
        <p:spPr>
          <a:xfrm>
            <a:off x="1696598" y="347515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3028293" y="347515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2242233" y="347515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3532681" y="347515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782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이용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시작 페이지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소개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소개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306107"/>
              </p:ext>
            </p:extLst>
          </p:nvPr>
        </p:nvGraphicFramePr>
        <p:xfrm>
          <a:off x="8469313" y="276225"/>
          <a:ext cx="1404000" cy="94752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동서발전 서비스 포털 서비스 소개 페이지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차후 서비스 소개 페이지 문구 및 디자인 변경 예정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ewpsp_scr_002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99166D1-9A1B-4AB1-92D1-E1A827A965D2}"/>
              </a:ext>
            </a:extLst>
          </p:cNvPr>
          <p:cNvCxnSpPr/>
          <p:nvPr/>
        </p:nvCxnSpPr>
        <p:spPr>
          <a:xfrm>
            <a:off x="606245" y="980728"/>
            <a:ext cx="722707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41319DB-F596-4B53-B2D4-630ECFE1571C}"/>
              </a:ext>
            </a:extLst>
          </p:cNvPr>
          <p:cNvCxnSpPr/>
          <p:nvPr/>
        </p:nvCxnSpPr>
        <p:spPr>
          <a:xfrm>
            <a:off x="606244" y="948924"/>
            <a:ext cx="2880000" cy="0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B058A8-3775-45DA-A9F4-37F4CB6D6AC8}"/>
              </a:ext>
            </a:extLst>
          </p:cNvPr>
          <p:cNvSpPr txBox="1"/>
          <p:nvPr/>
        </p:nvSpPr>
        <p:spPr>
          <a:xfrm>
            <a:off x="550587" y="620688"/>
            <a:ext cx="2978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한국 동서발전 서비스 포털 소개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56F982A-3DD3-4399-B056-CE34B662B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790" y="1646912"/>
            <a:ext cx="1034388" cy="563623"/>
          </a:xfrm>
          <a:prstGeom prst="rect">
            <a:avLst/>
          </a:prstGeom>
        </p:spPr>
      </p:pic>
      <p:pic>
        <p:nvPicPr>
          <p:cNvPr id="1026" name="Picture 2" descr="http://www.pmgrow.co.kr/images/img_solution06_00.jpg">
            <a:extLst>
              <a:ext uri="{FF2B5EF4-FFF2-40B4-BE49-F238E27FC236}">
                <a16:creationId xmlns:a16="http://schemas.microsoft.com/office/drawing/2014/main" id="{2FD06EF1-FF8A-4926-AE10-BE38A9BD4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59" y="1544592"/>
            <a:ext cx="4373597" cy="1884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117772-3614-4985-99C9-9FF8C185B3B7}"/>
              </a:ext>
            </a:extLst>
          </p:cNvPr>
          <p:cNvSpPr/>
          <p:nvPr/>
        </p:nvSpPr>
        <p:spPr>
          <a:xfrm>
            <a:off x="793825" y="1185701"/>
            <a:ext cx="451921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전력의 생산</a:t>
            </a:r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</a:t>
            </a:r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소비 등에 대한 모니터링이 가능한 통합관리 시스템</a:t>
            </a:r>
            <a:endParaRPr lang="ko-KR" altLang="en-US" sz="105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F0FEEF7-862B-445E-AA28-C620114C2F18}"/>
              </a:ext>
            </a:extLst>
          </p:cNvPr>
          <p:cNvSpPr/>
          <p:nvPr/>
        </p:nvSpPr>
        <p:spPr>
          <a:xfrm>
            <a:off x="4833286" y="2996296"/>
            <a:ext cx="432048" cy="2525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IOE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4868A14-C9EB-4A25-819E-AC5177ECF900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5049310" y="2743706"/>
            <a:ext cx="0" cy="25259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96C46539-E17D-4329-A713-0EA717D864EC}"/>
              </a:ext>
            </a:extLst>
          </p:cNvPr>
          <p:cNvCxnSpPr>
            <a:cxnSpLocks/>
            <a:stCxn id="14" idx="3"/>
            <a:endCxn id="8" idx="2"/>
          </p:cNvCxnSpPr>
          <p:nvPr/>
        </p:nvCxnSpPr>
        <p:spPr>
          <a:xfrm flipV="1">
            <a:off x="5265334" y="2210535"/>
            <a:ext cx="1145650" cy="912056"/>
          </a:xfrm>
          <a:prstGeom prst="bentConnector2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D6AFB2A1-72FE-42E2-9CF0-C29F487D9400}"/>
              </a:ext>
            </a:extLst>
          </p:cNvPr>
          <p:cNvCxnSpPr/>
          <p:nvPr/>
        </p:nvCxnSpPr>
        <p:spPr>
          <a:xfrm flipH="1">
            <a:off x="4358665" y="1916832"/>
            <a:ext cx="1535125" cy="0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C6F3F390-D5C3-451F-9C95-DA815B76962D}"/>
              </a:ext>
            </a:extLst>
          </p:cNvPr>
          <p:cNvSpPr txBox="1"/>
          <p:nvPr/>
        </p:nvSpPr>
        <p:spPr>
          <a:xfrm>
            <a:off x="875210" y="3429000"/>
            <a:ext cx="6552728" cy="481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IoT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기기와 연계한 각각의 고객 사이트와 전체 사이트의 실시간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과거의 사용량과 미래의 예측량을 모니터링 하고 충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방전량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ESS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서비스를 통한 실적 및 수익 정보를 조회할 수 있는 서비스 포털 서비스입니다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378050" y="460425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30F6D088-13C1-4FB2-99F7-66AE63AF2450}"/>
              </a:ext>
            </a:extLst>
          </p:cNvPr>
          <p:cNvCxnSpPr/>
          <p:nvPr/>
        </p:nvCxnSpPr>
        <p:spPr>
          <a:xfrm>
            <a:off x="550587" y="4005064"/>
            <a:ext cx="72270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4" descr="ê´ì ì ëí ì´ë¯¸ì§ ê²ìê²°ê³¼">
            <a:extLst>
              <a:ext uri="{FF2B5EF4-FFF2-40B4-BE49-F238E27FC236}">
                <a16:creationId xmlns:a16="http://schemas.microsoft.com/office/drawing/2014/main" id="{9625A501-3C29-4A5B-8108-02B96BED9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59" y="5108582"/>
            <a:ext cx="612000" cy="5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직사각형 65">
            <a:extLst>
              <a:ext uri="{FF2B5EF4-FFF2-40B4-BE49-F238E27FC236}">
                <a16:creationId xmlns:a16="http://schemas.microsoft.com/office/drawing/2014/main" id="{09BE390C-F378-49FD-AEC6-8BC572150E94}"/>
              </a:ext>
            </a:extLst>
          </p:cNvPr>
          <p:cNvSpPr/>
          <p:nvPr/>
        </p:nvSpPr>
        <p:spPr>
          <a:xfrm>
            <a:off x="1712640" y="4957009"/>
            <a:ext cx="5976664" cy="740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모니터링</a:t>
            </a:r>
            <a:endParaRPr lang="en-US" altLang="ko-KR" sz="8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전력 사용량 현황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방전 현황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PV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발전량 현황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DR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실적 현황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 구성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모니터링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IOE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통신상태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PCS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운전상태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BMS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운전상태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PV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발전상태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7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알람 정보 확인 </a:t>
            </a:r>
            <a:r>
              <a:rPr lang="en-US" altLang="ko-KR" sz="7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7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각 장치 별 알람 정보를 확인하고 처리상태를 점검</a:t>
            </a:r>
            <a:endParaRPr lang="en-US" altLang="ko-KR" sz="70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7" name="Picture 8" descr="ììµ ê´ë¦¬ì ëí ì´ë¯¸ì§ ê²ìê²°ê³¼">
            <a:extLst>
              <a:ext uri="{FF2B5EF4-FFF2-40B4-BE49-F238E27FC236}">
                <a16:creationId xmlns:a16="http://schemas.microsoft.com/office/drawing/2014/main" id="{796FBC84-5076-4B1F-A8DA-2F6822548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59" y="5929185"/>
            <a:ext cx="612000" cy="6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직사각형 67">
            <a:extLst>
              <a:ext uri="{FF2B5EF4-FFF2-40B4-BE49-F238E27FC236}">
                <a16:creationId xmlns:a16="http://schemas.microsoft.com/office/drawing/2014/main" id="{8824B4E9-4E4D-456F-A473-92FCF12C05DD}"/>
              </a:ext>
            </a:extLst>
          </p:cNvPr>
          <p:cNvSpPr/>
          <p:nvPr/>
        </p:nvSpPr>
        <p:spPr>
          <a:xfrm>
            <a:off x="1712640" y="5856444"/>
            <a:ext cx="5976664" cy="740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수익정보 확인</a:t>
            </a:r>
            <a:endParaRPr lang="en-US" altLang="ko-KR" sz="8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요금 조회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항목 별 한전 요금 상세 조회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ESS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DR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PV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7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명세서 확인 </a:t>
            </a:r>
            <a:r>
              <a:rPr lang="en-US" altLang="ko-KR" sz="7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7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에너지 절감 수익 배분 청구 명세서 확인 및 출력</a:t>
            </a:r>
            <a:endParaRPr lang="en-US" altLang="ko-KR" sz="70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9" name="Picture 14" descr="íí©ì ëí ì´ë¯¸ì§ ê²ìê²°ê³¼">
            <a:extLst>
              <a:ext uri="{FF2B5EF4-FFF2-40B4-BE49-F238E27FC236}">
                <a16:creationId xmlns:a16="http://schemas.microsoft.com/office/drawing/2014/main" id="{9EE455C1-80F3-44E2-AE22-4A9ECA514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59" y="4156637"/>
            <a:ext cx="612000" cy="6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직사각형 69">
            <a:extLst>
              <a:ext uri="{FF2B5EF4-FFF2-40B4-BE49-F238E27FC236}">
                <a16:creationId xmlns:a16="http://schemas.microsoft.com/office/drawing/2014/main" id="{8FCDE070-ED0C-4FDB-89C2-14B90F72FC3E}"/>
              </a:ext>
            </a:extLst>
          </p:cNvPr>
          <p:cNvSpPr/>
          <p:nvPr/>
        </p:nvSpPr>
        <p:spPr>
          <a:xfrm>
            <a:off x="1712640" y="4077072"/>
            <a:ext cx="5976664" cy="740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에너지 현황 </a:t>
            </a:r>
            <a:r>
              <a:rPr lang="en-US" altLang="ko-KR" sz="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8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Main–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전체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그룹 별 현황 대시보드 화면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사이트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Main –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사이트 별 현황 대시보드 화면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7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전력관리 설정 </a:t>
            </a:r>
            <a:r>
              <a:rPr lang="en-US" altLang="ko-KR" sz="7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7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한전계약 및 전력관리 정보를 설정</a:t>
            </a:r>
            <a:endParaRPr lang="en-US" altLang="ko-KR" sz="70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말풍선: 모서리가 둥근 사각형 71">
            <a:extLst>
              <a:ext uri="{FF2B5EF4-FFF2-40B4-BE49-F238E27FC236}">
                <a16:creationId xmlns:a16="http://schemas.microsoft.com/office/drawing/2014/main" id="{7CEF9C54-9107-497C-95C8-5A167245E890}"/>
              </a:ext>
            </a:extLst>
          </p:cNvPr>
          <p:cNvSpPr/>
          <p:nvPr/>
        </p:nvSpPr>
        <p:spPr>
          <a:xfrm>
            <a:off x="4583403" y="430781"/>
            <a:ext cx="1515308" cy="448699"/>
          </a:xfrm>
          <a:prstGeom prst="wedgeRoundRectCallout">
            <a:avLst>
              <a:gd name="adj1" fmla="val -48643"/>
              <a:gd name="adj2" fmla="val 138067"/>
              <a:gd name="adj3" fmla="val 16667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포털 소개 내용 확정 후 업데이트 예정</a:t>
            </a:r>
          </a:p>
        </p:txBody>
      </p:sp>
    </p:spTree>
    <p:extLst>
      <p:ext uri="{BB962C8B-B14F-4D97-AF65-F5344CB8AC3E}">
        <p14:creationId xmlns:p14="http://schemas.microsoft.com/office/powerpoint/2010/main" val="271839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그림 87">
            <a:extLst>
              <a:ext uri="{FF2B5EF4-FFF2-40B4-BE49-F238E27FC236}">
                <a16:creationId xmlns:a16="http://schemas.microsoft.com/office/drawing/2014/main" id="{9026EC95-E5E4-4CAB-8059-1B9555682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915" y="3700804"/>
            <a:ext cx="90269" cy="1134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A14CB7B-8D6F-43D9-853B-371AB3BC2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915" y="1761620"/>
            <a:ext cx="90269" cy="1134000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이용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시작 페이지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가입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 및 동의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 및 동의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566049"/>
              </p:ext>
            </p:extLst>
          </p:nvPr>
        </p:nvGraphicFramePr>
        <p:xfrm>
          <a:off x="8469313" y="276225"/>
          <a:ext cx="1404000" cy="2623104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이용약관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이용약관 전문보기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팝업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이용약관 동의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체크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정보수집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제공 및 활용 동의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정보수집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제공 및 활용 동의 전문보기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팝업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정보수집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제공 및 활용 동의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체크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428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다음 단계로 이동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정보 입력 페이지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245427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디자인 및 문구 확정 후 변경 예정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이용약관 및 활용동의 전문 확정 후 반영 예정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ewpsp_scr_003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6" name="타원형 설명선 225"/>
          <p:cNvSpPr/>
          <p:nvPr/>
        </p:nvSpPr>
        <p:spPr>
          <a:xfrm>
            <a:off x="3035830" y="5172349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6237089" y="337926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7" name="타원형 설명선 246"/>
          <p:cNvSpPr/>
          <p:nvPr/>
        </p:nvSpPr>
        <p:spPr>
          <a:xfrm>
            <a:off x="6237089" y="144242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" name="타원형 설명선 265"/>
          <p:cNvSpPr/>
          <p:nvPr/>
        </p:nvSpPr>
        <p:spPr>
          <a:xfrm>
            <a:off x="616142" y="333960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99166D1-9A1B-4AB1-92D1-E1A827A965D2}"/>
              </a:ext>
            </a:extLst>
          </p:cNvPr>
          <p:cNvCxnSpPr/>
          <p:nvPr/>
        </p:nvCxnSpPr>
        <p:spPr>
          <a:xfrm>
            <a:off x="606245" y="980728"/>
            <a:ext cx="722707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41319DB-F596-4B53-B2D4-630ECFE1571C}"/>
              </a:ext>
            </a:extLst>
          </p:cNvPr>
          <p:cNvCxnSpPr/>
          <p:nvPr/>
        </p:nvCxnSpPr>
        <p:spPr>
          <a:xfrm>
            <a:off x="606244" y="948924"/>
            <a:ext cx="2880000" cy="0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B058A8-3775-45DA-A9F4-37F4CB6D6AC8}"/>
              </a:ext>
            </a:extLst>
          </p:cNvPr>
          <p:cNvSpPr txBox="1"/>
          <p:nvPr/>
        </p:nvSpPr>
        <p:spPr>
          <a:xfrm>
            <a:off x="550587" y="620688"/>
            <a:ext cx="2978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한국 동서발전 서비스 포털 가입</a:t>
            </a: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637489" y="1417501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97A7BF9-6C8D-411D-9A20-B17D033E8638}"/>
              </a:ext>
            </a:extLst>
          </p:cNvPr>
          <p:cNvSpPr/>
          <p:nvPr/>
        </p:nvSpPr>
        <p:spPr>
          <a:xfrm>
            <a:off x="793825" y="1185701"/>
            <a:ext cx="50232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한국 동서발전 서비스 포털 이용약관 및 정보이용 안내에 대한 동의를 해주세요</a:t>
            </a:r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5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7CEACE1-CCB2-4BA6-8256-ECC4C89E968F}"/>
              </a:ext>
            </a:extLst>
          </p:cNvPr>
          <p:cNvGrpSpPr/>
          <p:nvPr/>
        </p:nvGrpSpPr>
        <p:grpSpPr>
          <a:xfrm>
            <a:off x="920552" y="1484784"/>
            <a:ext cx="6048672" cy="1670992"/>
            <a:chOff x="920552" y="1484784"/>
            <a:chExt cx="6048672" cy="1670992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84B4092-3768-4BDB-8CA4-410E983BD00F}"/>
                </a:ext>
              </a:extLst>
            </p:cNvPr>
            <p:cNvSpPr/>
            <p:nvPr/>
          </p:nvSpPr>
          <p:spPr>
            <a:xfrm>
              <a:off x="920552" y="1484784"/>
              <a:ext cx="5976664" cy="253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한국 동서발전 서비스 포털 이용약관</a:t>
              </a:r>
              <a:endParaRPr lang="en-US" altLang="ko-KR" sz="7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2F4FCE6D-967E-432A-98EF-AC703CCAE25D}"/>
                </a:ext>
              </a:extLst>
            </p:cNvPr>
            <p:cNvSpPr/>
            <p:nvPr/>
          </p:nvSpPr>
          <p:spPr>
            <a:xfrm>
              <a:off x="1038132" y="1780918"/>
              <a:ext cx="1008112" cy="10409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목적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...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  <a:p>
              <a:pPr>
                <a:lnSpc>
                  <a:spcPct val="150000"/>
                </a:lnSpc>
              </a:pPr>
              <a:endPara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용어의 정의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7736110-361D-4A65-A205-C44EAB1F23AA}"/>
                </a:ext>
              </a:extLst>
            </p:cNvPr>
            <p:cNvSpPr txBox="1"/>
            <p:nvPr/>
          </p:nvSpPr>
          <p:spPr>
            <a:xfrm>
              <a:off x="6545215" y="1633501"/>
              <a:ext cx="360340" cy="92333"/>
            </a:xfrm>
            <a:prstGeom prst="rect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6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전문보기</a:t>
              </a: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7E6643A2-D238-497C-8C92-73A6E910B4E0}"/>
                </a:ext>
              </a:extLst>
            </p:cNvPr>
            <p:cNvGrpSpPr/>
            <p:nvPr/>
          </p:nvGrpSpPr>
          <p:grpSpPr>
            <a:xfrm>
              <a:off x="5968669" y="2940058"/>
              <a:ext cx="216000" cy="215444"/>
              <a:chOff x="5900481" y="2979446"/>
              <a:chExt cx="216000" cy="215444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F4F868-E9A7-4A2A-97D8-56E5F48D09A0}"/>
                  </a:ext>
                </a:extLst>
              </p:cNvPr>
              <p:cNvSpPr txBox="1"/>
              <p:nvPr/>
            </p:nvSpPr>
            <p:spPr>
              <a:xfrm>
                <a:off x="5900481" y="2979446"/>
                <a:ext cx="21600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endPara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2D568E02-E02C-4863-89D7-7C72100C4FD4}"/>
                  </a:ext>
                </a:extLst>
              </p:cNvPr>
              <p:cNvSpPr/>
              <p:nvPr/>
            </p:nvSpPr>
            <p:spPr>
              <a:xfrm>
                <a:off x="5969595" y="3014960"/>
                <a:ext cx="108000" cy="108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334D9E2-ED0F-45DD-A956-B2474E21C157}"/>
                </a:ext>
              </a:extLst>
            </p:cNvPr>
            <p:cNvSpPr txBox="1"/>
            <p:nvPr/>
          </p:nvSpPr>
          <p:spPr>
            <a:xfrm>
              <a:off x="6105128" y="2924944"/>
              <a:ext cx="86409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동의합니다</a:t>
              </a:r>
              <a:r>
                <a:rPr lang="en-US" altLang="ko-KR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.</a:t>
              </a:r>
              <a:endPara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A728CC0A-D1ED-4387-A75E-C4D5CE867DB6}"/>
                </a:ext>
              </a:extLst>
            </p:cNvPr>
            <p:cNvSpPr/>
            <p:nvPr/>
          </p:nvSpPr>
          <p:spPr>
            <a:xfrm>
              <a:off x="956015" y="1761506"/>
              <a:ext cx="5976664" cy="1132683"/>
            </a:xfrm>
            <a:prstGeom prst="rect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92CB7056-9975-4CFB-AA1F-8CB1157B54DA}"/>
              </a:ext>
            </a:extLst>
          </p:cNvPr>
          <p:cNvGrpSpPr/>
          <p:nvPr/>
        </p:nvGrpSpPr>
        <p:grpSpPr>
          <a:xfrm>
            <a:off x="920552" y="3428999"/>
            <a:ext cx="6048672" cy="1670992"/>
            <a:chOff x="920552" y="1484784"/>
            <a:chExt cx="6048672" cy="1670992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CEDEF240-64DF-4297-A37A-A3F8736B9898}"/>
                </a:ext>
              </a:extLst>
            </p:cNvPr>
            <p:cNvSpPr/>
            <p:nvPr/>
          </p:nvSpPr>
          <p:spPr>
            <a:xfrm>
              <a:off x="956015" y="1761506"/>
              <a:ext cx="5976664" cy="1132683"/>
            </a:xfrm>
            <a:prstGeom prst="rect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A5538D44-2F9F-4E80-81A2-E2CEBAD7FCB2}"/>
                </a:ext>
              </a:extLst>
            </p:cNvPr>
            <p:cNvSpPr/>
            <p:nvPr/>
          </p:nvSpPr>
          <p:spPr>
            <a:xfrm>
              <a:off x="920552" y="1484784"/>
              <a:ext cx="5976664" cy="253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 수집</a:t>
              </a:r>
              <a:r>
                <a:rPr lang="en-US" altLang="ko-KR" sz="8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b="1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제공 및 활용 동의</a:t>
              </a:r>
              <a:endParaRPr lang="en-US" altLang="ko-KR" sz="7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C2B1F7EF-CFF1-4AC4-8E23-9F2D22C55222}"/>
                </a:ext>
              </a:extLst>
            </p:cNvPr>
            <p:cNvSpPr/>
            <p:nvPr/>
          </p:nvSpPr>
          <p:spPr>
            <a:xfrm>
              <a:off x="1038132" y="1780918"/>
              <a:ext cx="1466596" cy="10409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수집하는 정보 항목</a:t>
              </a:r>
              <a:endPara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...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FFE1E7E-713A-4437-8E95-E960DE9FE3E1}"/>
                </a:ext>
              </a:extLst>
            </p:cNvPr>
            <p:cNvSpPr txBox="1"/>
            <p:nvPr/>
          </p:nvSpPr>
          <p:spPr>
            <a:xfrm>
              <a:off x="6545215" y="1633501"/>
              <a:ext cx="360340" cy="92333"/>
            </a:xfrm>
            <a:prstGeom prst="rect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</a:ln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6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전문보기</a:t>
              </a:r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1C588D97-E1C5-4BA8-9D1D-A25CF8C55CE3}"/>
                </a:ext>
              </a:extLst>
            </p:cNvPr>
            <p:cNvGrpSpPr/>
            <p:nvPr/>
          </p:nvGrpSpPr>
          <p:grpSpPr>
            <a:xfrm>
              <a:off x="5968669" y="2940058"/>
              <a:ext cx="216000" cy="215444"/>
              <a:chOff x="5900481" y="2979446"/>
              <a:chExt cx="216000" cy="215444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57BC539-B7E2-4ED5-9B6F-154216B155FC}"/>
                  </a:ext>
                </a:extLst>
              </p:cNvPr>
              <p:cNvSpPr txBox="1"/>
              <p:nvPr/>
            </p:nvSpPr>
            <p:spPr>
              <a:xfrm>
                <a:off x="5900481" y="2979446"/>
                <a:ext cx="21600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endPara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4F07EE42-F116-4E3D-85D8-6711737EB763}"/>
                  </a:ext>
                </a:extLst>
              </p:cNvPr>
              <p:cNvSpPr/>
              <p:nvPr/>
            </p:nvSpPr>
            <p:spPr>
              <a:xfrm>
                <a:off x="5969595" y="3014960"/>
                <a:ext cx="108000" cy="108000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627A9B-F5FB-41FC-BB09-45B2914D99C9}"/>
                </a:ext>
              </a:extLst>
            </p:cNvPr>
            <p:cNvSpPr txBox="1"/>
            <p:nvPr/>
          </p:nvSpPr>
          <p:spPr>
            <a:xfrm>
              <a:off x="6105128" y="2924944"/>
              <a:ext cx="86409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동의합니다</a:t>
              </a:r>
              <a:r>
                <a:rPr lang="en-US" altLang="ko-KR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.</a:t>
              </a:r>
              <a:endPara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345A7FE9-9077-4BF5-879B-9E2EEFF21365}"/>
              </a:ext>
            </a:extLst>
          </p:cNvPr>
          <p:cNvSpPr txBox="1"/>
          <p:nvPr/>
        </p:nvSpPr>
        <p:spPr>
          <a:xfrm>
            <a:off x="3338306" y="5353626"/>
            <a:ext cx="963897" cy="31680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다음단계</a:t>
            </a:r>
            <a:endParaRPr lang="ko-KR" altLang="en-US" sz="11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5704317" y="475062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8" name="타원형 설명선 247"/>
          <p:cNvSpPr/>
          <p:nvPr/>
        </p:nvSpPr>
        <p:spPr>
          <a:xfrm>
            <a:off x="5720046" y="279548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말풍선: 모서리가 둥근 사각형 89">
            <a:extLst>
              <a:ext uri="{FF2B5EF4-FFF2-40B4-BE49-F238E27FC236}">
                <a16:creationId xmlns:a16="http://schemas.microsoft.com/office/drawing/2014/main" id="{A922D065-E5D3-4606-84FB-9EB44FFF6837}"/>
              </a:ext>
            </a:extLst>
          </p:cNvPr>
          <p:cNvSpPr/>
          <p:nvPr/>
        </p:nvSpPr>
        <p:spPr>
          <a:xfrm>
            <a:off x="4583403" y="430781"/>
            <a:ext cx="1515308" cy="448699"/>
          </a:xfrm>
          <a:prstGeom prst="wedgeRoundRectCallout">
            <a:avLst>
              <a:gd name="adj1" fmla="val -48643"/>
              <a:gd name="adj2" fmla="val 138067"/>
              <a:gd name="adj3" fmla="val 16667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 및 동의 내용 확정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 업데이트 예정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64089-9A0D-4DBE-83BB-8DA675B5AFE5}"/>
              </a:ext>
            </a:extLst>
          </p:cNvPr>
          <p:cNvSpPr txBox="1"/>
          <p:nvPr/>
        </p:nvSpPr>
        <p:spPr>
          <a:xfrm>
            <a:off x="449981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2F39AFB-83B1-45F1-8984-6115B32DD3D2}"/>
              </a:ext>
            </a:extLst>
          </p:cNvPr>
          <p:cNvSpPr/>
          <p:nvPr/>
        </p:nvSpPr>
        <p:spPr>
          <a:xfrm>
            <a:off x="4531730" y="1776647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FCA1FB2-AD49-4BE2-84E7-0ED4A344FBCF}"/>
              </a:ext>
            </a:extLst>
          </p:cNvPr>
          <p:cNvSpPr/>
          <p:nvPr/>
        </p:nvSpPr>
        <p:spPr>
          <a:xfrm>
            <a:off x="5610498" y="1776647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D904D3F0-B98D-47E7-8BAC-F0CFF7E508B1}"/>
              </a:ext>
            </a:extLst>
          </p:cNvPr>
          <p:cNvSpPr/>
          <p:nvPr/>
        </p:nvSpPr>
        <p:spPr>
          <a:xfrm>
            <a:off x="4400101" y="1865074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54D10CF7-CC80-4BCF-A350-6276303768D6}"/>
              </a:ext>
            </a:extLst>
          </p:cNvPr>
          <p:cNvSpPr/>
          <p:nvPr/>
        </p:nvSpPr>
        <p:spPr>
          <a:xfrm>
            <a:off x="5466574" y="1865074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3686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>
            <a:extLst>
              <a:ext uri="{FF2B5EF4-FFF2-40B4-BE49-F238E27FC236}">
                <a16:creationId xmlns:a16="http://schemas.microsoft.com/office/drawing/2014/main" id="{B46A70FD-0EC8-46A7-94E5-75FBE9CC803F}"/>
              </a:ext>
            </a:extLst>
          </p:cNvPr>
          <p:cNvSpPr/>
          <p:nvPr/>
        </p:nvSpPr>
        <p:spPr>
          <a:xfrm>
            <a:off x="4352873" y="1988840"/>
            <a:ext cx="1250412" cy="388843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이용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시작 페이지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가입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정보입력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가입 정보 입력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570731"/>
              </p:ext>
            </p:extLst>
          </p:nvPr>
        </p:nvGraphicFramePr>
        <p:xfrm>
          <a:off x="8469313" y="276225"/>
          <a:ext cx="1404000" cy="2164416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가입 정보 입력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서비스 가입이 필요한 정보 수집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아이디 중복확인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중복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ID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여부 확인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가입 완료 처리 후 서비스시작 페이지로 이동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서비스 가입 시 필요한 수집 정보 확인 후 업데이트 예정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가입 시에 추가 인증이 필요한지 여부 확인 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ewpsp_scr_004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6" name="타원형 설명선 225"/>
          <p:cNvSpPr/>
          <p:nvPr/>
        </p:nvSpPr>
        <p:spPr>
          <a:xfrm>
            <a:off x="3355696" y="5978186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99166D1-9A1B-4AB1-92D1-E1A827A965D2}"/>
              </a:ext>
            </a:extLst>
          </p:cNvPr>
          <p:cNvCxnSpPr/>
          <p:nvPr/>
        </p:nvCxnSpPr>
        <p:spPr>
          <a:xfrm>
            <a:off x="606245" y="980728"/>
            <a:ext cx="722707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41319DB-F596-4B53-B2D4-630ECFE1571C}"/>
              </a:ext>
            </a:extLst>
          </p:cNvPr>
          <p:cNvCxnSpPr/>
          <p:nvPr/>
        </p:nvCxnSpPr>
        <p:spPr>
          <a:xfrm>
            <a:off x="606244" y="948924"/>
            <a:ext cx="2880000" cy="0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B058A8-3775-45DA-A9F4-37F4CB6D6AC8}"/>
              </a:ext>
            </a:extLst>
          </p:cNvPr>
          <p:cNvSpPr txBox="1"/>
          <p:nvPr/>
        </p:nvSpPr>
        <p:spPr>
          <a:xfrm>
            <a:off x="550587" y="620688"/>
            <a:ext cx="2978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한국 동서발전 서비스 포털 가입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97A7BF9-6C8D-411D-9A20-B17D033E8638}"/>
              </a:ext>
            </a:extLst>
          </p:cNvPr>
          <p:cNvSpPr/>
          <p:nvPr/>
        </p:nvSpPr>
        <p:spPr>
          <a:xfrm>
            <a:off x="793825" y="1185701"/>
            <a:ext cx="50232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정보를 입력해 주세요</a:t>
            </a:r>
            <a:r>
              <a:rPr lang="en-US" altLang="ko-KR" sz="105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5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45A7FE9-9077-4BF5-879B-9E2EEFF21365}"/>
              </a:ext>
            </a:extLst>
          </p:cNvPr>
          <p:cNvSpPr txBox="1"/>
          <p:nvPr/>
        </p:nvSpPr>
        <p:spPr>
          <a:xfrm>
            <a:off x="3658172" y="6159463"/>
            <a:ext cx="963897" cy="31680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9E0736-F174-42B2-A7DB-77FBE78D3E48}"/>
              </a:ext>
            </a:extLst>
          </p:cNvPr>
          <p:cNvSpPr/>
          <p:nvPr/>
        </p:nvSpPr>
        <p:spPr>
          <a:xfrm>
            <a:off x="606244" y="1628800"/>
            <a:ext cx="1250412" cy="42484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4E942EA-9A7D-46F4-9B1A-7C82CF995173}"/>
              </a:ext>
            </a:extLst>
          </p:cNvPr>
          <p:cNvCxnSpPr/>
          <p:nvPr/>
        </p:nvCxnSpPr>
        <p:spPr>
          <a:xfrm>
            <a:off x="606245" y="1628800"/>
            <a:ext cx="72270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D7E8FCB4-E719-444B-873F-5603ECD077EE}"/>
              </a:ext>
            </a:extLst>
          </p:cNvPr>
          <p:cNvCxnSpPr/>
          <p:nvPr/>
        </p:nvCxnSpPr>
        <p:spPr>
          <a:xfrm>
            <a:off x="606244" y="5877379"/>
            <a:ext cx="722707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8F6511C5-037B-4F5D-B56F-FBF90CC6D314}"/>
              </a:ext>
            </a:extLst>
          </p:cNvPr>
          <p:cNvGrpSpPr/>
          <p:nvPr/>
        </p:nvGrpSpPr>
        <p:grpSpPr>
          <a:xfrm>
            <a:off x="606244" y="1690453"/>
            <a:ext cx="7227075" cy="298387"/>
            <a:chOff x="606244" y="1690453"/>
            <a:chExt cx="7227075" cy="298387"/>
          </a:xfrm>
        </p:grpSpPr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A5280FED-DB2D-4045-8F2D-1EF1C554BEC4}"/>
                </a:ext>
              </a:extLst>
            </p:cNvPr>
            <p:cNvCxnSpPr/>
            <p:nvPr/>
          </p:nvCxnSpPr>
          <p:spPr>
            <a:xfrm>
              <a:off x="606244" y="1988840"/>
              <a:ext cx="7227075" cy="0"/>
            </a:xfrm>
            <a:prstGeom prst="line">
              <a:avLst/>
            </a:prstGeom>
            <a:ln w="0"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DAC5599-800D-42C6-9DF4-C6DCCDDE290A}"/>
                </a:ext>
              </a:extLst>
            </p:cNvPr>
            <p:cNvSpPr txBox="1"/>
            <p:nvPr/>
          </p:nvSpPr>
          <p:spPr>
            <a:xfrm>
              <a:off x="657140" y="1706356"/>
              <a:ext cx="79094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 </a:t>
              </a: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아이디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C6FEF2-0051-444C-8F68-2BD8E16D26C3}"/>
                </a:ext>
              </a:extLst>
            </p:cNvPr>
            <p:cNvSpPr/>
            <p:nvPr/>
          </p:nvSpPr>
          <p:spPr>
            <a:xfrm>
              <a:off x="1928664" y="1690453"/>
              <a:ext cx="2171638" cy="234000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말풍선: 모서리가 둥근 사각형 22">
            <a:extLst>
              <a:ext uri="{FF2B5EF4-FFF2-40B4-BE49-F238E27FC236}">
                <a16:creationId xmlns:a16="http://schemas.microsoft.com/office/drawing/2014/main" id="{3DD03724-FC86-487F-BAB2-78D7EB776D39}"/>
              </a:ext>
            </a:extLst>
          </p:cNvPr>
          <p:cNvSpPr/>
          <p:nvPr/>
        </p:nvSpPr>
        <p:spPr>
          <a:xfrm>
            <a:off x="4583403" y="430781"/>
            <a:ext cx="1515308" cy="448699"/>
          </a:xfrm>
          <a:prstGeom prst="wedgeRoundRectCallout">
            <a:avLst>
              <a:gd name="adj1" fmla="val -48643"/>
              <a:gd name="adj2" fmla="val 138067"/>
              <a:gd name="adj3" fmla="val 16667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 입력정보 확정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 업데이트 예정</a:t>
            </a: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296553" y="1439617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72300C0-F260-46FD-9B66-B683FC932471}"/>
              </a:ext>
            </a:extLst>
          </p:cNvPr>
          <p:cNvGrpSpPr/>
          <p:nvPr/>
        </p:nvGrpSpPr>
        <p:grpSpPr>
          <a:xfrm>
            <a:off x="602201" y="2088824"/>
            <a:ext cx="7227075" cy="298387"/>
            <a:chOff x="602201" y="2088824"/>
            <a:chExt cx="7227075" cy="298387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B414CAAA-7C36-442A-A721-123442A81E75}"/>
                </a:ext>
              </a:extLst>
            </p:cNvPr>
            <p:cNvCxnSpPr/>
            <p:nvPr/>
          </p:nvCxnSpPr>
          <p:spPr>
            <a:xfrm>
              <a:off x="602201" y="2387211"/>
              <a:ext cx="7227075" cy="0"/>
            </a:xfrm>
            <a:prstGeom prst="line">
              <a:avLst/>
            </a:prstGeom>
            <a:ln w="0"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B71C03D-4E37-4C3F-902D-755B6CC2B0FE}"/>
                </a:ext>
              </a:extLst>
            </p:cNvPr>
            <p:cNvSpPr txBox="1"/>
            <p:nvPr/>
          </p:nvSpPr>
          <p:spPr>
            <a:xfrm>
              <a:off x="653097" y="2104727"/>
              <a:ext cx="77151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en-US" altLang="ko-KR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비밀번호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905D478F-7903-48DB-8747-94E17545D252}"/>
                </a:ext>
              </a:extLst>
            </p:cNvPr>
            <p:cNvSpPr/>
            <p:nvPr/>
          </p:nvSpPr>
          <p:spPr>
            <a:xfrm>
              <a:off x="1924620" y="2088824"/>
              <a:ext cx="2181681" cy="234000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5E06DCA-52F5-4ECF-B391-638207EFBAFD}"/>
                </a:ext>
              </a:extLst>
            </p:cNvPr>
            <p:cNvSpPr txBox="1"/>
            <p:nvPr/>
          </p:nvSpPr>
          <p:spPr>
            <a:xfrm>
              <a:off x="4407812" y="2104727"/>
              <a:ext cx="103784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비밀번호 확인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7B81768F-7165-4EE3-9E31-294DDF33104B}"/>
                </a:ext>
              </a:extLst>
            </p:cNvPr>
            <p:cNvSpPr/>
            <p:nvPr/>
          </p:nvSpPr>
          <p:spPr>
            <a:xfrm>
              <a:off x="5682287" y="2099355"/>
              <a:ext cx="2002974" cy="234000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9615558-0073-424B-9E95-1E9DB7A6A232}"/>
              </a:ext>
            </a:extLst>
          </p:cNvPr>
          <p:cNvGrpSpPr/>
          <p:nvPr/>
        </p:nvGrpSpPr>
        <p:grpSpPr>
          <a:xfrm>
            <a:off x="602201" y="2488018"/>
            <a:ext cx="7227075" cy="298387"/>
            <a:chOff x="602201" y="2088824"/>
            <a:chExt cx="7227075" cy="298387"/>
          </a:xfrm>
        </p:grpSpPr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883F1609-9902-4AA8-8F12-93F20D2CB44B}"/>
                </a:ext>
              </a:extLst>
            </p:cNvPr>
            <p:cNvCxnSpPr/>
            <p:nvPr/>
          </p:nvCxnSpPr>
          <p:spPr>
            <a:xfrm>
              <a:off x="602201" y="2387211"/>
              <a:ext cx="7227075" cy="0"/>
            </a:xfrm>
            <a:prstGeom prst="line">
              <a:avLst/>
            </a:prstGeom>
            <a:ln w="0"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91AAEF3-15ED-445E-A352-C485CB5B55B9}"/>
                </a:ext>
              </a:extLst>
            </p:cNvPr>
            <p:cNvSpPr txBox="1"/>
            <p:nvPr/>
          </p:nvSpPr>
          <p:spPr>
            <a:xfrm>
              <a:off x="653097" y="2104727"/>
              <a:ext cx="8337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en-US" altLang="ko-KR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 명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D41986B5-5C50-41E0-A41F-EA0663A6057C}"/>
                </a:ext>
              </a:extLst>
            </p:cNvPr>
            <p:cNvSpPr/>
            <p:nvPr/>
          </p:nvSpPr>
          <p:spPr>
            <a:xfrm>
              <a:off x="1924620" y="2088824"/>
              <a:ext cx="2181681" cy="234000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811DC65-1C4A-4DB3-BAE0-2490C25DAC01}"/>
                </a:ext>
              </a:extLst>
            </p:cNvPr>
            <p:cNvSpPr txBox="1"/>
            <p:nvPr/>
          </p:nvSpPr>
          <p:spPr>
            <a:xfrm>
              <a:off x="4407812" y="2104727"/>
              <a:ext cx="103784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 유형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7BA08D12-959B-45B9-A6D2-1CF894AF93B9}"/>
                </a:ext>
              </a:extLst>
            </p:cNvPr>
            <p:cNvSpPr/>
            <p:nvPr/>
          </p:nvSpPr>
          <p:spPr>
            <a:xfrm>
              <a:off x="5682287" y="2099355"/>
              <a:ext cx="1768974" cy="234000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4A1CE5AE-C72C-4D4C-B2E1-F3532C01E258}"/>
              </a:ext>
            </a:extLst>
          </p:cNvPr>
          <p:cNvSpPr txBox="1"/>
          <p:nvPr/>
        </p:nvSpPr>
        <p:spPr>
          <a:xfrm>
            <a:off x="4172311" y="1691198"/>
            <a:ext cx="780690" cy="233255"/>
          </a:xfrm>
          <a:prstGeom prst="rect">
            <a:avLst/>
          </a:prstGeom>
          <a:solidFill>
            <a:srgbClr val="00B050"/>
          </a:solidFill>
          <a:ln w="635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중복확인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4B5F9886-B419-49CB-8B32-4DEB4284921A}"/>
              </a:ext>
            </a:extLst>
          </p:cNvPr>
          <p:cNvGrpSpPr/>
          <p:nvPr/>
        </p:nvGrpSpPr>
        <p:grpSpPr>
          <a:xfrm>
            <a:off x="7451261" y="2498549"/>
            <a:ext cx="234000" cy="234887"/>
            <a:chOff x="3872302" y="1689567"/>
            <a:chExt cx="234000" cy="234887"/>
          </a:xfrm>
        </p:grpSpPr>
        <p:sp>
          <p:nvSpPr>
            <p:cNvPr id="60" name="이등변 삼각형 59">
              <a:extLst>
                <a:ext uri="{FF2B5EF4-FFF2-40B4-BE49-F238E27FC236}">
                  <a16:creationId xmlns:a16="http://schemas.microsoft.com/office/drawing/2014/main" id="{57E3B70F-2659-4FF2-AD0F-1443D1BC433F}"/>
                </a:ext>
              </a:extLst>
            </p:cNvPr>
            <p:cNvSpPr/>
            <p:nvPr/>
          </p:nvSpPr>
          <p:spPr>
            <a:xfrm rot="10800000">
              <a:off x="3917302" y="1735454"/>
              <a:ext cx="144000" cy="14400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3AEE7EC0-9BC8-40A4-897A-833758A4E364}"/>
                </a:ext>
              </a:extLst>
            </p:cNvPr>
            <p:cNvSpPr/>
            <p:nvPr/>
          </p:nvSpPr>
          <p:spPr>
            <a:xfrm>
              <a:off x="3872302" y="1689567"/>
              <a:ext cx="234000" cy="234887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C30BF17-BD90-43A0-BDA5-BBF7E41D8FCC}"/>
              </a:ext>
            </a:extLst>
          </p:cNvPr>
          <p:cNvGrpSpPr/>
          <p:nvPr/>
        </p:nvGrpSpPr>
        <p:grpSpPr>
          <a:xfrm>
            <a:off x="602201" y="2898363"/>
            <a:ext cx="7227075" cy="298387"/>
            <a:chOff x="602201" y="2088824"/>
            <a:chExt cx="7227075" cy="298387"/>
          </a:xfrm>
        </p:grpSpPr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C6E032BE-4188-4C0F-BC36-5F9CA36B62F1}"/>
                </a:ext>
              </a:extLst>
            </p:cNvPr>
            <p:cNvCxnSpPr/>
            <p:nvPr/>
          </p:nvCxnSpPr>
          <p:spPr>
            <a:xfrm>
              <a:off x="602201" y="2387211"/>
              <a:ext cx="7227075" cy="0"/>
            </a:xfrm>
            <a:prstGeom prst="line">
              <a:avLst/>
            </a:prstGeom>
            <a:ln w="0"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6E2C186-C49F-4934-9F66-92BCF6C0A748}"/>
                </a:ext>
              </a:extLst>
            </p:cNvPr>
            <p:cNvSpPr txBox="1"/>
            <p:nvPr/>
          </p:nvSpPr>
          <p:spPr>
            <a:xfrm>
              <a:off x="653097" y="2104727"/>
              <a:ext cx="77151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en-US" altLang="ko-KR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지역</a:t>
              </a: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2FF78B2E-E34A-4848-A0BA-378462F9CBC6}"/>
                </a:ext>
              </a:extLst>
            </p:cNvPr>
            <p:cNvSpPr/>
            <p:nvPr/>
          </p:nvSpPr>
          <p:spPr>
            <a:xfrm>
              <a:off x="1924620" y="2088824"/>
              <a:ext cx="2181681" cy="234000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5646ECA-0B19-406C-9139-E076682891BC}"/>
                </a:ext>
              </a:extLst>
            </p:cNvPr>
            <p:cNvSpPr txBox="1"/>
            <p:nvPr/>
          </p:nvSpPr>
          <p:spPr>
            <a:xfrm>
              <a:off x="4407812" y="2104727"/>
              <a:ext cx="103784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연락처</a:t>
              </a: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29B44DED-402B-48D5-A4A4-A9EE1DB2091B}"/>
                </a:ext>
              </a:extLst>
            </p:cNvPr>
            <p:cNvSpPr/>
            <p:nvPr/>
          </p:nvSpPr>
          <p:spPr>
            <a:xfrm>
              <a:off x="5682287" y="2099355"/>
              <a:ext cx="2002974" cy="234000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0E197F7-B0AC-4E18-9457-9425EFC3277C}"/>
              </a:ext>
            </a:extLst>
          </p:cNvPr>
          <p:cNvGrpSpPr/>
          <p:nvPr/>
        </p:nvGrpSpPr>
        <p:grpSpPr>
          <a:xfrm>
            <a:off x="3866302" y="2899148"/>
            <a:ext cx="234000" cy="234887"/>
            <a:chOff x="3872302" y="1689567"/>
            <a:chExt cx="234000" cy="234887"/>
          </a:xfrm>
        </p:grpSpPr>
        <p:sp>
          <p:nvSpPr>
            <p:cNvPr id="70" name="이등변 삼각형 69">
              <a:extLst>
                <a:ext uri="{FF2B5EF4-FFF2-40B4-BE49-F238E27FC236}">
                  <a16:creationId xmlns:a16="http://schemas.microsoft.com/office/drawing/2014/main" id="{53B9E62B-ED29-44F0-926D-440D3835F8DD}"/>
                </a:ext>
              </a:extLst>
            </p:cNvPr>
            <p:cNvSpPr/>
            <p:nvPr/>
          </p:nvSpPr>
          <p:spPr>
            <a:xfrm rot="10800000">
              <a:off x="3917302" y="1735454"/>
              <a:ext cx="144000" cy="14400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D8BE7629-8887-49DB-BCC3-F3AD40D57A34}"/>
                </a:ext>
              </a:extLst>
            </p:cNvPr>
            <p:cNvSpPr/>
            <p:nvPr/>
          </p:nvSpPr>
          <p:spPr>
            <a:xfrm>
              <a:off x="3872302" y="1689567"/>
              <a:ext cx="234000" cy="234887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2" name="타원형 설명선 225">
            <a:extLst>
              <a:ext uri="{FF2B5EF4-FFF2-40B4-BE49-F238E27FC236}">
                <a16:creationId xmlns:a16="http://schemas.microsoft.com/office/drawing/2014/main" id="{F5809D1D-119D-4F9E-9402-7B512533BD53}"/>
              </a:ext>
            </a:extLst>
          </p:cNvPr>
          <p:cNvSpPr/>
          <p:nvPr/>
        </p:nvSpPr>
        <p:spPr>
          <a:xfrm>
            <a:off x="3884924" y="1518066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BF4DA4E5-4F20-48C1-8F41-C9422C5E8A85}"/>
              </a:ext>
            </a:extLst>
          </p:cNvPr>
          <p:cNvGrpSpPr/>
          <p:nvPr/>
        </p:nvGrpSpPr>
        <p:grpSpPr>
          <a:xfrm>
            <a:off x="602201" y="3305509"/>
            <a:ext cx="7227075" cy="298387"/>
            <a:chOff x="602201" y="2088824"/>
            <a:chExt cx="7227075" cy="298387"/>
          </a:xfrm>
        </p:grpSpPr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96DA8E73-BD39-4EC1-BEC4-95D7FDEF32B8}"/>
                </a:ext>
              </a:extLst>
            </p:cNvPr>
            <p:cNvCxnSpPr/>
            <p:nvPr/>
          </p:nvCxnSpPr>
          <p:spPr>
            <a:xfrm>
              <a:off x="602201" y="2387211"/>
              <a:ext cx="7227075" cy="0"/>
            </a:xfrm>
            <a:prstGeom prst="line">
              <a:avLst/>
            </a:prstGeom>
            <a:ln w="0"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D55F438-9AC9-49B3-B573-0348FFD4CFA5}"/>
                </a:ext>
              </a:extLst>
            </p:cNvPr>
            <p:cNvSpPr txBox="1"/>
            <p:nvPr/>
          </p:nvSpPr>
          <p:spPr>
            <a:xfrm>
              <a:off x="653097" y="2104727"/>
              <a:ext cx="77151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en-US" altLang="ko-KR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연락처</a:t>
              </a: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C707D7CC-16AB-463B-AEB6-2354B09CE6EA}"/>
                </a:ext>
              </a:extLst>
            </p:cNvPr>
            <p:cNvSpPr/>
            <p:nvPr/>
          </p:nvSpPr>
          <p:spPr>
            <a:xfrm>
              <a:off x="1924620" y="2088824"/>
              <a:ext cx="2181681" cy="234000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862B799-324C-4A03-9DDB-D1F7354DE880}"/>
                </a:ext>
              </a:extLst>
            </p:cNvPr>
            <p:cNvSpPr txBox="1"/>
            <p:nvPr/>
          </p:nvSpPr>
          <p:spPr>
            <a:xfrm>
              <a:off x="4407812" y="2104727"/>
              <a:ext cx="103784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이메일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C6E67651-72CF-4854-B5E8-5F308E5A112C}"/>
                </a:ext>
              </a:extLst>
            </p:cNvPr>
            <p:cNvSpPr/>
            <p:nvPr/>
          </p:nvSpPr>
          <p:spPr>
            <a:xfrm>
              <a:off x="5682287" y="2099355"/>
              <a:ext cx="2002974" cy="234000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3038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이용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시작 페이지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FAQ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075628"/>
              </p:ext>
            </p:extLst>
          </p:nvPr>
        </p:nvGraphicFramePr>
        <p:xfrm>
          <a:off x="8469313" y="276225"/>
          <a:ext cx="1404000" cy="3911808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FAQ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검색 입력 창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키워드로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FAQ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내용을 검색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질문 영역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FAQ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질문 표시 영역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영역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FAQ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답변 표시 영역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영역을 클릭하면 하단에 답변 영역이 확장되어 확인이 가능하도록 구성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이전화면으로 이동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클릭하면 서비스 시작 페이지로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게시판 편집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일반 사용자에게는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FAQ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게시판 처럼 보이나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super admin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으로 로그인 시에는 편집이 가능한 일반 게시판으로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편집 버튼을 클릭하면 화면 내에 추가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삭제 등의 편집 기능 활성화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FAQ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내용 확정 후에 업데이트 예정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ewpsp_scr_005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99166D1-9A1B-4AB1-92D1-E1A827A965D2}"/>
              </a:ext>
            </a:extLst>
          </p:cNvPr>
          <p:cNvCxnSpPr/>
          <p:nvPr/>
        </p:nvCxnSpPr>
        <p:spPr>
          <a:xfrm>
            <a:off x="606245" y="980728"/>
            <a:ext cx="722707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41319DB-F596-4B53-B2D4-630ECFE1571C}"/>
              </a:ext>
            </a:extLst>
          </p:cNvPr>
          <p:cNvCxnSpPr/>
          <p:nvPr/>
        </p:nvCxnSpPr>
        <p:spPr>
          <a:xfrm>
            <a:off x="606244" y="948924"/>
            <a:ext cx="2880000" cy="0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B058A8-3775-45DA-A9F4-37F4CB6D6AC8}"/>
              </a:ext>
            </a:extLst>
          </p:cNvPr>
          <p:cNvSpPr txBox="1"/>
          <p:nvPr/>
        </p:nvSpPr>
        <p:spPr>
          <a:xfrm>
            <a:off x="550587" y="620688"/>
            <a:ext cx="2978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자주하는 질문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B4D861-9803-41FA-88A5-A86F56B7F9AF}"/>
              </a:ext>
            </a:extLst>
          </p:cNvPr>
          <p:cNvSpPr txBox="1"/>
          <p:nvPr/>
        </p:nvSpPr>
        <p:spPr>
          <a:xfrm>
            <a:off x="3738950" y="6424561"/>
            <a:ext cx="963897" cy="31680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이전화면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9D891C3-FF7D-4DBA-A719-162EC8701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278" y="1142140"/>
            <a:ext cx="2574042" cy="376689"/>
          </a:xfrm>
          <a:prstGeom prst="rect">
            <a:avLst/>
          </a:prstGeom>
        </p:spPr>
      </p:pic>
      <p:sp>
        <p:nvSpPr>
          <p:cNvPr id="34" name="타원형 설명선 225">
            <a:extLst>
              <a:ext uri="{FF2B5EF4-FFF2-40B4-BE49-F238E27FC236}">
                <a16:creationId xmlns:a16="http://schemas.microsoft.com/office/drawing/2014/main" id="{7E378D81-2F87-43D9-A488-5B5839C4F91C}"/>
              </a:ext>
            </a:extLst>
          </p:cNvPr>
          <p:cNvSpPr/>
          <p:nvPr/>
        </p:nvSpPr>
        <p:spPr>
          <a:xfrm>
            <a:off x="5043278" y="1078493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4552E50-8556-4B84-80E9-2D9CF0F5AF10}"/>
              </a:ext>
            </a:extLst>
          </p:cNvPr>
          <p:cNvCxnSpPr/>
          <p:nvPr/>
        </p:nvCxnSpPr>
        <p:spPr>
          <a:xfrm>
            <a:off x="606244" y="1988840"/>
            <a:ext cx="7227075" cy="0"/>
          </a:xfrm>
          <a:prstGeom prst="line">
            <a:avLst/>
          </a:prstGeom>
          <a:ln w="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2031A9B-29A9-47A4-B080-A024A50C2167}"/>
              </a:ext>
            </a:extLst>
          </p:cNvPr>
          <p:cNvSpPr txBox="1"/>
          <p:nvPr/>
        </p:nvSpPr>
        <p:spPr>
          <a:xfrm>
            <a:off x="920552" y="1628800"/>
            <a:ext cx="66247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첫번째 질문입니다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 descr="qì ëí ì´ë¯¸ì§ ê²ìê²°ê³¼">
            <a:extLst>
              <a:ext uri="{FF2B5EF4-FFF2-40B4-BE49-F238E27FC236}">
                <a16:creationId xmlns:a16="http://schemas.microsoft.com/office/drawing/2014/main" id="{E66FC904-CBA7-4524-A97D-95091360D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35" y="1601234"/>
            <a:ext cx="283096" cy="28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ì ëí ì´ë¯¸ì§ ê²ìê²°ê³¼">
            <a:extLst>
              <a:ext uri="{FF2B5EF4-FFF2-40B4-BE49-F238E27FC236}">
                <a16:creationId xmlns:a16="http://schemas.microsoft.com/office/drawing/2014/main" id="{8D3B7B82-DF3D-4F6E-8EE6-EC601FFF4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454" y="2097687"/>
            <a:ext cx="283096" cy="28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ì ëí ì´ë¯¸ì§ ê²ìê²°ê³¼">
            <a:extLst>
              <a:ext uri="{FF2B5EF4-FFF2-40B4-BE49-F238E27FC236}">
                <a16:creationId xmlns:a16="http://schemas.microsoft.com/office/drawing/2014/main" id="{31B817CA-57CC-41DC-ADF3-A06956B2A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531" y="351567"/>
            <a:ext cx="608855" cy="608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3CE03B6-1E16-4007-84C0-A30727BBE6CF}"/>
              </a:ext>
            </a:extLst>
          </p:cNvPr>
          <p:cNvCxnSpPr/>
          <p:nvPr/>
        </p:nvCxnSpPr>
        <p:spPr>
          <a:xfrm>
            <a:off x="606244" y="5345650"/>
            <a:ext cx="7227075" cy="0"/>
          </a:xfrm>
          <a:prstGeom prst="line">
            <a:avLst/>
          </a:prstGeom>
          <a:ln w="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7BEDB6B-6CD4-48A2-AFF2-76089D098702}"/>
              </a:ext>
            </a:extLst>
          </p:cNvPr>
          <p:cNvGrpSpPr/>
          <p:nvPr/>
        </p:nvGrpSpPr>
        <p:grpSpPr>
          <a:xfrm>
            <a:off x="704528" y="2062584"/>
            <a:ext cx="180000" cy="180000"/>
            <a:chOff x="-447600" y="1988840"/>
            <a:chExt cx="360040" cy="360040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ACFB8D-C771-4FFA-95B0-0856B49C0E98}"/>
                </a:ext>
              </a:extLst>
            </p:cNvPr>
            <p:cNvCxnSpPr>
              <a:cxnSpLocks/>
            </p:cNvCxnSpPr>
            <p:nvPr/>
          </p:nvCxnSpPr>
          <p:spPr>
            <a:xfrm>
              <a:off x="-447600" y="1988840"/>
              <a:ext cx="0" cy="3600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D0F166B-6444-411B-A8C7-8352339765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47600" y="2348880"/>
              <a:ext cx="3600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D2E4D258-1DD4-4B6B-96AE-72F50DA623C9}"/>
              </a:ext>
            </a:extLst>
          </p:cNvPr>
          <p:cNvSpPr txBox="1"/>
          <p:nvPr/>
        </p:nvSpPr>
        <p:spPr>
          <a:xfrm>
            <a:off x="1280592" y="2116814"/>
            <a:ext cx="62646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답변입니다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A94CC9-1AE1-4570-AE87-AB97D1E435D4}"/>
              </a:ext>
            </a:extLst>
          </p:cNvPr>
          <p:cNvSpPr/>
          <p:nvPr/>
        </p:nvSpPr>
        <p:spPr>
          <a:xfrm>
            <a:off x="1352600" y="2420888"/>
            <a:ext cx="6192688" cy="1245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765B70-490F-40EB-B260-09921C8B349C}"/>
              </a:ext>
            </a:extLst>
          </p:cNvPr>
          <p:cNvSpPr txBox="1"/>
          <p:nvPr/>
        </p:nvSpPr>
        <p:spPr>
          <a:xfrm>
            <a:off x="3316435" y="2904943"/>
            <a:ext cx="18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답변 이미지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759F362-AEF4-4679-91D9-FFCB2A041B57}"/>
              </a:ext>
            </a:extLst>
          </p:cNvPr>
          <p:cNvCxnSpPr/>
          <p:nvPr/>
        </p:nvCxnSpPr>
        <p:spPr>
          <a:xfrm>
            <a:off x="606244" y="5822228"/>
            <a:ext cx="7227075" cy="0"/>
          </a:xfrm>
          <a:prstGeom prst="line">
            <a:avLst/>
          </a:prstGeom>
          <a:ln w="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47E38EF-8542-4CD2-BBC6-97D685CB9F0B}"/>
              </a:ext>
            </a:extLst>
          </p:cNvPr>
          <p:cNvSpPr txBox="1"/>
          <p:nvPr/>
        </p:nvSpPr>
        <p:spPr>
          <a:xfrm>
            <a:off x="920552" y="5462188"/>
            <a:ext cx="66247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두번째 질문입니다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6" name="Picture 2" descr="qì ëí ì´ë¯¸ì§ ê²ìê²°ê³¼">
            <a:extLst>
              <a:ext uri="{FF2B5EF4-FFF2-40B4-BE49-F238E27FC236}">
                <a16:creationId xmlns:a16="http://schemas.microsoft.com/office/drawing/2014/main" id="{F3FC7EA6-246B-4241-9568-F399B9519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35" y="5434622"/>
            <a:ext cx="283096" cy="28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6AD9BE8-502E-4AEC-909D-884F41F50E81}"/>
              </a:ext>
            </a:extLst>
          </p:cNvPr>
          <p:cNvCxnSpPr/>
          <p:nvPr/>
        </p:nvCxnSpPr>
        <p:spPr>
          <a:xfrm>
            <a:off x="606244" y="6308127"/>
            <a:ext cx="7227075" cy="0"/>
          </a:xfrm>
          <a:prstGeom prst="line">
            <a:avLst/>
          </a:prstGeom>
          <a:ln w="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454FA01-6469-4B77-B603-A483C412F6C1}"/>
              </a:ext>
            </a:extLst>
          </p:cNvPr>
          <p:cNvSpPr txBox="1"/>
          <p:nvPr/>
        </p:nvSpPr>
        <p:spPr>
          <a:xfrm>
            <a:off x="920552" y="5949280"/>
            <a:ext cx="66247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세번째 질문입니다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9" name="Picture 2" descr="qì ëí ì´ë¯¸ì§ ê²ìê²°ê³¼">
            <a:extLst>
              <a:ext uri="{FF2B5EF4-FFF2-40B4-BE49-F238E27FC236}">
                <a16:creationId xmlns:a16="http://schemas.microsoft.com/office/drawing/2014/main" id="{11C9229B-ACB4-44EA-A7F9-C523CF339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35" y="5921714"/>
            <a:ext cx="283096" cy="28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E722AF0-824D-4FCE-93B1-B74FBB43C48F}"/>
              </a:ext>
            </a:extLst>
          </p:cNvPr>
          <p:cNvSpPr txBox="1"/>
          <p:nvPr/>
        </p:nvSpPr>
        <p:spPr>
          <a:xfrm>
            <a:off x="1280592" y="3691100"/>
            <a:ext cx="62646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 답변 내용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EAD1B79-5EF1-4540-B98B-7A2F01205586}"/>
              </a:ext>
            </a:extLst>
          </p:cNvPr>
          <p:cNvSpPr/>
          <p:nvPr/>
        </p:nvSpPr>
        <p:spPr>
          <a:xfrm>
            <a:off x="1352600" y="3995174"/>
            <a:ext cx="6192688" cy="1245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684279-0554-4437-A2D8-9C3EA969DDDE}"/>
              </a:ext>
            </a:extLst>
          </p:cNvPr>
          <p:cNvSpPr txBox="1"/>
          <p:nvPr/>
        </p:nvSpPr>
        <p:spPr>
          <a:xfrm>
            <a:off x="3332820" y="4376607"/>
            <a:ext cx="18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 이미지</a:t>
            </a:r>
          </a:p>
        </p:txBody>
      </p:sp>
      <p:sp>
        <p:nvSpPr>
          <p:cNvPr id="43" name="타원형 설명선 225">
            <a:extLst>
              <a:ext uri="{FF2B5EF4-FFF2-40B4-BE49-F238E27FC236}">
                <a16:creationId xmlns:a16="http://schemas.microsoft.com/office/drawing/2014/main" id="{48814C85-BFF5-4365-8321-4A4F960DE8E9}"/>
              </a:ext>
            </a:extLst>
          </p:cNvPr>
          <p:cNvSpPr/>
          <p:nvPr/>
        </p:nvSpPr>
        <p:spPr>
          <a:xfrm>
            <a:off x="278555" y="159884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타원형 설명선 225">
            <a:extLst>
              <a:ext uri="{FF2B5EF4-FFF2-40B4-BE49-F238E27FC236}">
                <a16:creationId xmlns:a16="http://schemas.microsoft.com/office/drawing/2014/main" id="{E9405DD0-A84F-4268-A04D-E58FBAC5340F}"/>
              </a:ext>
            </a:extLst>
          </p:cNvPr>
          <p:cNvSpPr/>
          <p:nvPr/>
        </p:nvSpPr>
        <p:spPr>
          <a:xfrm>
            <a:off x="806526" y="1918155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타원형 설명선 225">
            <a:extLst>
              <a:ext uri="{FF2B5EF4-FFF2-40B4-BE49-F238E27FC236}">
                <a16:creationId xmlns:a16="http://schemas.microsoft.com/office/drawing/2014/main" id="{D698B553-85DD-4F48-89EA-9EF0C8111950}"/>
              </a:ext>
            </a:extLst>
          </p:cNvPr>
          <p:cNvSpPr/>
          <p:nvPr/>
        </p:nvSpPr>
        <p:spPr>
          <a:xfrm>
            <a:off x="3421191" y="6308127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32" name="Picture 8" descr="editì ëí ì´ë¯¸ì§ ê²ìê²°ê³¼">
            <a:extLst>
              <a:ext uri="{FF2B5EF4-FFF2-40B4-BE49-F238E27FC236}">
                <a16:creationId xmlns:a16="http://schemas.microsoft.com/office/drawing/2014/main" id="{B8DB78C8-803F-463A-ABE3-28553C525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270" y="6338456"/>
            <a:ext cx="406526" cy="406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타원형 설명선 225">
            <a:extLst>
              <a:ext uri="{FF2B5EF4-FFF2-40B4-BE49-F238E27FC236}">
                <a16:creationId xmlns:a16="http://schemas.microsoft.com/office/drawing/2014/main" id="{9FE2BE0B-6668-46F8-8267-3862F38F6D2B}"/>
              </a:ext>
            </a:extLst>
          </p:cNvPr>
          <p:cNvSpPr/>
          <p:nvPr/>
        </p:nvSpPr>
        <p:spPr>
          <a:xfrm>
            <a:off x="7113264" y="6243656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9599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이용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시작 페이지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아이디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찾기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아이디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찾기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136722"/>
              </p:ext>
            </p:extLst>
          </p:nvPr>
        </p:nvGraphicFramePr>
        <p:xfrm>
          <a:off x="8469313" y="276225"/>
          <a:ext cx="1404000" cy="2257344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428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245427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아이디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비밀번호 찾기 정책 확정 후 업데이트 예정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이메일 인증 등을 사용할지의 여부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ewpsp_scr_006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99166D1-9A1B-4AB1-92D1-E1A827A965D2}"/>
              </a:ext>
            </a:extLst>
          </p:cNvPr>
          <p:cNvCxnSpPr/>
          <p:nvPr/>
        </p:nvCxnSpPr>
        <p:spPr>
          <a:xfrm>
            <a:off x="606245" y="980728"/>
            <a:ext cx="722707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41319DB-F596-4B53-B2D4-630ECFE1571C}"/>
              </a:ext>
            </a:extLst>
          </p:cNvPr>
          <p:cNvCxnSpPr/>
          <p:nvPr/>
        </p:nvCxnSpPr>
        <p:spPr>
          <a:xfrm>
            <a:off x="606244" y="948924"/>
            <a:ext cx="2880000" cy="0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B058A8-3775-45DA-A9F4-37F4CB6D6AC8}"/>
              </a:ext>
            </a:extLst>
          </p:cNvPr>
          <p:cNvSpPr txBox="1"/>
          <p:nvPr/>
        </p:nvSpPr>
        <p:spPr>
          <a:xfrm>
            <a:off x="550587" y="620688"/>
            <a:ext cx="2978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아이디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찾기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B4D861-9803-41FA-88A5-A86F56B7F9AF}"/>
              </a:ext>
            </a:extLst>
          </p:cNvPr>
          <p:cNvSpPr txBox="1"/>
          <p:nvPr/>
        </p:nvSpPr>
        <p:spPr>
          <a:xfrm>
            <a:off x="3738950" y="4907116"/>
            <a:ext cx="963897" cy="31680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이전화면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80051B1-9A7E-4AD5-A056-2B7CA8CEE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38" y="1346980"/>
            <a:ext cx="7193482" cy="193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11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0B3E754-84E0-4CF3-98A4-530A93C39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8" y="907915"/>
            <a:ext cx="8348258" cy="4249277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35987"/>
              </p:ext>
            </p:extLst>
          </p:nvPr>
        </p:nvGraphicFramePr>
        <p:xfrm>
          <a:off x="8469313" y="276225"/>
          <a:ext cx="1404000" cy="6303936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사이트 검색 창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권한에 따라 접근 가능한 사이트들로 범위 제한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데이터 기준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갱신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*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갱신 시간 협의 필요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000406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로그인 사용자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171527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사이트 메뉴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 선택된 사이트의 각 기능별 메뉴로 이동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서브 메뉴 다음페이지 참고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메인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Main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을 의미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82014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설정 페이지로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전국지도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지정된 시간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마다 지정된 지역 순서대로 활성화 변경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지역 선택할 경우 해당 지역 활성화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지도 內 지역을 더블클릭 하면 해당 지역 지도로 변경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다음 페이지 참고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87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지역 정보 표시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전국지도에서 활성화 되는 지역의 기본 정보를 표시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지역명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충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발전량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전국지도에서 활성화 지역이 변경될 때마다 해당 지역 정보로 갱신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657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8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전국 지도 보기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해당 버튼은 지역 지도 상태에서만 활성화되며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클릭하여 전국지도로 변경한다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812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9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로그 아웃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578948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ewpsp_scr_007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848544" y="79991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7297505" y="80838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" name="타원형 설명선 265"/>
          <p:cNvSpPr/>
          <p:nvPr/>
        </p:nvSpPr>
        <p:spPr>
          <a:xfrm>
            <a:off x="-108000" y="436510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3E78D5A-1457-4C4D-AB90-47D092820DCA}"/>
              </a:ext>
            </a:extLst>
          </p:cNvPr>
          <p:cNvSpPr/>
          <p:nvPr/>
        </p:nvSpPr>
        <p:spPr>
          <a:xfrm>
            <a:off x="3213159" y="1517258"/>
            <a:ext cx="2381537" cy="231075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DF6E872-B4ED-43F2-B433-48F9583AC965}"/>
              </a:ext>
            </a:extLst>
          </p:cNvPr>
          <p:cNvSpPr/>
          <p:nvPr/>
        </p:nvSpPr>
        <p:spPr>
          <a:xfrm>
            <a:off x="3213159" y="3861048"/>
            <a:ext cx="2381537" cy="8640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형 설명선 225">
            <a:extLst>
              <a:ext uri="{FF2B5EF4-FFF2-40B4-BE49-F238E27FC236}">
                <a16:creationId xmlns:a16="http://schemas.microsoft.com/office/drawing/2014/main" id="{30D4BFD7-E274-495D-BD10-6E77B6E8E5D0}"/>
              </a:ext>
            </a:extLst>
          </p:cNvPr>
          <p:cNvSpPr/>
          <p:nvPr/>
        </p:nvSpPr>
        <p:spPr>
          <a:xfrm>
            <a:off x="-176322" y="1212425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7" name="타원형 설명선 246"/>
          <p:cNvSpPr/>
          <p:nvPr/>
        </p:nvSpPr>
        <p:spPr>
          <a:xfrm>
            <a:off x="2950531" y="1320425"/>
            <a:ext cx="216000" cy="206364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타원형 설명선 246">
            <a:extLst>
              <a:ext uri="{FF2B5EF4-FFF2-40B4-BE49-F238E27FC236}">
                <a16:creationId xmlns:a16="http://schemas.microsoft.com/office/drawing/2014/main" id="{49E9ADAA-44B9-49FC-A546-CB35741D1182}"/>
              </a:ext>
            </a:extLst>
          </p:cNvPr>
          <p:cNvSpPr/>
          <p:nvPr/>
        </p:nvSpPr>
        <p:spPr>
          <a:xfrm>
            <a:off x="2901128" y="3724830"/>
            <a:ext cx="216000" cy="206364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5555411" y="855911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48AE58A2-C9D4-4546-983E-8669A3A32E31}"/>
              </a:ext>
            </a:extLst>
          </p:cNvPr>
          <p:cNvSpPr/>
          <p:nvPr/>
        </p:nvSpPr>
        <p:spPr>
          <a:xfrm>
            <a:off x="69528" y="1270091"/>
            <a:ext cx="333613" cy="225259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5A09A540-2D11-4D2E-96A3-AA092013F806}"/>
              </a:ext>
            </a:extLst>
          </p:cNvPr>
          <p:cNvSpPr/>
          <p:nvPr/>
        </p:nvSpPr>
        <p:spPr>
          <a:xfrm>
            <a:off x="5110833" y="5178490"/>
            <a:ext cx="2722487" cy="871128"/>
          </a:xfrm>
          <a:prstGeom prst="wedgeRoundRectCallout">
            <a:avLst>
              <a:gd name="adj1" fmla="val 36504"/>
              <a:gd name="adj2" fmla="val -84030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사이트 관련 메뉴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좌측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 영역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선택을 위해 다음과 같은 방안 중 선택하여 처리되어야 함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default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첫번째 사이트 항목을 자동 선택</a:t>
            </a:r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리스트 내에 선택된 항목이 없을 경우 사이트 관련 메뉴들을 비활성화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4A9106-22CE-470D-9B96-7EFC964C113F}"/>
              </a:ext>
            </a:extLst>
          </p:cNvPr>
          <p:cNvSpPr/>
          <p:nvPr/>
        </p:nvSpPr>
        <p:spPr>
          <a:xfrm>
            <a:off x="4382802" y="1257556"/>
            <a:ext cx="504056" cy="259702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0998DEE-96FB-4A05-A20E-CA6A699A79B7}"/>
              </a:ext>
            </a:extLst>
          </p:cNvPr>
          <p:cNvSpPr/>
          <p:nvPr/>
        </p:nvSpPr>
        <p:spPr>
          <a:xfrm>
            <a:off x="5891228" y="1655366"/>
            <a:ext cx="2304256" cy="249303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번호  업체명  사용  </a:t>
            </a:r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충∙방전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발전 수익 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7D2716C-B6FF-4B4B-8B36-BB504539BFB0}"/>
              </a:ext>
            </a:extLst>
          </p:cNvPr>
          <p:cNvSpPr/>
          <p:nvPr/>
        </p:nvSpPr>
        <p:spPr>
          <a:xfrm>
            <a:off x="631231" y="2964653"/>
            <a:ext cx="2304256" cy="249303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   </a:t>
            </a:r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충∙방전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발전   수익 </a:t>
            </a:r>
          </a:p>
        </p:txBody>
      </p:sp>
      <p:sp>
        <p:nvSpPr>
          <p:cNvPr id="87" name="말풍선: 모서리가 둥근 사각형 86">
            <a:extLst>
              <a:ext uri="{FF2B5EF4-FFF2-40B4-BE49-F238E27FC236}">
                <a16:creationId xmlns:a16="http://schemas.microsoft.com/office/drawing/2014/main" id="{9847CD93-ED48-47AB-8401-4FACC2308F5B}"/>
              </a:ext>
            </a:extLst>
          </p:cNvPr>
          <p:cNvSpPr/>
          <p:nvPr/>
        </p:nvSpPr>
        <p:spPr>
          <a:xfrm>
            <a:off x="713205" y="4895407"/>
            <a:ext cx="2007548" cy="516590"/>
          </a:xfrm>
          <a:prstGeom prst="wedgeRoundRectCallout">
            <a:avLst>
              <a:gd name="adj1" fmla="val -28501"/>
              <a:gd name="adj2" fmla="val -106708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충∙방전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항목 선택 시에 충전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방전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충전 예상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방전 예상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가지 항목이 표시되어야 함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87F4CCC-7C49-4196-AE8C-330CD7EEA54D}"/>
              </a:ext>
            </a:extLst>
          </p:cNvPr>
          <p:cNvSpPr/>
          <p:nvPr/>
        </p:nvSpPr>
        <p:spPr>
          <a:xfrm>
            <a:off x="3217194" y="4152675"/>
            <a:ext cx="2338217" cy="500461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               발전량 </a:t>
            </a:r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충∙방전량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수익 </a:t>
            </a:r>
          </a:p>
        </p:txBody>
      </p:sp>
      <p:sp>
        <p:nvSpPr>
          <p:cNvPr id="90" name="말풍선: 모서리가 둥근 사각형 89">
            <a:extLst>
              <a:ext uri="{FF2B5EF4-FFF2-40B4-BE49-F238E27FC236}">
                <a16:creationId xmlns:a16="http://schemas.microsoft.com/office/drawing/2014/main" id="{A1CFFBFF-CA6C-4354-B054-8A7C1620D177}"/>
              </a:ext>
            </a:extLst>
          </p:cNvPr>
          <p:cNvSpPr/>
          <p:nvPr/>
        </p:nvSpPr>
        <p:spPr>
          <a:xfrm>
            <a:off x="3422697" y="493800"/>
            <a:ext cx="2007548" cy="516590"/>
          </a:xfrm>
          <a:prstGeom prst="wedgeRoundRectCallout">
            <a:avLst>
              <a:gd name="adj1" fmla="val 41284"/>
              <a:gd name="adj2" fmla="val 99529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전국지도 상태에서는 해당 버튼은 비활성화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혹은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hidden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처리 되어야 함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.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4968235" y="111744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174F0239-B93A-45DB-AA96-CCCA934890BC}"/>
              </a:ext>
            </a:extLst>
          </p:cNvPr>
          <p:cNvSpPr/>
          <p:nvPr/>
        </p:nvSpPr>
        <p:spPr>
          <a:xfrm>
            <a:off x="228526" y="5671389"/>
            <a:ext cx="3572346" cy="871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ko-KR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* </a:t>
            </a:r>
            <a:r>
              <a:rPr kumimoji="1" lang="ko-KR" altLang="en-US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사용량</a:t>
            </a:r>
            <a:r>
              <a:rPr kumimoji="1" lang="en-US" altLang="ko-KR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, </a:t>
            </a:r>
            <a:r>
              <a:rPr kumimoji="1" lang="ko-KR" altLang="en-US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충</a:t>
            </a:r>
            <a:r>
              <a:rPr kumimoji="1" lang="en-US" altLang="ko-KR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/</a:t>
            </a:r>
            <a:r>
              <a:rPr kumimoji="1" lang="ko-KR" altLang="en-US" sz="1100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방전량의</a:t>
            </a:r>
            <a:r>
              <a:rPr kumimoji="1" lang="ko-KR" altLang="en-US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 단위는 다음 기준으로 표시</a:t>
            </a:r>
            <a:endParaRPr kumimoji="1" lang="en-US" altLang="ko-KR" sz="1100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Gill Sans"/>
            </a:endParaRP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ko-KR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 - </a:t>
            </a:r>
            <a:r>
              <a:rPr kumimoji="1" lang="ko-KR" altLang="en-US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와트 기준 </a:t>
            </a:r>
            <a:r>
              <a:rPr kumimoji="1" lang="en-US" altLang="ko-KR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9</a:t>
            </a:r>
            <a:r>
              <a:rPr kumimoji="1" lang="ko-KR" altLang="en-US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자리 이상이면 </a:t>
            </a:r>
            <a:r>
              <a:rPr kumimoji="1" lang="en-US" altLang="ko-KR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MWh</a:t>
            </a:r>
            <a:r>
              <a:rPr kumimoji="1" lang="ko-KR" altLang="en-US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로 표시</a:t>
            </a:r>
            <a:endParaRPr kumimoji="1" lang="en-US" altLang="ko-KR" sz="1100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Gill Sans"/>
            </a:endParaRP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ko-KR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 - </a:t>
            </a:r>
            <a:r>
              <a:rPr kumimoji="1" lang="ko-KR" altLang="en-US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와트 기준 </a:t>
            </a:r>
            <a:r>
              <a:rPr kumimoji="1" lang="en-US" altLang="ko-KR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6</a:t>
            </a:r>
            <a:r>
              <a:rPr kumimoji="1" lang="ko-KR" altLang="en-US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자리 이상이면 </a:t>
            </a:r>
            <a:r>
              <a:rPr kumimoji="1" lang="en-US" altLang="ko-KR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kWh</a:t>
            </a:r>
            <a:r>
              <a:rPr kumimoji="1" lang="ko-KR" altLang="en-US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로 표시</a:t>
            </a:r>
            <a:endParaRPr kumimoji="1" lang="en-US" altLang="ko-KR" sz="1100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Gill Sans"/>
            </a:endParaRP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ko-KR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 - </a:t>
            </a:r>
            <a:r>
              <a:rPr kumimoji="1" lang="ko-KR" altLang="en-US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그 이하는 </a:t>
            </a:r>
            <a:r>
              <a:rPr kumimoji="1" lang="en-US" altLang="ko-KR" sz="1100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Wh</a:t>
            </a:r>
            <a:r>
              <a:rPr kumimoji="1" lang="ko-KR" altLang="en-US" sz="110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로 표시</a:t>
            </a:r>
            <a:endParaRPr lang="ko-KR" altLang="en-US" sz="1100" dirty="0"/>
          </a:p>
        </p:txBody>
      </p:sp>
      <p:sp>
        <p:nvSpPr>
          <p:cNvPr id="92" name="타원형 설명선 243">
            <a:extLst>
              <a:ext uri="{FF2B5EF4-FFF2-40B4-BE49-F238E27FC236}">
                <a16:creationId xmlns:a16="http://schemas.microsoft.com/office/drawing/2014/main" id="{6C2A9B27-1C4B-40C0-97DA-CB93871CC592}"/>
              </a:ext>
            </a:extLst>
          </p:cNvPr>
          <p:cNvSpPr/>
          <p:nvPr/>
        </p:nvSpPr>
        <p:spPr>
          <a:xfrm>
            <a:off x="-103965" y="464780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2833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0B3E754-84E0-4CF3-98A4-530A93C39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8" y="907915"/>
            <a:ext cx="8348258" cy="4249277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218688"/>
              </p:ext>
            </p:extLst>
          </p:nvPr>
        </p:nvGraphicFramePr>
        <p:xfrm>
          <a:off x="8469313" y="276225"/>
          <a:ext cx="1404000" cy="38784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ewpsp_scr_007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A17B48D-9FDF-4D00-9F9E-34EBBC76BC06}"/>
              </a:ext>
            </a:extLst>
          </p:cNvPr>
          <p:cNvGrpSpPr/>
          <p:nvPr/>
        </p:nvGrpSpPr>
        <p:grpSpPr>
          <a:xfrm>
            <a:off x="776075" y="576431"/>
            <a:ext cx="2014293" cy="1316384"/>
            <a:chOff x="183483" y="1752577"/>
            <a:chExt cx="2014293" cy="131638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255DD4E-B819-461E-877F-4600228B76AF}"/>
                </a:ext>
              </a:extLst>
            </p:cNvPr>
            <p:cNvSpPr txBox="1"/>
            <p:nvPr/>
          </p:nvSpPr>
          <p:spPr>
            <a:xfrm>
              <a:off x="222795" y="2700094"/>
              <a:ext cx="10136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사용량</a:t>
              </a:r>
              <a:r>
                <a:rPr lang="en-US" altLang="ko-KR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구성 </a:t>
              </a:r>
              <a:r>
                <a:rPr lang="en-US" altLang="ko-KR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(DER)</a:t>
              </a:r>
              <a:endPara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BD14870-50AC-4C92-BD64-DC48BB48A47B}"/>
                </a:ext>
              </a:extLst>
            </p:cNvPr>
            <p:cNvSpPr/>
            <p:nvPr/>
          </p:nvSpPr>
          <p:spPr>
            <a:xfrm>
              <a:off x="216470" y="1752577"/>
              <a:ext cx="1947399" cy="131638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7358891F-A31A-42CA-8980-ECED37136D75}"/>
                </a:ext>
              </a:extLst>
            </p:cNvPr>
            <p:cNvCxnSpPr/>
            <p:nvPr/>
          </p:nvCxnSpPr>
          <p:spPr>
            <a:xfrm>
              <a:off x="565329" y="2432047"/>
              <a:ext cx="124967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5D46B7-C779-4DBC-A203-39A6AE2EDD0F}"/>
                </a:ext>
              </a:extLst>
            </p:cNvPr>
            <p:cNvSpPr txBox="1"/>
            <p:nvPr/>
          </p:nvSpPr>
          <p:spPr>
            <a:xfrm>
              <a:off x="183483" y="1767888"/>
              <a:ext cx="201337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사용량 현황</a:t>
              </a: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4BAF2E7C-96E0-418A-BE21-A61029FBB0F5}"/>
                </a:ext>
              </a:extLst>
            </p:cNvPr>
            <p:cNvCxnSpPr/>
            <p:nvPr/>
          </p:nvCxnSpPr>
          <p:spPr>
            <a:xfrm>
              <a:off x="565329" y="2628936"/>
              <a:ext cx="124967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CAB5785F-4178-4688-92CA-6D59A4BA4880}"/>
                </a:ext>
              </a:extLst>
            </p:cNvPr>
            <p:cNvCxnSpPr/>
            <p:nvPr/>
          </p:nvCxnSpPr>
          <p:spPr>
            <a:xfrm>
              <a:off x="565329" y="2825825"/>
              <a:ext cx="124967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7E7D4762-B9EA-4F3B-991D-B98CBD61226C}"/>
                </a:ext>
              </a:extLst>
            </p:cNvPr>
            <p:cNvCxnSpPr/>
            <p:nvPr/>
          </p:nvCxnSpPr>
          <p:spPr>
            <a:xfrm>
              <a:off x="565329" y="1981841"/>
              <a:ext cx="124967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790A7F5F-A2C2-406B-96B9-DB26D318AAD4}"/>
                </a:ext>
              </a:extLst>
            </p:cNvPr>
            <p:cNvCxnSpPr/>
            <p:nvPr/>
          </p:nvCxnSpPr>
          <p:spPr>
            <a:xfrm>
              <a:off x="565329" y="2178730"/>
              <a:ext cx="124967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EA0B7D5-E72B-4E4C-8E16-671A4FC75E71}"/>
                </a:ext>
              </a:extLst>
            </p:cNvPr>
            <p:cNvSpPr txBox="1"/>
            <p:nvPr/>
          </p:nvSpPr>
          <p:spPr>
            <a:xfrm>
              <a:off x="183483" y="1977285"/>
              <a:ext cx="201337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피크 전력 현황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9C08D9D-F842-431C-863C-2E5187FB3A7E}"/>
                </a:ext>
              </a:extLst>
            </p:cNvPr>
            <p:cNvSpPr txBox="1"/>
            <p:nvPr/>
          </p:nvSpPr>
          <p:spPr>
            <a:xfrm>
              <a:off x="184405" y="2190056"/>
              <a:ext cx="201337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ESS </a:t>
              </a:r>
              <a:r>
                <a:rPr lang="ko-KR" altLang="en-US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충방전량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조회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481F886-94F9-462D-8D49-4DA62BDC3E4B}"/>
                </a:ext>
              </a:extLst>
            </p:cNvPr>
            <p:cNvSpPr txBox="1"/>
            <p:nvPr/>
          </p:nvSpPr>
          <p:spPr>
            <a:xfrm>
              <a:off x="183483" y="2426044"/>
              <a:ext cx="201337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PV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발전량 조회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90B5CB-4A4F-4C49-BD67-EA7C65327D1B}"/>
                </a:ext>
              </a:extLst>
            </p:cNvPr>
            <p:cNvSpPr txBox="1"/>
            <p:nvPr/>
          </p:nvSpPr>
          <p:spPr>
            <a:xfrm>
              <a:off x="183483" y="2622104"/>
              <a:ext cx="201337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DR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실적 조회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4133DBD-7F15-42F0-B462-C859FBF1C56F}"/>
                </a:ext>
              </a:extLst>
            </p:cNvPr>
            <p:cNvSpPr txBox="1"/>
            <p:nvPr/>
          </p:nvSpPr>
          <p:spPr>
            <a:xfrm>
              <a:off x="183483" y="2838128"/>
              <a:ext cx="201337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사용량 구성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B9D6C7B9-BC82-466B-B794-0839B755492D}"/>
              </a:ext>
            </a:extLst>
          </p:cNvPr>
          <p:cNvGrpSpPr/>
          <p:nvPr/>
        </p:nvGrpSpPr>
        <p:grpSpPr>
          <a:xfrm>
            <a:off x="801968" y="2403011"/>
            <a:ext cx="1962507" cy="1082883"/>
            <a:chOff x="3102516" y="5709792"/>
            <a:chExt cx="1962507" cy="1082883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B25E981-B84A-462D-B503-0329F2D321F5}"/>
                </a:ext>
              </a:extLst>
            </p:cNvPr>
            <p:cNvSpPr/>
            <p:nvPr/>
          </p:nvSpPr>
          <p:spPr>
            <a:xfrm>
              <a:off x="3102516" y="5709792"/>
              <a:ext cx="1962507" cy="1082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E8A4586-F3A4-437A-BA4B-171F8AAE7A6E}"/>
                </a:ext>
              </a:extLst>
            </p:cNvPr>
            <p:cNvSpPr txBox="1"/>
            <p:nvPr/>
          </p:nvSpPr>
          <p:spPr>
            <a:xfrm>
              <a:off x="3273995" y="5725104"/>
              <a:ext cx="16265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IOE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통신상태</a:t>
              </a: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77A18865-F342-4055-9444-20639F63B001}"/>
                </a:ext>
              </a:extLst>
            </p:cNvPr>
            <p:cNvCxnSpPr/>
            <p:nvPr/>
          </p:nvCxnSpPr>
          <p:spPr>
            <a:xfrm>
              <a:off x="3354038" y="5939057"/>
              <a:ext cx="1459461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313B6D11-46BE-4168-9860-0394D72E3043}"/>
                </a:ext>
              </a:extLst>
            </p:cNvPr>
            <p:cNvCxnSpPr/>
            <p:nvPr/>
          </p:nvCxnSpPr>
          <p:spPr>
            <a:xfrm>
              <a:off x="3354038" y="6135946"/>
              <a:ext cx="1459461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79526044-5DAD-4615-907E-ED19E8266CED}"/>
                </a:ext>
              </a:extLst>
            </p:cNvPr>
            <p:cNvCxnSpPr/>
            <p:nvPr/>
          </p:nvCxnSpPr>
          <p:spPr>
            <a:xfrm>
              <a:off x="3354038" y="6332835"/>
              <a:ext cx="1459461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74C0901-BA03-411F-A990-950365DF35DE}"/>
                </a:ext>
              </a:extLst>
            </p:cNvPr>
            <p:cNvSpPr txBox="1"/>
            <p:nvPr/>
          </p:nvSpPr>
          <p:spPr>
            <a:xfrm>
              <a:off x="3273995" y="5934501"/>
              <a:ext cx="16265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PCS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운전상태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238D26B-5357-44EE-972F-67EBAAAF2797}"/>
                </a:ext>
              </a:extLst>
            </p:cNvPr>
            <p:cNvSpPr txBox="1"/>
            <p:nvPr/>
          </p:nvSpPr>
          <p:spPr>
            <a:xfrm>
              <a:off x="3273995" y="6130791"/>
              <a:ext cx="16265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BMS </a:t>
              </a: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운전상태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BF1A128-1A24-482A-9173-5FAD07371D47}"/>
                </a:ext>
              </a:extLst>
            </p:cNvPr>
            <p:cNvSpPr txBox="1"/>
            <p:nvPr/>
          </p:nvSpPr>
          <p:spPr>
            <a:xfrm>
              <a:off x="3273995" y="6327431"/>
              <a:ext cx="16265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PV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운전상태</a:t>
              </a:r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D10E7770-6795-40BE-91A1-3ABE92A68FEA}"/>
                </a:ext>
              </a:extLst>
            </p:cNvPr>
            <p:cNvCxnSpPr/>
            <p:nvPr/>
          </p:nvCxnSpPr>
          <p:spPr>
            <a:xfrm>
              <a:off x="3351557" y="6558263"/>
              <a:ext cx="1459461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9A0DB12-452F-45B7-B301-AE7D877A00F5}"/>
                </a:ext>
              </a:extLst>
            </p:cNvPr>
            <p:cNvSpPr txBox="1"/>
            <p:nvPr/>
          </p:nvSpPr>
          <p:spPr>
            <a:xfrm>
              <a:off x="3276437" y="6530301"/>
              <a:ext cx="16265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장치 그룹 현황</a:t>
              </a:r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0DC11C8-6D8A-4EB2-A4EA-335FF0A17F80}"/>
              </a:ext>
            </a:extLst>
          </p:cNvPr>
          <p:cNvSpPr/>
          <p:nvPr/>
        </p:nvSpPr>
        <p:spPr>
          <a:xfrm>
            <a:off x="69528" y="3062726"/>
            <a:ext cx="333613" cy="3240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68524D2-58B7-408F-B549-6FCEE0CD5889}"/>
              </a:ext>
            </a:extLst>
          </p:cNvPr>
          <p:cNvSpPr/>
          <p:nvPr/>
        </p:nvSpPr>
        <p:spPr>
          <a:xfrm>
            <a:off x="69528" y="2226188"/>
            <a:ext cx="333613" cy="3240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1EE490D2-D0CE-4143-90DA-12BD4092B046}"/>
              </a:ext>
            </a:extLst>
          </p:cNvPr>
          <p:cNvSpPr/>
          <p:nvPr/>
        </p:nvSpPr>
        <p:spPr>
          <a:xfrm>
            <a:off x="69528" y="1753986"/>
            <a:ext cx="333613" cy="3240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1DE29BC9-919E-46D0-A69E-E58A914FF092}"/>
              </a:ext>
            </a:extLst>
          </p:cNvPr>
          <p:cNvCxnSpPr>
            <a:cxnSpLocks/>
            <a:stCxn id="69" idx="3"/>
            <a:endCxn id="39" idx="1"/>
          </p:cNvCxnSpPr>
          <p:nvPr/>
        </p:nvCxnSpPr>
        <p:spPr>
          <a:xfrm flipV="1">
            <a:off x="403141" y="1129326"/>
            <a:ext cx="373856" cy="786660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FE407401-E80D-43B7-9CB1-00636A28977D}"/>
              </a:ext>
            </a:extLst>
          </p:cNvPr>
          <p:cNvCxnSpPr>
            <a:cxnSpLocks/>
            <a:stCxn id="68" idx="3"/>
            <a:endCxn id="55" idx="1"/>
          </p:cNvCxnSpPr>
          <p:nvPr/>
        </p:nvCxnSpPr>
        <p:spPr>
          <a:xfrm>
            <a:off x="403141" y="2388188"/>
            <a:ext cx="398827" cy="55626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A0AD43BD-C9D7-47A8-86FF-C27817067116}"/>
              </a:ext>
            </a:extLst>
          </p:cNvPr>
          <p:cNvCxnSpPr>
            <a:cxnSpLocks/>
            <a:stCxn id="67" idx="3"/>
            <a:endCxn id="44" idx="1"/>
          </p:cNvCxnSpPr>
          <p:nvPr/>
        </p:nvCxnSpPr>
        <p:spPr>
          <a:xfrm>
            <a:off x="403141" y="3224726"/>
            <a:ext cx="405630" cy="130975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말풍선: 모서리가 둥근 사각형 52">
            <a:extLst>
              <a:ext uri="{FF2B5EF4-FFF2-40B4-BE49-F238E27FC236}">
                <a16:creationId xmlns:a16="http://schemas.microsoft.com/office/drawing/2014/main" id="{FC2B54EF-4869-4DF5-AB93-EAE3736AC3D0}"/>
              </a:ext>
            </a:extLst>
          </p:cNvPr>
          <p:cNvSpPr/>
          <p:nvPr/>
        </p:nvSpPr>
        <p:spPr>
          <a:xfrm>
            <a:off x="3210033" y="2969304"/>
            <a:ext cx="2007548" cy="516590"/>
          </a:xfrm>
          <a:prstGeom prst="wedgeRoundRectCallout">
            <a:avLst>
              <a:gd name="adj1" fmla="val -71124"/>
              <a:gd name="adj2" fmla="val 28077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현재 퍼블리싱 산출물에는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‘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장치 그룹 현황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’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이 빠져 있음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.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98A3F61-C677-469D-A651-10C50ABDBBB3}"/>
              </a:ext>
            </a:extLst>
          </p:cNvPr>
          <p:cNvGrpSpPr/>
          <p:nvPr/>
        </p:nvGrpSpPr>
        <p:grpSpPr>
          <a:xfrm>
            <a:off x="808771" y="3993035"/>
            <a:ext cx="1948900" cy="1082883"/>
            <a:chOff x="808771" y="3993035"/>
            <a:chExt cx="1948900" cy="1082883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28D5D43C-F316-46DB-A675-2A7E40E445FA}"/>
                </a:ext>
              </a:extLst>
            </p:cNvPr>
            <p:cNvSpPr/>
            <p:nvPr/>
          </p:nvSpPr>
          <p:spPr>
            <a:xfrm>
              <a:off x="808771" y="3993035"/>
              <a:ext cx="1948900" cy="1082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5E66F16-BD2F-46BA-B1E4-C015D0F256EB}"/>
                </a:ext>
              </a:extLst>
            </p:cNvPr>
            <p:cNvSpPr txBox="1"/>
            <p:nvPr/>
          </p:nvSpPr>
          <p:spPr>
            <a:xfrm>
              <a:off x="955755" y="4036941"/>
              <a:ext cx="16197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한전 요금 조회</a:t>
              </a: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1C4FA1C2-2E7E-464A-96AF-813F6B6EF35D}"/>
                </a:ext>
              </a:extLst>
            </p:cNvPr>
            <p:cNvCxnSpPr>
              <a:cxnSpLocks/>
            </p:cNvCxnSpPr>
            <p:nvPr/>
          </p:nvCxnSpPr>
          <p:spPr>
            <a:xfrm>
              <a:off x="1091597" y="4222300"/>
              <a:ext cx="138324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00D8C6EB-322D-4158-9A26-6BDCB681BFDE}"/>
                </a:ext>
              </a:extLst>
            </p:cNvPr>
            <p:cNvCxnSpPr>
              <a:cxnSpLocks/>
            </p:cNvCxnSpPr>
            <p:nvPr/>
          </p:nvCxnSpPr>
          <p:spPr>
            <a:xfrm>
              <a:off x="1091597" y="4427578"/>
              <a:ext cx="138324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52279DA8-B4D2-46B3-A7A1-D3BC3057862B}"/>
                </a:ext>
              </a:extLst>
            </p:cNvPr>
            <p:cNvCxnSpPr>
              <a:cxnSpLocks/>
            </p:cNvCxnSpPr>
            <p:nvPr/>
          </p:nvCxnSpPr>
          <p:spPr>
            <a:xfrm>
              <a:off x="1091597" y="4641245"/>
              <a:ext cx="138324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134CD25-DD9E-4042-820C-2900F44AA310}"/>
                </a:ext>
              </a:extLst>
            </p:cNvPr>
            <p:cNvSpPr txBox="1"/>
            <p:nvPr/>
          </p:nvSpPr>
          <p:spPr>
            <a:xfrm>
              <a:off x="955755" y="4236595"/>
              <a:ext cx="16197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ESS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수익 조회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3D16A-CC7A-4F70-A5DC-D2B5471BEB80}"/>
                </a:ext>
              </a:extLst>
            </p:cNvPr>
            <p:cNvSpPr txBox="1"/>
            <p:nvPr/>
          </p:nvSpPr>
          <p:spPr>
            <a:xfrm>
              <a:off x="955755" y="4436249"/>
              <a:ext cx="16197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DR </a:t>
              </a: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수익 조회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5D11B03-1297-485E-85BC-FCB1CC9B3A8F}"/>
                </a:ext>
              </a:extLst>
            </p:cNvPr>
            <p:cNvSpPr txBox="1"/>
            <p:nvPr/>
          </p:nvSpPr>
          <p:spPr>
            <a:xfrm>
              <a:off x="955755" y="4635903"/>
              <a:ext cx="16197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PV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수익 조회</a:t>
              </a:r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1D80A857-E803-4421-9E3B-5CADD1FB21F4}"/>
                </a:ext>
              </a:extLst>
            </p:cNvPr>
            <p:cNvCxnSpPr>
              <a:cxnSpLocks/>
            </p:cNvCxnSpPr>
            <p:nvPr/>
          </p:nvCxnSpPr>
          <p:spPr>
            <a:xfrm>
              <a:off x="1091597" y="4860771"/>
              <a:ext cx="138324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AD77D96-2CC1-4C17-909A-A5C2A1ADBA7E}"/>
                </a:ext>
              </a:extLst>
            </p:cNvPr>
            <p:cNvSpPr txBox="1"/>
            <p:nvPr/>
          </p:nvSpPr>
          <p:spPr>
            <a:xfrm>
              <a:off x="955755" y="4835558"/>
              <a:ext cx="16197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 명세서</a:t>
              </a: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99B0CDC-7E3B-4101-9EFB-09BDB04D9A11}"/>
              </a:ext>
            </a:extLst>
          </p:cNvPr>
          <p:cNvSpPr/>
          <p:nvPr/>
        </p:nvSpPr>
        <p:spPr>
          <a:xfrm>
            <a:off x="1051009" y="4874161"/>
            <a:ext cx="1524513" cy="19222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말풍선: 모서리가 둥근 사각형 70">
            <a:extLst>
              <a:ext uri="{FF2B5EF4-FFF2-40B4-BE49-F238E27FC236}">
                <a16:creationId xmlns:a16="http://schemas.microsoft.com/office/drawing/2014/main" id="{C7D54023-571A-4109-B3B8-7DDD0423F5F4}"/>
              </a:ext>
            </a:extLst>
          </p:cNvPr>
          <p:cNvSpPr/>
          <p:nvPr/>
        </p:nvSpPr>
        <p:spPr>
          <a:xfrm>
            <a:off x="1829013" y="5235143"/>
            <a:ext cx="2007548" cy="516590"/>
          </a:xfrm>
          <a:prstGeom prst="wedgeRoundRectCallout">
            <a:avLst>
              <a:gd name="adj1" fmla="val -36441"/>
              <a:gd name="adj2" fmla="val -85597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통합 명세서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sub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메뉴 항목 추가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4738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그림 81">
            <a:extLst>
              <a:ext uri="{FF2B5EF4-FFF2-40B4-BE49-F238E27FC236}">
                <a16:creationId xmlns:a16="http://schemas.microsoft.com/office/drawing/2014/main" id="{6E7936A0-4F62-4939-A953-B52AE9705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8" y="907915"/>
            <a:ext cx="8348258" cy="4249277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969123"/>
              </p:ext>
            </p:extLst>
          </p:nvPr>
        </p:nvGraphicFramePr>
        <p:xfrm>
          <a:off x="8469313" y="276225"/>
          <a:ext cx="1404000" cy="6335232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537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10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지역 지도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전국지역에서 특정 지역을 선택하면 해당 지역 지도 이미지로 변경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‘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전체제도보기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’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를 선택하여 전국지도로 복귀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지역 지도 상태에서도 하단 지역 정보는 계속 순서대로 변경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540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범위 선택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지역별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그룹별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지역별을 선택하면 지도 내 선택된 지역의 전체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를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list up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그룹별을 선택하면 지도 내 선택 지역과 상관없이  사용자가 편집한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그룹들을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list up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그룹별 선택하면 그룹 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가 위치하는 지역만 순차적으로 활성화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지역선택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기본값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전체지역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- 9, 10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번 항목의 선택 기준에 따라 지역선택에서 선택된 지역만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1),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항목 선택에 따라 사이트 리스트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사이트 순위 영역을 갱신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499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범위 선택 조건에 맞는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리스트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업체명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총 사용량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총 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발전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총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PV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발전량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총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마우스로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행을 선택하고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더블 클릭 하면 해당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Main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화면으로 전환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65129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ewpsp_scr_007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C8712F-D6EA-4B4A-B8AC-A653C3A36E9C}"/>
              </a:ext>
            </a:extLst>
          </p:cNvPr>
          <p:cNvSpPr/>
          <p:nvPr/>
        </p:nvSpPr>
        <p:spPr>
          <a:xfrm>
            <a:off x="3232165" y="1527606"/>
            <a:ext cx="2296794" cy="2526882"/>
          </a:xfrm>
          <a:prstGeom prst="rect">
            <a:avLst/>
          </a:prstGeom>
          <a:solidFill>
            <a:srgbClr val="313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EA9CD51-5FDD-4692-AB9C-852145C267AD}"/>
              </a:ext>
            </a:extLst>
          </p:cNvPr>
          <p:cNvSpPr/>
          <p:nvPr/>
        </p:nvSpPr>
        <p:spPr>
          <a:xfrm>
            <a:off x="5797428" y="1273437"/>
            <a:ext cx="2467940" cy="25416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237839B-86F7-402F-94F7-2F7EC3F92843}"/>
              </a:ext>
            </a:extLst>
          </p:cNvPr>
          <p:cNvSpPr/>
          <p:nvPr/>
        </p:nvSpPr>
        <p:spPr>
          <a:xfrm>
            <a:off x="5797428" y="1611997"/>
            <a:ext cx="2467940" cy="315998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058E1A2D-79EE-4D72-9BF6-8EDC815EE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244" y="1741225"/>
            <a:ext cx="2003631" cy="16877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D092A9-F244-49D3-99D6-535D898D824B}"/>
              </a:ext>
            </a:extLst>
          </p:cNvPr>
          <p:cNvSpPr txBox="1"/>
          <p:nvPr/>
        </p:nvSpPr>
        <p:spPr>
          <a:xfrm>
            <a:off x="4071471" y="3645535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63E249F-20CA-4CCA-B1D1-E3112120604E}"/>
              </a:ext>
            </a:extLst>
          </p:cNvPr>
          <p:cNvSpPr/>
          <p:nvPr/>
        </p:nvSpPr>
        <p:spPr>
          <a:xfrm>
            <a:off x="5891228" y="1655366"/>
            <a:ext cx="2304256" cy="249303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번호  업체명  사용  </a:t>
            </a:r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충∙방전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발전 수익 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95F3EE9E-14B2-4806-A204-A2519E33112F}"/>
              </a:ext>
            </a:extLst>
          </p:cNvPr>
          <p:cNvSpPr/>
          <p:nvPr/>
        </p:nvSpPr>
        <p:spPr>
          <a:xfrm>
            <a:off x="631231" y="2964653"/>
            <a:ext cx="2304256" cy="249303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   </a:t>
            </a:r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충∙방전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발전   수익 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F8BC3A5-B744-42E3-9814-3BD7E6E83500}"/>
              </a:ext>
            </a:extLst>
          </p:cNvPr>
          <p:cNvSpPr/>
          <p:nvPr/>
        </p:nvSpPr>
        <p:spPr>
          <a:xfrm>
            <a:off x="3203374" y="4152675"/>
            <a:ext cx="2397697" cy="500461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               발전량 </a:t>
            </a:r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충∙방전량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수익 </a:t>
            </a:r>
          </a:p>
        </p:txBody>
      </p:sp>
      <p:sp>
        <p:nvSpPr>
          <p:cNvPr id="226" name="타원형 설명선 225"/>
          <p:cNvSpPr/>
          <p:nvPr/>
        </p:nvSpPr>
        <p:spPr>
          <a:xfrm>
            <a:off x="2987375" y="1311606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4449079-2847-419A-ADA4-DCF693253983}"/>
              </a:ext>
            </a:extLst>
          </p:cNvPr>
          <p:cNvSpPr/>
          <p:nvPr/>
        </p:nvSpPr>
        <p:spPr>
          <a:xfrm>
            <a:off x="4382802" y="1257556"/>
            <a:ext cx="504056" cy="259702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86" name="타원형 설명선 225">
            <a:extLst>
              <a:ext uri="{FF2B5EF4-FFF2-40B4-BE49-F238E27FC236}">
                <a16:creationId xmlns:a16="http://schemas.microsoft.com/office/drawing/2014/main" id="{C7178231-54EA-47B2-9A9F-DCF783B980F4}"/>
              </a:ext>
            </a:extLst>
          </p:cNvPr>
          <p:cNvSpPr/>
          <p:nvPr/>
        </p:nvSpPr>
        <p:spPr>
          <a:xfrm>
            <a:off x="5461525" y="1086448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타원형 설명선 225">
            <a:extLst>
              <a:ext uri="{FF2B5EF4-FFF2-40B4-BE49-F238E27FC236}">
                <a16:creationId xmlns:a16="http://schemas.microsoft.com/office/drawing/2014/main" id="{3A141898-DBD1-49E9-86FA-C2161DDA3127}"/>
              </a:ext>
            </a:extLst>
          </p:cNvPr>
          <p:cNvSpPr/>
          <p:nvPr/>
        </p:nvSpPr>
        <p:spPr>
          <a:xfrm>
            <a:off x="5461525" y="1495351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379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그림 68">
            <a:extLst>
              <a:ext uri="{FF2B5EF4-FFF2-40B4-BE49-F238E27FC236}">
                <a16:creationId xmlns:a16="http://schemas.microsoft.com/office/drawing/2014/main" id="{9D09E76A-20B8-42B2-A24E-7AEA71A32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8" y="907915"/>
            <a:ext cx="8348258" cy="4249277"/>
          </a:xfrm>
          <a:prstGeom prst="rect">
            <a:avLst/>
          </a:prstGeom>
        </p:spPr>
      </p:pic>
      <p:sp>
        <p:nvSpPr>
          <p:cNvPr id="70" name="직사각형 69">
            <a:extLst>
              <a:ext uri="{FF2B5EF4-FFF2-40B4-BE49-F238E27FC236}">
                <a16:creationId xmlns:a16="http://schemas.microsoft.com/office/drawing/2014/main" id="{835D8D05-8BD4-4EF1-AC84-5884DCB91CFE}"/>
              </a:ext>
            </a:extLst>
          </p:cNvPr>
          <p:cNvSpPr/>
          <p:nvPr/>
        </p:nvSpPr>
        <p:spPr>
          <a:xfrm>
            <a:off x="4382802" y="1257556"/>
            <a:ext cx="504056" cy="259702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26E0C02-E12F-4405-BD82-E69DE6368B0D}"/>
              </a:ext>
            </a:extLst>
          </p:cNvPr>
          <p:cNvSpPr/>
          <p:nvPr/>
        </p:nvSpPr>
        <p:spPr>
          <a:xfrm>
            <a:off x="5891228" y="1655366"/>
            <a:ext cx="2304256" cy="249303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번호  업체명  사용  </a:t>
            </a:r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충∙방전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발전 수익 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84D9338-999D-4185-886E-D0F64309266B}"/>
              </a:ext>
            </a:extLst>
          </p:cNvPr>
          <p:cNvSpPr/>
          <p:nvPr/>
        </p:nvSpPr>
        <p:spPr>
          <a:xfrm>
            <a:off x="631231" y="2964653"/>
            <a:ext cx="2304256" cy="249303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   </a:t>
            </a:r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충∙방전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발전   수익 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003A022F-5158-44A7-B264-05DA44E90CC7}"/>
              </a:ext>
            </a:extLst>
          </p:cNvPr>
          <p:cNvSpPr/>
          <p:nvPr/>
        </p:nvSpPr>
        <p:spPr>
          <a:xfrm>
            <a:off x="3217194" y="4152675"/>
            <a:ext cx="2338217" cy="500461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               발전량 </a:t>
            </a:r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충∙방전량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수익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787821"/>
              </p:ext>
            </p:extLst>
          </p:nvPr>
        </p:nvGraphicFramePr>
        <p:xfrm>
          <a:off x="8469313" y="276225"/>
          <a:ext cx="1404000" cy="5775552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범위 선택 조건에 맞는 총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들의 알람 정보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금일 발생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전체의 금일 발생된 알람 총 개수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미확인 알람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전체의 금일 발생된 알람 중 미확인 된 항목의 총 개수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비상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주의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전체의 총 알람 중 비상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주의 각각의 개수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최근 알람 리스트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최근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개의 알람 내용과 발생 시간을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325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범위 선택 조건에 맞는 총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항목별 순위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 순위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내 각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총 누적사용량 순위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누적사용량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예상 사용량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순위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내 각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총 누적 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순위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누적 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예상 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방전량은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충전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(-)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(+)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합을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발전량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내 각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총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PV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발전량 순위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4)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기간내 각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총 수익 순위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 표시 항목 협의 필요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499510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ewpsp_scr_007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타원형 설명선 205">
            <a:extLst>
              <a:ext uri="{FF2B5EF4-FFF2-40B4-BE49-F238E27FC236}">
                <a16:creationId xmlns:a16="http://schemas.microsoft.com/office/drawing/2014/main" id="{7C06766D-8343-41A3-9E93-6B0DDE867FF7}"/>
              </a:ext>
            </a:extLst>
          </p:cNvPr>
          <p:cNvSpPr/>
          <p:nvPr/>
        </p:nvSpPr>
        <p:spPr>
          <a:xfrm>
            <a:off x="150523" y="2749705"/>
            <a:ext cx="227793" cy="216000"/>
          </a:xfrm>
          <a:prstGeom prst="wedgeEllipseCallout">
            <a:avLst>
              <a:gd name="adj1" fmla="val 74230"/>
              <a:gd name="adj2" fmla="val 2182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/>
              <a:t>14</a:t>
            </a:r>
            <a:endParaRPr lang="ko-KR" altLang="en-US" sz="900" b="1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1B82669-7762-4EBB-90A2-B660B6F5B08C}"/>
              </a:ext>
            </a:extLst>
          </p:cNvPr>
          <p:cNvSpPr/>
          <p:nvPr/>
        </p:nvSpPr>
        <p:spPr>
          <a:xfrm>
            <a:off x="448107" y="2870449"/>
            <a:ext cx="2615907" cy="192670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형 설명선 205">
            <a:extLst>
              <a:ext uri="{FF2B5EF4-FFF2-40B4-BE49-F238E27FC236}">
                <a16:creationId xmlns:a16="http://schemas.microsoft.com/office/drawing/2014/main" id="{BC8C097C-FC66-48F7-8307-8A71DEFB3B7B}"/>
              </a:ext>
            </a:extLst>
          </p:cNvPr>
          <p:cNvSpPr/>
          <p:nvPr/>
        </p:nvSpPr>
        <p:spPr>
          <a:xfrm>
            <a:off x="175262" y="1144339"/>
            <a:ext cx="205622" cy="216000"/>
          </a:xfrm>
          <a:prstGeom prst="wedgeEllipseCallout">
            <a:avLst>
              <a:gd name="adj1" fmla="val 74230"/>
              <a:gd name="adj2" fmla="val 2182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/>
              <a:t>13</a:t>
            </a:r>
            <a:endParaRPr lang="ko-KR" altLang="en-US" sz="900" b="1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D939BA9-5841-436C-8FC7-461B6CE84489}"/>
              </a:ext>
            </a:extLst>
          </p:cNvPr>
          <p:cNvSpPr/>
          <p:nvPr/>
        </p:nvSpPr>
        <p:spPr>
          <a:xfrm>
            <a:off x="448107" y="1291112"/>
            <a:ext cx="2615907" cy="152337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758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3D1F2F-A803-4D3E-A843-B8C2DD7B2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4" y="899866"/>
            <a:ext cx="8337453" cy="4257326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>
          <a:xfrm>
            <a:off x="606245" y="63674"/>
            <a:ext cx="4824000" cy="138499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025798"/>
              </p:ext>
            </p:extLst>
          </p:nvPr>
        </p:nvGraphicFramePr>
        <p:xfrm>
          <a:off x="8469313" y="276225"/>
          <a:ext cx="1404000" cy="6430464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內 알람 정보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금일 발생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內 금일 발생된 알람 총 개수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미확인 알람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內 금일 발생된 알람 중 미확인 된 항목의 총 개수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비상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주의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전체의 총 알람 중 비상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주의 각각의 개수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최근 알람 리스트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최근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개의 알람 내용과 발생 시간을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940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오늘의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충전량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오늘의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각각의 총량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SOC(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충전상태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잔량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표시된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%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와 배터리 이미지 상의 잔량 표시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Sync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예상 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대비 실제 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방전량을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막대 그래프로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예상 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보다 실제 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방전량이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더 큰 경우에는 빈 영역을 표시하지 않음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616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구성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(DER)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표시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현재 기준 사용량 구성 표시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에너지 모니터링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사용량 구성 화면 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465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피크 전력 현황 표시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Site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실시간 피크 전력 현황 표시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‘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요금적용전력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Site Main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에서만 표시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2) 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실시간 피크전력 현황은 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 단위 갱신</a:t>
                      </a:r>
                      <a:endParaRPr lang="en-US" altLang="ko-KR" sz="800" b="0" u="none" dirty="0">
                        <a:solidFill>
                          <a:srgbClr val="0066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1</a:t>
                      </a:r>
                      <a:r>
                        <a:rPr lang="ko-KR" altLang="en-US" sz="800" b="0" u="none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분단위</a:t>
                      </a:r>
                      <a:r>
                        <a:rPr lang="ko-KR" altLang="en-US" sz="800" b="0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피크전력 데이터의 </a:t>
                      </a:r>
                      <a:r>
                        <a:rPr lang="en-US" altLang="ko-KR" sz="800" b="0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</a:t>
                      </a:r>
                      <a:r>
                        <a:rPr lang="ko-KR" altLang="en-US" sz="800" b="0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여부 확인필요</a:t>
                      </a:r>
                      <a:endParaRPr lang="en-US" altLang="ko-KR" sz="800" b="0" u="none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91535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ewpsp_scr_008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7" name="타원형 설명선 226"/>
          <p:cNvSpPr/>
          <p:nvPr/>
        </p:nvSpPr>
        <p:spPr>
          <a:xfrm>
            <a:off x="312941" y="148480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312941" y="353425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312941" y="259543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2910245" y="136486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312941" y="1148904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8" name="말풍선: 사각형 257">
            <a:extLst>
              <a:ext uri="{FF2B5EF4-FFF2-40B4-BE49-F238E27FC236}">
                <a16:creationId xmlns:a16="http://schemas.microsoft.com/office/drawing/2014/main" id="{89796997-AB28-44E9-8E34-D2B780159327}"/>
              </a:ext>
            </a:extLst>
          </p:cNvPr>
          <p:cNvSpPr/>
          <p:nvPr/>
        </p:nvSpPr>
        <p:spPr>
          <a:xfrm>
            <a:off x="4060015" y="2204863"/>
            <a:ext cx="532945" cy="252000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500" b="1" dirty="0">
                <a:solidFill>
                  <a:srgbClr val="FF0000"/>
                </a:solidFill>
              </a:rPr>
              <a:t>210 kW</a:t>
            </a:r>
            <a:endParaRPr lang="ko-KR" altLang="en-US" sz="500" b="1" dirty="0">
              <a:solidFill>
                <a:srgbClr val="FF0000"/>
              </a:solidFill>
            </a:endParaRPr>
          </a:p>
        </p:txBody>
      </p:sp>
      <p:sp>
        <p:nvSpPr>
          <p:cNvPr id="260" name="말풍선: 모서리가 둥근 사각형 259">
            <a:extLst>
              <a:ext uri="{FF2B5EF4-FFF2-40B4-BE49-F238E27FC236}">
                <a16:creationId xmlns:a16="http://schemas.microsoft.com/office/drawing/2014/main" id="{9D325C2D-5A28-4561-B9E0-0CFD2587D809}"/>
              </a:ext>
            </a:extLst>
          </p:cNvPr>
          <p:cNvSpPr/>
          <p:nvPr/>
        </p:nvSpPr>
        <p:spPr>
          <a:xfrm>
            <a:off x="1240842" y="5220354"/>
            <a:ext cx="3320624" cy="803666"/>
          </a:xfrm>
          <a:prstGeom prst="wedgeRoundRectCallout">
            <a:avLst>
              <a:gd name="adj1" fmla="val -40948"/>
              <a:gd name="adj2" fmla="val -82912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정보영역의 데이터를 생성하는 장치가 존재하지 않거나 데이터를 가지고 올 수 없어 화면을 구성하지 못하는 경우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영역에 대체 이미지가 표시되어야 함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서브 메뉴의 경우 해당 기능 비 활성화</a:t>
            </a:r>
          </a:p>
        </p:txBody>
      </p:sp>
    </p:spTree>
    <p:extLst>
      <p:ext uri="{BB962C8B-B14F-4D97-AF65-F5344CB8AC3E}">
        <p14:creationId xmlns:p14="http://schemas.microsoft.com/office/powerpoint/2010/main" val="420905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844197"/>
              </p:ext>
            </p:extLst>
          </p:nvPr>
        </p:nvGraphicFramePr>
        <p:xfrm>
          <a:off x="8469397" y="262210"/>
          <a:ext cx="1404000" cy="596832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현황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IOE,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PCS,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BMS,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PV,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기타 장치 별 현황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상태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정상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특이사항 없음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 이상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주황색 표시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특정 장치를 더블 클릭하면 해당 장치의 상세정보가 팝업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 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모니터링에서의 상세보기와 동일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 현황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오늘 수익 현황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항목 별 수익을 막대 그래프 합으로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ESS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DR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PV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 현황 기간을 일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주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월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년 중 어느 단위로 할 것인지 확정 필요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443114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8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충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오늘 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 총량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표시 항목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 별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충전량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 별 충전 계획량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 별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 별 방전 계획량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66019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9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충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방전 총량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수익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별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Site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충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방전 총량 및 수익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 기간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오늘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이번달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올해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 항목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충전 총량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방전 총량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수익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800" b="1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수익 산출 기준 확인 필요</a:t>
                      </a:r>
                      <a:endParaRPr lang="en-US" altLang="ko-KR" sz="800" b="1" u="none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322382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ewpsp_scr_008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54" name="그림 253">
            <a:extLst>
              <a:ext uri="{FF2B5EF4-FFF2-40B4-BE49-F238E27FC236}">
                <a16:creationId xmlns:a16="http://schemas.microsoft.com/office/drawing/2014/main" id="{BE78717A-33FF-407B-9A1C-AE4161623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4" y="899866"/>
            <a:ext cx="8337453" cy="4257326"/>
          </a:xfrm>
          <a:prstGeom prst="rect">
            <a:avLst/>
          </a:prstGeom>
        </p:spPr>
      </p:pic>
      <p:sp>
        <p:nvSpPr>
          <p:cNvPr id="258" name="타원형 설명선 246">
            <a:extLst>
              <a:ext uri="{FF2B5EF4-FFF2-40B4-BE49-F238E27FC236}">
                <a16:creationId xmlns:a16="http://schemas.microsoft.com/office/drawing/2014/main" id="{A41C495B-4C1E-468D-8DAD-FA44DF34C412}"/>
              </a:ext>
            </a:extLst>
          </p:cNvPr>
          <p:cNvSpPr/>
          <p:nvPr/>
        </p:nvSpPr>
        <p:spPr>
          <a:xfrm>
            <a:off x="5529064" y="292052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0" name="타원형 설명선 247">
            <a:extLst>
              <a:ext uri="{FF2B5EF4-FFF2-40B4-BE49-F238E27FC236}">
                <a16:creationId xmlns:a16="http://schemas.microsoft.com/office/drawing/2014/main" id="{08EE55A4-E378-439E-AA04-D40E9A659C13}"/>
              </a:ext>
            </a:extLst>
          </p:cNvPr>
          <p:cNvSpPr/>
          <p:nvPr/>
        </p:nvSpPr>
        <p:spPr>
          <a:xfrm>
            <a:off x="5529064" y="134371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1" name="타원형 설명선 265">
            <a:extLst>
              <a:ext uri="{FF2B5EF4-FFF2-40B4-BE49-F238E27FC236}">
                <a16:creationId xmlns:a16="http://schemas.microsoft.com/office/drawing/2014/main" id="{BE0431ED-6746-4DE6-B071-A97231C95592}"/>
              </a:ext>
            </a:extLst>
          </p:cNvPr>
          <p:cNvSpPr/>
          <p:nvPr/>
        </p:nvSpPr>
        <p:spPr>
          <a:xfrm>
            <a:off x="2910245" y="2848167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2" name="타원형 설명선 246">
            <a:extLst>
              <a:ext uri="{FF2B5EF4-FFF2-40B4-BE49-F238E27FC236}">
                <a16:creationId xmlns:a16="http://schemas.microsoft.com/office/drawing/2014/main" id="{FD6183F9-23C7-4705-8B0D-A77F7D09B2FC}"/>
              </a:ext>
            </a:extLst>
          </p:cNvPr>
          <p:cNvSpPr/>
          <p:nvPr/>
        </p:nvSpPr>
        <p:spPr>
          <a:xfrm>
            <a:off x="5529064" y="403886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932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8E471AC-C71B-4FDA-85FB-2DA7EFE37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7" y="548680"/>
            <a:ext cx="8303665" cy="3728269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사용량 현황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사용량 현황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877844"/>
              </p:ext>
            </p:extLst>
          </p:nvPr>
        </p:nvGraphicFramePr>
        <p:xfrm>
          <a:off x="8469313" y="276225"/>
          <a:ext cx="1404000" cy="5941632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537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Pre-define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된 조회 기간의 시작과 끝 시점을 설정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별 시작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종료 시간은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sng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간격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번에서 지정된 기간 내 데이터의 조회 간격을 설정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간격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- 15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30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별 선택 가능한 조회 간격은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이 선택된 경우에는 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~24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시로 조회하고 표시하며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그 외의 경우 지금 시간부터 지정된 과거의 기간만큼 조회하고 표시한다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 시작 설정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기간의 시작 날짜를 직접 입력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시간은 현재시간으로 고정되며 날짜만 지정 가능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 종료 설정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기간의 종료 날짜를 직접 입력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시간은 현재시간으로 고정되며 날짜만 지정 가능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1, 2, 3, 4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항목에서 지정된  일정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조건에 따라 사용량과 예측 사용량을 조회하여 화면을 구성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데이터 갱신 시간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지정된 설정에 따라 조회가 진행된 시간표시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ewpsp_scr_009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7" name="타원형 설명선 226"/>
          <p:cNvSpPr/>
          <p:nvPr/>
        </p:nvSpPr>
        <p:spPr>
          <a:xfrm>
            <a:off x="2562917" y="73248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4097658" y="73248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3368824" y="73248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4610492" y="73248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" name="타원형 설명선 265"/>
          <p:cNvSpPr/>
          <p:nvPr/>
        </p:nvSpPr>
        <p:spPr>
          <a:xfrm>
            <a:off x="7440991" y="81357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1982500" y="732480"/>
            <a:ext cx="216000" cy="216000"/>
          </a:xfrm>
          <a:prstGeom prst="wedgeEllipseCallout">
            <a:avLst>
              <a:gd name="adj1" fmla="val 87905"/>
              <a:gd name="adj2" fmla="val 5114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6EFDB71-6E56-42A4-86F6-93528BBDD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616918"/>
              </p:ext>
            </p:extLst>
          </p:nvPr>
        </p:nvGraphicFramePr>
        <p:xfrm>
          <a:off x="475469" y="4453135"/>
          <a:ext cx="3838193" cy="1153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139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346575581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오늘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기간설정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 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전</a:t>
                      </a: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~ 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지정된 시작일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예측량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 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전 </a:t>
                      </a: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지정된 종료일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962852"/>
                  </a:ext>
                </a:extLst>
              </a:tr>
              <a:tr h="178086">
                <a:tc gridSpan="7">
                  <a:txBody>
                    <a:bodyPr/>
                    <a:lstStyle/>
                    <a:p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 * 00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시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30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분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, 23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시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30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분 데이터 표현을 위해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X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축의 전체 시간 범위 표시는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0 ~ 24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로 표시되어야 함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. –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일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월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표시 모두 해당 됨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. (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모든 그래프 공통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Gill Sans"/>
                        </a:rPr>
                        <a:t>)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364124"/>
                  </a:ext>
                </a:extLst>
              </a:tr>
            </a:tbl>
          </a:graphicData>
        </a:graphic>
      </p:graphicFrame>
      <p:sp>
        <p:nvSpPr>
          <p:cNvPr id="68" name="타원형 설명선 225">
            <a:extLst>
              <a:ext uri="{FF2B5EF4-FFF2-40B4-BE49-F238E27FC236}">
                <a16:creationId xmlns:a16="http://schemas.microsoft.com/office/drawing/2014/main" id="{71768A76-98FD-494B-8D70-0F5ABCB1716E}"/>
              </a:ext>
            </a:extLst>
          </p:cNvPr>
          <p:cNvSpPr/>
          <p:nvPr/>
        </p:nvSpPr>
        <p:spPr>
          <a:xfrm>
            <a:off x="178644" y="443711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29C3A214-0DE0-4D8E-9E31-CE1CE33E1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039944"/>
              </p:ext>
            </p:extLst>
          </p:nvPr>
        </p:nvGraphicFramePr>
        <p:xfrm>
          <a:off x="4779324" y="4453135"/>
          <a:ext cx="3342028" cy="78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864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346575581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기간설정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표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참고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</a:tbl>
          </a:graphicData>
        </a:graphic>
      </p:graphicFrame>
      <p:sp>
        <p:nvSpPr>
          <p:cNvPr id="70" name="타원형 설명선 225">
            <a:extLst>
              <a:ext uri="{FF2B5EF4-FFF2-40B4-BE49-F238E27FC236}">
                <a16:creationId xmlns:a16="http://schemas.microsoft.com/office/drawing/2014/main" id="{A6150CA4-E2BC-4441-8A23-4148832F9C09}"/>
              </a:ext>
            </a:extLst>
          </p:cNvPr>
          <p:cNvSpPr/>
          <p:nvPr/>
        </p:nvSpPr>
        <p:spPr>
          <a:xfrm>
            <a:off x="4486722" y="443711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BA769841-D641-4B82-BBF3-17D7A68F0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978072"/>
              </p:ext>
            </p:extLst>
          </p:nvPr>
        </p:nvGraphicFramePr>
        <p:xfrm>
          <a:off x="475468" y="5736466"/>
          <a:ext cx="6623937" cy="78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148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1456834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1021945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1021945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1021945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초과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초과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초과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초과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</a:tbl>
          </a:graphicData>
        </a:graphic>
      </p:graphicFrame>
      <p:sp>
        <p:nvSpPr>
          <p:cNvPr id="72" name="타원형 설명선 225">
            <a:extLst>
              <a:ext uri="{FF2B5EF4-FFF2-40B4-BE49-F238E27FC236}">
                <a16:creationId xmlns:a16="http://schemas.microsoft.com/office/drawing/2014/main" id="{C65330E3-7E01-431C-A8AF-BB51696FE405}"/>
              </a:ext>
            </a:extLst>
          </p:cNvPr>
          <p:cNvSpPr/>
          <p:nvPr/>
        </p:nvSpPr>
        <p:spPr>
          <a:xfrm>
            <a:off x="182867" y="5720443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776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8E471AC-C71B-4FDA-85FB-2DA7EFE37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6" y="548680"/>
            <a:ext cx="8303665" cy="3728269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사용량 현황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사용량 현황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153189"/>
              </p:ext>
            </p:extLst>
          </p:nvPr>
        </p:nvGraphicFramePr>
        <p:xfrm>
          <a:off x="8469313" y="276225"/>
          <a:ext cx="1404000" cy="6283008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537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 합계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內 실제사용량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예측사용량 합계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8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그래프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오늘의 사용량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꺽은선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항목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실 사용량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예측 사용량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Y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KWh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전력량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X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간격 표시 기준은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툴팁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마우스 커서를 그래프 영역에 위치 시키면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툴팁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팝업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툴팁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내용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데이터 항목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44352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9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그래프 변경하기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각 꺾은선 그래프를 막대 그래프로 변환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(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토글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형태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429129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10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 데이터 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조회된 데이터의 그래프 표시 항목을 표로 표현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특정 개수가 넘어 표가 좌우로 넓어질 경우에는 하단으로 표 확장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브라우저 크기를 조정하여 폭이 좁아질 경우에도 하단으로 표 확장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행 최대 칸수는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칸 수가 너무 많을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(48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칸 이상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표 하단에 가로 스크롤 발생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저장하기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데이터를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csv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형태의 파일로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999976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표 접기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그래프 하단 표 영역 표시의 </a:t>
                      </a:r>
                      <a:r>
                        <a:rPr lang="ko-KR" altLang="en-US" sz="800" b="0" u="none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토글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버튼</a:t>
                      </a:r>
                      <a:endParaRPr lang="en-US" altLang="ko-KR" sz="800" b="0" u="none" kern="12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ewpsp_scr_009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6" name="말풍선: 사각형 65">
            <a:extLst>
              <a:ext uri="{FF2B5EF4-FFF2-40B4-BE49-F238E27FC236}">
                <a16:creationId xmlns:a16="http://schemas.microsoft.com/office/drawing/2014/main" id="{30D06AA3-D2E8-4D55-B28F-BFFB9BBC1E4D}"/>
              </a:ext>
            </a:extLst>
          </p:cNvPr>
          <p:cNvSpPr/>
          <p:nvPr/>
        </p:nvSpPr>
        <p:spPr>
          <a:xfrm>
            <a:off x="3209087" y="903387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오늘 사용량</a:t>
            </a:r>
            <a:r>
              <a:rPr lang="en-US" altLang="ko-KR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600" b="1" dirty="0">
                <a:solidFill>
                  <a:srgbClr val="FF0000"/>
                </a:solidFill>
              </a:rPr>
              <a:t>210 kW</a:t>
            </a:r>
            <a:endParaRPr lang="ko-KR" altLang="en-US" sz="600" b="1" dirty="0">
              <a:solidFill>
                <a:srgbClr val="FF0000"/>
              </a:solidFill>
            </a:endParaRPr>
          </a:p>
        </p:txBody>
      </p:sp>
      <p:sp>
        <p:nvSpPr>
          <p:cNvPr id="227" name="타원형 설명선 226"/>
          <p:cNvSpPr/>
          <p:nvPr/>
        </p:nvSpPr>
        <p:spPr>
          <a:xfrm>
            <a:off x="70644" y="314096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7553008" y="291544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6853783" y="291544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" name="타원형 설명선 265"/>
          <p:cNvSpPr/>
          <p:nvPr/>
        </p:nvSpPr>
        <p:spPr>
          <a:xfrm>
            <a:off x="7445008" y="100005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-110085" y="783987"/>
            <a:ext cx="216000" cy="216000"/>
          </a:xfrm>
          <a:prstGeom prst="wedgeEllipseCallout">
            <a:avLst>
              <a:gd name="adj1" fmla="val 87905"/>
              <a:gd name="adj2" fmla="val 5114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타원형 설명선 225">
            <a:extLst>
              <a:ext uri="{FF2B5EF4-FFF2-40B4-BE49-F238E27FC236}">
                <a16:creationId xmlns:a16="http://schemas.microsoft.com/office/drawing/2014/main" id="{8663D918-7691-4B33-8B28-09DA1C096D7A}"/>
              </a:ext>
            </a:extLst>
          </p:cNvPr>
          <p:cNvSpPr/>
          <p:nvPr/>
        </p:nvSpPr>
        <p:spPr>
          <a:xfrm>
            <a:off x="1281786" y="783987"/>
            <a:ext cx="216000" cy="216000"/>
          </a:xfrm>
          <a:prstGeom prst="wedgeEllipseCallout">
            <a:avLst>
              <a:gd name="adj1" fmla="val 87905"/>
              <a:gd name="adj2" fmla="val 5114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51B01A33-325F-49F1-BCDF-1C821082C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452245"/>
              </p:ext>
            </p:extLst>
          </p:nvPr>
        </p:nvGraphicFramePr>
        <p:xfrm>
          <a:off x="704528" y="4561998"/>
          <a:ext cx="3670866" cy="187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815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834067">
                  <a:extLst>
                    <a:ext uri="{9D8B030D-6E8A-4147-A177-3AD203B41FA5}">
                      <a16:colId xmlns:a16="http://schemas.microsoft.com/office/drawing/2014/main" val="8834736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1077432929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2248332737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701571902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440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1440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10080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43200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525600</a:t>
                      </a:r>
                      <a:endParaRPr lang="ko-KR" altLang="en-US" sz="6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672409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553682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672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2880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35040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293162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336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1440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17520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23599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022207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720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8760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961310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24359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365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81172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500751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993451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841290"/>
                  </a:ext>
                </a:extLst>
              </a:tr>
            </a:tbl>
          </a:graphicData>
        </a:graphic>
      </p:graphicFrame>
      <p:sp>
        <p:nvSpPr>
          <p:cNvPr id="28" name="타원형 설명선 225">
            <a:extLst>
              <a:ext uri="{FF2B5EF4-FFF2-40B4-BE49-F238E27FC236}">
                <a16:creationId xmlns:a16="http://schemas.microsoft.com/office/drawing/2014/main" id="{2B735BF2-4238-4BF8-A1CD-F1B3B8662063}"/>
              </a:ext>
            </a:extLst>
          </p:cNvPr>
          <p:cNvSpPr/>
          <p:nvPr/>
        </p:nvSpPr>
        <p:spPr>
          <a:xfrm>
            <a:off x="484506" y="4379784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29AB8FE9-078F-4B76-BDC8-20DBEFB9B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177162"/>
              </p:ext>
            </p:extLst>
          </p:nvPr>
        </p:nvGraphicFramePr>
        <p:xfrm>
          <a:off x="4774830" y="4648586"/>
          <a:ext cx="3342024" cy="1246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256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1308233075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248332737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333210567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53518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23599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96131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81172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993451"/>
                  </a:ext>
                </a:extLst>
              </a:tr>
            </a:tbl>
          </a:graphicData>
        </a:graphic>
      </p:graphicFrame>
      <p:sp>
        <p:nvSpPr>
          <p:cNvPr id="30" name="타원형 설명선 225">
            <a:extLst>
              <a:ext uri="{FF2B5EF4-FFF2-40B4-BE49-F238E27FC236}">
                <a16:creationId xmlns:a16="http://schemas.microsoft.com/office/drawing/2014/main" id="{5A3C18D6-BDFF-4C34-9F90-AAB835799142}"/>
              </a:ext>
            </a:extLst>
          </p:cNvPr>
          <p:cNvSpPr/>
          <p:nvPr/>
        </p:nvSpPr>
        <p:spPr>
          <a:xfrm>
            <a:off x="4467111" y="450861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234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5C580E-0BD5-449D-A15A-4AF138E80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6" y="333849"/>
            <a:ext cx="8355259" cy="3858042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878285"/>
              </p:ext>
            </p:extLst>
          </p:nvPr>
        </p:nvGraphicFramePr>
        <p:xfrm>
          <a:off x="8469313" y="276225"/>
          <a:ext cx="1404000" cy="5941632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Pre-define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된 조회 기간의 시작과 끝 시점을 설정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별 시작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종료 시간은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sng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간격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번에서 지정된 기간 내 데이터의 조회 간격을 설정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간격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- 15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30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별 선택 가능한 조회 간격은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이 선택된 경우에는 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~24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시로 조회하고 표시하며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그 외의 경우 지금 시간부터 지정된 과거의 기간만큼 조회하고 표시한다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 시작 설정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기간의 시작 날짜를 직접 입력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시간은 현재시간으로 고정되며 날짜만 지정 가능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 종료 설정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기간의 종료 날짜를 직접 입력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시간은 현재시간으로 고정되며 날짜만 지정 가능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1, 2, 3, 4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항목에서 지정된  일정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조건에 따라 사용량과 예측 사용량을 조회하여 화면을 구성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946284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데이터 갱신 시간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지정된 설정에 따라 조회가 진행된 시간표시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10545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ewpsp_scr_010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7" name="타원형 설명선 226"/>
          <p:cNvSpPr/>
          <p:nvPr/>
        </p:nvSpPr>
        <p:spPr>
          <a:xfrm>
            <a:off x="2504740" y="51661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3999860" y="50973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3224808" y="51661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2000696" y="516610"/>
            <a:ext cx="216000" cy="216000"/>
          </a:xfrm>
          <a:prstGeom prst="wedgeEllipseCallout">
            <a:avLst>
              <a:gd name="adj1" fmla="val 74676"/>
              <a:gd name="adj2" fmla="val 488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타원형 설명선 245">
            <a:extLst>
              <a:ext uri="{FF2B5EF4-FFF2-40B4-BE49-F238E27FC236}">
                <a16:creationId xmlns:a16="http://schemas.microsoft.com/office/drawing/2014/main" id="{85CEC6C2-65F0-4A29-95DD-53D7692FB632}"/>
              </a:ext>
            </a:extLst>
          </p:cNvPr>
          <p:cNvSpPr/>
          <p:nvPr/>
        </p:nvSpPr>
        <p:spPr>
          <a:xfrm>
            <a:off x="4666912" y="51661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72F09E12-6E30-47F1-8DD5-528E538AE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779432"/>
              </p:ext>
            </p:extLst>
          </p:nvPr>
        </p:nvGraphicFramePr>
        <p:xfrm>
          <a:off x="475469" y="4581915"/>
          <a:ext cx="3838193" cy="909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139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346575581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오늘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기간설정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 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전</a:t>
                      </a: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~ 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지정된 시작일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예측량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 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전 </a:t>
                      </a: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지정된 종료일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962852"/>
                  </a:ext>
                </a:extLst>
              </a:tr>
            </a:tbl>
          </a:graphicData>
        </a:graphic>
      </p:graphicFrame>
      <p:sp>
        <p:nvSpPr>
          <p:cNvPr id="75" name="타원형 설명선 225">
            <a:extLst>
              <a:ext uri="{FF2B5EF4-FFF2-40B4-BE49-F238E27FC236}">
                <a16:creationId xmlns:a16="http://schemas.microsoft.com/office/drawing/2014/main" id="{2E82BDC9-F75C-4BDC-B5FA-02CFFBCC3F1B}"/>
              </a:ext>
            </a:extLst>
          </p:cNvPr>
          <p:cNvSpPr/>
          <p:nvPr/>
        </p:nvSpPr>
        <p:spPr>
          <a:xfrm>
            <a:off x="178644" y="456589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5372624E-1F93-47EB-BA71-8DC48F8A3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493765"/>
              </p:ext>
            </p:extLst>
          </p:nvPr>
        </p:nvGraphicFramePr>
        <p:xfrm>
          <a:off x="4779324" y="4581915"/>
          <a:ext cx="3342028" cy="78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864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346575581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기간설정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표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참고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</a:tbl>
          </a:graphicData>
        </a:graphic>
      </p:graphicFrame>
      <p:sp>
        <p:nvSpPr>
          <p:cNvPr id="91" name="타원형 설명선 225">
            <a:extLst>
              <a:ext uri="{FF2B5EF4-FFF2-40B4-BE49-F238E27FC236}">
                <a16:creationId xmlns:a16="http://schemas.microsoft.com/office/drawing/2014/main" id="{D3C44338-B62F-4CE8-AD48-8A5995174556}"/>
              </a:ext>
            </a:extLst>
          </p:cNvPr>
          <p:cNvSpPr/>
          <p:nvPr/>
        </p:nvSpPr>
        <p:spPr>
          <a:xfrm>
            <a:off x="4486722" y="456589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BEBF161C-1BAA-474B-B195-475C65EEC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994091"/>
              </p:ext>
            </p:extLst>
          </p:nvPr>
        </p:nvGraphicFramePr>
        <p:xfrm>
          <a:off x="475468" y="5736466"/>
          <a:ext cx="6623937" cy="78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148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1456834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1021945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1021945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1021945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초과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초과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초과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초과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</a:tbl>
          </a:graphicData>
        </a:graphic>
      </p:graphicFrame>
      <p:sp>
        <p:nvSpPr>
          <p:cNvPr id="93" name="타원형 설명선 225">
            <a:extLst>
              <a:ext uri="{FF2B5EF4-FFF2-40B4-BE49-F238E27FC236}">
                <a16:creationId xmlns:a16="http://schemas.microsoft.com/office/drawing/2014/main" id="{6F10AB24-E7E9-4366-8E0C-999BBA6A2B5E}"/>
              </a:ext>
            </a:extLst>
          </p:cNvPr>
          <p:cNvSpPr/>
          <p:nvPr/>
        </p:nvSpPr>
        <p:spPr>
          <a:xfrm>
            <a:off x="182867" y="5720443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말풍선: 사각형 93">
            <a:extLst>
              <a:ext uri="{FF2B5EF4-FFF2-40B4-BE49-F238E27FC236}">
                <a16:creationId xmlns:a16="http://schemas.microsoft.com/office/drawing/2014/main" id="{95702ED1-FE0D-42D9-94B6-5EBD2F8D2AFF}"/>
              </a:ext>
            </a:extLst>
          </p:cNvPr>
          <p:cNvSpPr/>
          <p:nvPr/>
        </p:nvSpPr>
        <p:spPr>
          <a:xfrm>
            <a:off x="3326744" y="1691284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600" b="1" dirty="0">
                <a:solidFill>
                  <a:srgbClr val="FF0000"/>
                </a:solidFill>
              </a:rPr>
              <a:t>210 kW</a:t>
            </a:r>
            <a:endParaRPr lang="ko-KR" altLang="en-US" sz="600" b="1" dirty="0">
              <a:solidFill>
                <a:srgbClr val="FF0000"/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B86047D0-1681-40F9-9F81-4CD2E55F1C09}"/>
              </a:ext>
            </a:extLst>
          </p:cNvPr>
          <p:cNvSpPr/>
          <p:nvPr/>
        </p:nvSpPr>
        <p:spPr>
          <a:xfrm>
            <a:off x="7725201" y="923897"/>
            <a:ext cx="504056" cy="259702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96" name="말풍선: 모서리가 둥근 사각형 95">
            <a:extLst>
              <a:ext uri="{FF2B5EF4-FFF2-40B4-BE49-F238E27FC236}">
                <a16:creationId xmlns:a16="http://schemas.microsoft.com/office/drawing/2014/main" id="{68B28DA6-4054-446B-9A6D-744AC66C6E23}"/>
              </a:ext>
            </a:extLst>
          </p:cNvPr>
          <p:cNvSpPr/>
          <p:nvPr/>
        </p:nvSpPr>
        <p:spPr>
          <a:xfrm>
            <a:off x="6393160" y="1426777"/>
            <a:ext cx="1760723" cy="274031"/>
          </a:xfrm>
          <a:prstGeom prst="wedgeRoundRectCallout">
            <a:avLst>
              <a:gd name="adj1" fmla="val 37289"/>
              <a:gd name="adj2" fmla="val -119401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피크 전력은 막대 그래프 고정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0A54FCBF-BA3E-4D0E-9DB9-8FAABFF7BFA6}"/>
              </a:ext>
            </a:extLst>
          </p:cNvPr>
          <p:cNvSpPr/>
          <p:nvPr/>
        </p:nvSpPr>
        <p:spPr>
          <a:xfrm>
            <a:off x="68748" y="620688"/>
            <a:ext cx="1355859" cy="2088232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</a:t>
            </a:r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 시간</a:t>
            </a:r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피크 전력 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xx kW</a:t>
            </a:r>
          </a:p>
          <a:p>
            <a:pPr algn="ctr"/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한전 계약 전력 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xx kW</a:t>
            </a:r>
          </a:p>
          <a:p>
            <a:pPr algn="ctr"/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요금 적용 전력 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xx kW</a:t>
            </a:r>
          </a:p>
          <a:p>
            <a:pPr algn="ctr"/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말풍선: 모서리가 둥근 사각형 97">
            <a:extLst>
              <a:ext uri="{FF2B5EF4-FFF2-40B4-BE49-F238E27FC236}">
                <a16:creationId xmlns:a16="http://schemas.microsoft.com/office/drawing/2014/main" id="{F74202C5-B1BC-4066-ACEE-74799B16E974}"/>
              </a:ext>
            </a:extLst>
          </p:cNvPr>
          <p:cNvSpPr/>
          <p:nvPr/>
        </p:nvSpPr>
        <p:spPr>
          <a:xfrm>
            <a:off x="686510" y="-243888"/>
            <a:ext cx="2315240" cy="516590"/>
          </a:xfrm>
          <a:prstGeom prst="wedgeRoundRectCallout">
            <a:avLst>
              <a:gd name="adj1" fmla="val -33681"/>
              <a:gd name="adj2" fmla="val 105060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-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피크 전력은 합계로 표시하지 않음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.</a:t>
            </a:r>
          </a:p>
          <a:p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-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피크 전력은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‘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양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’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이 아니므로 단위 뒤에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h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를 붙이지 않음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.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예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) 500kW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타원형 설명선 245">
            <a:extLst>
              <a:ext uri="{FF2B5EF4-FFF2-40B4-BE49-F238E27FC236}">
                <a16:creationId xmlns:a16="http://schemas.microsoft.com/office/drawing/2014/main" id="{6B14E7E4-D8F0-4098-93E1-E017D052A8C8}"/>
              </a:ext>
            </a:extLst>
          </p:cNvPr>
          <p:cNvSpPr/>
          <p:nvPr/>
        </p:nvSpPr>
        <p:spPr>
          <a:xfrm>
            <a:off x="7475080" y="54014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6291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그림 97">
            <a:extLst>
              <a:ext uri="{FF2B5EF4-FFF2-40B4-BE49-F238E27FC236}">
                <a16:creationId xmlns:a16="http://schemas.microsoft.com/office/drawing/2014/main" id="{DCD6AF7F-DEB9-4B8C-9194-072B82EA5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6" y="333849"/>
            <a:ext cx="8355259" cy="3858042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302937"/>
              </p:ext>
            </p:extLst>
          </p:nvPr>
        </p:nvGraphicFramePr>
        <p:xfrm>
          <a:off x="8469313" y="276225"/>
          <a:ext cx="1404000" cy="6307392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피크 전력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내의 최대 피크 전력 시점의 정보 표시</a:t>
                      </a:r>
                      <a:r>
                        <a:rPr kumimoji="1"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피크 시점</a:t>
                      </a:r>
                      <a:r>
                        <a:rPr kumimoji="1"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날짜시간</a:t>
                      </a:r>
                      <a:r>
                        <a:rPr kumimoji="1"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), </a:t>
                      </a:r>
                      <a:r>
                        <a:rPr kumimoji="1"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피크 전력</a:t>
                      </a:r>
                      <a:r>
                        <a:rPr kumimoji="1"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한전 계약 전력</a:t>
                      </a:r>
                      <a:r>
                        <a:rPr kumimoji="1"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요금 적용 전력</a:t>
                      </a:r>
                      <a:endParaRPr kumimoji="1" lang="en-US" altLang="ko-KR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8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그래프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피크 전력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막대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항목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피크 전력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단위 별 막대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개로 반영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 - Y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KW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전력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 - X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간격 표시 기준은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직선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요금적용전력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한전계약전력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344817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9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마커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內 최고 피크 전력량 위치에 마커를 지속적으로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27755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10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피크 전력 데이터 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조회된 데이터의 그래프 표시 항목을 표로 표현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특정 개수가 넘어 표가 좌우로 넓어질 경우에는 하단으로 표 확장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브라우저 크기를 조정하여 폭이 좁아질 경우에도 하단으로 표 확장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행 최대 칸수는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칸 수가 너무 많을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(48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칸 이상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표 하단에 가로 스크롤 발생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저장하기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데이터를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csv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형태의 파일로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30419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표 접기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그래프 하단 표 영역 표시의 </a:t>
                      </a:r>
                      <a:r>
                        <a:rPr lang="ko-KR" altLang="en-US" sz="800" b="0" u="none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토글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버튼</a:t>
                      </a:r>
                      <a:endParaRPr lang="en-US" altLang="ko-KR" sz="800" b="0" u="none" kern="12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068191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ewpsp_scr_010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말풍선: 사각형 39">
            <a:extLst>
              <a:ext uri="{FF2B5EF4-FFF2-40B4-BE49-F238E27FC236}">
                <a16:creationId xmlns:a16="http://schemas.microsoft.com/office/drawing/2014/main" id="{5890A3BC-DB2B-4AC4-A2F7-E81C55FD79CE}"/>
              </a:ext>
            </a:extLst>
          </p:cNvPr>
          <p:cNvSpPr/>
          <p:nvPr/>
        </p:nvSpPr>
        <p:spPr>
          <a:xfrm>
            <a:off x="3317219" y="1700809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600" b="1" dirty="0">
                <a:solidFill>
                  <a:srgbClr val="FF0000"/>
                </a:solidFill>
              </a:rPr>
              <a:t>210 kW</a:t>
            </a:r>
            <a:endParaRPr lang="ko-KR" altLang="en-US" sz="600" b="1" dirty="0">
              <a:solidFill>
                <a:srgbClr val="FF0000"/>
              </a:solidFill>
            </a:endParaRPr>
          </a:p>
        </p:txBody>
      </p:sp>
      <p:sp>
        <p:nvSpPr>
          <p:cNvPr id="206" name="타원형 설명선 205"/>
          <p:cNvSpPr/>
          <p:nvPr/>
        </p:nvSpPr>
        <p:spPr>
          <a:xfrm>
            <a:off x="7692726" y="2708944"/>
            <a:ext cx="216000" cy="216000"/>
          </a:xfrm>
          <a:prstGeom prst="wedgeEllipseCallout">
            <a:avLst>
              <a:gd name="adj1" fmla="val 65411"/>
              <a:gd name="adj2" fmla="val 615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/>
              <a:t>12</a:t>
            </a:r>
            <a:endParaRPr lang="ko-KR" altLang="en-US" sz="900" b="1" dirty="0"/>
          </a:p>
        </p:txBody>
      </p:sp>
      <p:sp>
        <p:nvSpPr>
          <p:cNvPr id="246" name="타원형 설명선 245"/>
          <p:cNvSpPr/>
          <p:nvPr/>
        </p:nvSpPr>
        <p:spPr>
          <a:xfrm>
            <a:off x="79547" y="33268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7" name="타원형 설명선 246"/>
          <p:cNvSpPr/>
          <p:nvPr/>
        </p:nvSpPr>
        <p:spPr>
          <a:xfrm>
            <a:off x="3058894" y="151234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8" name="타원형 설명선 247"/>
          <p:cNvSpPr/>
          <p:nvPr/>
        </p:nvSpPr>
        <p:spPr>
          <a:xfrm>
            <a:off x="6905707" y="270743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541D07ED-21CF-46C5-8333-3083250B8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343300"/>
              </p:ext>
            </p:extLst>
          </p:nvPr>
        </p:nvGraphicFramePr>
        <p:xfrm>
          <a:off x="651590" y="4652928"/>
          <a:ext cx="3670866" cy="187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815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834067">
                  <a:extLst>
                    <a:ext uri="{9D8B030D-6E8A-4147-A177-3AD203B41FA5}">
                      <a16:colId xmlns:a16="http://schemas.microsoft.com/office/drawing/2014/main" val="8834736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1077432929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2248332737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701571902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440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1440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10080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43200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525600</a:t>
                      </a:r>
                      <a:endParaRPr lang="ko-KR" altLang="en-US" sz="6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672409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553682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672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2880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35040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293162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336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1440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17520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23599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022207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720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8760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961310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24359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365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81172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500751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993451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841290"/>
                  </a:ext>
                </a:extLst>
              </a:tr>
            </a:tbl>
          </a:graphicData>
        </a:graphic>
      </p:graphicFrame>
      <p:sp>
        <p:nvSpPr>
          <p:cNvPr id="71" name="타원형 설명선 225">
            <a:extLst>
              <a:ext uri="{FF2B5EF4-FFF2-40B4-BE49-F238E27FC236}">
                <a16:creationId xmlns:a16="http://schemas.microsoft.com/office/drawing/2014/main" id="{EC68028D-2393-422D-9A36-A7F620E2CE47}"/>
              </a:ext>
            </a:extLst>
          </p:cNvPr>
          <p:cNvSpPr/>
          <p:nvPr/>
        </p:nvSpPr>
        <p:spPr>
          <a:xfrm>
            <a:off x="431568" y="4470714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1" name="표 90">
            <a:extLst>
              <a:ext uri="{FF2B5EF4-FFF2-40B4-BE49-F238E27FC236}">
                <a16:creationId xmlns:a16="http://schemas.microsoft.com/office/drawing/2014/main" id="{EA1C14B1-19A2-41C8-A78D-4DDD6CEE5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318693"/>
              </p:ext>
            </p:extLst>
          </p:nvPr>
        </p:nvGraphicFramePr>
        <p:xfrm>
          <a:off x="4721892" y="4739516"/>
          <a:ext cx="3342024" cy="1246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256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1308233075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248332737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333210567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53518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23599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96131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81172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993451"/>
                  </a:ext>
                </a:extLst>
              </a:tr>
            </a:tbl>
          </a:graphicData>
        </a:graphic>
      </p:graphicFrame>
      <p:sp>
        <p:nvSpPr>
          <p:cNvPr id="92" name="타원형 설명선 225">
            <a:extLst>
              <a:ext uri="{FF2B5EF4-FFF2-40B4-BE49-F238E27FC236}">
                <a16:creationId xmlns:a16="http://schemas.microsoft.com/office/drawing/2014/main" id="{376570CE-208A-4D58-B0B5-07447BA1CF5B}"/>
              </a:ext>
            </a:extLst>
          </p:cNvPr>
          <p:cNvSpPr/>
          <p:nvPr/>
        </p:nvSpPr>
        <p:spPr>
          <a:xfrm>
            <a:off x="4414173" y="459954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85EF771-AF31-41DA-AA65-E0431757254E}"/>
              </a:ext>
            </a:extLst>
          </p:cNvPr>
          <p:cNvSpPr/>
          <p:nvPr/>
        </p:nvSpPr>
        <p:spPr>
          <a:xfrm>
            <a:off x="56456" y="610063"/>
            <a:ext cx="1368152" cy="2098857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</a:t>
            </a:r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 시간</a:t>
            </a:r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xx kW</a:t>
            </a:r>
          </a:p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한전계약전력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xx kW</a:t>
            </a:r>
          </a:p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요금적용전력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xx kW</a:t>
            </a:r>
          </a:p>
          <a:p>
            <a:pPr algn="ctr"/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말풍선: 모서리가 둥근 사각형 92">
            <a:extLst>
              <a:ext uri="{FF2B5EF4-FFF2-40B4-BE49-F238E27FC236}">
                <a16:creationId xmlns:a16="http://schemas.microsoft.com/office/drawing/2014/main" id="{76EFBCD0-DC75-4837-BC39-CF11CE686C6A}"/>
              </a:ext>
            </a:extLst>
          </p:cNvPr>
          <p:cNvSpPr/>
          <p:nvPr/>
        </p:nvSpPr>
        <p:spPr>
          <a:xfrm>
            <a:off x="674217" y="-254513"/>
            <a:ext cx="2315240" cy="516590"/>
          </a:xfrm>
          <a:prstGeom prst="wedgeRoundRectCallout">
            <a:avLst>
              <a:gd name="adj1" fmla="val -33681"/>
              <a:gd name="adj2" fmla="val 105060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-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피크 전력은 합계로 표시하지 않음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.</a:t>
            </a:r>
          </a:p>
          <a:p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-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피크 전력은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‘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양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’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이 아니므로 단위 뒤에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h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를 붙이지 않음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.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예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) 500kW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타원형 설명선 246">
            <a:extLst>
              <a:ext uri="{FF2B5EF4-FFF2-40B4-BE49-F238E27FC236}">
                <a16:creationId xmlns:a16="http://schemas.microsoft.com/office/drawing/2014/main" id="{3F56EFB8-6134-4B8C-A373-F205F817BDD0}"/>
              </a:ext>
            </a:extLst>
          </p:cNvPr>
          <p:cNvSpPr/>
          <p:nvPr/>
        </p:nvSpPr>
        <p:spPr>
          <a:xfrm>
            <a:off x="1553326" y="83673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타원형 설명선 247">
            <a:extLst>
              <a:ext uri="{FF2B5EF4-FFF2-40B4-BE49-F238E27FC236}">
                <a16:creationId xmlns:a16="http://schemas.microsoft.com/office/drawing/2014/main" id="{F9D03755-587E-4C2D-8E98-71ABA369BD9F}"/>
              </a:ext>
            </a:extLst>
          </p:cNvPr>
          <p:cNvSpPr/>
          <p:nvPr/>
        </p:nvSpPr>
        <p:spPr>
          <a:xfrm>
            <a:off x="173047" y="299697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D34B04A-087B-445C-8746-7AD416DBA4BC}"/>
              </a:ext>
            </a:extLst>
          </p:cNvPr>
          <p:cNvSpPr/>
          <p:nvPr/>
        </p:nvSpPr>
        <p:spPr>
          <a:xfrm>
            <a:off x="7725201" y="923897"/>
            <a:ext cx="504056" cy="259702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97" name="말풍선: 모서리가 둥근 사각형 96">
            <a:extLst>
              <a:ext uri="{FF2B5EF4-FFF2-40B4-BE49-F238E27FC236}">
                <a16:creationId xmlns:a16="http://schemas.microsoft.com/office/drawing/2014/main" id="{B16D735C-2F37-4CEF-935E-EE81E6176703}"/>
              </a:ext>
            </a:extLst>
          </p:cNvPr>
          <p:cNvSpPr/>
          <p:nvPr/>
        </p:nvSpPr>
        <p:spPr>
          <a:xfrm>
            <a:off x="6393160" y="1426777"/>
            <a:ext cx="1760723" cy="274031"/>
          </a:xfrm>
          <a:prstGeom prst="wedgeRoundRectCallout">
            <a:avLst>
              <a:gd name="adj1" fmla="val 37289"/>
              <a:gd name="adj2" fmla="val -119401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피크 전력은 막대 그래프 고정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9223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692661"/>
              </p:ext>
            </p:extLst>
          </p:nvPr>
        </p:nvGraphicFramePr>
        <p:xfrm>
          <a:off x="8469313" y="276225"/>
          <a:ext cx="1404000" cy="221664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요금적용전력</a:t>
                      </a:r>
                      <a:endParaRPr kumimoji="1" lang="en-US" altLang="ko-KR" sz="800" b="1" i="0" u="none" strike="sng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 시간이 요금적용 전력 갱신구간 內에 위치할 경우 다음과 같은 문구를 표시한다</a:t>
                      </a:r>
                      <a:r>
                        <a:rPr kumimoji="1" lang="en-US" altLang="ko-KR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“</a:t>
                      </a:r>
                      <a:r>
                        <a:rPr kumimoji="1" lang="ko-KR" altLang="en-US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지금은 요금적용전력 갱신 구간입니다</a:t>
                      </a:r>
                      <a:r>
                        <a:rPr kumimoji="1" lang="en-US" altLang="ko-KR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 (</a:t>
                      </a:r>
                      <a:r>
                        <a:rPr kumimoji="1" lang="ko-KR" altLang="en-US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시작시간 </a:t>
                      </a:r>
                      <a:r>
                        <a:rPr kumimoji="1" lang="en-US" altLang="ko-KR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종료시간</a:t>
                      </a:r>
                      <a:r>
                        <a:rPr kumimoji="1" lang="en-US" altLang="ko-KR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)”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 시간이 아니라 특정 기간 조회의 경우 해당 표시를 하지 않는다</a:t>
                      </a:r>
                      <a:r>
                        <a:rPr kumimoji="1" lang="en-US" altLang="ko-KR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sng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Site Main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에만 요금적용전력 갱신구간을 표시한다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ewpsp_scr_010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14E8AEF-8EA8-4944-AE52-FF98A1FB7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3" y="764705"/>
            <a:ext cx="8208912" cy="445613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762442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7D07777-30AA-4506-9C18-6F3B4C7D943C}"/>
              </a:ext>
            </a:extLst>
          </p:cNvPr>
          <p:cNvCxnSpPr>
            <a:cxnSpLocks/>
          </p:cNvCxnSpPr>
          <p:nvPr/>
        </p:nvCxnSpPr>
        <p:spPr>
          <a:xfrm>
            <a:off x="128463" y="1124744"/>
            <a:ext cx="8208912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4417E-CAA5-4FD3-BBB9-7CD5570EF571}"/>
              </a:ext>
            </a:extLst>
          </p:cNvPr>
          <p:cNvSpPr/>
          <p:nvPr/>
        </p:nvSpPr>
        <p:spPr>
          <a:xfrm>
            <a:off x="216315" y="1556792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피크 전력 현황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80BACBD-4B64-4649-BD7C-E1EE3620FBC6}"/>
              </a:ext>
            </a:extLst>
          </p:cNvPr>
          <p:cNvSpPr/>
          <p:nvPr/>
        </p:nvSpPr>
        <p:spPr>
          <a:xfrm>
            <a:off x="120419" y="1874073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27B69D7-2B77-4AF2-A717-2F8B00E5023D}"/>
              </a:ext>
            </a:extLst>
          </p:cNvPr>
          <p:cNvSpPr/>
          <p:nvPr/>
        </p:nvSpPr>
        <p:spPr>
          <a:xfrm>
            <a:off x="3512840" y="1569453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1E4F555-ACF8-422A-8A4C-263DF5607ED0}"/>
              </a:ext>
            </a:extLst>
          </p:cNvPr>
          <p:cNvSpPr/>
          <p:nvPr/>
        </p:nvSpPr>
        <p:spPr>
          <a:xfrm>
            <a:off x="4232920" y="156945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6B85B8-E22D-471D-BF90-7BA59FDE59DA}"/>
              </a:ext>
            </a:extLst>
          </p:cNvPr>
          <p:cNvSpPr/>
          <p:nvPr/>
        </p:nvSpPr>
        <p:spPr>
          <a:xfrm>
            <a:off x="5495673" y="156945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DE85575-6695-43D9-BA78-E72D7749FD5A}"/>
              </a:ext>
            </a:extLst>
          </p:cNvPr>
          <p:cNvSpPr/>
          <p:nvPr/>
        </p:nvSpPr>
        <p:spPr>
          <a:xfrm>
            <a:off x="5783705" y="1569453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2DDF82F-9C8F-422F-B328-3979E21AEB5E}"/>
              </a:ext>
            </a:extLst>
          </p:cNvPr>
          <p:cNvSpPr/>
          <p:nvPr/>
        </p:nvSpPr>
        <p:spPr>
          <a:xfrm>
            <a:off x="6033120" y="156945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08668D7-197F-47CF-8003-58499E43E073}"/>
              </a:ext>
            </a:extLst>
          </p:cNvPr>
          <p:cNvSpPr/>
          <p:nvPr/>
        </p:nvSpPr>
        <p:spPr>
          <a:xfrm>
            <a:off x="7295873" y="156945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844086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19FCE8B-C633-47C3-A0BD-44AD20643BCC}"/>
              </a:ext>
            </a:extLst>
          </p:cNvPr>
          <p:cNvSpPr/>
          <p:nvPr/>
        </p:nvSpPr>
        <p:spPr>
          <a:xfrm>
            <a:off x="1239315" y="1637161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48F9D44-B814-4AF5-882E-A35193F2E22A}"/>
              </a:ext>
            </a:extLst>
          </p:cNvPr>
          <p:cNvSpPr/>
          <p:nvPr/>
        </p:nvSpPr>
        <p:spPr>
          <a:xfrm>
            <a:off x="2297791" y="1636316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D414077D-420F-4382-81AA-4739B9E9B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4223"/>
              </p:ext>
            </p:extLst>
          </p:nvPr>
        </p:nvGraphicFramePr>
        <p:xfrm>
          <a:off x="308467" y="2353491"/>
          <a:ext cx="7812883" cy="186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93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3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93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93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93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93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93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93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93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93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93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693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6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653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A573A36C-7C15-404A-B5F3-68BC2E063808}"/>
              </a:ext>
            </a:extLst>
          </p:cNvPr>
          <p:cNvCxnSpPr/>
          <p:nvPr/>
        </p:nvCxnSpPr>
        <p:spPr>
          <a:xfrm>
            <a:off x="7106998" y="2173184"/>
            <a:ext cx="468000" cy="0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95086C6C-3EB5-4ADD-B377-FC8695890289}"/>
              </a:ext>
            </a:extLst>
          </p:cNvPr>
          <p:cNvCxnSpPr>
            <a:cxnSpLocks/>
          </p:cNvCxnSpPr>
          <p:nvPr/>
        </p:nvCxnSpPr>
        <p:spPr>
          <a:xfrm>
            <a:off x="1028548" y="2636912"/>
            <a:ext cx="7092804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F38C1271-E846-4822-847E-538D40435536}"/>
              </a:ext>
            </a:extLst>
          </p:cNvPr>
          <p:cNvCxnSpPr>
            <a:cxnSpLocks/>
          </p:cNvCxnSpPr>
          <p:nvPr/>
        </p:nvCxnSpPr>
        <p:spPr>
          <a:xfrm>
            <a:off x="1028548" y="3196198"/>
            <a:ext cx="7092804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1FA7DCD4-E666-44B3-ADE9-9BC63E7FC392}"/>
              </a:ext>
            </a:extLst>
          </p:cNvPr>
          <p:cNvCxnSpPr>
            <a:cxnSpLocks/>
          </p:cNvCxnSpPr>
          <p:nvPr/>
        </p:nvCxnSpPr>
        <p:spPr>
          <a:xfrm>
            <a:off x="5166793" y="2353491"/>
            <a:ext cx="0" cy="18222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말풍선: 사각형 65">
            <a:extLst>
              <a:ext uri="{FF2B5EF4-FFF2-40B4-BE49-F238E27FC236}">
                <a16:creationId xmlns:a16="http://schemas.microsoft.com/office/drawing/2014/main" id="{D1373ABA-0410-4ABF-B770-0235EAA0013F}"/>
              </a:ext>
            </a:extLst>
          </p:cNvPr>
          <p:cNvSpPr/>
          <p:nvPr/>
        </p:nvSpPr>
        <p:spPr>
          <a:xfrm>
            <a:off x="4920254" y="2917631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600" b="1" dirty="0">
                <a:solidFill>
                  <a:srgbClr val="FF0000"/>
                </a:solidFill>
              </a:rPr>
              <a:t>210 kW</a:t>
            </a:r>
            <a:endParaRPr lang="ko-KR" altLang="en-US" sz="600" b="1" dirty="0">
              <a:solidFill>
                <a:srgbClr val="FF0000"/>
              </a:solidFill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FEC896B-88E4-4C63-A9FA-500814C26877}"/>
              </a:ext>
            </a:extLst>
          </p:cNvPr>
          <p:cNvCxnSpPr>
            <a:cxnSpLocks/>
          </p:cNvCxnSpPr>
          <p:nvPr/>
        </p:nvCxnSpPr>
        <p:spPr>
          <a:xfrm>
            <a:off x="5610749" y="2173184"/>
            <a:ext cx="468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13511D5-5D9C-429B-905F-C138B97AB74E}"/>
              </a:ext>
            </a:extLst>
          </p:cNvPr>
          <p:cNvSpPr/>
          <p:nvPr/>
        </p:nvSpPr>
        <p:spPr>
          <a:xfrm>
            <a:off x="6033224" y="2038151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한전 계약 전력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1B33EB40-7049-44A2-85E4-295D73129D06}"/>
              </a:ext>
            </a:extLst>
          </p:cNvPr>
          <p:cNvCxnSpPr>
            <a:cxnSpLocks/>
          </p:cNvCxnSpPr>
          <p:nvPr/>
        </p:nvCxnSpPr>
        <p:spPr>
          <a:xfrm>
            <a:off x="4160912" y="2173184"/>
            <a:ext cx="4680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DAB4E5F-DEC8-43F4-8CE5-22593B85D9BB}"/>
              </a:ext>
            </a:extLst>
          </p:cNvPr>
          <p:cNvSpPr/>
          <p:nvPr/>
        </p:nvSpPr>
        <p:spPr>
          <a:xfrm>
            <a:off x="4611967" y="2038151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A8DAC06-1585-4001-85B4-B2A9949048F2}"/>
              </a:ext>
            </a:extLst>
          </p:cNvPr>
          <p:cNvSpPr/>
          <p:nvPr/>
        </p:nvSpPr>
        <p:spPr>
          <a:xfrm>
            <a:off x="7545392" y="2038151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피크 전력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647C3F8-49B1-40A9-AB5C-4DF9C1D7D83F}"/>
              </a:ext>
            </a:extLst>
          </p:cNvPr>
          <p:cNvSpPr txBox="1"/>
          <p:nvPr/>
        </p:nvSpPr>
        <p:spPr>
          <a:xfrm>
            <a:off x="1367065" y="2675906"/>
            <a:ext cx="3888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지금은 </a:t>
            </a:r>
            <a:r>
              <a:rPr lang="ko-KR" altLang="en-US" sz="1200" b="1" dirty="0">
                <a:solidFill>
                  <a:srgbClr val="FF0000"/>
                </a:solidFill>
              </a:rPr>
              <a:t>요금적용전력</a:t>
            </a:r>
            <a:r>
              <a:rPr lang="ko-KR" altLang="en-US" sz="1100" b="1" dirty="0">
                <a:solidFill>
                  <a:schemeClr val="bg1"/>
                </a:solidFill>
              </a:rPr>
              <a:t> 갱신구간 입니다</a:t>
            </a:r>
            <a:r>
              <a:rPr lang="en-US" altLang="ko-KR" sz="1100" b="1" dirty="0">
                <a:solidFill>
                  <a:schemeClr val="bg1"/>
                </a:solidFill>
              </a:rPr>
              <a:t>. (08:00 ~ 12:00)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93376086-4485-4099-8796-1DE1E0769DB8}"/>
              </a:ext>
            </a:extLst>
          </p:cNvPr>
          <p:cNvGrpSpPr/>
          <p:nvPr/>
        </p:nvGrpSpPr>
        <p:grpSpPr>
          <a:xfrm>
            <a:off x="210356" y="1203435"/>
            <a:ext cx="8024876" cy="260092"/>
            <a:chOff x="184526" y="1505937"/>
            <a:chExt cx="8024876" cy="260092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8823D20-71BA-460C-8AE2-C16FA5DE2376}"/>
                </a:ext>
              </a:extLst>
            </p:cNvPr>
            <p:cNvSpPr/>
            <p:nvPr/>
          </p:nvSpPr>
          <p:spPr>
            <a:xfrm>
              <a:off x="5810955" y="1550585"/>
              <a:ext cx="18205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수익 현황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03F4F319-13E2-48A1-9794-A4AC5040CFDB}"/>
                </a:ext>
              </a:extLst>
            </p:cNvPr>
            <p:cNvSpPr/>
            <p:nvPr/>
          </p:nvSpPr>
          <p:spPr>
            <a:xfrm>
              <a:off x="184526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에너지 모니터링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06355E48-5008-4B0C-A94D-FCDC6B7073C0}"/>
                </a:ext>
              </a:extLst>
            </p:cNvPr>
            <p:cNvSpPr/>
            <p:nvPr/>
          </p:nvSpPr>
          <p:spPr>
            <a:xfrm>
              <a:off x="2191085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장치 모니터링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FC65248-9BFE-4A11-B5D9-33741EDF1DBF}"/>
                </a:ext>
              </a:extLst>
            </p:cNvPr>
            <p:cNvSpPr/>
            <p:nvPr/>
          </p:nvSpPr>
          <p:spPr>
            <a:xfrm>
              <a:off x="4197644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상황</a:t>
              </a:r>
              <a:r>
                <a:rPr lang="en-US" altLang="ko-KR" sz="700" dirty="0"/>
                <a:t> </a:t>
              </a:r>
              <a:r>
                <a:rPr lang="ko-KR" altLang="en-US" sz="700" dirty="0"/>
                <a:t>관제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3DD86F47-3ACC-4A15-A9FB-FBC3D340F134}"/>
                </a:ext>
              </a:extLst>
            </p:cNvPr>
            <p:cNvSpPr/>
            <p:nvPr/>
          </p:nvSpPr>
          <p:spPr>
            <a:xfrm>
              <a:off x="6204202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요금</a:t>
              </a:r>
              <a:r>
                <a:rPr lang="en-US" altLang="ko-KR" sz="700" dirty="0"/>
                <a:t>/</a:t>
              </a:r>
              <a:r>
                <a:rPr lang="ko-KR" altLang="en-US" sz="700" dirty="0"/>
                <a:t>수익</a:t>
              </a:r>
            </a:p>
          </p:txBody>
        </p:sp>
      </p:grpSp>
      <p:sp>
        <p:nvSpPr>
          <p:cNvPr id="226" name="타원형 설명선 225"/>
          <p:cNvSpPr/>
          <p:nvPr/>
        </p:nvSpPr>
        <p:spPr>
          <a:xfrm>
            <a:off x="1222498" y="2552995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671465E-C2E3-47DE-85EE-61D53DEA2B6C}"/>
              </a:ext>
            </a:extLst>
          </p:cNvPr>
          <p:cNvSpPr/>
          <p:nvPr/>
        </p:nvSpPr>
        <p:spPr>
          <a:xfrm>
            <a:off x="1568624" y="2675790"/>
            <a:ext cx="3489773" cy="307651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99C4029-7959-4D4E-B10E-518954856166}"/>
              </a:ext>
            </a:extLst>
          </p:cNvPr>
          <p:cNvSpPr/>
          <p:nvPr/>
        </p:nvSpPr>
        <p:spPr>
          <a:xfrm>
            <a:off x="7608261" y="1569453"/>
            <a:ext cx="473661" cy="289182"/>
          </a:xfrm>
          <a:prstGeom prst="rect">
            <a:avLst/>
          </a:prstGeom>
          <a:solidFill>
            <a:srgbClr val="0099FF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7CF0BAEF-75CA-4A6E-9086-4CCEC12FF3E6}"/>
              </a:ext>
            </a:extLst>
          </p:cNvPr>
          <p:cNvGrpSpPr/>
          <p:nvPr/>
        </p:nvGrpSpPr>
        <p:grpSpPr>
          <a:xfrm>
            <a:off x="326114" y="4293096"/>
            <a:ext cx="862386" cy="211955"/>
            <a:chOff x="4861742" y="3907374"/>
            <a:chExt cx="862386" cy="211955"/>
          </a:xfrm>
        </p:grpSpPr>
        <p:pic>
          <p:nvPicPr>
            <p:cNvPr id="77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E2D255DB-D2FF-4586-870E-5A5A153345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A9F0AB9-1E23-4BE5-A691-D23509E87BC4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B54004A6-E073-42B7-894A-E81EDF140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462370"/>
              </p:ext>
            </p:extLst>
          </p:nvPr>
        </p:nvGraphicFramePr>
        <p:xfrm>
          <a:off x="308467" y="4584996"/>
          <a:ext cx="7812877" cy="356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107">
                  <a:extLst>
                    <a:ext uri="{9D8B030D-6E8A-4147-A177-3AD203B41FA5}">
                      <a16:colId xmlns:a16="http://schemas.microsoft.com/office/drawing/2014/main" val="3245935667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YYYY-MM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07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09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576794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현재 부하</a:t>
                      </a:r>
                      <a:endParaRPr lang="en-US" altLang="ko-KR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210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125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125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F7D2E58D-6C29-4720-B9A1-F7F8437C0729}"/>
              </a:ext>
            </a:extLst>
          </p:cNvPr>
          <p:cNvSpPr txBox="1"/>
          <p:nvPr/>
        </p:nvSpPr>
        <p:spPr>
          <a:xfrm>
            <a:off x="7116279" y="4293096"/>
            <a:ext cx="972108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 접기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9F63445-4D42-48BF-8FD2-892FD40A15A3}"/>
              </a:ext>
            </a:extLst>
          </p:cNvPr>
          <p:cNvSpPr/>
          <p:nvPr/>
        </p:nvSpPr>
        <p:spPr>
          <a:xfrm>
            <a:off x="32687" y="325834"/>
            <a:ext cx="9840626" cy="6055494"/>
          </a:xfrm>
          <a:prstGeom prst="rect">
            <a:avLst/>
          </a:prstGeom>
          <a:solidFill>
            <a:schemeClr val="accent1">
              <a:alpha val="6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>
                <a:solidFill>
                  <a:srgbClr val="FF0000"/>
                </a:solidFill>
              </a:rPr>
              <a:t>본 화면에서 기능 삭제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EFECF550-CCA5-4349-ADE9-3E1F82E27E86}"/>
              </a:ext>
            </a:extLst>
          </p:cNvPr>
          <p:cNvGrpSpPr/>
          <p:nvPr/>
        </p:nvGrpSpPr>
        <p:grpSpPr>
          <a:xfrm rot="10800000" flipH="1" flipV="1">
            <a:off x="1271433" y="3502312"/>
            <a:ext cx="3861556" cy="511784"/>
            <a:chOff x="1501760" y="2998490"/>
            <a:chExt cx="2520272" cy="1366614"/>
          </a:xfrm>
          <a:solidFill>
            <a:srgbClr val="FF6600"/>
          </a:solidFill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7C0B50B9-E38B-442E-A538-197926D43B3E}"/>
                </a:ext>
              </a:extLst>
            </p:cNvPr>
            <p:cNvSpPr/>
            <p:nvPr/>
          </p:nvSpPr>
          <p:spPr>
            <a:xfrm>
              <a:off x="1501760" y="4217882"/>
              <a:ext cx="72000" cy="1472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65E89D2F-56BD-4A9D-82E6-ED420D9BE149}"/>
                </a:ext>
              </a:extLst>
            </p:cNvPr>
            <p:cNvSpPr/>
            <p:nvPr/>
          </p:nvSpPr>
          <p:spPr>
            <a:xfrm>
              <a:off x="3950032" y="2998490"/>
              <a:ext cx="72000" cy="136661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C7DE6A9D-953E-4DC9-9237-81B8A1BB9CE3}"/>
                </a:ext>
              </a:extLst>
            </p:cNvPr>
            <p:cNvSpPr/>
            <p:nvPr/>
          </p:nvSpPr>
          <p:spPr>
            <a:xfrm>
              <a:off x="3638317" y="3069104"/>
              <a:ext cx="72000" cy="129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2AC12CFD-B2DA-47FA-99B5-8A48B6A653D7}"/>
                </a:ext>
              </a:extLst>
            </p:cNvPr>
            <p:cNvSpPr/>
            <p:nvPr/>
          </p:nvSpPr>
          <p:spPr>
            <a:xfrm>
              <a:off x="3327361" y="3214514"/>
              <a:ext cx="72000" cy="11505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B8AB2B1C-BDD2-4855-B9B7-E051A4FC7F1B}"/>
                </a:ext>
              </a:extLst>
            </p:cNvPr>
            <p:cNvSpPr/>
            <p:nvPr/>
          </p:nvSpPr>
          <p:spPr>
            <a:xfrm>
              <a:off x="3034940" y="3575613"/>
              <a:ext cx="72000" cy="7894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B09E859A-7A08-465F-A9EB-6ADB0D463807}"/>
                </a:ext>
              </a:extLst>
            </p:cNvPr>
            <p:cNvSpPr/>
            <p:nvPr/>
          </p:nvSpPr>
          <p:spPr>
            <a:xfrm>
              <a:off x="2732038" y="3681103"/>
              <a:ext cx="72000" cy="6840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AD59BF1-5AB6-4AEC-A2FE-78BFF2565ACB}"/>
                </a:ext>
              </a:extLst>
            </p:cNvPr>
            <p:cNvSpPr/>
            <p:nvPr/>
          </p:nvSpPr>
          <p:spPr>
            <a:xfrm>
              <a:off x="2425257" y="3807103"/>
              <a:ext cx="72000" cy="5580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248D8BB3-82D1-46CA-B25B-7309E813B580}"/>
                </a:ext>
              </a:extLst>
            </p:cNvPr>
            <p:cNvSpPr/>
            <p:nvPr/>
          </p:nvSpPr>
          <p:spPr>
            <a:xfrm>
              <a:off x="2115519" y="3862587"/>
              <a:ext cx="72000" cy="5025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8F4D0AC0-C8E2-4FDB-BE47-8DF7AF05926D}"/>
                </a:ext>
              </a:extLst>
            </p:cNvPr>
            <p:cNvSpPr/>
            <p:nvPr/>
          </p:nvSpPr>
          <p:spPr>
            <a:xfrm>
              <a:off x="1806602" y="4059104"/>
              <a:ext cx="72000" cy="30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90713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ESS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충방전량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ESS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충방전량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203528"/>
              </p:ext>
            </p:extLst>
          </p:nvPr>
        </p:nvGraphicFramePr>
        <p:xfrm>
          <a:off x="8469313" y="276225"/>
          <a:ext cx="1404000" cy="5235648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기간의 시작과 끝 시점을 설정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별 시작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종료 시간은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간격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번에서 지정된 기간 내 데이터의 조회 간격을 설정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간격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en-US" altLang="ko-KR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15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30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별 선택 가능한 조회 간격은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일이 선택된 경우에는 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~24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시로 조회하고 표시하며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그 외의 경우 지금 시간부터 지정된 과거의 기간만큼 조회하고 표시한다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 시작 설정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기간의 시작 날짜를 직접 입력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시간은 현재시간으로 고정되며 날짜만 지정 가능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 종료 설정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기간의 종료 날짜를 직접 입력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시간은 현재시간으로 고정되며 날짜만 지정 가능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데이터 갱신 시간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지정된 설정에 따라 조회가 진행된 시간표시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ewpsp_scr_011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14E8AEF-8EA8-4944-AE52-FF98A1FB7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772657"/>
            <a:ext cx="8208912" cy="488190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762442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7D07777-30AA-4506-9C18-6F3B4C7D943C}"/>
              </a:ext>
            </a:extLst>
          </p:cNvPr>
          <p:cNvCxnSpPr>
            <a:cxnSpLocks/>
          </p:cNvCxnSpPr>
          <p:nvPr/>
        </p:nvCxnSpPr>
        <p:spPr>
          <a:xfrm>
            <a:off x="128463" y="1124744"/>
            <a:ext cx="8208912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80BACBD-4B64-4649-BD7C-E1EE3620FBC6}"/>
              </a:ext>
            </a:extLst>
          </p:cNvPr>
          <p:cNvSpPr/>
          <p:nvPr/>
        </p:nvSpPr>
        <p:spPr>
          <a:xfrm>
            <a:off x="120419" y="1861412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27B69D7-2B77-4AF2-A717-2F8B00E5023D}"/>
              </a:ext>
            </a:extLst>
          </p:cNvPr>
          <p:cNvSpPr/>
          <p:nvPr/>
        </p:nvSpPr>
        <p:spPr>
          <a:xfrm>
            <a:off x="3584848" y="1556792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1E4F555-ACF8-422A-8A4C-263DF5607ED0}"/>
              </a:ext>
            </a:extLst>
          </p:cNvPr>
          <p:cNvSpPr/>
          <p:nvPr/>
        </p:nvSpPr>
        <p:spPr>
          <a:xfrm>
            <a:off x="4304928" y="1556792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6B85B8-E22D-471D-BF90-7BA59FDE59DA}"/>
              </a:ext>
            </a:extLst>
          </p:cNvPr>
          <p:cNvSpPr/>
          <p:nvPr/>
        </p:nvSpPr>
        <p:spPr>
          <a:xfrm>
            <a:off x="5567681" y="1556792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DE85575-6695-43D9-BA78-E72D7749FD5A}"/>
              </a:ext>
            </a:extLst>
          </p:cNvPr>
          <p:cNvSpPr/>
          <p:nvPr/>
        </p:nvSpPr>
        <p:spPr>
          <a:xfrm>
            <a:off x="5855713" y="1556792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2DDF82F-9C8F-422F-B328-3979E21AEB5E}"/>
              </a:ext>
            </a:extLst>
          </p:cNvPr>
          <p:cNvSpPr/>
          <p:nvPr/>
        </p:nvSpPr>
        <p:spPr>
          <a:xfrm>
            <a:off x="6105128" y="1556792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08668D7-197F-47CF-8003-58499E43E073}"/>
              </a:ext>
            </a:extLst>
          </p:cNvPr>
          <p:cNvSpPr/>
          <p:nvPr/>
        </p:nvSpPr>
        <p:spPr>
          <a:xfrm>
            <a:off x="7367881" y="1556792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844086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19FCE8B-C633-47C3-A0BD-44AD20643BCC}"/>
              </a:ext>
            </a:extLst>
          </p:cNvPr>
          <p:cNvSpPr/>
          <p:nvPr/>
        </p:nvSpPr>
        <p:spPr>
          <a:xfrm>
            <a:off x="1239315" y="1624500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48F9D44-B814-4AF5-882E-A35193F2E22A}"/>
              </a:ext>
            </a:extLst>
          </p:cNvPr>
          <p:cNvSpPr/>
          <p:nvPr/>
        </p:nvSpPr>
        <p:spPr>
          <a:xfrm>
            <a:off x="2297791" y="1623655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326CBCB-329A-4C09-A801-8C26FFCF7D00}"/>
              </a:ext>
            </a:extLst>
          </p:cNvPr>
          <p:cNvSpPr/>
          <p:nvPr/>
        </p:nvSpPr>
        <p:spPr>
          <a:xfrm>
            <a:off x="150835" y="1556792"/>
            <a:ext cx="1224136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9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충방전량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8" name="표 107">
            <a:extLst>
              <a:ext uri="{FF2B5EF4-FFF2-40B4-BE49-F238E27FC236}">
                <a16:creationId xmlns:a16="http://schemas.microsoft.com/office/drawing/2014/main" id="{403E27D5-30B0-47CB-AA15-EC86E7444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045378"/>
              </p:ext>
            </p:extLst>
          </p:nvPr>
        </p:nvGraphicFramePr>
        <p:xfrm>
          <a:off x="261327" y="2294616"/>
          <a:ext cx="7932032" cy="2028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858281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7744939-3A96-4389-A058-8BE19F4DE88F}"/>
              </a:ext>
            </a:extLst>
          </p:cNvPr>
          <p:cNvCxnSpPr>
            <a:cxnSpLocks/>
          </p:cNvCxnSpPr>
          <p:nvPr/>
        </p:nvCxnSpPr>
        <p:spPr>
          <a:xfrm>
            <a:off x="7534135" y="2322386"/>
            <a:ext cx="0" cy="17795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6548C795-7DDE-4D60-BA9C-2A4F3088BD6D}"/>
              </a:ext>
            </a:extLst>
          </p:cNvPr>
          <p:cNvCxnSpPr/>
          <p:nvPr/>
        </p:nvCxnSpPr>
        <p:spPr>
          <a:xfrm>
            <a:off x="3512840" y="2116150"/>
            <a:ext cx="504056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00A7094D-E4E2-4D34-A2F8-9E47F58CC2BE}"/>
              </a:ext>
            </a:extLst>
          </p:cNvPr>
          <p:cNvSpPr/>
          <p:nvPr/>
        </p:nvSpPr>
        <p:spPr>
          <a:xfrm>
            <a:off x="4088904" y="199392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충전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07617ABA-F664-4785-A66A-21C2540D1E99}"/>
              </a:ext>
            </a:extLst>
          </p:cNvPr>
          <p:cNvCxnSpPr/>
          <p:nvPr/>
        </p:nvCxnSpPr>
        <p:spPr>
          <a:xfrm>
            <a:off x="4664968" y="2116150"/>
            <a:ext cx="504056" cy="0"/>
          </a:xfrm>
          <a:prstGeom prst="line">
            <a:avLst/>
          </a:prstGeom>
          <a:noFill/>
          <a:ln w="1905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9203740D-1602-47D0-912C-2823EC89F4C2}"/>
              </a:ext>
            </a:extLst>
          </p:cNvPr>
          <p:cNvSpPr/>
          <p:nvPr/>
        </p:nvSpPr>
        <p:spPr>
          <a:xfrm>
            <a:off x="5241032" y="199392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방전</a:t>
            </a: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9A53836B-5B31-4494-8B63-C8A467E76D82}"/>
              </a:ext>
            </a:extLst>
          </p:cNvPr>
          <p:cNvGrpSpPr/>
          <p:nvPr/>
        </p:nvGrpSpPr>
        <p:grpSpPr>
          <a:xfrm>
            <a:off x="278972" y="4377982"/>
            <a:ext cx="892533" cy="211955"/>
            <a:chOff x="4861742" y="3907374"/>
            <a:chExt cx="862386" cy="211955"/>
          </a:xfrm>
        </p:grpSpPr>
        <p:pic>
          <p:nvPicPr>
            <p:cNvPr id="12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5C68F5C5-5635-42D1-B634-6E4756EC18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9BD7D97C-F9D7-4F35-A7EC-B3B946BBCC02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75FE7E5F-E413-4CEB-9EA7-AAA7844A2A15}"/>
              </a:ext>
            </a:extLst>
          </p:cNvPr>
          <p:cNvCxnSpPr/>
          <p:nvPr/>
        </p:nvCxnSpPr>
        <p:spPr>
          <a:xfrm>
            <a:off x="7039306" y="2109741"/>
            <a:ext cx="504056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021214D-A2A1-4E8A-986E-48CD36779487}"/>
              </a:ext>
            </a:extLst>
          </p:cNvPr>
          <p:cNvCxnSpPr/>
          <p:nvPr/>
        </p:nvCxnSpPr>
        <p:spPr>
          <a:xfrm>
            <a:off x="981407" y="2569986"/>
            <a:ext cx="720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69125AB8-A254-4025-99A5-C41C8B9146E8}"/>
              </a:ext>
            </a:extLst>
          </p:cNvPr>
          <p:cNvCxnSpPr/>
          <p:nvPr/>
        </p:nvCxnSpPr>
        <p:spPr>
          <a:xfrm>
            <a:off x="981407" y="3306844"/>
            <a:ext cx="720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C5EEB54F-2035-4DF4-998F-F6EC8D648962}"/>
              </a:ext>
            </a:extLst>
          </p:cNvPr>
          <p:cNvCxnSpPr/>
          <p:nvPr/>
        </p:nvCxnSpPr>
        <p:spPr>
          <a:xfrm>
            <a:off x="974634" y="3675273"/>
            <a:ext cx="720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9D029297-9092-447B-BBD9-A43978D80D0F}"/>
              </a:ext>
            </a:extLst>
          </p:cNvPr>
          <p:cNvCxnSpPr/>
          <p:nvPr/>
        </p:nvCxnSpPr>
        <p:spPr>
          <a:xfrm>
            <a:off x="974634" y="2938415"/>
            <a:ext cx="720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6456FF39-8DFD-4DFB-9820-7F83A253A5DC}"/>
              </a:ext>
            </a:extLst>
          </p:cNvPr>
          <p:cNvCxnSpPr/>
          <p:nvPr/>
        </p:nvCxnSpPr>
        <p:spPr>
          <a:xfrm>
            <a:off x="974634" y="4048598"/>
            <a:ext cx="720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39979DFA-6BA8-40F8-9911-8280AAF0A44E}"/>
              </a:ext>
            </a:extLst>
          </p:cNvPr>
          <p:cNvCxnSpPr/>
          <p:nvPr/>
        </p:nvCxnSpPr>
        <p:spPr>
          <a:xfrm>
            <a:off x="5745088" y="2113512"/>
            <a:ext cx="50405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E89CF3F6-F709-40F4-BEFD-A31A280953CF}"/>
              </a:ext>
            </a:extLst>
          </p:cNvPr>
          <p:cNvSpPr/>
          <p:nvPr/>
        </p:nvSpPr>
        <p:spPr>
          <a:xfrm>
            <a:off x="6321152" y="199128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충전 계획</a:t>
            </a: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48F2B437-5E69-451C-8F53-6F7777F58B09}"/>
              </a:ext>
            </a:extLst>
          </p:cNvPr>
          <p:cNvGrpSpPr/>
          <p:nvPr/>
        </p:nvGrpSpPr>
        <p:grpSpPr>
          <a:xfrm flipH="1" flipV="1">
            <a:off x="4125293" y="3314277"/>
            <a:ext cx="2688227" cy="511784"/>
            <a:chOff x="1501760" y="2998490"/>
            <a:chExt cx="2520272" cy="1366614"/>
          </a:xfrm>
          <a:solidFill>
            <a:srgbClr val="FF6600"/>
          </a:solidFill>
        </p:grpSpPr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34256C1B-0A00-4A3D-9F9D-43EC55B09010}"/>
                </a:ext>
              </a:extLst>
            </p:cNvPr>
            <p:cNvSpPr/>
            <p:nvPr/>
          </p:nvSpPr>
          <p:spPr>
            <a:xfrm>
              <a:off x="1501760" y="4217882"/>
              <a:ext cx="72000" cy="1472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28E9FE92-02DE-4619-BDC0-7F9488A7FE34}"/>
                </a:ext>
              </a:extLst>
            </p:cNvPr>
            <p:cNvSpPr/>
            <p:nvPr/>
          </p:nvSpPr>
          <p:spPr>
            <a:xfrm>
              <a:off x="3950032" y="2998490"/>
              <a:ext cx="72000" cy="136661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5087ECF3-13C7-45F5-BA4D-34D877BDB3EE}"/>
                </a:ext>
              </a:extLst>
            </p:cNvPr>
            <p:cNvSpPr/>
            <p:nvPr/>
          </p:nvSpPr>
          <p:spPr>
            <a:xfrm>
              <a:off x="3638317" y="3069104"/>
              <a:ext cx="72000" cy="129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47329883-915D-425F-93AD-6723294B76DC}"/>
                </a:ext>
              </a:extLst>
            </p:cNvPr>
            <p:cNvSpPr/>
            <p:nvPr/>
          </p:nvSpPr>
          <p:spPr>
            <a:xfrm>
              <a:off x="3327361" y="3214514"/>
              <a:ext cx="72000" cy="11505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53D95038-698F-49B2-BB38-3EFE47F3C971}"/>
                </a:ext>
              </a:extLst>
            </p:cNvPr>
            <p:cNvSpPr/>
            <p:nvPr/>
          </p:nvSpPr>
          <p:spPr>
            <a:xfrm>
              <a:off x="3013928" y="3575612"/>
              <a:ext cx="72000" cy="7894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9DC7D09C-75FF-4D92-BC6F-93C300B9BFDE}"/>
                </a:ext>
              </a:extLst>
            </p:cNvPr>
            <p:cNvSpPr/>
            <p:nvPr/>
          </p:nvSpPr>
          <p:spPr>
            <a:xfrm>
              <a:off x="2748848" y="3681104"/>
              <a:ext cx="72000" cy="684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50F25AC4-CEC4-4A0E-B23B-D48CCD294552}"/>
                </a:ext>
              </a:extLst>
            </p:cNvPr>
            <p:cNvSpPr/>
            <p:nvPr/>
          </p:nvSpPr>
          <p:spPr>
            <a:xfrm>
              <a:off x="2437864" y="3807104"/>
              <a:ext cx="72000" cy="5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797EC4A7-9208-4B12-B315-089B32134A33}"/>
                </a:ext>
              </a:extLst>
            </p:cNvPr>
            <p:cNvSpPr/>
            <p:nvPr/>
          </p:nvSpPr>
          <p:spPr>
            <a:xfrm>
              <a:off x="2123923" y="3862586"/>
              <a:ext cx="72000" cy="5025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F39A9B20-E4DB-47EA-A50A-8D6A0F9F070D}"/>
                </a:ext>
              </a:extLst>
            </p:cNvPr>
            <p:cNvSpPr/>
            <p:nvPr/>
          </p:nvSpPr>
          <p:spPr>
            <a:xfrm>
              <a:off x="1789792" y="4059104"/>
              <a:ext cx="72000" cy="30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88F518B5-D539-47E3-A462-CC4F10F0BDE5}"/>
              </a:ext>
            </a:extLst>
          </p:cNvPr>
          <p:cNvGrpSpPr/>
          <p:nvPr/>
        </p:nvGrpSpPr>
        <p:grpSpPr>
          <a:xfrm>
            <a:off x="1171506" y="2772920"/>
            <a:ext cx="2520272" cy="536324"/>
            <a:chOff x="1403648" y="2780928"/>
            <a:chExt cx="2520272" cy="1584176"/>
          </a:xfrm>
          <a:solidFill>
            <a:srgbClr val="00B050"/>
          </a:solidFill>
        </p:grpSpPr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CEB3E45B-045E-4196-97A9-952E3EBF00E9}"/>
                </a:ext>
              </a:extLst>
            </p:cNvPr>
            <p:cNvSpPr/>
            <p:nvPr/>
          </p:nvSpPr>
          <p:spPr>
            <a:xfrm>
              <a:off x="1403648" y="4185104"/>
              <a:ext cx="72000" cy="1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BCE6A953-5A4D-49B9-8ED2-F7EDCFF7F428}"/>
                </a:ext>
              </a:extLst>
            </p:cNvPr>
            <p:cNvSpPr/>
            <p:nvPr/>
          </p:nvSpPr>
          <p:spPr>
            <a:xfrm>
              <a:off x="3540205" y="2998490"/>
              <a:ext cx="72000" cy="136661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C5CBFDF4-AB25-429E-92CB-E4A46C317210}"/>
                </a:ext>
              </a:extLst>
            </p:cNvPr>
            <p:cNvSpPr/>
            <p:nvPr/>
          </p:nvSpPr>
          <p:spPr>
            <a:xfrm>
              <a:off x="3229249" y="3249104"/>
              <a:ext cx="72000" cy="11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8E3E502B-405D-4DB1-914D-679D02CD713E}"/>
                </a:ext>
              </a:extLst>
            </p:cNvPr>
            <p:cNvSpPr/>
            <p:nvPr/>
          </p:nvSpPr>
          <p:spPr>
            <a:xfrm>
              <a:off x="2915816" y="3429104"/>
              <a:ext cx="72000" cy="9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9CFDECA1-1A3F-442B-B5C8-D9EB3E2156FF}"/>
                </a:ext>
              </a:extLst>
            </p:cNvPr>
            <p:cNvSpPr/>
            <p:nvPr/>
          </p:nvSpPr>
          <p:spPr>
            <a:xfrm>
              <a:off x="2650736" y="3575612"/>
              <a:ext cx="72000" cy="7894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DEA5DDB0-81F2-4E48-A4D0-32E2D2517032}"/>
                </a:ext>
              </a:extLst>
            </p:cNvPr>
            <p:cNvSpPr/>
            <p:nvPr/>
          </p:nvSpPr>
          <p:spPr>
            <a:xfrm>
              <a:off x="2339752" y="3753104"/>
              <a:ext cx="72000" cy="61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6B824920-137A-4B3F-AC97-B634363745EB}"/>
                </a:ext>
              </a:extLst>
            </p:cNvPr>
            <p:cNvSpPr/>
            <p:nvPr/>
          </p:nvSpPr>
          <p:spPr>
            <a:xfrm>
              <a:off x="2025811" y="3933104"/>
              <a:ext cx="72000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BBFD94BA-ECBB-44DA-96C8-C5D8F6DDACAC}"/>
                </a:ext>
              </a:extLst>
            </p:cNvPr>
            <p:cNvSpPr/>
            <p:nvPr/>
          </p:nvSpPr>
          <p:spPr>
            <a:xfrm>
              <a:off x="1691680" y="4005104"/>
              <a:ext cx="72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56F4DEC5-8876-4861-9A88-57B885A75295}"/>
                </a:ext>
              </a:extLst>
            </p:cNvPr>
            <p:cNvSpPr/>
            <p:nvPr/>
          </p:nvSpPr>
          <p:spPr>
            <a:xfrm>
              <a:off x="3851920" y="2780928"/>
              <a:ext cx="72000" cy="15841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448464A8-0CAA-4A65-8373-02B1EDFBD476}"/>
              </a:ext>
            </a:extLst>
          </p:cNvPr>
          <p:cNvGrpSpPr/>
          <p:nvPr/>
        </p:nvGrpSpPr>
        <p:grpSpPr>
          <a:xfrm>
            <a:off x="7076155" y="3191010"/>
            <a:ext cx="353772" cy="121878"/>
            <a:chOff x="1403648" y="4005104"/>
            <a:chExt cx="360032" cy="360000"/>
          </a:xfrm>
          <a:solidFill>
            <a:srgbClr val="00B050"/>
          </a:solidFill>
        </p:grpSpPr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2ADB9A79-ABA6-49A1-9DD5-DE51D698C001}"/>
                </a:ext>
              </a:extLst>
            </p:cNvPr>
            <p:cNvSpPr/>
            <p:nvPr/>
          </p:nvSpPr>
          <p:spPr>
            <a:xfrm>
              <a:off x="1403648" y="4185104"/>
              <a:ext cx="72000" cy="1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69118776-2F5E-4DFA-8801-25B05ACDEE56}"/>
                </a:ext>
              </a:extLst>
            </p:cNvPr>
            <p:cNvSpPr/>
            <p:nvPr/>
          </p:nvSpPr>
          <p:spPr>
            <a:xfrm>
              <a:off x="1691680" y="4005104"/>
              <a:ext cx="72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35" name="자유형 33">
            <a:extLst>
              <a:ext uri="{FF2B5EF4-FFF2-40B4-BE49-F238E27FC236}">
                <a16:creationId xmlns:a16="http://schemas.microsoft.com/office/drawing/2014/main" id="{CA02E4B3-956E-4D5C-B54F-7D43642C84CF}"/>
              </a:ext>
            </a:extLst>
          </p:cNvPr>
          <p:cNvSpPr/>
          <p:nvPr/>
        </p:nvSpPr>
        <p:spPr>
          <a:xfrm flipH="1" flipV="1">
            <a:off x="4008787" y="3312883"/>
            <a:ext cx="2876505" cy="53632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6" name="자유형 83">
            <a:extLst>
              <a:ext uri="{FF2B5EF4-FFF2-40B4-BE49-F238E27FC236}">
                <a16:creationId xmlns:a16="http://schemas.microsoft.com/office/drawing/2014/main" id="{60CAAD73-1334-4889-B853-8AFD1B2E7740}"/>
              </a:ext>
            </a:extLst>
          </p:cNvPr>
          <p:cNvSpPr/>
          <p:nvPr/>
        </p:nvSpPr>
        <p:spPr>
          <a:xfrm>
            <a:off x="1164944" y="2703745"/>
            <a:ext cx="2742866" cy="60404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7" name="자유형 83">
            <a:extLst>
              <a:ext uri="{FF2B5EF4-FFF2-40B4-BE49-F238E27FC236}">
                <a16:creationId xmlns:a16="http://schemas.microsoft.com/office/drawing/2014/main" id="{5116EE6F-22C2-483E-B451-7BCD78285145}"/>
              </a:ext>
            </a:extLst>
          </p:cNvPr>
          <p:cNvSpPr/>
          <p:nvPr/>
        </p:nvSpPr>
        <p:spPr>
          <a:xfrm>
            <a:off x="7039306" y="2681757"/>
            <a:ext cx="1073025" cy="60404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58" name="표 157">
            <a:extLst>
              <a:ext uri="{FF2B5EF4-FFF2-40B4-BE49-F238E27FC236}">
                <a16:creationId xmlns:a16="http://schemas.microsoft.com/office/drawing/2014/main" id="{1B8399E2-8728-4F06-B2E4-45CC3ED21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246420"/>
              </p:ext>
            </p:extLst>
          </p:nvPr>
        </p:nvGraphicFramePr>
        <p:xfrm>
          <a:off x="263480" y="4663729"/>
          <a:ext cx="7929878" cy="534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914552893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643701830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4156003338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186923855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328632746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878962281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YYYY-MM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07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09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345152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충전량</a:t>
                      </a:r>
                      <a:endParaRPr lang="en-US" altLang="ko-KR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충전 계획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9" name="표 158">
            <a:extLst>
              <a:ext uri="{FF2B5EF4-FFF2-40B4-BE49-F238E27FC236}">
                <a16:creationId xmlns:a16="http://schemas.microsoft.com/office/drawing/2014/main" id="{29BC4313-E480-428A-B094-CEBD06AB1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060423"/>
              </p:ext>
            </p:extLst>
          </p:nvPr>
        </p:nvGraphicFramePr>
        <p:xfrm>
          <a:off x="263477" y="5200873"/>
          <a:ext cx="7929878" cy="356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295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814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914552893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643701830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4156003338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186923855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328632746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3619606665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방전량</a:t>
                      </a:r>
                      <a:endParaRPr lang="en-US" altLang="ko-KR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방전 계획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87766AD0-3E54-4227-8966-40200BC2BBA6}"/>
              </a:ext>
            </a:extLst>
          </p:cNvPr>
          <p:cNvSpPr/>
          <p:nvPr/>
        </p:nvSpPr>
        <p:spPr>
          <a:xfrm>
            <a:off x="7559944" y="1982146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방전 계획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0026016-30C2-47EE-B9B3-420F8A8D6156}"/>
              </a:ext>
            </a:extLst>
          </p:cNvPr>
          <p:cNvSpPr txBox="1"/>
          <p:nvPr/>
        </p:nvSpPr>
        <p:spPr>
          <a:xfrm>
            <a:off x="7221242" y="4384209"/>
            <a:ext cx="972108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 접기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3F26BC78-0460-45FB-816A-2FAD62BE5DEE}"/>
              </a:ext>
            </a:extLst>
          </p:cNvPr>
          <p:cNvGrpSpPr/>
          <p:nvPr/>
        </p:nvGrpSpPr>
        <p:grpSpPr>
          <a:xfrm>
            <a:off x="210356" y="1203435"/>
            <a:ext cx="8024876" cy="260092"/>
            <a:chOff x="184526" y="1505937"/>
            <a:chExt cx="8024876" cy="260092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E4E13EF-4A65-4079-93DB-F73A0D79299D}"/>
                </a:ext>
              </a:extLst>
            </p:cNvPr>
            <p:cNvSpPr/>
            <p:nvPr/>
          </p:nvSpPr>
          <p:spPr>
            <a:xfrm>
              <a:off x="5810955" y="1550585"/>
              <a:ext cx="18205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수익 현황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91D098D5-B2E5-41B5-968D-A8D97E37CB20}"/>
                </a:ext>
              </a:extLst>
            </p:cNvPr>
            <p:cNvSpPr/>
            <p:nvPr/>
          </p:nvSpPr>
          <p:spPr>
            <a:xfrm>
              <a:off x="184526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에너지 모니터링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31364A7D-0472-42E4-9876-ED46AF1FD910}"/>
                </a:ext>
              </a:extLst>
            </p:cNvPr>
            <p:cNvSpPr/>
            <p:nvPr/>
          </p:nvSpPr>
          <p:spPr>
            <a:xfrm>
              <a:off x="2191085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장치 모니터링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AEA27FF5-611E-404D-AA6A-652DDE30D374}"/>
                </a:ext>
              </a:extLst>
            </p:cNvPr>
            <p:cNvSpPr/>
            <p:nvPr/>
          </p:nvSpPr>
          <p:spPr>
            <a:xfrm>
              <a:off x="4197644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상황</a:t>
              </a:r>
              <a:r>
                <a:rPr lang="en-US" altLang="ko-KR" sz="700" dirty="0"/>
                <a:t> </a:t>
              </a:r>
              <a:r>
                <a:rPr lang="ko-KR" altLang="en-US" sz="700" dirty="0"/>
                <a:t>관제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A9F326A9-E96A-4398-8D25-7EB9D0B62F42}"/>
                </a:ext>
              </a:extLst>
            </p:cNvPr>
            <p:cNvSpPr/>
            <p:nvPr/>
          </p:nvSpPr>
          <p:spPr>
            <a:xfrm>
              <a:off x="6204202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요금</a:t>
              </a:r>
              <a:r>
                <a:rPr lang="en-US" altLang="ko-KR" sz="700" dirty="0"/>
                <a:t>/</a:t>
              </a:r>
              <a:r>
                <a:rPr lang="ko-KR" altLang="en-US" sz="700" dirty="0"/>
                <a:t>수익</a:t>
              </a:r>
            </a:p>
          </p:txBody>
        </p:sp>
      </p:grpSp>
      <p:sp>
        <p:nvSpPr>
          <p:cNvPr id="227" name="타원형 설명선 226"/>
          <p:cNvSpPr/>
          <p:nvPr/>
        </p:nvSpPr>
        <p:spPr>
          <a:xfrm>
            <a:off x="2070197" y="141340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5855713" y="140259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4029387" y="143009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153321" y="190195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952674" y="1430091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3" name="표 92">
            <a:extLst>
              <a:ext uri="{FF2B5EF4-FFF2-40B4-BE49-F238E27FC236}">
                <a16:creationId xmlns:a16="http://schemas.microsoft.com/office/drawing/2014/main" id="{441287E9-49A2-4367-85D8-056FB48BF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319505"/>
              </p:ext>
            </p:extLst>
          </p:nvPr>
        </p:nvGraphicFramePr>
        <p:xfrm>
          <a:off x="327711" y="5893295"/>
          <a:ext cx="4114985" cy="721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191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429542">
                  <a:extLst>
                    <a:ext uri="{9D8B030D-6E8A-4147-A177-3AD203B41FA5}">
                      <a16:colId xmlns:a16="http://schemas.microsoft.com/office/drawing/2014/main" val="2248332737"/>
                    </a:ext>
                  </a:extLst>
                </a:gridCol>
                <a:gridCol w="429542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429542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429542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429542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429542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  <a:gridCol w="429542">
                  <a:extLst>
                    <a:ext uri="{9D8B030D-6E8A-4147-A177-3AD203B41FA5}">
                      <a16:colId xmlns:a16="http://schemas.microsoft.com/office/drawing/2014/main" val="346575581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1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기간설정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방전량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15</a:t>
                      </a:r>
                      <a:r>
                        <a:rPr kumimoji="1" lang="ko-KR" altLang="en-US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분 전 </a:t>
                      </a:r>
                      <a:r>
                        <a:rPr kumimoji="1" lang="en-US" altLang="ko-KR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strike="sng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 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전</a:t>
                      </a: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~ 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지정된 시작일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충전계획량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방전계획량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동일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동일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동일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동일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동일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동일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동일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962852"/>
                  </a:ext>
                </a:extLst>
              </a:tr>
            </a:tbl>
          </a:graphicData>
        </a:graphic>
      </p:graphicFrame>
      <p:sp>
        <p:nvSpPr>
          <p:cNvPr id="94" name="타원형 설명선 225">
            <a:extLst>
              <a:ext uri="{FF2B5EF4-FFF2-40B4-BE49-F238E27FC236}">
                <a16:creationId xmlns:a16="http://schemas.microsoft.com/office/drawing/2014/main" id="{DA726816-D283-431E-9376-677CC803D7B0}"/>
              </a:ext>
            </a:extLst>
          </p:cNvPr>
          <p:cNvSpPr/>
          <p:nvPr/>
        </p:nvSpPr>
        <p:spPr>
          <a:xfrm>
            <a:off x="30886" y="587727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E4950604-4C01-4514-90D0-CF96E5AD0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192000"/>
              </p:ext>
            </p:extLst>
          </p:nvPr>
        </p:nvGraphicFramePr>
        <p:xfrm>
          <a:off x="4599913" y="5908552"/>
          <a:ext cx="3788722" cy="78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864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2248332737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346575581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1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기간설정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sng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sng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지정된 기간에 따라 판단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</a:tbl>
          </a:graphicData>
        </a:graphic>
      </p:graphicFrame>
      <p:sp>
        <p:nvSpPr>
          <p:cNvPr id="96" name="타원형 설명선 225">
            <a:extLst>
              <a:ext uri="{FF2B5EF4-FFF2-40B4-BE49-F238E27FC236}">
                <a16:creationId xmlns:a16="http://schemas.microsoft.com/office/drawing/2014/main" id="{CBDC5C9C-22A8-49DD-A581-409DE0F7A52D}"/>
              </a:ext>
            </a:extLst>
          </p:cNvPr>
          <p:cNvSpPr/>
          <p:nvPr/>
        </p:nvSpPr>
        <p:spPr>
          <a:xfrm>
            <a:off x="4304928" y="587727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ED98636B-F0F4-4E3B-9F2E-9DFE19C95966}"/>
              </a:ext>
            </a:extLst>
          </p:cNvPr>
          <p:cNvSpPr/>
          <p:nvPr/>
        </p:nvSpPr>
        <p:spPr>
          <a:xfrm>
            <a:off x="7676031" y="1555279"/>
            <a:ext cx="473661" cy="289182"/>
          </a:xfrm>
          <a:prstGeom prst="rect">
            <a:avLst/>
          </a:prstGeom>
          <a:solidFill>
            <a:srgbClr val="0099FF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651343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ESS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충방전량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ESS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충방전량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866412"/>
              </p:ext>
            </p:extLst>
          </p:nvPr>
        </p:nvGraphicFramePr>
        <p:xfrm>
          <a:off x="8469313" y="276225"/>
          <a:ext cx="1404000" cy="4358976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그래프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꺽은선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항목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 부하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예측 부하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Y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KWh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전력량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X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간격 표시 기준은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툴팁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내용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마우스 커서가 오버된 위치의 시간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전력량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충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데이터 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조회된 데이터의 그래프 표시 항목을 표로 표현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특정 개수가 넘어 표가 좌우로 넓어질 경우에는 하단으로 표 확장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브라우저 크기를 조정하여 폭이 좁아질 경우에도 하단으로 표 확장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행 최대 칸수는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8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표 접기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그래프 하단 표 영역 표시의 </a:t>
                      </a:r>
                      <a:r>
                        <a:rPr lang="ko-KR" altLang="en-US" sz="800" b="0" u="none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토글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버튼</a:t>
                      </a:r>
                      <a:endParaRPr lang="en-US" altLang="ko-KR" sz="800" b="0" u="none" kern="12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9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저장하기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데이터를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csv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형태의 파일로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ewpsp_scr_011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14E8AEF-8EA8-4944-AE52-FF98A1FB7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772657"/>
            <a:ext cx="8208912" cy="488190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762442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7D07777-30AA-4506-9C18-6F3B4C7D943C}"/>
              </a:ext>
            </a:extLst>
          </p:cNvPr>
          <p:cNvCxnSpPr>
            <a:cxnSpLocks/>
          </p:cNvCxnSpPr>
          <p:nvPr/>
        </p:nvCxnSpPr>
        <p:spPr>
          <a:xfrm>
            <a:off x="128463" y="1124744"/>
            <a:ext cx="8208912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80BACBD-4B64-4649-BD7C-E1EE3620FBC6}"/>
              </a:ext>
            </a:extLst>
          </p:cNvPr>
          <p:cNvSpPr/>
          <p:nvPr/>
        </p:nvSpPr>
        <p:spPr>
          <a:xfrm>
            <a:off x="120419" y="1861412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27B69D7-2B77-4AF2-A717-2F8B00E5023D}"/>
              </a:ext>
            </a:extLst>
          </p:cNvPr>
          <p:cNvSpPr/>
          <p:nvPr/>
        </p:nvSpPr>
        <p:spPr>
          <a:xfrm>
            <a:off x="3584848" y="1556792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1E4F555-ACF8-422A-8A4C-263DF5607ED0}"/>
              </a:ext>
            </a:extLst>
          </p:cNvPr>
          <p:cNvSpPr/>
          <p:nvPr/>
        </p:nvSpPr>
        <p:spPr>
          <a:xfrm>
            <a:off x="4304928" y="1556792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6B85B8-E22D-471D-BF90-7BA59FDE59DA}"/>
              </a:ext>
            </a:extLst>
          </p:cNvPr>
          <p:cNvSpPr/>
          <p:nvPr/>
        </p:nvSpPr>
        <p:spPr>
          <a:xfrm>
            <a:off x="5567681" y="1556792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DE85575-6695-43D9-BA78-E72D7749FD5A}"/>
              </a:ext>
            </a:extLst>
          </p:cNvPr>
          <p:cNvSpPr/>
          <p:nvPr/>
        </p:nvSpPr>
        <p:spPr>
          <a:xfrm>
            <a:off x="5855713" y="1556792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2DDF82F-9C8F-422F-B328-3979E21AEB5E}"/>
              </a:ext>
            </a:extLst>
          </p:cNvPr>
          <p:cNvSpPr/>
          <p:nvPr/>
        </p:nvSpPr>
        <p:spPr>
          <a:xfrm>
            <a:off x="6105128" y="1556792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08668D7-197F-47CF-8003-58499E43E073}"/>
              </a:ext>
            </a:extLst>
          </p:cNvPr>
          <p:cNvSpPr/>
          <p:nvPr/>
        </p:nvSpPr>
        <p:spPr>
          <a:xfrm>
            <a:off x="7367881" y="1556792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844086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19FCE8B-C633-47C3-A0BD-44AD20643BCC}"/>
              </a:ext>
            </a:extLst>
          </p:cNvPr>
          <p:cNvSpPr/>
          <p:nvPr/>
        </p:nvSpPr>
        <p:spPr>
          <a:xfrm>
            <a:off x="1239315" y="1624500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48F9D44-B814-4AF5-882E-A35193F2E22A}"/>
              </a:ext>
            </a:extLst>
          </p:cNvPr>
          <p:cNvSpPr/>
          <p:nvPr/>
        </p:nvSpPr>
        <p:spPr>
          <a:xfrm>
            <a:off x="2297791" y="1623655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326CBCB-329A-4C09-A801-8C26FFCF7D00}"/>
              </a:ext>
            </a:extLst>
          </p:cNvPr>
          <p:cNvSpPr/>
          <p:nvPr/>
        </p:nvSpPr>
        <p:spPr>
          <a:xfrm>
            <a:off x="150835" y="1556792"/>
            <a:ext cx="1224136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9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충방전량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8" name="표 107">
            <a:extLst>
              <a:ext uri="{FF2B5EF4-FFF2-40B4-BE49-F238E27FC236}">
                <a16:creationId xmlns:a16="http://schemas.microsoft.com/office/drawing/2014/main" id="{403E27D5-30B0-47CB-AA15-EC86E7444F9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61327" y="2294616"/>
          <a:ext cx="7932032" cy="2028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741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858281"/>
                  </a:ext>
                </a:extLst>
              </a:tr>
              <a:tr h="18438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7744939-3A96-4389-A058-8BE19F4DE88F}"/>
              </a:ext>
            </a:extLst>
          </p:cNvPr>
          <p:cNvCxnSpPr>
            <a:cxnSpLocks/>
          </p:cNvCxnSpPr>
          <p:nvPr/>
        </p:nvCxnSpPr>
        <p:spPr>
          <a:xfrm>
            <a:off x="7534135" y="2322386"/>
            <a:ext cx="0" cy="17795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6548C795-7DDE-4D60-BA9C-2A4F3088BD6D}"/>
              </a:ext>
            </a:extLst>
          </p:cNvPr>
          <p:cNvCxnSpPr/>
          <p:nvPr/>
        </p:nvCxnSpPr>
        <p:spPr>
          <a:xfrm>
            <a:off x="3512840" y="2116150"/>
            <a:ext cx="504056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00A7094D-E4E2-4D34-A2F8-9E47F58CC2BE}"/>
              </a:ext>
            </a:extLst>
          </p:cNvPr>
          <p:cNvSpPr/>
          <p:nvPr/>
        </p:nvSpPr>
        <p:spPr>
          <a:xfrm>
            <a:off x="4088904" y="199392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충전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07617ABA-F664-4785-A66A-21C2540D1E99}"/>
              </a:ext>
            </a:extLst>
          </p:cNvPr>
          <p:cNvCxnSpPr/>
          <p:nvPr/>
        </p:nvCxnSpPr>
        <p:spPr>
          <a:xfrm>
            <a:off x="4664968" y="2116150"/>
            <a:ext cx="504056" cy="0"/>
          </a:xfrm>
          <a:prstGeom prst="line">
            <a:avLst/>
          </a:prstGeom>
          <a:noFill/>
          <a:ln w="1905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9203740D-1602-47D0-912C-2823EC89F4C2}"/>
              </a:ext>
            </a:extLst>
          </p:cNvPr>
          <p:cNvSpPr/>
          <p:nvPr/>
        </p:nvSpPr>
        <p:spPr>
          <a:xfrm>
            <a:off x="5241032" y="199392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방전</a:t>
            </a:r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75FE7E5F-E413-4CEB-9EA7-AAA7844A2A15}"/>
              </a:ext>
            </a:extLst>
          </p:cNvPr>
          <p:cNvCxnSpPr/>
          <p:nvPr/>
        </p:nvCxnSpPr>
        <p:spPr>
          <a:xfrm>
            <a:off x="7039306" y="2109741"/>
            <a:ext cx="504056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021214D-A2A1-4E8A-986E-48CD36779487}"/>
              </a:ext>
            </a:extLst>
          </p:cNvPr>
          <p:cNvCxnSpPr/>
          <p:nvPr/>
        </p:nvCxnSpPr>
        <p:spPr>
          <a:xfrm>
            <a:off x="981407" y="2569986"/>
            <a:ext cx="720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69125AB8-A254-4025-99A5-C41C8B9146E8}"/>
              </a:ext>
            </a:extLst>
          </p:cNvPr>
          <p:cNvCxnSpPr/>
          <p:nvPr/>
        </p:nvCxnSpPr>
        <p:spPr>
          <a:xfrm>
            <a:off x="981407" y="3306844"/>
            <a:ext cx="720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C5EEB54F-2035-4DF4-998F-F6EC8D648962}"/>
              </a:ext>
            </a:extLst>
          </p:cNvPr>
          <p:cNvCxnSpPr/>
          <p:nvPr/>
        </p:nvCxnSpPr>
        <p:spPr>
          <a:xfrm>
            <a:off x="974634" y="3675273"/>
            <a:ext cx="720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9D029297-9092-447B-BBD9-A43978D80D0F}"/>
              </a:ext>
            </a:extLst>
          </p:cNvPr>
          <p:cNvCxnSpPr/>
          <p:nvPr/>
        </p:nvCxnSpPr>
        <p:spPr>
          <a:xfrm>
            <a:off x="974634" y="2938415"/>
            <a:ext cx="720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6456FF39-8DFD-4DFB-9820-7F83A253A5DC}"/>
              </a:ext>
            </a:extLst>
          </p:cNvPr>
          <p:cNvCxnSpPr/>
          <p:nvPr/>
        </p:nvCxnSpPr>
        <p:spPr>
          <a:xfrm>
            <a:off x="974634" y="4048598"/>
            <a:ext cx="720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39979DFA-6BA8-40F8-9911-8280AAF0A44E}"/>
              </a:ext>
            </a:extLst>
          </p:cNvPr>
          <p:cNvCxnSpPr/>
          <p:nvPr/>
        </p:nvCxnSpPr>
        <p:spPr>
          <a:xfrm>
            <a:off x="5745088" y="2113512"/>
            <a:ext cx="50405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E89CF3F6-F709-40F4-BEFD-A31A280953CF}"/>
              </a:ext>
            </a:extLst>
          </p:cNvPr>
          <p:cNvSpPr/>
          <p:nvPr/>
        </p:nvSpPr>
        <p:spPr>
          <a:xfrm>
            <a:off x="6321152" y="199128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충전 계획</a:t>
            </a: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48F2B437-5E69-451C-8F53-6F7777F58B09}"/>
              </a:ext>
            </a:extLst>
          </p:cNvPr>
          <p:cNvGrpSpPr/>
          <p:nvPr/>
        </p:nvGrpSpPr>
        <p:grpSpPr>
          <a:xfrm flipH="1" flipV="1">
            <a:off x="4125293" y="3314277"/>
            <a:ext cx="2688227" cy="511784"/>
            <a:chOff x="1501760" y="2998490"/>
            <a:chExt cx="2520272" cy="1366614"/>
          </a:xfrm>
          <a:solidFill>
            <a:srgbClr val="FF6600"/>
          </a:solidFill>
        </p:grpSpPr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34256C1B-0A00-4A3D-9F9D-43EC55B09010}"/>
                </a:ext>
              </a:extLst>
            </p:cNvPr>
            <p:cNvSpPr/>
            <p:nvPr/>
          </p:nvSpPr>
          <p:spPr>
            <a:xfrm>
              <a:off x="1501760" y="4217882"/>
              <a:ext cx="72000" cy="1472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28E9FE92-02DE-4619-BDC0-7F9488A7FE34}"/>
                </a:ext>
              </a:extLst>
            </p:cNvPr>
            <p:cNvSpPr/>
            <p:nvPr/>
          </p:nvSpPr>
          <p:spPr>
            <a:xfrm>
              <a:off x="3950032" y="2998490"/>
              <a:ext cx="72000" cy="136661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5087ECF3-13C7-45F5-BA4D-34D877BDB3EE}"/>
                </a:ext>
              </a:extLst>
            </p:cNvPr>
            <p:cNvSpPr/>
            <p:nvPr/>
          </p:nvSpPr>
          <p:spPr>
            <a:xfrm>
              <a:off x="3638317" y="3069104"/>
              <a:ext cx="72000" cy="129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47329883-915D-425F-93AD-6723294B76DC}"/>
                </a:ext>
              </a:extLst>
            </p:cNvPr>
            <p:cNvSpPr/>
            <p:nvPr/>
          </p:nvSpPr>
          <p:spPr>
            <a:xfrm>
              <a:off x="3327361" y="3214514"/>
              <a:ext cx="72000" cy="11505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53D95038-698F-49B2-BB38-3EFE47F3C971}"/>
                </a:ext>
              </a:extLst>
            </p:cNvPr>
            <p:cNvSpPr/>
            <p:nvPr/>
          </p:nvSpPr>
          <p:spPr>
            <a:xfrm>
              <a:off x="3013928" y="3575612"/>
              <a:ext cx="72000" cy="7894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9DC7D09C-75FF-4D92-BC6F-93C300B9BFDE}"/>
                </a:ext>
              </a:extLst>
            </p:cNvPr>
            <p:cNvSpPr/>
            <p:nvPr/>
          </p:nvSpPr>
          <p:spPr>
            <a:xfrm>
              <a:off x="2748848" y="3681104"/>
              <a:ext cx="72000" cy="684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50F25AC4-CEC4-4A0E-B23B-D48CCD294552}"/>
                </a:ext>
              </a:extLst>
            </p:cNvPr>
            <p:cNvSpPr/>
            <p:nvPr/>
          </p:nvSpPr>
          <p:spPr>
            <a:xfrm>
              <a:off x="2437864" y="3807104"/>
              <a:ext cx="72000" cy="5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797EC4A7-9208-4B12-B315-089B32134A33}"/>
                </a:ext>
              </a:extLst>
            </p:cNvPr>
            <p:cNvSpPr/>
            <p:nvPr/>
          </p:nvSpPr>
          <p:spPr>
            <a:xfrm>
              <a:off x="2123923" y="3862586"/>
              <a:ext cx="72000" cy="5025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F39A9B20-E4DB-47EA-A50A-8D6A0F9F070D}"/>
                </a:ext>
              </a:extLst>
            </p:cNvPr>
            <p:cNvSpPr/>
            <p:nvPr/>
          </p:nvSpPr>
          <p:spPr>
            <a:xfrm>
              <a:off x="1789792" y="4059104"/>
              <a:ext cx="72000" cy="30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88F518B5-D539-47E3-A462-CC4F10F0BDE5}"/>
              </a:ext>
            </a:extLst>
          </p:cNvPr>
          <p:cNvGrpSpPr/>
          <p:nvPr/>
        </p:nvGrpSpPr>
        <p:grpSpPr>
          <a:xfrm>
            <a:off x="1171506" y="2772920"/>
            <a:ext cx="2520272" cy="536324"/>
            <a:chOff x="1403648" y="2780928"/>
            <a:chExt cx="2520272" cy="1584176"/>
          </a:xfrm>
          <a:solidFill>
            <a:srgbClr val="00B050"/>
          </a:solidFill>
        </p:grpSpPr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CEB3E45B-045E-4196-97A9-952E3EBF00E9}"/>
                </a:ext>
              </a:extLst>
            </p:cNvPr>
            <p:cNvSpPr/>
            <p:nvPr/>
          </p:nvSpPr>
          <p:spPr>
            <a:xfrm>
              <a:off x="1403648" y="4185104"/>
              <a:ext cx="72000" cy="1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BCE6A953-5A4D-49B9-8ED2-F7EDCFF7F428}"/>
                </a:ext>
              </a:extLst>
            </p:cNvPr>
            <p:cNvSpPr/>
            <p:nvPr/>
          </p:nvSpPr>
          <p:spPr>
            <a:xfrm>
              <a:off x="3540205" y="2998490"/>
              <a:ext cx="72000" cy="136661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C5CBFDF4-AB25-429E-92CB-E4A46C317210}"/>
                </a:ext>
              </a:extLst>
            </p:cNvPr>
            <p:cNvSpPr/>
            <p:nvPr/>
          </p:nvSpPr>
          <p:spPr>
            <a:xfrm>
              <a:off x="3229249" y="3249104"/>
              <a:ext cx="72000" cy="11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8E3E502B-405D-4DB1-914D-679D02CD713E}"/>
                </a:ext>
              </a:extLst>
            </p:cNvPr>
            <p:cNvSpPr/>
            <p:nvPr/>
          </p:nvSpPr>
          <p:spPr>
            <a:xfrm>
              <a:off x="2915816" y="3429104"/>
              <a:ext cx="72000" cy="9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9CFDECA1-1A3F-442B-B5C8-D9EB3E2156FF}"/>
                </a:ext>
              </a:extLst>
            </p:cNvPr>
            <p:cNvSpPr/>
            <p:nvPr/>
          </p:nvSpPr>
          <p:spPr>
            <a:xfrm>
              <a:off x="2650736" y="3575612"/>
              <a:ext cx="72000" cy="7894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DEA5DDB0-81F2-4E48-A4D0-32E2D2517032}"/>
                </a:ext>
              </a:extLst>
            </p:cNvPr>
            <p:cNvSpPr/>
            <p:nvPr/>
          </p:nvSpPr>
          <p:spPr>
            <a:xfrm>
              <a:off x="2339752" y="3753104"/>
              <a:ext cx="72000" cy="61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6B824920-137A-4B3F-AC97-B634363745EB}"/>
                </a:ext>
              </a:extLst>
            </p:cNvPr>
            <p:cNvSpPr/>
            <p:nvPr/>
          </p:nvSpPr>
          <p:spPr>
            <a:xfrm>
              <a:off x="2025811" y="3933104"/>
              <a:ext cx="72000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BBFD94BA-ECBB-44DA-96C8-C5D8F6DDACAC}"/>
                </a:ext>
              </a:extLst>
            </p:cNvPr>
            <p:cNvSpPr/>
            <p:nvPr/>
          </p:nvSpPr>
          <p:spPr>
            <a:xfrm>
              <a:off x="1691680" y="4005104"/>
              <a:ext cx="72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56F4DEC5-8876-4861-9A88-57B885A75295}"/>
                </a:ext>
              </a:extLst>
            </p:cNvPr>
            <p:cNvSpPr/>
            <p:nvPr/>
          </p:nvSpPr>
          <p:spPr>
            <a:xfrm>
              <a:off x="3851920" y="2780928"/>
              <a:ext cx="72000" cy="15841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448464A8-0CAA-4A65-8373-02B1EDFBD476}"/>
              </a:ext>
            </a:extLst>
          </p:cNvPr>
          <p:cNvGrpSpPr/>
          <p:nvPr/>
        </p:nvGrpSpPr>
        <p:grpSpPr>
          <a:xfrm>
            <a:off x="7076155" y="3191010"/>
            <a:ext cx="353772" cy="121878"/>
            <a:chOff x="1403648" y="4005104"/>
            <a:chExt cx="360032" cy="360000"/>
          </a:xfrm>
          <a:solidFill>
            <a:srgbClr val="00B050"/>
          </a:solidFill>
        </p:grpSpPr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2ADB9A79-ABA6-49A1-9DD5-DE51D698C001}"/>
                </a:ext>
              </a:extLst>
            </p:cNvPr>
            <p:cNvSpPr/>
            <p:nvPr/>
          </p:nvSpPr>
          <p:spPr>
            <a:xfrm>
              <a:off x="1403648" y="4185104"/>
              <a:ext cx="72000" cy="1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69118776-2F5E-4DFA-8801-25B05ACDEE56}"/>
                </a:ext>
              </a:extLst>
            </p:cNvPr>
            <p:cNvSpPr/>
            <p:nvPr/>
          </p:nvSpPr>
          <p:spPr>
            <a:xfrm>
              <a:off x="1691680" y="4005104"/>
              <a:ext cx="72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35" name="자유형 33">
            <a:extLst>
              <a:ext uri="{FF2B5EF4-FFF2-40B4-BE49-F238E27FC236}">
                <a16:creationId xmlns:a16="http://schemas.microsoft.com/office/drawing/2014/main" id="{CA02E4B3-956E-4D5C-B54F-7D43642C84CF}"/>
              </a:ext>
            </a:extLst>
          </p:cNvPr>
          <p:cNvSpPr/>
          <p:nvPr/>
        </p:nvSpPr>
        <p:spPr>
          <a:xfrm flipH="1" flipV="1">
            <a:off x="4008787" y="3312883"/>
            <a:ext cx="2876505" cy="53632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6" name="자유형 83">
            <a:extLst>
              <a:ext uri="{FF2B5EF4-FFF2-40B4-BE49-F238E27FC236}">
                <a16:creationId xmlns:a16="http://schemas.microsoft.com/office/drawing/2014/main" id="{60CAAD73-1334-4889-B853-8AFD1B2E7740}"/>
              </a:ext>
            </a:extLst>
          </p:cNvPr>
          <p:cNvSpPr/>
          <p:nvPr/>
        </p:nvSpPr>
        <p:spPr>
          <a:xfrm>
            <a:off x="1164944" y="2703745"/>
            <a:ext cx="2742866" cy="60404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7" name="자유형 83">
            <a:extLst>
              <a:ext uri="{FF2B5EF4-FFF2-40B4-BE49-F238E27FC236}">
                <a16:creationId xmlns:a16="http://schemas.microsoft.com/office/drawing/2014/main" id="{5116EE6F-22C2-483E-B451-7BCD78285145}"/>
              </a:ext>
            </a:extLst>
          </p:cNvPr>
          <p:cNvSpPr/>
          <p:nvPr/>
        </p:nvSpPr>
        <p:spPr>
          <a:xfrm>
            <a:off x="7039306" y="2681757"/>
            <a:ext cx="1073025" cy="60404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87766AD0-3E54-4227-8966-40200BC2BBA6}"/>
              </a:ext>
            </a:extLst>
          </p:cNvPr>
          <p:cNvSpPr/>
          <p:nvPr/>
        </p:nvSpPr>
        <p:spPr>
          <a:xfrm>
            <a:off x="7559944" y="1982146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방전 계획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3F26BC78-0460-45FB-816A-2FAD62BE5DEE}"/>
              </a:ext>
            </a:extLst>
          </p:cNvPr>
          <p:cNvGrpSpPr/>
          <p:nvPr/>
        </p:nvGrpSpPr>
        <p:grpSpPr>
          <a:xfrm>
            <a:off x="210356" y="1203435"/>
            <a:ext cx="8024876" cy="260092"/>
            <a:chOff x="184526" y="1505937"/>
            <a:chExt cx="8024876" cy="260092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E4E13EF-4A65-4079-93DB-F73A0D79299D}"/>
                </a:ext>
              </a:extLst>
            </p:cNvPr>
            <p:cNvSpPr/>
            <p:nvPr/>
          </p:nvSpPr>
          <p:spPr>
            <a:xfrm>
              <a:off x="5810955" y="1550585"/>
              <a:ext cx="18205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수익 현황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91D098D5-B2E5-41B5-968D-A8D97E37CB20}"/>
                </a:ext>
              </a:extLst>
            </p:cNvPr>
            <p:cNvSpPr/>
            <p:nvPr/>
          </p:nvSpPr>
          <p:spPr>
            <a:xfrm>
              <a:off x="184526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에너지 모니터링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31364A7D-0472-42E4-9876-ED46AF1FD910}"/>
                </a:ext>
              </a:extLst>
            </p:cNvPr>
            <p:cNvSpPr/>
            <p:nvPr/>
          </p:nvSpPr>
          <p:spPr>
            <a:xfrm>
              <a:off x="2191085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장치 모니터링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AEA27FF5-611E-404D-AA6A-652DDE30D374}"/>
                </a:ext>
              </a:extLst>
            </p:cNvPr>
            <p:cNvSpPr/>
            <p:nvPr/>
          </p:nvSpPr>
          <p:spPr>
            <a:xfrm>
              <a:off x="4197644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상황</a:t>
              </a:r>
              <a:r>
                <a:rPr lang="en-US" altLang="ko-KR" sz="700" dirty="0"/>
                <a:t> </a:t>
              </a:r>
              <a:r>
                <a:rPr lang="ko-KR" altLang="en-US" sz="700" dirty="0"/>
                <a:t>관제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A9F326A9-E96A-4398-8D25-7EB9D0B62F42}"/>
                </a:ext>
              </a:extLst>
            </p:cNvPr>
            <p:cNvSpPr/>
            <p:nvPr/>
          </p:nvSpPr>
          <p:spPr>
            <a:xfrm>
              <a:off x="6204202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요금</a:t>
              </a:r>
              <a:r>
                <a:rPr lang="en-US" altLang="ko-KR" sz="700" dirty="0"/>
                <a:t>/</a:t>
              </a:r>
              <a:r>
                <a:rPr lang="ko-KR" altLang="en-US" sz="700" dirty="0"/>
                <a:t>수익</a:t>
              </a:r>
            </a:p>
          </p:txBody>
        </p:sp>
      </p:grpSp>
      <p:sp>
        <p:nvSpPr>
          <p:cNvPr id="247" name="타원형 설명선 246"/>
          <p:cNvSpPr/>
          <p:nvPr/>
        </p:nvSpPr>
        <p:spPr>
          <a:xfrm>
            <a:off x="-26681" y="220984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말풍선: 사각형 97">
            <a:extLst>
              <a:ext uri="{FF2B5EF4-FFF2-40B4-BE49-F238E27FC236}">
                <a16:creationId xmlns:a16="http://schemas.microsoft.com/office/drawing/2014/main" id="{21AB208E-C0DC-44C7-9316-CA282DDBEC93}"/>
              </a:ext>
            </a:extLst>
          </p:cNvPr>
          <p:cNvSpPr/>
          <p:nvPr/>
        </p:nvSpPr>
        <p:spPr>
          <a:xfrm>
            <a:off x="1989925" y="2524432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충전량</a:t>
            </a:r>
            <a:r>
              <a:rPr lang="en-US" altLang="ko-KR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600" b="1" dirty="0">
                <a:solidFill>
                  <a:srgbClr val="FF0000"/>
                </a:solidFill>
              </a:rPr>
              <a:t>210 kWh</a:t>
            </a:r>
            <a:endParaRPr lang="ko-KR" altLang="en-US" sz="600" b="1" dirty="0">
              <a:solidFill>
                <a:srgbClr val="FF0000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3DF07A4C-A248-4A6A-833E-A42473E3C711}"/>
              </a:ext>
            </a:extLst>
          </p:cNvPr>
          <p:cNvSpPr/>
          <p:nvPr/>
        </p:nvSpPr>
        <p:spPr>
          <a:xfrm>
            <a:off x="7680269" y="1555221"/>
            <a:ext cx="473661" cy="289182"/>
          </a:xfrm>
          <a:prstGeom prst="rect">
            <a:avLst/>
          </a:prstGeom>
          <a:solidFill>
            <a:srgbClr val="0099FF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</a:t>
            </a: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FA777134-FC2B-44BF-B398-76A1D6159A3F}"/>
              </a:ext>
            </a:extLst>
          </p:cNvPr>
          <p:cNvGrpSpPr/>
          <p:nvPr/>
        </p:nvGrpSpPr>
        <p:grpSpPr>
          <a:xfrm>
            <a:off x="278972" y="4377982"/>
            <a:ext cx="892533" cy="211955"/>
            <a:chOff x="4861742" y="3907374"/>
            <a:chExt cx="862386" cy="211955"/>
          </a:xfrm>
        </p:grpSpPr>
        <p:pic>
          <p:nvPicPr>
            <p:cNvPr id="10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AFD134DA-4EEB-40A3-97FE-B20BB4D55D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AF7F228D-3BBA-41F5-BC7D-7DA5EA560AD1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17EF2325-9A61-416E-A89F-8500F304B1D0}"/>
              </a:ext>
            </a:extLst>
          </p:cNvPr>
          <p:cNvSpPr txBox="1"/>
          <p:nvPr/>
        </p:nvSpPr>
        <p:spPr>
          <a:xfrm>
            <a:off x="7221242" y="4384209"/>
            <a:ext cx="972108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 접기</a:t>
            </a:r>
          </a:p>
        </p:txBody>
      </p:sp>
      <p:sp>
        <p:nvSpPr>
          <p:cNvPr id="226" name="타원형 설명선 225"/>
          <p:cNvSpPr/>
          <p:nvPr/>
        </p:nvSpPr>
        <p:spPr>
          <a:xfrm>
            <a:off x="98965" y="422111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8" name="타원형 설명선 247"/>
          <p:cNvSpPr/>
          <p:nvPr/>
        </p:nvSpPr>
        <p:spPr>
          <a:xfrm>
            <a:off x="5553" y="458115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" name="타원형 설명선 205"/>
          <p:cNvSpPr/>
          <p:nvPr/>
        </p:nvSpPr>
        <p:spPr>
          <a:xfrm>
            <a:off x="6937736" y="4293096"/>
            <a:ext cx="216000" cy="216000"/>
          </a:xfrm>
          <a:prstGeom prst="wedgeEllipseCallout">
            <a:avLst>
              <a:gd name="adj1" fmla="val 74230"/>
              <a:gd name="adj2" fmla="val 2182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/>
              <a:t>8</a:t>
            </a:r>
            <a:endParaRPr lang="ko-KR" altLang="en-US" sz="900" b="1" dirty="0"/>
          </a:p>
        </p:txBody>
      </p:sp>
      <p:graphicFrame>
        <p:nvGraphicFramePr>
          <p:cNvPr id="162" name="표 161">
            <a:extLst>
              <a:ext uri="{FF2B5EF4-FFF2-40B4-BE49-F238E27FC236}">
                <a16:creationId xmlns:a16="http://schemas.microsoft.com/office/drawing/2014/main" id="{3CB128E8-E18F-440B-AA3B-0C6E249E7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374749"/>
              </p:ext>
            </p:extLst>
          </p:nvPr>
        </p:nvGraphicFramePr>
        <p:xfrm>
          <a:off x="263480" y="4663729"/>
          <a:ext cx="7929878" cy="534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914552893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643701830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4156003338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186923855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328632746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878962281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YYYY-MM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07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09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345152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충전량</a:t>
                      </a:r>
                      <a:endParaRPr lang="en-US" altLang="ko-KR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충전 계획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3" name="표 162">
            <a:extLst>
              <a:ext uri="{FF2B5EF4-FFF2-40B4-BE49-F238E27FC236}">
                <a16:creationId xmlns:a16="http://schemas.microsoft.com/office/drawing/2014/main" id="{918BD941-AEAE-4B08-B011-FDBA372A7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551331"/>
              </p:ext>
            </p:extLst>
          </p:nvPr>
        </p:nvGraphicFramePr>
        <p:xfrm>
          <a:off x="263477" y="5200873"/>
          <a:ext cx="7929878" cy="356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295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814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914552893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643701830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4156003338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186923855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328632746"/>
                    </a:ext>
                  </a:extLst>
                </a:gridCol>
                <a:gridCol w="287731">
                  <a:extLst>
                    <a:ext uri="{9D8B030D-6E8A-4147-A177-3AD203B41FA5}">
                      <a16:colId xmlns:a16="http://schemas.microsoft.com/office/drawing/2014/main" val="3619606665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방전량</a:t>
                      </a:r>
                      <a:endParaRPr lang="en-US" altLang="ko-KR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방전 계획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4" name="표 83">
            <a:extLst>
              <a:ext uri="{FF2B5EF4-FFF2-40B4-BE49-F238E27FC236}">
                <a16:creationId xmlns:a16="http://schemas.microsoft.com/office/drawing/2014/main" id="{C1E63E0F-0BAA-4BC1-B92E-AAA0A99F8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804863"/>
              </p:ext>
            </p:extLst>
          </p:nvPr>
        </p:nvGraphicFramePr>
        <p:xfrm>
          <a:off x="484140" y="5765640"/>
          <a:ext cx="3028700" cy="193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344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747271">
                  <a:extLst>
                    <a:ext uri="{9D8B030D-6E8A-4147-A177-3AD203B41FA5}">
                      <a16:colId xmlns:a16="http://schemas.microsoft.com/office/drawing/2014/main" val="8834736"/>
                    </a:ext>
                  </a:extLst>
                </a:gridCol>
                <a:gridCol w="260155">
                  <a:extLst>
                    <a:ext uri="{9D8B030D-6E8A-4147-A177-3AD203B41FA5}">
                      <a16:colId xmlns:a16="http://schemas.microsoft.com/office/drawing/2014/main" val="2248332737"/>
                    </a:ext>
                  </a:extLst>
                </a:gridCol>
                <a:gridCol w="260155">
                  <a:extLst>
                    <a:ext uri="{9D8B030D-6E8A-4147-A177-3AD203B41FA5}">
                      <a16:colId xmlns:a16="http://schemas.microsoft.com/office/drawing/2014/main" val="701571902"/>
                    </a:ext>
                  </a:extLst>
                </a:gridCol>
                <a:gridCol w="260155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260155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260155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260155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260155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440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672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2880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35040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293162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336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1440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17520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23599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022207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720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8760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961310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24359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365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81172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500751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993451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841290"/>
                  </a:ext>
                </a:extLst>
              </a:tr>
            </a:tbl>
          </a:graphicData>
        </a:graphic>
      </p:graphicFrame>
      <p:sp>
        <p:nvSpPr>
          <p:cNvPr id="85" name="타원형 설명선 225">
            <a:extLst>
              <a:ext uri="{FF2B5EF4-FFF2-40B4-BE49-F238E27FC236}">
                <a16:creationId xmlns:a16="http://schemas.microsoft.com/office/drawing/2014/main" id="{D98BD95A-E282-4436-AAE0-8C43DB68147B}"/>
              </a:ext>
            </a:extLst>
          </p:cNvPr>
          <p:cNvSpPr/>
          <p:nvPr/>
        </p:nvSpPr>
        <p:spPr>
          <a:xfrm>
            <a:off x="376140" y="5621804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6" name="표 85">
            <a:extLst>
              <a:ext uri="{FF2B5EF4-FFF2-40B4-BE49-F238E27FC236}">
                <a16:creationId xmlns:a16="http://schemas.microsoft.com/office/drawing/2014/main" id="{09CE270E-A246-42EA-B166-26317CBAA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853634"/>
              </p:ext>
            </p:extLst>
          </p:nvPr>
        </p:nvGraphicFramePr>
        <p:xfrm>
          <a:off x="4152218" y="5852228"/>
          <a:ext cx="3342026" cy="1068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830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394028">
                  <a:extLst>
                    <a:ext uri="{9D8B030D-6E8A-4147-A177-3AD203B41FA5}">
                      <a16:colId xmlns:a16="http://schemas.microsoft.com/office/drawing/2014/main" val="2248332737"/>
                    </a:ext>
                  </a:extLst>
                </a:gridCol>
                <a:gridCol w="394028">
                  <a:extLst>
                    <a:ext uri="{9D8B030D-6E8A-4147-A177-3AD203B41FA5}">
                      <a16:colId xmlns:a16="http://schemas.microsoft.com/office/drawing/2014/main" val="2333210567"/>
                    </a:ext>
                  </a:extLst>
                </a:gridCol>
                <a:gridCol w="394028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394028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394028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394028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394028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23599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96131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81172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993451"/>
                  </a:ext>
                </a:extLst>
              </a:tr>
            </a:tbl>
          </a:graphicData>
        </a:graphic>
      </p:graphicFrame>
      <p:sp>
        <p:nvSpPr>
          <p:cNvPr id="94" name="타원형 설명선 225">
            <a:extLst>
              <a:ext uri="{FF2B5EF4-FFF2-40B4-BE49-F238E27FC236}">
                <a16:creationId xmlns:a16="http://schemas.microsoft.com/office/drawing/2014/main" id="{8BED35E4-215E-4273-A20F-C5B88242277E}"/>
              </a:ext>
            </a:extLst>
          </p:cNvPr>
          <p:cNvSpPr/>
          <p:nvPr/>
        </p:nvSpPr>
        <p:spPr>
          <a:xfrm>
            <a:off x="3844499" y="5712254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0876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97E524A-A1DA-4C0D-A7C0-FEFD21B9D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7" y="284693"/>
            <a:ext cx="8357749" cy="3634002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PV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발전량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발전량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120137"/>
              </p:ext>
            </p:extLst>
          </p:nvPr>
        </p:nvGraphicFramePr>
        <p:xfrm>
          <a:off x="8469313" y="276225"/>
          <a:ext cx="1404000" cy="5941632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Pre-define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된 조회 기간의 시작과 끝 시점을 설정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별 시작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종료 시간은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sng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간격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번에서 지정된 기간 내 데이터의 조회 간격을 설정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간격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- 15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30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별 선택 가능한 조회 간격은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이 선택된 경우에는 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~24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시로 조회하고 표시하며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그 외의 경우 지금 시간부터 지정된 과거의 기간만큼 조회하고 표시한다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 시작 설정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기간의 시작 날짜를 직접 입력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시간은 현재시간으로 고정되며 날짜만 지정 가능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 종료 설정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기간의 종료 날짜를 직접 입력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시간은 현재시간으로 고정되며 날짜만 지정 가능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1, 2, 3, 4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항목에서 지정된  일정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조건에 따라 사용량과 예측 사용량을 조회하여 화면을 구성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34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데이터 갱신 시간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지정된 설정에 따라 조회가 진행된 시간표시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ewpsp_scr_012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7" name="타원형 설명선 226"/>
          <p:cNvSpPr/>
          <p:nvPr/>
        </p:nvSpPr>
        <p:spPr>
          <a:xfrm>
            <a:off x="2648744" y="47833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4143654" y="47669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3357075" y="47669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4685031" y="47669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1972004" y="476696"/>
            <a:ext cx="216000" cy="216000"/>
          </a:xfrm>
          <a:prstGeom prst="wedgeEllipseCallout">
            <a:avLst>
              <a:gd name="adj1" fmla="val 87905"/>
              <a:gd name="adj2" fmla="val 5765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타원형 설명선 245">
            <a:extLst>
              <a:ext uri="{FF2B5EF4-FFF2-40B4-BE49-F238E27FC236}">
                <a16:creationId xmlns:a16="http://schemas.microsoft.com/office/drawing/2014/main" id="{45B657FC-6C8D-49E7-A67B-68821C30B8D2}"/>
              </a:ext>
            </a:extLst>
          </p:cNvPr>
          <p:cNvSpPr/>
          <p:nvPr/>
        </p:nvSpPr>
        <p:spPr>
          <a:xfrm>
            <a:off x="7489650" y="47669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FE521B6F-F4DA-4746-9924-92CF784EC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948860"/>
              </p:ext>
            </p:extLst>
          </p:nvPr>
        </p:nvGraphicFramePr>
        <p:xfrm>
          <a:off x="475469" y="4581915"/>
          <a:ext cx="3838193" cy="909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139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346575581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오늘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기간설정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 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전</a:t>
                      </a: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~ 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지정된 시작일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예측량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 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전 </a:t>
                      </a: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지정된 종료일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962852"/>
                  </a:ext>
                </a:extLst>
              </a:tr>
            </a:tbl>
          </a:graphicData>
        </a:graphic>
      </p:graphicFrame>
      <p:sp>
        <p:nvSpPr>
          <p:cNvPr id="68" name="타원형 설명선 225">
            <a:extLst>
              <a:ext uri="{FF2B5EF4-FFF2-40B4-BE49-F238E27FC236}">
                <a16:creationId xmlns:a16="http://schemas.microsoft.com/office/drawing/2014/main" id="{467C16D3-F529-47A1-A9BC-255C6810A068}"/>
              </a:ext>
            </a:extLst>
          </p:cNvPr>
          <p:cNvSpPr/>
          <p:nvPr/>
        </p:nvSpPr>
        <p:spPr>
          <a:xfrm>
            <a:off x="178644" y="456589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2CC68391-7E3C-4964-834F-44F4974F4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803594"/>
              </p:ext>
            </p:extLst>
          </p:nvPr>
        </p:nvGraphicFramePr>
        <p:xfrm>
          <a:off x="4779324" y="4581915"/>
          <a:ext cx="3342028" cy="78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864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346575581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기간설정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표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참고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</a:tbl>
          </a:graphicData>
        </a:graphic>
      </p:graphicFrame>
      <p:sp>
        <p:nvSpPr>
          <p:cNvPr id="72" name="타원형 설명선 225">
            <a:extLst>
              <a:ext uri="{FF2B5EF4-FFF2-40B4-BE49-F238E27FC236}">
                <a16:creationId xmlns:a16="http://schemas.microsoft.com/office/drawing/2014/main" id="{4710C6D1-2A08-4EC1-9FAD-C7067DBF2D38}"/>
              </a:ext>
            </a:extLst>
          </p:cNvPr>
          <p:cNvSpPr/>
          <p:nvPr/>
        </p:nvSpPr>
        <p:spPr>
          <a:xfrm>
            <a:off x="4486722" y="456589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D1B38B4E-D8EC-4E5B-95A6-D817FC81F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460386"/>
              </p:ext>
            </p:extLst>
          </p:nvPr>
        </p:nvGraphicFramePr>
        <p:xfrm>
          <a:off x="475468" y="5736466"/>
          <a:ext cx="6623937" cy="78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148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1456834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1021945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1021945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1021945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초과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초과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초과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초과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</a:tbl>
          </a:graphicData>
        </a:graphic>
      </p:graphicFrame>
      <p:sp>
        <p:nvSpPr>
          <p:cNvPr id="74" name="타원형 설명선 225">
            <a:extLst>
              <a:ext uri="{FF2B5EF4-FFF2-40B4-BE49-F238E27FC236}">
                <a16:creationId xmlns:a16="http://schemas.microsoft.com/office/drawing/2014/main" id="{DC22EE89-0E28-4C32-812B-CD74DA6CE4FB}"/>
              </a:ext>
            </a:extLst>
          </p:cNvPr>
          <p:cNvSpPr/>
          <p:nvPr/>
        </p:nvSpPr>
        <p:spPr>
          <a:xfrm>
            <a:off x="182867" y="5720443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2162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그림 64">
            <a:extLst>
              <a:ext uri="{FF2B5EF4-FFF2-40B4-BE49-F238E27FC236}">
                <a16:creationId xmlns:a16="http://schemas.microsoft.com/office/drawing/2014/main" id="{0FDC2601-D710-4C96-B88A-3E2AD2540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7" y="284693"/>
            <a:ext cx="8357749" cy="3634002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PV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발전량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,PV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발전량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309432"/>
              </p:ext>
            </p:extLst>
          </p:nvPr>
        </p:nvGraphicFramePr>
        <p:xfrm>
          <a:off x="8469313" y="276225"/>
          <a:ext cx="1404000" cy="5356416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 합계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內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실제발전량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예측발전량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합계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54304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8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그래프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PV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발전량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꺽은선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항목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실제발젼량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예측발전량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Y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KWh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전력량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X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간격 표시 기준은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9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그래프 변경하기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꺾은선 그래프를 막대 그래프로 변환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(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토글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형태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77431"/>
                  </a:ext>
                </a:extLst>
              </a:tr>
              <a:tr h="1679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10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발전량 데이터 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조회된 데이터의 그래프 표시 항목을 표로 표현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특정 개수가 넘어 표가 좌우로 넓어질 경우에는 하단으로 표 확장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브라우저 크기를 조정하여 폭이 좁아질 경우에도 하단으로 표 확장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행 최대 칸수는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칸 수가 너무 많을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(48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칸 이상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표 하단에 가로 스크롤 발생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저장하기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데이터를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csv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형태의 파일로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1384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표 접기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그래프 하단 표 영역 표시의 </a:t>
                      </a:r>
                      <a:r>
                        <a:rPr lang="ko-KR" altLang="en-US" sz="800" b="0" u="none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토글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버튼</a:t>
                      </a:r>
                      <a:endParaRPr lang="en-US" altLang="ko-KR" sz="800" b="0" u="none" kern="12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ewpsp_scr_012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6" name="타원형 설명선 265"/>
          <p:cNvSpPr/>
          <p:nvPr/>
        </p:nvSpPr>
        <p:spPr>
          <a:xfrm>
            <a:off x="9542" y="47667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" name="타원형 설명선 205"/>
          <p:cNvSpPr/>
          <p:nvPr/>
        </p:nvSpPr>
        <p:spPr>
          <a:xfrm>
            <a:off x="7473304" y="710107"/>
            <a:ext cx="216000" cy="216000"/>
          </a:xfrm>
          <a:prstGeom prst="wedgeEllipseCallout">
            <a:avLst>
              <a:gd name="adj1" fmla="val 91869"/>
              <a:gd name="adj2" fmla="val 6151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/>
              <a:t>9</a:t>
            </a:r>
            <a:endParaRPr lang="ko-KR" altLang="en-US" sz="900" b="1" dirty="0"/>
          </a:p>
        </p:txBody>
      </p:sp>
      <p:sp>
        <p:nvSpPr>
          <p:cNvPr id="226" name="타원형 설명선 225"/>
          <p:cNvSpPr/>
          <p:nvPr/>
        </p:nvSpPr>
        <p:spPr>
          <a:xfrm>
            <a:off x="117542" y="2852936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8" name="타원형 설명선 247"/>
          <p:cNvSpPr/>
          <p:nvPr/>
        </p:nvSpPr>
        <p:spPr>
          <a:xfrm>
            <a:off x="1514076" y="818107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타원형 설명선 225">
            <a:extLst>
              <a:ext uri="{FF2B5EF4-FFF2-40B4-BE49-F238E27FC236}">
                <a16:creationId xmlns:a16="http://schemas.microsoft.com/office/drawing/2014/main" id="{FD1EAD66-88D5-47F7-9A57-18C65EBB3E68}"/>
              </a:ext>
            </a:extLst>
          </p:cNvPr>
          <p:cNvSpPr/>
          <p:nvPr/>
        </p:nvSpPr>
        <p:spPr>
          <a:xfrm>
            <a:off x="6905707" y="2636936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타원형 설명선 225">
            <a:extLst>
              <a:ext uri="{FF2B5EF4-FFF2-40B4-BE49-F238E27FC236}">
                <a16:creationId xmlns:a16="http://schemas.microsoft.com/office/drawing/2014/main" id="{74302202-16BD-4969-A81E-66481B44D3A9}"/>
              </a:ext>
            </a:extLst>
          </p:cNvPr>
          <p:cNvSpPr/>
          <p:nvPr/>
        </p:nvSpPr>
        <p:spPr>
          <a:xfrm>
            <a:off x="7668433" y="2636936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FE361826-74F1-4264-834F-C7363363C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507083"/>
              </p:ext>
            </p:extLst>
          </p:nvPr>
        </p:nvGraphicFramePr>
        <p:xfrm>
          <a:off x="548975" y="4365521"/>
          <a:ext cx="3670866" cy="187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815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834067">
                  <a:extLst>
                    <a:ext uri="{9D8B030D-6E8A-4147-A177-3AD203B41FA5}">
                      <a16:colId xmlns:a16="http://schemas.microsoft.com/office/drawing/2014/main" val="8834736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1077432929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2248332737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701571902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440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1440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10080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43200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525600</a:t>
                      </a:r>
                      <a:endParaRPr lang="ko-KR" altLang="en-US" sz="6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672409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553682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672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2880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35040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293162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336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1440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17520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23599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022207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720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8760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961310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24359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365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81172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500751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993451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841290"/>
                  </a:ext>
                </a:extLst>
              </a:tr>
            </a:tbl>
          </a:graphicData>
        </a:graphic>
      </p:graphicFrame>
      <p:sp>
        <p:nvSpPr>
          <p:cNvPr id="71" name="타원형 설명선 225">
            <a:extLst>
              <a:ext uri="{FF2B5EF4-FFF2-40B4-BE49-F238E27FC236}">
                <a16:creationId xmlns:a16="http://schemas.microsoft.com/office/drawing/2014/main" id="{A50C1919-0675-46BA-9862-839F47D2ACC8}"/>
              </a:ext>
            </a:extLst>
          </p:cNvPr>
          <p:cNvSpPr/>
          <p:nvPr/>
        </p:nvSpPr>
        <p:spPr>
          <a:xfrm>
            <a:off x="328953" y="4183307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4B0B679E-739D-446C-B8AC-16DAF7EF9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117718"/>
              </p:ext>
            </p:extLst>
          </p:nvPr>
        </p:nvGraphicFramePr>
        <p:xfrm>
          <a:off x="4619277" y="4452109"/>
          <a:ext cx="3342024" cy="1246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256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1308233075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248332737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333210567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53518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23599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96131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81172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993451"/>
                  </a:ext>
                </a:extLst>
              </a:tr>
            </a:tbl>
          </a:graphicData>
        </a:graphic>
      </p:graphicFrame>
      <p:sp>
        <p:nvSpPr>
          <p:cNvPr id="73" name="타원형 설명선 225">
            <a:extLst>
              <a:ext uri="{FF2B5EF4-FFF2-40B4-BE49-F238E27FC236}">
                <a16:creationId xmlns:a16="http://schemas.microsoft.com/office/drawing/2014/main" id="{85A3FD21-420C-4A80-97A9-5868C16C9F65}"/>
              </a:ext>
            </a:extLst>
          </p:cNvPr>
          <p:cNvSpPr/>
          <p:nvPr/>
        </p:nvSpPr>
        <p:spPr>
          <a:xfrm>
            <a:off x="4311558" y="4312135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5919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9CF0959-3BD4-402F-BC92-B440A53E3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5" y="302848"/>
            <a:ext cx="8337832" cy="4195046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DR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실적 현황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DR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실적 현황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24968"/>
              </p:ext>
            </p:extLst>
          </p:nvPr>
        </p:nvGraphicFramePr>
        <p:xfrm>
          <a:off x="8469313" y="276225"/>
          <a:ext cx="1404000" cy="6233088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날짜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날짜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설정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별 시작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종료 시간은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콤보박스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선택 시에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‘1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)’, 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날짜선택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두가지 옵션이 나오고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날짜선택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선택하면 달력 컨트롤 팝업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간격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데이터의 조회 간격을 설정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: 15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기준 부하 시간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기준부하와 목표사용량 기준 범위를 표시할 영역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을 설정한다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지정 가능 시간은 총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시간이며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시간이 넘을 경우 사용자 </a:t>
                      </a: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noti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팝업 발생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‘4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 이상은 설정할 수 없습니다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.’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46243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실시간 자동 갱신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1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오늘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상태로 고정하여 화면을 구성하고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 단위로 데이터를 가져와 화면을 갱신한다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altLang="ko-KR" sz="800" b="1" u="none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옵션을 해제하면 실시간 갱신을 하지 않는 상태로 화면 유지한다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(1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오늘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상태와 동일하게 됨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.)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데이터 갱신 시간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지정된 설정에 따라 조회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갱신 된 시간표시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 합계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內 실제사용량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감축량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합계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저장하기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감축관련 데이터를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csv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형태의 파일로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다음 페이지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 표 데이터 기준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57958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ewpsp_scr_013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5423468-63C5-4870-82F0-8096833027FB}"/>
              </a:ext>
            </a:extLst>
          </p:cNvPr>
          <p:cNvSpPr/>
          <p:nvPr/>
        </p:nvSpPr>
        <p:spPr>
          <a:xfrm>
            <a:off x="180126" y="3140968"/>
            <a:ext cx="8085242" cy="1182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332479BB-6B5B-48F3-A26A-B4FBFD6F5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443303"/>
              </p:ext>
            </p:extLst>
          </p:nvPr>
        </p:nvGraphicFramePr>
        <p:xfrm>
          <a:off x="200472" y="3257793"/>
          <a:ext cx="7992889" cy="525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9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9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29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29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5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7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감축시간대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사용량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(kWh)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고객기준부하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(kW)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계약용량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(kWh)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목표사용량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kWh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감축량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(kWh)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이행률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6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2016-01-14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16:00~17:00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750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5,000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4,000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1,000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4,250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106.25%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6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2016-01-14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17:00~18:00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5,500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4,000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1,500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4,700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117.50%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직사각형 58">
            <a:extLst>
              <a:ext uri="{FF2B5EF4-FFF2-40B4-BE49-F238E27FC236}">
                <a16:creationId xmlns:a16="http://schemas.microsoft.com/office/drawing/2014/main" id="{2C43666D-3901-4C72-887C-435A466364A4}"/>
              </a:ext>
            </a:extLst>
          </p:cNvPr>
          <p:cNvSpPr/>
          <p:nvPr/>
        </p:nvSpPr>
        <p:spPr>
          <a:xfrm>
            <a:off x="6691568" y="2865079"/>
            <a:ext cx="1014514" cy="259702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B6F9D4F-A5E6-4DC1-AF12-F9E4B4A3C263}"/>
              </a:ext>
            </a:extLst>
          </p:cNvPr>
          <p:cNvSpPr/>
          <p:nvPr/>
        </p:nvSpPr>
        <p:spPr>
          <a:xfrm>
            <a:off x="56456" y="610063"/>
            <a:ext cx="1368152" cy="2098857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DR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실적 합계</a:t>
            </a:r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사용량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xx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kWh</a:t>
            </a: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감축량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xx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kWh</a:t>
            </a:r>
          </a:p>
          <a:p>
            <a:pPr algn="ctr"/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4" name="표 83">
            <a:extLst>
              <a:ext uri="{FF2B5EF4-FFF2-40B4-BE49-F238E27FC236}">
                <a16:creationId xmlns:a16="http://schemas.microsoft.com/office/drawing/2014/main" id="{46CC75DF-C0DC-4B91-8815-EB3646763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352186"/>
              </p:ext>
            </p:extLst>
          </p:nvPr>
        </p:nvGraphicFramePr>
        <p:xfrm>
          <a:off x="1380811" y="5032879"/>
          <a:ext cx="3613266" cy="356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124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1367982">
                  <a:extLst>
                    <a:ext uri="{9D8B030D-6E8A-4147-A177-3AD203B41FA5}">
                      <a16:colId xmlns:a16="http://schemas.microsoft.com/office/drawing/2014/main" val="346575581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오늘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날짜선택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지정된 날짜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24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</a:tbl>
          </a:graphicData>
        </a:graphic>
      </p:graphicFrame>
      <p:sp>
        <p:nvSpPr>
          <p:cNvPr id="85" name="타원형 설명선 225">
            <a:extLst>
              <a:ext uri="{FF2B5EF4-FFF2-40B4-BE49-F238E27FC236}">
                <a16:creationId xmlns:a16="http://schemas.microsoft.com/office/drawing/2014/main" id="{E4792678-BB27-4A47-B0EC-30B6E382000A}"/>
              </a:ext>
            </a:extLst>
          </p:cNvPr>
          <p:cNvSpPr/>
          <p:nvPr/>
        </p:nvSpPr>
        <p:spPr>
          <a:xfrm>
            <a:off x="1034317" y="4945683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6" name="표 85">
            <a:extLst>
              <a:ext uri="{FF2B5EF4-FFF2-40B4-BE49-F238E27FC236}">
                <a16:creationId xmlns:a16="http://schemas.microsoft.com/office/drawing/2014/main" id="{DB526535-CBF8-4544-BF37-0F7A89803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875222"/>
              </p:ext>
            </p:extLst>
          </p:nvPr>
        </p:nvGraphicFramePr>
        <p:xfrm>
          <a:off x="5607411" y="4961233"/>
          <a:ext cx="1108558" cy="421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864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</a:tbl>
          </a:graphicData>
        </a:graphic>
      </p:graphicFrame>
      <p:sp>
        <p:nvSpPr>
          <p:cNvPr id="87" name="타원형 설명선 225">
            <a:extLst>
              <a:ext uri="{FF2B5EF4-FFF2-40B4-BE49-F238E27FC236}">
                <a16:creationId xmlns:a16="http://schemas.microsoft.com/office/drawing/2014/main" id="{4E1E109A-E3BA-4601-81B2-421D8C7E0B68}"/>
              </a:ext>
            </a:extLst>
          </p:cNvPr>
          <p:cNvSpPr/>
          <p:nvPr/>
        </p:nvSpPr>
        <p:spPr>
          <a:xfrm>
            <a:off x="5314809" y="4945210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606103B-4073-46E2-9972-00C04ECA27D7}"/>
              </a:ext>
            </a:extLst>
          </p:cNvPr>
          <p:cNvSpPr txBox="1"/>
          <p:nvPr/>
        </p:nvSpPr>
        <p:spPr>
          <a:xfrm>
            <a:off x="5758707" y="694335"/>
            <a:ext cx="7465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b="1"/>
              <a:t>실시간 자동 갱신</a:t>
            </a:r>
            <a:endParaRPr lang="ko-KR" altLang="en-US" sz="600" b="1" dirty="0"/>
          </a:p>
        </p:txBody>
      </p:sp>
      <p:pic>
        <p:nvPicPr>
          <p:cNvPr id="99" name="Picture 6" descr="ê´ë ¨ ì´ë¯¸ì§">
            <a:extLst>
              <a:ext uri="{FF2B5EF4-FFF2-40B4-BE49-F238E27FC236}">
                <a16:creationId xmlns:a16="http://schemas.microsoft.com/office/drawing/2014/main" id="{A974727E-1455-4BE6-A279-77CF185B3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05" y="696293"/>
            <a:ext cx="180170" cy="180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id="{4559AC9A-7CCD-4898-9A68-B4FC846BC619}"/>
              </a:ext>
            </a:extLst>
          </p:cNvPr>
          <p:cNvSpPr/>
          <p:nvPr/>
        </p:nvSpPr>
        <p:spPr>
          <a:xfrm>
            <a:off x="5573408" y="674891"/>
            <a:ext cx="931889" cy="2242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말풍선: 모서리가 둥근 사각형 100">
            <a:extLst>
              <a:ext uri="{FF2B5EF4-FFF2-40B4-BE49-F238E27FC236}">
                <a16:creationId xmlns:a16="http://schemas.microsoft.com/office/drawing/2014/main" id="{7A38386D-F217-4320-AF62-41B9869757C8}"/>
              </a:ext>
            </a:extLst>
          </p:cNvPr>
          <p:cNvSpPr/>
          <p:nvPr/>
        </p:nvSpPr>
        <p:spPr>
          <a:xfrm>
            <a:off x="6208664" y="294183"/>
            <a:ext cx="1198841" cy="274031"/>
          </a:xfrm>
          <a:prstGeom prst="wedgeRoundRectCallout">
            <a:avLst>
              <a:gd name="adj1" fmla="val -33227"/>
              <a:gd name="adj2" fmla="val 64278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누락항목 추가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487BCBDB-B749-443A-B1EE-B8BCC5FAFAFE}"/>
              </a:ext>
            </a:extLst>
          </p:cNvPr>
          <p:cNvSpPr/>
          <p:nvPr/>
        </p:nvSpPr>
        <p:spPr>
          <a:xfrm>
            <a:off x="2027658" y="1191843"/>
            <a:ext cx="6230329" cy="1229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타원형 설명선 243"/>
          <p:cNvSpPr/>
          <p:nvPr/>
        </p:nvSpPr>
        <p:spPr>
          <a:xfrm>
            <a:off x="7576529" y="50049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5391411" y="43119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타원형 설명선 245">
            <a:extLst>
              <a:ext uri="{FF2B5EF4-FFF2-40B4-BE49-F238E27FC236}">
                <a16:creationId xmlns:a16="http://schemas.microsoft.com/office/drawing/2014/main" id="{AD3A529D-1FC2-49C7-A83C-9E86DC0F0094}"/>
              </a:ext>
            </a:extLst>
          </p:cNvPr>
          <p:cNvSpPr/>
          <p:nvPr/>
        </p:nvSpPr>
        <p:spPr>
          <a:xfrm>
            <a:off x="0" y="41907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말풍선: 모서리가 둥근 사각형 104">
            <a:extLst>
              <a:ext uri="{FF2B5EF4-FFF2-40B4-BE49-F238E27FC236}">
                <a16:creationId xmlns:a16="http://schemas.microsoft.com/office/drawing/2014/main" id="{CAC49FD3-7D85-4228-832B-95ED6C2F2492}"/>
              </a:ext>
            </a:extLst>
          </p:cNvPr>
          <p:cNvSpPr/>
          <p:nvPr/>
        </p:nvSpPr>
        <p:spPr>
          <a:xfrm>
            <a:off x="622810" y="-61029"/>
            <a:ext cx="2315240" cy="516590"/>
          </a:xfrm>
          <a:prstGeom prst="wedgeRoundRectCallout">
            <a:avLst>
              <a:gd name="adj1" fmla="val -29695"/>
              <a:gd name="adj2" fmla="val 77453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계획사용량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어제사용량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지난주사용량 삭제하고 </a:t>
            </a:r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감축량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 합계 추가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91830474-BCFF-4B82-8EE4-5EAE55FBF723}"/>
              </a:ext>
            </a:extLst>
          </p:cNvPr>
          <p:cNvSpPr/>
          <p:nvPr/>
        </p:nvSpPr>
        <p:spPr>
          <a:xfrm>
            <a:off x="3241654" y="624943"/>
            <a:ext cx="2124024" cy="285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2794EBA9-F31B-4DBA-AA24-3EC08AAD3579}"/>
              </a:ext>
            </a:extLst>
          </p:cNvPr>
          <p:cNvGrpSpPr/>
          <p:nvPr/>
        </p:nvGrpSpPr>
        <p:grpSpPr>
          <a:xfrm>
            <a:off x="3311980" y="652414"/>
            <a:ext cx="2186689" cy="288033"/>
            <a:chOff x="2227776" y="5587613"/>
            <a:chExt cx="2186689" cy="288033"/>
          </a:xfrm>
        </p:grpSpPr>
        <p:sp>
          <p:nvSpPr>
            <p:cNvPr id="107" name="사각형: 둥근 모서리 106">
              <a:extLst>
                <a:ext uri="{FF2B5EF4-FFF2-40B4-BE49-F238E27FC236}">
                  <a16:creationId xmlns:a16="http://schemas.microsoft.com/office/drawing/2014/main" id="{2E05B1FA-421B-45B6-A4EA-B849AA64DC27}"/>
                </a:ext>
              </a:extLst>
            </p:cNvPr>
            <p:cNvSpPr/>
            <p:nvPr/>
          </p:nvSpPr>
          <p:spPr>
            <a:xfrm>
              <a:off x="3076708" y="5643865"/>
              <a:ext cx="317469" cy="175528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</a:rPr>
                <a:t>10</a:t>
              </a:r>
              <a:endParaRPr lang="ko-KR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F048F623-334A-4841-BCE2-19FED19E00A3}"/>
                </a:ext>
              </a:extLst>
            </p:cNvPr>
            <p:cNvSpPr/>
            <p:nvPr/>
          </p:nvSpPr>
          <p:spPr>
            <a:xfrm>
              <a:off x="2227776" y="5587613"/>
              <a:ext cx="916532" cy="28803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기준부하 시간 설정</a:t>
              </a:r>
            </a:p>
          </p:txBody>
        </p:sp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2BCB71D8-A288-425F-AB96-39CC1C29C7AC}"/>
                </a:ext>
              </a:extLst>
            </p:cNvPr>
            <p:cNvSpPr/>
            <p:nvPr/>
          </p:nvSpPr>
          <p:spPr>
            <a:xfrm>
              <a:off x="3580764" y="5643865"/>
              <a:ext cx="317469" cy="175528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</a:rPr>
                <a:t>14</a:t>
              </a:r>
              <a:endParaRPr lang="ko-KR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C7D91DC2-9337-46B5-BC23-F2D4FE9A9565}"/>
                </a:ext>
              </a:extLst>
            </p:cNvPr>
            <p:cNvSpPr/>
            <p:nvPr/>
          </p:nvSpPr>
          <p:spPr>
            <a:xfrm>
              <a:off x="3364740" y="5587613"/>
              <a:ext cx="249415" cy="28803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6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~</a:t>
              </a:r>
              <a:endParaRPr lang="ko-KR" altLang="en-US" sz="6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FD3F79A6-873E-483B-B680-F96F7B151677}"/>
                </a:ext>
              </a:extLst>
            </p:cNvPr>
            <p:cNvSpPr/>
            <p:nvPr/>
          </p:nvSpPr>
          <p:spPr>
            <a:xfrm>
              <a:off x="4012812" y="5609119"/>
              <a:ext cx="401653" cy="211465"/>
            </a:xfrm>
            <a:prstGeom prst="rect">
              <a:avLst/>
            </a:prstGeom>
            <a:solidFill>
              <a:srgbClr val="0099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조회</a:t>
              </a:r>
            </a:p>
          </p:txBody>
        </p:sp>
      </p:grpSp>
      <p:sp>
        <p:nvSpPr>
          <p:cNvPr id="113" name="말풍선: 모서리가 둥근 사각형 112">
            <a:extLst>
              <a:ext uri="{FF2B5EF4-FFF2-40B4-BE49-F238E27FC236}">
                <a16:creationId xmlns:a16="http://schemas.microsoft.com/office/drawing/2014/main" id="{5884F5A8-5A5B-47BE-9C63-A65A82139630}"/>
              </a:ext>
            </a:extLst>
          </p:cNvPr>
          <p:cNvSpPr/>
          <p:nvPr/>
        </p:nvSpPr>
        <p:spPr>
          <a:xfrm>
            <a:off x="3811592" y="161500"/>
            <a:ext cx="1323575" cy="274031"/>
          </a:xfrm>
          <a:prstGeom prst="wedgeRoundRectCallout">
            <a:avLst>
              <a:gd name="adj1" fmla="val -34915"/>
              <a:gd name="adj2" fmla="val 88770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기존 기간설정 삭제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7" name="타원형 설명선 226"/>
          <p:cNvSpPr/>
          <p:nvPr/>
        </p:nvSpPr>
        <p:spPr>
          <a:xfrm>
            <a:off x="2700369" y="47833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2053515" y="453158"/>
            <a:ext cx="216000" cy="216000"/>
          </a:xfrm>
          <a:prstGeom prst="wedgeEllipseCallout">
            <a:avLst>
              <a:gd name="adj1" fmla="val 87905"/>
              <a:gd name="adj2" fmla="val 4337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타원형 설명선 226">
            <a:extLst>
              <a:ext uri="{FF2B5EF4-FFF2-40B4-BE49-F238E27FC236}">
                <a16:creationId xmlns:a16="http://schemas.microsoft.com/office/drawing/2014/main" id="{AD97C691-5EF2-4D17-806C-60A7C3A9FD96}"/>
              </a:ext>
            </a:extLst>
          </p:cNvPr>
          <p:cNvSpPr/>
          <p:nvPr/>
        </p:nvSpPr>
        <p:spPr>
          <a:xfrm>
            <a:off x="3473090" y="45357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말풍선: 모서리가 둥근 사각형 60">
            <a:extLst>
              <a:ext uri="{FF2B5EF4-FFF2-40B4-BE49-F238E27FC236}">
                <a16:creationId xmlns:a16="http://schemas.microsoft.com/office/drawing/2014/main" id="{052A64E8-3FEF-4D8D-97AB-943B438EE2E8}"/>
              </a:ext>
            </a:extLst>
          </p:cNvPr>
          <p:cNvSpPr/>
          <p:nvPr/>
        </p:nvSpPr>
        <p:spPr>
          <a:xfrm>
            <a:off x="3170610" y="958201"/>
            <a:ext cx="1760723" cy="274031"/>
          </a:xfrm>
          <a:prstGeom prst="wedgeRoundRectCallout">
            <a:avLst>
              <a:gd name="adj1" fmla="val 58729"/>
              <a:gd name="adj2" fmla="val -33684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오늘 사용량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실제 사용량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563C6FE-386E-4897-A008-91EBE083EACA}"/>
              </a:ext>
            </a:extLst>
          </p:cNvPr>
          <p:cNvSpPr/>
          <p:nvPr/>
        </p:nvSpPr>
        <p:spPr>
          <a:xfrm>
            <a:off x="5889103" y="925144"/>
            <a:ext cx="1732401" cy="199176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305853A-EB76-4AC7-A4DE-050A2E020D5B}"/>
              </a:ext>
            </a:extLst>
          </p:cNvPr>
          <p:cNvSpPr/>
          <p:nvPr/>
        </p:nvSpPr>
        <p:spPr>
          <a:xfrm>
            <a:off x="5169024" y="925144"/>
            <a:ext cx="654841" cy="199176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---- </a:t>
            </a:r>
            <a:r>
              <a:rPr lang="ko-KR" altLang="en-US" sz="5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사용량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5394673F-DDDC-4466-BE6E-166CAAC2A94B}"/>
              </a:ext>
            </a:extLst>
          </p:cNvPr>
          <p:cNvSpPr/>
          <p:nvPr/>
        </p:nvSpPr>
        <p:spPr>
          <a:xfrm>
            <a:off x="7686592" y="925144"/>
            <a:ext cx="654841" cy="199176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B77751D0-880B-499E-98C4-5D7434874196}"/>
              </a:ext>
            </a:extLst>
          </p:cNvPr>
          <p:cNvCxnSpPr>
            <a:cxnSpLocks/>
          </p:cNvCxnSpPr>
          <p:nvPr/>
        </p:nvCxnSpPr>
        <p:spPr>
          <a:xfrm>
            <a:off x="4924369" y="1190473"/>
            <a:ext cx="0" cy="125222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5344FE7E-FA72-4B8E-8426-C516A0D1C444}"/>
              </a:ext>
            </a:extLst>
          </p:cNvPr>
          <p:cNvGrpSpPr/>
          <p:nvPr/>
        </p:nvGrpSpPr>
        <p:grpSpPr>
          <a:xfrm>
            <a:off x="2045126" y="1190473"/>
            <a:ext cx="5125554" cy="1252221"/>
            <a:chOff x="1052542" y="2397511"/>
            <a:chExt cx="5125554" cy="1252221"/>
          </a:xfrm>
        </p:grpSpPr>
        <p:sp>
          <p:nvSpPr>
            <p:cNvPr id="163" name="자유형 10">
              <a:extLst>
                <a:ext uri="{FF2B5EF4-FFF2-40B4-BE49-F238E27FC236}">
                  <a16:creationId xmlns:a16="http://schemas.microsoft.com/office/drawing/2014/main" id="{E0005500-5F4C-4C66-BE40-94491A64F633}"/>
                </a:ext>
              </a:extLst>
            </p:cNvPr>
            <p:cNvSpPr/>
            <p:nvPr/>
          </p:nvSpPr>
          <p:spPr>
            <a:xfrm>
              <a:off x="1052542" y="2735517"/>
              <a:ext cx="2949900" cy="907078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rgbClr val="FF66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2ABDD555-1DCF-4EA5-A46A-70A66FE3DB5C}"/>
                </a:ext>
              </a:extLst>
            </p:cNvPr>
            <p:cNvGrpSpPr/>
            <p:nvPr/>
          </p:nvGrpSpPr>
          <p:grpSpPr>
            <a:xfrm>
              <a:off x="3601656" y="2397511"/>
              <a:ext cx="1433726" cy="145311"/>
              <a:chOff x="3784893" y="2295519"/>
              <a:chExt cx="1433726" cy="145311"/>
            </a:xfrm>
          </p:grpSpPr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74A870FF-838D-445A-812D-995F6506FD44}"/>
                  </a:ext>
                </a:extLst>
              </p:cNvPr>
              <p:cNvCxnSpPr/>
              <p:nvPr/>
            </p:nvCxnSpPr>
            <p:spPr>
              <a:xfrm>
                <a:off x="3784893" y="2405058"/>
                <a:ext cx="720000" cy="1588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F9B9D395-81E3-4C18-BFFA-602A48173A5B}"/>
                  </a:ext>
                </a:extLst>
              </p:cNvPr>
              <p:cNvCxnSpPr/>
              <p:nvPr/>
            </p:nvCxnSpPr>
            <p:spPr>
              <a:xfrm>
                <a:off x="4498619" y="2295519"/>
                <a:ext cx="720000" cy="1588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>
                <a:extLst>
                  <a:ext uri="{FF2B5EF4-FFF2-40B4-BE49-F238E27FC236}">
                    <a16:creationId xmlns:a16="http://schemas.microsoft.com/office/drawing/2014/main" id="{69EA2768-C758-401E-9D91-7CA3F9CB9A00}"/>
                  </a:ext>
                </a:extLst>
              </p:cNvPr>
              <p:cNvCxnSpPr/>
              <p:nvPr/>
            </p:nvCxnSpPr>
            <p:spPr>
              <a:xfrm rot="5400000">
                <a:off x="4443826" y="2350264"/>
                <a:ext cx="108000" cy="1588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타원 175">
                <a:extLst>
                  <a:ext uri="{FF2B5EF4-FFF2-40B4-BE49-F238E27FC236}">
                    <a16:creationId xmlns:a16="http://schemas.microsoft.com/office/drawing/2014/main" id="{9021065F-26AD-487C-94D4-ED60ACB5216F}"/>
                  </a:ext>
                </a:extLst>
              </p:cNvPr>
              <p:cNvSpPr/>
              <p:nvPr/>
            </p:nvSpPr>
            <p:spPr>
              <a:xfrm>
                <a:off x="4085834" y="2368830"/>
                <a:ext cx="72000" cy="72000"/>
              </a:xfrm>
              <a:prstGeom prst="ellipse">
                <a:avLst/>
              </a:prstGeom>
              <a:solidFill>
                <a:srgbClr val="FF99CC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2C03AD11-894A-4DB8-B68E-13958CDF1F0D}"/>
                </a:ext>
              </a:extLst>
            </p:cNvPr>
            <p:cNvSpPr/>
            <p:nvPr/>
          </p:nvSpPr>
          <p:spPr>
            <a:xfrm>
              <a:off x="5089128" y="2546259"/>
              <a:ext cx="1088968" cy="5902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r>
                <a:rPr lang="en-US" altLang="ko-KR" sz="600" dirty="0">
                  <a:solidFill>
                    <a:schemeClr val="tx1"/>
                  </a:solidFill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</a:rPr>
                <a:t>월</a:t>
              </a:r>
              <a:r>
                <a:rPr lang="en-US" altLang="ko-KR" sz="600" dirty="0">
                  <a:solidFill>
                    <a:schemeClr val="tx1"/>
                  </a:solidFill>
                </a:rPr>
                <a:t>14</a:t>
              </a:r>
              <a:r>
                <a:rPr lang="ko-KR" altLang="en-US" sz="600" dirty="0">
                  <a:solidFill>
                    <a:schemeClr val="tx1"/>
                  </a:solidFill>
                </a:rPr>
                <a:t>일 목요일</a:t>
              </a:r>
              <a:r>
                <a:rPr lang="en-US" altLang="ko-KR" sz="600" dirty="0">
                  <a:solidFill>
                    <a:schemeClr val="tx1"/>
                  </a:solidFill>
                </a:rPr>
                <a:t>,</a:t>
              </a:r>
              <a:r>
                <a:rPr lang="ko-KR" altLang="en-US" sz="600" dirty="0">
                  <a:solidFill>
                    <a:schemeClr val="tx1"/>
                  </a:solidFill>
                </a:rPr>
                <a:t> </a:t>
              </a:r>
              <a:r>
                <a:rPr lang="en-US" altLang="ko-KR" sz="600" dirty="0">
                  <a:solidFill>
                    <a:schemeClr val="tx1"/>
                  </a:solidFill>
                </a:rPr>
                <a:t>17:42</a:t>
              </a:r>
              <a:endParaRPr lang="en-US" altLang="ko-KR" sz="600" dirty="0">
                <a:solidFill>
                  <a:srgbClr val="FF0000"/>
                </a:solidFill>
              </a:endParaRPr>
            </a:p>
            <a:p>
              <a:r>
                <a:rPr lang="en-US" altLang="ko-KR" sz="600" dirty="0">
                  <a:solidFill>
                    <a:srgbClr val="FF0000"/>
                  </a:solidFill>
                </a:rPr>
                <a:t>- </a:t>
              </a:r>
              <a:r>
                <a:rPr lang="ko-KR" altLang="en-US" sz="600" dirty="0">
                  <a:solidFill>
                    <a:srgbClr val="FF0000"/>
                  </a:solidFill>
                </a:rPr>
                <a:t>기준부하</a:t>
              </a:r>
              <a:r>
                <a:rPr lang="en-US" altLang="ko-KR" sz="600" dirty="0">
                  <a:solidFill>
                    <a:srgbClr val="FF0000"/>
                  </a:solidFill>
                </a:rPr>
                <a:t>(CBL) :</a:t>
              </a:r>
              <a:r>
                <a:rPr lang="en-US" altLang="ko-KR" sz="600" dirty="0">
                  <a:solidFill>
                    <a:schemeClr val="tx1"/>
                  </a:solidFill>
                </a:rPr>
                <a:t> </a:t>
              </a:r>
              <a:r>
                <a:rPr lang="en-US" altLang="ko-KR" sz="600" b="1" dirty="0">
                  <a:solidFill>
                    <a:schemeClr val="tx1"/>
                  </a:solidFill>
                </a:rPr>
                <a:t>5,500kW</a:t>
              </a:r>
            </a:p>
            <a:p>
              <a:r>
                <a:rPr lang="en-US" altLang="ko-KR" sz="600" dirty="0">
                  <a:solidFill>
                    <a:schemeClr val="accent6">
                      <a:lumMod val="75000"/>
                    </a:schemeClr>
                  </a:solidFill>
                </a:rPr>
                <a:t>- </a:t>
              </a:r>
              <a:r>
                <a:rPr lang="ko-KR" altLang="en-US" sz="600" dirty="0">
                  <a:solidFill>
                    <a:schemeClr val="accent6">
                      <a:lumMod val="75000"/>
                    </a:schemeClr>
                  </a:solidFill>
                </a:rPr>
                <a:t>현재 사용량 </a:t>
              </a:r>
              <a:r>
                <a:rPr lang="en-US" altLang="ko-KR" sz="600" dirty="0">
                  <a:solidFill>
                    <a:schemeClr val="accent6">
                      <a:lumMod val="75000"/>
                    </a:schemeClr>
                  </a:solidFill>
                </a:rPr>
                <a:t>: </a:t>
              </a:r>
              <a:r>
                <a:rPr lang="en-US" altLang="ko-KR" sz="600" b="1" dirty="0">
                  <a:solidFill>
                    <a:schemeClr val="tx1"/>
                  </a:solidFill>
                </a:rPr>
                <a:t>800kW</a:t>
              </a:r>
            </a:p>
            <a:p>
              <a:r>
                <a:rPr lang="en-US" altLang="ko-KR" sz="600" dirty="0">
                  <a:solidFill>
                    <a:srgbClr val="0070C0"/>
                  </a:solidFill>
                </a:rPr>
                <a:t>- </a:t>
              </a:r>
              <a:r>
                <a:rPr lang="ko-KR" altLang="en-US" sz="600" dirty="0" err="1">
                  <a:solidFill>
                    <a:srgbClr val="0070C0"/>
                  </a:solidFill>
                </a:rPr>
                <a:t>감축량</a:t>
              </a:r>
              <a:r>
                <a:rPr lang="ko-KR" altLang="en-US" sz="600" dirty="0">
                  <a:solidFill>
                    <a:srgbClr val="0070C0"/>
                  </a:solidFill>
                </a:rPr>
                <a:t> </a:t>
              </a:r>
              <a:r>
                <a:rPr lang="en-US" altLang="ko-KR" sz="600" dirty="0">
                  <a:solidFill>
                    <a:srgbClr val="0070C0"/>
                  </a:solidFill>
                </a:rPr>
                <a:t>:</a:t>
              </a:r>
              <a:r>
                <a:rPr lang="en-US" altLang="ko-KR" sz="600" dirty="0">
                  <a:solidFill>
                    <a:schemeClr val="tx1"/>
                  </a:solidFill>
                </a:rPr>
                <a:t> </a:t>
              </a:r>
              <a:r>
                <a:rPr lang="en-US" altLang="ko-KR" sz="600" b="1" dirty="0">
                  <a:solidFill>
                    <a:schemeClr val="tx1"/>
                  </a:solidFill>
                </a:rPr>
                <a:t>4,700kW</a:t>
              </a:r>
            </a:p>
            <a:p>
              <a:r>
                <a:rPr lang="en-US" altLang="ko-KR" sz="600" dirty="0">
                  <a:solidFill>
                    <a:srgbClr val="A3CFE5"/>
                  </a:solidFill>
                </a:rPr>
                <a:t>- </a:t>
              </a:r>
              <a:r>
                <a:rPr lang="ko-KR" altLang="en-US" sz="600" dirty="0">
                  <a:solidFill>
                    <a:srgbClr val="A3CFE5"/>
                  </a:solidFill>
                </a:rPr>
                <a:t>목표사용량</a:t>
              </a:r>
              <a:r>
                <a:rPr lang="en-US" altLang="ko-KR" sz="600" dirty="0">
                  <a:solidFill>
                    <a:srgbClr val="A3CFE5"/>
                  </a:solidFill>
                </a:rPr>
                <a:t> :</a:t>
              </a:r>
              <a:r>
                <a:rPr lang="en-US" altLang="ko-KR" sz="600" dirty="0">
                  <a:solidFill>
                    <a:schemeClr val="tx1"/>
                  </a:solidFill>
                </a:rPr>
                <a:t> </a:t>
              </a:r>
              <a:r>
                <a:rPr lang="en-US" altLang="ko-KR" sz="600" b="1" dirty="0">
                  <a:solidFill>
                    <a:schemeClr val="tx1"/>
                  </a:solidFill>
                </a:rPr>
                <a:t>1,500kW</a:t>
              </a:r>
            </a:p>
          </p:txBody>
        </p:sp>
        <p:grpSp>
          <p:nvGrpSpPr>
            <p:cNvPr id="166" name="그룹 165">
              <a:extLst>
                <a:ext uri="{FF2B5EF4-FFF2-40B4-BE49-F238E27FC236}">
                  <a16:creationId xmlns:a16="http://schemas.microsoft.com/office/drawing/2014/main" id="{B104892F-74A8-4B98-B3AA-ED9174B9C8D3}"/>
                </a:ext>
              </a:extLst>
            </p:cNvPr>
            <p:cNvGrpSpPr/>
            <p:nvPr/>
          </p:nvGrpSpPr>
          <p:grpSpPr>
            <a:xfrm>
              <a:off x="3605178" y="2549478"/>
              <a:ext cx="1438800" cy="1100254"/>
              <a:chOff x="3605178" y="2428839"/>
              <a:chExt cx="1438800" cy="1100254"/>
            </a:xfrm>
          </p:grpSpPr>
          <p:sp>
            <p:nvSpPr>
              <p:cNvPr id="168" name="직사각형 167">
                <a:extLst>
                  <a:ext uri="{FF2B5EF4-FFF2-40B4-BE49-F238E27FC236}">
                    <a16:creationId xmlns:a16="http://schemas.microsoft.com/office/drawing/2014/main" id="{9DA61B5E-9ACD-4CD7-9C7F-879209AC859D}"/>
                  </a:ext>
                </a:extLst>
              </p:cNvPr>
              <p:cNvSpPr/>
              <p:nvPr/>
            </p:nvSpPr>
            <p:spPr>
              <a:xfrm>
                <a:off x="3605178" y="2611403"/>
                <a:ext cx="720000" cy="914648"/>
              </a:xfrm>
              <a:prstGeom prst="rect">
                <a:avLst/>
              </a:prstGeom>
              <a:solidFill>
                <a:srgbClr val="CCECFF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D290784E-8029-4390-9886-C1BE6FFFF231}"/>
                  </a:ext>
                </a:extLst>
              </p:cNvPr>
              <p:cNvSpPr/>
              <p:nvPr/>
            </p:nvSpPr>
            <p:spPr>
              <a:xfrm>
                <a:off x="4323303" y="2428839"/>
                <a:ext cx="720000" cy="1100254"/>
              </a:xfrm>
              <a:prstGeom prst="rect">
                <a:avLst/>
              </a:prstGeom>
              <a:solidFill>
                <a:srgbClr val="CCECFF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D2A85B71-6CA8-4D35-8B26-1D3740F43641}"/>
                  </a:ext>
                </a:extLst>
              </p:cNvPr>
              <p:cNvCxnSpPr/>
              <p:nvPr/>
            </p:nvCxnSpPr>
            <p:spPr>
              <a:xfrm>
                <a:off x="3611855" y="2617155"/>
                <a:ext cx="720000" cy="1588"/>
              </a:xfrm>
              <a:prstGeom prst="line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CF23BA6E-8FB2-4572-8ADE-66EDA7593453}"/>
                  </a:ext>
                </a:extLst>
              </p:cNvPr>
              <p:cNvCxnSpPr/>
              <p:nvPr/>
            </p:nvCxnSpPr>
            <p:spPr>
              <a:xfrm>
                <a:off x="4323978" y="2433593"/>
                <a:ext cx="720000" cy="1588"/>
              </a:xfrm>
              <a:prstGeom prst="line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66A777DF-5513-4F28-A88C-B09F19171275}"/>
                  </a:ext>
                </a:extLst>
              </p:cNvPr>
              <p:cNvCxnSpPr/>
              <p:nvPr/>
            </p:nvCxnSpPr>
            <p:spPr>
              <a:xfrm rot="5400000">
                <a:off x="4241061" y="2522141"/>
                <a:ext cx="180000" cy="1588"/>
              </a:xfrm>
              <a:prstGeom prst="line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330893E4-6B10-46BF-B6EC-B3EBCC81E333}"/>
                </a:ext>
              </a:extLst>
            </p:cNvPr>
            <p:cNvSpPr/>
            <p:nvPr/>
          </p:nvSpPr>
          <p:spPr>
            <a:xfrm>
              <a:off x="3894208" y="2703943"/>
              <a:ext cx="72000" cy="72000"/>
            </a:xfrm>
            <a:prstGeom prst="ellipse">
              <a:avLst/>
            </a:prstGeom>
            <a:solidFill>
              <a:srgbClr val="FF99C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80" name="타원형 설명선 243">
            <a:extLst>
              <a:ext uri="{FF2B5EF4-FFF2-40B4-BE49-F238E27FC236}">
                <a16:creationId xmlns:a16="http://schemas.microsoft.com/office/drawing/2014/main" id="{6CB2F8EF-2D69-4A81-B00A-8A0BDD28E16D}"/>
              </a:ext>
            </a:extLst>
          </p:cNvPr>
          <p:cNvSpPr/>
          <p:nvPr/>
        </p:nvSpPr>
        <p:spPr>
          <a:xfrm>
            <a:off x="5992664" y="2692617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5CFBD76F-294D-4B8E-B6E2-896C4895B339}"/>
              </a:ext>
            </a:extLst>
          </p:cNvPr>
          <p:cNvSpPr/>
          <p:nvPr/>
        </p:nvSpPr>
        <p:spPr>
          <a:xfrm>
            <a:off x="7781921" y="2906932"/>
            <a:ext cx="483447" cy="199176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3754682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9CF0959-3BD4-402F-BC92-B440A53E3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5" y="302848"/>
            <a:ext cx="8337832" cy="4195046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DR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실적 현황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DR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실적 현황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833381"/>
              </p:ext>
            </p:extLst>
          </p:nvPr>
        </p:nvGraphicFramePr>
        <p:xfrm>
          <a:off x="8469313" y="276225"/>
          <a:ext cx="1404000" cy="616224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8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그래프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꺽은선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X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간격 표시 기준은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기준 부하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직선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목표사용량 직선 그래프 및 범위 표시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9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기준부하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해당 시간 대의 기준 부하를 표시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해당 기준을 넘어설 경우 알람 발생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54162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10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목표사용량 표시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시간 대의 목표사용량 범위를 표시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2)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목표사용량 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기준부하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(CBL) -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감축용량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54602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정보 표시 </a:t>
                      </a: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툴팁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다음 항목의 정보를 표시함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기준부하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(CBL),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현재사용량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감축량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목표사용량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현재시간을 기준으로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툴팁을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팝업하며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마우스 이동의 영향을 받지 않고 고정 위치에 팝업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646524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감축 정보 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다음과 같은 감축 정보를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감축일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감축시간대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고객기준부하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계약용량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목표사용량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감축량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이행률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감축 정보 표는 하단 표 펼치기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접기의 영향을 받지 않음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감축시간대는 총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시간이므로 표는 최대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열까지만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존재함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 (1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 당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열로 표시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ewpsp_scr_013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5423468-63C5-4870-82F0-8096833027FB}"/>
              </a:ext>
            </a:extLst>
          </p:cNvPr>
          <p:cNvSpPr/>
          <p:nvPr/>
        </p:nvSpPr>
        <p:spPr>
          <a:xfrm>
            <a:off x="180126" y="3140968"/>
            <a:ext cx="8085242" cy="1182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332479BB-6B5B-48F3-A26A-B4FBFD6F5DB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00472" y="3257793"/>
          <a:ext cx="7992889" cy="525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9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9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29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29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5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7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감축시간대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사용량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(kWh)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고객기준부하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(kW)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계약용량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(kWh)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목표사용량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kWh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감축량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(kWh)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이행률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6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2016-01-14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16:00~17:00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750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5,000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4,000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1,000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4,250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106.25%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6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2016-01-14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17:00~18:00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5,500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4,000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1,500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4,700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117.50%</a:t>
                      </a:r>
                      <a:endParaRPr lang="ko-KR" altLang="en-US" sz="7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직사각형 58">
            <a:extLst>
              <a:ext uri="{FF2B5EF4-FFF2-40B4-BE49-F238E27FC236}">
                <a16:creationId xmlns:a16="http://schemas.microsoft.com/office/drawing/2014/main" id="{2C43666D-3901-4C72-887C-435A466364A4}"/>
              </a:ext>
            </a:extLst>
          </p:cNvPr>
          <p:cNvSpPr/>
          <p:nvPr/>
        </p:nvSpPr>
        <p:spPr>
          <a:xfrm>
            <a:off x="6691568" y="2865079"/>
            <a:ext cx="1014514" cy="259702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B6F9D4F-A5E6-4DC1-AF12-F9E4B4A3C263}"/>
              </a:ext>
            </a:extLst>
          </p:cNvPr>
          <p:cNvSpPr/>
          <p:nvPr/>
        </p:nvSpPr>
        <p:spPr>
          <a:xfrm>
            <a:off x="56456" y="610063"/>
            <a:ext cx="1368152" cy="2098857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DR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실적 합계</a:t>
            </a:r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사용량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xx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kWh</a:t>
            </a:r>
          </a:p>
          <a:p>
            <a:pPr algn="ctr"/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감축량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xx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kWh</a:t>
            </a:r>
          </a:p>
          <a:p>
            <a:pPr algn="ctr"/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606103B-4073-46E2-9972-00C04ECA27D7}"/>
              </a:ext>
            </a:extLst>
          </p:cNvPr>
          <p:cNvSpPr txBox="1"/>
          <p:nvPr/>
        </p:nvSpPr>
        <p:spPr>
          <a:xfrm>
            <a:off x="5758707" y="694335"/>
            <a:ext cx="7465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b="1"/>
              <a:t>실시간 자동 갱신</a:t>
            </a:r>
            <a:endParaRPr lang="ko-KR" altLang="en-US" sz="600" b="1" dirty="0"/>
          </a:p>
        </p:txBody>
      </p:sp>
      <p:pic>
        <p:nvPicPr>
          <p:cNvPr id="99" name="Picture 6" descr="ê´ë ¨ ì´ë¯¸ì§">
            <a:extLst>
              <a:ext uri="{FF2B5EF4-FFF2-40B4-BE49-F238E27FC236}">
                <a16:creationId xmlns:a16="http://schemas.microsoft.com/office/drawing/2014/main" id="{A974727E-1455-4BE6-A279-77CF185B3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05" y="696293"/>
            <a:ext cx="180170" cy="180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487BCBDB-B749-443A-B1EE-B8BCC5FAFAFE}"/>
              </a:ext>
            </a:extLst>
          </p:cNvPr>
          <p:cNvSpPr/>
          <p:nvPr/>
        </p:nvSpPr>
        <p:spPr>
          <a:xfrm>
            <a:off x="2027658" y="1191843"/>
            <a:ext cx="6230329" cy="1229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형 설명선 245">
            <a:extLst>
              <a:ext uri="{FF2B5EF4-FFF2-40B4-BE49-F238E27FC236}">
                <a16:creationId xmlns:a16="http://schemas.microsoft.com/office/drawing/2014/main" id="{AD3A529D-1FC2-49C7-A83C-9E86DC0F0094}"/>
              </a:ext>
            </a:extLst>
          </p:cNvPr>
          <p:cNvSpPr/>
          <p:nvPr/>
        </p:nvSpPr>
        <p:spPr>
          <a:xfrm>
            <a:off x="4381762" y="131427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91830474-BCFF-4B82-8EE4-5EAE55FBF723}"/>
              </a:ext>
            </a:extLst>
          </p:cNvPr>
          <p:cNvSpPr/>
          <p:nvPr/>
        </p:nvSpPr>
        <p:spPr>
          <a:xfrm>
            <a:off x="3241654" y="624943"/>
            <a:ext cx="2124024" cy="285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2794EBA9-F31B-4DBA-AA24-3EC08AAD3579}"/>
              </a:ext>
            </a:extLst>
          </p:cNvPr>
          <p:cNvGrpSpPr/>
          <p:nvPr/>
        </p:nvGrpSpPr>
        <p:grpSpPr>
          <a:xfrm>
            <a:off x="3311980" y="652414"/>
            <a:ext cx="2186689" cy="288033"/>
            <a:chOff x="2227776" y="5587613"/>
            <a:chExt cx="2186689" cy="288033"/>
          </a:xfrm>
        </p:grpSpPr>
        <p:sp>
          <p:nvSpPr>
            <p:cNvPr id="107" name="사각형: 둥근 모서리 106">
              <a:extLst>
                <a:ext uri="{FF2B5EF4-FFF2-40B4-BE49-F238E27FC236}">
                  <a16:creationId xmlns:a16="http://schemas.microsoft.com/office/drawing/2014/main" id="{2E05B1FA-421B-45B6-A4EA-B849AA64DC27}"/>
                </a:ext>
              </a:extLst>
            </p:cNvPr>
            <p:cNvSpPr/>
            <p:nvPr/>
          </p:nvSpPr>
          <p:spPr>
            <a:xfrm>
              <a:off x="3076708" y="5643865"/>
              <a:ext cx="317469" cy="175528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</a:rPr>
                <a:t>10</a:t>
              </a:r>
              <a:endParaRPr lang="ko-KR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F048F623-334A-4841-BCE2-19FED19E00A3}"/>
                </a:ext>
              </a:extLst>
            </p:cNvPr>
            <p:cNvSpPr/>
            <p:nvPr/>
          </p:nvSpPr>
          <p:spPr>
            <a:xfrm>
              <a:off x="2227776" y="5587613"/>
              <a:ext cx="916532" cy="28803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기준부하 시간 설정</a:t>
              </a:r>
            </a:p>
          </p:txBody>
        </p:sp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2BCB71D8-A288-425F-AB96-39CC1C29C7AC}"/>
                </a:ext>
              </a:extLst>
            </p:cNvPr>
            <p:cNvSpPr/>
            <p:nvPr/>
          </p:nvSpPr>
          <p:spPr>
            <a:xfrm>
              <a:off x="3580764" y="5643865"/>
              <a:ext cx="317469" cy="175528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</a:rPr>
                <a:t>14</a:t>
              </a:r>
              <a:endParaRPr lang="ko-KR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C7D91DC2-9337-46B5-BC23-F2D4FE9A9565}"/>
                </a:ext>
              </a:extLst>
            </p:cNvPr>
            <p:cNvSpPr/>
            <p:nvPr/>
          </p:nvSpPr>
          <p:spPr>
            <a:xfrm>
              <a:off x="3364740" y="5587613"/>
              <a:ext cx="249415" cy="28803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6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~</a:t>
              </a:r>
              <a:endParaRPr lang="ko-KR" altLang="en-US" sz="6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FD3F79A6-873E-483B-B680-F96F7B151677}"/>
                </a:ext>
              </a:extLst>
            </p:cNvPr>
            <p:cNvSpPr/>
            <p:nvPr/>
          </p:nvSpPr>
          <p:spPr>
            <a:xfrm>
              <a:off x="4012812" y="5609119"/>
              <a:ext cx="401653" cy="211465"/>
            </a:xfrm>
            <a:prstGeom prst="rect">
              <a:avLst/>
            </a:prstGeom>
            <a:solidFill>
              <a:srgbClr val="0099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조회</a:t>
              </a:r>
            </a:p>
          </p:txBody>
        </p:sp>
      </p:grp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4408571" y="1071342"/>
            <a:ext cx="216000" cy="216000"/>
          </a:xfrm>
          <a:prstGeom prst="wedgeEllipseCallout">
            <a:avLst>
              <a:gd name="adj1" fmla="val 87905"/>
              <a:gd name="adj2" fmla="val 4337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563C6FE-386E-4897-A008-91EBE083EACA}"/>
              </a:ext>
            </a:extLst>
          </p:cNvPr>
          <p:cNvSpPr/>
          <p:nvPr/>
        </p:nvSpPr>
        <p:spPr>
          <a:xfrm>
            <a:off x="5889103" y="925144"/>
            <a:ext cx="1732401" cy="199176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305853A-EB76-4AC7-A4DE-050A2E020D5B}"/>
              </a:ext>
            </a:extLst>
          </p:cNvPr>
          <p:cNvSpPr/>
          <p:nvPr/>
        </p:nvSpPr>
        <p:spPr>
          <a:xfrm>
            <a:off x="5169024" y="925144"/>
            <a:ext cx="654841" cy="199176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---- </a:t>
            </a:r>
            <a:r>
              <a:rPr lang="ko-KR" altLang="en-US" sz="5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사용량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5394673F-DDDC-4466-BE6E-166CAAC2A94B}"/>
              </a:ext>
            </a:extLst>
          </p:cNvPr>
          <p:cNvSpPr/>
          <p:nvPr/>
        </p:nvSpPr>
        <p:spPr>
          <a:xfrm>
            <a:off x="7686592" y="925144"/>
            <a:ext cx="654841" cy="199176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B77751D0-880B-499E-98C4-5D7434874196}"/>
              </a:ext>
            </a:extLst>
          </p:cNvPr>
          <p:cNvCxnSpPr>
            <a:cxnSpLocks/>
          </p:cNvCxnSpPr>
          <p:nvPr/>
        </p:nvCxnSpPr>
        <p:spPr>
          <a:xfrm>
            <a:off x="4924369" y="1190473"/>
            <a:ext cx="0" cy="125222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5344FE7E-FA72-4B8E-8426-C516A0D1C444}"/>
              </a:ext>
            </a:extLst>
          </p:cNvPr>
          <p:cNvGrpSpPr/>
          <p:nvPr/>
        </p:nvGrpSpPr>
        <p:grpSpPr>
          <a:xfrm>
            <a:off x="2045126" y="1190473"/>
            <a:ext cx="5125554" cy="1252221"/>
            <a:chOff x="1052542" y="2397511"/>
            <a:chExt cx="5125554" cy="1252221"/>
          </a:xfrm>
        </p:grpSpPr>
        <p:sp>
          <p:nvSpPr>
            <p:cNvPr id="163" name="자유형 10">
              <a:extLst>
                <a:ext uri="{FF2B5EF4-FFF2-40B4-BE49-F238E27FC236}">
                  <a16:creationId xmlns:a16="http://schemas.microsoft.com/office/drawing/2014/main" id="{E0005500-5F4C-4C66-BE40-94491A64F633}"/>
                </a:ext>
              </a:extLst>
            </p:cNvPr>
            <p:cNvSpPr/>
            <p:nvPr/>
          </p:nvSpPr>
          <p:spPr>
            <a:xfrm>
              <a:off x="1052542" y="2735517"/>
              <a:ext cx="2949900" cy="907078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rgbClr val="FF66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2ABDD555-1DCF-4EA5-A46A-70A66FE3DB5C}"/>
                </a:ext>
              </a:extLst>
            </p:cNvPr>
            <p:cNvGrpSpPr/>
            <p:nvPr/>
          </p:nvGrpSpPr>
          <p:grpSpPr>
            <a:xfrm>
              <a:off x="3601656" y="2397511"/>
              <a:ext cx="1433726" cy="145311"/>
              <a:chOff x="3784893" y="2295519"/>
              <a:chExt cx="1433726" cy="145311"/>
            </a:xfrm>
          </p:grpSpPr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74A870FF-838D-445A-812D-995F6506FD44}"/>
                  </a:ext>
                </a:extLst>
              </p:cNvPr>
              <p:cNvCxnSpPr/>
              <p:nvPr/>
            </p:nvCxnSpPr>
            <p:spPr>
              <a:xfrm>
                <a:off x="3784893" y="2405058"/>
                <a:ext cx="720000" cy="1588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F9B9D395-81E3-4C18-BFFA-602A48173A5B}"/>
                  </a:ext>
                </a:extLst>
              </p:cNvPr>
              <p:cNvCxnSpPr/>
              <p:nvPr/>
            </p:nvCxnSpPr>
            <p:spPr>
              <a:xfrm>
                <a:off x="4498619" y="2295519"/>
                <a:ext cx="720000" cy="1588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>
                <a:extLst>
                  <a:ext uri="{FF2B5EF4-FFF2-40B4-BE49-F238E27FC236}">
                    <a16:creationId xmlns:a16="http://schemas.microsoft.com/office/drawing/2014/main" id="{69EA2768-C758-401E-9D91-7CA3F9CB9A00}"/>
                  </a:ext>
                </a:extLst>
              </p:cNvPr>
              <p:cNvCxnSpPr/>
              <p:nvPr/>
            </p:nvCxnSpPr>
            <p:spPr>
              <a:xfrm rot="5400000">
                <a:off x="4443826" y="2350264"/>
                <a:ext cx="108000" cy="1588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타원 175">
                <a:extLst>
                  <a:ext uri="{FF2B5EF4-FFF2-40B4-BE49-F238E27FC236}">
                    <a16:creationId xmlns:a16="http://schemas.microsoft.com/office/drawing/2014/main" id="{9021065F-26AD-487C-94D4-ED60ACB5216F}"/>
                  </a:ext>
                </a:extLst>
              </p:cNvPr>
              <p:cNvSpPr/>
              <p:nvPr/>
            </p:nvSpPr>
            <p:spPr>
              <a:xfrm>
                <a:off x="4085834" y="2368830"/>
                <a:ext cx="72000" cy="72000"/>
              </a:xfrm>
              <a:prstGeom prst="ellipse">
                <a:avLst/>
              </a:prstGeom>
              <a:solidFill>
                <a:srgbClr val="FF99CC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2C03AD11-894A-4DB8-B68E-13958CDF1F0D}"/>
                </a:ext>
              </a:extLst>
            </p:cNvPr>
            <p:cNvSpPr/>
            <p:nvPr/>
          </p:nvSpPr>
          <p:spPr>
            <a:xfrm>
              <a:off x="5089128" y="2546259"/>
              <a:ext cx="1088968" cy="5902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r>
                <a:rPr lang="en-US" altLang="ko-KR" sz="600" dirty="0">
                  <a:solidFill>
                    <a:schemeClr val="tx1"/>
                  </a:solidFill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</a:rPr>
                <a:t>월</a:t>
              </a:r>
              <a:r>
                <a:rPr lang="en-US" altLang="ko-KR" sz="600" dirty="0">
                  <a:solidFill>
                    <a:schemeClr val="tx1"/>
                  </a:solidFill>
                </a:rPr>
                <a:t>14</a:t>
              </a:r>
              <a:r>
                <a:rPr lang="ko-KR" altLang="en-US" sz="600" dirty="0">
                  <a:solidFill>
                    <a:schemeClr val="tx1"/>
                  </a:solidFill>
                </a:rPr>
                <a:t>일 목요일</a:t>
              </a:r>
              <a:r>
                <a:rPr lang="en-US" altLang="ko-KR" sz="600" dirty="0">
                  <a:solidFill>
                    <a:schemeClr val="tx1"/>
                  </a:solidFill>
                </a:rPr>
                <a:t>,</a:t>
              </a:r>
              <a:r>
                <a:rPr lang="ko-KR" altLang="en-US" sz="600" dirty="0">
                  <a:solidFill>
                    <a:schemeClr val="tx1"/>
                  </a:solidFill>
                </a:rPr>
                <a:t> </a:t>
              </a:r>
              <a:r>
                <a:rPr lang="en-US" altLang="ko-KR" sz="600" dirty="0">
                  <a:solidFill>
                    <a:schemeClr val="tx1"/>
                  </a:solidFill>
                </a:rPr>
                <a:t>17:42</a:t>
              </a:r>
              <a:endParaRPr lang="en-US" altLang="ko-KR" sz="600" dirty="0">
                <a:solidFill>
                  <a:srgbClr val="FF0000"/>
                </a:solidFill>
              </a:endParaRPr>
            </a:p>
            <a:p>
              <a:r>
                <a:rPr lang="en-US" altLang="ko-KR" sz="600" dirty="0">
                  <a:solidFill>
                    <a:srgbClr val="FF0000"/>
                  </a:solidFill>
                </a:rPr>
                <a:t>- </a:t>
              </a:r>
              <a:r>
                <a:rPr lang="ko-KR" altLang="en-US" sz="600" dirty="0">
                  <a:solidFill>
                    <a:srgbClr val="FF0000"/>
                  </a:solidFill>
                </a:rPr>
                <a:t>기준부하</a:t>
              </a:r>
              <a:r>
                <a:rPr lang="en-US" altLang="ko-KR" sz="600" dirty="0">
                  <a:solidFill>
                    <a:srgbClr val="FF0000"/>
                  </a:solidFill>
                </a:rPr>
                <a:t>(CBL) :</a:t>
              </a:r>
              <a:r>
                <a:rPr lang="en-US" altLang="ko-KR" sz="600" dirty="0">
                  <a:solidFill>
                    <a:schemeClr val="tx1"/>
                  </a:solidFill>
                </a:rPr>
                <a:t> </a:t>
              </a:r>
              <a:r>
                <a:rPr lang="en-US" altLang="ko-KR" sz="600" b="1" dirty="0">
                  <a:solidFill>
                    <a:schemeClr val="tx1"/>
                  </a:solidFill>
                </a:rPr>
                <a:t>5,500kW</a:t>
              </a:r>
            </a:p>
            <a:p>
              <a:r>
                <a:rPr lang="en-US" altLang="ko-KR" sz="600" dirty="0">
                  <a:solidFill>
                    <a:schemeClr val="accent6">
                      <a:lumMod val="75000"/>
                    </a:schemeClr>
                  </a:solidFill>
                </a:rPr>
                <a:t>- </a:t>
              </a:r>
              <a:r>
                <a:rPr lang="ko-KR" altLang="en-US" sz="600" dirty="0">
                  <a:solidFill>
                    <a:schemeClr val="accent6">
                      <a:lumMod val="75000"/>
                    </a:schemeClr>
                  </a:solidFill>
                </a:rPr>
                <a:t>현재 사용량 </a:t>
              </a:r>
              <a:r>
                <a:rPr lang="en-US" altLang="ko-KR" sz="600" dirty="0">
                  <a:solidFill>
                    <a:schemeClr val="accent6">
                      <a:lumMod val="75000"/>
                    </a:schemeClr>
                  </a:solidFill>
                </a:rPr>
                <a:t>: </a:t>
              </a:r>
              <a:r>
                <a:rPr lang="en-US" altLang="ko-KR" sz="600" b="1" dirty="0">
                  <a:solidFill>
                    <a:schemeClr val="tx1"/>
                  </a:solidFill>
                </a:rPr>
                <a:t>800kW</a:t>
              </a:r>
            </a:p>
            <a:p>
              <a:r>
                <a:rPr lang="en-US" altLang="ko-KR" sz="600" dirty="0">
                  <a:solidFill>
                    <a:srgbClr val="0070C0"/>
                  </a:solidFill>
                </a:rPr>
                <a:t>- </a:t>
              </a:r>
              <a:r>
                <a:rPr lang="ko-KR" altLang="en-US" sz="600" dirty="0" err="1">
                  <a:solidFill>
                    <a:srgbClr val="0070C0"/>
                  </a:solidFill>
                </a:rPr>
                <a:t>감축량</a:t>
              </a:r>
              <a:r>
                <a:rPr lang="ko-KR" altLang="en-US" sz="600" dirty="0">
                  <a:solidFill>
                    <a:srgbClr val="0070C0"/>
                  </a:solidFill>
                </a:rPr>
                <a:t> </a:t>
              </a:r>
              <a:r>
                <a:rPr lang="en-US" altLang="ko-KR" sz="600" dirty="0">
                  <a:solidFill>
                    <a:srgbClr val="0070C0"/>
                  </a:solidFill>
                </a:rPr>
                <a:t>:</a:t>
              </a:r>
              <a:r>
                <a:rPr lang="en-US" altLang="ko-KR" sz="600" dirty="0">
                  <a:solidFill>
                    <a:schemeClr val="tx1"/>
                  </a:solidFill>
                </a:rPr>
                <a:t> </a:t>
              </a:r>
              <a:r>
                <a:rPr lang="en-US" altLang="ko-KR" sz="600" b="1" dirty="0">
                  <a:solidFill>
                    <a:schemeClr val="tx1"/>
                  </a:solidFill>
                </a:rPr>
                <a:t>4,700kW</a:t>
              </a:r>
            </a:p>
            <a:p>
              <a:r>
                <a:rPr lang="en-US" altLang="ko-KR" sz="600" dirty="0">
                  <a:solidFill>
                    <a:srgbClr val="A3CFE5"/>
                  </a:solidFill>
                </a:rPr>
                <a:t>- </a:t>
              </a:r>
              <a:r>
                <a:rPr lang="ko-KR" altLang="en-US" sz="600" dirty="0">
                  <a:solidFill>
                    <a:srgbClr val="A3CFE5"/>
                  </a:solidFill>
                </a:rPr>
                <a:t>목표사용량</a:t>
              </a:r>
              <a:r>
                <a:rPr lang="en-US" altLang="ko-KR" sz="600" dirty="0">
                  <a:solidFill>
                    <a:srgbClr val="A3CFE5"/>
                  </a:solidFill>
                </a:rPr>
                <a:t> :</a:t>
              </a:r>
              <a:r>
                <a:rPr lang="en-US" altLang="ko-KR" sz="600" dirty="0">
                  <a:solidFill>
                    <a:schemeClr val="tx1"/>
                  </a:solidFill>
                </a:rPr>
                <a:t> </a:t>
              </a:r>
              <a:r>
                <a:rPr lang="en-US" altLang="ko-KR" sz="600" b="1" dirty="0">
                  <a:solidFill>
                    <a:schemeClr val="tx1"/>
                  </a:solidFill>
                </a:rPr>
                <a:t>1,500kW</a:t>
              </a:r>
            </a:p>
          </p:txBody>
        </p:sp>
        <p:grpSp>
          <p:nvGrpSpPr>
            <p:cNvPr id="166" name="그룹 165">
              <a:extLst>
                <a:ext uri="{FF2B5EF4-FFF2-40B4-BE49-F238E27FC236}">
                  <a16:creationId xmlns:a16="http://schemas.microsoft.com/office/drawing/2014/main" id="{B104892F-74A8-4B98-B3AA-ED9174B9C8D3}"/>
                </a:ext>
              </a:extLst>
            </p:cNvPr>
            <p:cNvGrpSpPr/>
            <p:nvPr/>
          </p:nvGrpSpPr>
          <p:grpSpPr>
            <a:xfrm>
              <a:off x="3605178" y="2549478"/>
              <a:ext cx="1438800" cy="1100254"/>
              <a:chOff x="3605178" y="2428839"/>
              <a:chExt cx="1438800" cy="1100254"/>
            </a:xfrm>
          </p:grpSpPr>
          <p:sp>
            <p:nvSpPr>
              <p:cNvPr id="168" name="직사각형 167">
                <a:extLst>
                  <a:ext uri="{FF2B5EF4-FFF2-40B4-BE49-F238E27FC236}">
                    <a16:creationId xmlns:a16="http://schemas.microsoft.com/office/drawing/2014/main" id="{9DA61B5E-9ACD-4CD7-9C7F-879209AC859D}"/>
                  </a:ext>
                </a:extLst>
              </p:cNvPr>
              <p:cNvSpPr/>
              <p:nvPr/>
            </p:nvSpPr>
            <p:spPr>
              <a:xfrm>
                <a:off x="3605178" y="2611403"/>
                <a:ext cx="720000" cy="914648"/>
              </a:xfrm>
              <a:prstGeom prst="rect">
                <a:avLst/>
              </a:prstGeom>
              <a:solidFill>
                <a:srgbClr val="CCECFF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D290784E-8029-4390-9886-C1BE6FFFF231}"/>
                  </a:ext>
                </a:extLst>
              </p:cNvPr>
              <p:cNvSpPr/>
              <p:nvPr/>
            </p:nvSpPr>
            <p:spPr>
              <a:xfrm>
                <a:off x="4323303" y="2428839"/>
                <a:ext cx="720000" cy="1100254"/>
              </a:xfrm>
              <a:prstGeom prst="rect">
                <a:avLst/>
              </a:prstGeom>
              <a:solidFill>
                <a:srgbClr val="CCECFF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D2A85B71-6CA8-4D35-8B26-1D3740F43641}"/>
                  </a:ext>
                </a:extLst>
              </p:cNvPr>
              <p:cNvCxnSpPr/>
              <p:nvPr/>
            </p:nvCxnSpPr>
            <p:spPr>
              <a:xfrm>
                <a:off x="3611855" y="2617155"/>
                <a:ext cx="720000" cy="1588"/>
              </a:xfrm>
              <a:prstGeom prst="line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CF23BA6E-8FB2-4572-8ADE-66EDA7593453}"/>
                  </a:ext>
                </a:extLst>
              </p:cNvPr>
              <p:cNvCxnSpPr/>
              <p:nvPr/>
            </p:nvCxnSpPr>
            <p:spPr>
              <a:xfrm>
                <a:off x="4323978" y="2433593"/>
                <a:ext cx="720000" cy="1588"/>
              </a:xfrm>
              <a:prstGeom prst="line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66A777DF-5513-4F28-A88C-B09F19171275}"/>
                  </a:ext>
                </a:extLst>
              </p:cNvPr>
              <p:cNvCxnSpPr/>
              <p:nvPr/>
            </p:nvCxnSpPr>
            <p:spPr>
              <a:xfrm rot="5400000">
                <a:off x="4241061" y="2522141"/>
                <a:ext cx="180000" cy="1588"/>
              </a:xfrm>
              <a:prstGeom prst="line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330893E4-6B10-46BF-B6EC-B3EBCC81E333}"/>
                </a:ext>
              </a:extLst>
            </p:cNvPr>
            <p:cNvSpPr/>
            <p:nvPr/>
          </p:nvSpPr>
          <p:spPr>
            <a:xfrm>
              <a:off x="3894208" y="2703943"/>
              <a:ext cx="72000" cy="72000"/>
            </a:xfrm>
            <a:prstGeom prst="ellipse">
              <a:avLst/>
            </a:prstGeom>
            <a:solidFill>
              <a:srgbClr val="FF99C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7" name="타원형 설명선 245">
            <a:extLst>
              <a:ext uri="{FF2B5EF4-FFF2-40B4-BE49-F238E27FC236}">
                <a16:creationId xmlns:a16="http://schemas.microsoft.com/office/drawing/2014/main" id="{8B8276BB-71A8-4308-906B-7986AC9CD1F6}"/>
              </a:ext>
            </a:extLst>
          </p:cNvPr>
          <p:cNvSpPr/>
          <p:nvPr/>
        </p:nvSpPr>
        <p:spPr>
          <a:xfrm>
            <a:off x="1554299" y="87646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8B44C9D0-1E2F-4F86-A17A-592424151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298562"/>
              </p:ext>
            </p:extLst>
          </p:nvPr>
        </p:nvGraphicFramePr>
        <p:xfrm>
          <a:off x="661662" y="4819989"/>
          <a:ext cx="3670866" cy="187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815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834067">
                  <a:extLst>
                    <a:ext uri="{9D8B030D-6E8A-4147-A177-3AD203B41FA5}">
                      <a16:colId xmlns:a16="http://schemas.microsoft.com/office/drawing/2014/main" val="8834736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1077432929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2248332737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701571902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440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1440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10080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43200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525600</a:t>
                      </a:r>
                      <a:endParaRPr lang="ko-KR" altLang="en-US" sz="6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672409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553682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672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2880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35040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293162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336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1440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17520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23599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022207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720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8760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961310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24359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365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81172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500751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993451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841290"/>
                  </a:ext>
                </a:extLst>
              </a:tr>
            </a:tbl>
          </a:graphicData>
        </a:graphic>
      </p:graphicFrame>
      <p:sp>
        <p:nvSpPr>
          <p:cNvPr id="49" name="타원형 설명선 225">
            <a:extLst>
              <a:ext uri="{FF2B5EF4-FFF2-40B4-BE49-F238E27FC236}">
                <a16:creationId xmlns:a16="http://schemas.microsoft.com/office/drawing/2014/main" id="{42F2EC03-94AC-493C-A286-E28E0544216F}"/>
              </a:ext>
            </a:extLst>
          </p:cNvPr>
          <p:cNvSpPr/>
          <p:nvPr/>
        </p:nvSpPr>
        <p:spPr>
          <a:xfrm>
            <a:off x="441640" y="4637775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EBDB24E-3AEF-4A54-86F5-D7BCF61152AD}"/>
              </a:ext>
            </a:extLst>
          </p:cNvPr>
          <p:cNvSpPr/>
          <p:nvPr/>
        </p:nvSpPr>
        <p:spPr>
          <a:xfrm>
            <a:off x="7781921" y="2906932"/>
            <a:ext cx="483447" cy="199176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51" name="타원형 설명선 245">
            <a:extLst>
              <a:ext uri="{FF2B5EF4-FFF2-40B4-BE49-F238E27FC236}">
                <a16:creationId xmlns:a16="http://schemas.microsoft.com/office/drawing/2014/main" id="{942D6643-2B5A-42BE-A412-A5C6EC49D1F5}"/>
              </a:ext>
            </a:extLst>
          </p:cNvPr>
          <p:cNvSpPr/>
          <p:nvPr/>
        </p:nvSpPr>
        <p:spPr>
          <a:xfrm>
            <a:off x="6007873" y="110463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타원형 설명선 245">
            <a:extLst>
              <a:ext uri="{FF2B5EF4-FFF2-40B4-BE49-F238E27FC236}">
                <a16:creationId xmlns:a16="http://schemas.microsoft.com/office/drawing/2014/main" id="{DFEF943B-DD13-4096-B706-F422B579EBED}"/>
              </a:ext>
            </a:extLst>
          </p:cNvPr>
          <p:cNvSpPr/>
          <p:nvPr/>
        </p:nvSpPr>
        <p:spPr>
          <a:xfrm>
            <a:off x="180126" y="300234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5081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DR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실적 현황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DR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실적 현황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320911"/>
              </p:ext>
            </p:extLst>
          </p:nvPr>
        </p:nvGraphicFramePr>
        <p:xfrm>
          <a:off x="8469313" y="276225"/>
          <a:ext cx="1404000" cy="4674816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그래프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꺽은선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항목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실제 사용량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Y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KWh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전력량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X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간격 표시 기준은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 데이터 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조회된 데이터의 그래프 표시 항목을 표로 표현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특정 개수가 넘어 표가 좌우로 넓어질 경우에는 하단으로 표 확장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브라우저 크기를 조정하여 폭이 좁아질 경우에도 하단으로 표 확장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행 최대 칸수는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8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표 접기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그래프 하단 표 영역 표시의 </a:t>
                      </a:r>
                      <a:r>
                        <a:rPr lang="ko-KR" altLang="en-US" sz="800" b="0" u="none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토글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버튼</a:t>
                      </a:r>
                      <a:endParaRPr lang="en-US" altLang="ko-KR" sz="800" b="0" u="none" kern="12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9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저장하기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데이터를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csv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형태의 파일로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10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목표사용량 확인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마우스로 클릭하면 기준 부하 및 목표사용량을 확인할 수 있는 그래프 요소와 표가 추가된다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토글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형태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다음 페이지 참고</a:t>
                      </a:r>
                      <a:endParaRPr lang="en-US" altLang="ko-KR" sz="800" b="0" u="none" dirty="0">
                        <a:solidFill>
                          <a:srgbClr val="0066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ewpsp_scr_013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14E8AEF-8EA8-4944-AE52-FF98A1FB7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96" y="752041"/>
            <a:ext cx="8208912" cy="40197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15" y="762442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7D07777-30AA-4506-9C18-6F3B4C7D943C}"/>
              </a:ext>
            </a:extLst>
          </p:cNvPr>
          <p:cNvCxnSpPr>
            <a:cxnSpLocks/>
          </p:cNvCxnSpPr>
          <p:nvPr/>
        </p:nvCxnSpPr>
        <p:spPr>
          <a:xfrm>
            <a:off x="128463" y="1124744"/>
            <a:ext cx="8208912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4417E-CAA5-4FD3-BBB9-7CD5570EF571}"/>
              </a:ext>
            </a:extLst>
          </p:cNvPr>
          <p:cNvSpPr/>
          <p:nvPr/>
        </p:nvSpPr>
        <p:spPr>
          <a:xfrm>
            <a:off x="216315" y="1556792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DR </a:t>
            </a: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실적 현황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80BACBD-4B64-4649-BD7C-E1EE3620FBC6}"/>
              </a:ext>
            </a:extLst>
          </p:cNvPr>
          <p:cNvSpPr/>
          <p:nvPr/>
        </p:nvSpPr>
        <p:spPr>
          <a:xfrm>
            <a:off x="120419" y="1726179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27B69D7-2B77-4AF2-A717-2F8B00E5023D}"/>
              </a:ext>
            </a:extLst>
          </p:cNvPr>
          <p:cNvSpPr/>
          <p:nvPr/>
        </p:nvSpPr>
        <p:spPr>
          <a:xfrm>
            <a:off x="3512840" y="1569453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1E4F555-ACF8-422A-8A4C-263DF5607ED0}"/>
              </a:ext>
            </a:extLst>
          </p:cNvPr>
          <p:cNvSpPr/>
          <p:nvPr/>
        </p:nvSpPr>
        <p:spPr>
          <a:xfrm>
            <a:off x="4232920" y="156945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6B85B8-E22D-471D-BF90-7BA59FDE59DA}"/>
              </a:ext>
            </a:extLst>
          </p:cNvPr>
          <p:cNvSpPr/>
          <p:nvPr/>
        </p:nvSpPr>
        <p:spPr>
          <a:xfrm>
            <a:off x="5495673" y="156945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DE85575-6695-43D9-BA78-E72D7749FD5A}"/>
              </a:ext>
            </a:extLst>
          </p:cNvPr>
          <p:cNvSpPr/>
          <p:nvPr/>
        </p:nvSpPr>
        <p:spPr>
          <a:xfrm>
            <a:off x="5783705" y="1569453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2DDF82F-9C8F-422F-B328-3979E21AEB5E}"/>
              </a:ext>
            </a:extLst>
          </p:cNvPr>
          <p:cNvSpPr/>
          <p:nvPr/>
        </p:nvSpPr>
        <p:spPr>
          <a:xfrm>
            <a:off x="6033120" y="156945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08668D7-197F-47CF-8003-58499E43E073}"/>
              </a:ext>
            </a:extLst>
          </p:cNvPr>
          <p:cNvSpPr/>
          <p:nvPr/>
        </p:nvSpPr>
        <p:spPr>
          <a:xfrm>
            <a:off x="7295873" y="156945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844086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19FCE8B-C633-47C3-A0BD-44AD20643BCC}"/>
              </a:ext>
            </a:extLst>
          </p:cNvPr>
          <p:cNvSpPr/>
          <p:nvPr/>
        </p:nvSpPr>
        <p:spPr>
          <a:xfrm>
            <a:off x="1239315" y="1637161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48F9D44-B814-4AF5-882E-A35193F2E22A}"/>
              </a:ext>
            </a:extLst>
          </p:cNvPr>
          <p:cNvSpPr/>
          <p:nvPr/>
        </p:nvSpPr>
        <p:spPr>
          <a:xfrm>
            <a:off x="2297791" y="1636316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18513AA0-501E-41AA-A36E-386D57118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205695"/>
              </p:ext>
            </p:extLst>
          </p:nvPr>
        </p:nvGraphicFramePr>
        <p:xfrm>
          <a:off x="278100" y="2156233"/>
          <a:ext cx="7915258" cy="1786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3998026551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4239822446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3215763484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1826529500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1380773476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1384194458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1749036958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3675851017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3466669195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667275161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1235731143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3913681239"/>
                    </a:ext>
                  </a:extLst>
                </a:gridCol>
              </a:tblGrid>
              <a:tr h="255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00A71007-406C-4F0A-9589-C33EC6950CD4}"/>
              </a:ext>
            </a:extLst>
          </p:cNvPr>
          <p:cNvCxnSpPr>
            <a:cxnSpLocks/>
          </p:cNvCxnSpPr>
          <p:nvPr/>
        </p:nvCxnSpPr>
        <p:spPr>
          <a:xfrm>
            <a:off x="980534" y="3186416"/>
            <a:ext cx="7147615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FA8F809F-54BE-465D-850D-4493686FD5EF}"/>
              </a:ext>
            </a:extLst>
          </p:cNvPr>
          <p:cNvCxnSpPr>
            <a:cxnSpLocks/>
          </p:cNvCxnSpPr>
          <p:nvPr/>
        </p:nvCxnSpPr>
        <p:spPr>
          <a:xfrm>
            <a:off x="980534" y="2610352"/>
            <a:ext cx="7147615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자유형 10">
            <a:extLst>
              <a:ext uri="{FF2B5EF4-FFF2-40B4-BE49-F238E27FC236}">
                <a16:creationId xmlns:a16="http://schemas.microsoft.com/office/drawing/2014/main" id="{1414ED20-0E3B-4642-9AE6-452F5986E6D0}"/>
              </a:ext>
            </a:extLst>
          </p:cNvPr>
          <p:cNvSpPr/>
          <p:nvPr/>
        </p:nvSpPr>
        <p:spPr>
          <a:xfrm>
            <a:off x="1052542" y="2614878"/>
            <a:ext cx="2949900" cy="907078"/>
          </a:xfrm>
          <a:custGeom>
            <a:avLst/>
            <a:gdLst>
              <a:gd name="connsiteX0" fmla="*/ 0 w 6477000"/>
              <a:gd name="connsiteY0" fmla="*/ 1208046 h 1208046"/>
              <a:gd name="connsiteX1" fmla="*/ 33867 w 6477000"/>
              <a:gd name="connsiteY1" fmla="*/ 1157246 h 1208046"/>
              <a:gd name="connsiteX2" fmla="*/ 67734 w 6477000"/>
              <a:gd name="connsiteY2" fmla="*/ 1140313 h 1208046"/>
              <a:gd name="connsiteX3" fmla="*/ 101600 w 6477000"/>
              <a:gd name="connsiteY3" fmla="*/ 1072580 h 1208046"/>
              <a:gd name="connsiteX4" fmla="*/ 118534 w 6477000"/>
              <a:gd name="connsiteY4" fmla="*/ 1055646 h 1208046"/>
              <a:gd name="connsiteX5" fmla="*/ 152400 w 6477000"/>
              <a:gd name="connsiteY5" fmla="*/ 937113 h 1208046"/>
              <a:gd name="connsiteX6" fmla="*/ 169334 w 6477000"/>
              <a:gd name="connsiteY6" fmla="*/ 903246 h 1208046"/>
              <a:gd name="connsiteX7" fmla="*/ 203200 w 6477000"/>
              <a:gd name="connsiteY7" fmla="*/ 818580 h 1208046"/>
              <a:gd name="connsiteX8" fmla="*/ 220134 w 6477000"/>
              <a:gd name="connsiteY8" fmla="*/ 801646 h 1208046"/>
              <a:gd name="connsiteX9" fmla="*/ 237067 w 6477000"/>
              <a:gd name="connsiteY9" fmla="*/ 750846 h 1208046"/>
              <a:gd name="connsiteX10" fmla="*/ 304800 w 6477000"/>
              <a:gd name="connsiteY10" fmla="*/ 750846 h 1208046"/>
              <a:gd name="connsiteX11" fmla="*/ 321734 w 6477000"/>
              <a:gd name="connsiteY11" fmla="*/ 767780 h 1208046"/>
              <a:gd name="connsiteX12" fmla="*/ 355600 w 6477000"/>
              <a:gd name="connsiteY12" fmla="*/ 784713 h 1208046"/>
              <a:gd name="connsiteX13" fmla="*/ 508000 w 6477000"/>
              <a:gd name="connsiteY13" fmla="*/ 750846 h 1208046"/>
              <a:gd name="connsiteX14" fmla="*/ 575734 w 6477000"/>
              <a:gd name="connsiteY14" fmla="*/ 716980 h 1208046"/>
              <a:gd name="connsiteX15" fmla="*/ 643467 w 6477000"/>
              <a:gd name="connsiteY15" fmla="*/ 683113 h 1208046"/>
              <a:gd name="connsiteX16" fmla="*/ 677334 w 6477000"/>
              <a:gd name="connsiteY16" fmla="*/ 666180 h 1208046"/>
              <a:gd name="connsiteX17" fmla="*/ 762000 w 6477000"/>
              <a:gd name="connsiteY17" fmla="*/ 615380 h 1208046"/>
              <a:gd name="connsiteX18" fmla="*/ 778934 w 6477000"/>
              <a:gd name="connsiteY18" fmla="*/ 598446 h 1208046"/>
              <a:gd name="connsiteX19" fmla="*/ 812800 w 6477000"/>
              <a:gd name="connsiteY19" fmla="*/ 581513 h 1208046"/>
              <a:gd name="connsiteX20" fmla="*/ 965200 w 6477000"/>
              <a:gd name="connsiteY20" fmla="*/ 598446 h 1208046"/>
              <a:gd name="connsiteX21" fmla="*/ 1032934 w 6477000"/>
              <a:gd name="connsiteY21" fmla="*/ 615380 h 1208046"/>
              <a:gd name="connsiteX22" fmla="*/ 1202267 w 6477000"/>
              <a:gd name="connsiteY22" fmla="*/ 598446 h 1208046"/>
              <a:gd name="connsiteX23" fmla="*/ 1270000 w 6477000"/>
              <a:gd name="connsiteY23" fmla="*/ 564580 h 1208046"/>
              <a:gd name="connsiteX24" fmla="*/ 1303867 w 6477000"/>
              <a:gd name="connsiteY24" fmla="*/ 547646 h 1208046"/>
              <a:gd name="connsiteX25" fmla="*/ 1354667 w 6477000"/>
              <a:gd name="connsiteY25" fmla="*/ 530713 h 1208046"/>
              <a:gd name="connsiteX26" fmla="*/ 1388534 w 6477000"/>
              <a:gd name="connsiteY26" fmla="*/ 513780 h 1208046"/>
              <a:gd name="connsiteX27" fmla="*/ 1557867 w 6477000"/>
              <a:gd name="connsiteY27" fmla="*/ 496846 h 1208046"/>
              <a:gd name="connsiteX28" fmla="*/ 1964267 w 6477000"/>
              <a:gd name="connsiteY28" fmla="*/ 462980 h 1208046"/>
              <a:gd name="connsiteX29" fmla="*/ 2082800 w 6477000"/>
              <a:gd name="connsiteY29" fmla="*/ 412180 h 1208046"/>
              <a:gd name="connsiteX30" fmla="*/ 2133600 w 6477000"/>
              <a:gd name="connsiteY30" fmla="*/ 361380 h 1208046"/>
              <a:gd name="connsiteX31" fmla="*/ 2150534 w 6477000"/>
              <a:gd name="connsiteY31" fmla="*/ 344446 h 1208046"/>
              <a:gd name="connsiteX32" fmla="*/ 2201334 w 6477000"/>
              <a:gd name="connsiteY32" fmla="*/ 310580 h 1208046"/>
              <a:gd name="connsiteX33" fmla="*/ 2455334 w 6477000"/>
              <a:gd name="connsiteY33" fmla="*/ 327513 h 1208046"/>
              <a:gd name="connsiteX34" fmla="*/ 2489200 w 6477000"/>
              <a:gd name="connsiteY34" fmla="*/ 361380 h 1208046"/>
              <a:gd name="connsiteX35" fmla="*/ 2624667 w 6477000"/>
              <a:gd name="connsiteY35" fmla="*/ 378313 h 1208046"/>
              <a:gd name="connsiteX36" fmla="*/ 2726267 w 6477000"/>
              <a:gd name="connsiteY36" fmla="*/ 395246 h 1208046"/>
              <a:gd name="connsiteX37" fmla="*/ 2980267 w 6477000"/>
              <a:gd name="connsiteY37" fmla="*/ 378313 h 1208046"/>
              <a:gd name="connsiteX38" fmla="*/ 3149600 w 6477000"/>
              <a:gd name="connsiteY38" fmla="*/ 344446 h 1208046"/>
              <a:gd name="connsiteX39" fmla="*/ 3183467 w 6477000"/>
              <a:gd name="connsiteY39" fmla="*/ 327513 h 1208046"/>
              <a:gd name="connsiteX40" fmla="*/ 3420534 w 6477000"/>
              <a:gd name="connsiteY40" fmla="*/ 344446 h 1208046"/>
              <a:gd name="connsiteX41" fmla="*/ 3589867 w 6477000"/>
              <a:gd name="connsiteY41" fmla="*/ 378313 h 1208046"/>
              <a:gd name="connsiteX42" fmla="*/ 3674534 w 6477000"/>
              <a:gd name="connsiteY42" fmla="*/ 395246 h 1208046"/>
              <a:gd name="connsiteX43" fmla="*/ 3877734 w 6477000"/>
              <a:gd name="connsiteY43" fmla="*/ 429113 h 1208046"/>
              <a:gd name="connsiteX44" fmla="*/ 4047067 w 6477000"/>
              <a:gd name="connsiteY44" fmla="*/ 462980 h 1208046"/>
              <a:gd name="connsiteX45" fmla="*/ 4284134 w 6477000"/>
              <a:gd name="connsiteY45" fmla="*/ 446046 h 1208046"/>
              <a:gd name="connsiteX46" fmla="*/ 4402667 w 6477000"/>
              <a:gd name="connsiteY46" fmla="*/ 412180 h 1208046"/>
              <a:gd name="connsiteX47" fmla="*/ 4436534 w 6477000"/>
              <a:gd name="connsiteY47" fmla="*/ 395246 h 1208046"/>
              <a:gd name="connsiteX48" fmla="*/ 4521200 w 6477000"/>
              <a:gd name="connsiteY48" fmla="*/ 378313 h 1208046"/>
              <a:gd name="connsiteX49" fmla="*/ 4605867 w 6477000"/>
              <a:gd name="connsiteY49" fmla="*/ 395246 h 1208046"/>
              <a:gd name="connsiteX50" fmla="*/ 4673600 w 6477000"/>
              <a:gd name="connsiteY50" fmla="*/ 412180 h 1208046"/>
              <a:gd name="connsiteX51" fmla="*/ 4859867 w 6477000"/>
              <a:gd name="connsiteY51" fmla="*/ 395246 h 1208046"/>
              <a:gd name="connsiteX52" fmla="*/ 4978400 w 6477000"/>
              <a:gd name="connsiteY52" fmla="*/ 361380 h 1208046"/>
              <a:gd name="connsiteX53" fmla="*/ 5080000 w 6477000"/>
              <a:gd name="connsiteY53" fmla="*/ 310580 h 1208046"/>
              <a:gd name="connsiteX54" fmla="*/ 5096934 w 6477000"/>
              <a:gd name="connsiteY54" fmla="*/ 293646 h 1208046"/>
              <a:gd name="connsiteX55" fmla="*/ 5130800 w 6477000"/>
              <a:gd name="connsiteY55" fmla="*/ 276713 h 1208046"/>
              <a:gd name="connsiteX56" fmla="*/ 5164667 w 6477000"/>
              <a:gd name="connsiteY56" fmla="*/ 242846 h 1208046"/>
              <a:gd name="connsiteX57" fmla="*/ 5181600 w 6477000"/>
              <a:gd name="connsiteY57" fmla="*/ 208980 h 1208046"/>
              <a:gd name="connsiteX58" fmla="*/ 5232400 w 6477000"/>
              <a:gd name="connsiteY58" fmla="*/ 192046 h 1208046"/>
              <a:gd name="connsiteX59" fmla="*/ 5401734 w 6477000"/>
              <a:gd name="connsiteY59" fmla="*/ 141246 h 1208046"/>
              <a:gd name="connsiteX60" fmla="*/ 5486400 w 6477000"/>
              <a:gd name="connsiteY60" fmla="*/ 107380 h 1208046"/>
              <a:gd name="connsiteX61" fmla="*/ 5537200 w 6477000"/>
              <a:gd name="connsiteY61" fmla="*/ 90446 h 1208046"/>
              <a:gd name="connsiteX62" fmla="*/ 5638800 w 6477000"/>
              <a:gd name="connsiteY62" fmla="*/ 107380 h 1208046"/>
              <a:gd name="connsiteX63" fmla="*/ 5672667 w 6477000"/>
              <a:gd name="connsiteY63" fmla="*/ 124313 h 1208046"/>
              <a:gd name="connsiteX64" fmla="*/ 5723467 w 6477000"/>
              <a:gd name="connsiteY64" fmla="*/ 141246 h 1208046"/>
              <a:gd name="connsiteX65" fmla="*/ 5757334 w 6477000"/>
              <a:gd name="connsiteY65" fmla="*/ 158180 h 1208046"/>
              <a:gd name="connsiteX66" fmla="*/ 5926667 w 6477000"/>
              <a:gd name="connsiteY66" fmla="*/ 175113 h 1208046"/>
              <a:gd name="connsiteX67" fmla="*/ 5994400 w 6477000"/>
              <a:gd name="connsiteY67" fmla="*/ 141246 h 1208046"/>
              <a:gd name="connsiteX68" fmla="*/ 6011334 w 6477000"/>
              <a:gd name="connsiteY68" fmla="*/ 124313 h 1208046"/>
              <a:gd name="connsiteX69" fmla="*/ 6079067 w 6477000"/>
              <a:gd name="connsiteY69" fmla="*/ 90446 h 1208046"/>
              <a:gd name="connsiteX70" fmla="*/ 6180667 w 6477000"/>
              <a:gd name="connsiteY70" fmla="*/ 39646 h 1208046"/>
              <a:gd name="connsiteX71" fmla="*/ 6316134 w 6477000"/>
              <a:gd name="connsiteY71" fmla="*/ 5780 h 1208046"/>
              <a:gd name="connsiteX72" fmla="*/ 6477000 w 6477000"/>
              <a:gd name="connsiteY72" fmla="*/ 5780 h 120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477000" h="1208046">
                <a:moveTo>
                  <a:pt x="0" y="1208046"/>
                </a:moveTo>
                <a:cubicBezTo>
                  <a:pt x="11289" y="1191113"/>
                  <a:pt x="19476" y="1171637"/>
                  <a:pt x="33867" y="1157246"/>
                </a:cubicBezTo>
                <a:cubicBezTo>
                  <a:pt x="42792" y="1148321"/>
                  <a:pt x="59849" y="1150169"/>
                  <a:pt x="67734" y="1140313"/>
                </a:cubicBezTo>
                <a:cubicBezTo>
                  <a:pt x="83503" y="1120602"/>
                  <a:pt x="83751" y="1090429"/>
                  <a:pt x="101600" y="1072580"/>
                </a:cubicBezTo>
                <a:lnTo>
                  <a:pt x="118534" y="1055646"/>
                </a:lnTo>
                <a:cubicBezTo>
                  <a:pt x="129237" y="1012832"/>
                  <a:pt x="136206" y="977598"/>
                  <a:pt x="152400" y="937113"/>
                </a:cubicBezTo>
                <a:cubicBezTo>
                  <a:pt x="157088" y="925394"/>
                  <a:pt x="164646" y="914965"/>
                  <a:pt x="169334" y="903246"/>
                </a:cubicBezTo>
                <a:cubicBezTo>
                  <a:pt x="183103" y="868824"/>
                  <a:pt x="183344" y="848364"/>
                  <a:pt x="203200" y="818580"/>
                </a:cubicBezTo>
                <a:cubicBezTo>
                  <a:pt x="207628" y="811938"/>
                  <a:pt x="214489" y="807291"/>
                  <a:pt x="220134" y="801646"/>
                </a:cubicBezTo>
                <a:cubicBezTo>
                  <a:pt x="225778" y="784713"/>
                  <a:pt x="226357" y="765125"/>
                  <a:pt x="237067" y="750846"/>
                </a:cubicBezTo>
                <a:cubicBezTo>
                  <a:pt x="259645" y="720743"/>
                  <a:pt x="282223" y="735794"/>
                  <a:pt x="304800" y="750846"/>
                </a:cubicBezTo>
                <a:cubicBezTo>
                  <a:pt x="311442" y="755274"/>
                  <a:pt x="315092" y="763352"/>
                  <a:pt x="321734" y="767780"/>
                </a:cubicBezTo>
                <a:cubicBezTo>
                  <a:pt x="332235" y="774781"/>
                  <a:pt x="344311" y="779069"/>
                  <a:pt x="355600" y="784713"/>
                </a:cubicBezTo>
                <a:cubicBezTo>
                  <a:pt x="378600" y="780113"/>
                  <a:pt x="480662" y="761098"/>
                  <a:pt x="508000" y="750846"/>
                </a:cubicBezTo>
                <a:cubicBezTo>
                  <a:pt x="531636" y="741983"/>
                  <a:pt x="553156" y="728269"/>
                  <a:pt x="575734" y="716980"/>
                </a:cubicBezTo>
                <a:lnTo>
                  <a:pt x="643467" y="683113"/>
                </a:lnTo>
                <a:lnTo>
                  <a:pt x="677334" y="666180"/>
                </a:lnTo>
                <a:cubicBezTo>
                  <a:pt x="712116" y="631396"/>
                  <a:pt x="687127" y="652816"/>
                  <a:pt x="762000" y="615380"/>
                </a:cubicBezTo>
                <a:cubicBezTo>
                  <a:pt x="769140" y="611810"/>
                  <a:pt x="772292" y="602874"/>
                  <a:pt x="778934" y="598446"/>
                </a:cubicBezTo>
                <a:cubicBezTo>
                  <a:pt x="789435" y="591445"/>
                  <a:pt x="801511" y="587157"/>
                  <a:pt x="812800" y="581513"/>
                </a:cubicBezTo>
                <a:cubicBezTo>
                  <a:pt x="863600" y="587157"/>
                  <a:pt x="914682" y="590674"/>
                  <a:pt x="965200" y="598446"/>
                </a:cubicBezTo>
                <a:cubicBezTo>
                  <a:pt x="988202" y="601985"/>
                  <a:pt x="1009661" y="615380"/>
                  <a:pt x="1032934" y="615380"/>
                </a:cubicBezTo>
                <a:cubicBezTo>
                  <a:pt x="1089660" y="615380"/>
                  <a:pt x="1145823" y="604091"/>
                  <a:pt x="1202267" y="598446"/>
                </a:cubicBezTo>
                <a:lnTo>
                  <a:pt x="1270000" y="564580"/>
                </a:lnTo>
                <a:cubicBezTo>
                  <a:pt x="1281289" y="558935"/>
                  <a:pt x="1291893" y="551637"/>
                  <a:pt x="1303867" y="547646"/>
                </a:cubicBezTo>
                <a:cubicBezTo>
                  <a:pt x="1320800" y="542002"/>
                  <a:pt x="1338094" y="537342"/>
                  <a:pt x="1354667" y="530713"/>
                </a:cubicBezTo>
                <a:cubicBezTo>
                  <a:pt x="1366386" y="526026"/>
                  <a:pt x="1376084" y="515855"/>
                  <a:pt x="1388534" y="513780"/>
                </a:cubicBezTo>
                <a:cubicBezTo>
                  <a:pt x="1444488" y="504454"/>
                  <a:pt x="1501488" y="503110"/>
                  <a:pt x="1557867" y="496846"/>
                </a:cubicBezTo>
                <a:cubicBezTo>
                  <a:pt x="1847460" y="464669"/>
                  <a:pt x="1519985" y="490747"/>
                  <a:pt x="1964267" y="462980"/>
                </a:cubicBezTo>
                <a:cubicBezTo>
                  <a:pt x="1994624" y="452860"/>
                  <a:pt x="2061878" y="433102"/>
                  <a:pt x="2082800" y="412180"/>
                </a:cubicBezTo>
                <a:lnTo>
                  <a:pt x="2133600" y="361380"/>
                </a:lnTo>
                <a:cubicBezTo>
                  <a:pt x="2139245" y="355735"/>
                  <a:pt x="2143394" y="348016"/>
                  <a:pt x="2150534" y="344446"/>
                </a:cubicBezTo>
                <a:cubicBezTo>
                  <a:pt x="2191540" y="323943"/>
                  <a:pt x="2175475" y="336437"/>
                  <a:pt x="2201334" y="310580"/>
                </a:cubicBezTo>
                <a:cubicBezTo>
                  <a:pt x="2286001" y="316224"/>
                  <a:pt x="2371771" y="312766"/>
                  <a:pt x="2455334" y="327513"/>
                </a:cubicBezTo>
                <a:cubicBezTo>
                  <a:pt x="2471056" y="330287"/>
                  <a:pt x="2473908" y="356793"/>
                  <a:pt x="2489200" y="361380"/>
                </a:cubicBezTo>
                <a:cubicBezTo>
                  <a:pt x="2532788" y="374456"/>
                  <a:pt x="2579617" y="371877"/>
                  <a:pt x="2624667" y="378313"/>
                </a:cubicBezTo>
                <a:cubicBezTo>
                  <a:pt x="2658656" y="383168"/>
                  <a:pt x="2692400" y="389602"/>
                  <a:pt x="2726267" y="395246"/>
                </a:cubicBezTo>
                <a:cubicBezTo>
                  <a:pt x="2810934" y="389602"/>
                  <a:pt x="2895761" y="385995"/>
                  <a:pt x="2980267" y="378313"/>
                </a:cubicBezTo>
                <a:cubicBezTo>
                  <a:pt x="3050826" y="371899"/>
                  <a:pt x="3090293" y="368169"/>
                  <a:pt x="3149600" y="344446"/>
                </a:cubicBezTo>
                <a:cubicBezTo>
                  <a:pt x="3161319" y="339759"/>
                  <a:pt x="3172178" y="333157"/>
                  <a:pt x="3183467" y="327513"/>
                </a:cubicBezTo>
                <a:cubicBezTo>
                  <a:pt x="3262489" y="333157"/>
                  <a:pt x="3341922" y="334620"/>
                  <a:pt x="3420534" y="344446"/>
                </a:cubicBezTo>
                <a:cubicBezTo>
                  <a:pt x="3477652" y="351586"/>
                  <a:pt x="3533423" y="367024"/>
                  <a:pt x="3589867" y="378313"/>
                </a:cubicBezTo>
                <a:lnTo>
                  <a:pt x="3674534" y="395246"/>
                </a:lnTo>
                <a:cubicBezTo>
                  <a:pt x="3741868" y="408713"/>
                  <a:pt x="3812590" y="407399"/>
                  <a:pt x="3877734" y="429113"/>
                </a:cubicBezTo>
                <a:cubicBezTo>
                  <a:pt x="3966398" y="458667"/>
                  <a:pt x="3910864" y="443522"/>
                  <a:pt x="4047067" y="462980"/>
                </a:cubicBezTo>
                <a:cubicBezTo>
                  <a:pt x="4126089" y="457335"/>
                  <a:pt x="4205395" y="454795"/>
                  <a:pt x="4284134" y="446046"/>
                </a:cubicBezTo>
                <a:cubicBezTo>
                  <a:pt x="4306365" y="443576"/>
                  <a:pt x="4377968" y="422060"/>
                  <a:pt x="4402667" y="412180"/>
                </a:cubicBezTo>
                <a:cubicBezTo>
                  <a:pt x="4414386" y="407492"/>
                  <a:pt x="4424398" y="398713"/>
                  <a:pt x="4436534" y="395246"/>
                </a:cubicBezTo>
                <a:cubicBezTo>
                  <a:pt x="4464207" y="387339"/>
                  <a:pt x="4492978" y="383957"/>
                  <a:pt x="4521200" y="378313"/>
                </a:cubicBezTo>
                <a:cubicBezTo>
                  <a:pt x="4549422" y="383957"/>
                  <a:pt x="4577771" y="389002"/>
                  <a:pt x="4605867" y="395246"/>
                </a:cubicBezTo>
                <a:cubicBezTo>
                  <a:pt x="4628585" y="400295"/>
                  <a:pt x="4650327" y="412180"/>
                  <a:pt x="4673600" y="412180"/>
                </a:cubicBezTo>
                <a:cubicBezTo>
                  <a:pt x="4735945" y="412180"/>
                  <a:pt x="4797778" y="400891"/>
                  <a:pt x="4859867" y="395246"/>
                </a:cubicBezTo>
                <a:cubicBezTo>
                  <a:pt x="4894236" y="386654"/>
                  <a:pt x="4944392" y="375955"/>
                  <a:pt x="4978400" y="361380"/>
                </a:cubicBezTo>
                <a:lnTo>
                  <a:pt x="5080000" y="310580"/>
                </a:lnTo>
                <a:cubicBezTo>
                  <a:pt x="5087140" y="307010"/>
                  <a:pt x="5090292" y="298074"/>
                  <a:pt x="5096934" y="293646"/>
                </a:cubicBezTo>
                <a:cubicBezTo>
                  <a:pt x="5107435" y="286645"/>
                  <a:pt x="5120703" y="284286"/>
                  <a:pt x="5130800" y="276713"/>
                </a:cubicBezTo>
                <a:cubicBezTo>
                  <a:pt x="5143572" y="267134"/>
                  <a:pt x="5157527" y="257126"/>
                  <a:pt x="5164667" y="242846"/>
                </a:cubicBezTo>
                <a:cubicBezTo>
                  <a:pt x="5170311" y="231557"/>
                  <a:pt x="5171503" y="216553"/>
                  <a:pt x="5181600" y="208980"/>
                </a:cubicBezTo>
                <a:cubicBezTo>
                  <a:pt x="5195879" y="198270"/>
                  <a:pt x="5215994" y="199077"/>
                  <a:pt x="5232400" y="192046"/>
                </a:cubicBezTo>
                <a:cubicBezTo>
                  <a:pt x="5389953" y="124524"/>
                  <a:pt x="5194837" y="187224"/>
                  <a:pt x="5401734" y="141246"/>
                </a:cubicBezTo>
                <a:cubicBezTo>
                  <a:pt x="5464915" y="127206"/>
                  <a:pt x="5436281" y="127428"/>
                  <a:pt x="5486400" y="107380"/>
                </a:cubicBezTo>
                <a:cubicBezTo>
                  <a:pt x="5502973" y="100751"/>
                  <a:pt x="5520267" y="96091"/>
                  <a:pt x="5537200" y="90446"/>
                </a:cubicBezTo>
                <a:cubicBezTo>
                  <a:pt x="5571067" y="96091"/>
                  <a:pt x="5605491" y="99053"/>
                  <a:pt x="5638800" y="107380"/>
                </a:cubicBezTo>
                <a:cubicBezTo>
                  <a:pt x="5651045" y="110441"/>
                  <a:pt x="5660948" y="119626"/>
                  <a:pt x="5672667" y="124313"/>
                </a:cubicBezTo>
                <a:cubicBezTo>
                  <a:pt x="5689240" y="130942"/>
                  <a:pt x="5706894" y="134617"/>
                  <a:pt x="5723467" y="141246"/>
                </a:cubicBezTo>
                <a:cubicBezTo>
                  <a:pt x="5735186" y="145934"/>
                  <a:pt x="5744884" y="156105"/>
                  <a:pt x="5757334" y="158180"/>
                </a:cubicBezTo>
                <a:cubicBezTo>
                  <a:pt x="5813288" y="167506"/>
                  <a:pt x="5870223" y="169469"/>
                  <a:pt x="5926667" y="175113"/>
                </a:cubicBezTo>
                <a:cubicBezTo>
                  <a:pt x="5949245" y="163824"/>
                  <a:pt x="5976550" y="159095"/>
                  <a:pt x="5994400" y="141246"/>
                </a:cubicBezTo>
                <a:cubicBezTo>
                  <a:pt x="6000045" y="135602"/>
                  <a:pt x="6004489" y="128420"/>
                  <a:pt x="6011334" y="124313"/>
                </a:cubicBezTo>
                <a:cubicBezTo>
                  <a:pt x="6032979" y="111326"/>
                  <a:pt x="6056489" y="101735"/>
                  <a:pt x="6079067" y="90446"/>
                </a:cubicBezTo>
                <a:lnTo>
                  <a:pt x="6180667" y="39646"/>
                </a:lnTo>
                <a:cubicBezTo>
                  <a:pt x="6222298" y="18830"/>
                  <a:pt x="6270978" y="17069"/>
                  <a:pt x="6316134" y="5780"/>
                </a:cubicBezTo>
                <a:cubicBezTo>
                  <a:pt x="6368155" y="-7225"/>
                  <a:pt x="6423378" y="5780"/>
                  <a:pt x="6477000" y="5780"/>
                </a:cubicBezTo>
              </a:path>
            </a:pathLst>
          </a:custGeom>
          <a:ln w="12700">
            <a:solidFill>
              <a:srgbClr val="FF66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E5489DC7-BAF4-4DA7-A0AE-B236E07F0FC0}"/>
              </a:ext>
            </a:extLst>
          </p:cNvPr>
          <p:cNvCxnSpPr>
            <a:cxnSpLocks/>
          </p:cNvCxnSpPr>
          <p:nvPr/>
        </p:nvCxnSpPr>
        <p:spPr>
          <a:xfrm>
            <a:off x="4007286" y="2170489"/>
            <a:ext cx="0" cy="155920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DEE5AE66-DE1E-4103-8EAE-44458912ABD4}"/>
              </a:ext>
            </a:extLst>
          </p:cNvPr>
          <p:cNvCxnSpPr/>
          <p:nvPr/>
        </p:nvCxnSpPr>
        <p:spPr>
          <a:xfrm>
            <a:off x="6897216" y="1990428"/>
            <a:ext cx="504056" cy="0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A32831B-C9B4-47BB-8CC9-586C2D0E968A}"/>
              </a:ext>
            </a:extLst>
          </p:cNvPr>
          <p:cNvSpPr/>
          <p:nvPr/>
        </p:nvSpPr>
        <p:spPr>
          <a:xfrm>
            <a:off x="7473280" y="1868200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실제 사용량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FBA4C34C-4B9A-4E4A-8463-AC1E6E032FF5}"/>
              </a:ext>
            </a:extLst>
          </p:cNvPr>
          <p:cNvGrpSpPr/>
          <p:nvPr/>
        </p:nvGrpSpPr>
        <p:grpSpPr>
          <a:xfrm>
            <a:off x="210356" y="1203435"/>
            <a:ext cx="8024876" cy="260092"/>
            <a:chOff x="184526" y="1505937"/>
            <a:chExt cx="8024876" cy="260092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DA9481D-0EA9-465C-B030-38B46DFCFE44}"/>
                </a:ext>
              </a:extLst>
            </p:cNvPr>
            <p:cNvSpPr/>
            <p:nvPr/>
          </p:nvSpPr>
          <p:spPr>
            <a:xfrm>
              <a:off x="5810955" y="1550585"/>
              <a:ext cx="18205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수익 현황</a:t>
              </a: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9DC02225-1C17-419B-AB93-5A0A6F86EE64}"/>
                </a:ext>
              </a:extLst>
            </p:cNvPr>
            <p:cNvSpPr/>
            <p:nvPr/>
          </p:nvSpPr>
          <p:spPr>
            <a:xfrm>
              <a:off x="184526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에너지 모니터링</a:t>
              </a: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793AC099-C48F-43C2-8561-1047D6E397A8}"/>
                </a:ext>
              </a:extLst>
            </p:cNvPr>
            <p:cNvSpPr/>
            <p:nvPr/>
          </p:nvSpPr>
          <p:spPr>
            <a:xfrm>
              <a:off x="2191085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장치 모니터링</a:t>
              </a: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54445F5-AB0B-4E78-992C-EE3A60B07476}"/>
                </a:ext>
              </a:extLst>
            </p:cNvPr>
            <p:cNvSpPr/>
            <p:nvPr/>
          </p:nvSpPr>
          <p:spPr>
            <a:xfrm>
              <a:off x="4197644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상황</a:t>
              </a:r>
              <a:r>
                <a:rPr lang="en-US" altLang="ko-KR" sz="700" dirty="0"/>
                <a:t> </a:t>
              </a:r>
              <a:r>
                <a:rPr lang="ko-KR" altLang="en-US" sz="700" dirty="0"/>
                <a:t>관제</a:t>
              </a: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2ABFF3CB-F6E3-47A6-A5D1-CABC6A841DDF}"/>
                </a:ext>
              </a:extLst>
            </p:cNvPr>
            <p:cNvSpPr/>
            <p:nvPr/>
          </p:nvSpPr>
          <p:spPr>
            <a:xfrm>
              <a:off x="6204202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요금</a:t>
              </a:r>
              <a:r>
                <a:rPr lang="en-US" altLang="ko-KR" sz="700" dirty="0"/>
                <a:t>/</a:t>
              </a:r>
              <a:r>
                <a:rPr lang="ko-KR" altLang="en-US" sz="700" dirty="0"/>
                <a:t>수익</a:t>
              </a:r>
            </a:p>
          </p:txBody>
        </p:sp>
      </p:grpSp>
      <p:sp>
        <p:nvSpPr>
          <p:cNvPr id="227" name="타원형 설명선 226"/>
          <p:cNvSpPr/>
          <p:nvPr/>
        </p:nvSpPr>
        <p:spPr>
          <a:xfrm>
            <a:off x="2089161" y="142062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5778826" y="142062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3973650" y="142062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197170" y="175963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" name="타원형 설명선 265"/>
          <p:cNvSpPr/>
          <p:nvPr/>
        </p:nvSpPr>
        <p:spPr>
          <a:xfrm>
            <a:off x="17191" y="2070267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954473" y="142062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7981DB3-6609-4C7B-9AC1-B099067EA557}"/>
              </a:ext>
            </a:extLst>
          </p:cNvPr>
          <p:cNvSpPr/>
          <p:nvPr/>
        </p:nvSpPr>
        <p:spPr>
          <a:xfrm>
            <a:off x="7612554" y="1564415"/>
            <a:ext cx="473661" cy="289182"/>
          </a:xfrm>
          <a:prstGeom prst="rect">
            <a:avLst/>
          </a:prstGeom>
          <a:solidFill>
            <a:srgbClr val="0099FF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3444DCD3-7DBD-4678-9F50-F80E81C8C821}"/>
              </a:ext>
            </a:extLst>
          </p:cNvPr>
          <p:cNvGrpSpPr/>
          <p:nvPr/>
        </p:nvGrpSpPr>
        <p:grpSpPr>
          <a:xfrm>
            <a:off x="278100" y="4009133"/>
            <a:ext cx="862386" cy="211955"/>
            <a:chOff x="4861742" y="3907374"/>
            <a:chExt cx="862386" cy="211955"/>
          </a:xfrm>
        </p:grpSpPr>
        <p:pic>
          <p:nvPicPr>
            <p:cNvPr id="86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900D9473-0DED-45BD-BF61-1E728CE299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3CD6283-1975-4F64-A5BA-105C26F20FC0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3F608C76-E0EB-4C26-ACE5-6E3DFA68A1C7}"/>
              </a:ext>
            </a:extLst>
          </p:cNvPr>
          <p:cNvSpPr txBox="1"/>
          <p:nvPr/>
        </p:nvSpPr>
        <p:spPr>
          <a:xfrm>
            <a:off x="1265466" y="4015781"/>
            <a:ext cx="1299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기준부하 및 목표사용량 확인</a:t>
            </a:r>
          </a:p>
        </p:txBody>
      </p:sp>
      <p:pic>
        <p:nvPicPr>
          <p:cNvPr id="90" name="Picture 2" descr="standardì ëí ì´ë¯¸ì§ ê²ìê²°ê³¼">
            <a:extLst>
              <a:ext uri="{FF2B5EF4-FFF2-40B4-BE49-F238E27FC236}">
                <a16:creationId xmlns:a16="http://schemas.microsoft.com/office/drawing/2014/main" id="{38D98571-2CF5-4AB6-86F8-40CB34E36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539" y="4024865"/>
            <a:ext cx="170228" cy="170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1" name="표 90">
            <a:extLst>
              <a:ext uri="{FF2B5EF4-FFF2-40B4-BE49-F238E27FC236}">
                <a16:creationId xmlns:a16="http://schemas.microsoft.com/office/drawing/2014/main" id="{731CFF9E-CD56-4916-AF78-90C541A30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949820"/>
              </p:ext>
            </p:extLst>
          </p:nvPr>
        </p:nvGraphicFramePr>
        <p:xfrm>
          <a:off x="278113" y="4293096"/>
          <a:ext cx="7915260" cy="356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914552893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2643701830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4156003338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186923855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328632746"/>
                    </a:ext>
                  </a:extLst>
                </a:gridCol>
                <a:gridCol w="293146">
                  <a:extLst>
                    <a:ext uri="{9D8B030D-6E8A-4147-A177-3AD203B41FA5}">
                      <a16:colId xmlns:a16="http://schemas.microsoft.com/office/drawing/2014/main" val="3887011146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YYYY-MM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07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09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317845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rgbClr val="FF66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사용량</a:t>
                      </a:r>
                      <a:endParaRPr lang="en-US" altLang="ko-KR" sz="7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400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540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520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530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750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rgbClr val="FF66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800</a:t>
                      </a:r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rgbClr val="FF66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133474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B9857C8E-7429-4325-88C5-4665CB31C48E}"/>
              </a:ext>
            </a:extLst>
          </p:cNvPr>
          <p:cNvSpPr txBox="1"/>
          <p:nvPr/>
        </p:nvSpPr>
        <p:spPr>
          <a:xfrm>
            <a:off x="7221250" y="4005064"/>
            <a:ext cx="972108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 접기</a:t>
            </a:r>
          </a:p>
        </p:txBody>
      </p:sp>
      <p:sp>
        <p:nvSpPr>
          <p:cNvPr id="206" name="타원형 설명선 205"/>
          <p:cNvSpPr/>
          <p:nvPr/>
        </p:nvSpPr>
        <p:spPr>
          <a:xfrm>
            <a:off x="139394" y="3861072"/>
            <a:ext cx="216000" cy="216000"/>
          </a:xfrm>
          <a:prstGeom prst="wedgeEllipseCallout">
            <a:avLst>
              <a:gd name="adj1" fmla="val 74230"/>
              <a:gd name="adj2" fmla="val 2182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/>
              <a:t>9</a:t>
            </a:r>
            <a:endParaRPr lang="ko-KR" altLang="en-US" sz="900" b="1" dirty="0"/>
          </a:p>
        </p:txBody>
      </p:sp>
      <p:sp>
        <p:nvSpPr>
          <p:cNvPr id="226" name="타원형 설명선 225"/>
          <p:cNvSpPr/>
          <p:nvPr/>
        </p:nvSpPr>
        <p:spPr>
          <a:xfrm>
            <a:off x="1018539" y="3861048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7" name="타원형 설명선 246"/>
          <p:cNvSpPr/>
          <p:nvPr/>
        </p:nvSpPr>
        <p:spPr>
          <a:xfrm>
            <a:off x="14116" y="414908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8" name="타원형 설명선 247"/>
          <p:cNvSpPr/>
          <p:nvPr/>
        </p:nvSpPr>
        <p:spPr>
          <a:xfrm>
            <a:off x="6933244" y="386104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596855F9-B549-43D9-B7B7-BC27F923B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424425"/>
              </p:ext>
            </p:extLst>
          </p:nvPr>
        </p:nvGraphicFramePr>
        <p:xfrm>
          <a:off x="973742" y="4937583"/>
          <a:ext cx="3028700" cy="193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344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747271">
                  <a:extLst>
                    <a:ext uri="{9D8B030D-6E8A-4147-A177-3AD203B41FA5}">
                      <a16:colId xmlns:a16="http://schemas.microsoft.com/office/drawing/2014/main" val="8834736"/>
                    </a:ext>
                  </a:extLst>
                </a:gridCol>
                <a:gridCol w="260155">
                  <a:extLst>
                    <a:ext uri="{9D8B030D-6E8A-4147-A177-3AD203B41FA5}">
                      <a16:colId xmlns:a16="http://schemas.microsoft.com/office/drawing/2014/main" val="2248332737"/>
                    </a:ext>
                  </a:extLst>
                </a:gridCol>
                <a:gridCol w="260155">
                  <a:extLst>
                    <a:ext uri="{9D8B030D-6E8A-4147-A177-3AD203B41FA5}">
                      <a16:colId xmlns:a16="http://schemas.microsoft.com/office/drawing/2014/main" val="701571902"/>
                    </a:ext>
                  </a:extLst>
                </a:gridCol>
                <a:gridCol w="260155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260155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260155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260155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260155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440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672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2880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35040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293162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336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1440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17520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23599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022207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720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8760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961310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24359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365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81172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500751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993451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841290"/>
                  </a:ext>
                </a:extLst>
              </a:tr>
            </a:tbl>
          </a:graphicData>
        </a:graphic>
      </p:graphicFrame>
      <p:sp>
        <p:nvSpPr>
          <p:cNvPr id="56" name="타원형 설명선 225">
            <a:extLst>
              <a:ext uri="{FF2B5EF4-FFF2-40B4-BE49-F238E27FC236}">
                <a16:creationId xmlns:a16="http://schemas.microsoft.com/office/drawing/2014/main" id="{4C782208-AA8B-4209-B8DE-02AEBBC26FEB}"/>
              </a:ext>
            </a:extLst>
          </p:cNvPr>
          <p:cNvSpPr/>
          <p:nvPr/>
        </p:nvSpPr>
        <p:spPr>
          <a:xfrm>
            <a:off x="865742" y="4793747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E563B21-C27B-44C5-B904-CD5525DF4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334669"/>
              </p:ext>
            </p:extLst>
          </p:nvPr>
        </p:nvGraphicFramePr>
        <p:xfrm>
          <a:off x="4641820" y="5024171"/>
          <a:ext cx="3342026" cy="1068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830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394028">
                  <a:extLst>
                    <a:ext uri="{9D8B030D-6E8A-4147-A177-3AD203B41FA5}">
                      <a16:colId xmlns:a16="http://schemas.microsoft.com/office/drawing/2014/main" val="2248332737"/>
                    </a:ext>
                  </a:extLst>
                </a:gridCol>
                <a:gridCol w="394028">
                  <a:extLst>
                    <a:ext uri="{9D8B030D-6E8A-4147-A177-3AD203B41FA5}">
                      <a16:colId xmlns:a16="http://schemas.microsoft.com/office/drawing/2014/main" val="2333210567"/>
                    </a:ext>
                  </a:extLst>
                </a:gridCol>
                <a:gridCol w="394028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394028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394028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394028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394028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23599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96131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81172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993451"/>
                  </a:ext>
                </a:extLst>
              </a:tr>
            </a:tbl>
          </a:graphicData>
        </a:graphic>
      </p:graphicFrame>
      <p:sp>
        <p:nvSpPr>
          <p:cNvPr id="58" name="타원형 설명선 225">
            <a:extLst>
              <a:ext uri="{FF2B5EF4-FFF2-40B4-BE49-F238E27FC236}">
                <a16:creationId xmlns:a16="http://schemas.microsoft.com/office/drawing/2014/main" id="{8D16868C-0CD7-492F-91AD-D3625759F069}"/>
              </a:ext>
            </a:extLst>
          </p:cNvPr>
          <p:cNvSpPr/>
          <p:nvPr/>
        </p:nvSpPr>
        <p:spPr>
          <a:xfrm>
            <a:off x="4334101" y="4884197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04021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DR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실적 현황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DR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실적 현황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672389"/>
              </p:ext>
            </p:extLst>
          </p:nvPr>
        </p:nvGraphicFramePr>
        <p:xfrm>
          <a:off x="8469313" y="276225"/>
          <a:ext cx="1404000" cy="6161088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시간대별 기준부하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기준부하와 목표사용량 기준 범위를 표시할 영역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을 설정한다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정보 표시 </a:t>
                      </a: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툴팁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다음 항목의 정보를 표시함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기준부하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(CBL),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현재사용량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감축량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목표사용량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현재시간을 기준으로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툴팁을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팝업하며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마우스 이동의 영향을 받지 않고 고정 위치에 팝업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24454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기준부하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해당 시간 대의 기준 부하를 표시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해당 기준을 넘어설 경우 알람 발생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목표사용량 표시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시간 대의 목표사용량 범위를 표시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2)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목표사용량 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기준부하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(CBL) -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감축용량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감축 정보 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다음과 같은 감축 정보를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감축일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감축시간대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고객기준부하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계약용량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목표사용량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감축량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이행률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감축 정보 표는 하단 표 펼치기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접기의 영향을 받지 않음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감축시간대는 총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시간이므로 표는 최대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열까지만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존재함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실시간 자동 갱신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DR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실적현황 화면은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default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조회화면이나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실시간 자동 갱신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이 선택되면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분 단위로 화면을 자동 갱신하는 모니터링 화면이 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196217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ewpsp_scr_013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14E8AEF-8EA8-4944-AE52-FF98A1FB7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96" y="752043"/>
            <a:ext cx="8208912" cy="453607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762442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7D07777-30AA-4506-9C18-6F3B4C7D943C}"/>
              </a:ext>
            </a:extLst>
          </p:cNvPr>
          <p:cNvCxnSpPr>
            <a:cxnSpLocks/>
          </p:cNvCxnSpPr>
          <p:nvPr/>
        </p:nvCxnSpPr>
        <p:spPr>
          <a:xfrm>
            <a:off x="128463" y="1124744"/>
            <a:ext cx="8208912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4417E-CAA5-4FD3-BBB9-7CD5570EF571}"/>
              </a:ext>
            </a:extLst>
          </p:cNvPr>
          <p:cNvSpPr/>
          <p:nvPr/>
        </p:nvSpPr>
        <p:spPr>
          <a:xfrm>
            <a:off x="216315" y="1556792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DR </a:t>
            </a: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실적 현황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80BACBD-4B64-4649-BD7C-E1EE3620FBC6}"/>
              </a:ext>
            </a:extLst>
          </p:cNvPr>
          <p:cNvSpPr/>
          <p:nvPr/>
        </p:nvSpPr>
        <p:spPr>
          <a:xfrm>
            <a:off x="120419" y="1774249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1E4F555-ACF8-422A-8A4C-263DF5607ED0}"/>
              </a:ext>
            </a:extLst>
          </p:cNvPr>
          <p:cNvSpPr/>
          <p:nvPr/>
        </p:nvSpPr>
        <p:spPr>
          <a:xfrm>
            <a:off x="1104668" y="15810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6B85B8-E22D-471D-BF90-7BA59FDE59DA}"/>
              </a:ext>
            </a:extLst>
          </p:cNvPr>
          <p:cNvSpPr/>
          <p:nvPr/>
        </p:nvSpPr>
        <p:spPr>
          <a:xfrm>
            <a:off x="2367421" y="15810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844086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48F9D44-B814-4AF5-882E-A35193F2E22A}"/>
              </a:ext>
            </a:extLst>
          </p:cNvPr>
          <p:cNvSpPr/>
          <p:nvPr/>
        </p:nvSpPr>
        <p:spPr>
          <a:xfrm>
            <a:off x="2787503" y="1636316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18513AA0-501E-41AA-A36E-386D57118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156857"/>
              </p:ext>
            </p:extLst>
          </p:nvPr>
        </p:nvGraphicFramePr>
        <p:xfrm>
          <a:off x="278100" y="2276872"/>
          <a:ext cx="7915258" cy="1786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3998026551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4239822446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3215763484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1826529500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1380773476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1384194458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1749036958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3675851017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3466669195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667275161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1235731143"/>
                    </a:ext>
                  </a:extLst>
                </a:gridCol>
                <a:gridCol w="304433">
                  <a:extLst>
                    <a:ext uri="{9D8B030D-6E8A-4147-A177-3AD203B41FA5}">
                      <a16:colId xmlns:a16="http://schemas.microsoft.com/office/drawing/2014/main" val="3913681239"/>
                    </a:ext>
                  </a:extLst>
                </a:gridCol>
              </a:tblGrid>
              <a:tr h="255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277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00A71007-406C-4F0A-9589-C33EC6950CD4}"/>
              </a:ext>
            </a:extLst>
          </p:cNvPr>
          <p:cNvCxnSpPr>
            <a:cxnSpLocks/>
          </p:cNvCxnSpPr>
          <p:nvPr/>
        </p:nvCxnSpPr>
        <p:spPr>
          <a:xfrm>
            <a:off x="980534" y="3307055"/>
            <a:ext cx="7147615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FA8F809F-54BE-465D-850D-4493686FD5EF}"/>
              </a:ext>
            </a:extLst>
          </p:cNvPr>
          <p:cNvCxnSpPr>
            <a:cxnSpLocks/>
          </p:cNvCxnSpPr>
          <p:nvPr/>
        </p:nvCxnSpPr>
        <p:spPr>
          <a:xfrm>
            <a:off x="980534" y="2730991"/>
            <a:ext cx="7147615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9E138EB3-61CC-47EA-9FB4-544BC6F0C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289902"/>
              </p:ext>
            </p:extLst>
          </p:nvPr>
        </p:nvGraphicFramePr>
        <p:xfrm>
          <a:off x="278100" y="4454739"/>
          <a:ext cx="7915252" cy="342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29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29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29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51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감축시간대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사용량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(kW)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고객기준부하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(kW)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계약용량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(kW)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목표사용량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kW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감축량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(kW)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이행률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2016-01-14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16:00~17:00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750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5,000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4,000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1,000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4,250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106.25%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2016-01-14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17:00~18:00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800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5,500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4,000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1,500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4,700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117.50%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E5489DC7-BAF4-4DA7-A0AE-B236E07F0FC0}"/>
              </a:ext>
            </a:extLst>
          </p:cNvPr>
          <p:cNvCxnSpPr>
            <a:cxnSpLocks/>
          </p:cNvCxnSpPr>
          <p:nvPr/>
        </p:nvCxnSpPr>
        <p:spPr>
          <a:xfrm>
            <a:off x="4007286" y="2291128"/>
            <a:ext cx="0" cy="155920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DEE5AE66-DE1E-4103-8EAE-44458912ABD4}"/>
              </a:ext>
            </a:extLst>
          </p:cNvPr>
          <p:cNvCxnSpPr/>
          <p:nvPr/>
        </p:nvCxnSpPr>
        <p:spPr>
          <a:xfrm>
            <a:off x="4160912" y="2047011"/>
            <a:ext cx="504056" cy="0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A32831B-C9B4-47BB-8CC9-586C2D0E968A}"/>
              </a:ext>
            </a:extLst>
          </p:cNvPr>
          <p:cNvSpPr/>
          <p:nvPr/>
        </p:nvSpPr>
        <p:spPr>
          <a:xfrm>
            <a:off x="4664968" y="1924783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실제 사용량</a:t>
            </a: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58C35C8D-60DA-42FD-B7FD-CEBEEA7BBCB9}"/>
              </a:ext>
            </a:extLst>
          </p:cNvPr>
          <p:cNvCxnSpPr/>
          <p:nvPr/>
        </p:nvCxnSpPr>
        <p:spPr>
          <a:xfrm>
            <a:off x="5457056" y="2047011"/>
            <a:ext cx="504056" cy="0"/>
          </a:xfrm>
          <a:prstGeom prst="line">
            <a:avLst/>
          </a:prstGeom>
          <a:noFill/>
          <a:ln w="19050">
            <a:solidFill>
              <a:srgbClr val="66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7C51044-92D6-42B6-AC71-52C72F6E94E2}"/>
              </a:ext>
            </a:extLst>
          </p:cNvPr>
          <p:cNvSpPr/>
          <p:nvPr/>
        </p:nvSpPr>
        <p:spPr>
          <a:xfrm>
            <a:off x="5961112" y="1924783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목표사용량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107957F2-F200-4E88-A939-B15AEBD60152}"/>
              </a:ext>
            </a:extLst>
          </p:cNvPr>
          <p:cNvCxnSpPr/>
          <p:nvPr/>
        </p:nvCxnSpPr>
        <p:spPr>
          <a:xfrm>
            <a:off x="6753200" y="2047011"/>
            <a:ext cx="504056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1A1D4FE-BA50-4908-8A7B-E924AA132EAC}"/>
              </a:ext>
            </a:extLst>
          </p:cNvPr>
          <p:cNvSpPr/>
          <p:nvPr/>
        </p:nvSpPr>
        <p:spPr>
          <a:xfrm>
            <a:off x="7257256" y="1924783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기준부하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(CBL)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02943C33-7FE1-47AA-B313-9EF338B083FC}"/>
              </a:ext>
            </a:extLst>
          </p:cNvPr>
          <p:cNvGrpSpPr/>
          <p:nvPr/>
        </p:nvGrpSpPr>
        <p:grpSpPr>
          <a:xfrm>
            <a:off x="210356" y="1203435"/>
            <a:ext cx="8024876" cy="260092"/>
            <a:chOff x="184526" y="1505937"/>
            <a:chExt cx="8024876" cy="260092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20F0EFC9-4136-42F7-907B-03280F7ECBE7}"/>
                </a:ext>
              </a:extLst>
            </p:cNvPr>
            <p:cNvSpPr/>
            <p:nvPr/>
          </p:nvSpPr>
          <p:spPr>
            <a:xfrm>
              <a:off x="5810955" y="1550585"/>
              <a:ext cx="18205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수익 현황</a:t>
              </a: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20BEAA34-A433-47B3-B7DE-265D38915BE4}"/>
                </a:ext>
              </a:extLst>
            </p:cNvPr>
            <p:cNvSpPr/>
            <p:nvPr/>
          </p:nvSpPr>
          <p:spPr>
            <a:xfrm>
              <a:off x="184526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에너지 모니터링</a:t>
              </a: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B15F2BB0-B8FE-468B-8759-07AE4FA713A0}"/>
                </a:ext>
              </a:extLst>
            </p:cNvPr>
            <p:cNvSpPr/>
            <p:nvPr/>
          </p:nvSpPr>
          <p:spPr>
            <a:xfrm>
              <a:off x="2191085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장치 모니터링</a:t>
              </a: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6A885597-8D4C-4CFC-A59B-6596DD47C015}"/>
                </a:ext>
              </a:extLst>
            </p:cNvPr>
            <p:cNvSpPr/>
            <p:nvPr/>
          </p:nvSpPr>
          <p:spPr>
            <a:xfrm>
              <a:off x="4197644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상황</a:t>
              </a:r>
              <a:r>
                <a:rPr lang="en-US" altLang="ko-KR" sz="700" dirty="0"/>
                <a:t> </a:t>
              </a:r>
              <a:r>
                <a:rPr lang="ko-KR" altLang="en-US" sz="700" dirty="0"/>
                <a:t>관제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EE831A03-8B93-4EEE-8B9A-7F574C7FACCA}"/>
                </a:ext>
              </a:extLst>
            </p:cNvPr>
            <p:cNvSpPr/>
            <p:nvPr/>
          </p:nvSpPr>
          <p:spPr>
            <a:xfrm>
              <a:off x="6204202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요금</a:t>
              </a:r>
              <a:r>
                <a:rPr lang="en-US" altLang="ko-KR" sz="700" dirty="0"/>
                <a:t>/</a:t>
              </a:r>
              <a:r>
                <a:rPr lang="ko-KR" altLang="en-US" sz="700" dirty="0"/>
                <a:t>수익</a:t>
              </a:r>
            </a:p>
          </p:txBody>
        </p:sp>
      </p:grpSp>
      <p:sp>
        <p:nvSpPr>
          <p:cNvPr id="227" name="타원형 설명선 226"/>
          <p:cNvSpPr/>
          <p:nvPr/>
        </p:nvSpPr>
        <p:spPr>
          <a:xfrm>
            <a:off x="4908402" y="231534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3556685" y="241669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48495" y="393305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4313607-2791-49B0-8076-7D6922ADA85F}"/>
              </a:ext>
            </a:extLst>
          </p:cNvPr>
          <p:cNvGrpSpPr/>
          <p:nvPr/>
        </p:nvGrpSpPr>
        <p:grpSpPr>
          <a:xfrm>
            <a:off x="1052542" y="2397511"/>
            <a:ext cx="5125554" cy="1252221"/>
            <a:chOff x="1052542" y="2397511"/>
            <a:chExt cx="5125554" cy="1252221"/>
          </a:xfrm>
        </p:grpSpPr>
        <p:sp>
          <p:nvSpPr>
            <p:cNvPr id="62" name="자유형 10">
              <a:extLst>
                <a:ext uri="{FF2B5EF4-FFF2-40B4-BE49-F238E27FC236}">
                  <a16:creationId xmlns:a16="http://schemas.microsoft.com/office/drawing/2014/main" id="{1414ED20-0E3B-4642-9AE6-452F5986E6D0}"/>
                </a:ext>
              </a:extLst>
            </p:cNvPr>
            <p:cNvSpPr/>
            <p:nvPr/>
          </p:nvSpPr>
          <p:spPr>
            <a:xfrm>
              <a:off x="1052542" y="2735517"/>
              <a:ext cx="2949900" cy="907078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rgbClr val="FF66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E6EC6BFA-C663-4EFD-99CE-E77ADF02A19D}"/>
                </a:ext>
              </a:extLst>
            </p:cNvPr>
            <p:cNvGrpSpPr/>
            <p:nvPr/>
          </p:nvGrpSpPr>
          <p:grpSpPr>
            <a:xfrm>
              <a:off x="3601656" y="2397511"/>
              <a:ext cx="1433726" cy="136922"/>
              <a:chOff x="3784893" y="2295519"/>
              <a:chExt cx="1433726" cy="136922"/>
            </a:xfrm>
          </p:grpSpPr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F30D91AE-0067-4C3F-B995-BE8E24D6A18B}"/>
                  </a:ext>
                </a:extLst>
              </p:cNvPr>
              <p:cNvCxnSpPr/>
              <p:nvPr/>
            </p:nvCxnSpPr>
            <p:spPr>
              <a:xfrm>
                <a:off x="3784893" y="2405058"/>
                <a:ext cx="720000" cy="1588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26D44C9D-27D0-429C-8CE0-895755DD829D}"/>
                  </a:ext>
                </a:extLst>
              </p:cNvPr>
              <p:cNvCxnSpPr/>
              <p:nvPr/>
            </p:nvCxnSpPr>
            <p:spPr>
              <a:xfrm>
                <a:off x="4498619" y="2295519"/>
                <a:ext cx="720000" cy="1588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098E4E0F-A653-45AB-9FF9-C6DFA0F4354A}"/>
                  </a:ext>
                </a:extLst>
              </p:cNvPr>
              <p:cNvCxnSpPr/>
              <p:nvPr/>
            </p:nvCxnSpPr>
            <p:spPr>
              <a:xfrm rot="5400000">
                <a:off x="4443826" y="2350264"/>
                <a:ext cx="108000" cy="1588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F82D103E-A527-4B67-89E0-77FADF6EBD9E}"/>
                  </a:ext>
                </a:extLst>
              </p:cNvPr>
              <p:cNvSpPr/>
              <p:nvPr/>
            </p:nvSpPr>
            <p:spPr>
              <a:xfrm>
                <a:off x="4161335" y="2360441"/>
                <a:ext cx="72000" cy="72000"/>
              </a:xfrm>
              <a:prstGeom prst="ellipse">
                <a:avLst/>
              </a:prstGeom>
              <a:solidFill>
                <a:srgbClr val="FF99CC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4FBCB987-45D7-4CC2-B35C-2807364A8C71}"/>
                </a:ext>
              </a:extLst>
            </p:cNvPr>
            <p:cNvSpPr/>
            <p:nvPr/>
          </p:nvSpPr>
          <p:spPr>
            <a:xfrm>
              <a:off x="5089128" y="2546259"/>
              <a:ext cx="1088968" cy="5902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r>
                <a:rPr lang="en-US" altLang="ko-KR" sz="600" dirty="0">
                  <a:solidFill>
                    <a:schemeClr val="tx1"/>
                  </a:solidFill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</a:rPr>
                <a:t>월</a:t>
              </a:r>
              <a:r>
                <a:rPr lang="en-US" altLang="ko-KR" sz="600" dirty="0">
                  <a:solidFill>
                    <a:schemeClr val="tx1"/>
                  </a:solidFill>
                </a:rPr>
                <a:t>14</a:t>
              </a:r>
              <a:r>
                <a:rPr lang="ko-KR" altLang="en-US" sz="600" dirty="0">
                  <a:solidFill>
                    <a:schemeClr val="tx1"/>
                  </a:solidFill>
                </a:rPr>
                <a:t>일 목요일</a:t>
              </a:r>
              <a:r>
                <a:rPr lang="en-US" altLang="ko-KR" sz="600" dirty="0">
                  <a:solidFill>
                    <a:schemeClr val="tx1"/>
                  </a:solidFill>
                </a:rPr>
                <a:t>,</a:t>
              </a:r>
              <a:r>
                <a:rPr lang="ko-KR" altLang="en-US" sz="600" dirty="0">
                  <a:solidFill>
                    <a:schemeClr val="tx1"/>
                  </a:solidFill>
                </a:rPr>
                <a:t> </a:t>
              </a:r>
              <a:r>
                <a:rPr lang="en-US" altLang="ko-KR" sz="600" dirty="0">
                  <a:solidFill>
                    <a:schemeClr val="tx1"/>
                  </a:solidFill>
                </a:rPr>
                <a:t>17:42</a:t>
              </a:r>
              <a:endParaRPr lang="en-US" altLang="ko-KR" sz="600" dirty="0">
                <a:solidFill>
                  <a:srgbClr val="FF0000"/>
                </a:solidFill>
              </a:endParaRPr>
            </a:p>
            <a:p>
              <a:r>
                <a:rPr lang="en-US" altLang="ko-KR" sz="600" dirty="0">
                  <a:solidFill>
                    <a:srgbClr val="FF0000"/>
                  </a:solidFill>
                </a:rPr>
                <a:t>- </a:t>
              </a:r>
              <a:r>
                <a:rPr lang="ko-KR" altLang="en-US" sz="600" dirty="0">
                  <a:solidFill>
                    <a:srgbClr val="FF0000"/>
                  </a:solidFill>
                </a:rPr>
                <a:t>기준부하</a:t>
              </a:r>
              <a:r>
                <a:rPr lang="en-US" altLang="ko-KR" sz="600" dirty="0">
                  <a:solidFill>
                    <a:srgbClr val="FF0000"/>
                  </a:solidFill>
                </a:rPr>
                <a:t>(CBL) :</a:t>
              </a:r>
              <a:r>
                <a:rPr lang="en-US" altLang="ko-KR" sz="600" dirty="0">
                  <a:solidFill>
                    <a:schemeClr val="tx1"/>
                  </a:solidFill>
                </a:rPr>
                <a:t> </a:t>
              </a:r>
              <a:r>
                <a:rPr lang="en-US" altLang="ko-KR" sz="600" b="1" dirty="0">
                  <a:solidFill>
                    <a:schemeClr val="tx1"/>
                  </a:solidFill>
                </a:rPr>
                <a:t>5,500kW</a:t>
              </a:r>
            </a:p>
            <a:p>
              <a:r>
                <a:rPr lang="en-US" altLang="ko-KR" sz="600" dirty="0">
                  <a:solidFill>
                    <a:schemeClr val="accent6">
                      <a:lumMod val="75000"/>
                    </a:schemeClr>
                  </a:solidFill>
                </a:rPr>
                <a:t>- </a:t>
              </a:r>
              <a:r>
                <a:rPr lang="ko-KR" altLang="en-US" sz="600" dirty="0">
                  <a:solidFill>
                    <a:schemeClr val="accent6">
                      <a:lumMod val="75000"/>
                    </a:schemeClr>
                  </a:solidFill>
                </a:rPr>
                <a:t>현재 사용량 </a:t>
              </a:r>
              <a:r>
                <a:rPr lang="en-US" altLang="ko-KR" sz="600" dirty="0">
                  <a:solidFill>
                    <a:schemeClr val="accent6">
                      <a:lumMod val="75000"/>
                    </a:schemeClr>
                  </a:solidFill>
                </a:rPr>
                <a:t>: </a:t>
              </a:r>
              <a:r>
                <a:rPr lang="en-US" altLang="ko-KR" sz="600" b="1" dirty="0">
                  <a:solidFill>
                    <a:schemeClr val="tx1"/>
                  </a:solidFill>
                </a:rPr>
                <a:t>800kW</a:t>
              </a:r>
            </a:p>
            <a:p>
              <a:r>
                <a:rPr lang="en-US" altLang="ko-KR" sz="600" dirty="0">
                  <a:solidFill>
                    <a:srgbClr val="0070C0"/>
                  </a:solidFill>
                </a:rPr>
                <a:t>- </a:t>
              </a:r>
              <a:r>
                <a:rPr lang="ko-KR" altLang="en-US" sz="600" dirty="0" err="1">
                  <a:solidFill>
                    <a:srgbClr val="0070C0"/>
                  </a:solidFill>
                </a:rPr>
                <a:t>감축량</a:t>
              </a:r>
              <a:r>
                <a:rPr lang="ko-KR" altLang="en-US" sz="600" dirty="0">
                  <a:solidFill>
                    <a:srgbClr val="0070C0"/>
                  </a:solidFill>
                </a:rPr>
                <a:t> </a:t>
              </a:r>
              <a:r>
                <a:rPr lang="en-US" altLang="ko-KR" sz="600" dirty="0">
                  <a:solidFill>
                    <a:srgbClr val="0070C0"/>
                  </a:solidFill>
                </a:rPr>
                <a:t>:</a:t>
              </a:r>
              <a:r>
                <a:rPr lang="en-US" altLang="ko-KR" sz="600" dirty="0">
                  <a:solidFill>
                    <a:schemeClr val="tx1"/>
                  </a:solidFill>
                </a:rPr>
                <a:t> </a:t>
              </a:r>
              <a:r>
                <a:rPr lang="en-US" altLang="ko-KR" sz="600" b="1" dirty="0">
                  <a:solidFill>
                    <a:schemeClr val="tx1"/>
                  </a:solidFill>
                </a:rPr>
                <a:t>4,700kW</a:t>
              </a:r>
            </a:p>
            <a:p>
              <a:r>
                <a:rPr lang="en-US" altLang="ko-KR" sz="600" dirty="0">
                  <a:solidFill>
                    <a:srgbClr val="A3CFE5"/>
                  </a:solidFill>
                </a:rPr>
                <a:t>- </a:t>
              </a:r>
              <a:r>
                <a:rPr lang="ko-KR" altLang="en-US" sz="600" dirty="0">
                  <a:solidFill>
                    <a:srgbClr val="A3CFE5"/>
                  </a:solidFill>
                </a:rPr>
                <a:t>목표사용량</a:t>
              </a:r>
              <a:r>
                <a:rPr lang="en-US" altLang="ko-KR" sz="600" dirty="0">
                  <a:solidFill>
                    <a:srgbClr val="A3CFE5"/>
                  </a:solidFill>
                </a:rPr>
                <a:t> :</a:t>
              </a:r>
              <a:r>
                <a:rPr lang="en-US" altLang="ko-KR" sz="600" dirty="0">
                  <a:solidFill>
                    <a:schemeClr val="tx1"/>
                  </a:solidFill>
                </a:rPr>
                <a:t> </a:t>
              </a:r>
              <a:r>
                <a:rPr lang="en-US" altLang="ko-KR" sz="600" b="1" dirty="0">
                  <a:solidFill>
                    <a:schemeClr val="tx1"/>
                  </a:solidFill>
                </a:rPr>
                <a:t>1,500kW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E714883-77F8-4DEA-A5CD-8C67844EBA25}"/>
                </a:ext>
              </a:extLst>
            </p:cNvPr>
            <p:cNvGrpSpPr/>
            <p:nvPr/>
          </p:nvGrpSpPr>
          <p:grpSpPr>
            <a:xfrm>
              <a:off x="3605178" y="2549478"/>
              <a:ext cx="1438800" cy="1100254"/>
              <a:chOff x="3605178" y="2428839"/>
              <a:chExt cx="1438800" cy="1100254"/>
            </a:xfrm>
          </p:grpSpPr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69B0EEB3-AAF8-430A-9DA1-86083AE710D4}"/>
                  </a:ext>
                </a:extLst>
              </p:cNvPr>
              <p:cNvSpPr/>
              <p:nvPr/>
            </p:nvSpPr>
            <p:spPr>
              <a:xfrm>
                <a:off x="3605178" y="2611403"/>
                <a:ext cx="720000" cy="914648"/>
              </a:xfrm>
              <a:prstGeom prst="rect">
                <a:avLst/>
              </a:prstGeom>
              <a:solidFill>
                <a:srgbClr val="CCECFF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CF4AF1CC-37FC-4770-81A6-BAA84F0FEA7E}"/>
                  </a:ext>
                </a:extLst>
              </p:cNvPr>
              <p:cNvSpPr/>
              <p:nvPr/>
            </p:nvSpPr>
            <p:spPr>
              <a:xfrm>
                <a:off x="4323303" y="2428839"/>
                <a:ext cx="720000" cy="1100254"/>
              </a:xfrm>
              <a:prstGeom prst="rect">
                <a:avLst/>
              </a:prstGeom>
              <a:solidFill>
                <a:srgbClr val="CCECFF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D2591E96-DF62-404A-9C37-E705080FC0B0}"/>
                  </a:ext>
                </a:extLst>
              </p:cNvPr>
              <p:cNvCxnSpPr/>
              <p:nvPr/>
            </p:nvCxnSpPr>
            <p:spPr>
              <a:xfrm>
                <a:off x="3611855" y="2617155"/>
                <a:ext cx="720000" cy="1588"/>
              </a:xfrm>
              <a:prstGeom prst="line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970D8717-86A9-44C4-BD41-1BB8F9CF4072}"/>
                  </a:ext>
                </a:extLst>
              </p:cNvPr>
              <p:cNvCxnSpPr/>
              <p:nvPr/>
            </p:nvCxnSpPr>
            <p:spPr>
              <a:xfrm>
                <a:off x="4323978" y="2433593"/>
                <a:ext cx="720000" cy="1588"/>
              </a:xfrm>
              <a:prstGeom prst="line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ADA4AFE2-5676-4FE7-8B06-30D2D993F7CE}"/>
                  </a:ext>
                </a:extLst>
              </p:cNvPr>
              <p:cNvCxnSpPr/>
              <p:nvPr/>
            </p:nvCxnSpPr>
            <p:spPr>
              <a:xfrm rot="5400000">
                <a:off x="4241061" y="2522141"/>
                <a:ext cx="180000" cy="1588"/>
              </a:xfrm>
              <a:prstGeom prst="line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08FC866C-1B9B-4C1A-9ECD-20094FF73D0B}"/>
                </a:ext>
              </a:extLst>
            </p:cNvPr>
            <p:cNvSpPr/>
            <p:nvPr/>
          </p:nvSpPr>
          <p:spPr>
            <a:xfrm>
              <a:off x="3978098" y="2703943"/>
              <a:ext cx="72000" cy="72000"/>
            </a:xfrm>
            <a:prstGeom prst="ellipse">
              <a:avLst/>
            </a:prstGeom>
            <a:solidFill>
              <a:srgbClr val="FF99C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44" name="타원형 설명선 243"/>
          <p:cNvSpPr/>
          <p:nvPr/>
        </p:nvSpPr>
        <p:spPr>
          <a:xfrm>
            <a:off x="4013958" y="251499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68B7CB2F-6A9C-49A4-9420-CEC4BA6017FE}"/>
              </a:ext>
            </a:extLst>
          </p:cNvPr>
          <p:cNvSpPr/>
          <p:nvPr/>
        </p:nvSpPr>
        <p:spPr>
          <a:xfrm>
            <a:off x="5125466" y="1568387"/>
            <a:ext cx="374384" cy="240037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10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F71B1F94-7A40-4805-BE00-55F18628B1F5}"/>
              </a:ext>
            </a:extLst>
          </p:cNvPr>
          <p:cNvSpPr/>
          <p:nvPr/>
        </p:nvSpPr>
        <p:spPr>
          <a:xfrm>
            <a:off x="3938437" y="1544389"/>
            <a:ext cx="1187028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시간대별 기준 부하</a:t>
            </a:r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96C986ED-AD63-44B4-B904-2CE62A275E91}"/>
              </a:ext>
            </a:extLst>
          </p:cNvPr>
          <p:cNvSpPr/>
          <p:nvPr/>
        </p:nvSpPr>
        <p:spPr>
          <a:xfrm>
            <a:off x="5694011" y="1568387"/>
            <a:ext cx="374384" cy="240037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14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69E573AD-A269-4165-922F-F99550D52A22}"/>
              </a:ext>
            </a:extLst>
          </p:cNvPr>
          <p:cNvSpPr/>
          <p:nvPr/>
        </p:nvSpPr>
        <p:spPr>
          <a:xfrm>
            <a:off x="5472223" y="1544389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타원형 설명선 244">
            <a:extLst>
              <a:ext uri="{FF2B5EF4-FFF2-40B4-BE49-F238E27FC236}">
                <a16:creationId xmlns:a16="http://schemas.microsoft.com/office/drawing/2014/main" id="{1AAF1D52-CF54-4EA6-B93B-D2BE754712D6}"/>
              </a:ext>
            </a:extLst>
          </p:cNvPr>
          <p:cNvSpPr/>
          <p:nvPr/>
        </p:nvSpPr>
        <p:spPr>
          <a:xfrm>
            <a:off x="1568648" y="176460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E51FA8BF-4130-45B2-BDF3-CCBC2E3925D0}"/>
              </a:ext>
            </a:extLst>
          </p:cNvPr>
          <p:cNvSpPr/>
          <p:nvPr/>
        </p:nvSpPr>
        <p:spPr>
          <a:xfrm>
            <a:off x="1852850" y="1880788"/>
            <a:ext cx="2092037" cy="34241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5BE38F8-592B-406A-AFBE-3C236FA906C2}"/>
              </a:ext>
            </a:extLst>
          </p:cNvPr>
          <p:cNvSpPr/>
          <p:nvPr/>
        </p:nvSpPr>
        <p:spPr>
          <a:xfrm>
            <a:off x="6190000" y="1550575"/>
            <a:ext cx="473661" cy="289182"/>
          </a:xfrm>
          <a:prstGeom prst="rect">
            <a:avLst/>
          </a:prstGeom>
          <a:solidFill>
            <a:srgbClr val="0099FF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58939A97-F19C-4E55-B499-540CB52AF3C8}"/>
              </a:ext>
            </a:extLst>
          </p:cNvPr>
          <p:cNvGrpSpPr/>
          <p:nvPr/>
        </p:nvGrpSpPr>
        <p:grpSpPr>
          <a:xfrm>
            <a:off x="278100" y="4153149"/>
            <a:ext cx="862386" cy="211955"/>
            <a:chOff x="4861742" y="3907374"/>
            <a:chExt cx="862386" cy="211955"/>
          </a:xfrm>
        </p:grpSpPr>
        <p:pic>
          <p:nvPicPr>
            <p:cNvPr id="9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2985C193-B582-464D-B476-BD9D5D3519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1F96D71-8A83-4723-A3C5-6382D2FC63E7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41040ED4-0F74-4DA7-B884-6C0B6F412778}"/>
              </a:ext>
            </a:extLst>
          </p:cNvPr>
          <p:cNvSpPr txBox="1"/>
          <p:nvPr/>
        </p:nvSpPr>
        <p:spPr>
          <a:xfrm>
            <a:off x="7221250" y="4149080"/>
            <a:ext cx="972108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 접기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F2DD630-5B71-4AB8-87C6-3778E7785061}"/>
              </a:ext>
            </a:extLst>
          </p:cNvPr>
          <p:cNvSpPr txBox="1"/>
          <p:nvPr/>
        </p:nvSpPr>
        <p:spPr>
          <a:xfrm>
            <a:off x="1305817" y="4152760"/>
            <a:ext cx="7465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b="1">
                <a:solidFill>
                  <a:schemeClr val="bg1"/>
                </a:solidFill>
              </a:rPr>
              <a:t>실시간 자동 갱신</a:t>
            </a:r>
            <a:endParaRPr lang="ko-KR" altLang="en-US" sz="600" b="1" dirty="0">
              <a:solidFill>
                <a:schemeClr val="bg1"/>
              </a:solidFill>
            </a:endParaRPr>
          </a:p>
        </p:txBody>
      </p:sp>
      <p:pic>
        <p:nvPicPr>
          <p:cNvPr id="1030" name="Picture 6" descr="ê´ë ¨ ì´ë¯¸ì§">
            <a:extLst>
              <a:ext uri="{FF2B5EF4-FFF2-40B4-BE49-F238E27FC236}">
                <a16:creationId xmlns:a16="http://schemas.microsoft.com/office/drawing/2014/main" id="{66E95671-65D9-4C74-BD18-12C89961C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15" y="4154718"/>
            <a:ext cx="180170" cy="180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타원형 설명선 245">
            <a:extLst>
              <a:ext uri="{FF2B5EF4-FFF2-40B4-BE49-F238E27FC236}">
                <a16:creationId xmlns:a16="http://schemas.microsoft.com/office/drawing/2014/main" id="{CAE963D2-E57A-4782-9BEA-1D6902D499FF}"/>
              </a:ext>
            </a:extLst>
          </p:cNvPr>
          <p:cNvSpPr/>
          <p:nvPr/>
        </p:nvSpPr>
        <p:spPr>
          <a:xfrm>
            <a:off x="1136576" y="394638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4582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24865A7-A970-4EFF-B6BB-A35D366CA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1" y="284692"/>
            <a:ext cx="8325264" cy="4165001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사용량 구성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사용량 구성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551568"/>
              </p:ext>
            </p:extLst>
          </p:nvPr>
        </p:nvGraphicFramePr>
        <p:xfrm>
          <a:off x="8469313" y="276225"/>
          <a:ext cx="1404000" cy="5941632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Pre-define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된 조회 기간의 시작과 끝 시점을 설정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별 시작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종료 시간은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sng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간격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번에서 지정된 기간 내 데이터의 조회 간격을 설정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간격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- 15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30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별 선택 가능한 조회 간격은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이 선택된 경우에는 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~24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시로 조회하고 표시하며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그 외의 경우 지금 시간부터 지정된 과거의 기간만큼 조회하고 표시한다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 시작 설정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기간의 시작 날짜를 직접 입력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시간은 현재시간으로 고정되며 날짜만 지정 가능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 종료 설정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기간의 종료 날짜를 직접 입력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시간은 현재시간으로 고정되며 날짜만 지정 가능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1, 2, 3, 4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항목에서 지정된  일정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조건에 따라 사용량과 예측 사용량을 조회하여 화면을 구성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데이터 갱신 시간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지정된 설정에 따라 조회가 진행된 시간표시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743014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ewpsp_scr_014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7" name="타원형 설명선 226"/>
          <p:cNvSpPr/>
          <p:nvPr/>
        </p:nvSpPr>
        <p:spPr>
          <a:xfrm>
            <a:off x="2720752" y="43475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4357052" y="43475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3656856" y="43475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4824234" y="43475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2060784" y="434751"/>
            <a:ext cx="216000" cy="216000"/>
          </a:xfrm>
          <a:prstGeom prst="wedgeEllipseCallout">
            <a:avLst>
              <a:gd name="adj1" fmla="val 84021"/>
              <a:gd name="adj2" fmla="val 5114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241C6DC-2140-4EA6-B103-4BF6774A3774}"/>
              </a:ext>
            </a:extLst>
          </p:cNvPr>
          <p:cNvSpPr/>
          <p:nvPr/>
        </p:nvSpPr>
        <p:spPr>
          <a:xfrm>
            <a:off x="158528" y="1268760"/>
            <a:ext cx="1194072" cy="378028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A9063B2-163F-4128-A224-7FDEC0A8E06A}"/>
              </a:ext>
            </a:extLst>
          </p:cNvPr>
          <p:cNvSpPr/>
          <p:nvPr/>
        </p:nvSpPr>
        <p:spPr>
          <a:xfrm>
            <a:off x="269242" y="3573016"/>
            <a:ext cx="7924118" cy="216000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3F62728-89FC-454F-83FB-CDD994D776EF}"/>
              </a:ext>
            </a:extLst>
          </p:cNvPr>
          <p:cNvSpPr/>
          <p:nvPr/>
        </p:nvSpPr>
        <p:spPr>
          <a:xfrm>
            <a:off x="301971" y="853280"/>
            <a:ext cx="618008" cy="172515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한전 사용량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12762078-1040-438F-8B9F-B1986ED7C3DE}"/>
              </a:ext>
            </a:extLst>
          </p:cNvPr>
          <p:cNvSpPr/>
          <p:nvPr/>
        </p:nvSpPr>
        <p:spPr>
          <a:xfrm>
            <a:off x="1977645" y="1192157"/>
            <a:ext cx="6230329" cy="1182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말풍선: 모서리가 둥근 사각형 72">
            <a:extLst>
              <a:ext uri="{FF2B5EF4-FFF2-40B4-BE49-F238E27FC236}">
                <a16:creationId xmlns:a16="http://schemas.microsoft.com/office/drawing/2014/main" id="{4590CED7-984D-473A-A720-DFB2C35E9EC3}"/>
              </a:ext>
            </a:extLst>
          </p:cNvPr>
          <p:cNvSpPr/>
          <p:nvPr/>
        </p:nvSpPr>
        <p:spPr>
          <a:xfrm>
            <a:off x="1527197" y="1180864"/>
            <a:ext cx="1760723" cy="274031"/>
          </a:xfrm>
          <a:prstGeom prst="wedgeRoundRectCallout">
            <a:avLst>
              <a:gd name="adj1" fmla="val -73724"/>
              <a:gd name="adj2" fmla="val -131646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실제 사용량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한전 사용량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B81A363-6712-40BC-8103-25E82D1FCA86}"/>
              </a:ext>
            </a:extLst>
          </p:cNvPr>
          <p:cNvSpPr/>
          <p:nvPr/>
        </p:nvSpPr>
        <p:spPr>
          <a:xfrm>
            <a:off x="6023595" y="894153"/>
            <a:ext cx="513581" cy="230591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68" name="말풍선: 모서리가 둥근 사각형 67">
            <a:extLst>
              <a:ext uri="{FF2B5EF4-FFF2-40B4-BE49-F238E27FC236}">
                <a16:creationId xmlns:a16="http://schemas.microsoft.com/office/drawing/2014/main" id="{2652C054-F975-4709-BDE9-B96D16A261CD}"/>
              </a:ext>
            </a:extLst>
          </p:cNvPr>
          <p:cNvSpPr/>
          <p:nvPr/>
        </p:nvSpPr>
        <p:spPr>
          <a:xfrm>
            <a:off x="4640453" y="1346119"/>
            <a:ext cx="1760723" cy="274031"/>
          </a:xfrm>
          <a:prstGeom prst="wedgeRoundRectCallout">
            <a:avLst>
              <a:gd name="adj1" fmla="val 37289"/>
              <a:gd name="adj2" fmla="val -119401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그래프 內 예측사용량 제거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53CE783-61EA-433D-BB42-A92EDC06218E}"/>
              </a:ext>
            </a:extLst>
          </p:cNvPr>
          <p:cNvSpPr/>
          <p:nvPr/>
        </p:nvSpPr>
        <p:spPr>
          <a:xfrm>
            <a:off x="5310012" y="925036"/>
            <a:ext cx="654841" cy="172515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---- </a:t>
            </a:r>
            <a:r>
              <a:rPr lang="ko-KR" altLang="en-US" sz="5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한전 사용량</a:t>
            </a:r>
          </a:p>
        </p:txBody>
      </p:sp>
      <p:sp>
        <p:nvSpPr>
          <p:cNvPr id="83" name="자유형 5">
            <a:extLst>
              <a:ext uri="{FF2B5EF4-FFF2-40B4-BE49-F238E27FC236}">
                <a16:creationId xmlns:a16="http://schemas.microsoft.com/office/drawing/2014/main" id="{40A10030-B013-4DCC-B221-679067B2543A}"/>
              </a:ext>
            </a:extLst>
          </p:cNvPr>
          <p:cNvSpPr/>
          <p:nvPr/>
        </p:nvSpPr>
        <p:spPr>
          <a:xfrm>
            <a:off x="3091244" y="1693651"/>
            <a:ext cx="1659512" cy="361173"/>
          </a:xfrm>
          <a:custGeom>
            <a:avLst/>
            <a:gdLst>
              <a:gd name="connsiteX0" fmla="*/ 0 w 1733550"/>
              <a:gd name="connsiteY0" fmla="*/ 171450 h 453390"/>
              <a:gd name="connsiteX1" fmla="*/ 582930 w 1733550"/>
              <a:gd name="connsiteY1" fmla="*/ 430530 h 453390"/>
              <a:gd name="connsiteX2" fmla="*/ 864870 w 1733550"/>
              <a:gd name="connsiteY2" fmla="*/ 453390 h 453390"/>
              <a:gd name="connsiteX3" fmla="*/ 1165860 w 1733550"/>
              <a:gd name="connsiteY3" fmla="*/ 419100 h 453390"/>
              <a:gd name="connsiteX4" fmla="*/ 1482090 w 1733550"/>
              <a:gd name="connsiteY4" fmla="*/ 106680 h 453390"/>
              <a:gd name="connsiteX5" fmla="*/ 1733550 w 1733550"/>
              <a:gd name="connsiteY5" fmla="*/ 0 h 4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3550" h="453390">
                <a:moveTo>
                  <a:pt x="0" y="171450"/>
                </a:moveTo>
                <a:lnTo>
                  <a:pt x="582930" y="430530"/>
                </a:lnTo>
                <a:lnTo>
                  <a:pt x="864870" y="453390"/>
                </a:lnTo>
                <a:lnTo>
                  <a:pt x="1165860" y="419100"/>
                </a:lnTo>
                <a:lnTo>
                  <a:pt x="1482090" y="106680"/>
                </a:lnTo>
                <a:lnTo>
                  <a:pt x="1733550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자유형 4">
            <a:extLst>
              <a:ext uri="{FF2B5EF4-FFF2-40B4-BE49-F238E27FC236}">
                <a16:creationId xmlns:a16="http://schemas.microsoft.com/office/drawing/2014/main" id="{B77EAD00-592F-4E4E-972F-B13D7C19AEC0}"/>
              </a:ext>
            </a:extLst>
          </p:cNvPr>
          <p:cNvSpPr/>
          <p:nvPr/>
        </p:nvSpPr>
        <p:spPr>
          <a:xfrm rot="10615747">
            <a:off x="3067060" y="1731309"/>
            <a:ext cx="1682591" cy="71825"/>
          </a:xfrm>
          <a:custGeom>
            <a:avLst/>
            <a:gdLst>
              <a:gd name="connsiteX0" fmla="*/ 0 w 1761066"/>
              <a:gd name="connsiteY0" fmla="*/ 177800 h 228600"/>
              <a:gd name="connsiteX1" fmla="*/ 601133 w 1761066"/>
              <a:gd name="connsiteY1" fmla="*/ 228600 h 228600"/>
              <a:gd name="connsiteX2" fmla="*/ 905933 w 1761066"/>
              <a:gd name="connsiteY2" fmla="*/ 177800 h 228600"/>
              <a:gd name="connsiteX3" fmla="*/ 1159933 w 1761066"/>
              <a:gd name="connsiteY3" fmla="*/ 127000 h 228600"/>
              <a:gd name="connsiteX4" fmla="*/ 1498600 w 1761066"/>
              <a:gd name="connsiteY4" fmla="*/ 59267 h 228600"/>
              <a:gd name="connsiteX5" fmla="*/ 1761066 w 1761066"/>
              <a:gd name="connsiteY5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61066" h="228600">
                <a:moveTo>
                  <a:pt x="0" y="177800"/>
                </a:moveTo>
                <a:lnTo>
                  <a:pt x="601133" y="228600"/>
                </a:lnTo>
                <a:lnTo>
                  <a:pt x="905933" y="177800"/>
                </a:lnTo>
                <a:lnTo>
                  <a:pt x="1159933" y="127000"/>
                </a:lnTo>
                <a:lnTo>
                  <a:pt x="1498600" y="59267"/>
                </a:lnTo>
                <a:lnTo>
                  <a:pt x="1761066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자유형 7">
            <a:extLst>
              <a:ext uri="{FF2B5EF4-FFF2-40B4-BE49-F238E27FC236}">
                <a16:creationId xmlns:a16="http://schemas.microsoft.com/office/drawing/2014/main" id="{E8B54B82-716C-4DDA-9B09-9662DACDB790}"/>
              </a:ext>
            </a:extLst>
          </p:cNvPr>
          <p:cNvSpPr/>
          <p:nvPr/>
        </p:nvSpPr>
        <p:spPr>
          <a:xfrm>
            <a:off x="4754402" y="1708826"/>
            <a:ext cx="1962236" cy="452225"/>
          </a:xfrm>
          <a:custGeom>
            <a:avLst/>
            <a:gdLst>
              <a:gd name="connsiteX0" fmla="*/ 0 w 2049780"/>
              <a:gd name="connsiteY0" fmla="*/ 0 h 567690"/>
              <a:gd name="connsiteX1" fmla="*/ 331470 w 2049780"/>
              <a:gd name="connsiteY1" fmla="*/ 60960 h 567690"/>
              <a:gd name="connsiteX2" fmla="*/ 640080 w 2049780"/>
              <a:gd name="connsiteY2" fmla="*/ 220980 h 567690"/>
              <a:gd name="connsiteX3" fmla="*/ 1242060 w 2049780"/>
              <a:gd name="connsiteY3" fmla="*/ 236220 h 567690"/>
              <a:gd name="connsiteX4" fmla="*/ 1684020 w 2049780"/>
              <a:gd name="connsiteY4" fmla="*/ 144780 h 567690"/>
              <a:gd name="connsiteX5" fmla="*/ 2049780 w 2049780"/>
              <a:gd name="connsiteY5" fmla="*/ 19050 h 567690"/>
              <a:gd name="connsiteX6" fmla="*/ 1779270 w 2049780"/>
              <a:gd name="connsiteY6" fmla="*/ 346710 h 567690"/>
              <a:gd name="connsiteX7" fmla="*/ 1249680 w 2049780"/>
              <a:gd name="connsiteY7" fmla="*/ 567690 h 567690"/>
              <a:gd name="connsiteX8" fmla="*/ 621030 w 2049780"/>
              <a:gd name="connsiteY8" fmla="*/ 563880 h 567690"/>
              <a:gd name="connsiteX9" fmla="*/ 308610 w 2049780"/>
              <a:gd name="connsiteY9" fmla="*/ 419100 h 567690"/>
              <a:gd name="connsiteX10" fmla="*/ 0 w 2049780"/>
              <a:gd name="connsiteY10" fmla="*/ 0 h 567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9780" h="567690">
                <a:moveTo>
                  <a:pt x="0" y="0"/>
                </a:moveTo>
                <a:lnTo>
                  <a:pt x="331470" y="60960"/>
                </a:lnTo>
                <a:lnTo>
                  <a:pt x="640080" y="220980"/>
                </a:lnTo>
                <a:lnTo>
                  <a:pt x="1242060" y="236220"/>
                </a:lnTo>
                <a:lnTo>
                  <a:pt x="1684020" y="144780"/>
                </a:lnTo>
                <a:lnTo>
                  <a:pt x="2049780" y="19050"/>
                </a:lnTo>
                <a:lnTo>
                  <a:pt x="1779270" y="346710"/>
                </a:lnTo>
                <a:lnTo>
                  <a:pt x="1249680" y="567690"/>
                </a:lnTo>
                <a:lnTo>
                  <a:pt x="621030" y="563880"/>
                </a:lnTo>
                <a:lnTo>
                  <a:pt x="308610" y="419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9" name="자유형 1">
            <a:extLst>
              <a:ext uri="{FF2B5EF4-FFF2-40B4-BE49-F238E27FC236}">
                <a16:creationId xmlns:a16="http://schemas.microsoft.com/office/drawing/2014/main" id="{7362573E-3413-49F6-8A52-6396169162B5}"/>
              </a:ext>
            </a:extLst>
          </p:cNvPr>
          <p:cNvSpPr/>
          <p:nvPr/>
        </p:nvSpPr>
        <p:spPr>
          <a:xfrm>
            <a:off x="2199687" y="1695674"/>
            <a:ext cx="4530729" cy="465377"/>
          </a:xfrm>
          <a:custGeom>
            <a:avLst/>
            <a:gdLst>
              <a:gd name="connsiteX0" fmla="*/ 0 w 4732866"/>
              <a:gd name="connsiteY0" fmla="*/ 330200 h 584200"/>
              <a:gd name="connsiteX1" fmla="*/ 262466 w 4732866"/>
              <a:gd name="connsiteY1" fmla="*/ 169333 h 584200"/>
              <a:gd name="connsiteX2" fmla="*/ 575733 w 4732866"/>
              <a:gd name="connsiteY2" fmla="*/ 279400 h 584200"/>
              <a:gd name="connsiteX3" fmla="*/ 905933 w 4732866"/>
              <a:gd name="connsiteY3" fmla="*/ 169333 h 584200"/>
              <a:gd name="connsiteX4" fmla="*/ 1193800 w 4732866"/>
              <a:gd name="connsiteY4" fmla="*/ 296333 h 584200"/>
              <a:gd name="connsiteX5" fmla="*/ 1507066 w 4732866"/>
              <a:gd name="connsiteY5" fmla="*/ 431800 h 584200"/>
              <a:gd name="connsiteX6" fmla="*/ 1794933 w 4732866"/>
              <a:gd name="connsiteY6" fmla="*/ 457200 h 584200"/>
              <a:gd name="connsiteX7" fmla="*/ 2091266 w 4732866"/>
              <a:gd name="connsiteY7" fmla="*/ 423333 h 584200"/>
              <a:gd name="connsiteX8" fmla="*/ 2413000 w 4732866"/>
              <a:gd name="connsiteY8" fmla="*/ 101600 h 584200"/>
              <a:gd name="connsiteX9" fmla="*/ 2667000 w 4732866"/>
              <a:gd name="connsiteY9" fmla="*/ 0 h 584200"/>
              <a:gd name="connsiteX10" fmla="*/ 2971800 w 4732866"/>
              <a:gd name="connsiteY10" fmla="*/ 431800 h 584200"/>
              <a:gd name="connsiteX11" fmla="*/ 3293533 w 4732866"/>
              <a:gd name="connsiteY11" fmla="*/ 567267 h 584200"/>
              <a:gd name="connsiteX12" fmla="*/ 3615266 w 4732866"/>
              <a:gd name="connsiteY12" fmla="*/ 558800 h 584200"/>
              <a:gd name="connsiteX13" fmla="*/ 3911600 w 4732866"/>
              <a:gd name="connsiteY13" fmla="*/ 584200 h 584200"/>
              <a:gd name="connsiteX14" fmla="*/ 4199466 w 4732866"/>
              <a:gd name="connsiteY14" fmla="*/ 440267 h 584200"/>
              <a:gd name="connsiteX15" fmla="*/ 4453466 w 4732866"/>
              <a:gd name="connsiteY15" fmla="*/ 364067 h 584200"/>
              <a:gd name="connsiteX16" fmla="*/ 4732866 w 4732866"/>
              <a:gd name="connsiteY16" fmla="*/ 16933 h 5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32866" h="584200">
                <a:moveTo>
                  <a:pt x="0" y="330200"/>
                </a:moveTo>
                <a:lnTo>
                  <a:pt x="262466" y="169333"/>
                </a:lnTo>
                <a:lnTo>
                  <a:pt x="575733" y="279400"/>
                </a:lnTo>
                <a:lnTo>
                  <a:pt x="905933" y="169333"/>
                </a:lnTo>
                <a:lnTo>
                  <a:pt x="1193800" y="296333"/>
                </a:lnTo>
                <a:lnTo>
                  <a:pt x="1507066" y="431800"/>
                </a:lnTo>
                <a:lnTo>
                  <a:pt x="1794933" y="457200"/>
                </a:lnTo>
                <a:lnTo>
                  <a:pt x="2091266" y="423333"/>
                </a:lnTo>
                <a:lnTo>
                  <a:pt x="2413000" y="101600"/>
                </a:lnTo>
                <a:lnTo>
                  <a:pt x="2667000" y="0"/>
                </a:lnTo>
                <a:lnTo>
                  <a:pt x="2971800" y="431800"/>
                </a:lnTo>
                <a:lnTo>
                  <a:pt x="3293533" y="567267"/>
                </a:lnTo>
                <a:lnTo>
                  <a:pt x="3615266" y="558800"/>
                </a:lnTo>
                <a:lnTo>
                  <a:pt x="3911600" y="584200"/>
                </a:lnTo>
                <a:lnTo>
                  <a:pt x="4199466" y="440267"/>
                </a:lnTo>
                <a:lnTo>
                  <a:pt x="4453466" y="364067"/>
                </a:lnTo>
                <a:lnTo>
                  <a:pt x="4732866" y="16933"/>
                </a:lnTo>
              </a:path>
            </a:pathLst>
          </a:cu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3" name="타원형 설명선 245">
            <a:extLst>
              <a:ext uri="{FF2B5EF4-FFF2-40B4-BE49-F238E27FC236}">
                <a16:creationId xmlns:a16="http://schemas.microsoft.com/office/drawing/2014/main" id="{27D00165-7E4E-4964-B44D-84D128140501}"/>
              </a:ext>
            </a:extLst>
          </p:cNvPr>
          <p:cNvSpPr/>
          <p:nvPr/>
        </p:nvSpPr>
        <p:spPr>
          <a:xfrm>
            <a:off x="7473304" y="48591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3CB64B04-AE2A-46DD-B8F4-6EF92F81B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718401"/>
              </p:ext>
            </p:extLst>
          </p:nvPr>
        </p:nvGraphicFramePr>
        <p:xfrm>
          <a:off x="475469" y="4581915"/>
          <a:ext cx="3838193" cy="909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139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  <a:gridCol w="481509">
                  <a:extLst>
                    <a:ext uri="{9D8B030D-6E8A-4147-A177-3AD203B41FA5}">
                      <a16:colId xmlns:a16="http://schemas.microsoft.com/office/drawing/2014/main" val="346575581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오늘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기간설정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 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전</a:t>
                      </a: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~ 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지정된 시작일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예측량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시간 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현재시간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00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~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전 </a:t>
                      </a: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현재시간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지정된 종료일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962852"/>
                  </a:ext>
                </a:extLst>
              </a:tr>
            </a:tbl>
          </a:graphicData>
        </a:graphic>
      </p:graphicFrame>
      <p:sp>
        <p:nvSpPr>
          <p:cNvPr id="115" name="타원형 설명선 225">
            <a:extLst>
              <a:ext uri="{FF2B5EF4-FFF2-40B4-BE49-F238E27FC236}">
                <a16:creationId xmlns:a16="http://schemas.microsoft.com/office/drawing/2014/main" id="{FF96900C-3170-40CC-B2F8-7D46FC867450}"/>
              </a:ext>
            </a:extLst>
          </p:cNvPr>
          <p:cNvSpPr/>
          <p:nvPr/>
        </p:nvSpPr>
        <p:spPr>
          <a:xfrm>
            <a:off x="178644" y="456589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16" name="표 115">
            <a:extLst>
              <a:ext uri="{FF2B5EF4-FFF2-40B4-BE49-F238E27FC236}">
                <a16:creationId xmlns:a16="http://schemas.microsoft.com/office/drawing/2014/main" id="{4DFD4F00-C3C3-4976-A6B6-0FEC83354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406916"/>
              </p:ext>
            </p:extLst>
          </p:nvPr>
        </p:nvGraphicFramePr>
        <p:xfrm>
          <a:off x="4779324" y="4581915"/>
          <a:ext cx="3342028" cy="78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864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  <a:gridCol w="446694">
                  <a:extLst>
                    <a:ext uri="{9D8B030D-6E8A-4147-A177-3AD203B41FA5}">
                      <a16:colId xmlns:a16="http://schemas.microsoft.com/office/drawing/2014/main" val="346575581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기간설정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표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참고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</a:tbl>
          </a:graphicData>
        </a:graphic>
      </p:graphicFrame>
      <p:sp>
        <p:nvSpPr>
          <p:cNvPr id="117" name="타원형 설명선 225">
            <a:extLst>
              <a:ext uri="{FF2B5EF4-FFF2-40B4-BE49-F238E27FC236}">
                <a16:creationId xmlns:a16="http://schemas.microsoft.com/office/drawing/2014/main" id="{24F5C0ED-DCF6-43E3-A955-636B394FD1BB}"/>
              </a:ext>
            </a:extLst>
          </p:cNvPr>
          <p:cNvSpPr/>
          <p:nvPr/>
        </p:nvSpPr>
        <p:spPr>
          <a:xfrm>
            <a:off x="4486722" y="456589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18" name="표 117">
            <a:extLst>
              <a:ext uri="{FF2B5EF4-FFF2-40B4-BE49-F238E27FC236}">
                <a16:creationId xmlns:a16="http://schemas.microsoft.com/office/drawing/2014/main" id="{493FA91C-6287-44A1-A8CC-B14F0879F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125267"/>
              </p:ext>
            </p:extLst>
          </p:nvPr>
        </p:nvGraphicFramePr>
        <p:xfrm>
          <a:off x="475468" y="5736466"/>
          <a:ext cx="6623937" cy="78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148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1456834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1021945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1021945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1021945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초과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초과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 초과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이하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초과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lang="en-US" altLang="ko-KR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</a:tbl>
          </a:graphicData>
        </a:graphic>
      </p:graphicFrame>
      <p:sp>
        <p:nvSpPr>
          <p:cNvPr id="119" name="타원형 설명선 225">
            <a:extLst>
              <a:ext uri="{FF2B5EF4-FFF2-40B4-BE49-F238E27FC236}">
                <a16:creationId xmlns:a16="http://schemas.microsoft.com/office/drawing/2014/main" id="{5DF8F04C-F506-4FB3-9405-25F70D6EB651}"/>
              </a:ext>
            </a:extLst>
          </p:cNvPr>
          <p:cNvSpPr/>
          <p:nvPr/>
        </p:nvSpPr>
        <p:spPr>
          <a:xfrm>
            <a:off x="182867" y="5720443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7585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그림 68">
            <a:extLst>
              <a:ext uri="{FF2B5EF4-FFF2-40B4-BE49-F238E27FC236}">
                <a16:creationId xmlns:a16="http://schemas.microsoft.com/office/drawing/2014/main" id="{8B0D52D6-22EC-4F58-A28C-4EBD6DF74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1" y="284692"/>
            <a:ext cx="8325264" cy="4165001"/>
          </a:xfrm>
          <a:prstGeom prst="rect">
            <a:avLst/>
          </a:prstGeom>
        </p:spPr>
      </p:pic>
      <p:sp>
        <p:nvSpPr>
          <p:cNvPr id="70" name="직사각형 69">
            <a:extLst>
              <a:ext uri="{FF2B5EF4-FFF2-40B4-BE49-F238E27FC236}">
                <a16:creationId xmlns:a16="http://schemas.microsoft.com/office/drawing/2014/main" id="{0F4C6EF3-3A91-4B55-AC44-C652F7355ACE}"/>
              </a:ext>
            </a:extLst>
          </p:cNvPr>
          <p:cNvSpPr/>
          <p:nvPr/>
        </p:nvSpPr>
        <p:spPr>
          <a:xfrm>
            <a:off x="1977644" y="1129601"/>
            <a:ext cx="6230329" cy="1182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사용량 구성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사용량 구성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52369"/>
              </p:ext>
            </p:extLst>
          </p:nvPr>
        </p:nvGraphicFramePr>
        <p:xfrm>
          <a:off x="8469313" y="276225"/>
          <a:ext cx="1404000" cy="6402624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 합계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內 한전사용량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PV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,ESS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 합계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8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그래프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꺽은선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그래프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항목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한전사용량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ESS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PV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Y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KWh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전력량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X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간격 표시 기준은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9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ESS </a:t>
                      </a: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사용 수익 영역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- ESS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사용량으로 인한 실제 사용량 수익을 그래프 상의 영역으로 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959787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10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PV </a:t>
                      </a: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사용 수익 영역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- PV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사용량으로 인한 실제 사용량 수익을 그래프 상의 영역으로 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89373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표 접기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그래프 하단 표 영역 표시의 </a:t>
                      </a:r>
                      <a:r>
                        <a:rPr lang="ko-KR" altLang="en-US" sz="800" b="0" u="none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토글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버튼</a:t>
                      </a:r>
                      <a:endParaRPr lang="en-US" altLang="ko-KR" sz="800" b="0" u="none" kern="12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저장하기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데이터를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csv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형태의 파일로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 비율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각 항목 별 사용량 비율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740129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사용량 데이터 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조회된 데이터의 그래프 표시 항목을 표로 표현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특정 개수가 넘어 표가 좌우로 넓어질 경우에는 하단으로 표 확장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브라우저 크기를 조정하여 폭이 좁아질 경우에도 하단으로 표 확장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행 최대 칸수는 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칸 수가 너무 많을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(48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칸 이상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표 하단에 가로 스크롤 발생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744911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ewpsp_scr_014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자유형 5">
            <a:extLst>
              <a:ext uri="{FF2B5EF4-FFF2-40B4-BE49-F238E27FC236}">
                <a16:creationId xmlns:a16="http://schemas.microsoft.com/office/drawing/2014/main" id="{0AB13E76-0E1C-4F2E-A66A-8EB7B4F5BEC3}"/>
              </a:ext>
            </a:extLst>
          </p:cNvPr>
          <p:cNvSpPr/>
          <p:nvPr/>
        </p:nvSpPr>
        <p:spPr>
          <a:xfrm>
            <a:off x="3027807" y="1496977"/>
            <a:ext cx="1659512" cy="361173"/>
          </a:xfrm>
          <a:custGeom>
            <a:avLst/>
            <a:gdLst>
              <a:gd name="connsiteX0" fmla="*/ 0 w 1733550"/>
              <a:gd name="connsiteY0" fmla="*/ 171450 h 453390"/>
              <a:gd name="connsiteX1" fmla="*/ 582930 w 1733550"/>
              <a:gd name="connsiteY1" fmla="*/ 430530 h 453390"/>
              <a:gd name="connsiteX2" fmla="*/ 864870 w 1733550"/>
              <a:gd name="connsiteY2" fmla="*/ 453390 h 453390"/>
              <a:gd name="connsiteX3" fmla="*/ 1165860 w 1733550"/>
              <a:gd name="connsiteY3" fmla="*/ 419100 h 453390"/>
              <a:gd name="connsiteX4" fmla="*/ 1482090 w 1733550"/>
              <a:gd name="connsiteY4" fmla="*/ 106680 h 453390"/>
              <a:gd name="connsiteX5" fmla="*/ 1733550 w 1733550"/>
              <a:gd name="connsiteY5" fmla="*/ 0 h 4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3550" h="453390">
                <a:moveTo>
                  <a:pt x="0" y="171450"/>
                </a:moveTo>
                <a:lnTo>
                  <a:pt x="582930" y="430530"/>
                </a:lnTo>
                <a:lnTo>
                  <a:pt x="864870" y="453390"/>
                </a:lnTo>
                <a:lnTo>
                  <a:pt x="1165860" y="419100"/>
                </a:lnTo>
                <a:lnTo>
                  <a:pt x="1482090" y="106680"/>
                </a:lnTo>
                <a:lnTo>
                  <a:pt x="1733550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자유형 4">
            <a:extLst>
              <a:ext uri="{FF2B5EF4-FFF2-40B4-BE49-F238E27FC236}">
                <a16:creationId xmlns:a16="http://schemas.microsoft.com/office/drawing/2014/main" id="{1757BB11-8C88-4DEA-AD52-5538892811EB}"/>
              </a:ext>
            </a:extLst>
          </p:cNvPr>
          <p:cNvSpPr/>
          <p:nvPr/>
        </p:nvSpPr>
        <p:spPr>
          <a:xfrm rot="10615747">
            <a:off x="3003623" y="1534635"/>
            <a:ext cx="1682591" cy="71825"/>
          </a:xfrm>
          <a:custGeom>
            <a:avLst/>
            <a:gdLst>
              <a:gd name="connsiteX0" fmla="*/ 0 w 1761066"/>
              <a:gd name="connsiteY0" fmla="*/ 177800 h 228600"/>
              <a:gd name="connsiteX1" fmla="*/ 601133 w 1761066"/>
              <a:gd name="connsiteY1" fmla="*/ 228600 h 228600"/>
              <a:gd name="connsiteX2" fmla="*/ 905933 w 1761066"/>
              <a:gd name="connsiteY2" fmla="*/ 177800 h 228600"/>
              <a:gd name="connsiteX3" fmla="*/ 1159933 w 1761066"/>
              <a:gd name="connsiteY3" fmla="*/ 127000 h 228600"/>
              <a:gd name="connsiteX4" fmla="*/ 1498600 w 1761066"/>
              <a:gd name="connsiteY4" fmla="*/ 59267 h 228600"/>
              <a:gd name="connsiteX5" fmla="*/ 1761066 w 1761066"/>
              <a:gd name="connsiteY5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61066" h="228600">
                <a:moveTo>
                  <a:pt x="0" y="177800"/>
                </a:moveTo>
                <a:lnTo>
                  <a:pt x="601133" y="228600"/>
                </a:lnTo>
                <a:lnTo>
                  <a:pt x="905933" y="177800"/>
                </a:lnTo>
                <a:lnTo>
                  <a:pt x="1159933" y="127000"/>
                </a:lnTo>
                <a:lnTo>
                  <a:pt x="1498600" y="59267"/>
                </a:lnTo>
                <a:lnTo>
                  <a:pt x="1761066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자유형 7">
            <a:extLst>
              <a:ext uri="{FF2B5EF4-FFF2-40B4-BE49-F238E27FC236}">
                <a16:creationId xmlns:a16="http://schemas.microsoft.com/office/drawing/2014/main" id="{59930D6E-325D-4483-A815-E78A4C03D69A}"/>
              </a:ext>
            </a:extLst>
          </p:cNvPr>
          <p:cNvSpPr/>
          <p:nvPr/>
        </p:nvSpPr>
        <p:spPr>
          <a:xfrm>
            <a:off x="4690965" y="1512152"/>
            <a:ext cx="1962236" cy="452225"/>
          </a:xfrm>
          <a:custGeom>
            <a:avLst/>
            <a:gdLst>
              <a:gd name="connsiteX0" fmla="*/ 0 w 2049780"/>
              <a:gd name="connsiteY0" fmla="*/ 0 h 567690"/>
              <a:gd name="connsiteX1" fmla="*/ 331470 w 2049780"/>
              <a:gd name="connsiteY1" fmla="*/ 60960 h 567690"/>
              <a:gd name="connsiteX2" fmla="*/ 640080 w 2049780"/>
              <a:gd name="connsiteY2" fmla="*/ 220980 h 567690"/>
              <a:gd name="connsiteX3" fmla="*/ 1242060 w 2049780"/>
              <a:gd name="connsiteY3" fmla="*/ 236220 h 567690"/>
              <a:gd name="connsiteX4" fmla="*/ 1684020 w 2049780"/>
              <a:gd name="connsiteY4" fmla="*/ 144780 h 567690"/>
              <a:gd name="connsiteX5" fmla="*/ 2049780 w 2049780"/>
              <a:gd name="connsiteY5" fmla="*/ 19050 h 567690"/>
              <a:gd name="connsiteX6" fmla="*/ 1779270 w 2049780"/>
              <a:gd name="connsiteY6" fmla="*/ 346710 h 567690"/>
              <a:gd name="connsiteX7" fmla="*/ 1249680 w 2049780"/>
              <a:gd name="connsiteY7" fmla="*/ 567690 h 567690"/>
              <a:gd name="connsiteX8" fmla="*/ 621030 w 2049780"/>
              <a:gd name="connsiteY8" fmla="*/ 563880 h 567690"/>
              <a:gd name="connsiteX9" fmla="*/ 308610 w 2049780"/>
              <a:gd name="connsiteY9" fmla="*/ 419100 h 567690"/>
              <a:gd name="connsiteX10" fmla="*/ 0 w 2049780"/>
              <a:gd name="connsiteY10" fmla="*/ 0 h 567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9780" h="567690">
                <a:moveTo>
                  <a:pt x="0" y="0"/>
                </a:moveTo>
                <a:lnTo>
                  <a:pt x="331470" y="60960"/>
                </a:lnTo>
                <a:lnTo>
                  <a:pt x="640080" y="220980"/>
                </a:lnTo>
                <a:lnTo>
                  <a:pt x="1242060" y="236220"/>
                </a:lnTo>
                <a:lnTo>
                  <a:pt x="1684020" y="144780"/>
                </a:lnTo>
                <a:lnTo>
                  <a:pt x="2049780" y="19050"/>
                </a:lnTo>
                <a:lnTo>
                  <a:pt x="1779270" y="346710"/>
                </a:lnTo>
                <a:lnTo>
                  <a:pt x="1249680" y="567690"/>
                </a:lnTo>
                <a:lnTo>
                  <a:pt x="621030" y="563880"/>
                </a:lnTo>
                <a:lnTo>
                  <a:pt x="308610" y="419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5" name="자유형 1">
            <a:extLst>
              <a:ext uri="{FF2B5EF4-FFF2-40B4-BE49-F238E27FC236}">
                <a16:creationId xmlns:a16="http://schemas.microsoft.com/office/drawing/2014/main" id="{B36E7C33-7AB4-48E5-BE60-9221C84A5A15}"/>
              </a:ext>
            </a:extLst>
          </p:cNvPr>
          <p:cNvSpPr/>
          <p:nvPr/>
        </p:nvSpPr>
        <p:spPr>
          <a:xfrm>
            <a:off x="2136250" y="1499000"/>
            <a:ext cx="4530729" cy="465377"/>
          </a:xfrm>
          <a:custGeom>
            <a:avLst/>
            <a:gdLst>
              <a:gd name="connsiteX0" fmla="*/ 0 w 4732866"/>
              <a:gd name="connsiteY0" fmla="*/ 330200 h 584200"/>
              <a:gd name="connsiteX1" fmla="*/ 262466 w 4732866"/>
              <a:gd name="connsiteY1" fmla="*/ 169333 h 584200"/>
              <a:gd name="connsiteX2" fmla="*/ 575733 w 4732866"/>
              <a:gd name="connsiteY2" fmla="*/ 279400 h 584200"/>
              <a:gd name="connsiteX3" fmla="*/ 905933 w 4732866"/>
              <a:gd name="connsiteY3" fmla="*/ 169333 h 584200"/>
              <a:gd name="connsiteX4" fmla="*/ 1193800 w 4732866"/>
              <a:gd name="connsiteY4" fmla="*/ 296333 h 584200"/>
              <a:gd name="connsiteX5" fmla="*/ 1507066 w 4732866"/>
              <a:gd name="connsiteY5" fmla="*/ 431800 h 584200"/>
              <a:gd name="connsiteX6" fmla="*/ 1794933 w 4732866"/>
              <a:gd name="connsiteY6" fmla="*/ 457200 h 584200"/>
              <a:gd name="connsiteX7" fmla="*/ 2091266 w 4732866"/>
              <a:gd name="connsiteY7" fmla="*/ 423333 h 584200"/>
              <a:gd name="connsiteX8" fmla="*/ 2413000 w 4732866"/>
              <a:gd name="connsiteY8" fmla="*/ 101600 h 584200"/>
              <a:gd name="connsiteX9" fmla="*/ 2667000 w 4732866"/>
              <a:gd name="connsiteY9" fmla="*/ 0 h 584200"/>
              <a:gd name="connsiteX10" fmla="*/ 2971800 w 4732866"/>
              <a:gd name="connsiteY10" fmla="*/ 431800 h 584200"/>
              <a:gd name="connsiteX11" fmla="*/ 3293533 w 4732866"/>
              <a:gd name="connsiteY11" fmla="*/ 567267 h 584200"/>
              <a:gd name="connsiteX12" fmla="*/ 3615266 w 4732866"/>
              <a:gd name="connsiteY12" fmla="*/ 558800 h 584200"/>
              <a:gd name="connsiteX13" fmla="*/ 3911600 w 4732866"/>
              <a:gd name="connsiteY13" fmla="*/ 584200 h 584200"/>
              <a:gd name="connsiteX14" fmla="*/ 4199466 w 4732866"/>
              <a:gd name="connsiteY14" fmla="*/ 440267 h 584200"/>
              <a:gd name="connsiteX15" fmla="*/ 4453466 w 4732866"/>
              <a:gd name="connsiteY15" fmla="*/ 364067 h 584200"/>
              <a:gd name="connsiteX16" fmla="*/ 4732866 w 4732866"/>
              <a:gd name="connsiteY16" fmla="*/ 16933 h 5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32866" h="584200">
                <a:moveTo>
                  <a:pt x="0" y="330200"/>
                </a:moveTo>
                <a:lnTo>
                  <a:pt x="262466" y="169333"/>
                </a:lnTo>
                <a:lnTo>
                  <a:pt x="575733" y="279400"/>
                </a:lnTo>
                <a:lnTo>
                  <a:pt x="905933" y="169333"/>
                </a:lnTo>
                <a:lnTo>
                  <a:pt x="1193800" y="296333"/>
                </a:lnTo>
                <a:lnTo>
                  <a:pt x="1507066" y="431800"/>
                </a:lnTo>
                <a:lnTo>
                  <a:pt x="1794933" y="457200"/>
                </a:lnTo>
                <a:lnTo>
                  <a:pt x="2091266" y="423333"/>
                </a:lnTo>
                <a:lnTo>
                  <a:pt x="2413000" y="101600"/>
                </a:lnTo>
                <a:lnTo>
                  <a:pt x="2667000" y="0"/>
                </a:lnTo>
                <a:lnTo>
                  <a:pt x="2971800" y="431800"/>
                </a:lnTo>
                <a:lnTo>
                  <a:pt x="3293533" y="567267"/>
                </a:lnTo>
                <a:lnTo>
                  <a:pt x="3615266" y="558800"/>
                </a:lnTo>
                <a:lnTo>
                  <a:pt x="3911600" y="584200"/>
                </a:lnTo>
                <a:lnTo>
                  <a:pt x="4199466" y="440267"/>
                </a:lnTo>
                <a:lnTo>
                  <a:pt x="4453466" y="364067"/>
                </a:lnTo>
                <a:lnTo>
                  <a:pt x="4732866" y="16933"/>
                </a:lnTo>
              </a:path>
            </a:pathLst>
          </a:cu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7" name="타원형 설명선 246"/>
          <p:cNvSpPr/>
          <p:nvPr/>
        </p:nvSpPr>
        <p:spPr>
          <a:xfrm>
            <a:off x="3510453" y="149319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8" name="타원형 설명선 247"/>
          <p:cNvSpPr/>
          <p:nvPr/>
        </p:nvSpPr>
        <p:spPr>
          <a:xfrm>
            <a:off x="5158233" y="162604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" name="타원형 설명선 265"/>
          <p:cNvSpPr/>
          <p:nvPr/>
        </p:nvSpPr>
        <p:spPr>
          <a:xfrm>
            <a:off x="32687" y="47667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" name="타원형 설명선 205"/>
          <p:cNvSpPr/>
          <p:nvPr/>
        </p:nvSpPr>
        <p:spPr>
          <a:xfrm>
            <a:off x="5092809" y="2712071"/>
            <a:ext cx="216000" cy="216000"/>
          </a:xfrm>
          <a:prstGeom prst="wedgeEllipseCallout">
            <a:avLst>
              <a:gd name="adj1" fmla="val 81998"/>
              <a:gd name="adj2" fmla="val 4900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/>
              <a:t>11</a:t>
            </a:r>
            <a:endParaRPr lang="ko-KR" altLang="en-US" sz="900" b="1" dirty="0"/>
          </a:p>
        </p:txBody>
      </p:sp>
      <p:sp>
        <p:nvSpPr>
          <p:cNvPr id="105" name="타원형 설명선 225">
            <a:extLst>
              <a:ext uri="{FF2B5EF4-FFF2-40B4-BE49-F238E27FC236}">
                <a16:creationId xmlns:a16="http://schemas.microsoft.com/office/drawing/2014/main" id="{CF597FC0-18BC-4464-81B7-3787C73C21D3}"/>
              </a:ext>
            </a:extLst>
          </p:cNvPr>
          <p:cNvSpPr/>
          <p:nvPr/>
        </p:nvSpPr>
        <p:spPr>
          <a:xfrm>
            <a:off x="6825208" y="2712071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타원형 설명선 225">
            <a:extLst>
              <a:ext uri="{FF2B5EF4-FFF2-40B4-BE49-F238E27FC236}">
                <a16:creationId xmlns:a16="http://schemas.microsoft.com/office/drawing/2014/main" id="{E9DC1823-2444-4D88-BA9B-A43DF0887DD6}"/>
              </a:ext>
            </a:extLst>
          </p:cNvPr>
          <p:cNvSpPr/>
          <p:nvPr/>
        </p:nvSpPr>
        <p:spPr>
          <a:xfrm>
            <a:off x="140687" y="3068960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타원형 설명선 225">
            <a:extLst>
              <a:ext uri="{FF2B5EF4-FFF2-40B4-BE49-F238E27FC236}">
                <a16:creationId xmlns:a16="http://schemas.microsoft.com/office/drawing/2014/main" id="{EEF1539F-EF03-4191-BBB6-63270A904D22}"/>
              </a:ext>
            </a:extLst>
          </p:cNvPr>
          <p:cNvSpPr/>
          <p:nvPr/>
        </p:nvSpPr>
        <p:spPr>
          <a:xfrm>
            <a:off x="1571303" y="83671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타원형 설명선 225">
            <a:extLst>
              <a:ext uri="{FF2B5EF4-FFF2-40B4-BE49-F238E27FC236}">
                <a16:creationId xmlns:a16="http://schemas.microsoft.com/office/drawing/2014/main" id="{A06766AA-D64B-45D3-9282-406A904E64F2}"/>
              </a:ext>
            </a:extLst>
          </p:cNvPr>
          <p:cNvSpPr/>
          <p:nvPr/>
        </p:nvSpPr>
        <p:spPr>
          <a:xfrm>
            <a:off x="7575398" y="2712071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84A4462-E91F-4BFC-8352-1A29B20D2081}"/>
              </a:ext>
            </a:extLst>
          </p:cNvPr>
          <p:cNvSpPr/>
          <p:nvPr/>
        </p:nvSpPr>
        <p:spPr>
          <a:xfrm>
            <a:off x="158528" y="1268760"/>
            <a:ext cx="1194072" cy="378028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361A7A3-9571-4EB5-A61B-F12B71398BC2}"/>
              </a:ext>
            </a:extLst>
          </p:cNvPr>
          <p:cNvSpPr/>
          <p:nvPr/>
        </p:nvSpPr>
        <p:spPr>
          <a:xfrm>
            <a:off x="301971" y="853280"/>
            <a:ext cx="618008" cy="172515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한전 사용량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09F3342-54CA-4007-A236-953B73293202}"/>
              </a:ext>
            </a:extLst>
          </p:cNvPr>
          <p:cNvSpPr/>
          <p:nvPr/>
        </p:nvSpPr>
        <p:spPr>
          <a:xfrm>
            <a:off x="6023595" y="894153"/>
            <a:ext cx="513581" cy="230591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C9B5DED-1456-4D7C-809B-3B2CE7EE18FC}"/>
              </a:ext>
            </a:extLst>
          </p:cNvPr>
          <p:cNvSpPr/>
          <p:nvPr/>
        </p:nvSpPr>
        <p:spPr>
          <a:xfrm>
            <a:off x="5310012" y="925036"/>
            <a:ext cx="654841" cy="172515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---- </a:t>
            </a:r>
            <a:r>
              <a:rPr lang="ko-KR" altLang="en-US" sz="5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한전 사용량</a:t>
            </a:r>
          </a:p>
        </p:txBody>
      </p: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BC229449-9873-48CD-AC8A-526FF93F9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873502"/>
              </p:ext>
            </p:extLst>
          </p:nvPr>
        </p:nvGraphicFramePr>
        <p:xfrm>
          <a:off x="548975" y="4763342"/>
          <a:ext cx="3670866" cy="187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815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834067">
                  <a:extLst>
                    <a:ext uri="{9D8B030D-6E8A-4147-A177-3AD203B41FA5}">
                      <a16:colId xmlns:a16="http://schemas.microsoft.com/office/drawing/2014/main" val="8834736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1077432929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2248332737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701571902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290373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440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1440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10080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43200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525600</a:t>
                      </a:r>
                      <a:endParaRPr lang="ko-KR" altLang="en-US" sz="6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672409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553682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672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2880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35040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293162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336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1440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17520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23599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022207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168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720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8760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961310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24359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365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81172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30(</a:t>
                      </a:r>
                      <a:r>
                        <a:rPr lang="ko-KR" altLang="en-US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500751"/>
                  </a:ext>
                </a:extLst>
              </a:tr>
              <a:tr h="14403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 데이터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993451"/>
                  </a:ext>
                </a:extLst>
              </a:tr>
              <a:tr h="1440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하단 캡션 표시 개수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841290"/>
                  </a:ext>
                </a:extLst>
              </a:tr>
            </a:tbl>
          </a:graphicData>
        </a:graphic>
      </p:graphicFrame>
      <p:sp>
        <p:nvSpPr>
          <p:cNvPr id="77" name="타원형 설명선 225">
            <a:extLst>
              <a:ext uri="{FF2B5EF4-FFF2-40B4-BE49-F238E27FC236}">
                <a16:creationId xmlns:a16="http://schemas.microsoft.com/office/drawing/2014/main" id="{1950C9A0-7F08-4B46-9A1E-550A1DDC608C}"/>
              </a:ext>
            </a:extLst>
          </p:cNvPr>
          <p:cNvSpPr/>
          <p:nvPr/>
        </p:nvSpPr>
        <p:spPr>
          <a:xfrm>
            <a:off x="328953" y="4581128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F426A8A0-6E90-4DD7-AD92-6D2FD7685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966751"/>
              </p:ext>
            </p:extLst>
          </p:nvPr>
        </p:nvGraphicFramePr>
        <p:xfrm>
          <a:off x="4619277" y="4849930"/>
          <a:ext cx="3342024" cy="1246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256">
                  <a:extLst>
                    <a:ext uri="{9D8B030D-6E8A-4147-A177-3AD203B41FA5}">
                      <a16:colId xmlns:a16="http://schemas.microsoft.com/office/drawing/2014/main" val="621667645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1308233075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248332737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333210567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899356341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787753370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75509663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2371680936"/>
                    </a:ext>
                  </a:extLst>
                </a:gridCol>
                <a:gridCol w="352471">
                  <a:extLst>
                    <a:ext uri="{9D8B030D-6E8A-4147-A177-3AD203B41FA5}">
                      <a16:colId xmlns:a16="http://schemas.microsoft.com/office/drawing/2014/main" val="1293287838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조회기간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58119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53518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96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881618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48</a:t>
                      </a:r>
                      <a:endParaRPr lang="ko-KR" altLang="en-US" sz="800" b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23599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961310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81172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간격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trike="sng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993451"/>
                  </a:ext>
                </a:extLst>
              </a:tr>
            </a:tbl>
          </a:graphicData>
        </a:graphic>
      </p:graphicFrame>
      <p:sp>
        <p:nvSpPr>
          <p:cNvPr id="81" name="타원형 설명선 225">
            <a:extLst>
              <a:ext uri="{FF2B5EF4-FFF2-40B4-BE49-F238E27FC236}">
                <a16:creationId xmlns:a16="http://schemas.microsoft.com/office/drawing/2014/main" id="{1A525501-E855-4119-8335-EAB176959CAF}"/>
              </a:ext>
            </a:extLst>
          </p:cNvPr>
          <p:cNvSpPr/>
          <p:nvPr/>
        </p:nvSpPr>
        <p:spPr>
          <a:xfrm>
            <a:off x="4311558" y="4709956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71D84AB-1E17-4367-863B-DC52F994AD98}"/>
              </a:ext>
            </a:extLst>
          </p:cNvPr>
          <p:cNvSpPr/>
          <p:nvPr/>
        </p:nvSpPr>
        <p:spPr>
          <a:xfrm>
            <a:off x="269242" y="3573016"/>
            <a:ext cx="7924118" cy="216000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2080432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저장하기 팝업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공통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저장하기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90171"/>
              </p:ext>
            </p:extLst>
          </p:nvPr>
        </p:nvGraphicFramePr>
        <p:xfrm>
          <a:off x="8469313" y="276225"/>
          <a:ext cx="1404000" cy="3894528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데이터 저장 팝업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다음 각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Sub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모니터링 화면 內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데이터 저장하기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’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버튼을 클릭하면 출력되는 공용 팝업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팝업은 공용으로 사용하나 저장되는 각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Sub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모니터링 화면에 맞는 데이터가 저장됨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저장 파일 형식은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csv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형태의 엑셀 파일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파일명 지정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저장될 파일명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입력창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파일형식 표시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csv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형식으로 고정하고 변경되지 않음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저장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버튼 클릭 시에 파일 저장을 진행하고 파일 저장에 시간이 소요되는 경우에는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Waiting Animation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취소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작업을 취소하고 팝업을 출력시킨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Sub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모니터링 화면으로 복귀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ewpsp_scr_015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E198128F-C7F7-4D54-AA57-F56298473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6" y="548680"/>
            <a:ext cx="8303665" cy="3728269"/>
          </a:xfrm>
          <a:prstGeom prst="rect">
            <a:avLst/>
          </a:prstGeom>
        </p:spPr>
      </p:pic>
      <p:pic>
        <p:nvPicPr>
          <p:cNvPr id="90" name="Picture 2" descr="ììë¡ ì ì¥íê¸° íìì ëí ì´ë¯¸ì§ ê²ìê²°ê³¼">
            <a:extLst>
              <a:ext uri="{FF2B5EF4-FFF2-40B4-BE49-F238E27FC236}">
                <a16:creationId xmlns:a16="http://schemas.microsoft.com/office/drawing/2014/main" id="{E7B49111-3943-408B-A9D7-A48AD667E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430" y="1412776"/>
            <a:ext cx="3805906" cy="1786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7" name="타원형 설명선 226"/>
          <p:cNvSpPr/>
          <p:nvPr/>
        </p:nvSpPr>
        <p:spPr>
          <a:xfrm>
            <a:off x="3140450" y="262888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5289455" y="2639957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3141561" y="286283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5294535" y="287213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2326203" y="1316090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3700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C7DC194-015B-44B4-954D-5E8D60636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1" y="348718"/>
            <a:ext cx="8394517" cy="3512330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현황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현황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451688"/>
              </p:ext>
            </p:extLst>
          </p:nvPr>
        </p:nvGraphicFramePr>
        <p:xfrm>
          <a:off x="8469313" y="276225"/>
          <a:ext cx="1404000" cy="4845504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선택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현황을 표시할 장치를 선택한다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선택 가능한 장치는 다음과 같다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IOE, PCS, BMS, PV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메뉴의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모니터링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에서 선택된 하위 메뉴의 장치에 라디오 버튼이 활성화 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데이터 갱신 시간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-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조회 시간 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6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 현황 표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라디오 버튼에서 선택된 종류의 장치 리스트를 보여주는 표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페이지에서는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IOE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 리스트 표시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*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다른 장치는 다음 페이지 참고</a:t>
                      </a:r>
                      <a:endParaRPr lang="en-US" altLang="ko-KR" sz="800" b="1" i="0" u="none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데이터 저장하기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각 장치 별 현황 리스트를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csv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형태로 저장한다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에너지 모니터링과 다르게 장치 모니터링에서는 모든 장치 현황을 한 번에 저장한다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상세 보기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리스트 상에 선택된 장치 항목의 상세정보를 보여주는 팝업을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표에서 장치 항목을 더블 클릭해도 동일한 동작 진행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ewpsp_scr_016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7" name="타원형 설명선 226"/>
          <p:cNvSpPr/>
          <p:nvPr/>
        </p:nvSpPr>
        <p:spPr>
          <a:xfrm>
            <a:off x="7476321" y="63916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7533565" y="86480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166482" y="116076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5430245" y="692720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421E6B4-A01F-40FB-844F-E8452D1D5BCC}"/>
              </a:ext>
            </a:extLst>
          </p:cNvPr>
          <p:cNvSpPr/>
          <p:nvPr/>
        </p:nvSpPr>
        <p:spPr>
          <a:xfrm>
            <a:off x="5745088" y="908720"/>
            <a:ext cx="1728192" cy="3600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형 설명선 243">
            <a:extLst>
              <a:ext uri="{FF2B5EF4-FFF2-40B4-BE49-F238E27FC236}">
                <a16:creationId xmlns:a16="http://schemas.microsoft.com/office/drawing/2014/main" id="{88210255-9E72-4B00-A04C-D59BFB45C839}"/>
              </a:ext>
            </a:extLst>
          </p:cNvPr>
          <p:cNvSpPr/>
          <p:nvPr/>
        </p:nvSpPr>
        <p:spPr>
          <a:xfrm>
            <a:off x="7363027" y="293297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44D111-E4C5-41BF-B1E0-21E65A0AD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923" y="1535769"/>
            <a:ext cx="384421" cy="151830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3F82F3FC-EFD1-49F9-AF28-B5D03D497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923" y="1761331"/>
            <a:ext cx="384421" cy="15183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70B0AC98-BD84-486F-AAAC-758966270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923" y="1986893"/>
            <a:ext cx="384421" cy="15183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4C809A99-D54C-4F08-8004-91DF2AD60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923" y="2212455"/>
            <a:ext cx="384421" cy="15183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E0D6D43B-AAE3-49E2-BA9B-B566891E8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923" y="2438017"/>
            <a:ext cx="384421" cy="15183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107B8CA2-3E67-4532-9FE3-BF2A19F99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923" y="2663579"/>
            <a:ext cx="384421" cy="15183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2E5D90EF-659E-4831-8108-A8EFAFC58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923" y="2889141"/>
            <a:ext cx="384421" cy="151830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ED924269-EDC8-4B66-B185-E6EBEE403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923" y="3114700"/>
            <a:ext cx="384421" cy="151830"/>
          </a:xfrm>
          <a:prstGeom prst="rect">
            <a:avLst/>
          </a:prstGeom>
        </p:spPr>
      </p:pic>
      <p:sp>
        <p:nvSpPr>
          <p:cNvPr id="67" name="직사각형 66">
            <a:extLst>
              <a:ext uri="{FF2B5EF4-FFF2-40B4-BE49-F238E27FC236}">
                <a16:creationId xmlns:a16="http://schemas.microsoft.com/office/drawing/2014/main" id="{23CA8AA2-E5DD-4F47-B145-84B09E8AB475}"/>
              </a:ext>
            </a:extLst>
          </p:cNvPr>
          <p:cNvSpPr/>
          <p:nvPr/>
        </p:nvSpPr>
        <p:spPr>
          <a:xfrm>
            <a:off x="3936499" y="3412960"/>
            <a:ext cx="576064" cy="230591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68" name="말풍선: 모서리가 둥근 사각형 67">
            <a:extLst>
              <a:ext uri="{FF2B5EF4-FFF2-40B4-BE49-F238E27FC236}">
                <a16:creationId xmlns:a16="http://schemas.microsoft.com/office/drawing/2014/main" id="{48D6D678-3F11-48E5-B7DB-BA790BF360C6}"/>
              </a:ext>
            </a:extLst>
          </p:cNvPr>
          <p:cNvSpPr/>
          <p:nvPr/>
        </p:nvSpPr>
        <p:spPr>
          <a:xfrm>
            <a:off x="2345722" y="3864926"/>
            <a:ext cx="2319246" cy="1580298"/>
          </a:xfrm>
          <a:prstGeom prst="wedgeRoundRectCallout">
            <a:avLst>
              <a:gd name="adj1" fmla="val 31427"/>
              <a:gd name="adj2" fmla="val -60838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상세보기는 선택된 장치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1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대의 상세 정보를 보는 기능이므로 항목 별로 상세보기를 할 수 있는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UI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구성이 필요함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.</a:t>
            </a:r>
          </a:p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예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) </a:t>
            </a:r>
          </a:p>
          <a:p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1.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위에 변경해 놓은 것처럼 항목 별로 상세보기를 배치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(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단순하게 돋보기 아이콘만 표시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)</a:t>
            </a:r>
          </a:p>
          <a:p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 선택이 안되고 하나의 선택만 되도록 하며 선택 시에 기존 하단 상세보기 버튼이 활성화</a:t>
            </a:r>
          </a:p>
        </p:txBody>
      </p:sp>
    </p:spTree>
    <p:extLst>
      <p:ext uri="{BB962C8B-B14F-4D97-AF65-F5344CB8AC3E}">
        <p14:creationId xmlns:p14="http://schemas.microsoft.com/office/powerpoint/2010/main" val="3290069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현황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현황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227652"/>
              </p:ext>
            </p:extLst>
          </p:nvPr>
        </p:nvGraphicFramePr>
        <p:xfrm>
          <a:off x="8469313" y="276225"/>
          <a:ext cx="1404000" cy="1580352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4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PCS </a:t>
                      </a:r>
                      <a:r>
                        <a:rPr lang="ko-KR" altLang="en-US" sz="800" b="1" i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 리스트</a:t>
                      </a:r>
                      <a:endParaRPr lang="en-US" altLang="ko-KR" sz="800" b="1" i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PCS</a:t>
                      </a:r>
                      <a:r>
                        <a:rPr lang="ko-KR" altLang="en-US" sz="800" b="1" i="0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장치의 표 컬럼은 확정 후 업데이트 예정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35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BMS</a:t>
                      </a:r>
                      <a:r>
                        <a:rPr lang="ko-KR" altLang="en-US" sz="800" b="1" i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장치 리스트</a:t>
                      </a:r>
                      <a:endParaRPr lang="en-US" altLang="ko-KR" sz="800" b="1" i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BMS </a:t>
                      </a:r>
                      <a:r>
                        <a:rPr lang="ko-KR" altLang="en-US" sz="800" b="1" i="0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장치의 표 컬럼은 확정 후 업데이트 예정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PV </a:t>
                      </a:r>
                      <a:r>
                        <a:rPr lang="ko-KR" altLang="en-US" sz="800" b="1" i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 리스트</a:t>
                      </a:r>
                      <a:endParaRPr lang="en-US" altLang="ko-KR" sz="800" b="1" i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PV</a:t>
                      </a:r>
                      <a:r>
                        <a:rPr lang="ko-KR" altLang="en-US" sz="800" b="1" i="0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장치의 표 컬럼은 확정 후 업데이트 예정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ewpsp_scr_016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14E8AEF-8EA8-4944-AE52-FF98A1FB7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19" y="782289"/>
            <a:ext cx="8208912" cy="466293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9D066E92-3969-4163-8951-1B55C00C795F}"/>
              </a:ext>
            </a:extLst>
          </p:cNvPr>
          <p:cNvSpPr/>
          <p:nvPr/>
        </p:nvSpPr>
        <p:spPr>
          <a:xfrm>
            <a:off x="4531730" y="909087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025361-6332-409A-9ED3-B4DC569F15A4}"/>
              </a:ext>
            </a:extLst>
          </p:cNvPr>
          <p:cNvSpPr/>
          <p:nvPr/>
        </p:nvSpPr>
        <p:spPr>
          <a:xfrm>
            <a:off x="5610498" y="909087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96A8CDE-D090-4223-824B-6E5F732F96F5}"/>
              </a:ext>
            </a:extLst>
          </p:cNvPr>
          <p:cNvSpPr/>
          <p:nvPr/>
        </p:nvSpPr>
        <p:spPr>
          <a:xfrm>
            <a:off x="6641480" y="909087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37ADA0F-08A8-41EA-A8F7-52F93AD8E01C}"/>
              </a:ext>
            </a:extLst>
          </p:cNvPr>
          <p:cNvSpPr/>
          <p:nvPr/>
        </p:nvSpPr>
        <p:spPr>
          <a:xfrm>
            <a:off x="7669915" y="908720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DC52973-FB1B-4E3E-AF29-3E272387B2E7}"/>
              </a:ext>
            </a:extLst>
          </p:cNvPr>
          <p:cNvSpPr/>
          <p:nvPr/>
        </p:nvSpPr>
        <p:spPr>
          <a:xfrm>
            <a:off x="6473243" y="1004202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15A4F073-2990-4297-A95B-4D06A4AABA02}"/>
              </a:ext>
            </a:extLst>
          </p:cNvPr>
          <p:cNvSpPr/>
          <p:nvPr/>
        </p:nvSpPr>
        <p:spPr>
          <a:xfrm>
            <a:off x="7487953" y="997514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5A105594-51EA-453D-B27C-FB5BACB55DE5}"/>
              </a:ext>
            </a:extLst>
          </p:cNvPr>
          <p:cNvSpPr/>
          <p:nvPr/>
        </p:nvSpPr>
        <p:spPr>
          <a:xfrm>
            <a:off x="5473794" y="998776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7CF5510C-8443-4E82-8117-F93466110AD0}"/>
              </a:ext>
            </a:extLst>
          </p:cNvPr>
          <p:cNvSpPr/>
          <p:nvPr/>
        </p:nvSpPr>
        <p:spPr>
          <a:xfrm>
            <a:off x="4402602" y="991954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F52A9327-879E-4D04-A25A-D3C7F302B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712113"/>
              </p:ext>
            </p:extLst>
          </p:nvPr>
        </p:nvGraphicFramePr>
        <p:xfrm>
          <a:off x="243249" y="1290967"/>
          <a:ext cx="7992888" cy="862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NO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Site Name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Site ID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Device Name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Device ID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PCS</a:t>
                      </a:r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Staus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C/D Status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PCS Message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Status Time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PCS_01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41331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Charge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PCS_02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41332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STOP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AC</a:t>
                      </a:r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over current </a:t>
                      </a:r>
                    </a:p>
                    <a:p>
                      <a:pPr algn="ctr" latinLnBrk="1"/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R-Phase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" name="직사각형 55">
            <a:extLst>
              <a:ext uri="{FF2B5EF4-FFF2-40B4-BE49-F238E27FC236}">
                <a16:creationId xmlns:a16="http://schemas.microsoft.com/office/drawing/2014/main" id="{6238B772-12EA-429C-96EC-AFAAC3CBDFFD}"/>
              </a:ext>
            </a:extLst>
          </p:cNvPr>
          <p:cNvSpPr/>
          <p:nvPr/>
        </p:nvSpPr>
        <p:spPr>
          <a:xfrm>
            <a:off x="4531730" y="235005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46B6C4C-0796-4106-967D-B45ABDEF8BD4}"/>
              </a:ext>
            </a:extLst>
          </p:cNvPr>
          <p:cNvSpPr/>
          <p:nvPr/>
        </p:nvSpPr>
        <p:spPr>
          <a:xfrm>
            <a:off x="5610498" y="235005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7FA6C65-477D-4EC2-8C5D-42BD31959168}"/>
              </a:ext>
            </a:extLst>
          </p:cNvPr>
          <p:cNvSpPr/>
          <p:nvPr/>
        </p:nvSpPr>
        <p:spPr>
          <a:xfrm>
            <a:off x="6641480" y="235005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E1C7651-D426-42B3-A708-6EE204F1E145}"/>
              </a:ext>
            </a:extLst>
          </p:cNvPr>
          <p:cNvSpPr/>
          <p:nvPr/>
        </p:nvSpPr>
        <p:spPr>
          <a:xfrm>
            <a:off x="7669915" y="234968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96AA616D-964D-41B8-8FB9-72F08F689665}"/>
              </a:ext>
            </a:extLst>
          </p:cNvPr>
          <p:cNvSpPr/>
          <p:nvPr/>
        </p:nvSpPr>
        <p:spPr>
          <a:xfrm>
            <a:off x="6513464" y="2438479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E42EBB6E-0C90-4683-998C-67BBC0749851}"/>
              </a:ext>
            </a:extLst>
          </p:cNvPr>
          <p:cNvSpPr/>
          <p:nvPr/>
        </p:nvSpPr>
        <p:spPr>
          <a:xfrm>
            <a:off x="5466574" y="243847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54269F51-E8DC-4F83-A43A-EF7E40A45603}"/>
              </a:ext>
            </a:extLst>
          </p:cNvPr>
          <p:cNvSpPr/>
          <p:nvPr/>
        </p:nvSpPr>
        <p:spPr>
          <a:xfrm>
            <a:off x="4398745" y="2436900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654ADD95-2F9B-44C4-AC90-633E2B290C0F}"/>
              </a:ext>
            </a:extLst>
          </p:cNvPr>
          <p:cNvSpPr/>
          <p:nvPr/>
        </p:nvSpPr>
        <p:spPr>
          <a:xfrm>
            <a:off x="7487953" y="243847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8A893887-8A96-4473-9B6E-2EEA9DED7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379907"/>
              </p:ext>
            </p:extLst>
          </p:nvPr>
        </p:nvGraphicFramePr>
        <p:xfrm>
          <a:off x="243249" y="2731932"/>
          <a:ext cx="7992888" cy="862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BMS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C/D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baseline="0" dirty="0" err="1">
                          <a:solidFill>
                            <a:schemeClr val="bg1"/>
                          </a:solidFill>
                        </a:rPr>
                        <a:t>Satus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BMS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BMS_01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Charge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BMS_02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Over</a:t>
                      </a:r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cell Voltage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" name="직사각형 71">
            <a:extLst>
              <a:ext uri="{FF2B5EF4-FFF2-40B4-BE49-F238E27FC236}">
                <a16:creationId xmlns:a16="http://schemas.microsoft.com/office/drawing/2014/main" id="{5E2F0D24-7F67-43AB-9CB7-7BE2C9824CA3}"/>
              </a:ext>
            </a:extLst>
          </p:cNvPr>
          <p:cNvSpPr/>
          <p:nvPr/>
        </p:nvSpPr>
        <p:spPr>
          <a:xfrm>
            <a:off x="4531730" y="38614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71BAAED-BF32-412D-BCE8-3665F2A4509C}"/>
              </a:ext>
            </a:extLst>
          </p:cNvPr>
          <p:cNvSpPr/>
          <p:nvPr/>
        </p:nvSpPr>
        <p:spPr>
          <a:xfrm>
            <a:off x="5610498" y="38614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6D9B7B9-16EB-4E42-9316-E06C671A3AC2}"/>
              </a:ext>
            </a:extLst>
          </p:cNvPr>
          <p:cNvSpPr/>
          <p:nvPr/>
        </p:nvSpPr>
        <p:spPr>
          <a:xfrm>
            <a:off x="6641480" y="38614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0ED4063-A89A-4BE9-A585-1DFDA80C826D}"/>
              </a:ext>
            </a:extLst>
          </p:cNvPr>
          <p:cNvSpPr/>
          <p:nvPr/>
        </p:nvSpPr>
        <p:spPr>
          <a:xfrm>
            <a:off x="7669915" y="3861048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2BF96DCB-CBCB-4DC8-A7CE-F3417E61FC5A}"/>
              </a:ext>
            </a:extLst>
          </p:cNvPr>
          <p:cNvSpPr/>
          <p:nvPr/>
        </p:nvSpPr>
        <p:spPr>
          <a:xfrm>
            <a:off x="7534296" y="3944322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C2D7716A-932B-474B-8EA5-87CF58C1BAD9}"/>
              </a:ext>
            </a:extLst>
          </p:cNvPr>
          <p:cNvSpPr/>
          <p:nvPr/>
        </p:nvSpPr>
        <p:spPr>
          <a:xfrm>
            <a:off x="5466574" y="3949842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7E1996F4-6FE5-4B89-8724-DECA5B88DCED}"/>
              </a:ext>
            </a:extLst>
          </p:cNvPr>
          <p:cNvSpPr/>
          <p:nvPr/>
        </p:nvSpPr>
        <p:spPr>
          <a:xfrm>
            <a:off x="6473243" y="3956530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AE780E4C-4BD8-46A7-A039-0BAA1EFDEB3B}"/>
              </a:ext>
            </a:extLst>
          </p:cNvPr>
          <p:cNvSpPr/>
          <p:nvPr/>
        </p:nvSpPr>
        <p:spPr>
          <a:xfrm>
            <a:off x="4396111" y="3948648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E1D56BC5-D1AF-4DEB-8D91-227481FAA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868137"/>
              </p:ext>
            </p:extLst>
          </p:nvPr>
        </p:nvGraphicFramePr>
        <p:xfrm>
          <a:off x="243249" y="4243295"/>
          <a:ext cx="7992888" cy="862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13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08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Temperature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51 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Bulk UV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7" name="타원형 설명선 226"/>
          <p:cNvSpPr/>
          <p:nvPr/>
        </p:nvSpPr>
        <p:spPr>
          <a:xfrm>
            <a:off x="50272" y="246506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50272" y="397124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50272" y="1063864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1E62319-B855-4AE7-844A-0F13D4E9B1DA}"/>
              </a:ext>
            </a:extLst>
          </p:cNvPr>
          <p:cNvSpPr/>
          <p:nvPr/>
        </p:nvSpPr>
        <p:spPr>
          <a:xfrm>
            <a:off x="5322524" y="877613"/>
            <a:ext cx="673646" cy="3600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9BD14B93-BA4A-4019-AF5B-B77EBFD968F1}"/>
              </a:ext>
            </a:extLst>
          </p:cNvPr>
          <p:cNvSpPr/>
          <p:nvPr/>
        </p:nvSpPr>
        <p:spPr>
          <a:xfrm>
            <a:off x="6411632" y="2312226"/>
            <a:ext cx="673646" cy="3600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D28219C8-FAAC-4653-8A56-0031C363574D}"/>
              </a:ext>
            </a:extLst>
          </p:cNvPr>
          <p:cNvSpPr/>
          <p:nvPr/>
        </p:nvSpPr>
        <p:spPr>
          <a:xfrm>
            <a:off x="7427885" y="3823545"/>
            <a:ext cx="673646" cy="3600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883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그림 83">
            <a:extLst>
              <a:ext uri="{FF2B5EF4-FFF2-40B4-BE49-F238E27FC236}">
                <a16:creationId xmlns:a16="http://schemas.microsoft.com/office/drawing/2014/main" id="{A117056B-6E99-4229-8EA3-A8FC890B8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1" y="348718"/>
            <a:ext cx="8394517" cy="3512330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현황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IOE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상세보기 팝업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IOE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상세보기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239572"/>
              </p:ext>
            </p:extLst>
          </p:nvPr>
        </p:nvGraphicFramePr>
        <p:xfrm>
          <a:off x="8469313" y="276225"/>
          <a:ext cx="1404000" cy="3137472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명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장치 명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정보 조회 시간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-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장치 정보 조회 날짜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시간 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6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Site</a:t>
                      </a: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및 장치 기본 정보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- Site,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장치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기본 정보 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장치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ID,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장치그룹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Site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사이트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ID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연결 상태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연결 상태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Connected, Disconnected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 메시지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 발생 시의 알람 내용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창 닫기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상세보기 창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860102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ewpsp_scr_017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8EA793B-0B4C-42CC-B42C-EA2F444EE644}"/>
              </a:ext>
            </a:extLst>
          </p:cNvPr>
          <p:cNvGrpSpPr/>
          <p:nvPr/>
        </p:nvGrpSpPr>
        <p:grpSpPr>
          <a:xfrm>
            <a:off x="1496616" y="1484784"/>
            <a:ext cx="5191327" cy="2043838"/>
            <a:chOff x="373622" y="737091"/>
            <a:chExt cx="5191327" cy="2043838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78C61B54-2B70-4D77-80B7-C508B9EFBF4B}"/>
                </a:ext>
              </a:extLst>
            </p:cNvPr>
            <p:cNvSpPr/>
            <p:nvPr/>
          </p:nvSpPr>
          <p:spPr>
            <a:xfrm>
              <a:off x="373622" y="737091"/>
              <a:ext cx="5191327" cy="20438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200000"/>
                </a:lnSpc>
              </a:pPr>
              <a:endPara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4E90EA2-47BC-4344-BD68-ECE1294DF95A}"/>
                </a:ext>
              </a:extLst>
            </p:cNvPr>
            <p:cNvSpPr txBox="1"/>
            <p:nvPr/>
          </p:nvSpPr>
          <p:spPr>
            <a:xfrm>
              <a:off x="583571" y="925139"/>
              <a:ext cx="10959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IOE_1</a:t>
              </a:r>
              <a:endPara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D27CE02-A661-469C-AC6C-14797D295D61}"/>
                </a:ext>
              </a:extLst>
            </p:cNvPr>
            <p:cNvSpPr txBox="1"/>
            <p:nvPr/>
          </p:nvSpPr>
          <p:spPr>
            <a:xfrm>
              <a:off x="2926628" y="1340889"/>
              <a:ext cx="6736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Site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명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B427E0C-54F5-430C-8A54-CA0B30B7B994}"/>
                </a:ext>
              </a:extLst>
            </p:cNvPr>
            <p:cNvSpPr txBox="1"/>
            <p:nvPr/>
          </p:nvSpPr>
          <p:spPr>
            <a:xfrm>
              <a:off x="4170022" y="1340889"/>
              <a:ext cx="6867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Site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868AB9B-1999-4108-ACA4-5C1EB727C88A}"/>
                </a:ext>
              </a:extLst>
            </p:cNvPr>
            <p:cNvSpPr txBox="1"/>
            <p:nvPr/>
          </p:nvSpPr>
          <p:spPr>
            <a:xfrm>
              <a:off x="3493111" y="1340889"/>
              <a:ext cx="8929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제일화성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65D2252-ED0B-4D5E-AA07-EE01F8F5A81D}"/>
                </a:ext>
              </a:extLst>
            </p:cNvPr>
            <p:cNvSpPr txBox="1"/>
            <p:nvPr/>
          </p:nvSpPr>
          <p:spPr>
            <a:xfrm>
              <a:off x="4744818" y="1340889"/>
              <a:ext cx="80923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10037202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EC142E8-871A-4C6E-9ABB-31A537CE3066}"/>
                </a:ext>
              </a:extLst>
            </p:cNvPr>
            <p:cNvSpPr txBox="1"/>
            <p:nvPr/>
          </p:nvSpPr>
          <p:spPr>
            <a:xfrm>
              <a:off x="567924" y="1340889"/>
              <a:ext cx="6736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장치 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B620C2E-3C2B-4E41-B044-519E74A3BFA6}"/>
                </a:ext>
              </a:extLst>
            </p:cNvPr>
            <p:cNvSpPr txBox="1"/>
            <p:nvPr/>
          </p:nvSpPr>
          <p:spPr>
            <a:xfrm>
              <a:off x="1145686" y="1340889"/>
              <a:ext cx="8759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41331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E58E5A5-FD98-478B-9271-A27D5035C23D}"/>
                </a:ext>
              </a:extLst>
            </p:cNvPr>
            <p:cNvSpPr txBox="1"/>
            <p:nvPr/>
          </p:nvSpPr>
          <p:spPr>
            <a:xfrm>
              <a:off x="632520" y="1782253"/>
              <a:ext cx="9360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연결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상태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0EA5EF7-B1C8-46F0-A8A5-FA4A1B8BBFD4}"/>
                </a:ext>
              </a:extLst>
            </p:cNvPr>
            <p:cNvSpPr txBox="1"/>
            <p:nvPr/>
          </p:nvSpPr>
          <p:spPr>
            <a:xfrm>
              <a:off x="1844824" y="1782253"/>
              <a:ext cx="99081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CONNECTED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BA40DD78-A7C2-4126-9A48-3E804A62D615}"/>
                </a:ext>
              </a:extLst>
            </p:cNvPr>
            <p:cNvSpPr/>
            <p:nvPr/>
          </p:nvSpPr>
          <p:spPr>
            <a:xfrm>
              <a:off x="3665966" y="970728"/>
              <a:ext cx="1808507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05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2018-06-15  2:39:01 PM</a:t>
              </a:r>
              <a:endPara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6A31D40-E7EE-47A3-9A8A-C0DE7CADDA26}"/>
                </a:ext>
              </a:extLst>
            </p:cNvPr>
            <p:cNvSpPr txBox="1"/>
            <p:nvPr/>
          </p:nvSpPr>
          <p:spPr>
            <a:xfrm>
              <a:off x="1648184" y="1340889"/>
              <a:ext cx="7937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장치 그룹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1EC79CF-BF51-4CAC-9100-67084E7FDB39}"/>
                </a:ext>
              </a:extLst>
            </p:cNvPr>
            <p:cNvSpPr txBox="1"/>
            <p:nvPr/>
          </p:nvSpPr>
          <p:spPr>
            <a:xfrm>
              <a:off x="2358156" y="1340889"/>
              <a:ext cx="8759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별관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_1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72EA1F6-3183-46BF-87A5-FA6C8A4F9B6D}"/>
                </a:ext>
              </a:extLst>
            </p:cNvPr>
            <p:cNvSpPr txBox="1"/>
            <p:nvPr/>
          </p:nvSpPr>
          <p:spPr>
            <a:xfrm>
              <a:off x="4744818" y="2420888"/>
              <a:ext cx="720080" cy="2539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DE8B782-5280-45D8-A9D5-5187334E4D80}"/>
                </a:ext>
              </a:extLst>
            </p:cNvPr>
            <p:cNvSpPr txBox="1"/>
            <p:nvPr/>
          </p:nvSpPr>
          <p:spPr>
            <a:xfrm>
              <a:off x="632520" y="2102659"/>
              <a:ext cx="9360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알람 메시지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DAFC637-DCB1-4F7D-A778-FDCA44EDD72E}"/>
                </a:ext>
              </a:extLst>
            </p:cNvPr>
            <p:cNvSpPr txBox="1"/>
            <p:nvPr/>
          </p:nvSpPr>
          <p:spPr>
            <a:xfrm>
              <a:off x="1721750" y="2122602"/>
              <a:ext cx="8759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68042484-69D6-496F-938A-A8DBCF50A0F1}"/>
                </a:ext>
              </a:extLst>
            </p:cNvPr>
            <p:cNvCxnSpPr/>
            <p:nvPr/>
          </p:nvCxnSpPr>
          <p:spPr>
            <a:xfrm>
              <a:off x="559973" y="1652653"/>
              <a:ext cx="486232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2" descr="enertalkì ëí ì´ë¯¸ì§ ê²ìê²°ê³¼">
              <a:extLst>
                <a:ext uri="{FF2B5EF4-FFF2-40B4-BE49-F238E27FC236}">
                  <a16:creationId xmlns:a16="http://schemas.microsoft.com/office/drawing/2014/main" id="{B4E4E39B-B2D5-4B51-9CB2-872D7C5E8D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9097" y="837833"/>
              <a:ext cx="423124" cy="4231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Picture 4" descr="connectedì ëí ì´ë¯¸ì§ ê²ìê²°ê³¼">
              <a:extLst>
                <a:ext uri="{FF2B5EF4-FFF2-40B4-BE49-F238E27FC236}">
                  <a16:creationId xmlns:a16="http://schemas.microsoft.com/office/drawing/2014/main" id="{53329641-A609-494E-B884-6B81BA7A52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3349" y="1771355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7" name="타원형 설명선 226"/>
          <p:cNvSpPr/>
          <p:nvPr/>
        </p:nvSpPr>
        <p:spPr>
          <a:xfrm>
            <a:off x="4587911" y="159067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1539514" y="241064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1453193" y="195968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1490565" y="1556070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타원형 설명선 243">
            <a:extLst>
              <a:ext uri="{FF2B5EF4-FFF2-40B4-BE49-F238E27FC236}">
                <a16:creationId xmlns:a16="http://schemas.microsoft.com/office/drawing/2014/main" id="{88210255-9E72-4B00-A04C-D59BFB45C839}"/>
              </a:ext>
            </a:extLst>
          </p:cNvPr>
          <p:cNvSpPr/>
          <p:nvPr/>
        </p:nvSpPr>
        <p:spPr>
          <a:xfrm>
            <a:off x="1543412" y="274292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타원형 설명선 265">
            <a:extLst>
              <a:ext uri="{FF2B5EF4-FFF2-40B4-BE49-F238E27FC236}">
                <a16:creationId xmlns:a16="http://schemas.microsoft.com/office/drawing/2014/main" id="{32606272-0531-4317-9F2E-56CEABEC5E5F}"/>
              </a:ext>
            </a:extLst>
          </p:cNvPr>
          <p:cNvSpPr/>
          <p:nvPr/>
        </p:nvSpPr>
        <p:spPr>
          <a:xfrm>
            <a:off x="5566138" y="298857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21881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FA439C-0FB2-4E17-A3C8-5C3BC2965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954" y="815548"/>
            <a:ext cx="5004328" cy="5099999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현황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PCS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상세보기 팝업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PCS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장치 상세보기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411904"/>
              </p:ext>
            </p:extLst>
          </p:nvPr>
        </p:nvGraphicFramePr>
        <p:xfrm>
          <a:off x="8469313" y="276225"/>
          <a:ext cx="1404000" cy="4519104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명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장치 명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정보 조회 시간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-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장치 정보 조회 날짜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시간 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Site</a:t>
                      </a: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및 장치 기본 정보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- Site,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장치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기본 정보 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장치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ID,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장치그룹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Site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사이트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ID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운전 상태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운전 상태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상태 값 확인 후 수정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 메시지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 발생 시의 알람 내용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AC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출력 정보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AC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출력 관련 정보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전력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역률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주파수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전력설정치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01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DC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출력 정보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DC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출력 관련 정보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운정상태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운전모드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충전량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1528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8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창 닫기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상세보기 창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ewpsp_scr_018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E378E4C-417D-46FC-8EB2-997074DCFB87}"/>
              </a:ext>
            </a:extLst>
          </p:cNvPr>
          <p:cNvSpPr txBox="1"/>
          <p:nvPr/>
        </p:nvSpPr>
        <p:spPr>
          <a:xfrm>
            <a:off x="378210" y="407514"/>
            <a:ext cx="2063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PCS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상세보기</a:t>
            </a:r>
          </a:p>
        </p:txBody>
      </p:sp>
      <p:sp>
        <p:nvSpPr>
          <p:cNvPr id="227" name="타원형 설명선 226"/>
          <p:cNvSpPr/>
          <p:nvPr/>
        </p:nvSpPr>
        <p:spPr>
          <a:xfrm>
            <a:off x="1780686" y="143948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1221229" y="261790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1070741" y="178852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1070741" y="327024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7" name="타원형 설명선 246"/>
          <p:cNvSpPr/>
          <p:nvPr/>
        </p:nvSpPr>
        <p:spPr>
          <a:xfrm>
            <a:off x="5118358" y="88432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" name="타원형 설명선 265"/>
          <p:cNvSpPr/>
          <p:nvPr/>
        </p:nvSpPr>
        <p:spPr>
          <a:xfrm>
            <a:off x="1070741" y="448489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1780686" y="1011955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타원형 설명선 245">
            <a:extLst>
              <a:ext uri="{FF2B5EF4-FFF2-40B4-BE49-F238E27FC236}">
                <a16:creationId xmlns:a16="http://schemas.microsoft.com/office/drawing/2014/main" id="{0179658D-26AA-4F1B-B86B-58DFEF09263F}"/>
              </a:ext>
            </a:extLst>
          </p:cNvPr>
          <p:cNvSpPr/>
          <p:nvPr/>
        </p:nvSpPr>
        <p:spPr>
          <a:xfrm>
            <a:off x="3527281" y="261790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71EABF5-169B-46E4-BEEC-7EB00492866D}"/>
              </a:ext>
            </a:extLst>
          </p:cNvPr>
          <p:cNvSpPr/>
          <p:nvPr/>
        </p:nvSpPr>
        <p:spPr>
          <a:xfrm>
            <a:off x="1321461" y="3655519"/>
            <a:ext cx="4423628" cy="77997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99BB88E-AF2E-418D-B1E0-470D28573F8A}"/>
              </a:ext>
            </a:extLst>
          </p:cNvPr>
          <p:cNvSpPr/>
          <p:nvPr/>
        </p:nvSpPr>
        <p:spPr>
          <a:xfrm>
            <a:off x="1329230" y="4819861"/>
            <a:ext cx="4415860" cy="77997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말풍선: 모서리가 둥근 사각형 92">
            <a:extLst>
              <a:ext uri="{FF2B5EF4-FFF2-40B4-BE49-F238E27FC236}">
                <a16:creationId xmlns:a16="http://schemas.microsoft.com/office/drawing/2014/main" id="{15033042-52B1-4910-8B2D-0ACE44CBD1BF}"/>
              </a:ext>
            </a:extLst>
          </p:cNvPr>
          <p:cNvSpPr/>
          <p:nvPr/>
        </p:nvSpPr>
        <p:spPr>
          <a:xfrm>
            <a:off x="6099451" y="2652384"/>
            <a:ext cx="2093909" cy="546583"/>
          </a:xfrm>
          <a:prstGeom prst="wedgeRoundRectCallout">
            <a:avLst>
              <a:gd name="adj1" fmla="val -62618"/>
              <a:gd name="adj2" fmla="val 21974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알람메시지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 내용이 길 수 있으므로 지금 보다 더 큰 공간 확보가 필요함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.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7181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현황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BMS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상세보기 팝업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BMS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상세보기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378899"/>
              </p:ext>
            </p:extLst>
          </p:nvPr>
        </p:nvGraphicFramePr>
        <p:xfrm>
          <a:off x="8469313" y="276225"/>
          <a:ext cx="1404000" cy="4032576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명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장치 명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정보 조회 시간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-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장치 정보 조회 날짜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시간 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Site</a:t>
                      </a: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및 장치 기본 정보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- Site,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장치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기본 정보 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장치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ID,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장치그룹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Site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사이트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ID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운전 상태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운전 상태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상태 값 확인 후 수정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 메시지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 발생 시의 알람 내용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상태 정보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장치의 각 상태 정보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SOC, SOC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SOC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최대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SOC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최소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SOH,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출력전압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출력전류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DoD, C-rate,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방전상태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창 닫기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상세보기 창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214334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ewpsp_scr_019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E378E4C-417D-46FC-8EB2-997074DCFB87}"/>
              </a:ext>
            </a:extLst>
          </p:cNvPr>
          <p:cNvSpPr txBox="1"/>
          <p:nvPr/>
        </p:nvSpPr>
        <p:spPr>
          <a:xfrm>
            <a:off x="378210" y="407514"/>
            <a:ext cx="2063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BMS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상세보기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32FEA46-A6B3-468A-8B76-6F04034CE923}"/>
              </a:ext>
            </a:extLst>
          </p:cNvPr>
          <p:cNvGrpSpPr/>
          <p:nvPr/>
        </p:nvGrpSpPr>
        <p:grpSpPr>
          <a:xfrm>
            <a:off x="378210" y="717202"/>
            <a:ext cx="5510894" cy="3556468"/>
            <a:chOff x="378210" y="717202"/>
            <a:chExt cx="5510894" cy="3556468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80DBD963-6553-410B-BFF5-229C31D43475}"/>
                </a:ext>
              </a:extLst>
            </p:cNvPr>
            <p:cNvSpPr/>
            <p:nvPr/>
          </p:nvSpPr>
          <p:spPr>
            <a:xfrm>
              <a:off x="378210" y="717202"/>
              <a:ext cx="5371466" cy="35564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200000"/>
                </a:lnSpc>
              </a:pPr>
              <a:endPara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2CD9C4C-AC9C-4723-9CBA-75FEECB1C4FC}"/>
                </a:ext>
              </a:extLst>
            </p:cNvPr>
            <p:cNvSpPr txBox="1"/>
            <p:nvPr/>
          </p:nvSpPr>
          <p:spPr>
            <a:xfrm>
              <a:off x="588158" y="905251"/>
              <a:ext cx="10959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BMS_1</a:t>
              </a:r>
              <a:endPara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81F883C-0743-43D1-B92E-549FADD9A2E0}"/>
                </a:ext>
              </a:extLst>
            </p:cNvPr>
            <p:cNvSpPr txBox="1"/>
            <p:nvPr/>
          </p:nvSpPr>
          <p:spPr>
            <a:xfrm>
              <a:off x="2931215" y="1321001"/>
              <a:ext cx="6736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Site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명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748951A-BFEC-4C51-B821-9796DB3D393C}"/>
                </a:ext>
              </a:extLst>
            </p:cNvPr>
            <p:cNvSpPr txBox="1"/>
            <p:nvPr/>
          </p:nvSpPr>
          <p:spPr>
            <a:xfrm>
              <a:off x="4174609" y="1321001"/>
              <a:ext cx="6867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Site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5615B77-03BE-4A16-9975-F72805336E30}"/>
                </a:ext>
              </a:extLst>
            </p:cNvPr>
            <p:cNvSpPr txBox="1"/>
            <p:nvPr/>
          </p:nvSpPr>
          <p:spPr>
            <a:xfrm>
              <a:off x="3497698" y="1321001"/>
              <a:ext cx="8929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제일화성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4FCA0C8-B872-4EBF-84A0-E133B178310A}"/>
                </a:ext>
              </a:extLst>
            </p:cNvPr>
            <p:cNvSpPr txBox="1"/>
            <p:nvPr/>
          </p:nvSpPr>
          <p:spPr>
            <a:xfrm>
              <a:off x="4749405" y="1321001"/>
              <a:ext cx="80923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10037202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530671C-3799-4874-BBA2-09D46A720BC7}"/>
                </a:ext>
              </a:extLst>
            </p:cNvPr>
            <p:cNvSpPr txBox="1"/>
            <p:nvPr/>
          </p:nvSpPr>
          <p:spPr>
            <a:xfrm>
              <a:off x="572511" y="1321001"/>
              <a:ext cx="6736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장치 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1D7F8B0-E3B7-41C7-963C-9E89A54D0EC2}"/>
                </a:ext>
              </a:extLst>
            </p:cNvPr>
            <p:cNvSpPr txBox="1"/>
            <p:nvPr/>
          </p:nvSpPr>
          <p:spPr>
            <a:xfrm>
              <a:off x="1150273" y="1321001"/>
              <a:ext cx="8759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50001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6C66611-991B-40AF-80FC-1D0B8788B754}"/>
                </a:ext>
              </a:extLst>
            </p:cNvPr>
            <p:cNvSpPr txBox="1"/>
            <p:nvPr/>
          </p:nvSpPr>
          <p:spPr>
            <a:xfrm>
              <a:off x="637108" y="1782308"/>
              <a:ext cx="9360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운전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상태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5491260-E688-4EAB-B409-1C2BE298FA42}"/>
                </a:ext>
              </a:extLst>
            </p:cNvPr>
            <p:cNvSpPr txBox="1"/>
            <p:nvPr/>
          </p:nvSpPr>
          <p:spPr>
            <a:xfrm>
              <a:off x="1849412" y="1782308"/>
              <a:ext cx="8759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RUN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5B5E93C-E71C-4B8F-81A9-99A183EBD650}"/>
                </a:ext>
              </a:extLst>
            </p:cNvPr>
            <p:cNvSpPr txBox="1"/>
            <p:nvPr/>
          </p:nvSpPr>
          <p:spPr>
            <a:xfrm>
              <a:off x="636738" y="2881322"/>
              <a:ext cx="7158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SOC(%)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C536AA3-58AA-498E-9553-ED307CCA2756}"/>
                </a:ext>
              </a:extLst>
            </p:cNvPr>
            <p:cNvSpPr txBox="1"/>
            <p:nvPr/>
          </p:nvSpPr>
          <p:spPr>
            <a:xfrm>
              <a:off x="1712640" y="2881322"/>
              <a:ext cx="5249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80.0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C059726-7675-4821-9A8D-BFC8F530FB17}"/>
                </a:ext>
              </a:extLst>
            </p:cNvPr>
            <p:cNvSpPr/>
            <p:nvPr/>
          </p:nvSpPr>
          <p:spPr>
            <a:xfrm>
              <a:off x="3670553" y="950840"/>
              <a:ext cx="1808507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05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2018-06-15  2:39:01 PM</a:t>
              </a:r>
              <a:endPara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1DCFD66-F17E-4CAA-B4D1-318448A89980}"/>
                </a:ext>
              </a:extLst>
            </p:cNvPr>
            <p:cNvSpPr txBox="1"/>
            <p:nvPr/>
          </p:nvSpPr>
          <p:spPr>
            <a:xfrm>
              <a:off x="1652771" y="1321001"/>
              <a:ext cx="7937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장치 그룹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6601379-72BE-4FCD-8CCC-36B69A872757}"/>
                </a:ext>
              </a:extLst>
            </p:cNvPr>
            <p:cNvSpPr txBox="1"/>
            <p:nvPr/>
          </p:nvSpPr>
          <p:spPr>
            <a:xfrm>
              <a:off x="2362743" y="1321001"/>
              <a:ext cx="8759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별관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_1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36" name="Picture 12" descr="okì ëí ì´ë¯¸ì§ ê²ìê²°ê³¼">
              <a:extLst>
                <a:ext uri="{FF2B5EF4-FFF2-40B4-BE49-F238E27FC236}">
                  <a16:creationId xmlns:a16="http://schemas.microsoft.com/office/drawing/2014/main" id="{EECD6184-7F36-43FD-AA75-A2F5D98D05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6194" y="1752928"/>
              <a:ext cx="226000" cy="22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AB4AB62-D3A6-4677-9E3B-A880A640AA22}"/>
                </a:ext>
              </a:extLst>
            </p:cNvPr>
            <p:cNvSpPr txBox="1"/>
            <p:nvPr/>
          </p:nvSpPr>
          <p:spPr>
            <a:xfrm>
              <a:off x="4783580" y="3861048"/>
              <a:ext cx="720080" cy="2539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7FC64FF-514E-4883-BB9A-556C7E095EEA}"/>
                </a:ext>
              </a:extLst>
            </p:cNvPr>
            <p:cNvSpPr txBox="1"/>
            <p:nvPr/>
          </p:nvSpPr>
          <p:spPr>
            <a:xfrm>
              <a:off x="637108" y="2082771"/>
              <a:ext cx="9360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알람 메시지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CA30599-46B0-47D6-B24F-4FDADF8CD0DB}"/>
                </a:ext>
              </a:extLst>
            </p:cNvPr>
            <p:cNvSpPr txBox="1"/>
            <p:nvPr/>
          </p:nvSpPr>
          <p:spPr>
            <a:xfrm>
              <a:off x="1645194" y="2082771"/>
              <a:ext cx="8759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-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E6B02F3B-7FB0-4486-8ED3-55B6EA320F57}"/>
                </a:ext>
              </a:extLst>
            </p:cNvPr>
            <p:cNvCxnSpPr>
              <a:cxnSpLocks/>
            </p:cNvCxnSpPr>
            <p:nvPr/>
          </p:nvCxnSpPr>
          <p:spPr>
            <a:xfrm>
              <a:off x="564560" y="1632765"/>
              <a:ext cx="500481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7F5EDB3-7AFF-4532-A7EA-BE0524A05808}"/>
                </a:ext>
              </a:extLst>
            </p:cNvPr>
            <p:cNvSpPr txBox="1"/>
            <p:nvPr/>
          </p:nvSpPr>
          <p:spPr>
            <a:xfrm>
              <a:off x="636737" y="3208682"/>
              <a:ext cx="12452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SOC 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(kWh)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1507F51-6C3B-4DA4-B67A-5E2CBFF2A1B9}"/>
                </a:ext>
              </a:extLst>
            </p:cNvPr>
            <p:cNvSpPr txBox="1"/>
            <p:nvPr/>
          </p:nvSpPr>
          <p:spPr>
            <a:xfrm>
              <a:off x="1712640" y="3208682"/>
              <a:ext cx="5249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50.0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CB4506-6B50-4E78-B97C-089F939F7CA8}"/>
                </a:ext>
              </a:extLst>
            </p:cNvPr>
            <p:cNvSpPr txBox="1"/>
            <p:nvPr/>
          </p:nvSpPr>
          <p:spPr>
            <a:xfrm>
              <a:off x="2375225" y="2885044"/>
              <a:ext cx="11650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SOC 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최대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(kWh)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A029E64-CD88-45D1-8E29-2101A4E049F1}"/>
                </a:ext>
              </a:extLst>
            </p:cNvPr>
            <p:cNvSpPr txBox="1"/>
            <p:nvPr/>
          </p:nvSpPr>
          <p:spPr>
            <a:xfrm>
              <a:off x="3435924" y="2885044"/>
              <a:ext cx="4846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90.0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13E8BA6-628E-445F-A710-A80CA4B4CF78}"/>
                </a:ext>
              </a:extLst>
            </p:cNvPr>
            <p:cNvSpPr txBox="1"/>
            <p:nvPr/>
          </p:nvSpPr>
          <p:spPr>
            <a:xfrm>
              <a:off x="2375225" y="3212404"/>
              <a:ext cx="11650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SOC 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최소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(kWh)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3F224CE-6487-4360-9A6E-CAAD6F6FC0C2}"/>
                </a:ext>
              </a:extLst>
            </p:cNvPr>
            <p:cNvSpPr txBox="1"/>
            <p:nvPr/>
          </p:nvSpPr>
          <p:spPr>
            <a:xfrm>
              <a:off x="3435924" y="3212404"/>
              <a:ext cx="4846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10.0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3788A7C-445B-4755-8219-643250A31AE2}"/>
                </a:ext>
              </a:extLst>
            </p:cNvPr>
            <p:cNvSpPr txBox="1"/>
            <p:nvPr/>
          </p:nvSpPr>
          <p:spPr>
            <a:xfrm>
              <a:off x="4103417" y="2885616"/>
              <a:ext cx="8759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SOH(%)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BA84A44-8324-42C6-B3C7-24193D374880}"/>
                </a:ext>
              </a:extLst>
            </p:cNvPr>
            <p:cNvSpPr txBox="1"/>
            <p:nvPr/>
          </p:nvSpPr>
          <p:spPr>
            <a:xfrm>
              <a:off x="5013202" y="2881321"/>
              <a:ext cx="4846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59.7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9F82508-382A-4A86-AD80-DCBC803A25DF}"/>
                </a:ext>
              </a:extLst>
            </p:cNvPr>
            <p:cNvSpPr txBox="1"/>
            <p:nvPr/>
          </p:nvSpPr>
          <p:spPr>
            <a:xfrm>
              <a:off x="4103417" y="3212976"/>
              <a:ext cx="133643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출력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전압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(V) :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48E1C07-DBAF-4FB6-B861-7B9485A50616}"/>
                </a:ext>
              </a:extLst>
            </p:cNvPr>
            <p:cNvSpPr txBox="1"/>
            <p:nvPr/>
          </p:nvSpPr>
          <p:spPr>
            <a:xfrm>
              <a:off x="5013202" y="3214089"/>
              <a:ext cx="6327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384.0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66178B-06B0-4B04-B0EF-372C7686F5F5}"/>
                </a:ext>
              </a:extLst>
            </p:cNvPr>
            <p:cNvSpPr txBox="1"/>
            <p:nvPr/>
          </p:nvSpPr>
          <p:spPr>
            <a:xfrm>
              <a:off x="630651" y="3534930"/>
              <a:ext cx="10080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출력 전류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(A)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0C7F00D-86DC-4F14-B540-73487B6374CB}"/>
                </a:ext>
              </a:extLst>
            </p:cNvPr>
            <p:cNvSpPr txBox="1"/>
            <p:nvPr/>
          </p:nvSpPr>
          <p:spPr>
            <a:xfrm>
              <a:off x="1711757" y="3534929"/>
              <a:ext cx="8759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1.6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B2CDFF4-655B-4EFF-9448-4D9897938B34}"/>
                </a:ext>
              </a:extLst>
            </p:cNvPr>
            <p:cNvSpPr txBox="1"/>
            <p:nvPr/>
          </p:nvSpPr>
          <p:spPr>
            <a:xfrm>
              <a:off x="626679" y="2564904"/>
              <a:ext cx="10260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충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방전 상태 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CF19AE4-9F30-404E-A9CF-9A8D9D1E8D99}"/>
                </a:ext>
              </a:extLst>
            </p:cNvPr>
            <p:cNvSpPr txBox="1"/>
            <p:nvPr/>
          </p:nvSpPr>
          <p:spPr>
            <a:xfrm>
              <a:off x="1588224" y="2564904"/>
              <a:ext cx="8759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충전 중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00C49F7-5A05-4DD0-A7DD-BDBE038844DE}"/>
                </a:ext>
              </a:extLst>
            </p:cNvPr>
            <p:cNvSpPr txBox="1"/>
            <p:nvPr/>
          </p:nvSpPr>
          <p:spPr>
            <a:xfrm>
              <a:off x="2370188" y="3531207"/>
              <a:ext cx="10080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DoD(%)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A75292A-712D-4259-AA86-A428D30ECD26}"/>
                </a:ext>
              </a:extLst>
            </p:cNvPr>
            <p:cNvSpPr txBox="1"/>
            <p:nvPr/>
          </p:nvSpPr>
          <p:spPr>
            <a:xfrm>
              <a:off x="3435924" y="3531206"/>
              <a:ext cx="5685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80.0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DEE0BE0-2327-4F8D-92C5-FE60B5614DD9}"/>
                </a:ext>
              </a:extLst>
            </p:cNvPr>
            <p:cNvSpPr txBox="1"/>
            <p:nvPr/>
          </p:nvSpPr>
          <p:spPr>
            <a:xfrm>
              <a:off x="4103417" y="3531205"/>
              <a:ext cx="133643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C-rate(C):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C4D59F2-E445-4796-AB97-9991E29AD74D}"/>
                </a:ext>
              </a:extLst>
            </p:cNvPr>
            <p:cNvSpPr txBox="1"/>
            <p:nvPr/>
          </p:nvSpPr>
          <p:spPr>
            <a:xfrm>
              <a:off x="5013202" y="3531205"/>
              <a:ext cx="8759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33.0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86" name="Picture 2">
              <a:extLst>
                <a:ext uri="{FF2B5EF4-FFF2-40B4-BE49-F238E27FC236}">
                  <a16:creationId xmlns:a16="http://schemas.microsoft.com/office/drawing/2014/main" id="{960F2D23-2485-4348-BF7B-A773907B0DB9}"/>
                </a:ext>
              </a:extLst>
            </p:cNvPr>
            <p:cNvPicPr/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1301265" y="861437"/>
              <a:ext cx="299838" cy="377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27" name="타원형 설명선 226"/>
          <p:cNvSpPr/>
          <p:nvPr/>
        </p:nvSpPr>
        <p:spPr>
          <a:xfrm>
            <a:off x="3572647" y="80564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444139" y="166177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389989" y="116117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440479" y="199041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7" name="타원형 설명선 246"/>
          <p:cNvSpPr/>
          <p:nvPr/>
        </p:nvSpPr>
        <p:spPr>
          <a:xfrm>
            <a:off x="4525922" y="3711237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" name="타원형 설명선 265"/>
          <p:cNvSpPr/>
          <p:nvPr/>
        </p:nvSpPr>
        <p:spPr>
          <a:xfrm>
            <a:off x="440171" y="244233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389989" y="803102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8B899AE-AF8B-48DE-9878-65057CC4FB49}"/>
              </a:ext>
            </a:extLst>
          </p:cNvPr>
          <p:cNvSpPr/>
          <p:nvPr/>
        </p:nvSpPr>
        <p:spPr>
          <a:xfrm>
            <a:off x="690054" y="2609084"/>
            <a:ext cx="4807833" cy="113417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9917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현황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PCS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상세보기 팝업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PCS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상세보기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99833"/>
              </p:ext>
            </p:extLst>
          </p:nvPr>
        </p:nvGraphicFramePr>
        <p:xfrm>
          <a:off x="8469313" y="276225"/>
          <a:ext cx="1404000" cy="3910656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명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장치 명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정보 조회 시간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-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장치 정보 조회 날짜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시간 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Site</a:t>
                      </a: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및 장치 기본 정보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- Site,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장치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기본 정보 표시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장치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ID,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장치그룹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Site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사이트</a:t>
                      </a: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ID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운전 상태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운전 상태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상태 값 확인 후 수정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 메시지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 발생 시의 알람 내용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상태 정보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장치의 각 상태 정보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온도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수평일사량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경사일사량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오늘예측발전량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오늘누적발전량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창 닫기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상세보기 창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973294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ewpsp_scr_020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0DBD963-6553-410B-BFF5-229C31D43475}"/>
              </a:ext>
            </a:extLst>
          </p:cNvPr>
          <p:cNvSpPr/>
          <p:nvPr/>
        </p:nvSpPr>
        <p:spPr>
          <a:xfrm>
            <a:off x="373622" y="737090"/>
            <a:ext cx="5191327" cy="320620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200000"/>
              </a:lnSpc>
            </a:pPr>
            <a:endParaRPr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CD9C4C-AC9C-4723-9CBA-75FEECB1C4FC}"/>
              </a:ext>
            </a:extLst>
          </p:cNvPr>
          <p:cNvSpPr txBox="1"/>
          <p:nvPr/>
        </p:nvSpPr>
        <p:spPr>
          <a:xfrm>
            <a:off x="583571" y="925139"/>
            <a:ext cx="1095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PV_1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1F883C-0743-43D1-B92E-549FADD9A2E0}"/>
              </a:ext>
            </a:extLst>
          </p:cNvPr>
          <p:cNvSpPr txBox="1"/>
          <p:nvPr/>
        </p:nvSpPr>
        <p:spPr>
          <a:xfrm>
            <a:off x="2926628" y="1340889"/>
            <a:ext cx="673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명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48951A-BFEC-4C51-B821-9796DB3D393C}"/>
              </a:ext>
            </a:extLst>
          </p:cNvPr>
          <p:cNvSpPr txBox="1"/>
          <p:nvPr/>
        </p:nvSpPr>
        <p:spPr>
          <a:xfrm>
            <a:off x="4170022" y="1340889"/>
            <a:ext cx="6867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615B77-03BE-4A16-9975-F72805336E30}"/>
              </a:ext>
            </a:extLst>
          </p:cNvPr>
          <p:cNvSpPr txBox="1"/>
          <p:nvPr/>
        </p:nvSpPr>
        <p:spPr>
          <a:xfrm>
            <a:off x="3493111" y="1340889"/>
            <a:ext cx="8929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제일화성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FCA0C8-B872-4EBF-84A0-E133B178310A}"/>
              </a:ext>
            </a:extLst>
          </p:cNvPr>
          <p:cNvSpPr txBox="1"/>
          <p:nvPr/>
        </p:nvSpPr>
        <p:spPr>
          <a:xfrm>
            <a:off x="4744818" y="1340889"/>
            <a:ext cx="809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10037202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30671C-3799-4874-BBA2-09D46A720BC7}"/>
              </a:ext>
            </a:extLst>
          </p:cNvPr>
          <p:cNvSpPr txBox="1"/>
          <p:nvPr/>
        </p:nvSpPr>
        <p:spPr>
          <a:xfrm>
            <a:off x="567924" y="1340889"/>
            <a:ext cx="673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D7F8B0-E3B7-41C7-963C-9E89A54D0EC2}"/>
              </a:ext>
            </a:extLst>
          </p:cNvPr>
          <p:cNvSpPr txBox="1"/>
          <p:nvPr/>
        </p:nvSpPr>
        <p:spPr>
          <a:xfrm>
            <a:off x="1145686" y="1340889"/>
            <a:ext cx="8759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60001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C66611-991B-40AF-80FC-1D0B8788B754}"/>
              </a:ext>
            </a:extLst>
          </p:cNvPr>
          <p:cNvSpPr txBox="1"/>
          <p:nvPr/>
        </p:nvSpPr>
        <p:spPr>
          <a:xfrm>
            <a:off x="632520" y="1782253"/>
            <a:ext cx="936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상태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5491260-E688-4EAB-B409-1C2BE298FA42}"/>
              </a:ext>
            </a:extLst>
          </p:cNvPr>
          <p:cNvSpPr txBox="1"/>
          <p:nvPr/>
        </p:nvSpPr>
        <p:spPr>
          <a:xfrm>
            <a:off x="1844824" y="1782253"/>
            <a:ext cx="8759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RUN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B5E93C-E71C-4B8F-81A9-99A183EBD650}"/>
              </a:ext>
            </a:extLst>
          </p:cNvPr>
          <p:cNvSpPr txBox="1"/>
          <p:nvPr/>
        </p:nvSpPr>
        <p:spPr>
          <a:xfrm>
            <a:off x="628948" y="2474900"/>
            <a:ext cx="671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온도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C536AA3-58AA-498E-9553-ED307CCA2756}"/>
              </a:ext>
            </a:extLst>
          </p:cNvPr>
          <p:cNvSpPr txBox="1"/>
          <p:nvPr/>
        </p:nvSpPr>
        <p:spPr>
          <a:xfrm>
            <a:off x="1496616" y="2474900"/>
            <a:ext cx="671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51 </a:t>
            </a:r>
            <a:r>
              <a:rPr lang="ko-KR" altLang="en-US" sz="1000" dirty="0"/>
              <a:t>℃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059726-7675-4821-9A8D-BFC8F530FB17}"/>
              </a:ext>
            </a:extLst>
          </p:cNvPr>
          <p:cNvSpPr/>
          <p:nvPr/>
        </p:nvSpPr>
        <p:spPr>
          <a:xfrm>
            <a:off x="3665966" y="970728"/>
            <a:ext cx="180850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2018-06-15  2:39:01 PM</a:t>
            </a:r>
            <a:endParaRPr lang="ko-KR" altLang="en-US" sz="105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1DCFD66-F17E-4CAA-B4D1-318448A89980}"/>
              </a:ext>
            </a:extLst>
          </p:cNvPr>
          <p:cNvSpPr txBox="1"/>
          <p:nvPr/>
        </p:nvSpPr>
        <p:spPr>
          <a:xfrm>
            <a:off x="1648184" y="1340889"/>
            <a:ext cx="7937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그룹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6601379-72BE-4FCD-8CCC-36B69A872757}"/>
              </a:ext>
            </a:extLst>
          </p:cNvPr>
          <p:cNvSpPr txBox="1"/>
          <p:nvPr/>
        </p:nvSpPr>
        <p:spPr>
          <a:xfrm>
            <a:off x="2358156" y="1340889"/>
            <a:ext cx="8759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별관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_1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32" name="Picture 8" descr="photovoltaicsì ëí ì´ë¯¸ì§ ê²ìê²°ê³¼">
            <a:extLst>
              <a:ext uri="{FF2B5EF4-FFF2-40B4-BE49-F238E27FC236}">
                <a16:creationId xmlns:a16="http://schemas.microsoft.com/office/drawing/2014/main" id="{768FB77A-8865-4616-853F-93958C530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846" y="837554"/>
            <a:ext cx="482945" cy="48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okì ëí ì´ë¯¸ì§ ê²ìê²°ê³¼">
            <a:extLst>
              <a:ext uri="{FF2B5EF4-FFF2-40B4-BE49-F238E27FC236}">
                <a16:creationId xmlns:a16="http://schemas.microsoft.com/office/drawing/2014/main" id="{EECD6184-7F36-43FD-AA75-A2F5D98D0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606" y="1752873"/>
            <a:ext cx="226000" cy="2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7AB4AB62-D3A6-4677-9E3B-A880A640AA22}"/>
              </a:ext>
            </a:extLst>
          </p:cNvPr>
          <p:cNvSpPr txBox="1"/>
          <p:nvPr/>
        </p:nvSpPr>
        <p:spPr>
          <a:xfrm>
            <a:off x="4744818" y="3607132"/>
            <a:ext cx="72008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7FC64FF-514E-4883-BB9A-556C7E095EEA}"/>
              </a:ext>
            </a:extLst>
          </p:cNvPr>
          <p:cNvSpPr txBox="1"/>
          <p:nvPr/>
        </p:nvSpPr>
        <p:spPr>
          <a:xfrm>
            <a:off x="632520" y="2102659"/>
            <a:ext cx="936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알람 메시지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CA30599-46B0-47D6-B24F-4FDADF8CD0DB}"/>
              </a:ext>
            </a:extLst>
          </p:cNvPr>
          <p:cNvSpPr txBox="1"/>
          <p:nvPr/>
        </p:nvSpPr>
        <p:spPr>
          <a:xfrm>
            <a:off x="1721750" y="2122602"/>
            <a:ext cx="8759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E378E4C-417D-46FC-8EB2-997074DCFB87}"/>
              </a:ext>
            </a:extLst>
          </p:cNvPr>
          <p:cNvSpPr txBox="1"/>
          <p:nvPr/>
        </p:nvSpPr>
        <p:spPr>
          <a:xfrm>
            <a:off x="378210" y="407514"/>
            <a:ext cx="16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상세보기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A3E2A98-F4A7-4ADC-8F50-EFFAAF32080B}"/>
              </a:ext>
            </a:extLst>
          </p:cNvPr>
          <p:cNvCxnSpPr/>
          <p:nvPr/>
        </p:nvCxnSpPr>
        <p:spPr>
          <a:xfrm>
            <a:off x="559973" y="1652653"/>
            <a:ext cx="4862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FEC1D8C-C8F1-4E0A-ADC4-BE2E28410105}"/>
              </a:ext>
            </a:extLst>
          </p:cNvPr>
          <p:cNvSpPr txBox="1"/>
          <p:nvPr/>
        </p:nvSpPr>
        <p:spPr>
          <a:xfrm>
            <a:off x="2732558" y="2474900"/>
            <a:ext cx="1245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오늘 예측 발전량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C2CB08-A1CA-4574-8F4E-34E643CF02F9}"/>
              </a:ext>
            </a:extLst>
          </p:cNvPr>
          <p:cNvSpPr txBox="1"/>
          <p:nvPr/>
        </p:nvSpPr>
        <p:spPr>
          <a:xfrm>
            <a:off x="3968650" y="2474900"/>
            <a:ext cx="7399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600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kWh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1EEC8C-DC74-4FD0-BB2A-C052D71D6A6B}"/>
              </a:ext>
            </a:extLst>
          </p:cNvPr>
          <p:cNvSpPr txBox="1"/>
          <p:nvPr/>
        </p:nvSpPr>
        <p:spPr>
          <a:xfrm>
            <a:off x="2735670" y="2817998"/>
            <a:ext cx="12424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오늘 누적 발전량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707781-840B-48F8-8315-934695493569}"/>
              </a:ext>
            </a:extLst>
          </p:cNvPr>
          <p:cNvSpPr txBox="1"/>
          <p:nvPr/>
        </p:nvSpPr>
        <p:spPr>
          <a:xfrm>
            <a:off x="3971762" y="2817998"/>
            <a:ext cx="768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580 kWh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10E02F7-DF9B-496F-BDDD-18492DBDE81C}"/>
              </a:ext>
            </a:extLst>
          </p:cNvPr>
          <p:cNvSpPr txBox="1"/>
          <p:nvPr/>
        </p:nvSpPr>
        <p:spPr>
          <a:xfrm>
            <a:off x="637427" y="2817998"/>
            <a:ext cx="936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atin typeface="맑은 고딕" panose="020B0503020000020004" pitchFamily="50" charset="-127"/>
                <a:ea typeface="맑은 고딕" panose="020B0503020000020004" pitchFamily="50" charset="-127"/>
              </a:rPr>
              <a:t>수평 일사량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7C5D5AE-30DF-4C14-9BFB-B4D7AEA16BEB}"/>
              </a:ext>
            </a:extLst>
          </p:cNvPr>
          <p:cNvSpPr txBox="1"/>
          <p:nvPr/>
        </p:nvSpPr>
        <p:spPr>
          <a:xfrm>
            <a:off x="1505096" y="2817998"/>
            <a:ext cx="7685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251 W/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㎡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D8E50D-CDBE-40AA-844A-4E4C65FFA052}"/>
              </a:ext>
            </a:extLst>
          </p:cNvPr>
          <p:cNvSpPr txBox="1"/>
          <p:nvPr/>
        </p:nvSpPr>
        <p:spPr>
          <a:xfrm>
            <a:off x="639245" y="3161097"/>
            <a:ext cx="936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경사 일사량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47063A-ED6B-44EE-B007-EA54B6CC5A35}"/>
              </a:ext>
            </a:extLst>
          </p:cNvPr>
          <p:cNvSpPr txBox="1"/>
          <p:nvPr/>
        </p:nvSpPr>
        <p:spPr>
          <a:xfrm>
            <a:off x="1506914" y="3161097"/>
            <a:ext cx="766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206 W/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㎡</a:t>
            </a:r>
          </a:p>
        </p:txBody>
      </p:sp>
      <p:sp>
        <p:nvSpPr>
          <p:cNvPr id="227" name="타원형 설명선 226"/>
          <p:cNvSpPr/>
          <p:nvPr/>
        </p:nvSpPr>
        <p:spPr>
          <a:xfrm>
            <a:off x="3522140" y="85182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401776" y="168419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7" name="타원형 설명선 246"/>
          <p:cNvSpPr/>
          <p:nvPr/>
        </p:nvSpPr>
        <p:spPr>
          <a:xfrm>
            <a:off x="4428767" y="342900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" name="타원형 설명선 265"/>
          <p:cNvSpPr/>
          <p:nvPr/>
        </p:nvSpPr>
        <p:spPr>
          <a:xfrm>
            <a:off x="411901" y="236414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401776" y="863026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405244" y="120701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401776" y="200834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B8F824D-4157-463B-B9F7-75E63BE7ACA6}"/>
              </a:ext>
            </a:extLst>
          </p:cNvPr>
          <p:cNvSpPr/>
          <p:nvPr/>
        </p:nvSpPr>
        <p:spPr>
          <a:xfrm>
            <a:off x="709216" y="2480689"/>
            <a:ext cx="4031053" cy="92662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2268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그림 50">
            <a:extLst>
              <a:ext uri="{FF2B5EF4-FFF2-40B4-BE49-F238E27FC236}">
                <a16:creationId xmlns:a16="http://schemas.microsoft.com/office/drawing/2014/main" id="{C24D9E02-56E4-4DF0-B476-282F8505B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1" y="348718"/>
            <a:ext cx="8394517" cy="3512330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현황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저장하기 팝업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저장하기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985488"/>
              </p:ext>
            </p:extLst>
          </p:nvPr>
        </p:nvGraphicFramePr>
        <p:xfrm>
          <a:off x="8469313" y="276225"/>
          <a:ext cx="1404000" cy="3675072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데이터 저장 팝업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모니터링 화면 內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데이터 저장하기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’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버튼을 클릭하면 출력되는 팝업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전체 장치 현황 데이터가 저장됨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IOE, PCS, BMS, PV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저장 파일 형식은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csv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형태의 엑셀 파일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파일명 지정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저장될 파일명 입력 창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파일형식 표시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csv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형식으로 고정하고 변경되지 않음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저장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버튼 클릭 시에 파일 저장을 진행하고 파일 저장에 시간이 소요되는 경우에는 </a:t>
                      </a: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Wating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Animation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을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취소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작업을 취소하고 팝업을 출력시킨 장치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모니터링 화면으로 복귀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ewpsp_scr_015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8" name="Picture 2" descr="ììë¡ ì ì¥íê¸° íìì ëí ì´ë¯¸ì§ ê²ìê²°ê³¼">
            <a:extLst>
              <a:ext uri="{FF2B5EF4-FFF2-40B4-BE49-F238E27FC236}">
                <a16:creationId xmlns:a16="http://schemas.microsoft.com/office/drawing/2014/main" id="{B2190638-9B7F-4705-B06A-F0B5E1ACD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651" y="1302289"/>
            <a:ext cx="3916535" cy="183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타원형 설명선 226">
            <a:extLst>
              <a:ext uri="{FF2B5EF4-FFF2-40B4-BE49-F238E27FC236}">
                <a16:creationId xmlns:a16="http://schemas.microsoft.com/office/drawing/2014/main" id="{CBAFB91A-2776-4A12-9351-F4B56F4665FC}"/>
              </a:ext>
            </a:extLst>
          </p:cNvPr>
          <p:cNvSpPr/>
          <p:nvPr/>
        </p:nvSpPr>
        <p:spPr>
          <a:xfrm>
            <a:off x="2922515" y="249639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타원형 설명선 243">
            <a:extLst>
              <a:ext uri="{FF2B5EF4-FFF2-40B4-BE49-F238E27FC236}">
                <a16:creationId xmlns:a16="http://schemas.microsoft.com/office/drawing/2014/main" id="{E2E370E9-73B3-4F0E-A9BD-D1946663A517}"/>
              </a:ext>
            </a:extLst>
          </p:cNvPr>
          <p:cNvSpPr/>
          <p:nvPr/>
        </p:nvSpPr>
        <p:spPr>
          <a:xfrm>
            <a:off x="5071520" y="250747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타원형 설명선 244">
            <a:extLst>
              <a:ext uri="{FF2B5EF4-FFF2-40B4-BE49-F238E27FC236}">
                <a16:creationId xmlns:a16="http://schemas.microsoft.com/office/drawing/2014/main" id="{1FE2CDD6-18B0-403C-B414-CE568A944338}"/>
              </a:ext>
            </a:extLst>
          </p:cNvPr>
          <p:cNvSpPr/>
          <p:nvPr/>
        </p:nvSpPr>
        <p:spPr>
          <a:xfrm>
            <a:off x="2923626" y="273034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타원형 설명선 245">
            <a:extLst>
              <a:ext uri="{FF2B5EF4-FFF2-40B4-BE49-F238E27FC236}">
                <a16:creationId xmlns:a16="http://schemas.microsoft.com/office/drawing/2014/main" id="{F463CD09-EA66-4CBF-8981-3F16496A790A}"/>
              </a:ext>
            </a:extLst>
          </p:cNvPr>
          <p:cNvSpPr/>
          <p:nvPr/>
        </p:nvSpPr>
        <p:spPr>
          <a:xfrm>
            <a:off x="5076600" y="273964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타원형 설명선 225">
            <a:extLst>
              <a:ext uri="{FF2B5EF4-FFF2-40B4-BE49-F238E27FC236}">
                <a16:creationId xmlns:a16="http://schemas.microsoft.com/office/drawing/2014/main" id="{34271130-CBA6-46BA-AE21-369D09B0DF01}"/>
              </a:ext>
            </a:extLst>
          </p:cNvPr>
          <p:cNvSpPr/>
          <p:nvPr/>
        </p:nvSpPr>
        <p:spPr>
          <a:xfrm>
            <a:off x="2108268" y="1183607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16022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그룹 현황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그룹 현황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905881"/>
              </p:ext>
            </p:extLst>
          </p:nvPr>
        </p:nvGraphicFramePr>
        <p:xfrm>
          <a:off x="8469313" y="276225"/>
          <a:ext cx="1404000" cy="6259776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선택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우측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콤보박스를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선택하면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리스트가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드랍다운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드랍 다운 리스트에서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를 선택하면 해당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장치 그룹을 하단에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좌측 텍스트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에디트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창에 직접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명을 입력하고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엔터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키를 누르면 해당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장치 그룹을 하단에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입력된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가 존재하지 않을 경우 안내문구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입력하신 사이트를 찾을 수 없습니다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.”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정보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 선택된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정보 표시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SiteID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 그룹 리스트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 그룹 편집에서 추가된 장치 그룹을 리스트 형태로 표시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내 장치를 단순 정보와 이미지로 표현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</a:t>
                      </a:r>
                      <a:r>
                        <a:rPr lang="ko-KR" altLang="en-US" sz="800" b="0" u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장치명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3)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장치가 그룹 내 표시 영역보다 많을 경우 좌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우에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 &gt;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아이콘을 생성하여 스크롤 되도록 표현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알람 정보 표시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내 알람 정보 표시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비상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주의 각각의 발생 개수를 표시하고 하단에 알람 발생 장치 리스트를 출력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730236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그룹 현황 편집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그룹 內 장치를 추가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삭제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수정 할 수 있는 편집 페이지로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다음 페이지 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ewpsp_scr_021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14E8AEF-8EA8-4944-AE52-FF98A1FB7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96" y="794364"/>
            <a:ext cx="8208912" cy="481554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25" y="755669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7D07777-30AA-4506-9C18-6F3B4C7D943C}"/>
              </a:ext>
            </a:extLst>
          </p:cNvPr>
          <p:cNvCxnSpPr>
            <a:cxnSpLocks/>
          </p:cNvCxnSpPr>
          <p:nvPr/>
        </p:nvCxnSpPr>
        <p:spPr>
          <a:xfrm>
            <a:off x="142639" y="1124744"/>
            <a:ext cx="8208912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4417E-CAA5-4FD3-BBB9-7CD5570EF571}"/>
              </a:ext>
            </a:extLst>
          </p:cNvPr>
          <p:cNvSpPr/>
          <p:nvPr/>
        </p:nvSpPr>
        <p:spPr>
          <a:xfrm>
            <a:off x="216315" y="1482125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장치</a:t>
            </a: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그룹 현황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844086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9" name="그룹 38">
            <a:extLst>
              <a:ext uri="{FF2B5EF4-FFF2-40B4-BE49-F238E27FC236}">
                <a16:creationId xmlns:a16="http://schemas.microsoft.com/office/drawing/2014/main" id="{264B9BEB-0271-467C-9B82-D1FC9FBEA765}"/>
              </a:ext>
            </a:extLst>
          </p:cNvPr>
          <p:cNvGrpSpPr/>
          <p:nvPr/>
        </p:nvGrpSpPr>
        <p:grpSpPr>
          <a:xfrm>
            <a:off x="210356" y="1203435"/>
            <a:ext cx="8024876" cy="260092"/>
            <a:chOff x="184526" y="1505937"/>
            <a:chExt cx="8024876" cy="260092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A56A96B-69B8-429E-AF89-968C4AF494F7}"/>
                </a:ext>
              </a:extLst>
            </p:cNvPr>
            <p:cNvSpPr/>
            <p:nvPr/>
          </p:nvSpPr>
          <p:spPr>
            <a:xfrm>
              <a:off x="5810955" y="1550585"/>
              <a:ext cx="18205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수익 현황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7FF9A40-DB93-404F-8B0E-59947A5ABD92}"/>
                </a:ext>
              </a:extLst>
            </p:cNvPr>
            <p:cNvSpPr/>
            <p:nvPr/>
          </p:nvSpPr>
          <p:spPr>
            <a:xfrm>
              <a:off x="184526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에너지 모니터링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15145F1-C4F0-45F7-9038-8CA3BE6E8D6E}"/>
                </a:ext>
              </a:extLst>
            </p:cNvPr>
            <p:cNvSpPr/>
            <p:nvPr/>
          </p:nvSpPr>
          <p:spPr>
            <a:xfrm>
              <a:off x="2191085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장치 모니터링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34311D5-6CAB-4798-9B6D-CAB49C586455}"/>
                </a:ext>
              </a:extLst>
            </p:cNvPr>
            <p:cNvSpPr/>
            <p:nvPr/>
          </p:nvSpPr>
          <p:spPr>
            <a:xfrm>
              <a:off x="4197644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상황</a:t>
              </a:r>
              <a:r>
                <a:rPr lang="en-US" altLang="ko-KR" sz="700" dirty="0"/>
                <a:t> </a:t>
              </a:r>
              <a:r>
                <a:rPr lang="ko-KR" altLang="en-US" sz="700" dirty="0"/>
                <a:t>관제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7ABE93DD-CE7A-4C3A-8774-4B49585114BD}"/>
                </a:ext>
              </a:extLst>
            </p:cNvPr>
            <p:cNvSpPr/>
            <p:nvPr/>
          </p:nvSpPr>
          <p:spPr>
            <a:xfrm>
              <a:off x="6204202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요금</a:t>
              </a:r>
              <a:r>
                <a:rPr lang="en-US" altLang="ko-KR" sz="700" dirty="0"/>
                <a:t>/</a:t>
              </a:r>
              <a:r>
                <a:rPr lang="ko-KR" altLang="en-US" sz="700" dirty="0"/>
                <a:t>수익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014313F-74A6-48BC-BEA3-1002DF87CBAD}"/>
              </a:ext>
            </a:extLst>
          </p:cNvPr>
          <p:cNvSpPr txBox="1"/>
          <p:nvPr/>
        </p:nvSpPr>
        <p:spPr>
          <a:xfrm>
            <a:off x="7076013" y="5157192"/>
            <a:ext cx="107971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그룹 편집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7A33635-DB1C-477E-AD4C-E6FD62D42E17}"/>
              </a:ext>
            </a:extLst>
          </p:cNvPr>
          <p:cNvSpPr/>
          <p:nvPr/>
        </p:nvSpPr>
        <p:spPr>
          <a:xfrm>
            <a:off x="454928" y="1890486"/>
            <a:ext cx="7488832" cy="1457921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200000"/>
              </a:lnSpc>
            </a:pPr>
            <a:endParaRPr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741837-C914-4EB2-9C62-C1BEF7FFACF1}"/>
              </a:ext>
            </a:extLst>
          </p:cNvPr>
          <p:cNvSpPr txBox="1"/>
          <p:nvPr/>
        </p:nvSpPr>
        <p:spPr>
          <a:xfrm>
            <a:off x="454928" y="1923026"/>
            <a:ext cx="8902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별관</a:t>
            </a: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_1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C42CE1B-0512-4FD0-8A31-0F3208A85D11}"/>
              </a:ext>
            </a:extLst>
          </p:cNvPr>
          <p:cNvSpPr/>
          <p:nvPr/>
        </p:nvSpPr>
        <p:spPr>
          <a:xfrm>
            <a:off x="444123" y="3491482"/>
            <a:ext cx="7499637" cy="1458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200000"/>
              </a:lnSpc>
            </a:pPr>
            <a:endParaRPr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754E35-DAEF-4149-929C-3F4B06EE645B}"/>
              </a:ext>
            </a:extLst>
          </p:cNvPr>
          <p:cNvSpPr txBox="1"/>
          <p:nvPr/>
        </p:nvSpPr>
        <p:spPr>
          <a:xfrm>
            <a:off x="444123" y="3533293"/>
            <a:ext cx="8902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별관</a:t>
            </a: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_2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AF1B9C-37DB-40E7-8A4C-F877432EAD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4093" y="1885267"/>
            <a:ext cx="115247" cy="306421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F624E43-DB55-43F1-90C0-1E55E05001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690" y="2242364"/>
            <a:ext cx="575548" cy="9687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CE498AE-7B03-417E-9074-47B7E062A9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2604" y="2247337"/>
            <a:ext cx="572593" cy="96377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576C3BE-E3AE-49B7-A448-3470EEA60E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1563" y="2242364"/>
            <a:ext cx="593132" cy="96874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991CBAE-BC47-465F-821B-DAC69208C4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21060" y="2247337"/>
            <a:ext cx="586196" cy="96377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7E36F86-64A0-44D0-8FEE-4703E48E3E6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1564" y="3842685"/>
            <a:ext cx="593132" cy="101298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BF6230A-F2C2-49BA-87A4-41ADD9E5C4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017" y="3832369"/>
            <a:ext cx="601946" cy="102726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9E642D9-24F2-47FA-97E6-F88EB928B15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1968" y="3842685"/>
            <a:ext cx="572590" cy="1016949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10797AAF-100E-4AE4-A8C5-9714D3B232DA}"/>
              </a:ext>
            </a:extLst>
          </p:cNvPr>
          <p:cNvGrpSpPr/>
          <p:nvPr/>
        </p:nvGrpSpPr>
        <p:grpSpPr>
          <a:xfrm>
            <a:off x="5696398" y="1628800"/>
            <a:ext cx="2459334" cy="215444"/>
            <a:chOff x="1321055" y="1881972"/>
            <a:chExt cx="2459334" cy="215444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0FB992A-2CC6-45C3-BBFF-C27211F67FC9}"/>
                </a:ext>
              </a:extLst>
            </p:cNvPr>
            <p:cNvSpPr txBox="1"/>
            <p:nvPr/>
          </p:nvSpPr>
          <p:spPr>
            <a:xfrm>
              <a:off x="1321055" y="1881972"/>
              <a:ext cx="6736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Site</a:t>
              </a:r>
              <a:r>
                <a: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명</a:t>
              </a:r>
              <a:r>
                <a:rPr lang="ko-KR" altLang="en-US" sz="8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8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5A380CA-F55B-4A43-9D69-8C8EC7AC9661}"/>
                </a:ext>
              </a:extLst>
            </p:cNvPr>
            <p:cNvSpPr txBox="1"/>
            <p:nvPr/>
          </p:nvSpPr>
          <p:spPr>
            <a:xfrm>
              <a:off x="2564449" y="1881972"/>
              <a:ext cx="6867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Site</a:t>
              </a:r>
              <a:r>
                <a: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</a:t>
              </a:r>
              <a:r>
                <a: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8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63765F0-D975-4588-9583-7826CE0974A6}"/>
                </a:ext>
              </a:extLst>
            </p:cNvPr>
            <p:cNvSpPr txBox="1"/>
            <p:nvPr/>
          </p:nvSpPr>
          <p:spPr>
            <a:xfrm>
              <a:off x="1856656" y="1881972"/>
              <a:ext cx="8929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제일화성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B9567AB-DD31-42F1-902D-76BEBD85D850}"/>
                </a:ext>
              </a:extLst>
            </p:cNvPr>
            <p:cNvSpPr txBox="1"/>
            <p:nvPr/>
          </p:nvSpPr>
          <p:spPr>
            <a:xfrm>
              <a:off x="3080792" y="1881972"/>
              <a:ext cx="6995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10037202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말풍선: 모서리가 둥근 사각형 50">
            <a:extLst>
              <a:ext uri="{FF2B5EF4-FFF2-40B4-BE49-F238E27FC236}">
                <a16:creationId xmlns:a16="http://schemas.microsoft.com/office/drawing/2014/main" id="{39BCF7D5-402B-47EE-AE35-5CBF9ACB3DE6}"/>
              </a:ext>
            </a:extLst>
          </p:cNvPr>
          <p:cNvSpPr/>
          <p:nvPr/>
        </p:nvSpPr>
        <p:spPr>
          <a:xfrm>
            <a:off x="643016" y="5058888"/>
            <a:ext cx="1645688" cy="517793"/>
          </a:xfrm>
          <a:prstGeom prst="wedgeRoundRectCallout">
            <a:avLst>
              <a:gd name="adj1" fmla="val -31973"/>
              <a:gd name="adj2" fmla="val -72860"/>
              <a:gd name="adj3" fmla="val 16667"/>
            </a:avLst>
          </a:prstGeom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- </a:t>
            </a:r>
            <a:r>
              <a:rPr kumimoji="1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장치 </a:t>
            </a:r>
            <a:r>
              <a:rPr kumimoji="1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ID </a:t>
            </a:r>
            <a:r>
              <a:rPr kumimoji="1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추가 필요</a:t>
            </a:r>
            <a:endParaRPr kumimoji="1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Gill Sans"/>
            </a:endParaRP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- </a:t>
            </a:r>
            <a:r>
              <a:rPr kumimoji="1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충</a:t>
            </a:r>
            <a:r>
              <a:rPr kumimoji="1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/</a:t>
            </a:r>
            <a:r>
              <a:rPr kumimoji="1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방전량</a:t>
            </a:r>
            <a:r>
              <a:rPr kumimoji="1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, </a:t>
            </a:r>
            <a:r>
              <a:rPr kumimoji="1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전압</a:t>
            </a:r>
            <a:r>
              <a:rPr kumimoji="1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, </a:t>
            </a:r>
            <a:r>
              <a:rPr kumimoji="1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전류 등의 값은 제거</a:t>
            </a:r>
            <a:endParaRPr kumimoji="1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Gill San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BAFFCFA-A2C3-492D-A787-03E3E962AFE4}"/>
              </a:ext>
            </a:extLst>
          </p:cNvPr>
          <p:cNvGrpSpPr/>
          <p:nvPr/>
        </p:nvGrpSpPr>
        <p:grpSpPr>
          <a:xfrm>
            <a:off x="1504069" y="1540215"/>
            <a:ext cx="1550785" cy="249549"/>
            <a:chOff x="2397055" y="5156251"/>
            <a:chExt cx="1550785" cy="249549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5483CB7-CC12-4102-BF3E-4F25E75135EB}"/>
                </a:ext>
              </a:extLst>
            </p:cNvPr>
            <p:cNvSpPr/>
            <p:nvPr/>
          </p:nvSpPr>
          <p:spPr>
            <a:xfrm>
              <a:off x="2397055" y="5156251"/>
              <a:ext cx="1262753" cy="2495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제일화성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5274408-F201-45C2-A7FB-653C4DB0852C}"/>
                </a:ext>
              </a:extLst>
            </p:cNvPr>
            <p:cNvSpPr/>
            <p:nvPr/>
          </p:nvSpPr>
          <p:spPr>
            <a:xfrm>
              <a:off x="3659808" y="5156251"/>
              <a:ext cx="288032" cy="249549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</p:grpSp>
      <p:sp>
        <p:nvSpPr>
          <p:cNvPr id="227" name="타원형 설명선 226"/>
          <p:cNvSpPr/>
          <p:nvPr/>
        </p:nvSpPr>
        <p:spPr>
          <a:xfrm>
            <a:off x="5466793" y="148212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5150849" y="171985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242464" y="173624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1269086" y="1379760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47E1698-449E-4AE1-A781-1980A6A27A42}"/>
              </a:ext>
            </a:extLst>
          </p:cNvPr>
          <p:cNvCxnSpPr/>
          <p:nvPr/>
        </p:nvCxnSpPr>
        <p:spPr>
          <a:xfrm>
            <a:off x="5313040" y="1952244"/>
            <a:ext cx="0" cy="1332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371AC65-B9F8-48D0-B3A1-8EEF0156D66C}"/>
              </a:ext>
            </a:extLst>
          </p:cNvPr>
          <p:cNvCxnSpPr>
            <a:cxnSpLocks/>
          </p:cNvCxnSpPr>
          <p:nvPr/>
        </p:nvCxnSpPr>
        <p:spPr>
          <a:xfrm>
            <a:off x="5312564" y="3570685"/>
            <a:ext cx="0" cy="1332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ì£¼ìì ëí ì´ë¯¸ì§ ê²ìê²°ê³¼">
            <a:extLst>
              <a:ext uri="{FF2B5EF4-FFF2-40B4-BE49-F238E27FC236}">
                <a16:creationId xmlns:a16="http://schemas.microsoft.com/office/drawing/2014/main" id="{4DC270B1-F3B3-4A15-A20A-03BFC989B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4849" y="1978792"/>
            <a:ext cx="287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ì£¼ìì ëí ì´ë¯¸ì§ ê²ìê²°ê³¼">
            <a:extLst>
              <a:ext uri="{FF2B5EF4-FFF2-40B4-BE49-F238E27FC236}">
                <a16:creationId xmlns:a16="http://schemas.microsoft.com/office/drawing/2014/main" id="{11BC5DD0-5142-4543-8780-CA40878A0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487" y="1978943"/>
            <a:ext cx="2751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4CABEF87-2AE6-421B-9455-B79D8E3919D5}"/>
              </a:ext>
            </a:extLst>
          </p:cNvPr>
          <p:cNvSpPr txBox="1"/>
          <p:nvPr/>
        </p:nvSpPr>
        <p:spPr>
          <a:xfrm>
            <a:off x="5877298" y="2009581"/>
            <a:ext cx="8759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비상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(0)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0A39D6-76BF-49E1-B72D-7B854226AF2A}"/>
              </a:ext>
            </a:extLst>
          </p:cNvPr>
          <p:cNvSpPr txBox="1"/>
          <p:nvPr/>
        </p:nvSpPr>
        <p:spPr>
          <a:xfrm>
            <a:off x="7205953" y="2006843"/>
            <a:ext cx="8759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99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주의 </a:t>
            </a:r>
            <a:r>
              <a:rPr lang="en-US" altLang="ko-KR" sz="900" dirty="0">
                <a:solidFill>
                  <a:srgbClr val="FF99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(1)</a:t>
            </a:r>
            <a:endParaRPr lang="ko-KR" altLang="en-US" sz="900" dirty="0">
              <a:solidFill>
                <a:srgbClr val="FF99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509F9E-F514-4692-BE9F-14936611C9DA}"/>
              </a:ext>
            </a:extLst>
          </p:cNvPr>
          <p:cNvSpPr txBox="1"/>
          <p:nvPr/>
        </p:nvSpPr>
        <p:spPr>
          <a:xfrm>
            <a:off x="7082630" y="2309868"/>
            <a:ext cx="6589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BMS_1</a:t>
            </a:r>
            <a:endParaRPr lang="ko-KR" altLang="en-US" sz="9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0BCC7DB-4489-4F12-B3E3-5B2520A54454}"/>
              </a:ext>
            </a:extLst>
          </p:cNvPr>
          <p:cNvCxnSpPr/>
          <p:nvPr/>
        </p:nvCxnSpPr>
        <p:spPr>
          <a:xfrm>
            <a:off x="5312564" y="1952244"/>
            <a:ext cx="0" cy="1332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65363BFB-1625-4F20-8FE0-24B7088DB2D9}"/>
              </a:ext>
            </a:extLst>
          </p:cNvPr>
          <p:cNvCxnSpPr/>
          <p:nvPr/>
        </p:nvCxnSpPr>
        <p:spPr>
          <a:xfrm>
            <a:off x="6678466" y="1952244"/>
            <a:ext cx="0" cy="1332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7B03489E-56E0-47CE-9F36-3778B7711E42}"/>
              </a:ext>
            </a:extLst>
          </p:cNvPr>
          <p:cNvCxnSpPr>
            <a:cxnSpLocks/>
          </p:cNvCxnSpPr>
          <p:nvPr/>
        </p:nvCxnSpPr>
        <p:spPr>
          <a:xfrm>
            <a:off x="6678466" y="3570685"/>
            <a:ext cx="0" cy="1332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Picture 4" descr="ì£¼ìì ëí ì´ë¯¸ì§ ê²ìê²°ê³¼">
            <a:extLst>
              <a:ext uri="{FF2B5EF4-FFF2-40B4-BE49-F238E27FC236}">
                <a16:creationId xmlns:a16="http://schemas.microsoft.com/office/drawing/2014/main" id="{584CA59F-1288-4545-905A-A5FCDBAC5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759" y="3592111"/>
            <a:ext cx="287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6" descr="ì£¼ìì ëí ì´ë¯¸ì§ ê²ìê²°ê³¼">
            <a:extLst>
              <a:ext uri="{FF2B5EF4-FFF2-40B4-BE49-F238E27FC236}">
                <a16:creationId xmlns:a16="http://schemas.microsoft.com/office/drawing/2014/main" id="{16AF1F1F-A741-4CB6-A12A-FADEF646D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9397" y="3592262"/>
            <a:ext cx="2751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65CC9FBA-8100-46A8-9E13-7F966EF6AA55}"/>
              </a:ext>
            </a:extLst>
          </p:cNvPr>
          <p:cNvSpPr txBox="1"/>
          <p:nvPr/>
        </p:nvSpPr>
        <p:spPr>
          <a:xfrm>
            <a:off x="5876208" y="3622900"/>
            <a:ext cx="8759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비상 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(1)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0D9DE2-2676-4412-AD46-54B701511313}"/>
              </a:ext>
            </a:extLst>
          </p:cNvPr>
          <p:cNvSpPr txBox="1"/>
          <p:nvPr/>
        </p:nvSpPr>
        <p:spPr>
          <a:xfrm>
            <a:off x="7204863" y="3620162"/>
            <a:ext cx="8759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99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주의 </a:t>
            </a:r>
            <a:r>
              <a:rPr lang="en-US" altLang="ko-KR" sz="900" dirty="0">
                <a:solidFill>
                  <a:srgbClr val="FF99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(1)</a:t>
            </a:r>
            <a:endParaRPr lang="ko-KR" altLang="en-US" sz="900" dirty="0">
              <a:solidFill>
                <a:srgbClr val="FF99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EAD332C-B934-4375-9605-9E579AD07068}"/>
              </a:ext>
            </a:extLst>
          </p:cNvPr>
          <p:cNvSpPr txBox="1"/>
          <p:nvPr/>
        </p:nvSpPr>
        <p:spPr>
          <a:xfrm>
            <a:off x="7076013" y="3878653"/>
            <a:ext cx="6589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BMS_2</a:t>
            </a:r>
            <a:endParaRPr lang="ko-KR" altLang="en-US" sz="9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E478706-0656-40A6-A347-7E3ABA5F56DE}"/>
              </a:ext>
            </a:extLst>
          </p:cNvPr>
          <p:cNvSpPr txBox="1"/>
          <p:nvPr/>
        </p:nvSpPr>
        <p:spPr>
          <a:xfrm>
            <a:off x="5820710" y="3880258"/>
            <a:ext cx="6589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PCS_2</a:t>
            </a:r>
            <a:endParaRPr lang="ko-KR" altLang="en-US" sz="9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말풍선: 모서리가 둥근 사각형 75">
            <a:extLst>
              <a:ext uri="{FF2B5EF4-FFF2-40B4-BE49-F238E27FC236}">
                <a16:creationId xmlns:a16="http://schemas.microsoft.com/office/drawing/2014/main" id="{144634E7-CFE1-4585-A6D7-4C26EC2828A1}"/>
              </a:ext>
            </a:extLst>
          </p:cNvPr>
          <p:cNvSpPr/>
          <p:nvPr/>
        </p:nvSpPr>
        <p:spPr>
          <a:xfrm>
            <a:off x="3929721" y="4942120"/>
            <a:ext cx="1907063" cy="517793"/>
          </a:xfrm>
          <a:prstGeom prst="wedgeRoundRectCallout">
            <a:avLst>
              <a:gd name="adj1" fmla="val -31973"/>
              <a:gd name="adj2" fmla="val -72860"/>
              <a:gd name="adj3" fmla="val 16667"/>
            </a:avLst>
          </a:prstGeom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- </a:t>
            </a:r>
            <a:r>
              <a:rPr kumimoji="1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장치가 많아질 경우</a:t>
            </a:r>
            <a:endParaRPr kumimoji="1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Gill Sans"/>
            </a:endParaRP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&lt; &gt; </a:t>
            </a:r>
            <a:r>
              <a:rPr kumimoji="1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아이콘을 좌</a:t>
            </a:r>
            <a:r>
              <a:rPr kumimoji="1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, </a:t>
            </a:r>
            <a:r>
              <a:rPr kumimoji="1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우에 생성하여 </a:t>
            </a:r>
            <a:r>
              <a:rPr kumimoji="1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이동가능하도록</a:t>
            </a:r>
            <a:r>
              <a:rPr kumimoji="1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 처리</a:t>
            </a:r>
            <a:endParaRPr kumimoji="1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Gill Sans"/>
            </a:endParaRPr>
          </a:p>
        </p:txBody>
      </p:sp>
      <p:sp>
        <p:nvSpPr>
          <p:cNvPr id="77" name="타원형 설명선 243">
            <a:extLst>
              <a:ext uri="{FF2B5EF4-FFF2-40B4-BE49-F238E27FC236}">
                <a16:creationId xmlns:a16="http://schemas.microsoft.com/office/drawing/2014/main" id="{07D81748-D366-49DB-8673-099CC7324394}"/>
              </a:ext>
            </a:extLst>
          </p:cNvPr>
          <p:cNvSpPr/>
          <p:nvPr/>
        </p:nvSpPr>
        <p:spPr>
          <a:xfrm>
            <a:off x="6846408" y="494948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58234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39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그룹 현황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그룹 추가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제거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그룹 추가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제거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452104"/>
              </p:ext>
            </p:extLst>
          </p:nvPr>
        </p:nvGraphicFramePr>
        <p:xfrm>
          <a:off x="8469313" y="276225"/>
          <a:ext cx="1404000" cy="6207552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선택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콤보박스에서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를 선택하면 하단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장치그룹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과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’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리스트에 해당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현황이 반영된다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텍스트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에디트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창에 직접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명을 입력하고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엔터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키를 누르면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과 같이 동작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입력된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가 존재하지 않을 경우 안내문구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입력하신 사이트를 찾을 수 없습니다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.”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內 장치 그룹 선택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 추가된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內 장치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그룹 선택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1-2)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항목과 동일하게 동작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장치그룹 편집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內 장치 그룹의 추가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삭제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수정이 가능한 팝업을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다음 페이지 참고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內 장치 현황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 추가된 그룹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內 장치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리스트 표시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사이트 內 장치 현황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內 장치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리스트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추가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삭제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Wingdings" panose="05000000000000000000" pitchFamily="2" charset="2"/>
                        </a:rPr>
                        <a:t>버튼을 사용하여 각 리스트 內에 포함된 장치를 추가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Wingdings" panose="05000000000000000000" pitchFamily="2" charset="2"/>
                        </a:rPr>
                        <a:t>삭제 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Wingdings" panose="05000000000000000000" pitchFamily="2" charset="2"/>
                        </a:rPr>
                        <a:t>.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69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적용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적용하고 이전 페이지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그룹 현황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으로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203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8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취소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적용하지 않고 이전 페이지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그룹 현황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으로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286058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ewpsp_scr_022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14E8AEF-8EA8-4944-AE52-FF98A1FB7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3" y="764704"/>
            <a:ext cx="8208912" cy="504055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762442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7D07777-30AA-4506-9C18-6F3B4C7D943C}"/>
              </a:ext>
            </a:extLst>
          </p:cNvPr>
          <p:cNvCxnSpPr>
            <a:cxnSpLocks/>
          </p:cNvCxnSpPr>
          <p:nvPr/>
        </p:nvCxnSpPr>
        <p:spPr>
          <a:xfrm>
            <a:off x="128463" y="1124744"/>
            <a:ext cx="8208912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4417E-CAA5-4FD3-BBB9-7CD5570EF571}"/>
              </a:ext>
            </a:extLst>
          </p:cNvPr>
          <p:cNvSpPr/>
          <p:nvPr/>
        </p:nvSpPr>
        <p:spPr>
          <a:xfrm>
            <a:off x="216314" y="1196752"/>
            <a:ext cx="2216405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장치 그룹 추가</a:t>
            </a:r>
            <a:r>
              <a:rPr lang="en-US" altLang="ko-KR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제거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844086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FB85F2F-51DC-4017-8C5E-AD9462F439F6}"/>
              </a:ext>
            </a:extLst>
          </p:cNvPr>
          <p:cNvSpPr/>
          <p:nvPr/>
        </p:nvSpPr>
        <p:spPr>
          <a:xfrm>
            <a:off x="344488" y="1556792"/>
            <a:ext cx="7776864" cy="3197667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30D1016A-13FB-4513-A8E9-706EE203BB52}"/>
              </a:ext>
            </a:extLst>
          </p:cNvPr>
          <p:cNvGrpSpPr/>
          <p:nvPr/>
        </p:nvGrpSpPr>
        <p:grpSpPr>
          <a:xfrm>
            <a:off x="3039178" y="5121796"/>
            <a:ext cx="2494046" cy="323428"/>
            <a:chOff x="3791228" y="5284908"/>
            <a:chExt cx="2630919" cy="360040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7726E8D3-148F-4164-832A-268A34EC9F35}"/>
                </a:ext>
              </a:extLst>
            </p:cNvPr>
            <p:cNvSpPr/>
            <p:nvPr/>
          </p:nvSpPr>
          <p:spPr>
            <a:xfrm>
              <a:off x="3791228" y="5284908"/>
              <a:ext cx="1224136" cy="360040"/>
            </a:xfrm>
            <a:prstGeom prst="rect">
              <a:avLst/>
            </a:prstGeom>
            <a:solidFill>
              <a:srgbClr val="0099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적용</a:t>
              </a: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3D9A0764-2FF1-44DF-A947-222307667FC1}"/>
                </a:ext>
              </a:extLst>
            </p:cNvPr>
            <p:cNvSpPr/>
            <p:nvPr/>
          </p:nvSpPr>
          <p:spPr>
            <a:xfrm>
              <a:off x="5198011" y="5284908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F865AF4-D812-4E47-8A2C-BB70C9A7446E}"/>
              </a:ext>
            </a:extLst>
          </p:cNvPr>
          <p:cNvSpPr/>
          <p:nvPr/>
        </p:nvSpPr>
        <p:spPr>
          <a:xfrm>
            <a:off x="344488" y="1700808"/>
            <a:ext cx="850276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사이트 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44E89D5-57EC-4427-A76C-DEC387D92F51}"/>
              </a:ext>
            </a:extLst>
          </p:cNvPr>
          <p:cNvSpPr/>
          <p:nvPr/>
        </p:nvSpPr>
        <p:spPr>
          <a:xfrm>
            <a:off x="1328683" y="1700808"/>
            <a:ext cx="2216695" cy="3239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롯데 정밀 화학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E2D75D4-0BB3-4E93-856D-B663937405D5}"/>
              </a:ext>
            </a:extLst>
          </p:cNvPr>
          <p:cNvSpPr/>
          <p:nvPr/>
        </p:nvSpPr>
        <p:spPr>
          <a:xfrm>
            <a:off x="1078388" y="2407121"/>
            <a:ext cx="1440160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그룹에 포함된 장치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F805C03-852D-4E38-823B-7B260687800F}"/>
              </a:ext>
            </a:extLst>
          </p:cNvPr>
          <p:cNvGrpSpPr/>
          <p:nvPr/>
        </p:nvGrpSpPr>
        <p:grpSpPr>
          <a:xfrm>
            <a:off x="1088559" y="2731094"/>
            <a:ext cx="3290806" cy="1626713"/>
            <a:chOff x="1100657" y="3228816"/>
            <a:chExt cx="2668622" cy="180780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0B3E5012-7687-467A-9A40-176235875AE4}"/>
                </a:ext>
              </a:extLst>
            </p:cNvPr>
            <p:cNvSpPr/>
            <p:nvPr/>
          </p:nvSpPr>
          <p:spPr>
            <a:xfrm>
              <a:off x="1100657" y="3228817"/>
              <a:ext cx="2319215" cy="178435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200000"/>
                </a:lnSpc>
              </a:pPr>
              <a:r>
                <a:rPr lang="ko-KR" altLang="en-US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_PCS_01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_PCS_02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_BMS_03</a:t>
              </a:r>
              <a:endPara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8ABDD246-FAC3-4FD7-AED1-015D2C7A4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616" y="3633802"/>
              <a:ext cx="2160000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1717978E-CB68-4667-B2C8-4A96593EA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616" y="3973891"/>
              <a:ext cx="2160000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56D50F60-0FF8-44E4-A909-A86EB5A7E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616" y="4323930"/>
              <a:ext cx="2160000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6" name="Picture 4" descr="ê´ë ¨ ì´ë¯¸ì§">
              <a:extLst>
                <a:ext uri="{FF2B5EF4-FFF2-40B4-BE49-F238E27FC236}">
                  <a16:creationId xmlns:a16="http://schemas.microsoft.com/office/drawing/2014/main" id="{6F44EBD6-67AB-4639-88A7-F21429C496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2287" y="3228816"/>
              <a:ext cx="866992" cy="18078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A6EEDE16-7A2F-439E-A0EB-09D7BA5068B2}"/>
              </a:ext>
            </a:extLst>
          </p:cNvPr>
          <p:cNvGrpSpPr/>
          <p:nvPr/>
        </p:nvGrpSpPr>
        <p:grpSpPr>
          <a:xfrm>
            <a:off x="4800064" y="2715577"/>
            <a:ext cx="3213122" cy="1626713"/>
            <a:chOff x="5364088" y="3211572"/>
            <a:chExt cx="3183311" cy="1807807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52821123-AFBB-4823-AEB1-DA07B26BB164}"/>
                </a:ext>
              </a:extLst>
            </p:cNvPr>
            <p:cNvSpPr/>
            <p:nvPr/>
          </p:nvSpPr>
          <p:spPr>
            <a:xfrm>
              <a:off x="5364088" y="3211573"/>
              <a:ext cx="2766515" cy="178435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200000"/>
                </a:lnSpc>
              </a:pPr>
              <a:r>
                <a:rPr lang="ko-KR" altLang="en-US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_PCS_01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_PCS_02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_PCS_03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_BMS_01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_BMS_02</a:t>
              </a:r>
              <a:endPara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81BACF2B-3F89-430B-9BC1-726CA834F6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1932" y="3590919"/>
              <a:ext cx="2576593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CE1917E2-7952-415E-B1F7-43B1DC41AA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1932" y="3950056"/>
              <a:ext cx="2576593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F693D65-E3B0-497B-91F7-D1286E253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1932" y="4285724"/>
              <a:ext cx="2576593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2" name="Picture 4" descr="ê´ë ¨ ì´ë¯¸ì§">
              <a:extLst>
                <a:ext uri="{FF2B5EF4-FFF2-40B4-BE49-F238E27FC236}">
                  <a16:creationId xmlns:a16="http://schemas.microsoft.com/office/drawing/2014/main" id="{6E0D5C54-9FEC-44ED-8A61-00725E4E78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3193" y="3211572"/>
              <a:ext cx="1034206" cy="18078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6CD9608D-1C2B-4A79-9E37-6F8B167FE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1932" y="4628236"/>
              <a:ext cx="2576593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24B7912-C57E-4BAC-ADE4-FC75497AA8C6}"/>
              </a:ext>
            </a:extLst>
          </p:cNvPr>
          <p:cNvGrpSpPr/>
          <p:nvPr/>
        </p:nvGrpSpPr>
        <p:grpSpPr>
          <a:xfrm>
            <a:off x="4184292" y="3145423"/>
            <a:ext cx="393759" cy="745922"/>
            <a:chOff x="4437543" y="3456671"/>
            <a:chExt cx="423448" cy="828962"/>
          </a:xfrm>
        </p:grpSpPr>
        <p:pic>
          <p:nvPicPr>
            <p:cNvPr id="67" name="Picture 6" descr="white arrowì ëí ì´ë¯¸ì§ ê²ìê²°ê³¼">
              <a:extLst>
                <a:ext uri="{FF2B5EF4-FFF2-40B4-BE49-F238E27FC236}">
                  <a16:creationId xmlns:a16="http://schemas.microsoft.com/office/drawing/2014/main" id="{42F4033E-32DD-4EA0-B8B6-9FDBCAFE5E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4437544" y="3456671"/>
              <a:ext cx="423447" cy="423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Picture 8" descr="white arrowì ëí ì´ë¯¸ì§ ê²ìê²°ê³¼">
              <a:extLst>
                <a:ext uri="{FF2B5EF4-FFF2-40B4-BE49-F238E27FC236}">
                  <a16:creationId xmlns:a16="http://schemas.microsoft.com/office/drawing/2014/main" id="{D4A218E6-1CBE-4834-B8A3-5D1653EFCD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543" y="3862185"/>
              <a:ext cx="423448" cy="4234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3C75D86-456C-40F9-8DD5-C0EA33A6DFA9}"/>
              </a:ext>
            </a:extLst>
          </p:cNvPr>
          <p:cNvSpPr/>
          <p:nvPr/>
        </p:nvSpPr>
        <p:spPr>
          <a:xfrm>
            <a:off x="4750796" y="2408081"/>
            <a:ext cx="1138308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사이트 내 장치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7F3C013-B344-4F51-9EF0-D4AB977EE137}"/>
              </a:ext>
            </a:extLst>
          </p:cNvPr>
          <p:cNvSpPr/>
          <p:nvPr/>
        </p:nvSpPr>
        <p:spPr>
          <a:xfrm>
            <a:off x="3548692" y="1700808"/>
            <a:ext cx="334796" cy="323974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227" name="타원형 설명선 226"/>
          <p:cNvSpPr/>
          <p:nvPr/>
        </p:nvSpPr>
        <p:spPr>
          <a:xfrm>
            <a:off x="4038127" y="158316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872559" y="235099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4576827" y="235099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7" name="타원형 설명선 246"/>
          <p:cNvSpPr/>
          <p:nvPr/>
        </p:nvSpPr>
        <p:spPr>
          <a:xfrm>
            <a:off x="4157598" y="492553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" name="타원형 설명선 265"/>
          <p:cNvSpPr/>
          <p:nvPr/>
        </p:nvSpPr>
        <p:spPr>
          <a:xfrm>
            <a:off x="2799240" y="492553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458958" y="1585659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말풍선: 모서리가 둥근 사각형 72">
            <a:extLst>
              <a:ext uri="{FF2B5EF4-FFF2-40B4-BE49-F238E27FC236}">
                <a16:creationId xmlns:a16="http://schemas.microsoft.com/office/drawing/2014/main" id="{F414FDFC-4E1D-4716-9AA1-B567A1EE790F}"/>
              </a:ext>
            </a:extLst>
          </p:cNvPr>
          <p:cNvSpPr/>
          <p:nvPr/>
        </p:nvSpPr>
        <p:spPr>
          <a:xfrm>
            <a:off x="1118058" y="4397680"/>
            <a:ext cx="2394782" cy="517793"/>
          </a:xfrm>
          <a:prstGeom prst="wedgeRoundRectCallout">
            <a:avLst>
              <a:gd name="adj1" fmla="val -32861"/>
              <a:gd name="adj2" fmla="val -75598"/>
              <a:gd name="adj3" fmla="val 16667"/>
            </a:avLst>
          </a:prstGeom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Description #2-2), #2-3) </a:t>
            </a:r>
            <a:r>
              <a:rPr kumimoji="1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항목에 대한 동작을 리스트 </a:t>
            </a:r>
            <a:r>
              <a:rPr kumimoji="1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UI </a:t>
            </a:r>
            <a:r>
              <a:rPr kumimoji="1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상에 버튼 등으로 추가하는 방안 검토</a:t>
            </a:r>
            <a:endParaRPr kumimoji="1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Gill San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649E07A-7A68-4A13-A8F7-FD79A0570A9A}"/>
              </a:ext>
            </a:extLst>
          </p:cNvPr>
          <p:cNvSpPr/>
          <p:nvPr/>
        </p:nvSpPr>
        <p:spPr>
          <a:xfrm>
            <a:off x="3790264" y="1695986"/>
            <a:ext cx="1138308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장치</a:t>
            </a: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그룹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338F2B5-647D-4895-93FF-A2F587EDA292}"/>
              </a:ext>
            </a:extLst>
          </p:cNvPr>
          <p:cNvSpPr/>
          <p:nvPr/>
        </p:nvSpPr>
        <p:spPr>
          <a:xfrm>
            <a:off x="5062491" y="1695986"/>
            <a:ext cx="2216695" cy="3239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롯데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_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장치그룹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_01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5818874-825F-4255-8751-74823B8D071F}"/>
              </a:ext>
            </a:extLst>
          </p:cNvPr>
          <p:cNvSpPr/>
          <p:nvPr/>
        </p:nvSpPr>
        <p:spPr>
          <a:xfrm>
            <a:off x="7282500" y="1695986"/>
            <a:ext cx="334796" cy="323974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77" name="Picture 2" descr="editì ëí ì´ë¯¸ì§ ê²ìê²°ê³¼">
            <a:extLst>
              <a:ext uri="{FF2B5EF4-FFF2-40B4-BE49-F238E27FC236}">
                <a16:creationId xmlns:a16="http://schemas.microsoft.com/office/drawing/2014/main" id="{D1AD4A20-5A02-4BA3-9251-D70449948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296" y="1671491"/>
            <a:ext cx="348469" cy="34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" name="타원형 설명선 244"/>
          <p:cNvSpPr/>
          <p:nvPr/>
        </p:nvSpPr>
        <p:spPr>
          <a:xfrm>
            <a:off x="7418797" y="152195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타원형 설명선 265">
            <a:extLst>
              <a:ext uri="{FF2B5EF4-FFF2-40B4-BE49-F238E27FC236}">
                <a16:creationId xmlns:a16="http://schemas.microsoft.com/office/drawing/2014/main" id="{93539A79-AC69-44AD-80F8-C257969835DB}"/>
              </a:ext>
            </a:extLst>
          </p:cNvPr>
          <p:cNvSpPr/>
          <p:nvPr/>
        </p:nvSpPr>
        <p:spPr>
          <a:xfrm>
            <a:off x="4025683" y="304385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62930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40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모니터링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그룹 현황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그룹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그룹 편집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495946"/>
              </p:ext>
            </p:extLst>
          </p:nvPr>
        </p:nvGraphicFramePr>
        <p:xfrm>
          <a:off x="8469313" y="276225"/>
          <a:ext cx="1404000" cy="5527104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선택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콤보박스에서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를 선택하면 하단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장치그룹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과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’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리스트에 해당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의 현황이 반영된다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텍스트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에디트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창에 직접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명을 입력하고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엔터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키를 누르면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과 같이 동작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입력된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가 존재하지 않을 경우 안내문구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입력하신 사이트를 찾을 수 없습니다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.”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Site</a:t>
                      </a: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內 장치 그룹</a:t>
                      </a:r>
                      <a:r>
                        <a:rPr lang="en-US" altLang="ko-KR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현황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 선택된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Site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內 장치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그룹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리스트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리스트 내 각 항목은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editable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상태이며 마우스 클릭 후 활성화되면 장치 그룹명을 편집 가능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장치 그룹 삭제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1) 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버튼 클릭하여 해당 장치 그룹 삭제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리스트 내 장치 그룹명을 선택하고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delete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키를 누르면 동일 동작 진행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그룹 추가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에디트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영역에 장치 그룹 명을 입력하고 우측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+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버튼을 클릭하면 장치 그룹 추가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적용하고 팝업을 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취소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적용하지 않고 팝업을 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ewpsp_scr_023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0DBD963-6553-410B-BFF5-229C31D43475}"/>
              </a:ext>
            </a:extLst>
          </p:cNvPr>
          <p:cNvSpPr/>
          <p:nvPr/>
        </p:nvSpPr>
        <p:spPr>
          <a:xfrm>
            <a:off x="373623" y="737091"/>
            <a:ext cx="4363353" cy="30519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200000"/>
              </a:lnSpc>
            </a:pPr>
            <a:endParaRPr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E378E4C-417D-46FC-8EB2-997074DCFB87}"/>
              </a:ext>
            </a:extLst>
          </p:cNvPr>
          <p:cNvSpPr txBox="1"/>
          <p:nvPr/>
        </p:nvSpPr>
        <p:spPr>
          <a:xfrm>
            <a:off x="378210" y="407514"/>
            <a:ext cx="1982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장치 그룹 편집 팝업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0AD99E74-E4F8-4B82-A2CD-9386EF543A8B}"/>
              </a:ext>
            </a:extLst>
          </p:cNvPr>
          <p:cNvGrpSpPr/>
          <p:nvPr/>
        </p:nvGrpSpPr>
        <p:grpSpPr>
          <a:xfrm>
            <a:off x="992560" y="1427641"/>
            <a:ext cx="3600400" cy="1626713"/>
            <a:chOff x="1100657" y="3228816"/>
            <a:chExt cx="2668622" cy="180780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974D6881-ECEE-4E2C-A4B3-C75BCC16014E}"/>
                </a:ext>
              </a:extLst>
            </p:cNvPr>
            <p:cNvSpPr/>
            <p:nvPr/>
          </p:nvSpPr>
          <p:spPr>
            <a:xfrm>
              <a:off x="1100657" y="3228817"/>
              <a:ext cx="2319215" cy="178435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200000"/>
                </a:lnSpc>
              </a:pPr>
              <a:r>
                <a:rPr lang="ko-KR" altLang="en-US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</a:t>
              </a:r>
              <a:r>
                <a:rPr lang="ko-KR" altLang="en-US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장치그룹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</a:t>
              </a:r>
              <a:r>
                <a:rPr lang="ko-KR" altLang="en-US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장치그룹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_02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</a:t>
              </a:r>
              <a:r>
                <a:rPr lang="ko-KR" altLang="en-US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장치그룹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_03</a:t>
              </a:r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BBE382CB-7FB4-4349-B757-F0B3756754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616" y="3633802"/>
              <a:ext cx="2160000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BF3D7605-B4DA-4590-ABFB-8CDFEA0DC6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616" y="3973891"/>
              <a:ext cx="2160000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1291EB12-1BED-4251-8B98-71D9DC6122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616" y="4323930"/>
              <a:ext cx="2160000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Picture 4" descr="ê´ë ¨ ì´ë¯¸ì§">
              <a:extLst>
                <a:ext uri="{FF2B5EF4-FFF2-40B4-BE49-F238E27FC236}">
                  <a16:creationId xmlns:a16="http://schemas.microsoft.com/office/drawing/2014/main" id="{9EE981B0-52E6-4178-8F73-2925A06E2F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2287" y="3228816"/>
              <a:ext cx="866992" cy="18078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60D982C-7F26-44D9-89C7-D01BD08B20FD}"/>
              </a:ext>
            </a:extLst>
          </p:cNvPr>
          <p:cNvGrpSpPr/>
          <p:nvPr/>
        </p:nvGrpSpPr>
        <p:grpSpPr>
          <a:xfrm>
            <a:off x="1222812" y="3284984"/>
            <a:ext cx="2494046" cy="323428"/>
            <a:chOff x="3791228" y="5284908"/>
            <a:chExt cx="2630919" cy="360040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D78F6B5F-2DE0-46C0-804A-7FD446E3A050}"/>
                </a:ext>
              </a:extLst>
            </p:cNvPr>
            <p:cNvSpPr/>
            <p:nvPr/>
          </p:nvSpPr>
          <p:spPr>
            <a:xfrm>
              <a:off x="3791228" y="5284908"/>
              <a:ext cx="1224136" cy="360040"/>
            </a:xfrm>
            <a:prstGeom prst="rect">
              <a:avLst/>
            </a:prstGeom>
            <a:solidFill>
              <a:srgbClr val="0099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9AACB16A-A432-4E62-8840-DBA85B487862}"/>
                </a:ext>
              </a:extLst>
            </p:cNvPr>
            <p:cNvSpPr/>
            <p:nvPr/>
          </p:nvSpPr>
          <p:spPr>
            <a:xfrm>
              <a:off x="5198011" y="5284908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4FEF60E-79CA-4C96-93CE-80B774127007}"/>
              </a:ext>
            </a:extLst>
          </p:cNvPr>
          <p:cNvSpPr/>
          <p:nvPr/>
        </p:nvSpPr>
        <p:spPr>
          <a:xfrm>
            <a:off x="606245" y="920378"/>
            <a:ext cx="850276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사이트 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1C41558-AAC1-4B9A-BC4B-167FE8B81F45}"/>
              </a:ext>
            </a:extLst>
          </p:cNvPr>
          <p:cNvSpPr/>
          <p:nvPr/>
        </p:nvSpPr>
        <p:spPr>
          <a:xfrm>
            <a:off x="1590440" y="920378"/>
            <a:ext cx="2216695" cy="3239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롯데 정밀 화학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FAF4FEF-9533-470D-88B3-3E88E1FF897E}"/>
              </a:ext>
            </a:extLst>
          </p:cNvPr>
          <p:cNvSpPr/>
          <p:nvPr/>
        </p:nvSpPr>
        <p:spPr>
          <a:xfrm>
            <a:off x="3810449" y="920378"/>
            <a:ext cx="334796" cy="323974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4098" name="Picture 2" descr="ì­ì ì ëí ì´ë¯¸ì§ ê²ìê²°ê³¼">
            <a:extLst>
              <a:ext uri="{FF2B5EF4-FFF2-40B4-BE49-F238E27FC236}">
                <a16:creationId xmlns:a16="http://schemas.microsoft.com/office/drawing/2014/main" id="{99016921-344E-42F9-85A9-B6B3682D2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830" y="1554316"/>
            <a:ext cx="200055" cy="20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2" descr="ì­ì ì ëí ì´ë¯¸ì§ ê²ìê²°ê³¼">
            <a:extLst>
              <a:ext uri="{FF2B5EF4-FFF2-40B4-BE49-F238E27FC236}">
                <a16:creationId xmlns:a16="http://schemas.microsoft.com/office/drawing/2014/main" id="{13C9F879-CF66-4FED-A9DC-3D61751ED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829" y="1852601"/>
            <a:ext cx="200055" cy="20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2" descr="ì­ì ì ëí ì´ë¯¸ì§ ê²ìê²°ê³¼">
            <a:extLst>
              <a:ext uri="{FF2B5EF4-FFF2-40B4-BE49-F238E27FC236}">
                <a16:creationId xmlns:a16="http://schemas.microsoft.com/office/drawing/2014/main" id="{0A0CC7A3-059E-4F56-94DD-8B29BF10D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829" y="2143798"/>
            <a:ext cx="200055" cy="20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ê´ë ¨ ì´ë¯¸ì§">
            <a:extLst>
              <a:ext uri="{FF2B5EF4-FFF2-40B4-BE49-F238E27FC236}">
                <a16:creationId xmlns:a16="http://schemas.microsoft.com/office/drawing/2014/main" id="{0C7CDA59-2BCF-410E-B829-A37678CDC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856" y="2452816"/>
            <a:ext cx="234000" cy="2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AF80840A-E91B-4EC5-A6DB-214EF0E3555A}"/>
              </a:ext>
            </a:extLst>
          </p:cNvPr>
          <p:cNvSpPr/>
          <p:nvPr/>
        </p:nvSpPr>
        <p:spPr>
          <a:xfrm>
            <a:off x="1061392" y="2445154"/>
            <a:ext cx="2451447" cy="281946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타원형 설명선 226">
            <a:extLst>
              <a:ext uri="{FF2B5EF4-FFF2-40B4-BE49-F238E27FC236}">
                <a16:creationId xmlns:a16="http://schemas.microsoft.com/office/drawing/2014/main" id="{EFD1149C-96CE-4EA1-9D7D-C50D63557569}"/>
              </a:ext>
            </a:extLst>
          </p:cNvPr>
          <p:cNvSpPr/>
          <p:nvPr/>
        </p:nvSpPr>
        <p:spPr>
          <a:xfrm>
            <a:off x="666903" y="123901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타원형 설명선 243">
            <a:extLst>
              <a:ext uri="{FF2B5EF4-FFF2-40B4-BE49-F238E27FC236}">
                <a16:creationId xmlns:a16="http://schemas.microsoft.com/office/drawing/2014/main" id="{D29AD12E-8E7B-4125-BDDB-6B3CDC6DCAE3}"/>
              </a:ext>
            </a:extLst>
          </p:cNvPr>
          <p:cNvSpPr/>
          <p:nvPr/>
        </p:nvSpPr>
        <p:spPr>
          <a:xfrm>
            <a:off x="758375" y="230642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타원형 설명선 244">
            <a:extLst>
              <a:ext uri="{FF2B5EF4-FFF2-40B4-BE49-F238E27FC236}">
                <a16:creationId xmlns:a16="http://schemas.microsoft.com/office/drawing/2014/main" id="{D3163BF3-701F-4E5F-8B26-8DFB1E0E8D3C}"/>
              </a:ext>
            </a:extLst>
          </p:cNvPr>
          <p:cNvSpPr/>
          <p:nvPr/>
        </p:nvSpPr>
        <p:spPr>
          <a:xfrm>
            <a:off x="3244759" y="136698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타원형 설명선 245">
            <a:extLst>
              <a:ext uri="{FF2B5EF4-FFF2-40B4-BE49-F238E27FC236}">
                <a16:creationId xmlns:a16="http://schemas.microsoft.com/office/drawing/2014/main" id="{16AF123E-CE29-42D9-ABE4-FDFECB49598D}"/>
              </a:ext>
            </a:extLst>
          </p:cNvPr>
          <p:cNvSpPr/>
          <p:nvPr/>
        </p:nvSpPr>
        <p:spPr>
          <a:xfrm>
            <a:off x="1032461" y="305112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타원형 설명선 265">
            <a:extLst>
              <a:ext uri="{FF2B5EF4-FFF2-40B4-BE49-F238E27FC236}">
                <a16:creationId xmlns:a16="http://schemas.microsoft.com/office/drawing/2014/main" id="{1BCA392B-C604-4257-AC47-327CAD17BFF6}"/>
              </a:ext>
            </a:extLst>
          </p:cNvPr>
          <p:cNvSpPr/>
          <p:nvPr/>
        </p:nvSpPr>
        <p:spPr>
          <a:xfrm>
            <a:off x="2339299" y="306073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타원형 설명선 225">
            <a:extLst>
              <a:ext uri="{FF2B5EF4-FFF2-40B4-BE49-F238E27FC236}">
                <a16:creationId xmlns:a16="http://schemas.microsoft.com/office/drawing/2014/main" id="{9AD54132-DB96-47B0-83A3-FD8E738F7AF6}"/>
              </a:ext>
            </a:extLst>
          </p:cNvPr>
          <p:cNvSpPr/>
          <p:nvPr/>
        </p:nvSpPr>
        <p:spPr>
          <a:xfrm>
            <a:off x="648149" y="812378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말풍선: 모서리가 둥근 사각형 97">
            <a:extLst>
              <a:ext uri="{FF2B5EF4-FFF2-40B4-BE49-F238E27FC236}">
                <a16:creationId xmlns:a16="http://schemas.microsoft.com/office/drawing/2014/main" id="{82BB19FC-0EB4-48CE-959B-A0F859D7CF3C}"/>
              </a:ext>
            </a:extLst>
          </p:cNvPr>
          <p:cNvSpPr/>
          <p:nvPr/>
        </p:nvSpPr>
        <p:spPr>
          <a:xfrm>
            <a:off x="3742550" y="3849583"/>
            <a:ext cx="2002538" cy="517793"/>
          </a:xfrm>
          <a:prstGeom prst="wedgeRoundRectCallout">
            <a:avLst>
              <a:gd name="adj1" fmla="val -31973"/>
              <a:gd name="adj2" fmla="val -72860"/>
              <a:gd name="adj3" fmla="val 16667"/>
            </a:avLst>
          </a:prstGeom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임의의 구성이므로 디자인</a:t>
            </a:r>
            <a:r>
              <a:rPr kumimoji="1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/</a:t>
            </a:r>
            <a:r>
              <a:rPr kumimoji="1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퍼블리싱 검토 시에 범용적인 형태의 편집 창으로 구성 필요</a:t>
            </a:r>
            <a:endParaRPr kumimoji="1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9845998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41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상황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관제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상황 관제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988260"/>
              </p:ext>
            </p:extLst>
          </p:nvPr>
        </p:nvGraphicFramePr>
        <p:xfrm>
          <a:off x="8469313" y="276225"/>
          <a:ext cx="1404000" cy="543072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 확인 기간 선택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 조회를 위한 기본 제공 기간 표시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오늘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개월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 확인 기간 지정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 조회를 위한 기간 직접 입력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시작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종료 일정 선택 후에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버튼을 클릭하면 조회 및 갱신 진행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 별 알람 현황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 별 알람 현황 표시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비상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주의 구분 없이 표시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비상 알람 현황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內 비상 알람에 대한 리스트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장치타입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ID,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알람시간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알람타입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알람메시지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알람상태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조치여부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조치여부는 편집이 가능하도록 구성된다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사용자 편집 가능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*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차후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spec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 후 최종 반영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주의 알람 현황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 內 주의 알람에 대한 리스트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장치타입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ID,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알람시간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알람타입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알람메시지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알람상태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조치여부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*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차후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spec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 후 최종 반영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ewpsp_scr_024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14E8AEF-8EA8-4944-AE52-FF98A1FB7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3" y="764704"/>
            <a:ext cx="8208912" cy="48965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762442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7D07777-30AA-4506-9C18-6F3B4C7D943C}"/>
              </a:ext>
            </a:extLst>
          </p:cNvPr>
          <p:cNvCxnSpPr>
            <a:cxnSpLocks/>
          </p:cNvCxnSpPr>
          <p:nvPr/>
        </p:nvCxnSpPr>
        <p:spPr>
          <a:xfrm>
            <a:off x="128463" y="1124744"/>
            <a:ext cx="8208912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844086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FF961FF0-B06A-4DE7-80CF-7120ED9C40E4}"/>
              </a:ext>
            </a:extLst>
          </p:cNvPr>
          <p:cNvSpPr/>
          <p:nvPr/>
        </p:nvSpPr>
        <p:spPr>
          <a:xfrm>
            <a:off x="194427" y="2795104"/>
            <a:ext cx="1267003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비상 알람 현황 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(2)</a:t>
            </a:r>
            <a:endParaRPr lang="ko-KR" altLang="en-US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2B2C55A-CB3A-48E6-842E-AEC22848B775}"/>
              </a:ext>
            </a:extLst>
          </p:cNvPr>
          <p:cNvSpPr/>
          <p:nvPr/>
        </p:nvSpPr>
        <p:spPr>
          <a:xfrm>
            <a:off x="194427" y="4149080"/>
            <a:ext cx="1267003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FF99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주의 알람 현황 </a:t>
            </a:r>
            <a:r>
              <a:rPr lang="en-US" altLang="ko-KR" sz="1100" b="1" dirty="0">
                <a:solidFill>
                  <a:srgbClr val="FF99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(3)</a:t>
            </a:r>
            <a:endParaRPr lang="ko-KR" altLang="en-US" sz="800" b="1" dirty="0">
              <a:solidFill>
                <a:srgbClr val="FF99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02B3EEE5-B1A0-407B-8669-F0A58C57B5F8}"/>
              </a:ext>
            </a:extLst>
          </p:cNvPr>
          <p:cNvGrpSpPr/>
          <p:nvPr/>
        </p:nvGrpSpPr>
        <p:grpSpPr>
          <a:xfrm>
            <a:off x="210356" y="1203435"/>
            <a:ext cx="8024876" cy="260092"/>
            <a:chOff x="184526" y="1505937"/>
            <a:chExt cx="8024876" cy="260092"/>
          </a:xfrm>
        </p:grpSpPr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B4D1C5AF-EF0F-41CE-A5B4-C9F158E00F5E}"/>
                </a:ext>
              </a:extLst>
            </p:cNvPr>
            <p:cNvSpPr/>
            <p:nvPr/>
          </p:nvSpPr>
          <p:spPr>
            <a:xfrm>
              <a:off x="5810955" y="1550585"/>
              <a:ext cx="18205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수익 현황</a:t>
              </a: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47B2C708-B8C6-4801-9537-07C91D6B38B1}"/>
                </a:ext>
              </a:extLst>
            </p:cNvPr>
            <p:cNvSpPr/>
            <p:nvPr/>
          </p:nvSpPr>
          <p:spPr>
            <a:xfrm>
              <a:off x="184526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에너지 모니터링</a:t>
              </a: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CDF83034-1DA8-4D53-8D2B-6BB884DC515A}"/>
                </a:ext>
              </a:extLst>
            </p:cNvPr>
            <p:cNvSpPr/>
            <p:nvPr/>
          </p:nvSpPr>
          <p:spPr>
            <a:xfrm>
              <a:off x="2191085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장치 모니터링</a:t>
              </a: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1FC06577-1B1F-41A1-A98E-D9BA4F69C11C}"/>
                </a:ext>
              </a:extLst>
            </p:cNvPr>
            <p:cNvSpPr/>
            <p:nvPr/>
          </p:nvSpPr>
          <p:spPr>
            <a:xfrm>
              <a:off x="4197644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상황</a:t>
              </a:r>
              <a:r>
                <a:rPr lang="en-US" altLang="ko-KR" sz="700" dirty="0"/>
                <a:t> </a:t>
              </a:r>
              <a:r>
                <a:rPr lang="ko-KR" altLang="en-US" sz="700" dirty="0"/>
                <a:t>관제</a:t>
              </a: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0EEB248A-4E2F-4604-809B-8DABFC1348C1}"/>
                </a:ext>
              </a:extLst>
            </p:cNvPr>
            <p:cNvSpPr/>
            <p:nvPr/>
          </p:nvSpPr>
          <p:spPr>
            <a:xfrm>
              <a:off x="6204202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요금</a:t>
              </a:r>
              <a:r>
                <a:rPr lang="en-US" altLang="ko-KR" sz="700" dirty="0"/>
                <a:t>/</a:t>
              </a:r>
              <a:r>
                <a:rPr lang="ko-KR" altLang="en-US" sz="700" dirty="0"/>
                <a:t>수익</a:t>
              </a:r>
            </a:p>
          </p:txBody>
        </p:sp>
      </p:grp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CF8F42C2-0E6E-4FC3-8743-955F5B355F21}"/>
              </a:ext>
            </a:extLst>
          </p:cNvPr>
          <p:cNvSpPr/>
          <p:nvPr/>
        </p:nvSpPr>
        <p:spPr>
          <a:xfrm>
            <a:off x="4332753" y="1564409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E8921834-2370-409E-9FB6-957FE75767D1}"/>
              </a:ext>
            </a:extLst>
          </p:cNvPr>
          <p:cNvSpPr/>
          <p:nvPr/>
        </p:nvSpPr>
        <p:spPr>
          <a:xfrm>
            <a:off x="5595506" y="1564409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8C0475F-767D-4968-B239-64E8DF30C9DD}"/>
              </a:ext>
            </a:extLst>
          </p:cNvPr>
          <p:cNvSpPr/>
          <p:nvPr/>
        </p:nvSpPr>
        <p:spPr>
          <a:xfrm>
            <a:off x="5883538" y="1564409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5C21EEE7-E7FF-4C7B-8D0F-E42EDF56C030}"/>
              </a:ext>
            </a:extLst>
          </p:cNvPr>
          <p:cNvSpPr/>
          <p:nvPr/>
        </p:nvSpPr>
        <p:spPr>
          <a:xfrm>
            <a:off x="6132953" y="1564409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1E5A3EDC-C4EE-473B-A522-2C43DA6F2EBE}"/>
              </a:ext>
            </a:extLst>
          </p:cNvPr>
          <p:cNvSpPr/>
          <p:nvPr/>
        </p:nvSpPr>
        <p:spPr>
          <a:xfrm>
            <a:off x="7395706" y="1564409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4EC2CE1F-95FF-44B6-B6E3-594018B8589D}"/>
              </a:ext>
            </a:extLst>
          </p:cNvPr>
          <p:cNvSpPr/>
          <p:nvPr/>
        </p:nvSpPr>
        <p:spPr>
          <a:xfrm>
            <a:off x="7714065" y="1564409"/>
            <a:ext cx="471046" cy="288033"/>
          </a:xfrm>
          <a:prstGeom prst="rect">
            <a:avLst/>
          </a:prstGeom>
          <a:solidFill>
            <a:srgbClr val="0099FF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</a:t>
            </a: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E1D9C8AC-4A60-4C5C-99D4-2AF4F6BDEB1B}"/>
              </a:ext>
            </a:extLst>
          </p:cNvPr>
          <p:cNvSpPr/>
          <p:nvPr/>
        </p:nvSpPr>
        <p:spPr>
          <a:xfrm>
            <a:off x="1275335" y="1556792"/>
            <a:ext cx="1013369" cy="295649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일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오늘</a:t>
            </a:r>
            <a:r>
              <a:rPr lang="en-US" altLang="ko-KR" sz="900" dirty="0">
                <a:solidFill>
                  <a:schemeClr val="tx1"/>
                </a:solidFill>
              </a:rPr>
              <a:t>) 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F20A0837-49C6-4153-8285-1657AE73D414}"/>
              </a:ext>
            </a:extLst>
          </p:cNvPr>
          <p:cNvSpPr/>
          <p:nvPr/>
        </p:nvSpPr>
        <p:spPr>
          <a:xfrm>
            <a:off x="216315" y="1556792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알람 현황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2133A3F-6B23-4ADF-822C-9DEA05C15891}"/>
              </a:ext>
            </a:extLst>
          </p:cNvPr>
          <p:cNvGrpSpPr/>
          <p:nvPr/>
        </p:nvGrpSpPr>
        <p:grpSpPr>
          <a:xfrm>
            <a:off x="321143" y="2009038"/>
            <a:ext cx="1476335" cy="835401"/>
            <a:chOff x="321143" y="1985652"/>
            <a:chExt cx="1476335" cy="83540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0068107-0BA8-4B00-A4BE-F7BE86D5D551}"/>
                </a:ext>
              </a:extLst>
            </p:cNvPr>
            <p:cNvSpPr/>
            <p:nvPr/>
          </p:nvSpPr>
          <p:spPr>
            <a:xfrm>
              <a:off x="321143" y="1985652"/>
              <a:ext cx="1476335" cy="83540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3" name="Picture 2" descr="enertalkì ëí ì´ë¯¸ì§ ê²ìê²°ê³¼">
              <a:extLst>
                <a:ext uri="{FF2B5EF4-FFF2-40B4-BE49-F238E27FC236}">
                  <a16:creationId xmlns:a16="http://schemas.microsoft.com/office/drawing/2014/main" id="{6D4155BC-04C5-4EDA-A9BC-9503EBBE37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024" y="2334704"/>
              <a:ext cx="423124" cy="4231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589BEED-C5E1-483C-A0B1-BA4604A7E73D}"/>
                </a:ext>
              </a:extLst>
            </p:cNvPr>
            <p:cNvCxnSpPr>
              <a:cxnSpLocks/>
            </p:cNvCxnSpPr>
            <p:nvPr/>
          </p:nvCxnSpPr>
          <p:spPr>
            <a:xfrm>
              <a:off x="992560" y="2014103"/>
              <a:ext cx="0" cy="7739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8BB889C-214C-48B1-A82D-487475D5D249}"/>
                </a:ext>
              </a:extLst>
            </p:cNvPr>
            <p:cNvSpPr txBox="1"/>
            <p:nvPr/>
          </p:nvSpPr>
          <p:spPr>
            <a:xfrm>
              <a:off x="349493" y="2014195"/>
              <a:ext cx="6697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IOE(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건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E73F82-6355-4825-B1D8-8392DDF23AEC}"/>
                </a:ext>
              </a:extLst>
            </p:cNvPr>
            <p:cNvSpPr txBox="1"/>
            <p:nvPr/>
          </p:nvSpPr>
          <p:spPr>
            <a:xfrm>
              <a:off x="1246953" y="2147310"/>
              <a:ext cx="2880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BD4ECB9D-07BE-4F3A-ADBA-2E8F0B10BA5B}"/>
              </a:ext>
            </a:extLst>
          </p:cNvPr>
          <p:cNvSpPr/>
          <p:nvPr/>
        </p:nvSpPr>
        <p:spPr>
          <a:xfrm>
            <a:off x="1911269" y="2009038"/>
            <a:ext cx="1476335" cy="8354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88F3ADFA-5478-4FEC-A0D1-9CA66A194448}"/>
              </a:ext>
            </a:extLst>
          </p:cNvPr>
          <p:cNvCxnSpPr>
            <a:cxnSpLocks/>
          </p:cNvCxnSpPr>
          <p:nvPr/>
        </p:nvCxnSpPr>
        <p:spPr>
          <a:xfrm>
            <a:off x="2582686" y="2037489"/>
            <a:ext cx="0" cy="773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7BBC897B-0CAB-4410-915C-C3721383F30F}"/>
              </a:ext>
            </a:extLst>
          </p:cNvPr>
          <p:cNvSpPr txBox="1"/>
          <p:nvPr/>
        </p:nvSpPr>
        <p:spPr>
          <a:xfrm>
            <a:off x="1939619" y="2037581"/>
            <a:ext cx="66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PCS(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E8946D3-3B14-4B48-A646-378BBCAA8167}"/>
              </a:ext>
            </a:extLst>
          </p:cNvPr>
          <p:cNvSpPr txBox="1"/>
          <p:nvPr/>
        </p:nvSpPr>
        <p:spPr>
          <a:xfrm>
            <a:off x="2837079" y="2170696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FC7198ED-609D-4EE8-89C9-A8BC35AF844D}"/>
              </a:ext>
            </a:extLst>
          </p:cNvPr>
          <p:cNvSpPr/>
          <p:nvPr/>
        </p:nvSpPr>
        <p:spPr>
          <a:xfrm>
            <a:off x="3501395" y="2009038"/>
            <a:ext cx="1476335" cy="8354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0463B798-7A54-4B44-B941-61B3C71C1022}"/>
              </a:ext>
            </a:extLst>
          </p:cNvPr>
          <p:cNvCxnSpPr>
            <a:cxnSpLocks/>
          </p:cNvCxnSpPr>
          <p:nvPr/>
        </p:nvCxnSpPr>
        <p:spPr>
          <a:xfrm>
            <a:off x="4172812" y="2037489"/>
            <a:ext cx="0" cy="773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479B1AD8-66CE-4F41-BDBD-5F7B45A0E294}"/>
              </a:ext>
            </a:extLst>
          </p:cNvPr>
          <p:cNvSpPr txBox="1"/>
          <p:nvPr/>
        </p:nvSpPr>
        <p:spPr>
          <a:xfrm>
            <a:off x="3529745" y="2037581"/>
            <a:ext cx="66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BMS(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1A4A63A-64C2-42A1-AD32-64181501079B}"/>
              </a:ext>
            </a:extLst>
          </p:cNvPr>
          <p:cNvSpPr txBox="1"/>
          <p:nvPr/>
        </p:nvSpPr>
        <p:spPr>
          <a:xfrm>
            <a:off x="4427205" y="2170696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8403265-3DD2-4BCA-A7F0-45FE57C1B8F7}"/>
              </a:ext>
            </a:extLst>
          </p:cNvPr>
          <p:cNvSpPr/>
          <p:nvPr/>
        </p:nvSpPr>
        <p:spPr>
          <a:xfrm>
            <a:off x="5091521" y="2009038"/>
            <a:ext cx="1476335" cy="8354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5292FA36-9E84-4854-95CF-2E47DCBD183A}"/>
              </a:ext>
            </a:extLst>
          </p:cNvPr>
          <p:cNvCxnSpPr>
            <a:cxnSpLocks/>
          </p:cNvCxnSpPr>
          <p:nvPr/>
        </p:nvCxnSpPr>
        <p:spPr>
          <a:xfrm>
            <a:off x="5762938" y="2037489"/>
            <a:ext cx="0" cy="773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4D706353-9122-4681-B7C8-EAE4D4DCDB74}"/>
              </a:ext>
            </a:extLst>
          </p:cNvPr>
          <p:cNvSpPr txBox="1"/>
          <p:nvPr/>
        </p:nvSpPr>
        <p:spPr>
          <a:xfrm>
            <a:off x="5119871" y="2037581"/>
            <a:ext cx="66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PV(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D3DBEB0-1C8E-4947-B574-CE965E7C2C50}"/>
              </a:ext>
            </a:extLst>
          </p:cNvPr>
          <p:cNvSpPr txBox="1"/>
          <p:nvPr/>
        </p:nvSpPr>
        <p:spPr>
          <a:xfrm>
            <a:off x="6017331" y="2170696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648B381A-0C63-4E52-A4F0-0D2CD0459AEA}"/>
              </a:ext>
            </a:extLst>
          </p:cNvPr>
          <p:cNvSpPr/>
          <p:nvPr/>
        </p:nvSpPr>
        <p:spPr>
          <a:xfrm>
            <a:off x="6681647" y="2009038"/>
            <a:ext cx="1476335" cy="8354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F7B030C4-7907-4F6D-BF1A-604AC330E8DB}"/>
              </a:ext>
            </a:extLst>
          </p:cNvPr>
          <p:cNvCxnSpPr>
            <a:cxnSpLocks/>
          </p:cNvCxnSpPr>
          <p:nvPr/>
        </p:nvCxnSpPr>
        <p:spPr>
          <a:xfrm>
            <a:off x="7353064" y="2037489"/>
            <a:ext cx="0" cy="773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17D45BF-9AB5-490C-8D0A-E4B12FE0ADD6}"/>
              </a:ext>
            </a:extLst>
          </p:cNvPr>
          <p:cNvSpPr txBox="1"/>
          <p:nvPr/>
        </p:nvSpPr>
        <p:spPr>
          <a:xfrm>
            <a:off x="6709997" y="2304507"/>
            <a:ext cx="6697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기타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3AEFC19-0FED-4B3B-9966-635EC79D9482}"/>
              </a:ext>
            </a:extLst>
          </p:cNvPr>
          <p:cNvSpPr txBox="1"/>
          <p:nvPr/>
        </p:nvSpPr>
        <p:spPr>
          <a:xfrm>
            <a:off x="7607457" y="2170696"/>
            <a:ext cx="28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2" name="Picture 2" descr="ê´ë ¨ ì´ë¯¸ì§">
            <a:extLst>
              <a:ext uri="{FF2B5EF4-FFF2-40B4-BE49-F238E27FC236}">
                <a16:creationId xmlns:a16="http://schemas.microsoft.com/office/drawing/2014/main" id="{BE263A1A-FE65-4E5C-A129-D7A155CB1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922" y="2324494"/>
            <a:ext cx="470556" cy="47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Picture 2">
            <a:extLst>
              <a:ext uri="{FF2B5EF4-FFF2-40B4-BE49-F238E27FC236}">
                <a16:creationId xmlns:a16="http://schemas.microsoft.com/office/drawing/2014/main" id="{FA878888-83E4-4101-80F3-2FAA503BF209}"/>
              </a:ext>
            </a:extLst>
          </p:cNvPr>
          <p:cNvPicPr/>
          <p:nvPr/>
        </p:nvPicPr>
        <p:blipFill>
          <a:blip r:embed="rId8" cstate="print"/>
          <a:srcRect/>
          <a:stretch>
            <a:fillRect/>
          </a:stretch>
        </p:blipFill>
        <p:spPr bwMode="auto">
          <a:xfrm flipH="1">
            <a:off x="3706988" y="2366537"/>
            <a:ext cx="299838" cy="377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5" name="Picture 8" descr="photovoltaicsì ëí ì´ë¯¸ì§ ê²ìê²°ê³¼">
            <a:extLst>
              <a:ext uri="{FF2B5EF4-FFF2-40B4-BE49-F238E27FC236}">
                <a16:creationId xmlns:a16="http://schemas.microsoft.com/office/drawing/2014/main" id="{724265E9-8B6F-4D5A-A4DC-75352347C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867" y="2312345"/>
            <a:ext cx="482945" cy="48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8E41B280-A5CE-44F5-B6F1-CCFDFE80D0F8}"/>
              </a:ext>
            </a:extLst>
          </p:cNvPr>
          <p:cNvGrpSpPr/>
          <p:nvPr/>
        </p:nvGrpSpPr>
        <p:grpSpPr>
          <a:xfrm>
            <a:off x="277142" y="3149457"/>
            <a:ext cx="8265127" cy="979690"/>
            <a:chOff x="277142" y="3149457"/>
            <a:chExt cx="8265127" cy="979690"/>
          </a:xfrm>
        </p:grpSpPr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6802D395-F52D-4555-A630-7B80B833AA3B}"/>
                </a:ext>
              </a:extLst>
            </p:cNvPr>
            <p:cNvCxnSpPr>
              <a:cxnSpLocks/>
            </p:cNvCxnSpPr>
            <p:nvPr/>
          </p:nvCxnSpPr>
          <p:spPr>
            <a:xfrm>
              <a:off x="277142" y="3149457"/>
              <a:ext cx="77480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2FE84B20-D912-46CC-B65A-2CC0FD0FA29C}"/>
                </a:ext>
              </a:extLst>
            </p:cNvPr>
            <p:cNvCxnSpPr>
              <a:cxnSpLocks/>
            </p:cNvCxnSpPr>
            <p:nvPr/>
          </p:nvCxnSpPr>
          <p:spPr>
            <a:xfrm>
              <a:off x="277142" y="3343864"/>
              <a:ext cx="77480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542F2EFD-A9DC-426D-B0B0-0C6839A7AAEA}"/>
                </a:ext>
              </a:extLst>
            </p:cNvPr>
            <p:cNvCxnSpPr>
              <a:cxnSpLocks/>
            </p:cNvCxnSpPr>
            <p:nvPr/>
          </p:nvCxnSpPr>
          <p:spPr>
            <a:xfrm>
              <a:off x="277142" y="3538271"/>
              <a:ext cx="7748043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AB0BC9D7-C2BA-430A-BBA8-906795FE11EB}"/>
                </a:ext>
              </a:extLst>
            </p:cNvPr>
            <p:cNvCxnSpPr>
              <a:cxnSpLocks/>
            </p:cNvCxnSpPr>
            <p:nvPr/>
          </p:nvCxnSpPr>
          <p:spPr>
            <a:xfrm>
              <a:off x="277142" y="3732679"/>
              <a:ext cx="7748043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9D658DDE-50E0-41B1-BFBB-D722E1187246}"/>
                </a:ext>
              </a:extLst>
            </p:cNvPr>
            <p:cNvCxnSpPr>
              <a:cxnSpLocks/>
            </p:cNvCxnSpPr>
            <p:nvPr/>
          </p:nvCxnSpPr>
          <p:spPr>
            <a:xfrm>
              <a:off x="277142" y="3927086"/>
              <a:ext cx="7748043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B92A9527-6DED-4C1E-8BA3-1CC2E8FD9842}"/>
                </a:ext>
              </a:extLst>
            </p:cNvPr>
            <p:cNvCxnSpPr>
              <a:cxnSpLocks/>
            </p:cNvCxnSpPr>
            <p:nvPr/>
          </p:nvCxnSpPr>
          <p:spPr>
            <a:xfrm>
              <a:off x="277142" y="4121493"/>
              <a:ext cx="7748043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EC5D7B87-DF81-4C4C-BB28-29ADCE252F7E}"/>
                </a:ext>
              </a:extLst>
            </p:cNvPr>
            <p:cNvGrpSpPr/>
            <p:nvPr/>
          </p:nvGrpSpPr>
          <p:grpSpPr>
            <a:xfrm>
              <a:off x="7697939" y="3326635"/>
              <a:ext cx="844330" cy="801586"/>
              <a:chOff x="8242960" y="2282537"/>
              <a:chExt cx="866992" cy="1143702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C3321668-029B-4E3B-8BBF-0485B6487D87}"/>
                  </a:ext>
                </a:extLst>
              </p:cNvPr>
              <p:cNvSpPr/>
              <p:nvPr/>
            </p:nvSpPr>
            <p:spPr>
              <a:xfrm>
                <a:off x="8579077" y="2289300"/>
                <a:ext cx="164131" cy="11369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62" name="Picture 4" descr="ê´ë ¨ ì´ë¯¸ì§">
                <a:extLst>
                  <a:ext uri="{FF2B5EF4-FFF2-40B4-BE49-F238E27FC236}">
                    <a16:creationId xmlns:a16="http://schemas.microsoft.com/office/drawing/2014/main" id="{BDF92AE1-4C00-4EE5-80D9-8496CB5106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42960" y="2282537"/>
                <a:ext cx="866992" cy="11437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35A7499-D871-427A-BFE9-F5533B00EAA3}"/>
                </a:ext>
              </a:extLst>
            </p:cNvPr>
            <p:cNvSpPr txBox="1"/>
            <p:nvPr/>
          </p:nvSpPr>
          <p:spPr>
            <a:xfrm>
              <a:off x="1025735" y="3158233"/>
              <a:ext cx="614897" cy="20005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장치 명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E20E09F-5951-46F4-8127-EE007BF9A043}"/>
                </a:ext>
              </a:extLst>
            </p:cNvPr>
            <p:cNvSpPr txBox="1"/>
            <p:nvPr/>
          </p:nvSpPr>
          <p:spPr>
            <a:xfrm>
              <a:off x="1753330" y="3158232"/>
              <a:ext cx="614897" cy="20005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장치 </a:t>
              </a:r>
              <a:r>
                <a:rPr lang="en-US" altLang="ko-KR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00DA903-A828-4247-99CF-B3AD6119CFED}"/>
                </a:ext>
              </a:extLst>
            </p:cNvPr>
            <p:cNvSpPr txBox="1"/>
            <p:nvPr/>
          </p:nvSpPr>
          <p:spPr>
            <a:xfrm>
              <a:off x="3420115" y="3158233"/>
              <a:ext cx="747163" cy="200057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알람 타입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50C6183-0BCF-42FF-B08F-DF60489D516A}"/>
                </a:ext>
              </a:extLst>
            </p:cNvPr>
            <p:cNvSpPr txBox="1"/>
            <p:nvPr/>
          </p:nvSpPr>
          <p:spPr>
            <a:xfrm>
              <a:off x="4693130" y="3158233"/>
              <a:ext cx="907942" cy="200057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알람 메시지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A83A878-BF96-47AD-84E5-848417EAD324}"/>
                </a:ext>
              </a:extLst>
            </p:cNvPr>
            <p:cNvSpPr txBox="1"/>
            <p:nvPr/>
          </p:nvSpPr>
          <p:spPr>
            <a:xfrm>
              <a:off x="6151156" y="3158233"/>
              <a:ext cx="771705" cy="200057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알람 상태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DA30F64-4F97-468B-82DE-A78031E001B2}"/>
                </a:ext>
              </a:extLst>
            </p:cNvPr>
            <p:cNvSpPr txBox="1"/>
            <p:nvPr/>
          </p:nvSpPr>
          <p:spPr>
            <a:xfrm>
              <a:off x="7050748" y="3156150"/>
              <a:ext cx="783748" cy="20005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조치 여부</a:t>
              </a:r>
            </a:p>
          </p:txBody>
        </p: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68E69F53-0751-45AC-AF70-D1FDEFB70256}"/>
                </a:ext>
              </a:extLst>
            </p:cNvPr>
            <p:cNvCxnSpPr>
              <a:cxnSpLocks/>
            </p:cNvCxnSpPr>
            <p:nvPr/>
          </p:nvCxnSpPr>
          <p:spPr>
            <a:xfrm>
              <a:off x="1630237" y="3343864"/>
              <a:ext cx="0" cy="77762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71AF4BA8-D643-4191-8ECD-5CB263DB5678}"/>
                </a:ext>
              </a:extLst>
            </p:cNvPr>
            <p:cNvCxnSpPr>
              <a:cxnSpLocks/>
            </p:cNvCxnSpPr>
            <p:nvPr/>
          </p:nvCxnSpPr>
          <p:spPr>
            <a:xfrm>
              <a:off x="2426106" y="3347022"/>
              <a:ext cx="0" cy="77762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FFD69206-8483-46D5-84EF-10A6D85E205D}"/>
                </a:ext>
              </a:extLst>
            </p:cNvPr>
            <p:cNvCxnSpPr>
              <a:cxnSpLocks/>
            </p:cNvCxnSpPr>
            <p:nvPr/>
          </p:nvCxnSpPr>
          <p:spPr>
            <a:xfrm>
              <a:off x="4232920" y="3340761"/>
              <a:ext cx="0" cy="77762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3D7CD2C6-2CF1-44B3-A42C-4B7CD13877C7}"/>
                </a:ext>
              </a:extLst>
            </p:cNvPr>
            <p:cNvCxnSpPr>
              <a:cxnSpLocks/>
            </p:cNvCxnSpPr>
            <p:nvPr/>
          </p:nvCxnSpPr>
          <p:spPr>
            <a:xfrm>
              <a:off x="6048170" y="3348933"/>
              <a:ext cx="0" cy="77762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72ACAFEA-85C5-4DFD-A6EA-6C3389F6F2ED}"/>
                </a:ext>
              </a:extLst>
            </p:cNvPr>
            <p:cNvCxnSpPr>
              <a:cxnSpLocks/>
            </p:cNvCxnSpPr>
            <p:nvPr/>
          </p:nvCxnSpPr>
          <p:spPr>
            <a:xfrm>
              <a:off x="6998867" y="3340761"/>
              <a:ext cx="0" cy="77762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6B672C0-3DA3-44F7-BD43-21A19CCA3DDC}"/>
                </a:ext>
              </a:extLst>
            </p:cNvPr>
            <p:cNvSpPr txBox="1"/>
            <p:nvPr/>
          </p:nvSpPr>
          <p:spPr>
            <a:xfrm>
              <a:off x="2533785" y="3160317"/>
              <a:ext cx="747163" cy="20005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알람 시간</a:t>
              </a:r>
            </a:p>
          </p:txBody>
        </p: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9B94C967-61F5-40E0-AA9C-585FD8AD21D6}"/>
                </a:ext>
              </a:extLst>
            </p:cNvPr>
            <p:cNvCxnSpPr>
              <a:cxnSpLocks/>
            </p:cNvCxnSpPr>
            <p:nvPr/>
          </p:nvCxnSpPr>
          <p:spPr>
            <a:xfrm>
              <a:off x="3336605" y="3351521"/>
              <a:ext cx="0" cy="77762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4099CBD1-C2D5-45A9-81FB-B7E94662ECF3}"/>
                </a:ext>
              </a:extLst>
            </p:cNvPr>
            <p:cNvSpPr txBox="1"/>
            <p:nvPr/>
          </p:nvSpPr>
          <p:spPr>
            <a:xfrm>
              <a:off x="344488" y="3162060"/>
              <a:ext cx="614897" cy="20005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장치 타입</a:t>
              </a:r>
            </a:p>
          </p:txBody>
        </p: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7689F8A2-8B90-463C-A9F8-00DA91D162D0}"/>
                </a:ext>
              </a:extLst>
            </p:cNvPr>
            <p:cNvCxnSpPr>
              <a:cxnSpLocks/>
            </p:cNvCxnSpPr>
            <p:nvPr/>
          </p:nvCxnSpPr>
          <p:spPr>
            <a:xfrm>
              <a:off x="992560" y="3347691"/>
              <a:ext cx="0" cy="77762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305286EA-382B-494D-A1FC-21858E17760C}"/>
              </a:ext>
            </a:extLst>
          </p:cNvPr>
          <p:cNvGrpSpPr/>
          <p:nvPr/>
        </p:nvGrpSpPr>
        <p:grpSpPr>
          <a:xfrm>
            <a:off x="277142" y="4499215"/>
            <a:ext cx="8265127" cy="979690"/>
            <a:chOff x="277142" y="3149457"/>
            <a:chExt cx="8265127" cy="979690"/>
          </a:xfrm>
        </p:grpSpPr>
        <p:cxnSp>
          <p:nvCxnSpPr>
            <p:cNvPr id="182" name="직선 연결선 181">
              <a:extLst>
                <a:ext uri="{FF2B5EF4-FFF2-40B4-BE49-F238E27FC236}">
                  <a16:creationId xmlns:a16="http://schemas.microsoft.com/office/drawing/2014/main" id="{F9146F2B-5E01-4793-8DF3-9097C5D636F7}"/>
                </a:ext>
              </a:extLst>
            </p:cNvPr>
            <p:cNvCxnSpPr>
              <a:cxnSpLocks/>
            </p:cNvCxnSpPr>
            <p:nvPr/>
          </p:nvCxnSpPr>
          <p:spPr>
            <a:xfrm>
              <a:off x="277142" y="3149457"/>
              <a:ext cx="77480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직선 연결선 182">
              <a:extLst>
                <a:ext uri="{FF2B5EF4-FFF2-40B4-BE49-F238E27FC236}">
                  <a16:creationId xmlns:a16="http://schemas.microsoft.com/office/drawing/2014/main" id="{DAD57D93-4F79-4C78-ADE6-FC31BE483310}"/>
                </a:ext>
              </a:extLst>
            </p:cNvPr>
            <p:cNvCxnSpPr>
              <a:cxnSpLocks/>
            </p:cNvCxnSpPr>
            <p:nvPr/>
          </p:nvCxnSpPr>
          <p:spPr>
            <a:xfrm>
              <a:off x="277142" y="3343864"/>
              <a:ext cx="77480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>
              <a:extLst>
                <a:ext uri="{FF2B5EF4-FFF2-40B4-BE49-F238E27FC236}">
                  <a16:creationId xmlns:a16="http://schemas.microsoft.com/office/drawing/2014/main" id="{6B9FB14F-E45D-48CE-8367-08FBBDD4E726}"/>
                </a:ext>
              </a:extLst>
            </p:cNvPr>
            <p:cNvCxnSpPr>
              <a:cxnSpLocks/>
            </p:cNvCxnSpPr>
            <p:nvPr/>
          </p:nvCxnSpPr>
          <p:spPr>
            <a:xfrm>
              <a:off x="277142" y="3538271"/>
              <a:ext cx="7748043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직선 연결선 184">
              <a:extLst>
                <a:ext uri="{FF2B5EF4-FFF2-40B4-BE49-F238E27FC236}">
                  <a16:creationId xmlns:a16="http://schemas.microsoft.com/office/drawing/2014/main" id="{D8481565-8341-437E-9555-80A0BA42521F}"/>
                </a:ext>
              </a:extLst>
            </p:cNvPr>
            <p:cNvCxnSpPr>
              <a:cxnSpLocks/>
            </p:cNvCxnSpPr>
            <p:nvPr/>
          </p:nvCxnSpPr>
          <p:spPr>
            <a:xfrm>
              <a:off x="277142" y="3732679"/>
              <a:ext cx="7748043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19F43DD8-901E-4F75-BBBC-DAAA905CDC4B}"/>
                </a:ext>
              </a:extLst>
            </p:cNvPr>
            <p:cNvCxnSpPr>
              <a:cxnSpLocks/>
            </p:cNvCxnSpPr>
            <p:nvPr/>
          </p:nvCxnSpPr>
          <p:spPr>
            <a:xfrm>
              <a:off x="277142" y="3927086"/>
              <a:ext cx="7748043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>
              <a:extLst>
                <a:ext uri="{FF2B5EF4-FFF2-40B4-BE49-F238E27FC236}">
                  <a16:creationId xmlns:a16="http://schemas.microsoft.com/office/drawing/2014/main" id="{402D8A46-EAFC-4765-ABC9-D17D776D5D4C}"/>
                </a:ext>
              </a:extLst>
            </p:cNvPr>
            <p:cNvCxnSpPr>
              <a:cxnSpLocks/>
            </p:cNvCxnSpPr>
            <p:nvPr/>
          </p:nvCxnSpPr>
          <p:spPr>
            <a:xfrm>
              <a:off x="277142" y="4121493"/>
              <a:ext cx="7748043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7950FEBB-E40A-4F59-AF6F-46F0F3F459CA}"/>
                </a:ext>
              </a:extLst>
            </p:cNvPr>
            <p:cNvGrpSpPr/>
            <p:nvPr/>
          </p:nvGrpSpPr>
          <p:grpSpPr>
            <a:xfrm>
              <a:off x="7697939" y="3326635"/>
              <a:ext cx="844330" cy="801586"/>
              <a:chOff x="8242960" y="2282537"/>
              <a:chExt cx="866992" cy="1143702"/>
            </a:xfrm>
          </p:grpSpPr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EB9A94E9-41CB-48FA-A698-167E235E632E}"/>
                  </a:ext>
                </a:extLst>
              </p:cNvPr>
              <p:cNvSpPr/>
              <p:nvPr/>
            </p:nvSpPr>
            <p:spPr>
              <a:xfrm>
                <a:off x="8579077" y="2289300"/>
                <a:ext cx="164131" cy="11369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05" name="Picture 4" descr="ê´ë ¨ ì´ë¯¸ì§">
                <a:extLst>
                  <a:ext uri="{FF2B5EF4-FFF2-40B4-BE49-F238E27FC236}">
                    <a16:creationId xmlns:a16="http://schemas.microsoft.com/office/drawing/2014/main" id="{0067442B-D31C-42B5-9E0B-C127B8C539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42960" y="2282537"/>
                <a:ext cx="866992" cy="11437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FF2D3E4F-6104-4B4C-9CF6-CE25A6F9F924}"/>
                </a:ext>
              </a:extLst>
            </p:cNvPr>
            <p:cNvSpPr txBox="1"/>
            <p:nvPr/>
          </p:nvSpPr>
          <p:spPr>
            <a:xfrm>
              <a:off x="1025735" y="3158233"/>
              <a:ext cx="614897" cy="20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장치 명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0AE621C6-9812-4A94-A079-EF33F1C52EB7}"/>
                </a:ext>
              </a:extLst>
            </p:cNvPr>
            <p:cNvSpPr txBox="1"/>
            <p:nvPr/>
          </p:nvSpPr>
          <p:spPr>
            <a:xfrm>
              <a:off x="1753330" y="3158232"/>
              <a:ext cx="614897" cy="20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장치 </a:t>
              </a:r>
              <a:r>
                <a:rPr lang="en-US" altLang="ko-KR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37D23E3E-FB8E-4300-920A-6286722D3912}"/>
                </a:ext>
              </a:extLst>
            </p:cNvPr>
            <p:cNvSpPr txBox="1"/>
            <p:nvPr/>
          </p:nvSpPr>
          <p:spPr>
            <a:xfrm>
              <a:off x="3420115" y="3158233"/>
              <a:ext cx="747163" cy="200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알람 타입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14A3981E-F6C0-4C93-B8E8-9B5D6CF2C80F}"/>
                </a:ext>
              </a:extLst>
            </p:cNvPr>
            <p:cNvSpPr txBox="1"/>
            <p:nvPr/>
          </p:nvSpPr>
          <p:spPr>
            <a:xfrm>
              <a:off x="4693130" y="3158233"/>
              <a:ext cx="907942" cy="200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알람 메시지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B77388BA-2884-4EEA-AEED-7C6E6EE1B6EA}"/>
                </a:ext>
              </a:extLst>
            </p:cNvPr>
            <p:cNvSpPr txBox="1"/>
            <p:nvPr/>
          </p:nvSpPr>
          <p:spPr>
            <a:xfrm>
              <a:off x="6151156" y="3158233"/>
              <a:ext cx="771705" cy="200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알람 상태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9B560918-F701-4C11-973B-04FE8BB7FBBB}"/>
                </a:ext>
              </a:extLst>
            </p:cNvPr>
            <p:cNvSpPr txBox="1"/>
            <p:nvPr/>
          </p:nvSpPr>
          <p:spPr>
            <a:xfrm>
              <a:off x="7050748" y="3156150"/>
              <a:ext cx="783748" cy="20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조치 여부</a:t>
              </a:r>
            </a:p>
          </p:txBody>
        </p: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29197E9E-5A0E-4731-800C-8A5F2BCF93AE}"/>
                </a:ext>
              </a:extLst>
            </p:cNvPr>
            <p:cNvCxnSpPr>
              <a:cxnSpLocks/>
            </p:cNvCxnSpPr>
            <p:nvPr/>
          </p:nvCxnSpPr>
          <p:spPr>
            <a:xfrm>
              <a:off x="1630237" y="3343864"/>
              <a:ext cx="0" cy="77762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직선 연결선 195">
              <a:extLst>
                <a:ext uri="{FF2B5EF4-FFF2-40B4-BE49-F238E27FC236}">
                  <a16:creationId xmlns:a16="http://schemas.microsoft.com/office/drawing/2014/main" id="{0723A134-84E1-4B86-8533-83DD13AD54A7}"/>
                </a:ext>
              </a:extLst>
            </p:cNvPr>
            <p:cNvCxnSpPr>
              <a:cxnSpLocks/>
            </p:cNvCxnSpPr>
            <p:nvPr/>
          </p:nvCxnSpPr>
          <p:spPr>
            <a:xfrm>
              <a:off x="2426106" y="3347022"/>
              <a:ext cx="0" cy="77762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9E637D8C-54A3-4933-929E-5967CA0386C8}"/>
                </a:ext>
              </a:extLst>
            </p:cNvPr>
            <p:cNvCxnSpPr>
              <a:cxnSpLocks/>
            </p:cNvCxnSpPr>
            <p:nvPr/>
          </p:nvCxnSpPr>
          <p:spPr>
            <a:xfrm>
              <a:off x="4232920" y="3340761"/>
              <a:ext cx="0" cy="77762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04855690-4B11-4E8D-BF66-BB5E0BC462A6}"/>
                </a:ext>
              </a:extLst>
            </p:cNvPr>
            <p:cNvCxnSpPr>
              <a:cxnSpLocks/>
            </p:cNvCxnSpPr>
            <p:nvPr/>
          </p:nvCxnSpPr>
          <p:spPr>
            <a:xfrm>
              <a:off x="6048170" y="3348933"/>
              <a:ext cx="0" cy="77762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FBF856F-91AE-4027-8832-E50A27ADFA6A}"/>
                </a:ext>
              </a:extLst>
            </p:cNvPr>
            <p:cNvCxnSpPr>
              <a:cxnSpLocks/>
            </p:cNvCxnSpPr>
            <p:nvPr/>
          </p:nvCxnSpPr>
          <p:spPr>
            <a:xfrm>
              <a:off x="6998867" y="3340761"/>
              <a:ext cx="0" cy="77762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40376452-B2F4-4902-89C5-3AEA152AEE07}"/>
                </a:ext>
              </a:extLst>
            </p:cNvPr>
            <p:cNvSpPr txBox="1"/>
            <p:nvPr/>
          </p:nvSpPr>
          <p:spPr>
            <a:xfrm>
              <a:off x="2533785" y="3160317"/>
              <a:ext cx="7471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알람 시간</a:t>
              </a:r>
            </a:p>
          </p:txBody>
        </p:sp>
        <p:cxnSp>
          <p:nvCxnSpPr>
            <p:cNvPr id="201" name="직선 연결선 200">
              <a:extLst>
                <a:ext uri="{FF2B5EF4-FFF2-40B4-BE49-F238E27FC236}">
                  <a16:creationId xmlns:a16="http://schemas.microsoft.com/office/drawing/2014/main" id="{402014CA-BF57-48AD-8D49-0BD65E16E5D8}"/>
                </a:ext>
              </a:extLst>
            </p:cNvPr>
            <p:cNvCxnSpPr>
              <a:cxnSpLocks/>
            </p:cNvCxnSpPr>
            <p:nvPr/>
          </p:nvCxnSpPr>
          <p:spPr>
            <a:xfrm>
              <a:off x="3336605" y="3351521"/>
              <a:ext cx="0" cy="77762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E1FF4831-CA58-4E37-BCDE-17AC593F957B}"/>
                </a:ext>
              </a:extLst>
            </p:cNvPr>
            <p:cNvSpPr txBox="1"/>
            <p:nvPr/>
          </p:nvSpPr>
          <p:spPr>
            <a:xfrm>
              <a:off x="344488" y="3162060"/>
              <a:ext cx="614897" cy="20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장치 타입</a:t>
              </a:r>
            </a:p>
          </p:txBody>
        </p:sp>
        <p:cxnSp>
          <p:nvCxnSpPr>
            <p:cNvPr id="203" name="직선 연결선 202">
              <a:extLst>
                <a:ext uri="{FF2B5EF4-FFF2-40B4-BE49-F238E27FC236}">
                  <a16:creationId xmlns:a16="http://schemas.microsoft.com/office/drawing/2014/main" id="{B27D6B58-9605-487C-ADB4-973026F68266}"/>
                </a:ext>
              </a:extLst>
            </p:cNvPr>
            <p:cNvCxnSpPr>
              <a:cxnSpLocks/>
            </p:cNvCxnSpPr>
            <p:nvPr/>
          </p:nvCxnSpPr>
          <p:spPr>
            <a:xfrm>
              <a:off x="992560" y="3347691"/>
              <a:ext cx="0" cy="77762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83D8E88-589A-49DD-B606-4FCF87EDA728}"/>
              </a:ext>
            </a:extLst>
          </p:cNvPr>
          <p:cNvGrpSpPr/>
          <p:nvPr/>
        </p:nvGrpSpPr>
        <p:grpSpPr>
          <a:xfrm>
            <a:off x="318998" y="3351344"/>
            <a:ext cx="7511272" cy="205966"/>
            <a:chOff x="304948" y="4123517"/>
            <a:chExt cx="7511272" cy="205966"/>
          </a:xfrm>
        </p:grpSpPr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A08314C5-5FE8-4194-978D-8F886D824AC2}"/>
                </a:ext>
              </a:extLst>
            </p:cNvPr>
            <p:cNvSpPr txBox="1"/>
            <p:nvPr/>
          </p:nvSpPr>
          <p:spPr>
            <a:xfrm>
              <a:off x="1007459" y="4125600"/>
              <a:ext cx="614897" cy="20005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BMS_1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CF400D87-5D10-419C-8AE9-F15747882735}"/>
                </a:ext>
              </a:extLst>
            </p:cNvPr>
            <p:cNvSpPr txBox="1"/>
            <p:nvPr/>
          </p:nvSpPr>
          <p:spPr>
            <a:xfrm>
              <a:off x="1720878" y="4125599"/>
              <a:ext cx="614897" cy="20005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12001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14444AE5-9678-4887-AEEB-A7EE89ED80FB}"/>
                </a:ext>
              </a:extLst>
            </p:cNvPr>
            <p:cNvSpPr txBox="1"/>
            <p:nvPr/>
          </p:nvSpPr>
          <p:spPr>
            <a:xfrm>
              <a:off x="3380575" y="4125600"/>
              <a:ext cx="747163" cy="200057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FALUT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D7C95312-C453-474A-8C81-3DED91381D49}"/>
                </a:ext>
              </a:extLst>
            </p:cNvPr>
            <p:cNvSpPr txBox="1"/>
            <p:nvPr/>
          </p:nvSpPr>
          <p:spPr>
            <a:xfrm>
              <a:off x="4653590" y="4125600"/>
              <a:ext cx="907942" cy="20005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7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r>
                <a:rPr lang="en-US" altLang="ko-KR" dirty="0"/>
                <a:t>Over cell Voltage</a:t>
              </a:r>
              <a:endParaRPr lang="ko-KR" altLang="en-US" dirty="0"/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0A77E269-6C98-4BDE-B56B-E2FF7AD08553}"/>
                </a:ext>
              </a:extLst>
            </p:cNvPr>
            <p:cNvSpPr txBox="1"/>
            <p:nvPr/>
          </p:nvSpPr>
          <p:spPr>
            <a:xfrm>
              <a:off x="6111616" y="4125600"/>
              <a:ext cx="771705" cy="200057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발생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BC861573-1769-4EAE-9FAD-A727C7BB4AF8}"/>
                </a:ext>
              </a:extLst>
            </p:cNvPr>
            <p:cNvSpPr txBox="1"/>
            <p:nvPr/>
          </p:nvSpPr>
          <p:spPr>
            <a:xfrm>
              <a:off x="7032472" y="4123517"/>
              <a:ext cx="783748" cy="20005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 err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미조치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557AF5ED-5AA8-48C8-8D2F-2F58710CE559}"/>
                </a:ext>
              </a:extLst>
            </p:cNvPr>
            <p:cNvSpPr txBox="1"/>
            <p:nvPr/>
          </p:nvSpPr>
          <p:spPr>
            <a:xfrm>
              <a:off x="2437541" y="4127684"/>
              <a:ext cx="886245" cy="18466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2018.07.15 16:01:02</a:t>
              </a:r>
              <a:endParaRPr lang="ko-KR" altLang="en-US" sz="6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1E1C0AEE-571F-47F8-BBB9-8F82942ED42B}"/>
                </a:ext>
              </a:extLst>
            </p:cNvPr>
            <p:cNvSpPr txBox="1"/>
            <p:nvPr/>
          </p:nvSpPr>
          <p:spPr>
            <a:xfrm>
              <a:off x="304948" y="4129427"/>
              <a:ext cx="614897" cy="20005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BMS</a:t>
              </a:r>
              <a:endPara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27" name="타원형 설명선 226"/>
          <p:cNvSpPr/>
          <p:nvPr/>
        </p:nvSpPr>
        <p:spPr>
          <a:xfrm>
            <a:off x="4031037" y="146009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18434" y="272951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119682" y="184867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56071" y="409435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973619" y="1487634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26577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DDD0FF9-07CC-451C-A34B-0DFAD7363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9" y="282123"/>
            <a:ext cx="8376697" cy="4228873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42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요금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한전 요금 조회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한전 요금 조회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828557"/>
              </p:ext>
            </p:extLst>
          </p:nvPr>
        </p:nvGraphicFramePr>
        <p:xfrm>
          <a:off x="8469313" y="276225"/>
          <a:ext cx="1404000" cy="5695488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기간설정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기간은 월 단위 설정만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버튼을 클릭하면 조회 진행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그래프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각 항목 누적의 막대 그래프 형태로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각 월 별 그래프 항목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누적 데이터 항목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기본요금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사용요금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전력산업기반기금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부가세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표 표시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  <a:p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1)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한전 전기요금 구성요소를 표로 표시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  <a:p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2)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그래프에 포함되지 않은 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역률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전기요금합계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청구금액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등의 정보를 추가로 표시</a:t>
                      </a:r>
                      <a:endParaRPr kumimoji="1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저장하기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데이터를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csv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형태의 파일로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표에 표시된 항목을 그대로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명세서 확인하기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해당 버튼을 클릭하면 명세서 확인 및 출력 화면이 팝업 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다음 페이지 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표 접기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그래프 하단 표 영역 표시의 </a:t>
                      </a:r>
                      <a:r>
                        <a:rPr lang="ko-KR" altLang="en-US" sz="800" b="0" u="none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토글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버튼</a:t>
                      </a:r>
                      <a:endParaRPr lang="en-US" altLang="ko-KR" sz="800" b="0" u="none" kern="12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130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DR</a:t>
                      </a: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수익 합계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조회 기간 내 항목별 합계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645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그래프 내의 사용요금을 역률 포함하여 적용할지 추가 검토 필요함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921563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ewpsp_scr_025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7" name="타원형 설명선 226"/>
          <p:cNvSpPr/>
          <p:nvPr/>
        </p:nvSpPr>
        <p:spPr>
          <a:xfrm>
            <a:off x="1640632" y="89194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6249144" y="273670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166608" y="300815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타원형 설명선 245"/>
          <p:cNvSpPr/>
          <p:nvPr/>
        </p:nvSpPr>
        <p:spPr>
          <a:xfrm>
            <a:off x="6905707" y="273670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3425621" y="448747"/>
            <a:ext cx="216000" cy="216000"/>
          </a:xfrm>
          <a:prstGeom prst="wedgeEllipseCallout">
            <a:avLst>
              <a:gd name="adj1" fmla="val 87905"/>
              <a:gd name="adj2" fmla="val 5114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58AFED36-0D1B-4803-AE93-59BB805E5E9F}"/>
              </a:ext>
            </a:extLst>
          </p:cNvPr>
          <p:cNvSpPr/>
          <p:nvPr/>
        </p:nvSpPr>
        <p:spPr>
          <a:xfrm>
            <a:off x="2144688" y="661351"/>
            <a:ext cx="1155818" cy="230591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88" name="타원형 설명선 245">
            <a:extLst>
              <a:ext uri="{FF2B5EF4-FFF2-40B4-BE49-F238E27FC236}">
                <a16:creationId xmlns:a16="http://schemas.microsoft.com/office/drawing/2014/main" id="{98689DFC-4162-48B3-B55D-B78F7593C7F6}"/>
              </a:ext>
            </a:extLst>
          </p:cNvPr>
          <p:cNvSpPr/>
          <p:nvPr/>
        </p:nvSpPr>
        <p:spPr>
          <a:xfrm>
            <a:off x="7650601" y="273670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말풍선: 모서리가 둥근 사각형 88">
            <a:extLst>
              <a:ext uri="{FF2B5EF4-FFF2-40B4-BE49-F238E27FC236}">
                <a16:creationId xmlns:a16="http://schemas.microsoft.com/office/drawing/2014/main" id="{62F745E7-4678-4529-9B50-DE1A15EFFE04}"/>
              </a:ext>
            </a:extLst>
          </p:cNvPr>
          <p:cNvSpPr/>
          <p:nvPr/>
        </p:nvSpPr>
        <p:spPr>
          <a:xfrm>
            <a:off x="1350210" y="4538617"/>
            <a:ext cx="2162630" cy="474559"/>
          </a:xfrm>
          <a:prstGeom prst="wedgeRoundRectCallout">
            <a:avLst>
              <a:gd name="adj1" fmla="val -63890"/>
              <a:gd name="adj2" fmla="val -53135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그래프에 포함되지 않은 항목 추가</a:t>
            </a:r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/>
            </a:endParaRPr>
          </a:p>
          <a:p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-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역률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전기요금 합계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청구금액 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D209A14-A7C7-414D-99BA-9BA0EC8827E0}"/>
              </a:ext>
            </a:extLst>
          </p:cNvPr>
          <p:cNvSpPr/>
          <p:nvPr/>
        </p:nvSpPr>
        <p:spPr>
          <a:xfrm>
            <a:off x="128465" y="3284960"/>
            <a:ext cx="1152128" cy="122603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F803345E-514D-46F6-AA3B-265518CDA13D}"/>
              </a:ext>
            </a:extLst>
          </p:cNvPr>
          <p:cNvSpPr/>
          <p:nvPr/>
        </p:nvSpPr>
        <p:spPr>
          <a:xfrm>
            <a:off x="229238" y="3372382"/>
            <a:ext cx="962568" cy="1017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CE835A8-E102-4F42-B4A8-4150A2DF4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579439"/>
              </p:ext>
            </p:extLst>
          </p:nvPr>
        </p:nvGraphicFramePr>
        <p:xfrm>
          <a:off x="187188" y="3414569"/>
          <a:ext cx="1037624" cy="999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7624">
                  <a:extLst>
                    <a:ext uri="{9D8B030D-6E8A-4147-A177-3AD203B41FA5}">
                      <a16:colId xmlns:a16="http://schemas.microsoft.com/office/drawing/2014/main" val="3251095219"/>
                    </a:ext>
                  </a:extLst>
                </a:gridCol>
              </a:tblGrid>
              <a:tr h="1373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556"/>
                  </a:ext>
                </a:extLst>
              </a:tr>
              <a:tr h="129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3110"/>
                  </a:ext>
                </a:extLst>
              </a:tr>
              <a:tr h="1221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481266"/>
                  </a:ext>
                </a:extLst>
              </a:tr>
              <a:tr h="1221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사용요금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524301"/>
                  </a:ext>
                </a:extLst>
              </a:tr>
              <a:tr h="1221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전기요금합계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975550"/>
                  </a:ext>
                </a:extLst>
              </a:tr>
              <a:tr h="1221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전력산업기반기금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215008"/>
                  </a:ext>
                </a:extLst>
              </a:tr>
              <a:tr h="1221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부가세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652579"/>
                  </a:ext>
                </a:extLst>
              </a:tr>
              <a:tr h="1221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청구금액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32551"/>
                  </a:ext>
                </a:extLst>
              </a:tr>
            </a:tbl>
          </a:graphicData>
        </a:graphic>
      </p:graphicFrame>
      <p:sp>
        <p:nvSpPr>
          <p:cNvPr id="92" name="말풍선: 모서리가 둥근 사각형 91">
            <a:extLst>
              <a:ext uri="{FF2B5EF4-FFF2-40B4-BE49-F238E27FC236}">
                <a16:creationId xmlns:a16="http://schemas.microsoft.com/office/drawing/2014/main" id="{A263CEAB-B331-43CE-A338-38550F6E64BB}"/>
              </a:ext>
            </a:extLst>
          </p:cNvPr>
          <p:cNvSpPr/>
          <p:nvPr/>
        </p:nvSpPr>
        <p:spPr>
          <a:xfrm>
            <a:off x="6050794" y="1291055"/>
            <a:ext cx="2344702" cy="474559"/>
          </a:xfrm>
          <a:prstGeom prst="wedgeRoundRectCallout">
            <a:avLst>
              <a:gd name="adj1" fmla="val 29897"/>
              <a:gd name="adj2" fmla="val -70812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요금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/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수익 항목은 막대그래프로만 표시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549C9C7-6E35-4388-8BC9-579D940581E3}"/>
              </a:ext>
            </a:extLst>
          </p:cNvPr>
          <p:cNvSpPr/>
          <p:nvPr/>
        </p:nvSpPr>
        <p:spPr>
          <a:xfrm>
            <a:off x="7615403" y="913839"/>
            <a:ext cx="649965" cy="230591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94" name="타원형 설명선 244">
            <a:extLst>
              <a:ext uri="{FF2B5EF4-FFF2-40B4-BE49-F238E27FC236}">
                <a16:creationId xmlns:a16="http://schemas.microsoft.com/office/drawing/2014/main" id="{EE37E2E6-998E-4659-969B-FE8D85B177FF}"/>
              </a:ext>
            </a:extLst>
          </p:cNvPr>
          <p:cNvSpPr/>
          <p:nvPr/>
        </p:nvSpPr>
        <p:spPr>
          <a:xfrm>
            <a:off x="78949" y="51268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24275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1B1EB27-3DFA-4C9B-B6A6-A2D05EC26A8D}"/>
              </a:ext>
            </a:extLst>
          </p:cNvPr>
          <p:cNvSpPr/>
          <p:nvPr/>
        </p:nvSpPr>
        <p:spPr>
          <a:xfrm>
            <a:off x="107692" y="687591"/>
            <a:ext cx="8202089" cy="539075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43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요금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한전 요금 조회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명세서 확인 및 출력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명세서 확인 및 출력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547011"/>
              </p:ext>
            </p:extLst>
          </p:nvPr>
        </p:nvGraphicFramePr>
        <p:xfrm>
          <a:off x="8469313" y="276225"/>
          <a:ext cx="1404000" cy="3205824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명세서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ESS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 명세서를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기존 한국전력공사의 전기요금 명세서를 기반으로 표시한다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PDF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로 저장하기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 구성된 화면을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PDF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로 저장한다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그래프 등의 항목 표시는 차후 협의 필요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프린터로 인쇄하기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구성된 화면을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상에 설정 및 연결된 프린터를 통해 인쇄한다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닫기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명세서 확인 및 출력 화면 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한전 요금 청구서 샘플 확인 후 최종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fix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예정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ewpsp_scr_026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343504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4417E-CAA5-4FD3-BBB9-7CD5570EF571}"/>
              </a:ext>
            </a:extLst>
          </p:cNvPr>
          <p:cNvSpPr/>
          <p:nvPr/>
        </p:nvSpPr>
        <p:spPr>
          <a:xfrm>
            <a:off x="216314" y="777814"/>
            <a:ext cx="2216405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명세서 확인 및 출력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4251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2C5C60E-7747-4016-AE8A-04E934E77802}"/>
              </a:ext>
            </a:extLst>
          </p:cNvPr>
          <p:cNvSpPr/>
          <p:nvPr/>
        </p:nvSpPr>
        <p:spPr>
          <a:xfrm>
            <a:off x="2137613" y="844371"/>
            <a:ext cx="4608512" cy="488888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B78F6E-2615-4568-B7B1-45EDA691C66A}"/>
              </a:ext>
            </a:extLst>
          </p:cNvPr>
          <p:cNvSpPr txBox="1"/>
          <p:nvPr/>
        </p:nvSpPr>
        <p:spPr>
          <a:xfrm>
            <a:off x="2360712" y="980728"/>
            <a:ext cx="4176464" cy="2308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전기 요금 청구서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(’18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EAC0A-2426-45D1-A774-7B7A5494ABA3}"/>
              </a:ext>
            </a:extLst>
          </p:cNvPr>
          <p:cNvSpPr txBox="1"/>
          <p:nvPr/>
        </p:nvSpPr>
        <p:spPr>
          <a:xfrm>
            <a:off x="5780695" y="1213305"/>
            <a:ext cx="8284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청구일 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2018-07-20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4B6EE5-C0C9-4812-A53C-A3875536DD03}"/>
              </a:ext>
            </a:extLst>
          </p:cNvPr>
          <p:cNvSpPr txBox="1"/>
          <p:nvPr/>
        </p:nvSpPr>
        <p:spPr>
          <a:xfrm>
            <a:off x="2288704" y="1213305"/>
            <a:ext cx="8284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고객명 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Site_1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EDA32-13D8-454E-805A-ECAE39E5E686}"/>
              </a:ext>
            </a:extLst>
          </p:cNvPr>
          <p:cNvSpPr txBox="1"/>
          <p:nvPr/>
        </p:nvSpPr>
        <p:spPr>
          <a:xfrm>
            <a:off x="4016896" y="1348043"/>
            <a:ext cx="23762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이번 달 청구 금액은     </a:t>
            </a:r>
            <a:r>
              <a:rPr lang="en-US" altLang="ko-KR" sz="9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2,220,000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 입니다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8F572A-6976-4F42-B97C-FFF14233091A}"/>
              </a:ext>
            </a:extLst>
          </p:cNvPr>
          <p:cNvSpPr txBox="1"/>
          <p:nvPr/>
        </p:nvSpPr>
        <p:spPr>
          <a:xfrm>
            <a:off x="2274556" y="3167288"/>
            <a:ext cx="82848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청구내역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318086E8-0478-49EE-934C-A48BAE7DF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271584"/>
              </p:ext>
            </p:extLst>
          </p:nvPr>
        </p:nvGraphicFramePr>
        <p:xfrm>
          <a:off x="2274556" y="3347856"/>
          <a:ext cx="2113200" cy="1737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000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151460281"/>
                    </a:ext>
                  </a:extLst>
                </a:gridCol>
              </a:tblGrid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기본요금</a:t>
                      </a:r>
                      <a:endParaRPr lang="en-US" altLang="ko-KR" sz="5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590192"/>
                  </a:ext>
                </a:extLst>
              </a:tr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전력량요금</a:t>
                      </a:r>
                      <a:endParaRPr lang="en-US" altLang="ko-KR" sz="5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2,000,000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74840"/>
                  </a:ext>
                </a:extLst>
              </a:tr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전기요금계</a:t>
                      </a:r>
                      <a:endParaRPr lang="en-US" altLang="ko-KR" sz="5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2,010,000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26948"/>
                  </a:ext>
                </a:extLst>
              </a:tr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부가가치세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17668"/>
                  </a:ext>
                </a:extLst>
              </a:tr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전력기금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10,006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746937"/>
                  </a:ext>
                </a:extLst>
              </a:tr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원단위절사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</a:t>
                      </a:r>
                      <a:endParaRPr lang="ko-KR" altLang="en-US" sz="5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259011"/>
                  </a:ext>
                </a:extLst>
              </a:tr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당월요금계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2,220,000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06192"/>
                  </a:ext>
                </a:extLst>
              </a:tr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미납요금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566581"/>
                  </a:ext>
                </a:extLst>
              </a:tr>
              <a:tr h="2084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청구금액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2,220,000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105426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8D6BB6AB-54E5-41D8-92D6-FE046567C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207852"/>
              </p:ext>
            </p:extLst>
          </p:nvPr>
        </p:nvGraphicFramePr>
        <p:xfrm>
          <a:off x="2274555" y="1792196"/>
          <a:ext cx="4334629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301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715921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전기사용장소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울산광역시 울주군 </a:t>
                      </a:r>
                      <a:r>
                        <a:rPr lang="ko-KR" altLang="en-US" sz="500" b="1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온산읍</a:t>
                      </a:r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500" b="1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원산로</a:t>
                      </a:r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82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고객번호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10 0000 0001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청구금액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2,220,000 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286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납기일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2018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08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928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고객전용지정계좌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예금주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한국전력공사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우리은행 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100-100000-10-100     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신한은행 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100-100000-10-100</a:t>
                      </a:r>
                    </a:p>
                    <a:p>
                      <a:pPr algn="l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국민은행 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100-100000-10-100     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농      협 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100-100000-10-100 </a:t>
                      </a:r>
                    </a:p>
                    <a:p>
                      <a:pPr algn="l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하나은행 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100-100000-10-100     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기업은행 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100-100000-10-100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외환은행 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100-100000-10-100     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 체 국  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100-100000-10-100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씨티은행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100-100000-10-100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3EF4418A-9C94-4827-B441-BD84D2690531}"/>
              </a:ext>
            </a:extLst>
          </p:cNvPr>
          <p:cNvSpPr txBox="1"/>
          <p:nvPr/>
        </p:nvSpPr>
        <p:spPr>
          <a:xfrm>
            <a:off x="4599781" y="3166635"/>
            <a:ext cx="18863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 사항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CE8CEF-74E0-47BA-8A6B-55640E49F002}"/>
              </a:ext>
            </a:extLst>
          </p:cNvPr>
          <p:cNvSpPr txBox="1"/>
          <p:nvPr/>
        </p:nvSpPr>
        <p:spPr>
          <a:xfrm>
            <a:off x="2190062" y="2924944"/>
            <a:ext cx="39870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 계좌번호는 고객님께서 입금할 수 있는 전용 </a:t>
            </a:r>
            <a:r>
              <a:rPr lang="ko-KR" altLang="en-US" sz="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지정계좌입니다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끝자리 원단위 입금불가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92CF4CBE-A646-431B-8CD3-09D2C5CC9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64411"/>
              </p:ext>
            </p:extLst>
          </p:nvPr>
        </p:nvGraphicFramePr>
        <p:xfrm>
          <a:off x="4599783" y="3346464"/>
          <a:ext cx="1822174" cy="117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234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1015940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전기사용 </a:t>
                      </a:r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계약종별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산엽용</a:t>
                      </a:r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</a:t>
                      </a:r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고압</a:t>
                      </a:r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</a:t>
                      </a:r>
                      <a:r>
                        <a:rPr lang="ko-KR" altLang="en-US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</a:t>
                      </a:r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III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주거구분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비주거용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4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정기검침일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652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계량기번호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XXX001122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87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계량기배수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93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계약전력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768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가구수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7B823B1F-600B-4BEF-BCB1-D3135DBCA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348223"/>
              </p:ext>
            </p:extLst>
          </p:nvPr>
        </p:nvGraphicFramePr>
        <p:xfrm>
          <a:off x="4604920" y="4582264"/>
          <a:ext cx="1817037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381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1029656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미납내역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5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b="1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미납월</a:t>
                      </a:r>
                      <a:endParaRPr lang="ko-KR" altLang="en-US" sz="5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78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미납요금 없음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778B7CF0-758C-4B27-A4AF-7925912740ED}"/>
              </a:ext>
            </a:extLst>
          </p:cNvPr>
          <p:cNvGrpSpPr/>
          <p:nvPr/>
        </p:nvGrpSpPr>
        <p:grpSpPr>
          <a:xfrm>
            <a:off x="2162704" y="5301208"/>
            <a:ext cx="4488118" cy="323428"/>
            <a:chOff x="2162704" y="5301208"/>
            <a:chExt cx="4488118" cy="323428"/>
          </a:xfrm>
        </p:grpSpPr>
        <p:pic>
          <p:nvPicPr>
            <p:cNvPr id="1028" name="Picture 4" descr="ì¸ìì ëí ì´ë¯¸ì§ ê²ìê²°ê³¼">
              <a:extLst>
                <a:ext uri="{FF2B5EF4-FFF2-40B4-BE49-F238E27FC236}">
                  <a16:creationId xmlns:a16="http://schemas.microsoft.com/office/drawing/2014/main" id="{D28EE1C7-0566-4FE4-BFB8-A89D5615E7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0465" y="5336922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pdfì ëí ì´ë¯¸ì§ ê²ìê²°ê³¼">
              <a:extLst>
                <a:ext uri="{FF2B5EF4-FFF2-40B4-BE49-F238E27FC236}">
                  <a16:creationId xmlns:a16="http://schemas.microsoft.com/office/drawing/2014/main" id="{8C6A3F2F-6A1E-4843-B992-1ABF3F994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2704" y="5336922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7726E8D3-148F-4164-832A-268A34EC9F35}"/>
                </a:ext>
              </a:extLst>
            </p:cNvPr>
            <p:cNvSpPr/>
            <p:nvPr/>
          </p:nvSpPr>
          <p:spPr>
            <a:xfrm>
              <a:off x="5490371" y="5301208"/>
              <a:ext cx="1160451" cy="323428"/>
            </a:xfrm>
            <a:prstGeom prst="rect">
              <a:avLst/>
            </a:prstGeom>
            <a:solidFill>
              <a:srgbClr val="0099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닫기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85BFB14-1DE9-4E3A-8F33-3A06C8EFA333}"/>
                </a:ext>
              </a:extLst>
            </p:cNvPr>
            <p:cNvSpPr txBox="1"/>
            <p:nvPr/>
          </p:nvSpPr>
          <p:spPr>
            <a:xfrm>
              <a:off x="2401165" y="5355200"/>
              <a:ext cx="9493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PDF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저장하기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55F40E9-B79E-4D8D-813B-EDD0B2B71D73}"/>
                </a:ext>
              </a:extLst>
            </p:cNvPr>
            <p:cNvSpPr txBox="1"/>
            <p:nvPr/>
          </p:nvSpPr>
          <p:spPr>
            <a:xfrm>
              <a:off x="3633103" y="5355200"/>
              <a:ext cx="11604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프린터로 인쇄하기</a:t>
              </a:r>
            </a:p>
          </p:txBody>
        </p:sp>
      </p:grpSp>
      <p:sp>
        <p:nvSpPr>
          <p:cNvPr id="227" name="타원형 설명선 226"/>
          <p:cNvSpPr/>
          <p:nvPr/>
        </p:nvSpPr>
        <p:spPr>
          <a:xfrm>
            <a:off x="1890853" y="519320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5199751" y="5192587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3095845" y="5192587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1911319" y="803668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07747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7554C30-EE78-462A-898F-99BED66C7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6" y="284692"/>
            <a:ext cx="8341366" cy="3720372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44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요금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ESS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ESS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797180"/>
              </p:ext>
            </p:extLst>
          </p:nvPr>
        </p:nvGraphicFramePr>
        <p:xfrm>
          <a:off x="8469313" y="276225"/>
          <a:ext cx="1404000" cy="5867328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기간설정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기간은 월 단위 설정만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버튼을 클릭하면 조회 진행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그래프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각 항목 묶은 막대 그래프 형태로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각 월 별 그래프 항목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표시 데이터 항목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실적할인금액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고객정산금액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표 표시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  <a:p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1)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ESS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충방전량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정보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평일 일수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할인 및 정산 금액 등을 표로 표시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  <a:p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2)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그래프에 포함되지 않은 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평일일수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 err="1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경부하충전량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 err="1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중간부하충전량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 err="1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최대부하충전량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 err="1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경부하방전량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 err="1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중간부하방전량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 err="1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최대부하방전량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예상할인금액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EWP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정산금액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정산비율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등의 정보를 추가로 표시</a:t>
                      </a:r>
                      <a:endParaRPr kumimoji="1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저장하기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데이터를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csv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형태의 파일로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표에 표시된 항목을 그대로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명세서 확인하기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해당 버튼을 클릭하면 명세서 확인 및 출력 화면이 팝업 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다음 페이지 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표 접기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그래프 하단 표 영역 표시의 </a:t>
                      </a:r>
                      <a:r>
                        <a:rPr lang="ko-KR" altLang="en-US" sz="800" b="0" u="none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토글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버튼</a:t>
                      </a:r>
                      <a:endParaRPr lang="en-US" altLang="ko-KR" sz="800" b="0" u="none" kern="12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015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DR</a:t>
                      </a: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수익 합계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조회 기간 내 항목별 합계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614402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ewpsp_scr_027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타원형 설명선 226">
            <a:extLst>
              <a:ext uri="{FF2B5EF4-FFF2-40B4-BE49-F238E27FC236}">
                <a16:creationId xmlns:a16="http://schemas.microsoft.com/office/drawing/2014/main" id="{1CF07036-98F1-4A83-92D6-9D8E54943EAF}"/>
              </a:ext>
            </a:extLst>
          </p:cNvPr>
          <p:cNvSpPr/>
          <p:nvPr/>
        </p:nvSpPr>
        <p:spPr>
          <a:xfrm>
            <a:off x="1712688" y="85637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타원형 설명선 243">
            <a:extLst>
              <a:ext uri="{FF2B5EF4-FFF2-40B4-BE49-F238E27FC236}">
                <a16:creationId xmlns:a16="http://schemas.microsoft.com/office/drawing/2014/main" id="{958A3BB6-2964-4C12-9449-5900B102B5CA}"/>
              </a:ext>
            </a:extLst>
          </p:cNvPr>
          <p:cNvSpPr/>
          <p:nvPr/>
        </p:nvSpPr>
        <p:spPr>
          <a:xfrm>
            <a:off x="6249144" y="268520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타원형 설명선 244">
            <a:extLst>
              <a:ext uri="{FF2B5EF4-FFF2-40B4-BE49-F238E27FC236}">
                <a16:creationId xmlns:a16="http://schemas.microsoft.com/office/drawing/2014/main" id="{2F2E6BC6-58B5-45DF-B09E-05CCCDA92D83}"/>
              </a:ext>
            </a:extLst>
          </p:cNvPr>
          <p:cNvSpPr/>
          <p:nvPr/>
        </p:nvSpPr>
        <p:spPr>
          <a:xfrm>
            <a:off x="222638" y="302513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타원형 설명선 245">
            <a:extLst>
              <a:ext uri="{FF2B5EF4-FFF2-40B4-BE49-F238E27FC236}">
                <a16:creationId xmlns:a16="http://schemas.microsoft.com/office/drawing/2014/main" id="{F2F9D815-59A1-4C6E-9395-52B8167480B9}"/>
              </a:ext>
            </a:extLst>
          </p:cNvPr>
          <p:cNvSpPr/>
          <p:nvPr/>
        </p:nvSpPr>
        <p:spPr>
          <a:xfrm>
            <a:off x="6905707" y="268520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2DE9501-2930-467A-9BE5-43D2354B085C}"/>
              </a:ext>
            </a:extLst>
          </p:cNvPr>
          <p:cNvSpPr/>
          <p:nvPr/>
        </p:nvSpPr>
        <p:spPr>
          <a:xfrm>
            <a:off x="2144688" y="620688"/>
            <a:ext cx="1155818" cy="230591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64" name="타원형 설명선 225">
            <a:extLst>
              <a:ext uri="{FF2B5EF4-FFF2-40B4-BE49-F238E27FC236}">
                <a16:creationId xmlns:a16="http://schemas.microsoft.com/office/drawing/2014/main" id="{1AF4249B-60A4-4EEC-AE43-6FB09B549F23}"/>
              </a:ext>
            </a:extLst>
          </p:cNvPr>
          <p:cNvSpPr/>
          <p:nvPr/>
        </p:nvSpPr>
        <p:spPr>
          <a:xfrm>
            <a:off x="3300506" y="471429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타원형 설명선 245">
            <a:extLst>
              <a:ext uri="{FF2B5EF4-FFF2-40B4-BE49-F238E27FC236}">
                <a16:creationId xmlns:a16="http://schemas.microsoft.com/office/drawing/2014/main" id="{5ADCA007-9397-4078-B0B8-D7DFD67DD391}"/>
              </a:ext>
            </a:extLst>
          </p:cNvPr>
          <p:cNvSpPr/>
          <p:nvPr/>
        </p:nvSpPr>
        <p:spPr>
          <a:xfrm>
            <a:off x="7596605" y="268520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68187CD-F9B6-46AD-BF5B-3BE2EF6B944B}"/>
              </a:ext>
            </a:extLst>
          </p:cNvPr>
          <p:cNvSpPr/>
          <p:nvPr/>
        </p:nvSpPr>
        <p:spPr>
          <a:xfrm>
            <a:off x="7615403" y="913839"/>
            <a:ext cx="649965" cy="230591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67" name="말풍선: 모서리가 둥근 사각형 66">
            <a:extLst>
              <a:ext uri="{FF2B5EF4-FFF2-40B4-BE49-F238E27FC236}">
                <a16:creationId xmlns:a16="http://schemas.microsoft.com/office/drawing/2014/main" id="{0B536A53-D17B-41C3-8DC1-ABDDDA51EDBA}"/>
              </a:ext>
            </a:extLst>
          </p:cNvPr>
          <p:cNvSpPr/>
          <p:nvPr/>
        </p:nvSpPr>
        <p:spPr>
          <a:xfrm>
            <a:off x="6050794" y="1291055"/>
            <a:ext cx="2344702" cy="474559"/>
          </a:xfrm>
          <a:prstGeom prst="wedgeRoundRectCallout">
            <a:avLst>
              <a:gd name="adj1" fmla="val 29897"/>
              <a:gd name="adj2" fmla="val -70812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요금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/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수익 항목은 막대그래프로만 표시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ECFC2C4-E42F-4586-944B-FF3110A3C231}"/>
              </a:ext>
            </a:extLst>
          </p:cNvPr>
          <p:cNvSpPr/>
          <p:nvPr/>
        </p:nvSpPr>
        <p:spPr>
          <a:xfrm>
            <a:off x="165634" y="3311751"/>
            <a:ext cx="1467232" cy="155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4D3AFFE-4947-4EFD-9D6B-F115B21C4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982574"/>
              </p:ext>
            </p:extLst>
          </p:nvPr>
        </p:nvGraphicFramePr>
        <p:xfrm>
          <a:off x="222638" y="3365393"/>
          <a:ext cx="1353225" cy="1701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225">
                  <a:extLst>
                    <a:ext uri="{9D8B030D-6E8A-4147-A177-3AD203B41FA5}">
                      <a16:colId xmlns:a16="http://schemas.microsoft.com/office/drawing/2014/main" val="3203668730"/>
                    </a:ext>
                  </a:extLst>
                </a:gridCol>
              </a:tblGrid>
              <a:tr h="144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266929"/>
                  </a:ext>
                </a:extLst>
              </a:tr>
              <a:tr h="135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평일 일수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(d)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894098"/>
                  </a:ext>
                </a:extLst>
              </a:tr>
              <a:tr h="1283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경부하충전량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466796"/>
                  </a:ext>
                </a:extLst>
              </a:tr>
              <a:tr h="1283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중간부하충전량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276825"/>
                  </a:ext>
                </a:extLst>
              </a:tr>
              <a:tr h="1283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최대부하충전량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392931"/>
                  </a:ext>
                </a:extLst>
              </a:tr>
              <a:tr h="1283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경부하방전량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295651"/>
                  </a:ext>
                </a:extLst>
              </a:tr>
              <a:tr h="1283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중간부하방전량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183427"/>
                  </a:ext>
                </a:extLst>
              </a:tr>
              <a:tr h="1283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최대부하방전량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883477"/>
                  </a:ext>
                </a:extLst>
              </a:tr>
              <a:tr h="13726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예상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할인금액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￦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67217"/>
                  </a:ext>
                </a:extLst>
              </a:tr>
              <a:tr h="12837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실적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할인금액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￦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38358"/>
                  </a:ext>
                </a:extLst>
              </a:tr>
              <a:tr h="12837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￦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583654"/>
                  </a:ext>
                </a:extLst>
              </a:tr>
              <a:tr h="12837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EWP)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￦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925816"/>
                  </a:ext>
                </a:extLst>
              </a:tr>
              <a:tr h="1283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정산비율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052278"/>
                  </a:ext>
                </a:extLst>
              </a:tr>
            </a:tbl>
          </a:graphicData>
        </a:graphic>
      </p:graphicFrame>
      <p:sp>
        <p:nvSpPr>
          <p:cNvPr id="69" name="직사각형 68">
            <a:extLst>
              <a:ext uri="{FF2B5EF4-FFF2-40B4-BE49-F238E27FC236}">
                <a16:creationId xmlns:a16="http://schemas.microsoft.com/office/drawing/2014/main" id="{BCCC839F-53DA-492E-BB6D-49FEFB9B94AD}"/>
              </a:ext>
            </a:extLst>
          </p:cNvPr>
          <p:cNvSpPr/>
          <p:nvPr/>
        </p:nvSpPr>
        <p:spPr>
          <a:xfrm>
            <a:off x="175304" y="3310150"/>
            <a:ext cx="1457561" cy="185494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말풍선: 모서리가 둥근 사각형 69">
            <a:extLst>
              <a:ext uri="{FF2B5EF4-FFF2-40B4-BE49-F238E27FC236}">
                <a16:creationId xmlns:a16="http://schemas.microsoft.com/office/drawing/2014/main" id="{22A166C1-3FDF-4F6E-BED0-3D4DD797FEF7}"/>
              </a:ext>
            </a:extLst>
          </p:cNvPr>
          <p:cNvSpPr/>
          <p:nvPr/>
        </p:nvSpPr>
        <p:spPr>
          <a:xfrm>
            <a:off x="1962157" y="4135026"/>
            <a:ext cx="2162630" cy="1049584"/>
          </a:xfrm>
          <a:prstGeom prst="wedgeRoundRectCallout">
            <a:avLst>
              <a:gd name="adj1" fmla="val -60787"/>
              <a:gd name="adj2" fmla="val -32354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그래프에 포함되지 않은 항목 추가</a:t>
            </a:r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/>
            </a:endParaRPr>
          </a:p>
          <a:p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-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평일 일수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경부하충전량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중간부하충전량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최대부하충전량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경부하충전량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중간부하방전량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최대부하방전량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 예상할인금액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EWP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정산금액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정산비율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타원형 설명선 244">
            <a:extLst>
              <a:ext uri="{FF2B5EF4-FFF2-40B4-BE49-F238E27FC236}">
                <a16:creationId xmlns:a16="http://schemas.microsoft.com/office/drawing/2014/main" id="{BAB3BC03-C895-420F-862E-D9A8DA46846B}"/>
              </a:ext>
            </a:extLst>
          </p:cNvPr>
          <p:cNvSpPr/>
          <p:nvPr/>
        </p:nvSpPr>
        <p:spPr>
          <a:xfrm>
            <a:off x="78949" y="51268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75002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1B1EB27-3DFA-4C9B-B6A6-A2D05EC26A8D}"/>
              </a:ext>
            </a:extLst>
          </p:cNvPr>
          <p:cNvSpPr/>
          <p:nvPr/>
        </p:nvSpPr>
        <p:spPr>
          <a:xfrm>
            <a:off x="132047" y="692284"/>
            <a:ext cx="8202089" cy="633711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45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요금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ESS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수익 조회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명세서 확인 및 출력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명세서 확인 및 출력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544096"/>
              </p:ext>
            </p:extLst>
          </p:nvPr>
        </p:nvGraphicFramePr>
        <p:xfrm>
          <a:off x="8469313" y="276225"/>
          <a:ext cx="1404000" cy="2822784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명세서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ESS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 배분 명세서를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기존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한국동서발전의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명세서를 기반으로 표시한다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PDF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로 저장하기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 구성된 화면을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PDF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로 저장한다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그래프 등의 항목 표시는 차후 협의 필요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프린터로 인쇄하기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구성된 화면을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상에 설정 및 연결된 프린터를 통해 인쇄한다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닫기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명세서 확인 및 출력 화면 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ewpsp_scr_028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343504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4417E-CAA5-4FD3-BBB9-7CD5570EF571}"/>
              </a:ext>
            </a:extLst>
          </p:cNvPr>
          <p:cNvSpPr/>
          <p:nvPr/>
        </p:nvSpPr>
        <p:spPr>
          <a:xfrm>
            <a:off x="216314" y="777814"/>
            <a:ext cx="2216405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명세서 확인 및 출력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4251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2C5C60E-7747-4016-AE8A-04E934E77802}"/>
              </a:ext>
            </a:extLst>
          </p:cNvPr>
          <p:cNvSpPr/>
          <p:nvPr/>
        </p:nvSpPr>
        <p:spPr>
          <a:xfrm>
            <a:off x="2144688" y="777814"/>
            <a:ext cx="4608512" cy="61075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B78F6E-2615-4568-B7B1-45EDA691C66A}"/>
              </a:ext>
            </a:extLst>
          </p:cNvPr>
          <p:cNvSpPr txBox="1"/>
          <p:nvPr/>
        </p:nvSpPr>
        <p:spPr>
          <a:xfrm>
            <a:off x="2360712" y="873578"/>
            <a:ext cx="4176464" cy="2308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에너지절감 솔루션 제공 전기요금 절감 수익 배분 청구서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(’18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EAC0A-2426-45D1-A774-7B7A5494ABA3}"/>
              </a:ext>
            </a:extLst>
          </p:cNvPr>
          <p:cNvSpPr txBox="1"/>
          <p:nvPr/>
        </p:nvSpPr>
        <p:spPr>
          <a:xfrm>
            <a:off x="5780695" y="1106155"/>
            <a:ext cx="8284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청구일 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2018-07-20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4B6EE5-C0C9-4812-A53C-A3875536DD03}"/>
              </a:ext>
            </a:extLst>
          </p:cNvPr>
          <p:cNvSpPr txBox="1"/>
          <p:nvPr/>
        </p:nvSpPr>
        <p:spPr>
          <a:xfrm>
            <a:off x="2288704" y="1106155"/>
            <a:ext cx="8284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고객명 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Site_1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EDA32-13D8-454E-805A-ECAE39E5E686}"/>
              </a:ext>
            </a:extLst>
          </p:cNvPr>
          <p:cNvSpPr txBox="1"/>
          <p:nvPr/>
        </p:nvSpPr>
        <p:spPr>
          <a:xfrm>
            <a:off x="4016896" y="1240893"/>
            <a:ext cx="23762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이번 달 청구 금액은     </a:t>
            </a:r>
            <a:r>
              <a:rPr lang="en-US" altLang="ko-KR" sz="9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30,439,360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 입니다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91B08A-A2DB-4EC6-9BE8-2FB935BFE7D3}"/>
              </a:ext>
            </a:extLst>
          </p:cNvPr>
          <p:cNvSpPr txBox="1"/>
          <p:nvPr/>
        </p:nvSpPr>
        <p:spPr>
          <a:xfrm>
            <a:off x="4880992" y="1409037"/>
            <a:ext cx="142934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수익배분기간 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2018-01-01 ~ 2018-12-31)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8F572A-6976-4F42-B97C-FFF14233091A}"/>
              </a:ext>
            </a:extLst>
          </p:cNvPr>
          <p:cNvSpPr txBox="1"/>
          <p:nvPr/>
        </p:nvSpPr>
        <p:spPr>
          <a:xfrm>
            <a:off x="2274556" y="1589865"/>
            <a:ext cx="82848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청구내역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E54DCF-40C1-45A0-A062-BF9B53C816C3}"/>
              </a:ext>
            </a:extLst>
          </p:cNvPr>
          <p:cNvSpPr txBox="1"/>
          <p:nvPr/>
        </p:nvSpPr>
        <p:spPr>
          <a:xfrm>
            <a:off x="4627036" y="1589865"/>
            <a:ext cx="1656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ESS </a:t>
            </a:r>
            <a:r>
              <a:rPr lang="ko-KR" altLang="en-US" sz="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충방전량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및 전력량 요금 절감내역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318086E8-0478-49EE-934C-A48BAE7DF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489917"/>
              </p:ext>
            </p:extLst>
          </p:nvPr>
        </p:nvGraphicFramePr>
        <p:xfrm>
          <a:off x="2274556" y="1770433"/>
          <a:ext cx="21132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151460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절감금액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수익배분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82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①기본 요금 절감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피크저감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②</a:t>
                      </a:r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전려량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요금 절감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계시별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3,188076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2,869,268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③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ESS 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충전 요금 할인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2,227,088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2,004,379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90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④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ESS 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전용 요금 할인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25,311,670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22,798,503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22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  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30,746,834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27,672,151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수익배분 계</a:t>
                      </a:r>
                      <a:endParaRPr lang="en-US" altLang="ko-KR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27,672,151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59019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부가가치세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2,767,215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1766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원단위절사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</a:t>
                      </a:r>
                      <a:endParaRPr lang="ko-KR" altLang="en-US" sz="5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56658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청구금액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30,439,360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105426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23DF273D-EACE-4D01-8A7B-B500CE520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080792"/>
              </p:ext>
            </p:extLst>
          </p:nvPr>
        </p:nvGraphicFramePr>
        <p:xfrm>
          <a:off x="4528779" y="1770433"/>
          <a:ext cx="2088232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058">
                  <a:extLst>
                    <a:ext uri="{9D8B030D-6E8A-4147-A177-3AD203B41FA5}">
                      <a16:colId xmlns:a16="http://schemas.microsoft.com/office/drawing/2014/main" val="3564815403"/>
                    </a:ext>
                  </a:extLst>
                </a:gridCol>
                <a:gridCol w="522058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522058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  <a:gridCol w="522058">
                  <a:extLst>
                    <a:ext uri="{9D8B030D-6E8A-4147-A177-3AD203B41FA5}">
                      <a16:colId xmlns:a16="http://schemas.microsoft.com/office/drawing/2014/main" val="215146028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ESS</a:t>
                      </a:r>
                      <a:endParaRPr lang="ko-KR" altLang="en-US" sz="5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826666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경부하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81,728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4,454,176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중간부하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1,008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77,515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28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최대부하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41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4,395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90320"/>
                  </a:ext>
                </a:extLst>
              </a:tr>
              <a:tr h="162089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82,777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4,536,086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방전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경부하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8259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중간부하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9,847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757,234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01877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최대부하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64,990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6,966,928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6142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74,837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7,724,162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110593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②</a:t>
                      </a:r>
                      <a:r>
                        <a:rPr lang="ko-KR" altLang="en-US" sz="50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충방전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전력량요금 절감금액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)(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방전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–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충전금액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3,188,076</a:t>
                      </a:r>
                      <a:endParaRPr lang="ko-KR" altLang="en-US" sz="5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105426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D2333A1D-2944-4389-8C62-10F019D03189}"/>
              </a:ext>
            </a:extLst>
          </p:cNvPr>
          <p:cNvSpPr txBox="1"/>
          <p:nvPr/>
        </p:nvSpPr>
        <p:spPr>
          <a:xfrm>
            <a:off x="2274556" y="3567188"/>
            <a:ext cx="18863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ESS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피크저감</a:t>
            </a:r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충전</a:t>
            </a:r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전용 요금 할인 계산 내역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8D6BB6AB-54E5-41D8-92D6-FE046567C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558212"/>
              </p:ext>
            </p:extLst>
          </p:nvPr>
        </p:nvGraphicFramePr>
        <p:xfrm>
          <a:off x="2274556" y="3745496"/>
          <a:ext cx="433462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268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  <a:gridCol w="2592289">
                  <a:extLst>
                    <a:ext uri="{9D8B030D-6E8A-4147-A177-3AD203B41FA5}">
                      <a16:colId xmlns:a16="http://schemas.microsoft.com/office/drawing/2014/main" val="2151460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계산 내역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82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①기본 요금 절감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피크저감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ESS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피크저감 효과가 전기요금에 반영되는 시점부터 적용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③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ESS 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충전 요금 할인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2,227,088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(81,728 kW x 0.5 x 54.5 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1)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④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ESS 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전용 요금 할인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25,331,670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Min[(40,527 kW x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8,190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원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(((64,990 kW – 41 kW) / (21 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3)) x 3 x 1 x 8,190 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)] 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3EF4418A-9C94-4827-B441-BD84D2690531}"/>
              </a:ext>
            </a:extLst>
          </p:cNvPr>
          <p:cNvSpPr txBox="1"/>
          <p:nvPr/>
        </p:nvSpPr>
        <p:spPr>
          <a:xfrm>
            <a:off x="2274556" y="4647308"/>
            <a:ext cx="18863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 사항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CE8CEF-74E0-47BA-8A6B-55640E49F002}"/>
              </a:ext>
            </a:extLst>
          </p:cNvPr>
          <p:cNvSpPr txBox="1"/>
          <p:nvPr/>
        </p:nvSpPr>
        <p:spPr>
          <a:xfrm>
            <a:off x="2190062" y="4421523"/>
            <a:ext cx="39870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ESS </a:t>
            </a:r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충전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전용 요금 할인은 당월 계량지침 및 고지서 기준 준용 산출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평균 사용량 계산은 소수점 첫째 자리 사사오입 적용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92CF4CBE-A646-431B-8CD3-09D2C5CC9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273769"/>
              </p:ext>
            </p:extLst>
          </p:nvPr>
        </p:nvGraphicFramePr>
        <p:xfrm>
          <a:off x="2274558" y="4827137"/>
          <a:ext cx="182217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234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1015940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전기사용 </a:t>
                      </a:r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계약종별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산엽용</a:t>
                      </a:r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</a:t>
                      </a:r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고압</a:t>
                      </a:r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</a:t>
                      </a:r>
                      <a:r>
                        <a:rPr lang="ko-KR" altLang="en-US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</a:t>
                      </a:r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III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기본요금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8,190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7B823B1F-600B-4BEF-BCB1-D3135DBCA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278482"/>
              </p:ext>
            </p:extLst>
          </p:nvPr>
        </p:nvGraphicFramePr>
        <p:xfrm>
          <a:off x="4199630" y="4821831"/>
          <a:ext cx="2417382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530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1369852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ESS </a:t>
                      </a:r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구축 용량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ESS Battery : 3.6 MWh,</a:t>
                      </a:r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PCS</a:t>
                      </a:r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</a:t>
                      </a:r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1.5</a:t>
                      </a:r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MW</a:t>
                      </a:r>
                      <a:endParaRPr lang="ko-KR" altLang="en-US" sz="5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할인금액 차등비율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가중치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CFB82BD7-DB76-482D-86E7-D30CF1EF5905}"/>
              </a:ext>
            </a:extLst>
          </p:cNvPr>
          <p:cNvSpPr txBox="1"/>
          <p:nvPr/>
        </p:nvSpPr>
        <p:spPr>
          <a:xfrm>
            <a:off x="2274556" y="5295380"/>
            <a:ext cx="18863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전기요금 절감효과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CC979B-2ED9-4F54-9A85-83ABB8BF9E4F}"/>
              </a:ext>
            </a:extLst>
          </p:cNvPr>
          <p:cNvSpPr txBox="1"/>
          <p:nvPr/>
        </p:nvSpPr>
        <p:spPr>
          <a:xfrm>
            <a:off x="4578812" y="5295380"/>
            <a:ext cx="18863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en-US" altLang="ko-KR" sz="60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납입처</a:t>
            </a:r>
            <a:endParaRPr lang="ko-KR" altLang="en-US" sz="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C9D2F77A-E7E9-4CFC-8DE0-09881D077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140254"/>
              </p:ext>
            </p:extLst>
          </p:nvPr>
        </p:nvGraphicFramePr>
        <p:xfrm>
          <a:off x="4539062" y="5503035"/>
          <a:ext cx="2070122" cy="931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499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1142623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</a:tblGrid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은행명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우리은행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계좌번호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1005 – 802 - 498030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2833"/>
                  </a:ext>
                </a:extLst>
              </a:tr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예금주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한국동서발전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㈜</a:t>
                      </a:r>
                      <a:endParaRPr lang="en-US" altLang="ko-KR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90320"/>
                  </a:ext>
                </a:extLst>
              </a:tr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납입금액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30,439,360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22420"/>
                  </a:ext>
                </a:extLst>
              </a:tr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납기일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2018-06-24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</a:tbl>
          </a:graphicData>
        </a:graphic>
      </p:graphicFrame>
      <p:graphicFrame>
        <p:nvGraphicFramePr>
          <p:cNvPr id="31" name="차트 30">
            <a:extLst>
              <a:ext uri="{FF2B5EF4-FFF2-40B4-BE49-F238E27FC236}">
                <a16:creationId xmlns:a16="http://schemas.microsoft.com/office/drawing/2014/main" id="{730311A7-C3A2-4939-A871-92F3A15A13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6023434"/>
              </p:ext>
            </p:extLst>
          </p:nvPr>
        </p:nvGraphicFramePr>
        <p:xfrm>
          <a:off x="2000672" y="5439396"/>
          <a:ext cx="1493025" cy="995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0" name="차트 69">
            <a:extLst>
              <a:ext uri="{FF2B5EF4-FFF2-40B4-BE49-F238E27FC236}">
                <a16:creationId xmlns:a16="http://schemas.microsoft.com/office/drawing/2014/main" id="{E93CEA49-FD4B-496E-80F1-471A27B132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7293794"/>
              </p:ext>
            </p:extLst>
          </p:nvPr>
        </p:nvGraphicFramePr>
        <p:xfrm>
          <a:off x="3044684" y="5189255"/>
          <a:ext cx="3351414" cy="1186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36" name="TextBox 235">
            <a:extLst>
              <a:ext uri="{FF2B5EF4-FFF2-40B4-BE49-F238E27FC236}">
                <a16:creationId xmlns:a16="http://schemas.microsoft.com/office/drawing/2014/main" id="{F6A882AC-223E-45B3-8C4A-CDFA9300972D}"/>
              </a:ext>
            </a:extLst>
          </p:cNvPr>
          <p:cNvSpPr txBox="1"/>
          <p:nvPr/>
        </p:nvSpPr>
        <p:spPr>
          <a:xfrm>
            <a:off x="3669298" y="5484542"/>
            <a:ext cx="53033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endParaRPr lang="en-US" altLang="ko-KR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3,188,076</a:t>
            </a:r>
          </a:p>
          <a:p>
            <a:pPr algn="ctr"/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0%</a:t>
            </a:r>
          </a:p>
          <a:p>
            <a:pPr algn="ctr"/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endParaRPr lang="en-US" altLang="ko-KR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2,227,088</a:t>
            </a:r>
          </a:p>
          <a:p>
            <a:pPr algn="ctr"/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0%</a:t>
            </a:r>
          </a:p>
          <a:p>
            <a:pPr algn="ctr"/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</a:t>
            </a:r>
            <a:endParaRPr lang="en-US" altLang="ko-KR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25,331,670</a:t>
            </a:r>
          </a:p>
          <a:p>
            <a:pPr algn="ctr"/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1%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C579568-C64D-4244-B725-42D267DD43BF}"/>
              </a:ext>
            </a:extLst>
          </p:cNvPr>
          <p:cNvSpPr txBox="1"/>
          <p:nvPr/>
        </p:nvSpPr>
        <p:spPr>
          <a:xfrm>
            <a:off x="2327165" y="6288957"/>
            <a:ext cx="183374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전기요금 </a:t>
            </a:r>
            <a:r>
              <a:rPr lang="ko-KR" altLang="en-US" sz="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절감분</a:t>
            </a:r>
            <a:r>
              <a:rPr lang="ko-KR" altLang="en-US" sz="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대한 전력기금 </a:t>
            </a:r>
            <a:r>
              <a:rPr lang="en-US" altLang="ko-KR" sz="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3.7% </a:t>
            </a:r>
            <a:r>
              <a:rPr lang="ko-KR" altLang="en-US" sz="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절감 효과 </a:t>
            </a:r>
            <a:r>
              <a:rPr lang="ko-KR" altLang="en-US" sz="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미반영</a:t>
            </a:r>
            <a:endParaRPr lang="ko-KR" altLang="en-US" sz="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B8ACD99-1112-4F00-859F-D88658E64FF1}"/>
              </a:ext>
            </a:extLst>
          </p:cNvPr>
          <p:cNvSpPr/>
          <p:nvPr/>
        </p:nvSpPr>
        <p:spPr>
          <a:xfrm>
            <a:off x="2274556" y="5503035"/>
            <a:ext cx="1925073" cy="931711"/>
          </a:xfrm>
          <a:prstGeom prst="round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2D69C394-EEBA-4B85-9EF3-DE709B430B3D}"/>
              </a:ext>
            </a:extLst>
          </p:cNvPr>
          <p:cNvCxnSpPr>
            <a:cxnSpLocks/>
          </p:cNvCxnSpPr>
          <p:nvPr/>
        </p:nvCxnSpPr>
        <p:spPr>
          <a:xfrm flipV="1">
            <a:off x="3095709" y="5655420"/>
            <a:ext cx="273115" cy="24255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87E3DCBF-88A6-4819-940C-D2CBFAC0D5E9}"/>
              </a:ext>
            </a:extLst>
          </p:cNvPr>
          <p:cNvCxnSpPr>
            <a:cxnSpLocks/>
          </p:cNvCxnSpPr>
          <p:nvPr/>
        </p:nvCxnSpPr>
        <p:spPr>
          <a:xfrm>
            <a:off x="3095709" y="5956339"/>
            <a:ext cx="273115" cy="24255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id="{B2F8D2E0-ADA5-4EC5-8068-2393D45FCA2F}"/>
              </a:ext>
            </a:extLst>
          </p:cNvPr>
          <p:cNvCxnSpPr>
            <a:cxnSpLocks/>
          </p:cNvCxnSpPr>
          <p:nvPr/>
        </p:nvCxnSpPr>
        <p:spPr>
          <a:xfrm>
            <a:off x="3715269" y="5727583"/>
            <a:ext cx="72463" cy="109744"/>
          </a:xfrm>
          <a:prstGeom prst="line">
            <a:avLst/>
          </a:prstGeom>
          <a:ln w="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7251402E-20C1-42FA-A413-5950FFB72768}"/>
              </a:ext>
            </a:extLst>
          </p:cNvPr>
          <p:cNvCxnSpPr>
            <a:cxnSpLocks/>
          </p:cNvCxnSpPr>
          <p:nvPr/>
        </p:nvCxnSpPr>
        <p:spPr>
          <a:xfrm>
            <a:off x="3712808" y="5967870"/>
            <a:ext cx="74924" cy="94004"/>
          </a:xfrm>
          <a:prstGeom prst="line">
            <a:avLst/>
          </a:prstGeom>
          <a:ln w="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85926613-4267-4824-B38B-540F9933A74D}"/>
              </a:ext>
            </a:extLst>
          </p:cNvPr>
          <p:cNvGrpSpPr/>
          <p:nvPr/>
        </p:nvGrpSpPr>
        <p:grpSpPr>
          <a:xfrm>
            <a:off x="2193074" y="6525344"/>
            <a:ext cx="4488118" cy="323428"/>
            <a:chOff x="2162704" y="5301208"/>
            <a:chExt cx="4488118" cy="323428"/>
          </a:xfrm>
        </p:grpSpPr>
        <p:pic>
          <p:nvPicPr>
            <p:cNvPr id="87" name="Picture 4" descr="ì¸ìì ëí ì´ë¯¸ì§ ê²ìê²°ê³¼">
              <a:extLst>
                <a:ext uri="{FF2B5EF4-FFF2-40B4-BE49-F238E27FC236}">
                  <a16:creationId xmlns:a16="http://schemas.microsoft.com/office/drawing/2014/main" id="{EAD9AE6D-2E0E-4945-B864-855376934A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0465" y="5336922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6" descr="pdfì ëí ì´ë¯¸ì§ ê²ìê²°ê³¼">
              <a:extLst>
                <a:ext uri="{FF2B5EF4-FFF2-40B4-BE49-F238E27FC236}">
                  <a16:creationId xmlns:a16="http://schemas.microsoft.com/office/drawing/2014/main" id="{05E723B1-6CFD-4FB4-9E01-852C21D3C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2704" y="5336922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D7EC86FB-852E-4297-BC4B-3C9B1EE028B2}"/>
                </a:ext>
              </a:extLst>
            </p:cNvPr>
            <p:cNvSpPr/>
            <p:nvPr/>
          </p:nvSpPr>
          <p:spPr>
            <a:xfrm>
              <a:off x="5490371" y="5301208"/>
              <a:ext cx="1160451" cy="323428"/>
            </a:xfrm>
            <a:prstGeom prst="rect">
              <a:avLst/>
            </a:prstGeom>
            <a:solidFill>
              <a:srgbClr val="0099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닫기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4654583-48F7-49B2-B64D-2F6528902323}"/>
                </a:ext>
              </a:extLst>
            </p:cNvPr>
            <p:cNvSpPr txBox="1"/>
            <p:nvPr/>
          </p:nvSpPr>
          <p:spPr>
            <a:xfrm>
              <a:off x="2401165" y="5355200"/>
              <a:ext cx="9493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PDF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저장하기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B5FA843-EF59-4EFE-9D2B-F5BB548FB658}"/>
                </a:ext>
              </a:extLst>
            </p:cNvPr>
            <p:cNvSpPr txBox="1"/>
            <p:nvPr/>
          </p:nvSpPr>
          <p:spPr>
            <a:xfrm>
              <a:off x="3633103" y="5355200"/>
              <a:ext cx="11604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프린터로 인쇄하기</a:t>
              </a:r>
            </a:p>
          </p:txBody>
        </p:sp>
      </p:grpSp>
      <p:sp>
        <p:nvSpPr>
          <p:cNvPr id="227" name="타원형 설명선 226"/>
          <p:cNvSpPr/>
          <p:nvPr/>
        </p:nvSpPr>
        <p:spPr>
          <a:xfrm>
            <a:off x="1943389" y="641734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형 설명선 243"/>
          <p:cNvSpPr/>
          <p:nvPr/>
        </p:nvSpPr>
        <p:spPr>
          <a:xfrm>
            <a:off x="5245057" y="643474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형 설명선 244"/>
          <p:cNvSpPr/>
          <p:nvPr/>
        </p:nvSpPr>
        <p:spPr>
          <a:xfrm>
            <a:off x="3131858" y="643519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타원형 설명선 225">
            <a:extLst>
              <a:ext uri="{FF2B5EF4-FFF2-40B4-BE49-F238E27FC236}">
                <a16:creationId xmlns:a16="http://schemas.microsoft.com/office/drawing/2014/main" id="{93402A8C-F86A-4207-9226-F02BE6AB6E19}"/>
              </a:ext>
            </a:extLst>
          </p:cNvPr>
          <p:cNvSpPr/>
          <p:nvPr/>
        </p:nvSpPr>
        <p:spPr>
          <a:xfrm>
            <a:off x="1925448" y="819084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71894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A356E6-18E1-4F7E-8965-97F1DF861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5" y="284691"/>
            <a:ext cx="8352000" cy="3753443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46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요금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DR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DR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171106"/>
              </p:ext>
            </p:extLst>
          </p:nvPr>
        </p:nvGraphicFramePr>
        <p:xfrm>
          <a:off x="8469313" y="276225"/>
          <a:ext cx="1404000" cy="5745408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기간설정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기간은 월 단위 설정만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버튼을 클릭하면 조회 진행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그래프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각 항목 묶은 막대 그래프 형태로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각 월 별 그래프 항목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표시 데이터 항목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총정산금액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고객정산금액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표 표시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  <a:p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1)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ESS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충방전량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정보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평일 일수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할인 및 정산 금액 등을 표로 표시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  <a:p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2)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그래프에 포함되지 않은 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감축횟수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감축이행용량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감축인정용량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감축이행율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용량정산금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감축정산금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EWP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정산금액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수익비율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등의 정보를 추가로 표시</a:t>
                      </a:r>
                      <a:endParaRPr kumimoji="1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저장하기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데이터를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csv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형태의 파일로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표에 표시된 항목을 그대로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명세서 확인하기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해당 버튼을 클릭하면 명세서 확인 및 출력 화면이 팝업 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다음 페이지 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표 접기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그래프 하단 표 영역 표시의 </a:t>
                      </a:r>
                      <a:r>
                        <a:rPr lang="ko-KR" altLang="en-US" sz="800" b="0" u="none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토글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버튼</a:t>
                      </a:r>
                      <a:endParaRPr lang="en-US" altLang="ko-KR" sz="800" b="0" u="none" kern="12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410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DR</a:t>
                      </a: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수익 합계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조회 기간 내 항목별 합계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458664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ewpsp_scr_029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타원형 설명선 226">
            <a:extLst>
              <a:ext uri="{FF2B5EF4-FFF2-40B4-BE49-F238E27FC236}">
                <a16:creationId xmlns:a16="http://schemas.microsoft.com/office/drawing/2014/main" id="{54785E2F-2D4D-484E-9ED3-1763342D3835}"/>
              </a:ext>
            </a:extLst>
          </p:cNvPr>
          <p:cNvSpPr/>
          <p:nvPr/>
        </p:nvSpPr>
        <p:spPr>
          <a:xfrm>
            <a:off x="1532632" y="89482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타원형 설명선 243">
            <a:extLst>
              <a:ext uri="{FF2B5EF4-FFF2-40B4-BE49-F238E27FC236}">
                <a16:creationId xmlns:a16="http://schemas.microsoft.com/office/drawing/2014/main" id="{F4C23757-3715-48E1-8DAE-FF0AD0F369DE}"/>
              </a:ext>
            </a:extLst>
          </p:cNvPr>
          <p:cNvSpPr/>
          <p:nvPr/>
        </p:nvSpPr>
        <p:spPr>
          <a:xfrm>
            <a:off x="6249144" y="270495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타원형 설명선 244">
            <a:extLst>
              <a:ext uri="{FF2B5EF4-FFF2-40B4-BE49-F238E27FC236}">
                <a16:creationId xmlns:a16="http://schemas.microsoft.com/office/drawing/2014/main" id="{39182858-D5AD-4D2D-B53A-E367DBEA7C19}"/>
              </a:ext>
            </a:extLst>
          </p:cNvPr>
          <p:cNvSpPr/>
          <p:nvPr/>
        </p:nvSpPr>
        <p:spPr>
          <a:xfrm>
            <a:off x="165035" y="303158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타원형 설명선 245">
            <a:extLst>
              <a:ext uri="{FF2B5EF4-FFF2-40B4-BE49-F238E27FC236}">
                <a16:creationId xmlns:a16="http://schemas.microsoft.com/office/drawing/2014/main" id="{05FF4988-80C5-461D-8A36-D6BFF737FF84}"/>
              </a:ext>
            </a:extLst>
          </p:cNvPr>
          <p:cNvSpPr/>
          <p:nvPr/>
        </p:nvSpPr>
        <p:spPr>
          <a:xfrm>
            <a:off x="6905707" y="270495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타원형 설명선 225">
            <a:extLst>
              <a:ext uri="{FF2B5EF4-FFF2-40B4-BE49-F238E27FC236}">
                <a16:creationId xmlns:a16="http://schemas.microsoft.com/office/drawing/2014/main" id="{03D53C94-A5E1-41BF-87C4-3C5C67CBADBE}"/>
              </a:ext>
            </a:extLst>
          </p:cNvPr>
          <p:cNvSpPr/>
          <p:nvPr/>
        </p:nvSpPr>
        <p:spPr>
          <a:xfrm>
            <a:off x="3425246" y="519983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8E6AF6F-EA7F-4295-B61D-A49472E68604}"/>
              </a:ext>
            </a:extLst>
          </p:cNvPr>
          <p:cNvSpPr/>
          <p:nvPr/>
        </p:nvSpPr>
        <p:spPr>
          <a:xfrm>
            <a:off x="2144688" y="620688"/>
            <a:ext cx="1155818" cy="230591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F59E5BC-FAA6-494D-A86A-3A56181D62FB}"/>
              </a:ext>
            </a:extLst>
          </p:cNvPr>
          <p:cNvSpPr/>
          <p:nvPr/>
        </p:nvSpPr>
        <p:spPr>
          <a:xfrm>
            <a:off x="7615403" y="913839"/>
            <a:ext cx="649965" cy="230591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82" name="말풍선: 모서리가 둥근 사각형 81">
            <a:extLst>
              <a:ext uri="{FF2B5EF4-FFF2-40B4-BE49-F238E27FC236}">
                <a16:creationId xmlns:a16="http://schemas.microsoft.com/office/drawing/2014/main" id="{8414018A-91E1-4A11-93CE-CF4A88EEF2FA}"/>
              </a:ext>
            </a:extLst>
          </p:cNvPr>
          <p:cNvSpPr/>
          <p:nvPr/>
        </p:nvSpPr>
        <p:spPr>
          <a:xfrm>
            <a:off x="6050794" y="1291055"/>
            <a:ext cx="2344702" cy="474559"/>
          </a:xfrm>
          <a:prstGeom prst="wedgeRoundRectCallout">
            <a:avLst>
              <a:gd name="adj1" fmla="val 29897"/>
              <a:gd name="adj2" fmla="val -70812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요금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/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수익 항목은 막대그래프로만 표시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46600B11-17B5-4630-972E-79EBC5FEEB6E}"/>
              </a:ext>
            </a:extLst>
          </p:cNvPr>
          <p:cNvSpPr/>
          <p:nvPr/>
        </p:nvSpPr>
        <p:spPr>
          <a:xfrm>
            <a:off x="186949" y="3294810"/>
            <a:ext cx="1467232" cy="155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5108266-7CEB-4505-A5B3-B8414B680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922584"/>
              </p:ext>
            </p:extLst>
          </p:nvPr>
        </p:nvGraphicFramePr>
        <p:xfrm>
          <a:off x="308498" y="3388897"/>
          <a:ext cx="1224134" cy="1363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4">
                  <a:extLst>
                    <a:ext uri="{9D8B030D-6E8A-4147-A177-3AD203B41FA5}">
                      <a16:colId xmlns:a16="http://schemas.microsoft.com/office/drawing/2014/main" val="2954705374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971256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감축 횟수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en-US" altLang="ko-KR" sz="800" b="1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hr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257908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감축이행용량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407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감축인정용량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791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감축이행율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066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용량정산금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￦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611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감축정산금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￦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543865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실적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총정산금액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￦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64597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￦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965210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EWP)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￦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744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수익비율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47775"/>
                  </a:ext>
                </a:extLst>
              </a:tr>
            </a:tbl>
          </a:graphicData>
        </a:graphic>
      </p:graphicFrame>
      <p:sp>
        <p:nvSpPr>
          <p:cNvPr id="84" name="직사각형 83">
            <a:extLst>
              <a:ext uri="{FF2B5EF4-FFF2-40B4-BE49-F238E27FC236}">
                <a16:creationId xmlns:a16="http://schemas.microsoft.com/office/drawing/2014/main" id="{67F2D96F-D724-4130-BAE7-8EE1BF34BC73}"/>
              </a:ext>
            </a:extLst>
          </p:cNvPr>
          <p:cNvSpPr/>
          <p:nvPr/>
        </p:nvSpPr>
        <p:spPr>
          <a:xfrm>
            <a:off x="258164" y="3326928"/>
            <a:ext cx="1324367" cy="151954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말풍선: 모서리가 둥근 사각형 84">
            <a:extLst>
              <a:ext uri="{FF2B5EF4-FFF2-40B4-BE49-F238E27FC236}">
                <a16:creationId xmlns:a16="http://schemas.microsoft.com/office/drawing/2014/main" id="{AF0247DC-0602-4E66-B7EE-54845C62AE1A}"/>
              </a:ext>
            </a:extLst>
          </p:cNvPr>
          <p:cNvSpPr/>
          <p:nvPr/>
        </p:nvSpPr>
        <p:spPr>
          <a:xfrm>
            <a:off x="1962157" y="4135026"/>
            <a:ext cx="2162630" cy="806142"/>
          </a:xfrm>
          <a:prstGeom prst="wedgeRoundRectCallout">
            <a:avLst>
              <a:gd name="adj1" fmla="val -60787"/>
              <a:gd name="adj2" fmla="val -32354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그래프에 포함되지 않은 항목 추가</a:t>
            </a:r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/>
            </a:endParaRPr>
          </a:p>
          <a:p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-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감축횟수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_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시간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감축이행용량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감축인정용량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감축이행율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용량전산금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EWP)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정산금액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수익비율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타원형 설명선 244">
            <a:extLst>
              <a:ext uri="{FF2B5EF4-FFF2-40B4-BE49-F238E27FC236}">
                <a16:creationId xmlns:a16="http://schemas.microsoft.com/office/drawing/2014/main" id="{A8B086CC-E8E5-44F7-AD80-B2D836655A6C}"/>
              </a:ext>
            </a:extLst>
          </p:cNvPr>
          <p:cNvSpPr/>
          <p:nvPr/>
        </p:nvSpPr>
        <p:spPr>
          <a:xfrm>
            <a:off x="78949" y="51268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타원형 설명선 245">
            <a:extLst>
              <a:ext uri="{FF2B5EF4-FFF2-40B4-BE49-F238E27FC236}">
                <a16:creationId xmlns:a16="http://schemas.microsoft.com/office/drawing/2014/main" id="{BD4A6A6C-2D35-4B06-8E70-059F1FBAC401}"/>
              </a:ext>
            </a:extLst>
          </p:cNvPr>
          <p:cNvSpPr/>
          <p:nvPr/>
        </p:nvSpPr>
        <p:spPr>
          <a:xfrm>
            <a:off x="7596605" y="268520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95570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1B1EB27-3DFA-4C9B-B6A6-A2D05EC26A8D}"/>
              </a:ext>
            </a:extLst>
          </p:cNvPr>
          <p:cNvSpPr/>
          <p:nvPr/>
        </p:nvSpPr>
        <p:spPr>
          <a:xfrm>
            <a:off x="132047" y="692284"/>
            <a:ext cx="8202089" cy="561703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47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요금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DR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명세서 확인 및 출력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명세서 확인 및 출력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400740"/>
              </p:ext>
            </p:extLst>
          </p:nvPr>
        </p:nvGraphicFramePr>
        <p:xfrm>
          <a:off x="8469313" y="276225"/>
          <a:ext cx="1404000" cy="287040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명세서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DR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 배분 명세서를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PDF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로 저장하기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 구성된 화면을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PDF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로 저장한다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프린터로 인쇄하기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구성된 화면을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상에 설정 및 연결된 프린터를 통해 인쇄한다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닫기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명세서 확인 및 출력 화면 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수익배분 및 청구 내역 구성에 대한 샘플 확인 필요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–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 후 추가 업데이트 예정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ewpsp_scr_030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343504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4417E-CAA5-4FD3-BBB9-7CD5570EF571}"/>
              </a:ext>
            </a:extLst>
          </p:cNvPr>
          <p:cNvSpPr/>
          <p:nvPr/>
        </p:nvSpPr>
        <p:spPr>
          <a:xfrm>
            <a:off x="216314" y="777814"/>
            <a:ext cx="2216405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명세서 확인 및 출력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4251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2C5C60E-7747-4016-AE8A-04E934E77802}"/>
              </a:ext>
            </a:extLst>
          </p:cNvPr>
          <p:cNvSpPr/>
          <p:nvPr/>
        </p:nvSpPr>
        <p:spPr>
          <a:xfrm>
            <a:off x="2126342" y="873578"/>
            <a:ext cx="4608512" cy="406759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6C8B849-6BDA-418C-8E1E-709BEEC9E492}"/>
              </a:ext>
            </a:extLst>
          </p:cNvPr>
          <p:cNvGrpSpPr/>
          <p:nvPr/>
        </p:nvGrpSpPr>
        <p:grpSpPr>
          <a:xfrm>
            <a:off x="2162704" y="4401716"/>
            <a:ext cx="4488118" cy="323428"/>
            <a:chOff x="2162704" y="5301208"/>
            <a:chExt cx="4488118" cy="323428"/>
          </a:xfrm>
        </p:grpSpPr>
        <p:pic>
          <p:nvPicPr>
            <p:cNvPr id="54" name="Picture 4" descr="ì¸ìì ëí ì´ë¯¸ì§ ê²ìê²°ê³¼">
              <a:extLst>
                <a:ext uri="{FF2B5EF4-FFF2-40B4-BE49-F238E27FC236}">
                  <a16:creationId xmlns:a16="http://schemas.microsoft.com/office/drawing/2014/main" id="{C321C231-E3A3-46C8-AB70-A17CE59534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0465" y="5336922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6" descr="pdfì ëí ì´ë¯¸ì§ ê²ìê²°ê³¼">
              <a:extLst>
                <a:ext uri="{FF2B5EF4-FFF2-40B4-BE49-F238E27FC236}">
                  <a16:creationId xmlns:a16="http://schemas.microsoft.com/office/drawing/2014/main" id="{5435E049-087D-4E49-960C-08D514DC86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2704" y="5336922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15839C1F-30C4-4AFE-BCBC-8F47661F0A41}"/>
                </a:ext>
              </a:extLst>
            </p:cNvPr>
            <p:cNvSpPr/>
            <p:nvPr/>
          </p:nvSpPr>
          <p:spPr>
            <a:xfrm>
              <a:off x="5490371" y="5301208"/>
              <a:ext cx="1160451" cy="323428"/>
            </a:xfrm>
            <a:prstGeom prst="rect">
              <a:avLst/>
            </a:prstGeom>
            <a:solidFill>
              <a:srgbClr val="0099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닫기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082294F-9183-4EFE-8B1B-48F2B67D09EE}"/>
                </a:ext>
              </a:extLst>
            </p:cNvPr>
            <p:cNvSpPr txBox="1"/>
            <p:nvPr/>
          </p:nvSpPr>
          <p:spPr>
            <a:xfrm>
              <a:off x="2401165" y="5355200"/>
              <a:ext cx="9493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PDF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저장하기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EFEDAAF-B357-4A6B-A056-3ED337E8D9DC}"/>
                </a:ext>
              </a:extLst>
            </p:cNvPr>
            <p:cNvSpPr txBox="1"/>
            <p:nvPr/>
          </p:nvSpPr>
          <p:spPr>
            <a:xfrm>
              <a:off x="3633103" y="5355200"/>
              <a:ext cx="11604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프린터로 인쇄하기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20B8AA5-54A6-4686-8F84-23ED7E2D7832}"/>
              </a:ext>
            </a:extLst>
          </p:cNvPr>
          <p:cNvSpPr txBox="1"/>
          <p:nvPr/>
        </p:nvSpPr>
        <p:spPr>
          <a:xfrm>
            <a:off x="2360712" y="1054206"/>
            <a:ext cx="4176464" cy="2308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DR 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수요반응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배분 청구서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(’18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D71635-63E1-478A-BB51-0D7CF38B368D}"/>
              </a:ext>
            </a:extLst>
          </p:cNvPr>
          <p:cNvSpPr txBox="1"/>
          <p:nvPr/>
        </p:nvSpPr>
        <p:spPr>
          <a:xfrm>
            <a:off x="5780695" y="1286783"/>
            <a:ext cx="8284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청구일 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2018-07-20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831D49-D700-43F0-B0A2-4588FA3BD4D0}"/>
              </a:ext>
            </a:extLst>
          </p:cNvPr>
          <p:cNvSpPr txBox="1"/>
          <p:nvPr/>
        </p:nvSpPr>
        <p:spPr>
          <a:xfrm>
            <a:off x="2288704" y="1286783"/>
            <a:ext cx="8284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고객명 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Site_1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C44560-361D-4A20-A611-78B7E6E8AAF6}"/>
              </a:ext>
            </a:extLst>
          </p:cNvPr>
          <p:cNvSpPr txBox="1"/>
          <p:nvPr/>
        </p:nvSpPr>
        <p:spPr>
          <a:xfrm>
            <a:off x="4160912" y="1421521"/>
            <a:ext cx="23762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이번 달 청구 금액은     </a:t>
            </a:r>
            <a:r>
              <a:rPr lang="en-US" altLang="ko-KR" sz="9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220,000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 입니다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AF82A1-D9C0-4D42-9219-C26005498243}"/>
              </a:ext>
            </a:extLst>
          </p:cNvPr>
          <p:cNvSpPr txBox="1"/>
          <p:nvPr/>
        </p:nvSpPr>
        <p:spPr>
          <a:xfrm>
            <a:off x="4880992" y="1589665"/>
            <a:ext cx="142934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수익배분기간 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2018-01-01 ~ 2018-12-31)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30CD2E-D09A-4AFE-99D5-5E79FE147C13}"/>
              </a:ext>
            </a:extLst>
          </p:cNvPr>
          <p:cNvSpPr txBox="1"/>
          <p:nvPr/>
        </p:nvSpPr>
        <p:spPr>
          <a:xfrm>
            <a:off x="2274556" y="1770493"/>
            <a:ext cx="82848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청구내역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141C31-83E5-488A-BA3D-9B31E6BA15C3}"/>
              </a:ext>
            </a:extLst>
          </p:cNvPr>
          <p:cNvSpPr txBox="1"/>
          <p:nvPr/>
        </p:nvSpPr>
        <p:spPr>
          <a:xfrm>
            <a:off x="4627036" y="1770493"/>
            <a:ext cx="1656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감축 정보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0783A0F4-194E-43E4-8A0C-D7A8180C7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01934"/>
              </p:ext>
            </p:extLst>
          </p:nvPr>
        </p:nvGraphicFramePr>
        <p:xfrm>
          <a:off x="2274556" y="1951061"/>
          <a:ext cx="203819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260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1015938">
                  <a:extLst>
                    <a:ext uri="{9D8B030D-6E8A-4147-A177-3AD203B41FA5}">
                      <a16:colId xmlns:a16="http://schemas.microsoft.com/office/drawing/2014/main" val="2151460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82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 </a:t>
                      </a:r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900,000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 </a:t>
                      </a:r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100,000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정산금액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1,000,000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90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정산 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800,000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①수익배분 계</a:t>
                      </a:r>
                      <a:endParaRPr lang="en-US" altLang="ko-KR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590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부가가치세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20,006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17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원단위절사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</a:t>
                      </a:r>
                      <a:endParaRPr lang="ko-KR" altLang="en-US" sz="5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566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청구금액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220,000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105426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DC0F1261-1AE0-4CD8-93F3-29D6A6720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664229"/>
              </p:ext>
            </p:extLst>
          </p:nvPr>
        </p:nvGraphicFramePr>
        <p:xfrm>
          <a:off x="4528778" y="1951061"/>
          <a:ext cx="207012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278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  <a:gridCol w="1141844">
                  <a:extLst>
                    <a:ext uri="{9D8B030D-6E8A-4147-A177-3AD203B41FA5}">
                      <a16:colId xmlns:a16="http://schemas.microsoft.com/office/drawing/2014/main" val="2151460281"/>
                    </a:ext>
                  </a:extLst>
                </a:gridCol>
              </a:tblGrid>
              <a:tr h="15128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826666"/>
                  </a:ext>
                </a:extLst>
              </a:tr>
              <a:tr h="15128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감축횟수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1-2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15128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감축 이행 용량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(kWh)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2833"/>
                  </a:ext>
                </a:extLst>
              </a:tr>
              <a:tr h="15128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감축 인정 용량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(kWh)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90320"/>
                  </a:ext>
                </a:extLst>
              </a:tr>
              <a:tr h="15128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감축 </a:t>
                      </a:r>
                      <a:r>
                        <a:rPr lang="ko-KR" altLang="en-US" sz="50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이행율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(%)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  <a:tr h="15128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수익 배분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(%)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922688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D7076826-4958-494B-B837-B7F65CFC619B}"/>
              </a:ext>
            </a:extLst>
          </p:cNvPr>
          <p:cNvSpPr txBox="1"/>
          <p:nvPr/>
        </p:nvSpPr>
        <p:spPr>
          <a:xfrm>
            <a:off x="4572586" y="3070943"/>
            <a:ext cx="18863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납입처</a:t>
            </a:r>
            <a:endParaRPr lang="ko-KR" altLang="en-US" sz="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2C723B85-60CE-4141-BBA0-2DFCD52A2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938397"/>
              </p:ext>
            </p:extLst>
          </p:nvPr>
        </p:nvGraphicFramePr>
        <p:xfrm>
          <a:off x="4532836" y="3278598"/>
          <a:ext cx="2070122" cy="931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499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1142623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</a:tblGrid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은행명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우리은행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계좌번호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1005 – 802 - 498030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2833"/>
                  </a:ext>
                </a:extLst>
              </a:tr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예금주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한국동서발전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㈜</a:t>
                      </a:r>
                      <a:endParaRPr lang="en-US" altLang="ko-KR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90320"/>
                  </a:ext>
                </a:extLst>
              </a:tr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납입금액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30,439,360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22420"/>
                  </a:ext>
                </a:extLst>
              </a:tr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납기일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2018-06-24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A7557E00-D0CB-4743-AE5E-D6DA8D2F1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270741"/>
              </p:ext>
            </p:extLst>
          </p:nvPr>
        </p:nvGraphicFramePr>
        <p:xfrm>
          <a:off x="2276500" y="3867998"/>
          <a:ext cx="203625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375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1153879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계산 내역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78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①수익배분 계</a:t>
                      </a:r>
                      <a:endParaRPr lang="en-US" altLang="ko-KR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정산금액 </a:t>
                      </a:r>
                      <a:r>
                        <a:rPr lang="en-US" altLang="ko-KR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</a:t>
                      </a:r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수익배분</a:t>
                      </a:r>
                      <a:r>
                        <a:rPr lang="en-US" altLang="ko-KR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(0.2)</a:t>
                      </a:r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317AF002-7C58-4615-A989-2C43DEBCC9CC}"/>
              </a:ext>
            </a:extLst>
          </p:cNvPr>
          <p:cNvSpPr txBox="1"/>
          <p:nvPr/>
        </p:nvSpPr>
        <p:spPr>
          <a:xfrm>
            <a:off x="2276004" y="3640986"/>
            <a:ext cx="10744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수익분배 계산 내역</a:t>
            </a:r>
          </a:p>
        </p:txBody>
      </p:sp>
      <p:sp>
        <p:nvSpPr>
          <p:cNvPr id="35" name="타원형 설명선 226">
            <a:extLst>
              <a:ext uri="{FF2B5EF4-FFF2-40B4-BE49-F238E27FC236}">
                <a16:creationId xmlns:a16="http://schemas.microsoft.com/office/drawing/2014/main" id="{AB0D8D82-A1F3-49D1-8F9A-C578D92DB5BB}"/>
              </a:ext>
            </a:extLst>
          </p:cNvPr>
          <p:cNvSpPr/>
          <p:nvPr/>
        </p:nvSpPr>
        <p:spPr>
          <a:xfrm>
            <a:off x="1919527" y="429371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형 설명선 243">
            <a:extLst>
              <a:ext uri="{FF2B5EF4-FFF2-40B4-BE49-F238E27FC236}">
                <a16:creationId xmlns:a16="http://schemas.microsoft.com/office/drawing/2014/main" id="{C96D6F86-DE67-4397-97A1-A44C3B5A0A54}"/>
              </a:ext>
            </a:extLst>
          </p:cNvPr>
          <p:cNvSpPr/>
          <p:nvPr/>
        </p:nvSpPr>
        <p:spPr>
          <a:xfrm>
            <a:off x="5175340" y="429483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타원형 설명선 244">
            <a:extLst>
              <a:ext uri="{FF2B5EF4-FFF2-40B4-BE49-F238E27FC236}">
                <a16:creationId xmlns:a16="http://schemas.microsoft.com/office/drawing/2014/main" id="{6CFCD386-A890-4B1E-8FF6-699596D5A93D}"/>
              </a:ext>
            </a:extLst>
          </p:cNvPr>
          <p:cNvSpPr/>
          <p:nvPr/>
        </p:nvSpPr>
        <p:spPr>
          <a:xfrm>
            <a:off x="3113376" y="429371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타원형 설명선 225">
            <a:extLst>
              <a:ext uri="{FF2B5EF4-FFF2-40B4-BE49-F238E27FC236}">
                <a16:creationId xmlns:a16="http://schemas.microsoft.com/office/drawing/2014/main" id="{AD2A08A9-A02A-4506-866F-631A9A5FCA9D}"/>
              </a:ext>
            </a:extLst>
          </p:cNvPr>
          <p:cNvSpPr/>
          <p:nvPr/>
        </p:nvSpPr>
        <p:spPr>
          <a:xfrm>
            <a:off x="1983457" y="946258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182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59FF443-0512-40AF-82F7-1EBA8CC73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8" y="292989"/>
            <a:ext cx="8376697" cy="3916684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48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요금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PV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041337"/>
              </p:ext>
            </p:extLst>
          </p:nvPr>
        </p:nvGraphicFramePr>
        <p:xfrm>
          <a:off x="8469313" y="276225"/>
          <a:ext cx="1404000" cy="5379648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기간설정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기간은 월 단위 설정만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버튼을 클릭하면 조회 진행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그래프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각 항목 묶은 막대 그래프 형태로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각 월 별 그래프 항목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표시 데이터 항목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총수익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SMP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REC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표 표시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  <a:p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1)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ESS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충방전량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정보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평일 일수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할인 및 정산 금액 등을 표로 표시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  <a:p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2)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그래프에 포함되지 않은 </a:t>
                      </a:r>
                      <a:r>
                        <a:rPr lang="ko-KR" altLang="en-US" sz="800" b="0" u="none" dirty="0" err="1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총발전량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SMP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거래량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REC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거래량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등의 정보를 추가로 표시</a:t>
                      </a:r>
                      <a:endParaRPr kumimoji="1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저장하기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데이터를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csv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형태의 파일로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표에 표시된 항목을 그대로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명세서 확인하기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해당 버튼을 클릭하면 명세서 확인 및 출력 화면이 팝업 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다음 페이지 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표 접기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그래프 하단 표 영역 표시의 </a:t>
                      </a:r>
                      <a:r>
                        <a:rPr lang="ko-KR" altLang="en-US" sz="800" b="0" u="none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토글</a:t>
                      </a: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버튼</a:t>
                      </a:r>
                      <a:endParaRPr lang="en-US" altLang="ko-KR" sz="800" b="0" u="none" kern="12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986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DR</a:t>
                      </a:r>
                      <a:r>
                        <a:rPr lang="ko-KR" altLang="en-US" sz="800" b="1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 수익 합계</a:t>
                      </a:r>
                      <a:endParaRPr lang="en-US" altLang="ko-KR" sz="800" b="1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Gill Sans"/>
                        </a:rPr>
                        <a:t>조회 기간 내 항목별 합계</a:t>
                      </a:r>
                      <a:endParaRPr lang="en-US" altLang="ko-KR" sz="800" b="0" u="non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99157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ewpsp_scr_031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타원형 설명선 226">
            <a:extLst>
              <a:ext uri="{FF2B5EF4-FFF2-40B4-BE49-F238E27FC236}">
                <a16:creationId xmlns:a16="http://schemas.microsoft.com/office/drawing/2014/main" id="{32CC2DB9-610D-4D37-9809-E62B20A6AFEA}"/>
              </a:ext>
            </a:extLst>
          </p:cNvPr>
          <p:cNvSpPr/>
          <p:nvPr/>
        </p:nvSpPr>
        <p:spPr>
          <a:xfrm>
            <a:off x="1545721" y="91383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타원형 설명선 243">
            <a:extLst>
              <a:ext uri="{FF2B5EF4-FFF2-40B4-BE49-F238E27FC236}">
                <a16:creationId xmlns:a16="http://schemas.microsoft.com/office/drawing/2014/main" id="{D1F85B76-89CB-4144-9F59-936C77470B0B}"/>
              </a:ext>
            </a:extLst>
          </p:cNvPr>
          <p:cNvSpPr/>
          <p:nvPr/>
        </p:nvSpPr>
        <p:spPr>
          <a:xfrm>
            <a:off x="6249144" y="266592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타원형 설명선 244">
            <a:extLst>
              <a:ext uri="{FF2B5EF4-FFF2-40B4-BE49-F238E27FC236}">
                <a16:creationId xmlns:a16="http://schemas.microsoft.com/office/drawing/2014/main" id="{2CFDBB99-43C9-4543-9883-A38F8DB80250}"/>
              </a:ext>
            </a:extLst>
          </p:cNvPr>
          <p:cNvSpPr/>
          <p:nvPr/>
        </p:nvSpPr>
        <p:spPr>
          <a:xfrm>
            <a:off x="223930" y="306896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타원형 설명선 245">
            <a:extLst>
              <a:ext uri="{FF2B5EF4-FFF2-40B4-BE49-F238E27FC236}">
                <a16:creationId xmlns:a16="http://schemas.microsoft.com/office/drawing/2014/main" id="{B80F2AA6-49E2-4322-A21F-D3AC42FE9C15}"/>
              </a:ext>
            </a:extLst>
          </p:cNvPr>
          <p:cNvSpPr/>
          <p:nvPr/>
        </p:nvSpPr>
        <p:spPr>
          <a:xfrm>
            <a:off x="6905707" y="266592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타원형 설명선 225">
            <a:extLst>
              <a:ext uri="{FF2B5EF4-FFF2-40B4-BE49-F238E27FC236}">
                <a16:creationId xmlns:a16="http://schemas.microsoft.com/office/drawing/2014/main" id="{5C94B5E0-6E60-41AA-8A92-3141C46E344E}"/>
              </a:ext>
            </a:extLst>
          </p:cNvPr>
          <p:cNvSpPr/>
          <p:nvPr/>
        </p:nvSpPr>
        <p:spPr>
          <a:xfrm>
            <a:off x="3374355" y="512688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1898755-7600-4F70-B636-C7F597AF25BD}"/>
              </a:ext>
            </a:extLst>
          </p:cNvPr>
          <p:cNvSpPr/>
          <p:nvPr/>
        </p:nvSpPr>
        <p:spPr>
          <a:xfrm>
            <a:off x="2144688" y="620688"/>
            <a:ext cx="1155818" cy="230591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13D56F8-FF18-4D22-B36D-2DA6F8A8ADF7}"/>
              </a:ext>
            </a:extLst>
          </p:cNvPr>
          <p:cNvSpPr/>
          <p:nvPr/>
        </p:nvSpPr>
        <p:spPr>
          <a:xfrm>
            <a:off x="7615403" y="913839"/>
            <a:ext cx="649965" cy="230591"/>
          </a:xfrm>
          <a:prstGeom prst="rect">
            <a:avLst/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74" name="말풍선: 모서리가 둥근 사각형 73">
            <a:extLst>
              <a:ext uri="{FF2B5EF4-FFF2-40B4-BE49-F238E27FC236}">
                <a16:creationId xmlns:a16="http://schemas.microsoft.com/office/drawing/2014/main" id="{2EB40995-B8CC-44C7-9541-B7B95B647577}"/>
              </a:ext>
            </a:extLst>
          </p:cNvPr>
          <p:cNvSpPr/>
          <p:nvPr/>
        </p:nvSpPr>
        <p:spPr>
          <a:xfrm>
            <a:off x="6050794" y="1291055"/>
            <a:ext cx="2344702" cy="474559"/>
          </a:xfrm>
          <a:prstGeom prst="wedgeRoundRectCallout">
            <a:avLst>
              <a:gd name="adj1" fmla="val 29897"/>
              <a:gd name="adj2" fmla="val -70812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요금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/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수익 항목은 막대그래프로만 표시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타원형 설명선 245">
            <a:extLst>
              <a:ext uri="{FF2B5EF4-FFF2-40B4-BE49-F238E27FC236}">
                <a16:creationId xmlns:a16="http://schemas.microsoft.com/office/drawing/2014/main" id="{BF71EAB5-C8BD-4A90-92C9-D1B131D36B10}"/>
              </a:ext>
            </a:extLst>
          </p:cNvPr>
          <p:cNvSpPr/>
          <p:nvPr/>
        </p:nvSpPr>
        <p:spPr>
          <a:xfrm>
            <a:off x="7743072" y="266592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타원형 설명선 245">
            <a:extLst>
              <a:ext uri="{FF2B5EF4-FFF2-40B4-BE49-F238E27FC236}">
                <a16:creationId xmlns:a16="http://schemas.microsoft.com/office/drawing/2014/main" id="{15477447-DA2B-4A9F-AC46-73212E2B5BF5}"/>
              </a:ext>
            </a:extLst>
          </p:cNvPr>
          <p:cNvSpPr/>
          <p:nvPr/>
        </p:nvSpPr>
        <p:spPr>
          <a:xfrm>
            <a:off x="24298" y="49553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55A68DD-C6E8-4793-9913-6DBF5D9BCD32}"/>
              </a:ext>
            </a:extLst>
          </p:cNvPr>
          <p:cNvSpPr/>
          <p:nvPr/>
        </p:nvSpPr>
        <p:spPr>
          <a:xfrm>
            <a:off x="294489" y="3422093"/>
            <a:ext cx="1467232" cy="1079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2634F69-4CFA-486A-B119-66713AC6C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616071"/>
              </p:ext>
            </p:extLst>
          </p:nvPr>
        </p:nvGraphicFramePr>
        <p:xfrm>
          <a:off x="380031" y="3407456"/>
          <a:ext cx="1296148" cy="971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8">
                  <a:extLst>
                    <a:ext uri="{9D8B030D-6E8A-4147-A177-3AD203B41FA5}">
                      <a16:colId xmlns:a16="http://schemas.microsoft.com/office/drawing/2014/main" val="838504791"/>
                    </a:ext>
                  </a:extLst>
                </a:gridCol>
              </a:tblGrid>
              <a:tr h="1512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612318"/>
                  </a:ext>
                </a:extLst>
              </a:tr>
              <a:tr h="1422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발전량</a:t>
                      </a:r>
                      <a:endParaRPr lang="en-US" altLang="ko-KR" sz="7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3386"/>
                  </a:ext>
                </a:extLst>
              </a:tr>
              <a:tr h="134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SMP 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거래량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345673"/>
                  </a:ext>
                </a:extLst>
              </a:tr>
              <a:tr h="134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SMP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수익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52991"/>
                  </a:ext>
                </a:extLst>
              </a:tr>
              <a:tr h="1344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REC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거래량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943354"/>
                  </a:ext>
                </a:extLst>
              </a:tr>
              <a:tr h="134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REC </a:t>
                      </a:r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645216"/>
                  </a:ext>
                </a:extLst>
              </a:tr>
              <a:tr h="140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수익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505302"/>
                  </a:ext>
                </a:extLst>
              </a:tr>
            </a:tbl>
          </a:graphicData>
        </a:graphic>
      </p:graphicFrame>
      <p:sp>
        <p:nvSpPr>
          <p:cNvPr id="80" name="직사각형 79">
            <a:extLst>
              <a:ext uri="{FF2B5EF4-FFF2-40B4-BE49-F238E27FC236}">
                <a16:creationId xmlns:a16="http://schemas.microsoft.com/office/drawing/2014/main" id="{604762AD-BA6F-4C71-B99B-04CE1D3BC189}"/>
              </a:ext>
            </a:extLst>
          </p:cNvPr>
          <p:cNvSpPr/>
          <p:nvPr/>
        </p:nvSpPr>
        <p:spPr>
          <a:xfrm>
            <a:off x="314425" y="3356992"/>
            <a:ext cx="1430518" cy="107903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말풍선: 모서리가 둥근 사각형 80">
            <a:extLst>
              <a:ext uri="{FF2B5EF4-FFF2-40B4-BE49-F238E27FC236}">
                <a16:creationId xmlns:a16="http://schemas.microsoft.com/office/drawing/2014/main" id="{997D49C5-0917-4985-A03C-EDE7F786049D}"/>
              </a:ext>
            </a:extLst>
          </p:cNvPr>
          <p:cNvSpPr/>
          <p:nvPr/>
        </p:nvSpPr>
        <p:spPr>
          <a:xfrm>
            <a:off x="2035196" y="4165090"/>
            <a:ext cx="2162630" cy="560054"/>
          </a:xfrm>
          <a:prstGeom prst="wedgeRoundRectCallout">
            <a:avLst>
              <a:gd name="adj1" fmla="val -60787"/>
              <a:gd name="adj2" fmla="val -32354"/>
              <a:gd name="adj3" fmla="val 16667"/>
            </a:avLst>
          </a:prstGeom>
          <a:solidFill>
            <a:schemeClr val="bg1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그래프에 포함되지 않은 항목 추가</a:t>
            </a:r>
            <a:endParaRPr lang="en-US" altLang="ko-KR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/>
            </a:endParaRPr>
          </a:p>
          <a:p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- 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총 발전량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SMP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거래량</a:t>
            </a:r>
            <a:r>
              <a: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, REC</a:t>
            </a:r>
            <a:r>
              <a:rPr lang="ko-KR" altLang="en-US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/>
              </a:rPr>
              <a:t>거래량</a:t>
            </a:r>
            <a:endParaRPr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57816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49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요금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PV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631715"/>
              </p:ext>
            </p:extLst>
          </p:nvPr>
        </p:nvGraphicFramePr>
        <p:xfrm>
          <a:off x="8469313" y="276225"/>
          <a:ext cx="1404000" cy="482112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기간설정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기간은 월 단위 설정만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조회 버튼을 클릭하면 조회 진행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그래프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각 항목 묶은 막대 그래프 형태로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각 월 별 그래프 항목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표시 데이터 항목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총수익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SMP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REC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표 표시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  <a:p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1)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ESS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충방전량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정보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평일 일수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할인 및 정산 금액 등을 표로 표시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  <a:p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2)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그래프에 포함되지 않은 </a:t>
                      </a:r>
                      <a:r>
                        <a:rPr lang="ko-KR" altLang="en-US" sz="800" b="0" u="none" dirty="0" err="1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총발전량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SMP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거래량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REC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거래량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등의 정보를 추가로 표시</a:t>
                      </a:r>
                      <a:endParaRPr kumimoji="1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저장하기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데이터를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csv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형태의 파일로 저장한다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2)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표에 표시된 항목을 그대로 저장하므로 </a:t>
                      </a:r>
                      <a:r>
                        <a:rPr lang="ko-KR" altLang="en-US" sz="800" b="0" u="none" dirty="0" err="1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총발전량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SMP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거래량</a:t>
                      </a:r>
                      <a:r>
                        <a:rPr lang="en-US" altLang="ko-KR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REC</a:t>
                      </a:r>
                      <a:r>
                        <a:rPr lang="ko-KR" altLang="en-US" sz="800" b="0" u="none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거래량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등이 포함된다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명세서 확인하기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해당 버튼을 클릭하면 명세서 확인 및 출력 화면이 팝업 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다음 페이지 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ewpsp_scr_031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14E8AEF-8EA8-4944-AE52-FF98A1FB7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1" y="920973"/>
            <a:ext cx="8208912" cy="466826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05" y="847972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7D07777-30AA-4506-9C18-6F3B4C7D943C}"/>
              </a:ext>
            </a:extLst>
          </p:cNvPr>
          <p:cNvCxnSpPr>
            <a:cxnSpLocks/>
          </p:cNvCxnSpPr>
          <p:nvPr/>
        </p:nvCxnSpPr>
        <p:spPr>
          <a:xfrm>
            <a:off x="148782" y="1196752"/>
            <a:ext cx="8208912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4417E-CAA5-4FD3-BBB9-7CD5570EF571}"/>
              </a:ext>
            </a:extLst>
          </p:cNvPr>
          <p:cNvSpPr/>
          <p:nvPr/>
        </p:nvSpPr>
        <p:spPr>
          <a:xfrm>
            <a:off x="216315" y="1612260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 조회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6BFF179-6D85-452E-9564-60FFD2CE0D3D}"/>
              </a:ext>
            </a:extLst>
          </p:cNvPr>
          <p:cNvGrpSpPr/>
          <p:nvPr/>
        </p:nvGrpSpPr>
        <p:grpSpPr>
          <a:xfrm>
            <a:off x="299939" y="5231524"/>
            <a:ext cx="862386" cy="211955"/>
            <a:chOff x="4861742" y="3907374"/>
            <a:chExt cx="862386" cy="211955"/>
          </a:xfrm>
        </p:grpSpPr>
        <p:pic>
          <p:nvPicPr>
            <p:cNvPr id="38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72CEF38D-10AD-4758-B55F-6D8F726124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AB80116-BA59-4BBD-BC55-87962E3E05DB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27B69D7-2B77-4AF2-A717-2F8B00E5023D}"/>
              </a:ext>
            </a:extLst>
          </p:cNvPr>
          <p:cNvSpPr/>
          <p:nvPr/>
        </p:nvSpPr>
        <p:spPr>
          <a:xfrm>
            <a:off x="3584848" y="1624921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1E4F555-ACF8-422A-8A4C-263DF5607ED0}"/>
              </a:ext>
            </a:extLst>
          </p:cNvPr>
          <p:cNvSpPr/>
          <p:nvPr/>
        </p:nvSpPr>
        <p:spPr>
          <a:xfrm>
            <a:off x="4304928" y="162492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6B85B8-E22D-471D-BF90-7BA59FDE59DA}"/>
              </a:ext>
            </a:extLst>
          </p:cNvPr>
          <p:cNvSpPr/>
          <p:nvPr/>
        </p:nvSpPr>
        <p:spPr>
          <a:xfrm>
            <a:off x="5567681" y="162492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DE85575-6695-43D9-BA78-E72D7749FD5A}"/>
              </a:ext>
            </a:extLst>
          </p:cNvPr>
          <p:cNvSpPr/>
          <p:nvPr/>
        </p:nvSpPr>
        <p:spPr>
          <a:xfrm>
            <a:off x="5855713" y="1624921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2DDF82F-9C8F-422F-B328-3979E21AEB5E}"/>
              </a:ext>
            </a:extLst>
          </p:cNvPr>
          <p:cNvSpPr/>
          <p:nvPr/>
        </p:nvSpPr>
        <p:spPr>
          <a:xfrm>
            <a:off x="6105128" y="162492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08668D7-197F-47CF-8003-58499E43E073}"/>
              </a:ext>
            </a:extLst>
          </p:cNvPr>
          <p:cNvSpPr/>
          <p:nvPr/>
        </p:nvSpPr>
        <p:spPr>
          <a:xfrm>
            <a:off x="7367881" y="162492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844086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8022E966-6773-477B-BC7F-8585C81A6134}"/>
              </a:ext>
            </a:extLst>
          </p:cNvPr>
          <p:cNvSpPr txBox="1"/>
          <p:nvPr/>
        </p:nvSpPr>
        <p:spPr>
          <a:xfrm>
            <a:off x="7149244" y="5229780"/>
            <a:ext cx="972108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명세서 확인하기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29C7BCAA-D601-420B-B3F0-1175AA757E88}"/>
              </a:ext>
            </a:extLst>
          </p:cNvPr>
          <p:cNvSpPr/>
          <p:nvPr/>
        </p:nvSpPr>
        <p:spPr>
          <a:xfrm>
            <a:off x="4736976" y="1988840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총 수익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B5256E29-EDBA-4EB7-AAFD-34118F3847B9}"/>
              </a:ext>
            </a:extLst>
          </p:cNvPr>
          <p:cNvSpPr/>
          <p:nvPr/>
        </p:nvSpPr>
        <p:spPr>
          <a:xfrm>
            <a:off x="6105128" y="1988840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SMP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</a:t>
            </a: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F56CDFC-3B94-4C7C-B074-DE46915AB355}"/>
              </a:ext>
            </a:extLst>
          </p:cNvPr>
          <p:cNvCxnSpPr/>
          <p:nvPr/>
        </p:nvCxnSpPr>
        <p:spPr>
          <a:xfrm>
            <a:off x="4160912" y="2111068"/>
            <a:ext cx="504056" cy="0"/>
          </a:xfrm>
          <a:prstGeom prst="lin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E662AB0-314D-4E09-BDDF-E02966A5EF6E}"/>
              </a:ext>
            </a:extLst>
          </p:cNvPr>
          <p:cNvCxnSpPr/>
          <p:nvPr/>
        </p:nvCxnSpPr>
        <p:spPr>
          <a:xfrm>
            <a:off x="5529064" y="2111068"/>
            <a:ext cx="504056" cy="0"/>
          </a:xfrm>
          <a:prstGeom prst="lin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9BD5E43D-104B-443D-B1F6-27B460190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361609"/>
              </p:ext>
            </p:extLst>
          </p:nvPr>
        </p:nvGraphicFramePr>
        <p:xfrm>
          <a:off x="272482" y="2308931"/>
          <a:ext cx="7920874" cy="155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220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0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0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0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0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0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0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8138AD86-BA64-40C8-8DDA-F5A6A43D0D17}"/>
              </a:ext>
            </a:extLst>
          </p:cNvPr>
          <p:cNvCxnSpPr/>
          <p:nvPr/>
        </p:nvCxnSpPr>
        <p:spPr>
          <a:xfrm>
            <a:off x="1303114" y="3082506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9333C2C6-2396-4FB6-9DEA-3B6D517F7801}"/>
              </a:ext>
            </a:extLst>
          </p:cNvPr>
          <p:cNvCxnSpPr/>
          <p:nvPr/>
        </p:nvCxnSpPr>
        <p:spPr>
          <a:xfrm>
            <a:off x="1303114" y="2636912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B023C2E5-191F-4401-92C6-46B2622A2CBA}"/>
              </a:ext>
            </a:extLst>
          </p:cNvPr>
          <p:cNvGrpSpPr/>
          <p:nvPr/>
        </p:nvGrpSpPr>
        <p:grpSpPr>
          <a:xfrm>
            <a:off x="1770620" y="2865863"/>
            <a:ext cx="2390292" cy="527108"/>
            <a:chOff x="1254498" y="2635699"/>
            <a:chExt cx="2390292" cy="347113"/>
          </a:xfrm>
        </p:grpSpPr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0EF0177D-9980-4862-8EE3-9FCFC5EE5A1C}"/>
                </a:ext>
              </a:extLst>
            </p:cNvPr>
            <p:cNvSpPr/>
            <p:nvPr/>
          </p:nvSpPr>
          <p:spPr>
            <a:xfrm>
              <a:off x="1254498" y="2635699"/>
              <a:ext cx="72000" cy="347113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7ED53488-58A9-4E19-9E77-B7A4E2955C19}"/>
                </a:ext>
              </a:extLst>
            </p:cNvPr>
            <p:cNvSpPr/>
            <p:nvPr/>
          </p:nvSpPr>
          <p:spPr>
            <a:xfrm>
              <a:off x="1352610" y="2857851"/>
              <a:ext cx="72000" cy="124961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4AC93C2C-D1E5-43B7-A8BE-D984A4CEDFE8}"/>
                </a:ext>
              </a:extLst>
            </p:cNvPr>
            <p:cNvSpPr/>
            <p:nvPr/>
          </p:nvSpPr>
          <p:spPr>
            <a:xfrm>
              <a:off x="1811239" y="2635699"/>
              <a:ext cx="72000" cy="347113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DE24756D-DF19-4C59-BDED-AD3D37C8E73E}"/>
                </a:ext>
              </a:extLst>
            </p:cNvPr>
            <p:cNvSpPr/>
            <p:nvPr/>
          </p:nvSpPr>
          <p:spPr>
            <a:xfrm>
              <a:off x="1909351" y="2857851"/>
              <a:ext cx="72000" cy="124961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E83AF217-23EB-476D-941B-AA094DDA798F}"/>
                </a:ext>
              </a:extLst>
            </p:cNvPr>
            <p:cNvSpPr/>
            <p:nvPr/>
          </p:nvSpPr>
          <p:spPr>
            <a:xfrm>
              <a:off x="2373496" y="2635699"/>
              <a:ext cx="72000" cy="347113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6A3DACF-363D-45DD-92FE-D2ECEAF3DBF0}"/>
                </a:ext>
              </a:extLst>
            </p:cNvPr>
            <p:cNvSpPr/>
            <p:nvPr/>
          </p:nvSpPr>
          <p:spPr>
            <a:xfrm>
              <a:off x="2471608" y="2857851"/>
              <a:ext cx="72000" cy="124961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9677FDC2-9790-4A3C-81AC-5F917853628F}"/>
                </a:ext>
              </a:extLst>
            </p:cNvPr>
            <p:cNvSpPr/>
            <p:nvPr/>
          </p:nvSpPr>
          <p:spPr>
            <a:xfrm>
              <a:off x="2913177" y="2635699"/>
              <a:ext cx="72000" cy="347113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137273C7-B2BA-4FD2-8B6D-EE260CE782F4}"/>
                </a:ext>
              </a:extLst>
            </p:cNvPr>
            <p:cNvSpPr/>
            <p:nvPr/>
          </p:nvSpPr>
          <p:spPr>
            <a:xfrm>
              <a:off x="3011289" y="2857851"/>
              <a:ext cx="72000" cy="124961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EC557756-0ECF-473B-9404-8CBE1043C140}"/>
                </a:ext>
              </a:extLst>
            </p:cNvPr>
            <p:cNvSpPr/>
            <p:nvPr/>
          </p:nvSpPr>
          <p:spPr>
            <a:xfrm>
              <a:off x="3474678" y="2635699"/>
              <a:ext cx="72000" cy="347113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17E6608E-2FB8-46BC-97F2-874DC0DF958C}"/>
                </a:ext>
              </a:extLst>
            </p:cNvPr>
            <p:cNvSpPr/>
            <p:nvPr/>
          </p:nvSpPr>
          <p:spPr>
            <a:xfrm>
              <a:off x="3572790" y="2857851"/>
              <a:ext cx="72000" cy="124961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D5428C4B-7325-49A8-B9F2-16638C5D3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276760"/>
              </p:ext>
            </p:extLst>
          </p:nvPr>
        </p:nvGraphicFramePr>
        <p:xfrm>
          <a:off x="272476" y="3901193"/>
          <a:ext cx="7920880" cy="118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512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2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발전량</a:t>
                      </a:r>
                      <a:endParaRPr lang="en-US" altLang="ko-KR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SMP </a:t>
                      </a: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거래량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SMP</a:t>
                      </a: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수익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44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REC</a:t>
                      </a: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거래량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44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REC </a:t>
                      </a: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수익</a:t>
                      </a:r>
                      <a:endParaRPr lang="en-US" altLang="ko-KR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발전량</a:t>
                      </a:r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x(SMP</a:t>
                      </a: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거래가격</a:t>
                      </a:r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+</a:t>
                      </a:r>
                    </a:p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REC</a:t>
                      </a: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거래가격</a:t>
                      </a:r>
                      <a:r>
                        <a:rPr lang="en-US" altLang="ko-KR" sz="700" b="1" kern="12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xREC</a:t>
                      </a:r>
                      <a:r>
                        <a:rPr lang="ko-KR" altLang="en-US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가중치</a:t>
                      </a:r>
                      <a:r>
                        <a:rPr lang="en-US" altLang="ko-KR" sz="7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7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B6AB879-C521-4B65-B256-96E52086466E}"/>
              </a:ext>
            </a:extLst>
          </p:cNvPr>
          <p:cNvSpPr/>
          <p:nvPr/>
        </p:nvSpPr>
        <p:spPr>
          <a:xfrm>
            <a:off x="7517537" y="1992619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REC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수익</a:t>
            </a: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C4632A4-0C68-4961-B50A-7B514051EA06}"/>
              </a:ext>
            </a:extLst>
          </p:cNvPr>
          <p:cNvCxnSpPr/>
          <p:nvPr/>
        </p:nvCxnSpPr>
        <p:spPr>
          <a:xfrm>
            <a:off x="6941473" y="2114847"/>
            <a:ext cx="504056" cy="0"/>
          </a:xfrm>
          <a:prstGeom prst="lin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DADAE4B5-FA7C-4650-B211-22FAE2A62FC2}"/>
              </a:ext>
            </a:extLst>
          </p:cNvPr>
          <p:cNvSpPr/>
          <p:nvPr/>
        </p:nvSpPr>
        <p:spPr>
          <a:xfrm>
            <a:off x="1973941" y="3131016"/>
            <a:ext cx="59387" cy="261955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EB9400A-98FF-48CE-AC46-95E197ED2C1B}"/>
              </a:ext>
            </a:extLst>
          </p:cNvPr>
          <p:cNvSpPr/>
          <p:nvPr/>
        </p:nvSpPr>
        <p:spPr>
          <a:xfrm>
            <a:off x="2518069" y="3131016"/>
            <a:ext cx="59387" cy="261955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1F2FB687-16EC-4230-9626-DE538ADB1AFF}"/>
              </a:ext>
            </a:extLst>
          </p:cNvPr>
          <p:cNvSpPr/>
          <p:nvPr/>
        </p:nvSpPr>
        <p:spPr>
          <a:xfrm>
            <a:off x="3086627" y="3131016"/>
            <a:ext cx="59387" cy="261955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79E1FBC-8FE7-4BEF-9A4C-B5A566E8229E}"/>
              </a:ext>
            </a:extLst>
          </p:cNvPr>
          <p:cNvSpPr/>
          <p:nvPr/>
        </p:nvSpPr>
        <p:spPr>
          <a:xfrm>
            <a:off x="3619132" y="3131016"/>
            <a:ext cx="59387" cy="261955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CFAD2F5-08D5-4862-AFED-98628E969EE5}"/>
              </a:ext>
            </a:extLst>
          </p:cNvPr>
          <p:cNvSpPr/>
          <p:nvPr/>
        </p:nvSpPr>
        <p:spPr>
          <a:xfrm>
            <a:off x="4179727" y="3131016"/>
            <a:ext cx="59387" cy="261955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1CFD9424-7997-4450-A24A-93DD2A68DCB9}"/>
              </a:ext>
            </a:extLst>
          </p:cNvPr>
          <p:cNvGrpSpPr/>
          <p:nvPr/>
        </p:nvGrpSpPr>
        <p:grpSpPr>
          <a:xfrm>
            <a:off x="242160" y="1268760"/>
            <a:ext cx="8024876" cy="260092"/>
            <a:chOff x="184526" y="1505937"/>
            <a:chExt cx="8024876" cy="260092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8A774828-0E1F-40C6-B342-3A5C51D546F7}"/>
                </a:ext>
              </a:extLst>
            </p:cNvPr>
            <p:cNvSpPr/>
            <p:nvPr/>
          </p:nvSpPr>
          <p:spPr>
            <a:xfrm>
              <a:off x="5810955" y="1550585"/>
              <a:ext cx="18205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수익 현황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63AEAE6E-AE4E-4A23-B419-15C6646C54C7}"/>
                </a:ext>
              </a:extLst>
            </p:cNvPr>
            <p:cNvSpPr/>
            <p:nvPr/>
          </p:nvSpPr>
          <p:spPr>
            <a:xfrm>
              <a:off x="184526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에너지 모니터링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F5FCA6BA-F75D-46B5-A73E-5BCEA687835C}"/>
                </a:ext>
              </a:extLst>
            </p:cNvPr>
            <p:cNvSpPr/>
            <p:nvPr/>
          </p:nvSpPr>
          <p:spPr>
            <a:xfrm>
              <a:off x="2191085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장치 모니터링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902C8DF0-2648-41F4-A1CE-6B5CFDB07201}"/>
                </a:ext>
              </a:extLst>
            </p:cNvPr>
            <p:cNvSpPr/>
            <p:nvPr/>
          </p:nvSpPr>
          <p:spPr>
            <a:xfrm>
              <a:off x="4197644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상황</a:t>
              </a:r>
              <a:r>
                <a:rPr lang="en-US" altLang="ko-KR" sz="700" dirty="0"/>
                <a:t> </a:t>
              </a:r>
              <a:r>
                <a:rPr lang="ko-KR" altLang="en-US" sz="700" dirty="0"/>
                <a:t>관제</a:t>
              </a: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C8B412A3-C7D2-407C-8A69-59C324E0620A}"/>
                </a:ext>
              </a:extLst>
            </p:cNvPr>
            <p:cNvSpPr/>
            <p:nvPr/>
          </p:nvSpPr>
          <p:spPr>
            <a:xfrm>
              <a:off x="6204202" y="1505937"/>
              <a:ext cx="2005200" cy="248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요금</a:t>
              </a:r>
              <a:r>
                <a:rPr lang="en-US" altLang="ko-KR" sz="700" dirty="0"/>
                <a:t>/</a:t>
              </a:r>
              <a:r>
                <a:rPr lang="ko-KR" altLang="en-US" sz="700" dirty="0"/>
                <a:t>수익</a:t>
              </a:r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C35DCB0-E1EF-4116-9F44-258818DCEA0A}"/>
              </a:ext>
            </a:extLst>
          </p:cNvPr>
          <p:cNvSpPr/>
          <p:nvPr/>
        </p:nvSpPr>
        <p:spPr>
          <a:xfrm>
            <a:off x="7688753" y="1625875"/>
            <a:ext cx="473661" cy="289182"/>
          </a:xfrm>
          <a:prstGeom prst="rect">
            <a:avLst/>
          </a:prstGeom>
          <a:solidFill>
            <a:srgbClr val="0099FF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</a:t>
            </a:r>
          </a:p>
        </p:txBody>
      </p:sp>
      <p:sp>
        <p:nvSpPr>
          <p:cNvPr id="68" name="타원형 설명선 226">
            <a:extLst>
              <a:ext uri="{FF2B5EF4-FFF2-40B4-BE49-F238E27FC236}">
                <a16:creationId xmlns:a16="http://schemas.microsoft.com/office/drawing/2014/main" id="{32CC2DB9-610D-4D37-9809-E62B20A6AFEA}"/>
              </a:ext>
            </a:extLst>
          </p:cNvPr>
          <p:cNvSpPr/>
          <p:nvPr/>
        </p:nvSpPr>
        <p:spPr>
          <a:xfrm>
            <a:off x="128462" y="200273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타원형 설명선 243">
            <a:extLst>
              <a:ext uri="{FF2B5EF4-FFF2-40B4-BE49-F238E27FC236}">
                <a16:creationId xmlns:a16="http://schemas.microsoft.com/office/drawing/2014/main" id="{D1F85B76-89CB-4144-9F59-936C77470B0B}"/>
              </a:ext>
            </a:extLst>
          </p:cNvPr>
          <p:cNvSpPr/>
          <p:nvPr/>
        </p:nvSpPr>
        <p:spPr>
          <a:xfrm>
            <a:off x="115930" y="501317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타원형 설명선 244">
            <a:extLst>
              <a:ext uri="{FF2B5EF4-FFF2-40B4-BE49-F238E27FC236}">
                <a16:creationId xmlns:a16="http://schemas.microsoft.com/office/drawing/2014/main" id="{2CFDBB99-43C9-4543-9883-A38F8DB80250}"/>
              </a:ext>
            </a:extLst>
          </p:cNvPr>
          <p:cNvSpPr/>
          <p:nvPr/>
        </p:nvSpPr>
        <p:spPr>
          <a:xfrm>
            <a:off x="109942" y="381254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타원형 설명선 245">
            <a:extLst>
              <a:ext uri="{FF2B5EF4-FFF2-40B4-BE49-F238E27FC236}">
                <a16:creationId xmlns:a16="http://schemas.microsoft.com/office/drawing/2014/main" id="{B80F2AA6-49E2-4322-A21F-D3AC42FE9C15}"/>
              </a:ext>
            </a:extLst>
          </p:cNvPr>
          <p:cNvSpPr/>
          <p:nvPr/>
        </p:nvSpPr>
        <p:spPr>
          <a:xfrm>
            <a:off x="6834930" y="505023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타원형 설명선 225">
            <a:extLst>
              <a:ext uri="{FF2B5EF4-FFF2-40B4-BE49-F238E27FC236}">
                <a16:creationId xmlns:a16="http://schemas.microsoft.com/office/drawing/2014/main" id="{5C94B5E0-6E60-41AA-8A92-3141C46E344E}"/>
              </a:ext>
            </a:extLst>
          </p:cNvPr>
          <p:cNvSpPr/>
          <p:nvPr/>
        </p:nvSpPr>
        <p:spPr>
          <a:xfrm>
            <a:off x="3450578" y="1458646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78491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1B1EB27-3DFA-4C9B-B6A6-A2D05EC26A8D}"/>
              </a:ext>
            </a:extLst>
          </p:cNvPr>
          <p:cNvSpPr/>
          <p:nvPr/>
        </p:nvSpPr>
        <p:spPr>
          <a:xfrm>
            <a:off x="131028" y="692284"/>
            <a:ext cx="8202089" cy="561703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50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요금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PV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명세서 확인 및 출력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명세서 확인 및 출력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912113"/>
              </p:ext>
            </p:extLst>
          </p:nvPr>
        </p:nvGraphicFramePr>
        <p:xfrm>
          <a:off x="8469313" y="276225"/>
          <a:ext cx="1404000" cy="2547456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명세서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PV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발전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 배분 명세서를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PDF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로 저장하기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 구성된 화면을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PDF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로 저장한다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프린터로 인쇄하기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구성된 화면을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상에 설정 및 연결된 프린터를 통해 인쇄한다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닫기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명세서 확인 및 출력 화면 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PV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발전 수익 배분 정책 확인 후 업데이트 예정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ewpsp_scr_032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343504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4417E-CAA5-4FD3-BBB9-7CD5570EF571}"/>
              </a:ext>
            </a:extLst>
          </p:cNvPr>
          <p:cNvSpPr/>
          <p:nvPr/>
        </p:nvSpPr>
        <p:spPr>
          <a:xfrm>
            <a:off x="216314" y="777814"/>
            <a:ext cx="2216405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명세서 확인 및 출력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4251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2C5C60E-7747-4016-AE8A-04E934E77802}"/>
              </a:ext>
            </a:extLst>
          </p:cNvPr>
          <p:cNvSpPr/>
          <p:nvPr/>
        </p:nvSpPr>
        <p:spPr>
          <a:xfrm>
            <a:off x="2141448" y="777815"/>
            <a:ext cx="4608512" cy="509945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B4E966B-3025-4C6D-BE8B-0CEF882847B9}"/>
              </a:ext>
            </a:extLst>
          </p:cNvPr>
          <p:cNvGrpSpPr/>
          <p:nvPr/>
        </p:nvGrpSpPr>
        <p:grpSpPr>
          <a:xfrm>
            <a:off x="2162704" y="5445224"/>
            <a:ext cx="4488118" cy="323428"/>
            <a:chOff x="2162704" y="5301208"/>
            <a:chExt cx="4488118" cy="323428"/>
          </a:xfrm>
        </p:grpSpPr>
        <p:pic>
          <p:nvPicPr>
            <p:cNvPr id="27" name="Picture 4" descr="ì¸ìì ëí ì´ë¯¸ì§ ê²ìê²°ê³¼">
              <a:extLst>
                <a:ext uri="{FF2B5EF4-FFF2-40B4-BE49-F238E27FC236}">
                  <a16:creationId xmlns:a16="http://schemas.microsoft.com/office/drawing/2014/main" id="{7ACDCB8C-EECE-43EA-80CB-7DE1D6C025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0465" y="5336922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6" descr="pdfì ëí ì´ë¯¸ì§ ê²ìê²°ê³¼">
              <a:extLst>
                <a:ext uri="{FF2B5EF4-FFF2-40B4-BE49-F238E27FC236}">
                  <a16:creationId xmlns:a16="http://schemas.microsoft.com/office/drawing/2014/main" id="{F6447086-52BB-4C6A-87B3-F1058CE230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2704" y="5336922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F6999647-2CEE-4125-8ECA-12D1C3503A16}"/>
                </a:ext>
              </a:extLst>
            </p:cNvPr>
            <p:cNvSpPr/>
            <p:nvPr/>
          </p:nvSpPr>
          <p:spPr>
            <a:xfrm>
              <a:off x="5490371" y="5301208"/>
              <a:ext cx="1160451" cy="323428"/>
            </a:xfrm>
            <a:prstGeom prst="rect">
              <a:avLst/>
            </a:prstGeom>
            <a:solidFill>
              <a:srgbClr val="0099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닫기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EFBAAD0-CA63-43D3-828C-B1E536C13E2E}"/>
                </a:ext>
              </a:extLst>
            </p:cNvPr>
            <p:cNvSpPr txBox="1"/>
            <p:nvPr/>
          </p:nvSpPr>
          <p:spPr>
            <a:xfrm>
              <a:off x="2401165" y="5355200"/>
              <a:ext cx="9493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PDF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저장하기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B7B0FD6-F1CD-4539-870D-9F2C346E92E4}"/>
                </a:ext>
              </a:extLst>
            </p:cNvPr>
            <p:cNvSpPr txBox="1"/>
            <p:nvPr/>
          </p:nvSpPr>
          <p:spPr>
            <a:xfrm>
              <a:off x="3633103" y="5355200"/>
              <a:ext cx="11604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프린터로 인쇄하기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293881F-4C80-4BA0-A8B5-A2AA768DB492}"/>
              </a:ext>
            </a:extLst>
          </p:cNvPr>
          <p:cNvSpPr txBox="1"/>
          <p:nvPr/>
        </p:nvSpPr>
        <p:spPr>
          <a:xfrm>
            <a:off x="2360712" y="873578"/>
            <a:ext cx="4176464" cy="2308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태양열 발전 수익 배분 청구서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(’18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DA4741-7818-4306-9809-6CE3E801803B}"/>
              </a:ext>
            </a:extLst>
          </p:cNvPr>
          <p:cNvSpPr txBox="1"/>
          <p:nvPr/>
        </p:nvSpPr>
        <p:spPr>
          <a:xfrm>
            <a:off x="5780695" y="1106155"/>
            <a:ext cx="8284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청구일 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2018-07-20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3EC9F-0CB7-4A74-B83C-1540AD243779}"/>
              </a:ext>
            </a:extLst>
          </p:cNvPr>
          <p:cNvSpPr txBox="1"/>
          <p:nvPr/>
        </p:nvSpPr>
        <p:spPr>
          <a:xfrm>
            <a:off x="2288704" y="1106155"/>
            <a:ext cx="8284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고객명 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Site_1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C4CE17-E1BB-4AD3-8662-BFE96BCBBA45}"/>
              </a:ext>
            </a:extLst>
          </p:cNvPr>
          <p:cNvSpPr txBox="1"/>
          <p:nvPr/>
        </p:nvSpPr>
        <p:spPr>
          <a:xfrm>
            <a:off x="4088904" y="1240893"/>
            <a:ext cx="23762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이번 달 청구 금액은     </a:t>
            </a:r>
            <a:r>
              <a:rPr lang="en-US" altLang="ko-KR" sz="9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5,058,900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 입니다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FA23C6-4825-4A2A-A0BE-64BBE088413C}"/>
              </a:ext>
            </a:extLst>
          </p:cNvPr>
          <p:cNvSpPr txBox="1"/>
          <p:nvPr/>
        </p:nvSpPr>
        <p:spPr>
          <a:xfrm>
            <a:off x="4880992" y="1409037"/>
            <a:ext cx="142934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수익배분기간 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2018-01-01 ~ 2018-12-31)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타원형 설명선 225">
            <a:extLst>
              <a:ext uri="{FF2B5EF4-FFF2-40B4-BE49-F238E27FC236}">
                <a16:creationId xmlns:a16="http://schemas.microsoft.com/office/drawing/2014/main" id="{64F5164F-2C45-4E25-ADAE-431B2C0711A8}"/>
              </a:ext>
            </a:extLst>
          </p:cNvPr>
          <p:cNvSpPr/>
          <p:nvPr/>
        </p:nvSpPr>
        <p:spPr>
          <a:xfrm>
            <a:off x="1925448" y="819084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240FAC-A469-4C23-AE87-C534ADF2CE40}"/>
              </a:ext>
            </a:extLst>
          </p:cNvPr>
          <p:cNvSpPr txBox="1"/>
          <p:nvPr/>
        </p:nvSpPr>
        <p:spPr>
          <a:xfrm>
            <a:off x="2274556" y="1628800"/>
            <a:ext cx="82848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청구내역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E6D2A2-F2B2-4EDE-827F-A35E84816B9B}"/>
              </a:ext>
            </a:extLst>
          </p:cNvPr>
          <p:cNvSpPr txBox="1"/>
          <p:nvPr/>
        </p:nvSpPr>
        <p:spPr>
          <a:xfrm>
            <a:off x="4627036" y="1628800"/>
            <a:ext cx="16561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 정보</a:t>
            </a: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B355DC39-1F31-4011-A866-8663CD576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135078"/>
              </p:ext>
            </p:extLst>
          </p:nvPr>
        </p:nvGraphicFramePr>
        <p:xfrm>
          <a:off x="2274556" y="1809368"/>
          <a:ext cx="203819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260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1015938">
                  <a:extLst>
                    <a:ext uri="{9D8B030D-6E8A-4147-A177-3AD203B41FA5}">
                      <a16:colId xmlns:a16="http://schemas.microsoft.com/office/drawing/2014/main" val="2151460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82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①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REC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12,775,000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②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SMP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10,220,000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③총 수익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22,995,000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90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 정산 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④수익배분 계</a:t>
                      </a:r>
                      <a:endParaRPr lang="en-US" altLang="ko-KR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4,599,000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590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부가가치세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459,906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17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원단위절사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</a:t>
                      </a:r>
                      <a:endParaRPr lang="ko-KR" altLang="en-US" sz="5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566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청구금액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5,058,900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105426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31B67689-AF51-4F05-9051-5985A3C6F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808516"/>
              </p:ext>
            </p:extLst>
          </p:nvPr>
        </p:nvGraphicFramePr>
        <p:xfrm>
          <a:off x="4528778" y="1809367"/>
          <a:ext cx="207012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278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  <a:gridCol w="1141844">
                  <a:extLst>
                    <a:ext uri="{9D8B030D-6E8A-4147-A177-3AD203B41FA5}">
                      <a16:colId xmlns:a16="http://schemas.microsoft.com/office/drawing/2014/main" val="215146028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8266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발전량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127,750 kWh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SMP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거래량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127,750 kWh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9859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SMP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단가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7080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REC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거래량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127.75 kWh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28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REC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100,000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6423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REC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903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수익 배분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(%)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922688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7A868FF5-0FB7-4E01-8A7F-94DD0A7A1C17}"/>
              </a:ext>
            </a:extLst>
          </p:cNvPr>
          <p:cNvSpPr txBox="1"/>
          <p:nvPr/>
        </p:nvSpPr>
        <p:spPr>
          <a:xfrm>
            <a:off x="2314306" y="4581128"/>
            <a:ext cx="18863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납입 정보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CCDBCD82-06F7-4DAF-A98B-F44F07836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514414"/>
              </p:ext>
            </p:extLst>
          </p:nvPr>
        </p:nvGraphicFramePr>
        <p:xfrm>
          <a:off x="2274555" y="4788783"/>
          <a:ext cx="2113799" cy="559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068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1166731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</a:tblGrid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청구 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5,058,900</a:t>
                      </a:r>
                      <a:endParaRPr lang="ko-KR" altLang="en-US" sz="5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은행명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우리은행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2833"/>
                  </a:ext>
                </a:extLst>
              </a:tr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계좌번호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1005 – 802 - 498030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90320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25AC58E8-2CB2-488A-A95B-CCCC55EB1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780992"/>
              </p:ext>
            </p:extLst>
          </p:nvPr>
        </p:nvGraphicFramePr>
        <p:xfrm>
          <a:off x="2276500" y="3628633"/>
          <a:ext cx="4332684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316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계산 내역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78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①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수익</a:t>
                      </a:r>
                      <a:endParaRPr lang="en-US" altLang="ko-KR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REC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거래량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x REC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단가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(217.75 x 100,000)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②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SMP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수익</a:t>
                      </a:r>
                      <a:endParaRPr lang="en-US" altLang="ko-KR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연간발전량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(kWh) x SMP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단가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(127,750 x 80)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58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③총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수익</a:t>
                      </a:r>
                      <a:endParaRPr lang="en-US" altLang="ko-KR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①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REC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수익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+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②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SMP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수익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(12,775,000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+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10,220,000)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211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④수익배분 계</a:t>
                      </a:r>
                      <a:endParaRPr lang="en-US" altLang="ko-KR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③총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수익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수익 배분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(22,995,000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 0.2)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590134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B07EAF56-3F1B-4153-86EF-4C600210B624}"/>
              </a:ext>
            </a:extLst>
          </p:cNvPr>
          <p:cNvSpPr txBox="1"/>
          <p:nvPr/>
        </p:nvSpPr>
        <p:spPr>
          <a:xfrm>
            <a:off x="2276004" y="3401621"/>
            <a:ext cx="10744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수익분배 계산 내역</a:t>
            </a: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A059C01B-B493-4CFB-9766-F790B03A8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907785"/>
              </p:ext>
            </p:extLst>
          </p:nvPr>
        </p:nvGraphicFramePr>
        <p:xfrm>
          <a:off x="4388354" y="4788783"/>
          <a:ext cx="2205300" cy="559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064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1217236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</a:tblGrid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예금주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한국동서발전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㈜</a:t>
                      </a:r>
                      <a:endParaRPr lang="en-US" altLang="ko-KR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납입금액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30,439,360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2833"/>
                  </a:ext>
                </a:extLst>
              </a:tr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납기일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2018-06-24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90320"/>
                  </a:ext>
                </a:extLst>
              </a:tr>
            </a:tbl>
          </a:graphicData>
        </a:graphic>
      </p:graphicFrame>
      <p:sp>
        <p:nvSpPr>
          <p:cNvPr id="50" name="타원형 설명선 226">
            <a:extLst>
              <a:ext uri="{FF2B5EF4-FFF2-40B4-BE49-F238E27FC236}">
                <a16:creationId xmlns:a16="http://schemas.microsoft.com/office/drawing/2014/main" id="{80CB27C4-F50B-476B-9FEA-4D2D5FC660EC}"/>
              </a:ext>
            </a:extLst>
          </p:cNvPr>
          <p:cNvSpPr/>
          <p:nvPr/>
        </p:nvSpPr>
        <p:spPr>
          <a:xfrm>
            <a:off x="1890853" y="530123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타원형 설명선 243">
            <a:extLst>
              <a:ext uri="{FF2B5EF4-FFF2-40B4-BE49-F238E27FC236}">
                <a16:creationId xmlns:a16="http://schemas.microsoft.com/office/drawing/2014/main" id="{11725DE3-ACD4-439E-AAEA-40D2EE0ACAF1}"/>
              </a:ext>
            </a:extLst>
          </p:cNvPr>
          <p:cNvSpPr/>
          <p:nvPr/>
        </p:nvSpPr>
        <p:spPr>
          <a:xfrm>
            <a:off x="5199751" y="530061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타원형 설명선 244">
            <a:extLst>
              <a:ext uri="{FF2B5EF4-FFF2-40B4-BE49-F238E27FC236}">
                <a16:creationId xmlns:a16="http://schemas.microsoft.com/office/drawing/2014/main" id="{8DB86A8B-75FD-4730-9F27-2EAADD1A6C47}"/>
              </a:ext>
            </a:extLst>
          </p:cNvPr>
          <p:cNvSpPr/>
          <p:nvPr/>
        </p:nvSpPr>
        <p:spPr>
          <a:xfrm>
            <a:off x="3095845" y="530061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타원형 설명선 225">
            <a:extLst>
              <a:ext uri="{FF2B5EF4-FFF2-40B4-BE49-F238E27FC236}">
                <a16:creationId xmlns:a16="http://schemas.microsoft.com/office/drawing/2014/main" id="{F867C211-3075-41D2-A13A-6D81A1AA4DB5}"/>
              </a:ext>
            </a:extLst>
          </p:cNvPr>
          <p:cNvSpPr/>
          <p:nvPr/>
        </p:nvSpPr>
        <p:spPr>
          <a:xfrm>
            <a:off x="1911319" y="803668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99619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1B1EB27-3DFA-4C9B-B6A6-A2D05EC26A8D}"/>
              </a:ext>
            </a:extLst>
          </p:cNvPr>
          <p:cNvSpPr/>
          <p:nvPr/>
        </p:nvSpPr>
        <p:spPr>
          <a:xfrm>
            <a:off x="135592" y="681248"/>
            <a:ext cx="8202089" cy="609209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51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요금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 명세서 확인 및 출력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 명세서 확인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579310"/>
              </p:ext>
            </p:extLst>
          </p:nvPr>
        </p:nvGraphicFramePr>
        <p:xfrm>
          <a:off x="8469313" y="276225"/>
          <a:ext cx="1404000" cy="2808576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명세서 표시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통합 명세서를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PDF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로 저장하기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 구성된 화면을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PDF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로 저장한다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프린터로 인쇄하기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구성된 화면을 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상에 설정 및 연결된 프린터를 통해 인쇄한다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닫기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명세서 확인 및 출력 화면 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통합 명세서 구성 협의 후 업데이트 예정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통합 명세서 출력 화면 접근 경로 검토 진행 중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639392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ewpsp_scr_033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343504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4417E-CAA5-4FD3-BBB9-7CD5570EF571}"/>
              </a:ext>
            </a:extLst>
          </p:cNvPr>
          <p:cNvSpPr/>
          <p:nvPr/>
        </p:nvSpPr>
        <p:spPr>
          <a:xfrm>
            <a:off x="216314" y="777814"/>
            <a:ext cx="2216405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통합 명세서 확인 및 출력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4251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2C5C60E-7747-4016-AE8A-04E934E77802}"/>
              </a:ext>
            </a:extLst>
          </p:cNvPr>
          <p:cNvSpPr/>
          <p:nvPr/>
        </p:nvSpPr>
        <p:spPr>
          <a:xfrm>
            <a:off x="2144688" y="777814"/>
            <a:ext cx="4608512" cy="586806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AD329AB-F121-464D-BA89-F227BA97A70B}"/>
              </a:ext>
            </a:extLst>
          </p:cNvPr>
          <p:cNvGrpSpPr/>
          <p:nvPr/>
        </p:nvGrpSpPr>
        <p:grpSpPr>
          <a:xfrm>
            <a:off x="2162704" y="6237312"/>
            <a:ext cx="4488118" cy="323428"/>
            <a:chOff x="2162704" y="5301208"/>
            <a:chExt cx="4488118" cy="323428"/>
          </a:xfrm>
        </p:grpSpPr>
        <p:pic>
          <p:nvPicPr>
            <p:cNvPr id="27" name="Picture 4" descr="ì¸ìì ëí ì´ë¯¸ì§ ê²ìê²°ê³¼">
              <a:extLst>
                <a:ext uri="{FF2B5EF4-FFF2-40B4-BE49-F238E27FC236}">
                  <a16:creationId xmlns:a16="http://schemas.microsoft.com/office/drawing/2014/main" id="{BFDF783E-718B-43D7-843F-D530A429E8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0465" y="5336922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6" descr="pdfì ëí ì´ë¯¸ì§ ê²ìê²°ê³¼">
              <a:extLst>
                <a:ext uri="{FF2B5EF4-FFF2-40B4-BE49-F238E27FC236}">
                  <a16:creationId xmlns:a16="http://schemas.microsoft.com/office/drawing/2014/main" id="{1E17A422-F987-43A1-A6E3-1BCF9FB338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2704" y="5336922"/>
              <a:ext cx="252000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EE51833-1CA9-481F-9795-90D4F9DEE1CA}"/>
                </a:ext>
              </a:extLst>
            </p:cNvPr>
            <p:cNvSpPr/>
            <p:nvPr/>
          </p:nvSpPr>
          <p:spPr>
            <a:xfrm>
              <a:off x="5490371" y="5301208"/>
              <a:ext cx="1160451" cy="323428"/>
            </a:xfrm>
            <a:prstGeom prst="rect">
              <a:avLst/>
            </a:prstGeom>
            <a:solidFill>
              <a:srgbClr val="0099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닫기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EDFFBB2-3534-4DA7-BFBC-6199F7BBF0BA}"/>
                </a:ext>
              </a:extLst>
            </p:cNvPr>
            <p:cNvSpPr txBox="1"/>
            <p:nvPr/>
          </p:nvSpPr>
          <p:spPr>
            <a:xfrm>
              <a:off x="2401165" y="5355200"/>
              <a:ext cx="9493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PDF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저장하기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7A173E1-5984-4F7E-9814-EF15BA907159}"/>
                </a:ext>
              </a:extLst>
            </p:cNvPr>
            <p:cNvSpPr txBox="1"/>
            <p:nvPr/>
          </p:nvSpPr>
          <p:spPr>
            <a:xfrm>
              <a:off x="3633103" y="5355200"/>
              <a:ext cx="11604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프린터로 인쇄하기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DDE9934-E94E-4DBF-8628-7007CD3A2270}"/>
              </a:ext>
            </a:extLst>
          </p:cNvPr>
          <p:cNvSpPr txBox="1"/>
          <p:nvPr/>
        </p:nvSpPr>
        <p:spPr>
          <a:xfrm>
            <a:off x="2360712" y="873578"/>
            <a:ext cx="4176464" cy="2308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종합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에너지절감 솔루션 제공 전기요금 절감 수익 배분 청구서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(’18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2E9F80-BD9F-4193-BBF9-50D77DD37414}"/>
              </a:ext>
            </a:extLst>
          </p:cNvPr>
          <p:cNvSpPr txBox="1"/>
          <p:nvPr/>
        </p:nvSpPr>
        <p:spPr>
          <a:xfrm>
            <a:off x="5780695" y="1106155"/>
            <a:ext cx="8284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청구일 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2018-07-20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7BF653-D90F-4336-986A-DF0116B39408}"/>
              </a:ext>
            </a:extLst>
          </p:cNvPr>
          <p:cNvSpPr txBox="1"/>
          <p:nvPr/>
        </p:nvSpPr>
        <p:spPr>
          <a:xfrm>
            <a:off x="2288704" y="1106155"/>
            <a:ext cx="82848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고객명 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Site_1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FCBA45-9DED-4DBF-9C6A-AF05FE873DAF}"/>
              </a:ext>
            </a:extLst>
          </p:cNvPr>
          <p:cNvSpPr txBox="1"/>
          <p:nvPr/>
        </p:nvSpPr>
        <p:spPr>
          <a:xfrm>
            <a:off x="4016896" y="1240893"/>
            <a:ext cx="23762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이번 달 청구 금액은     </a:t>
            </a:r>
            <a:r>
              <a:rPr lang="en-US" altLang="ko-KR" sz="9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37,938,260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 입니다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ED4949-BBE5-4E36-8660-66EDFFF41FA3}"/>
              </a:ext>
            </a:extLst>
          </p:cNvPr>
          <p:cNvSpPr txBox="1"/>
          <p:nvPr/>
        </p:nvSpPr>
        <p:spPr>
          <a:xfrm>
            <a:off x="4880992" y="1409037"/>
            <a:ext cx="142934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수익배분기간 </a:t>
            </a:r>
            <a:r>
              <a:rPr lang="en-US" altLang="ko-KR" sz="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2018-01-01 ~ 2018-12-31)</a:t>
            </a:r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7FFD89-A642-468B-80F6-AA5AF4474DC7}"/>
              </a:ext>
            </a:extLst>
          </p:cNvPr>
          <p:cNvSpPr txBox="1"/>
          <p:nvPr/>
        </p:nvSpPr>
        <p:spPr>
          <a:xfrm>
            <a:off x="4495984" y="1628800"/>
            <a:ext cx="168115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 절감 솔루션 수익 분배 청구 내역 </a:t>
            </a: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1900750B-693B-4607-8913-82F79138A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025242"/>
              </p:ext>
            </p:extLst>
          </p:nvPr>
        </p:nvGraphicFramePr>
        <p:xfrm>
          <a:off x="4495984" y="1835688"/>
          <a:ext cx="2113200" cy="1737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151460281"/>
                    </a:ext>
                  </a:extLst>
                </a:gridCol>
              </a:tblGrid>
              <a:tr h="1721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절감금액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수익배분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826666"/>
                  </a:ext>
                </a:extLst>
              </a:tr>
              <a:tr h="1721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①기본 요금 절감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피크저감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1721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②</a:t>
                      </a:r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전려량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요금 절감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계시별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3,188076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2,869,268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2833"/>
                  </a:ext>
                </a:extLst>
              </a:tr>
              <a:tr h="1721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③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ESS 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충전 요금 할인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2,227,088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2,004,379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90320"/>
                  </a:ext>
                </a:extLst>
              </a:tr>
              <a:tr h="1721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④</a:t>
                      </a:r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ESS </a:t>
                      </a:r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전용 요금 할인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25,311,670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22,798,503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22420"/>
                  </a:ext>
                </a:extLst>
              </a:tr>
              <a:tr h="1721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  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30,746,834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27,672,151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  <a:tr h="17216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수익배분 계</a:t>
                      </a:r>
                      <a:endParaRPr lang="en-US" altLang="ko-KR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27,672,151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590192"/>
                  </a:ext>
                </a:extLst>
              </a:tr>
              <a:tr h="17216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부가가치세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2,767,215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17668"/>
                  </a:ext>
                </a:extLst>
              </a:tr>
              <a:tr h="17216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원단위절사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</a:t>
                      </a:r>
                      <a:endParaRPr lang="ko-KR" altLang="en-US" sz="5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566581"/>
                  </a:ext>
                </a:extLst>
              </a:tr>
              <a:tr h="18781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청구금액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30,439,360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105426"/>
                  </a:ext>
                </a:extLst>
              </a:tr>
            </a:tbl>
          </a:graphicData>
        </a:graphic>
      </p:graphicFrame>
      <p:sp>
        <p:nvSpPr>
          <p:cNvPr id="41" name="타원형 설명선 225">
            <a:extLst>
              <a:ext uri="{FF2B5EF4-FFF2-40B4-BE49-F238E27FC236}">
                <a16:creationId xmlns:a16="http://schemas.microsoft.com/office/drawing/2014/main" id="{5FAFC3BB-1D9B-4A7C-A618-302447B15D39}"/>
              </a:ext>
            </a:extLst>
          </p:cNvPr>
          <p:cNvSpPr/>
          <p:nvPr/>
        </p:nvSpPr>
        <p:spPr>
          <a:xfrm>
            <a:off x="1925448" y="819084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4D5D24-126F-4517-ABB4-DE52225B6B95}"/>
              </a:ext>
            </a:extLst>
          </p:cNvPr>
          <p:cNvSpPr txBox="1"/>
          <p:nvPr/>
        </p:nvSpPr>
        <p:spPr>
          <a:xfrm>
            <a:off x="2269938" y="1628800"/>
            <a:ext cx="82848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전기요금 내역</a:t>
            </a: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B80FC621-3FF5-4A0F-896E-EC98AA6EC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163774"/>
              </p:ext>
            </p:extLst>
          </p:nvPr>
        </p:nvGraphicFramePr>
        <p:xfrm>
          <a:off x="2269938" y="1835689"/>
          <a:ext cx="2113200" cy="1737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000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151460281"/>
                    </a:ext>
                  </a:extLst>
                </a:gridCol>
              </a:tblGrid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기본요금</a:t>
                      </a:r>
                      <a:endParaRPr lang="en-US" altLang="ko-KR" sz="5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590192"/>
                  </a:ext>
                </a:extLst>
              </a:tr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전력량요금</a:t>
                      </a:r>
                      <a:endParaRPr lang="en-US" altLang="ko-KR" sz="5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2,000,000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74840"/>
                  </a:ext>
                </a:extLst>
              </a:tr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전기요금계</a:t>
                      </a:r>
                      <a:endParaRPr lang="en-US" altLang="ko-KR" sz="5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2,010,000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26948"/>
                  </a:ext>
                </a:extLst>
              </a:tr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부가가치세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17668"/>
                  </a:ext>
                </a:extLst>
              </a:tr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전력기금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10,006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746937"/>
                  </a:ext>
                </a:extLst>
              </a:tr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원단위절사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</a:t>
                      </a:r>
                      <a:endParaRPr lang="ko-KR" altLang="en-US" sz="5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259011"/>
                  </a:ext>
                </a:extLst>
              </a:tr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당월요금계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2,220,000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06192"/>
                  </a:ext>
                </a:extLst>
              </a:tr>
              <a:tr h="191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미납요금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566581"/>
                  </a:ext>
                </a:extLst>
              </a:tr>
              <a:tr h="2084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청구금액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2,220,000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105426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B008F79B-0024-41EC-94F7-0DA33CA60147}"/>
              </a:ext>
            </a:extLst>
          </p:cNvPr>
          <p:cNvSpPr txBox="1"/>
          <p:nvPr/>
        </p:nvSpPr>
        <p:spPr>
          <a:xfrm>
            <a:off x="2269938" y="3645024"/>
            <a:ext cx="160294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DR (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수요반응</a:t>
            </a:r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배분 청구 내역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D7B98CFC-DEB2-4C95-A6BA-54D1AC81A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402191"/>
              </p:ext>
            </p:extLst>
          </p:nvPr>
        </p:nvGraphicFramePr>
        <p:xfrm>
          <a:off x="2269938" y="3849216"/>
          <a:ext cx="2110206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376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1051830">
                  <a:extLst>
                    <a:ext uri="{9D8B030D-6E8A-4147-A177-3AD203B41FA5}">
                      <a16:colId xmlns:a16="http://schemas.microsoft.com/office/drawing/2014/main" val="2151460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82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 </a:t>
                      </a:r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900,000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감축 </a:t>
                      </a:r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정산금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100,000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정산금액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1,000,000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90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정산 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800,000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①수익배분 계</a:t>
                      </a:r>
                      <a:endParaRPr lang="en-US" altLang="ko-KR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590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부가가치세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20,006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17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원단위절사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</a:t>
                      </a:r>
                      <a:endParaRPr lang="ko-KR" altLang="en-US" sz="5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566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청구금액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220,000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105426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1005FACC-EC0E-47DF-9F31-9A3EC66086EA}"/>
              </a:ext>
            </a:extLst>
          </p:cNvPr>
          <p:cNvSpPr txBox="1"/>
          <p:nvPr/>
        </p:nvSpPr>
        <p:spPr>
          <a:xfrm>
            <a:off x="4547573" y="3645024"/>
            <a:ext cx="13379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PV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 수익 배분 청구 내역</a:t>
            </a: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F2166955-1CCD-4C87-9CE7-A3D55F6FD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218978"/>
              </p:ext>
            </p:extLst>
          </p:nvPr>
        </p:nvGraphicFramePr>
        <p:xfrm>
          <a:off x="4505393" y="3849216"/>
          <a:ext cx="2080377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415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1036962">
                  <a:extLst>
                    <a:ext uri="{9D8B030D-6E8A-4147-A177-3AD203B41FA5}">
                      <a16:colId xmlns:a16="http://schemas.microsoft.com/office/drawing/2014/main" val="2151460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82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①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REC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12,775,000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②</a:t>
                      </a:r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SMP </a:t>
                      </a:r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10,220,000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③총 수익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22,995,000</a:t>
                      </a:r>
                      <a:endParaRPr lang="ko-KR" altLang="en-US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90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 정산 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93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④수익배분 계</a:t>
                      </a:r>
                      <a:endParaRPr lang="en-US" altLang="ko-KR" sz="5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4,599,000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590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5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부가가치세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459,906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17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원단위절사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</a:t>
                      </a:r>
                      <a:endParaRPr lang="ko-KR" altLang="en-US" sz="500" b="1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566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청구금액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5,058,900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105426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79373348-589C-4166-8D0F-459EE1A66707}"/>
              </a:ext>
            </a:extLst>
          </p:cNvPr>
          <p:cNvSpPr txBox="1"/>
          <p:nvPr/>
        </p:nvSpPr>
        <p:spPr>
          <a:xfrm>
            <a:off x="2331216" y="5444117"/>
            <a:ext cx="18863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납입 정보</a:t>
            </a: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82C66FA6-F67D-48DF-ADF4-019948544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047457"/>
              </p:ext>
            </p:extLst>
          </p:nvPr>
        </p:nvGraphicFramePr>
        <p:xfrm>
          <a:off x="2291465" y="5651772"/>
          <a:ext cx="4294306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1575">
                  <a:extLst>
                    <a:ext uri="{9D8B030D-6E8A-4147-A177-3AD203B41FA5}">
                      <a16:colId xmlns:a16="http://schemas.microsoft.com/office/drawing/2014/main" val="2143136556"/>
                    </a:ext>
                  </a:extLst>
                </a:gridCol>
                <a:gridCol w="1272731">
                  <a:extLst>
                    <a:ext uri="{9D8B030D-6E8A-4147-A177-3AD203B41FA5}">
                      <a16:colId xmlns:a16="http://schemas.microsoft.com/office/drawing/2014/main" val="3299530404"/>
                    </a:ext>
                  </a:extLst>
                </a:gridCol>
              </a:tblGrid>
              <a:tr h="1863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청구 금액</a:t>
                      </a:r>
                      <a:endParaRPr lang="en-US" altLang="ko-KR" sz="5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전기요금 </a:t>
                      </a:r>
                      <a:r>
                        <a:rPr lang="en-US" altLang="ko-KR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에너지 절감 수익 배분 </a:t>
                      </a:r>
                      <a:r>
                        <a:rPr lang="en-US" altLang="ko-KR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DR </a:t>
                      </a:r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수익 배분 </a:t>
                      </a:r>
                      <a:r>
                        <a:rPr lang="en-US" altLang="ko-KR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PV </a:t>
                      </a:r>
                      <a:r>
                        <a:rPr lang="ko-KR" altLang="en-US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발전 수익 배분</a:t>
                      </a:r>
                      <a:r>
                        <a:rPr lang="en-US" altLang="ko-KR" sz="5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37,938,260</a:t>
                      </a:r>
                      <a:endParaRPr lang="ko-KR" altLang="en-US" sz="9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29986"/>
                  </a:ext>
                </a:extLst>
              </a:tr>
            </a:tbl>
          </a:graphicData>
        </a:graphic>
      </p:graphicFrame>
      <p:sp>
        <p:nvSpPr>
          <p:cNvPr id="51" name="타원형 설명선 226">
            <a:extLst>
              <a:ext uri="{FF2B5EF4-FFF2-40B4-BE49-F238E27FC236}">
                <a16:creationId xmlns:a16="http://schemas.microsoft.com/office/drawing/2014/main" id="{CB804DF6-99B1-4E0E-861E-39CAE5CACD90}"/>
              </a:ext>
            </a:extLst>
          </p:cNvPr>
          <p:cNvSpPr/>
          <p:nvPr/>
        </p:nvSpPr>
        <p:spPr>
          <a:xfrm>
            <a:off x="1890853" y="609332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타원형 설명선 243">
            <a:extLst>
              <a:ext uri="{FF2B5EF4-FFF2-40B4-BE49-F238E27FC236}">
                <a16:creationId xmlns:a16="http://schemas.microsoft.com/office/drawing/2014/main" id="{E01D4574-E570-4F00-A4D7-C4B3479A0D3E}"/>
              </a:ext>
            </a:extLst>
          </p:cNvPr>
          <p:cNvSpPr/>
          <p:nvPr/>
        </p:nvSpPr>
        <p:spPr>
          <a:xfrm>
            <a:off x="5199751" y="609269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타원형 설명선 244">
            <a:extLst>
              <a:ext uri="{FF2B5EF4-FFF2-40B4-BE49-F238E27FC236}">
                <a16:creationId xmlns:a16="http://schemas.microsoft.com/office/drawing/2014/main" id="{5FEBDDD4-E530-4248-B078-02A5BE580379}"/>
              </a:ext>
            </a:extLst>
          </p:cNvPr>
          <p:cNvSpPr/>
          <p:nvPr/>
        </p:nvSpPr>
        <p:spPr>
          <a:xfrm>
            <a:off x="3095845" y="609269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타원형 설명선 225">
            <a:extLst>
              <a:ext uri="{FF2B5EF4-FFF2-40B4-BE49-F238E27FC236}">
                <a16:creationId xmlns:a16="http://schemas.microsoft.com/office/drawing/2014/main" id="{66391022-3886-4EF9-9D1B-60C7ADAA12FF}"/>
              </a:ext>
            </a:extLst>
          </p:cNvPr>
          <p:cNvSpPr/>
          <p:nvPr/>
        </p:nvSpPr>
        <p:spPr>
          <a:xfrm>
            <a:off x="1911319" y="803668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3246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52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한전 계약 및 전력관리 정보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한전계약 및 전력관리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947830"/>
              </p:ext>
            </p:extLst>
          </p:nvPr>
        </p:nvGraphicFramePr>
        <p:xfrm>
          <a:off x="8469313" y="276225"/>
          <a:ext cx="1404000" cy="537024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건물요금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 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계약 전력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 필요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검침일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 필요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요금 적용 전력 기간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 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요금 적용 전력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설정된 요금 적용 전력을 기준으로 피크전력 정보와 요금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수익 부분에서 사용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최초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회만 설정 가능하도록 요청 받았으나 잘 못 기입된 경우의 처리를 위해 우선 일반 편집영역으로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22159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목표 전력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피크 전력 현황에서 사용되는 목표전력을 설정한다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60892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요금적용전력대비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 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105779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8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적용하고 이전화면으로 돌아간다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0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9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취소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적용하지 않고 이전화면으로 돌아간다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ewpsp_scr_034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14E8AEF-8EA8-4944-AE52-FF98A1FB7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3" y="764704"/>
            <a:ext cx="8208912" cy="504055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762442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7D07777-30AA-4506-9C18-6F3B4C7D943C}"/>
              </a:ext>
            </a:extLst>
          </p:cNvPr>
          <p:cNvCxnSpPr>
            <a:cxnSpLocks/>
          </p:cNvCxnSpPr>
          <p:nvPr/>
        </p:nvCxnSpPr>
        <p:spPr>
          <a:xfrm>
            <a:off x="128463" y="1124744"/>
            <a:ext cx="8208912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4417E-CAA5-4FD3-BBB9-7CD5570EF571}"/>
              </a:ext>
            </a:extLst>
          </p:cNvPr>
          <p:cNvSpPr/>
          <p:nvPr/>
        </p:nvSpPr>
        <p:spPr>
          <a:xfrm>
            <a:off x="216314" y="1324228"/>
            <a:ext cx="2216405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  <a:r>
              <a:rPr lang="en-US" altLang="ko-KR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– </a:t>
            </a: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한전 계약 및 전력관리 정보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844086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5E1193C-C045-4DBB-A17D-488132145FCE}"/>
              </a:ext>
            </a:extLst>
          </p:cNvPr>
          <p:cNvGrpSpPr/>
          <p:nvPr/>
        </p:nvGrpSpPr>
        <p:grpSpPr>
          <a:xfrm>
            <a:off x="344488" y="1708105"/>
            <a:ext cx="7776864" cy="3737119"/>
            <a:chOff x="496982" y="1958075"/>
            <a:chExt cx="8203656" cy="4160163"/>
          </a:xfrm>
        </p:grpSpPr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6FB85F2F-51DC-4017-8C5E-AD9462F439F6}"/>
                </a:ext>
              </a:extLst>
            </p:cNvPr>
            <p:cNvSpPr/>
            <p:nvPr/>
          </p:nvSpPr>
          <p:spPr>
            <a:xfrm>
              <a:off x="496982" y="1958075"/>
              <a:ext cx="8203656" cy="355964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D76BB61B-EB69-48A3-9B16-AD0D85F99A5F}"/>
                </a:ext>
              </a:extLst>
            </p:cNvPr>
            <p:cNvSpPr/>
            <p:nvPr/>
          </p:nvSpPr>
          <p:spPr>
            <a:xfrm>
              <a:off x="713006" y="2292713"/>
              <a:ext cx="1224136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건물 요금</a:t>
              </a: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3DD3059B-7D0A-48A4-87DD-3EF5273677A1}"/>
                </a:ext>
              </a:extLst>
            </p:cNvPr>
            <p:cNvSpPr/>
            <p:nvPr/>
          </p:nvSpPr>
          <p:spPr>
            <a:xfrm>
              <a:off x="2081158" y="2292713"/>
              <a:ext cx="5904656" cy="36004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일반용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을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) – </a:t>
              </a: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고압 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A: </a:t>
              </a: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선택 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II</a:t>
              </a:r>
              <a:endPara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2D00898D-7121-466D-9484-DE1730F427D5}"/>
                </a:ext>
              </a:extLst>
            </p:cNvPr>
            <p:cNvSpPr/>
            <p:nvPr/>
          </p:nvSpPr>
          <p:spPr>
            <a:xfrm>
              <a:off x="7985814" y="2292713"/>
              <a:ext cx="360040" cy="360040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6921FF9B-B232-4EE2-BF1F-C19E454227F7}"/>
                </a:ext>
              </a:extLst>
            </p:cNvPr>
            <p:cNvSpPr/>
            <p:nvPr/>
          </p:nvSpPr>
          <p:spPr>
            <a:xfrm>
              <a:off x="713006" y="2868777"/>
              <a:ext cx="1224136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계약 전력</a:t>
              </a: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FD8C4313-1BCB-438F-97EE-7AD58E3B3AD6}"/>
                </a:ext>
              </a:extLst>
            </p:cNvPr>
            <p:cNvSpPr/>
            <p:nvPr/>
          </p:nvSpPr>
          <p:spPr>
            <a:xfrm>
              <a:off x="2081158" y="2868777"/>
              <a:ext cx="5760640" cy="36004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2,000</a:t>
              </a:r>
              <a:endPara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1C9DB54F-6C1F-4D30-8BB5-B1F176D2C9BE}"/>
                </a:ext>
              </a:extLst>
            </p:cNvPr>
            <p:cNvSpPr/>
            <p:nvPr/>
          </p:nvSpPr>
          <p:spPr>
            <a:xfrm>
              <a:off x="7481758" y="2868777"/>
              <a:ext cx="864096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r">
                <a:lnSpc>
                  <a:spcPct val="150000"/>
                </a:lnSpc>
              </a:pPr>
              <a:r>
                <a:rPr lang="en-US" altLang="ko-KR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KW</a:t>
              </a:r>
              <a:endPara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EB1A4E56-CF77-4437-A347-8E7FFE28F8AD}"/>
                </a:ext>
              </a:extLst>
            </p:cNvPr>
            <p:cNvSpPr/>
            <p:nvPr/>
          </p:nvSpPr>
          <p:spPr>
            <a:xfrm>
              <a:off x="713006" y="3444841"/>
              <a:ext cx="1224136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검침일</a:t>
              </a: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93B68E3D-B29A-4E4D-9945-AC41D19FD8A2}"/>
                </a:ext>
              </a:extLst>
            </p:cNvPr>
            <p:cNvSpPr/>
            <p:nvPr/>
          </p:nvSpPr>
          <p:spPr>
            <a:xfrm>
              <a:off x="2081158" y="3444841"/>
              <a:ext cx="5904656" cy="36004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30</a:t>
              </a: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일</a:t>
              </a: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B7672307-B364-426F-A28D-A607AD98270F}"/>
                </a:ext>
              </a:extLst>
            </p:cNvPr>
            <p:cNvSpPr/>
            <p:nvPr/>
          </p:nvSpPr>
          <p:spPr>
            <a:xfrm>
              <a:off x="7985814" y="3444841"/>
              <a:ext cx="360040" cy="360040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85B7855A-7938-4DA6-A426-9AA48BFF085A}"/>
                </a:ext>
              </a:extLst>
            </p:cNvPr>
            <p:cNvSpPr/>
            <p:nvPr/>
          </p:nvSpPr>
          <p:spPr>
            <a:xfrm>
              <a:off x="713006" y="4092913"/>
              <a:ext cx="1224136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요금 적용 전력</a:t>
              </a:r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2048CCEF-E1D3-408A-A919-2F7C4FA8934A}"/>
                </a:ext>
              </a:extLst>
            </p:cNvPr>
            <p:cNvSpPr/>
            <p:nvPr/>
          </p:nvSpPr>
          <p:spPr>
            <a:xfrm>
              <a:off x="2081158" y="4092913"/>
              <a:ext cx="2451902" cy="36004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2018</a:t>
              </a: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년 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05</a:t>
              </a: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월</a:t>
              </a: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B09CC0CE-834F-43ED-9FB1-5EAC883D15BA}"/>
                </a:ext>
              </a:extLst>
            </p:cNvPr>
            <p:cNvSpPr/>
            <p:nvPr/>
          </p:nvSpPr>
          <p:spPr>
            <a:xfrm>
              <a:off x="4533060" y="4092913"/>
              <a:ext cx="360040" cy="360040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46A66324-CF64-47EC-8564-8C54DD26E7F0}"/>
                </a:ext>
              </a:extLst>
            </p:cNvPr>
            <p:cNvSpPr/>
            <p:nvPr/>
          </p:nvSpPr>
          <p:spPr>
            <a:xfrm>
              <a:off x="5033486" y="4092913"/>
              <a:ext cx="2808312" cy="360040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en-US" altLang="ko-KR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500</a:t>
              </a:r>
              <a:endPara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70C930F6-A7C9-44DC-80C7-D8DB49B87255}"/>
                </a:ext>
              </a:extLst>
            </p:cNvPr>
            <p:cNvSpPr/>
            <p:nvPr/>
          </p:nvSpPr>
          <p:spPr>
            <a:xfrm>
              <a:off x="7481759" y="4092913"/>
              <a:ext cx="864096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r">
                <a:lnSpc>
                  <a:spcPct val="150000"/>
                </a:lnSpc>
              </a:pPr>
              <a:r>
                <a:rPr lang="en-US" altLang="ko-KR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KW</a:t>
              </a:r>
              <a:endPara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F2ACFC8A-5CA1-41FB-B0F0-567E3686BD53}"/>
                </a:ext>
              </a:extLst>
            </p:cNvPr>
            <p:cNvSpPr/>
            <p:nvPr/>
          </p:nvSpPr>
          <p:spPr>
            <a:xfrm>
              <a:off x="713006" y="4740985"/>
              <a:ext cx="1224136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목표 전력</a:t>
              </a:r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6DB4BABA-2C24-4120-ACBD-8B44264FC38D}"/>
                </a:ext>
              </a:extLst>
            </p:cNvPr>
            <p:cNvSpPr/>
            <p:nvPr/>
          </p:nvSpPr>
          <p:spPr>
            <a:xfrm>
              <a:off x="2081158" y="4740985"/>
              <a:ext cx="2451902" cy="36004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450</a:t>
              </a:r>
              <a:endPara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4DA0D1B4-3322-4523-985F-4EF9BA2C2613}"/>
                </a:ext>
              </a:extLst>
            </p:cNvPr>
            <p:cNvSpPr/>
            <p:nvPr/>
          </p:nvSpPr>
          <p:spPr>
            <a:xfrm>
              <a:off x="7481759" y="4740985"/>
              <a:ext cx="864096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r">
                <a:lnSpc>
                  <a:spcPct val="150000"/>
                </a:lnSpc>
              </a:pPr>
              <a:r>
                <a:rPr lang="en-US" altLang="ko-KR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%</a:t>
              </a:r>
              <a:endPara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30D1016A-13FB-4513-A8E9-706EE203BB52}"/>
                </a:ext>
              </a:extLst>
            </p:cNvPr>
            <p:cNvGrpSpPr/>
            <p:nvPr/>
          </p:nvGrpSpPr>
          <p:grpSpPr>
            <a:xfrm>
              <a:off x="3339556" y="5758198"/>
              <a:ext cx="2630919" cy="360040"/>
              <a:chOff x="3791228" y="5284908"/>
              <a:chExt cx="2630919" cy="360040"/>
            </a:xfrm>
          </p:grpSpPr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7726E8D3-148F-4164-832A-268A34EC9F35}"/>
                  </a:ext>
                </a:extLst>
              </p:cNvPr>
              <p:cNvSpPr/>
              <p:nvPr/>
            </p:nvSpPr>
            <p:spPr>
              <a:xfrm>
                <a:off x="3791228" y="5284908"/>
                <a:ext cx="1224136" cy="360040"/>
              </a:xfrm>
              <a:prstGeom prst="rect">
                <a:avLst/>
              </a:prstGeom>
              <a:solidFill>
                <a:srgbClr val="0099FF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05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확인</a:t>
                </a:r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3D9A0764-2FF1-44DF-A947-222307667FC1}"/>
                  </a:ext>
                </a:extLst>
              </p:cNvPr>
              <p:cNvSpPr/>
              <p:nvPr/>
            </p:nvSpPr>
            <p:spPr>
              <a:xfrm>
                <a:off x="5198011" y="5284908"/>
                <a:ext cx="1224136" cy="36004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05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취소</a:t>
                </a:r>
              </a:p>
            </p:txBody>
          </p:sp>
        </p:grp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43247140-853E-4569-B5FF-5BEC4BAF1FA2}"/>
                </a:ext>
              </a:extLst>
            </p:cNvPr>
            <p:cNvSpPr/>
            <p:nvPr/>
          </p:nvSpPr>
          <p:spPr>
            <a:xfrm>
              <a:off x="6840946" y="4753016"/>
              <a:ext cx="1000852" cy="36004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90</a:t>
              </a:r>
              <a:endPara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AC0338E5-ACB9-4599-9164-14CBAA0BB152}"/>
                </a:ext>
              </a:extLst>
            </p:cNvPr>
            <p:cNvSpPr/>
            <p:nvPr/>
          </p:nvSpPr>
          <p:spPr>
            <a:xfrm>
              <a:off x="4029004" y="4752333"/>
              <a:ext cx="864096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r">
                <a:lnSpc>
                  <a:spcPct val="150000"/>
                </a:lnSpc>
              </a:pPr>
              <a:r>
                <a:rPr lang="en-US" altLang="ko-KR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KW</a:t>
              </a:r>
              <a:endPara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F70D8862-861E-48D5-90FB-1CED54845816}"/>
                </a:ext>
              </a:extLst>
            </p:cNvPr>
            <p:cNvSpPr/>
            <p:nvPr/>
          </p:nvSpPr>
          <p:spPr>
            <a:xfrm>
              <a:off x="5135494" y="4758497"/>
              <a:ext cx="1554176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요금적용전력대비</a:t>
              </a:r>
            </a:p>
          </p:txBody>
        </p:sp>
      </p:grpSp>
      <p:sp>
        <p:nvSpPr>
          <p:cNvPr id="48" name="타원형 설명선 226">
            <a:extLst>
              <a:ext uri="{FF2B5EF4-FFF2-40B4-BE49-F238E27FC236}">
                <a16:creationId xmlns:a16="http://schemas.microsoft.com/office/drawing/2014/main" id="{AF9D284A-3A35-4242-ABB2-8FD84B79DE9C}"/>
              </a:ext>
            </a:extLst>
          </p:cNvPr>
          <p:cNvSpPr/>
          <p:nvPr/>
        </p:nvSpPr>
        <p:spPr>
          <a:xfrm>
            <a:off x="704528" y="242800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타원형 설명선 243">
            <a:extLst>
              <a:ext uri="{FF2B5EF4-FFF2-40B4-BE49-F238E27FC236}">
                <a16:creationId xmlns:a16="http://schemas.microsoft.com/office/drawing/2014/main" id="{41FA36C8-8BBF-40EB-891B-4C0B3B355309}"/>
              </a:ext>
            </a:extLst>
          </p:cNvPr>
          <p:cNvSpPr/>
          <p:nvPr/>
        </p:nvSpPr>
        <p:spPr>
          <a:xfrm>
            <a:off x="468077" y="351672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타원형 설명선 244">
            <a:extLst>
              <a:ext uri="{FF2B5EF4-FFF2-40B4-BE49-F238E27FC236}">
                <a16:creationId xmlns:a16="http://schemas.microsoft.com/office/drawing/2014/main" id="{AD393632-3072-4534-92E8-DC3566C5C782}"/>
              </a:ext>
            </a:extLst>
          </p:cNvPr>
          <p:cNvSpPr/>
          <p:nvPr/>
        </p:nvSpPr>
        <p:spPr>
          <a:xfrm>
            <a:off x="904792" y="296080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타원형 설명선 225">
            <a:extLst>
              <a:ext uri="{FF2B5EF4-FFF2-40B4-BE49-F238E27FC236}">
                <a16:creationId xmlns:a16="http://schemas.microsoft.com/office/drawing/2014/main" id="{7B84FF0F-D742-465B-A8F3-88AC29882150}"/>
              </a:ext>
            </a:extLst>
          </p:cNvPr>
          <p:cNvSpPr/>
          <p:nvPr/>
        </p:nvSpPr>
        <p:spPr>
          <a:xfrm>
            <a:off x="704528" y="1900714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타원형 설명선 243">
            <a:extLst>
              <a:ext uri="{FF2B5EF4-FFF2-40B4-BE49-F238E27FC236}">
                <a16:creationId xmlns:a16="http://schemas.microsoft.com/office/drawing/2014/main" id="{9636F9EC-6BDA-472F-AE42-09A43C1B0D49}"/>
              </a:ext>
            </a:extLst>
          </p:cNvPr>
          <p:cNvSpPr/>
          <p:nvPr/>
        </p:nvSpPr>
        <p:spPr>
          <a:xfrm>
            <a:off x="746731" y="4110217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타원형 설명선 243">
            <a:extLst>
              <a:ext uri="{FF2B5EF4-FFF2-40B4-BE49-F238E27FC236}">
                <a16:creationId xmlns:a16="http://schemas.microsoft.com/office/drawing/2014/main" id="{3E357F8A-BBE1-4C93-8C2A-7F8D874D589D}"/>
              </a:ext>
            </a:extLst>
          </p:cNvPr>
          <p:cNvSpPr/>
          <p:nvPr/>
        </p:nvSpPr>
        <p:spPr>
          <a:xfrm>
            <a:off x="4396752" y="345316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타원형 설명선 243">
            <a:extLst>
              <a:ext uri="{FF2B5EF4-FFF2-40B4-BE49-F238E27FC236}">
                <a16:creationId xmlns:a16="http://schemas.microsoft.com/office/drawing/2014/main" id="{6BA3F173-7802-4541-B551-3B45711BC810}"/>
              </a:ext>
            </a:extLst>
          </p:cNvPr>
          <p:cNvSpPr/>
          <p:nvPr/>
        </p:nvSpPr>
        <p:spPr>
          <a:xfrm>
            <a:off x="4810979" y="411676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타원형 설명선 243">
            <a:extLst>
              <a:ext uri="{FF2B5EF4-FFF2-40B4-BE49-F238E27FC236}">
                <a16:creationId xmlns:a16="http://schemas.microsoft.com/office/drawing/2014/main" id="{5186BE68-69EE-407F-A26D-C253D21D5FC5}"/>
              </a:ext>
            </a:extLst>
          </p:cNvPr>
          <p:cNvSpPr/>
          <p:nvPr/>
        </p:nvSpPr>
        <p:spPr>
          <a:xfrm>
            <a:off x="2736606" y="492714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타원형 설명선 243">
            <a:extLst>
              <a:ext uri="{FF2B5EF4-FFF2-40B4-BE49-F238E27FC236}">
                <a16:creationId xmlns:a16="http://schemas.microsoft.com/office/drawing/2014/main" id="{CF6AF6FA-7D7A-40EC-83EE-E95A2D1B5C5E}"/>
              </a:ext>
            </a:extLst>
          </p:cNvPr>
          <p:cNvSpPr/>
          <p:nvPr/>
        </p:nvSpPr>
        <p:spPr>
          <a:xfrm>
            <a:off x="4102329" y="492656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67371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53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사이트 관리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사이트 관리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03105"/>
              </p:ext>
            </p:extLst>
          </p:nvPr>
        </p:nvGraphicFramePr>
        <p:xfrm>
          <a:off x="8469313" y="276225"/>
          <a:ext cx="1404000" cy="3399744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사이트 리스트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등록된 사이트 리스트를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사이트 편집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리스트 內 항목이 확장되면서 추가 및 편집이 가능한 </a:t>
                      </a:r>
                      <a:r>
                        <a:rPr kumimoji="1"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UI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사이트 추가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신규 사이트 등록 화면으로 이동한다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*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다음 페이지 참고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적용하고 이전화면으로 돌아간다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취소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적용하지 않고 이전화면으로 돌아간다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ewpsp_scr_035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14E8AEF-8EA8-4944-AE52-FF98A1FB7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3" y="764704"/>
            <a:ext cx="8208912" cy="504055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762442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7D07777-30AA-4506-9C18-6F3B4C7D943C}"/>
              </a:ext>
            </a:extLst>
          </p:cNvPr>
          <p:cNvCxnSpPr>
            <a:cxnSpLocks/>
          </p:cNvCxnSpPr>
          <p:nvPr/>
        </p:nvCxnSpPr>
        <p:spPr>
          <a:xfrm>
            <a:off x="128463" y="1124744"/>
            <a:ext cx="8208912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4417E-CAA5-4FD3-BBB9-7CD5570EF571}"/>
              </a:ext>
            </a:extLst>
          </p:cNvPr>
          <p:cNvSpPr/>
          <p:nvPr/>
        </p:nvSpPr>
        <p:spPr>
          <a:xfrm>
            <a:off x="216314" y="1324228"/>
            <a:ext cx="2216405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  <a:r>
              <a:rPr lang="en-US" altLang="ko-KR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– </a:t>
            </a: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사이트 관리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844086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CAE1C9B4-839C-4259-9692-BDAE3D5A8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345368"/>
              </p:ext>
            </p:extLst>
          </p:nvPr>
        </p:nvGraphicFramePr>
        <p:xfrm>
          <a:off x="344488" y="2011852"/>
          <a:ext cx="7776864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6534">
                  <a:extLst>
                    <a:ext uri="{9D8B030D-6E8A-4147-A177-3AD203B41FA5}">
                      <a16:colId xmlns:a16="http://schemas.microsoft.com/office/drawing/2014/main" val="3133273923"/>
                    </a:ext>
                  </a:extLst>
                </a:gridCol>
                <a:gridCol w="2405035">
                  <a:extLst>
                    <a:ext uri="{9D8B030D-6E8A-4147-A177-3AD203B41FA5}">
                      <a16:colId xmlns:a16="http://schemas.microsoft.com/office/drawing/2014/main" val="1728993893"/>
                    </a:ext>
                  </a:extLst>
                </a:gridCol>
                <a:gridCol w="2405035">
                  <a:extLst>
                    <a:ext uri="{9D8B030D-6E8A-4147-A177-3AD203B41FA5}">
                      <a16:colId xmlns:a16="http://schemas.microsoft.com/office/drawing/2014/main" val="33059229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solidFill>
                            <a:schemeClr val="bg1"/>
                          </a:solidFill>
                        </a:rPr>
                        <a:t>사이트 명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solidFill>
                            <a:schemeClr val="bg1"/>
                          </a:solidFill>
                        </a:rPr>
                        <a:t>사이트 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그룹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Local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EMS 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주소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등록 장치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그룹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_1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PCS_1 PCS_2 BMS_1 BMS_2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그룹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_1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PCS_3 PCS_4 BMS_3 BMS_4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E2F83205-F9F5-44DA-BD66-A7372F195E14}"/>
              </a:ext>
            </a:extLst>
          </p:cNvPr>
          <p:cNvSpPr txBox="1"/>
          <p:nvPr/>
        </p:nvSpPr>
        <p:spPr>
          <a:xfrm>
            <a:off x="7149244" y="3492686"/>
            <a:ext cx="972108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사이트 추가하기</a:t>
            </a:r>
          </a:p>
        </p:txBody>
      </p:sp>
      <p:pic>
        <p:nvPicPr>
          <p:cNvPr id="28" name="Picture 2" descr="editì ëí ì´ë¯¸ì§ ê²ìê²°ê³¼">
            <a:extLst>
              <a:ext uri="{FF2B5EF4-FFF2-40B4-BE49-F238E27FC236}">
                <a16:creationId xmlns:a16="http://schemas.microsoft.com/office/drawing/2014/main" id="{B28A14A0-3A37-42A6-B62B-4FACB9034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436" y="2344946"/>
            <a:ext cx="223916" cy="22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editì ëí ì´ë¯¸ì§ ê²ìê²°ê³¼">
            <a:extLst>
              <a:ext uri="{FF2B5EF4-FFF2-40B4-BE49-F238E27FC236}">
                <a16:creationId xmlns:a16="http://schemas.microsoft.com/office/drawing/2014/main" id="{81CE7C41-EDA2-463A-B17C-6D90157AC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155" y="2628950"/>
            <a:ext cx="223916" cy="22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말풍선: 모서리가 둥근 사각형 29">
            <a:extLst>
              <a:ext uri="{FF2B5EF4-FFF2-40B4-BE49-F238E27FC236}">
                <a16:creationId xmlns:a16="http://schemas.microsoft.com/office/drawing/2014/main" id="{2023721B-059F-44F7-8C31-14835F102F6F}"/>
              </a:ext>
            </a:extLst>
          </p:cNvPr>
          <p:cNvSpPr/>
          <p:nvPr/>
        </p:nvSpPr>
        <p:spPr>
          <a:xfrm>
            <a:off x="3728864" y="1281318"/>
            <a:ext cx="2002538" cy="517793"/>
          </a:xfrm>
          <a:prstGeom prst="wedgeRoundRectCallout">
            <a:avLst>
              <a:gd name="adj1" fmla="val -32905"/>
              <a:gd name="adj2" fmla="val 77306"/>
              <a:gd name="adj3" fmla="val 16667"/>
            </a:avLst>
          </a:prstGeom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리스트 內 항목이 확장되면서 추가 및 편집이 가능한 </a:t>
            </a:r>
            <a:r>
              <a:rPr kumimoji="1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UI </a:t>
            </a:r>
            <a:r>
              <a:rPr kumimoji="1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  <a:sym typeface="Gill Sans"/>
              </a:rPr>
              <a:t>권장 </a:t>
            </a:r>
            <a:endParaRPr kumimoji="1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  <a:sym typeface="Gill Sans"/>
            </a:endParaRPr>
          </a:p>
        </p:txBody>
      </p:sp>
      <p:sp>
        <p:nvSpPr>
          <p:cNvPr id="31" name="타원형 설명선 226">
            <a:extLst>
              <a:ext uri="{FF2B5EF4-FFF2-40B4-BE49-F238E27FC236}">
                <a16:creationId xmlns:a16="http://schemas.microsoft.com/office/drawing/2014/main" id="{75AB5558-AC4C-45F1-8659-197E0B123AC8}"/>
              </a:ext>
            </a:extLst>
          </p:cNvPr>
          <p:cNvSpPr/>
          <p:nvPr/>
        </p:nvSpPr>
        <p:spPr>
          <a:xfrm>
            <a:off x="498245" y="220071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타원형 설명선 243">
            <a:extLst>
              <a:ext uri="{FF2B5EF4-FFF2-40B4-BE49-F238E27FC236}">
                <a16:creationId xmlns:a16="http://schemas.microsoft.com/office/drawing/2014/main" id="{8406E2F9-4C41-487F-BBEA-01BDFADBBDF7}"/>
              </a:ext>
            </a:extLst>
          </p:cNvPr>
          <p:cNvSpPr/>
          <p:nvPr/>
        </p:nvSpPr>
        <p:spPr>
          <a:xfrm>
            <a:off x="2758034" y="490579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타원형 설명선 244">
            <a:extLst>
              <a:ext uri="{FF2B5EF4-FFF2-40B4-BE49-F238E27FC236}">
                <a16:creationId xmlns:a16="http://schemas.microsoft.com/office/drawing/2014/main" id="{6754E7CD-60A1-4B25-857F-E67127ED430C}"/>
              </a:ext>
            </a:extLst>
          </p:cNvPr>
          <p:cNvSpPr/>
          <p:nvPr/>
        </p:nvSpPr>
        <p:spPr>
          <a:xfrm>
            <a:off x="6863924" y="330468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형 설명선 225">
            <a:extLst>
              <a:ext uri="{FF2B5EF4-FFF2-40B4-BE49-F238E27FC236}">
                <a16:creationId xmlns:a16="http://schemas.microsoft.com/office/drawing/2014/main" id="{092F279A-E8F7-4E77-A1F9-216E893E5F3C}"/>
              </a:ext>
            </a:extLst>
          </p:cNvPr>
          <p:cNvSpPr/>
          <p:nvPr/>
        </p:nvSpPr>
        <p:spPr>
          <a:xfrm>
            <a:off x="181001" y="1863143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형 설명선 243">
            <a:extLst>
              <a:ext uri="{FF2B5EF4-FFF2-40B4-BE49-F238E27FC236}">
                <a16:creationId xmlns:a16="http://schemas.microsoft.com/office/drawing/2014/main" id="{4A9CCC4F-137A-4AB6-BAD0-49CE4668CBE3}"/>
              </a:ext>
            </a:extLst>
          </p:cNvPr>
          <p:cNvSpPr/>
          <p:nvPr/>
        </p:nvSpPr>
        <p:spPr>
          <a:xfrm>
            <a:off x="4153076" y="490720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0E2892A-9029-488B-B7D5-029EC7B60792}"/>
              </a:ext>
            </a:extLst>
          </p:cNvPr>
          <p:cNvSpPr/>
          <p:nvPr/>
        </p:nvSpPr>
        <p:spPr>
          <a:xfrm>
            <a:off x="3039178" y="5121796"/>
            <a:ext cx="1160451" cy="323428"/>
          </a:xfrm>
          <a:prstGeom prst="rect">
            <a:avLst/>
          </a:prstGeom>
          <a:solidFill>
            <a:srgbClr val="0099FF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CDF0EE3-9282-42D2-B92F-B0429C347189}"/>
              </a:ext>
            </a:extLst>
          </p:cNvPr>
          <p:cNvSpPr/>
          <p:nvPr/>
        </p:nvSpPr>
        <p:spPr>
          <a:xfrm>
            <a:off x="4372773" y="5121796"/>
            <a:ext cx="1160451" cy="3234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취소</a:t>
            </a:r>
          </a:p>
        </p:txBody>
      </p:sp>
    </p:spTree>
    <p:extLst>
      <p:ext uri="{BB962C8B-B14F-4D97-AF65-F5344CB8AC3E}">
        <p14:creationId xmlns:p14="http://schemas.microsoft.com/office/powerpoint/2010/main" val="16597891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A9FCF855-5391-4BAF-BEC3-0614AD2EFDDA}"/>
              </a:ext>
            </a:extLst>
          </p:cNvPr>
          <p:cNvSpPr/>
          <p:nvPr/>
        </p:nvSpPr>
        <p:spPr>
          <a:xfrm>
            <a:off x="1549232" y="1052736"/>
            <a:ext cx="5371466" cy="32403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200000"/>
              </a:lnSpc>
            </a:pPr>
            <a:endParaRPr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54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사이트 관리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사이트 등록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사이트 등록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81254"/>
              </p:ext>
            </p:extLst>
          </p:nvPr>
        </p:nvGraphicFramePr>
        <p:xfrm>
          <a:off x="8469313" y="276225"/>
          <a:ext cx="1404000" cy="4646976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사이트 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신규 등록할 사이트 명을 입력한다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사이트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ID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신규 등록할 사이트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ID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를 입력한다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ID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자동 생성 및 할당 관련 검토 필요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신규 등록할 사이트가 속할 그룹을 선택한다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Local EMS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주소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신규 등록할 사이트의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Local EMS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주소를 입력한다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Local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EMS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암호키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Local EMS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경로 접근을 위한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암호키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등록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*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암호키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처리 관련 추가 확인 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적용하고 팝업을 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118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취소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적용하지 않고 팝업을 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6115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별도의 팝업이 아닌 이전 페이지의 사이트 리스트에서 바로 추가가 가능한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UI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검토 필요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ewpsp_scr_036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30D1016A-13FB-4513-A8E9-706EE203BB52}"/>
              </a:ext>
            </a:extLst>
          </p:cNvPr>
          <p:cNvGrpSpPr/>
          <p:nvPr/>
        </p:nvGrpSpPr>
        <p:grpSpPr>
          <a:xfrm>
            <a:off x="3039178" y="3681637"/>
            <a:ext cx="2494046" cy="323428"/>
            <a:chOff x="3791228" y="5284908"/>
            <a:chExt cx="2630919" cy="360040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7726E8D3-148F-4164-832A-268A34EC9F35}"/>
                </a:ext>
              </a:extLst>
            </p:cNvPr>
            <p:cNvSpPr/>
            <p:nvPr/>
          </p:nvSpPr>
          <p:spPr>
            <a:xfrm>
              <a:off x="3791228" y="5284908"/>
              <a:ext cx="1224136" cy="360040"/>
            </a:xfrm>
            <a:prstGeom prst="rect">
              <a:avLst/>
            </a:prstGeom>
            <a:solidFill>
              <a:srgbClr val="0099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3D9A0764-2FF1-44DF-A947-222307667FC1}"/>
                </a:ext>
              </a:extLst>
            </p:cNvPr>
            <p:cNvSpPr/>
            <p:nvPr/>
          </p:nvSpPr>
          <p:spPr>
            <a:xfrm>
              <a:off x="5198011" y="5284908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51507A6-6DC2-4700-8A8B-608C9D16AA26}"/>
              </a:ext>
            </a:extLst>
          </p:cNvPr>
          <p:cNvSpPr/>
          <p:nvPr/>
        </p:nvSpPr>
        <p:spPr>
          <a:xfrm>
            <a:off x="1712640" y="1412777"/>
            <a:ext cx="1272225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사이트 명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EE22907-23EF-4DC4-A448-E6C8457692DF}"/>
              </a:ext>
            </a:extLst>
          </p:cNvPr>
          <p:cNvSpPr/>
          <p:nvPr/>
        </p:nvSpPr>
        <p:spPr>
          <a:xfrm>
            <a:off x="3188653" y="1412777"/>
            <a:ext cx="3558684" cy="32397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E9911D3-ABA6-41CD-9FB7-70E779FC86E1}"/>
              </a:ext>
            </a:extLst>
          </p:cNvPr>
          <p:cNvSpPr/>
          <p:nvPr/>
        </p:nvSpPr>
        <p:spPr>
          <a:xfrm>
            <a:off x="1712640" y="1818995"/>
            <a:ext cx="1331997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사이트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F62D155-370B-419A-A2E2-419E0E082F3A}"/>
              </a:ext>
            </a:extLst>
          </p:cNvPr>
          <p:cNvSpPr/>
          <p:nvPr/>
        </p:nvSpPr>
        <p:spPr>
          <a:xfrm>
            <a:off x="3188653" y="1818995"/>
            <a:ext cx="3553224" cy="32397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E96ABEF-6C66-493B-9806-DED10E5EA7ED}"/>
              </a:ext>
            </a:extLst>
          </p:cNvPr>
          <p:cNvSpPr/>
          <p:nvPr/>
        </p:nvSpPr>
        <p:spPr>
          <a:xfrm>
            <a:off x="1712640" y="2268862"/>
            <a:ext cx="1272225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그룹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B31CAAD-AD06-4F6C-B42F-E432DC3E13BC}"/>
              </a:ext>
            </a:extLst>
          </p:cNvPr>
          <p:cNvSpPr/>
          <p:nvPr/>
        </p:nvSpPr>
        <p:spPr>
          <a:xfrm>
            <a:off x="3188653" y="2267642"/>
            <a:ext cx="3223885" cy="32519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51ED3D6-5952-4D1C-98E2-EA986A4EF5CA}"/>
              </a:ext>
            </a:extLst>
          </p:cNvPr>
          <p:cNvSpPr/>
          <p:nvPr/>
        </p:nvSpPr>
        <p:spPr>
          <a:xfrm>
            <a:off x="6412540" y="2267642"/>
            <a:ext cx="334796" cy="325084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50000"/>
              </a:lnSpc>
            </a:pP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D961B4-8F37-4619-8862-3C6CEB04E2E6}"/>
              </a:ext>
            </a:extLst>
          </p:cNvPr>
          <p:cNvSpPr txBox="1"/>
          <p:nvPr/>
        </p:nvSpPr>
        <p:spPr>
          <a:xfrm>
            <a:off x="6471926" y="2276873"/>
            <a:ext cx="2160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▽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DF2DB9-9C51-46E6-945D-767F4F3D5024}"/>
              </a:ext>
            </a:extLst>
          </p:cNvPr>
          <p:cNvSpPr/>
          <p:nvPr/>
        </p:nvSpPr>
        <p:spPr>
          <a:xfrm>
            <a:off x="1712640" y="2690947"/>
            <a:ext cx="1272225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Local EMS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BC81B47-6BCF-4A8D-A182-81E9D7872D05}"/>
              </a:ext>
            </a:extLst>
          </p:cNvPr>
          <p:cNvSpPr/>
          <p:nvPr/>
        </p:nvSpPr>
        <p:spPr>
          <a:xfrm>
            <a:off x="3188653" y="2690947"/>
            <a:ext cx="3558684" cy="32397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AA1358E-BD49-433C-8380-EA312F4BC3E7}"/>
              </a:ext>
            </a:extLst>
          </p:cNvPr>
          <p:cNvSpPr/>
          <p:nvPr/>
        </p:nvSpPr>
        <p:spPr>
          <a:xfrm>
            <a:off x="1707181" y="3114789"/>
            <a:ext cx="1331997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Local EMS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암호키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BBBEA98-E8BB-48EF-83F7-251178DC3C98}"/>
              </a:ext>
            </a:extLst>
          </p:cNvPr>
          <p:cNvSpPr/>
          <p:nvPr/>
        </p:nvSpPr>
        <p:spPr>
          <a:xfrm>
            <a:off x="3183194" y="3114789"/>
            <a:ext cx="3223885" cy="3227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2FE0130-22E3-47B5-BD0F-33E988137895}"/>
              </a:ext>
            </a:extLst>
          </p:cNvPr>
          <p:cNvSpPr/>
          <p:nvPr/>
        </p:nvSpPr>
        <p:spPr>
          <a:xfrm>
            <a:off x="6407081" y="3113569"/>
            <a:ext cx="334796" cy="323974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50000"/>
              </a:lnSpc>
            </a:pP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45A729-AC69-4F7F-9373-C9003BB9D8B3}"/>
              </a:ext>
            </a:extLst>
          </p:cNvPr>
          <p:cNvSpPr txBox="1"/>
          <p:nvPr/>
        </p:nvSpPr>
        <p:spPr>
          <a:xfrm>
            <a:off x="6466467" y="3051702"/>
            <a:ext cx="21602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타원형 설명선 226">
            <a:extLst>
              <a:ext uri="{FF2B5EF4-FFF2-40B4-BE49-F238E27FC236}">
                <a16:creationId xmlns:a16="http://schemas.microsoft.com/office/drawing/2014/main" id="{E58527BB-1A60-41F2-9171-FDEB80FBB770}"/>
              </a:ext>
            </a:extLst>
          </p:cNvPr>
          <p:cNvSpPr/>
          <p:nvPr/>
        </p:nvSpPr>
        <p:spPr>
          <a:xfrm>
            <a:off x="1544574" y="175958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타원형 설명선 243">
            <a:extLst>
              <a:ext uri="{FF2B5EF4-FFF2-40B4-BE49-F238E27FC236}">
                <a16:creationId xmlns:a16="http://schemas.microsoft.com/office/drawing/2014/main" id="{8359EB17-51BD-4152-910D-3CDD36D99190}"/>
              </a:ext>
            </a:extLst>
          </p:cNvPr>
          <p:cNvSpPr/>
          <p:nvPr/>
        </p:nvSpPr>
        <p:spPr>
          <a:xfrm>
            <a:off x="1544574" y="2653277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타원형 설명선 244">
            <a:extLst>
              <a:ext uri="{FF2B5EF4-FFF2-40B4-BE49-F238E27FC236}">
                <a16:creationId xmlns:a16="http://schemas.microsoft.com/office/drawing/2014/main" id="{B1320E0F-9B43-4E64-A5F8-44BC766857D6}"/>
              </a:ext>
            </a:extLst>
          </p:cNvPr>
          <p:cNvSpPr/>
          <p:nvPr/>
        </p:nvSpPr>
        <p:spPr>
          <a:xfrm>
            <a:off x="1544574" y="220842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타원형 설명선 225">
            <a:extLst>
              <a:ext uri="{FF2B5EF4-FFF2-40B4-BE49-F238E27FC236}">
                <a16:creationId xmlns:a16="http://schemas.microsoft.com/office/drawing/2014/main" id="{BEDCD32F-CCF0-47C8-9FE7-BF586C480AEF}"/>
              </a:ext>
            </a:extLst>
          </p:cNvPr>
          <p:cNvSpPr/>
          <p:nvPr/>
        </p:nvSpPr>
        <p:spPr>
          <a:xfrm>
            <a:off x="1544574" y="1327866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타원형 설명선 243">
            <a:extLst>
              <a:ext uri="{FF2B5EF4-FFF2-40B4-BE49-F238E27FC236}">
                <a16:creationId xmlns:a16="http://schemas.microsoft.com/office/drawing/2014/main" id="{82292B2E-2C73-4006-867D-FFECEBF5E13F}"/>
              </a:ext>
            </a:extLst>
          </p:cNvPr>
          <p:cNvSpPr/>
          <p:nvPr/>
        </p:nvSpPr>
        <p:spPr>
          <a:xfrm>
            <a:off x="2809238" y="348390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타원형 설명선 243">
            <a:extLst>
              <a:ext uri="{FF2B5EF4-FFF2-40B4-BE49-F238E27FC236}">
                <a16:creationId xmlns:a16="http://schemas.microsoft.com/office/drawing/2014/main" id="{9FCA3245-F772-4057-848A-4B1417164CA4}"/>
              </a:ext>
            </a:extLst>
          </p:cNvPr>
          <p:cNvSpPr/>
          <p:nvPr/>
        </p:nvSpPr>
        <p:spPr>
          <a:xfrm>
            <a:off x="1544574" y="306965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타원형 설명선 243">
            <a:extLst>
              <a:ext uri="{FF2B5EF4-FFF2-40B4-BE49-F238E27FC236}">
                <a16:creationId xmlns:a16="http://schemas.microsoft.com/office/drawing/2014/main" id="{3B8D0934-64A5-4621-B68A-2A9432C14BD3}"/>
              </a:ext>
            </a:extLst>
          </p:cNvPr>
          <p:cNvSpPr/>
          <p:nvPr/>
        </p:nvSpPr>
        <p:spPr>
          <a:xfrm>
            <a:off x="4177244" y="348390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6CB608-FF32-4C0E-87E7-0594D9CE86CF}"/>
              </a:ext>
            </a:extLst>
          </p:cNvPr>
          <p:cNvSpPr txBox="1"/>
          <p:nvPr/>
        </p:nvSpPr>
        <p:spPr>
          <a:xfrm>
            <a:off x="378210" y="407514"/>
            <a:ext cx="3062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 팝업</a:t>
            </a:r>
          </a:p>
        </p:txBody>
      </p:sp>
    </p:spTree>
    <p:extLst>
      <p:ext uri="{BB962C8B-B14F-4D97-AF65-F5344CB8AC3E}">
        <p14:creationId xmlns:p14="http://schemas.microsoft.com/office/powerpoint/2010/main" val="23329594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A9FCF855-5391-4BAF-BEC3-0614AD2EFDDA}"/>
              </a:ext>
            </a:extLst>
          </p:cNvPr>
          <p:cNvSpPr/>
          <p:nvPr/>
        </p:nvSpPr>
        <p:spPr>
          <a:xfrm>
            <a:off x="1712640" y="1124744"/>
            <a:ext cx="5208058" cy="27363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200000"/>
              </a:lnSpc>
            </a:pPr>
            <a:endParaRPr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55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장치 등록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장치 등록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0280"/>
              </p:ext>
            </p:extLst>
          </p:nvPr>
        </p:nvGraphicFramePr>
        <p:xfrm>
          <a:off x="8469313" y="276225"/>
          <a:ext cx="1404000" cy="491520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배치 사이트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신규 등록할 장치가 위치하는 사이트를 선택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명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신규 등록할 장치 명을 입력한다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  <a:endParaRPr kumimoji="1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862645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사이트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ID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신규 등록할 장치의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ID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를 입력한다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ID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자동 생성 및 할당 관련 검토 필요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 타입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신규 등록할 장치의 타입을 선택한다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타입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부하측정기기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PV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모니터링기기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ESS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모니터링기기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PCS, BMS, PV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등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전체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장치 리스트 확인 및 업데이트 예정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적용하고 팝업을 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29937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취소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적용하지 않고 팝업을 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15845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800" b="0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 등록을 장치</a:t>
                      </a:r>
                      <a:r>
                        <a:rPr lang="en-US" altLang="ko-KR" sz="800" b="0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쪽으로 이동하는 방안도 검토 필요</a:t>
                      </a:r>
                      <a:endParaRPr lang="en-US" altLang="ko-KR" sz="800" b="0" u="none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219032"/>
                  </a:ext>
                </a:extLst>
              </a:tr>
              <a:tr h="383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‘</a:t>
                      </a: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에너톡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디바이스 설정하기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‘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적용 방안 확인 필요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ewpsp_scr_037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30D1016A-13FB-4513-A8E9-706EE203BB52}"/>
              </a:ext>
            </a:extLst>
          </p:cNvPr>
          <p:cNvGrpSpPr/>
          <p:nvPr/>
        </p:nvGrpSpPr>
        <p:grpSpPr>
          <a:xfrm>
            <a:off x="3186625" y="3249587"/>
            <a:ext cx="2494046" cy="323428"/>
            <a:chOff x="3791228" y="5284908"/>
            <a:chExt cx="2630919" cy="360040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7726E8D3-148F-4164-832A-268A34EC9F35}"/>
                </a:ext>
              </a:extLst>
            </p:cNvPr>
            <p:cNvSpPr/>
            <p:nvPr/>
          </p:nvSpPr>
          <p:spPr>
            <a:xfrm>
              <a:off x="3791228" y="5284908"/>
              <a:ext cx="1224136" cy="360040"/>
            </a:xfrm>
            <a:prstGeom prst="rect">
              <a:avLst/>
            </a:prstGeom>
            <a:solidFill>
              <a:srgbClr val="0099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3D9A0764-2FF1-44DF-A947-222307667FC1}"/>
                </a:ext>
              </a:extLst>
            </p:cNvPr>
            <p:cNvSpPr/>
            <p:nvPr/>
          </p:nvSpPr>
          <p:spPr>
            <a:xfrm>
              <a:off x="5198011" y="5284908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51507A6-6DC2-4700-8A8B-608C9D16AA26}"/>
              </a:ext>
            </a:extLst>
          </p:cNvPr>
          <p:cNvSpPr/>
          <p:nvPr/>
        </p:nvSpPr>
        <p:spPr>
          <a:xfrm>
            <a:off x="1887584" y="1772815"/>
            <a:ext cx="1272225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장치 명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EE22907-23EF-4DC4-A448-E6C8457692DF}"/>
              </a:ext>
            </a:extLst>
          </p:cNvPr>
          <p:cNvSpPr/>
          <p:nvPr/>
        </p:nvSpPr>
        <p:spPr>
          <a:xfrm>
            <a:off x="2936777" y="1772815"/>
            <a:ext cx="3810560" cy="32397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E9911D3-ABA6-41CD-9FB7-70E779FC86E1}"/>
              </a:ext>
            </a:extLst>
          </p:cNvPr>
          <p:cNvSpPr/>
          <p:nvPr/>
        </p:nvSpPr>
        <p:spPr>
          <a:xfrm>
            <a:off x="1887584" y="2179033"/>
            <a:ext cx="1331997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장치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F62D155-370B-419A-A2E2-419E0E082F3A}"/>
              </a:ext>
            </a:extLst>
          </p:cNvPr>
          <p:cNvSpPr/>
          <p:nvPr/>
        </p:nvSpPr>
        <p:spPr>
          <a:xfrm>
            <a:off x="2936777" y="2179033"/>
            <a:ext cx="3475762" cy="3227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087C8A0-A23B-4558-A142-1EC9A028343D}"/>
              </a:ext>
            </a:extLst>
          </p:cNvPr>
          <p:cNvSpPr/>
          <p:nvPr/>
        </p:nvSpPr>
        <p:spPr>
          <a:xfrm>
            <a:off x="6412540" y="2177813"/>
            <a:ext cx="334796" cy="323974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50000"/>
              </a:lnSpc>
            </a:pP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AF2764-4AFA-4249-B1D0-863F4F9A6172}"/>
              </a:ext>
            </a:extLst>
          </p:cNvPr>
          <p:cNvSpPr txBox="1"/>
          <p:nvPr/>
        </p:nvSpPr>
        <p:spPr>
          <a:xfrm>
            <a:off x="6471926" y="2114771"/>
            <a:ext cx="21602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E4278D7-28A4-4B2E-9690-AB9657D28A5C}"/>
              </a:ext>
            </a:extLst>
          </p:cNvPr>
          <p:cNvSpPr/>
          <p:nvPr/>
        </p:nvSpPr>
        <p:spPr>
          <a:xfrm>
            <a:off x="1892811" y="2595905"/>
            <a:ext cx="1331997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장치 타입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511C39C-3CAC-4013-97A0-60A8DF2F4296}"/>
              </a:ext>
            </a:extLst>
          </p:cNvPr>
          <p:cNvSpPr/>
          <p:nvPr/>
        </p:nvSpPr>
        <p:spPr>
          <a:xfrm>
            <a:off x="2936776" y="2595905"/>
            <a:ext cx="3480989" cy="32397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0B6EF87-EA6E-4F5C-B1B3-9DB4681DC8D1}"/>
              </a:ext>
            </a:extLst>
          </p:cNvPr>
          <p:cNvSpPr/>
          <p:nvPr/>
        </p:nvSpPr>
        <p:spPr>
          <a:xfrm>
            <a:off x="6417767" y="2594555"/>
            <a:ext cx="334796" cy="323974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50000"/>
              </a:lnSpc>
            </a:pP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2D92F3-254C-4F5F-98CD-CD819E569D5B}"/>
              </a:ext>
            </a:extLst>
          </p:cNvPr>
          <p:cNvSpPr txBox="1"/>
          <p:nvPr/>
        </p:nvSpPr>
        <p:spPr>
          <a:xfrm>
            <a:off x="6484366" y="2612031"/>
            <a:ext cx="2160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▽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CA39E0C-E3DF-45A7-BD5F-8CB06F477AA7}"/>
              </a:ext>
            </a:extLst>
          </p:cNvPr>
          <p:cNvSpPr/>
          <p:nvPr/>
        </p:nvSpPr>
        <p:spPr>
          <a:xfrm>
            <a:off x="1892811" y="1355453"/>
            <a:ext cx="1272225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배치 사이트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0C94030-0B57-4E93-8E10-5F0B567B5730}"/>
              </a:ext>
            </a:extLst>
          </p:cNvPr>
          <p:cNvSpPr/>
          <p:nvPr/>
        </p:nvSpPr>
        <p:spPr>
          <a:xfrm>
            <a:off x="2936776" y="1355453"/>
            <a:ext cx="3475763" cy="32397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7CDCFEB-3D60-40B6-88B8-17AEE1357036}"/>
              </a:ext>
            </a:extLst>
          </p:cNvPr>
          <p:cNvSpPr/>
          <p:nvPr/>
        </p:nvSpPr>
        <p:spPr>
          <a:xfrm>
            <a:off x="6411547" y="1358856"/>
            <a:ext cx="334796" cy="323974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50000"/>
              </a:lnSpc>
            </a:pP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DB62B1-218C-4C75-8173-E95169E1A7E7}"/>
              </a:ext>
            </a:extLst>
          </p:cNvPr>
          <p:cNvSpPr txBox="1"/>
          <p:nvPr/>
        </p:nvSpPr>
        <p:spPr>
          <a:xfrm>
            <a:off x="6478146" y="1376072"/>
            <a:ext cx="2160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▽</a:t>
            </a:r>
          </a:p>
        </p:txBody>
      </p:sp>
      <p:sp>
        <p:nvSpPr>
          <p:cNvPr id="45" name="타원형 설명선 226">
            <a:extLst>
              <a:ext uri="{FF2B5EF4-FFF2-40B4-BE49-F238E27FC236}">
                <a16:creationId xmlns:a16="http://schemas.microsoft.com/office/drawing/2014/main" id="{34B59F5B-8DC5-4D74-B1E8-1BF50C26B402}"/>
              </a:ext>
            </a:extLst>
          </p:cNvPr>
          <p:cNvSpPr/>
          <p:nvPr/>
        </p:nvSpPr>
        <p:spPr>
          <a:xfrm>
            <a:off x="1704761" y="1692731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타원형 설명선 243">
            <a:extLst>
              <a:ext uri="{FF2B5EF4-FFF2-40B4-BE49-F238E27FC236}">
                <a16:creationId xmlns:a16="http://schemas.microsoft.com/office/drawing/2014/main" id="{38184039-0DF7-4FF1-9A1B-F342A9F48197}"/>
              </a:ext>
            </a:extLst>
          </p:cNvPr>
          <p:cNvSpPr/>
          <p:nvPr/>
        </p:nvSpPr>
        <p:spPr>
          <a:xfrm>
            <a:off x="1704761" y="2492895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타원형 설명선 244">
            <a:extLst>
              <a:ext uri="{FF2B5EF4-FFF2-40B4-BE49-F238E27FC236}">
                <a16:creationId xmlns:a16="http://schemas.microsoft.com/office/drawing/2014/main" id="{235C11D5-30A1-4075-81FB-E3B0E2A17222}"/>
              </a:ext>
            </a:extLst>
          </p:cNvPr>
          <p:cNvSpPr/>
          <p:nvPr/>
        </p:nvSpPr>
        <p:spPr>
          <a:xfrm>
            <a:off x="1704761" y="2060847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타원형 설명선 225">
            <a:extLst>
              <a:ext uri="{FF2B5EF4-FFF2-40B4-BE49-F238E27FC236}">
                <a16:creationId xmlns:a16="http://schemas.microsoft.com/office/drawing/2014/main" id="{83E09703-1120-4626-A6DE-1385C07B2CB5}"/>
              </a:ext>
            </a:extLst>
          </p:cNvPr>
          <p:cNvSpPr/>
          <p:nvPr/>
        </p:nvSpPr>
        <p:spPr>
          <a:xfrm>
            <a:off x="1704761" y="1261008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타원형 설명선 243">
            <a:extLst>
              <a:ext uri="{FF2B5EF4-FFF2-40B4-BE49-F238E27FC236}">
                <a16:creationId xmlns:a16="http://schemas.microsoft.com/office/drawing/2014/main" id="{63F19BDD-2F51-4095-B68F-533E33F75C1E}"/>
              </a:ext>
            </a:extLst>
          </p:cNvPr>
          <p:cNvSpPr/>
          <p:nvPr/>
        </p:nvSpPr>
        <p:spPr>
          <a:xfrm>
            <a:off x="4258052" y="305895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타원형 설명선 243">
            <a:extLst>
              <a:ext uri="{FF2B5EF4-FFF2-40B4-BE49-F238E27FC236}">
                <a16:creationId xmlns:a16="http://schemas.microsoft.com/office/drawing/2014/main" id="{BCFDF6D4-918E-487F-B6B8-9C86D9818E87}"/>
              </a:ext>
            </a:extLst>
          </p:cNvPr>
          <p:cNvSpPr/>
          <p:nvPr/>
        </p:nvSpPr>
        <p:spPr>
          <a:xfrm>
            <a:off x="2942149" y="305895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88DC16-C5FA-4180-B474-C60D3866AF95}"/>
              </a:ext>
            </a:extLst>
          </p:cNvPr>
          <p:cNvSpPr txBox="1"/>
          <p:nvPr/>
        </p:nvSpPr>
        <p:spPr>
          <a:xfrm>
            <a:off x="378210" y="407514"/>
            <a:ext cx="2808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장치 등록 팝업</a:t>
            </a:r>
          </a:p>
        </p:txBody>
      </p:sp>
    </p:spTree>
    <p:extLst>
      <p:ext uri="{BB962C8B-B14F-4D97-AF65-F5344CB8AC3E}">
        <p14:creationId xmlns:p14="http://schemas.microsoft.com/office/powerpoint/2010/main" val="40221345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56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사이트 그룹 정보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사이트 그룹 정보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671973"/>
              </p:ext>
            </p:extLst>
          </p:nvPr>
        </p:nvGraphicFramePr>
        <p:xfrm>
          <a:off x="8469313" y="276225"/>
          <a:ext cx="1404000" cy="3332544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그룹 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편집을 할 사이트 그룹을 선택한다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그룹 내 사이트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이미 그룹에 속해 있는 사이트 리스트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사이트</a:t>
                      </a:r>
                      <a:endParaRPr lang="en-US" altLang="ko-KR" sz="800" b="1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아직 그룹에 속해 있지 않은 전체 사이트 리스트</a:t>
                      </a:r>
                      <a:endParaRPr lang="en-US" altLang="ko-KR" sz="800" b="0" u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사이트 추가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삭제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Wingdings" panose="05000000000000000000" pitchFamily="2" charset="2"/>
                        </a:rPr>
                        <a:t>버튼을 사용하여 각 리스트 內에 포함된 사이트를 추가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Wingdings" panose="05000000000000000000" pitchFamily="2" charset="2"/>
                        </a:rPr>
                        <a:t>삭제 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Wingdings" panose="05000000000000000000" pitchFamily="2" charset="2"/>
                        </a:rPr>
                        <a:t>.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031769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적용하고 이전화면으로 돌아간다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취소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적용하지 않고 이전화면으로 돌아간다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.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ewpsp_scr_038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14E8AEF-8EA8-4944-AE52-FF98A1FB7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3" y="764704"/>
            <a:ext cx="8208912" cy="504055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762442"/>
            <a:ext cx="8208912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7D07777-30AA-4506-9C18-6F3B4C7D943C}"/>
              </a:ext>
            </a:extLst>
          </p:cNvPr>
          <p:cNvCxnSpPr>
            <a:cxnSpLocks/>
          </p:cNvCxnSpPr>
          <p:nvPr/>
        </p:nvCxnSpPr>
        <p:spPr>
          <a:xfrm>
            <a:off x="128463" y="1124744"/>
            <a:ext cx="8208912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4417E-CAA5-4FD3-BBB9-7CD5570EF571}"/>
              </a:ext>
            </a:extLst>
          </p:cNvPr>
          <p:cNvSpPr/>
          <p:nvPr/>
        </p:nvSpPr>
        <p:spPr>
          <a:xfrm>
            <a:off x="216314" y="1324228"/>
            <a:ext cx="2216405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  <a:r>
              <a:rPr lang="en-US" altLang="ko-KR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– </a:t>
            </a: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사이트 그룹 정보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844086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FB85F2F-51DC-4017-8C5E-AD9462F439F6}"/>
              </a:ext>
            </a:extLst>
          </p:cNvPr>
          <p:cNvSpPr/>
          <p:nvPr/>
        </p:nvSpPr>
        <p:spPr>
          <a:xfrm>
            <a:off x="344488" y="1708105"/>
            <a:ext cx="7776864" cy="3197667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30D1016A-13FB-4513-A8E9-706EE203BB52}"/>
              </a:ext>
            </a:extLst>
          </p:cNvPr>
          <p:cNvGrpSpPr/>
          <p:nvPr/>
        </p:nvGrpSpPr>
        <p:grpSpPr>
          <a:xfrm>
            <a:off x="3039178" y="5121796"/>
            <a:ext cx="2494046" cy="323428"/>
            <a:chOff x="3791228" y="5284908"/>
            <a:chExt cx="2630919" cy="360040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7726E8D3-148F-4164-832A-268A34EC9F35}"/>
                </a:ext>
              </a:extLst>
            </p:cNvPr>
            <p:cNvSpPr/>
            <p:nvPr/>
          </p:nvSpPr>
          <p:spPr>
            <a:xfrm>
              <a:off x="3791228" y="5284908"/>
              <a:ext cx="1224136" cy="360040"/>
            </a:xfrm>
            <a:prstGeom prst="rect">
              <a:avLst/>
            </a:prstGeom>
            <a:solidFill>
              <a:srgbClr val="0099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3D9A0764-2FF1-44DF-A947-222307667FC1}"/>
                </a:ext>
              </a:extLst>
            </p:cNvPr>
            <p:cNvSpPr/>
            <p:nvPr/>
          </p:nvSpPr>
          <p:spPr>
            <a:xfrm>
              <a:off x="5198011" y="5284908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71D6F2F-4D76-4573-B317-7143359A41E1}"/>
              </a:ext>
            </a:extLst>
          </p:cNvPr>
          <p:cNvGrpSpPr/>
          <p:nvPr/>
        </p:nvGrpSpPr>
        <p:grpSpPr>
          <a:xfrm>
            <a:off x="452652" y="2040076"/>
            <a:ext cx="7560534" cy="2469044"/>
            <a:chOff x="416802" y="2292713"/>
            <a:chExt cx="8130597" cy="2743910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3F865AF4-D812-4E47-8A2C-BB70C9A7446E}"/>
                </a:ext>
              </a:extLst>
            </p:cNvPr>
            <p:cNvSpPr/>
            <p:nvPr/>
          </p:nvSpPr>
          <p:spPr>
            <a:xfrm>
              <a:off x="416802" y="2292713"/>
              <a:ext cx="1224136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그룹 명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44E89D5-57EC-4427-A76C-DEC387D92F51}"/>
                </a:ext>
              </a:extLst>
            </p:cNvPr>
            <p:cNvSpPr/>
            <p:nvPr/>
          </p:nvSpPr>
          <p:spPr>
            <a:xfrm>
              <a:off x="1784954" y="2292713"/>
              <a:ext cx="5904656" cy="36004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 정밀 화학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BE2D75D4-0BB3-4E93-856D-B663937405D5}"/>
                </a:ext>
              </a:extLst>
            </p:cNvPr>
            <p:cNvSpPr/>
            <p:nvPr/>
          </p:nvSpPr>
          <p:spPr>
            <a:xfrm>
              <a:off x="1089718" y="2868777"/>
              <a:ext cx="1224136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그룹 내 사이트</a:t>
              </a: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7F805C03-852D-4E38-823B-7B260687800F}"/>
                </a:ext>
              </a:extLst>
            </p:cNvPr>
            <p:cNvGrpSpPr/>
            <p:nvPr/>
          </p:nvGrpSpPr>
          <p:grpSpPr>
            <a:xfrm>
              <a:off x="1100656" y="3228816"/>
              <a:ext cx="3538932" cy="1807807"/>
              <a:chOff x="1100657" y="3228816"/>
              <a:chExt cx="2668622" cy="1807807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0B3E5012-7687-467A-9A40-176235875AE4}"/>
                  </a:ext>
                </a:extLst>
              </p:cNvPr>
              <p:cNvSpPr/>
              <p:nvPr/>
            </p:nvSpPr>
            <p:spPr>
              <a:xfrm>
                <a:off x="1100657" y="3228817"/>
                <a:ext cx="2319215" cy="178435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롯데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_Site_01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롯데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_Site_02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롯데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_Site_03</a:t>
                </a:r>
                <a:endParaRPr lang="ko-KR" altLang="en-US" sz="10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8ABDD246-FAC3-4FD7-AED1-015D2C7A4F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15616" y="3633802"/>
                <a:ext cx="2160000" cy="1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1717978E-CB68-4667-B2C8-4A96593EA3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15616" y="3973891"/>
                <a:ext cx="2160000" cy="1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56D50F60-0FF8-44E4-A909-A86EB5A7EE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15616" y="4323930"/>
                <a:ext cx="2160000" cy="1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6" name="Picture 4" descr="ê´ë ¨ ì´ë¯¸ì§">
                <a:extLst>
                  <a:ext uri="{FF2B5EF4-FFF2-40B4-BE49-F238E27FC236}">
                    <a16:creationId xmlns:a16="http://schemas.microsoft.com/office/drawing/2014/main" id="{6F44EBD6-67AB-4639-88A7-F21429C496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02287" y="3228816"/>
                <a:ext cx="866992" cy="18078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A6EEDE16-7A2F-439E-A0EB-09D7BA5068B2}"/>
                </a:ext>
              </a:extLst>
            </p:cNvPr>
            <p:cNvGrpSpPr/>
            <p:nvPr/>
          </p:nvGrpSpPr>
          <p:grpSpPr>
            <a:xfrm>
              <a:off x="5092008" y="3211572"/>
              <a:ext cx="3455391" cy="1807807"/>
              <a:chOff x="5364088" y="3211572"/>
              <a:chExt cx="3183311" cy="1807807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52821123-AFBB-4823-AEB1-DA07B26BB164}"/>
                  </a:ext>
                </a:extLst>
              </p:cNvPr>
              <p:cNvSpPr/>
              <p:nvPr/>
            </p:nvSpPr>
            <p:spPr>
              <a:xfrm>
                <a:off x="5364088" y="3211573"/>
                <a:ext cx="2766515" cy="178435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롯데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_Site_01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롯데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_Site_02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롯데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_Site_03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롯데 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Site_04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롯데 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Site_05</a:t>
                </a:r>
                <a:endPara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81BACF2B-3F89-430B-9BC1-726CA834F6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81932" y="3590919"/>
                <a:ext cx="2576593" cy="1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CE1917E2-7952-415E-B1F7-43B1DC41AA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81932" y="3950056"/>
                <a:ext cx="2576593" cy="1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F693D65-E3B0-497B-91F7-D1286E253A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81932" y="4285724"/>
                <a:ext cx="2576593" cy="1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Picture 4" descr="ê´ë ¨ ì´ë¯¸ì§">
                <a:extLst>
                  <a:ext uri="{FF2B5EF4-FFF2-40B4-BE49-F238E27FC236}">
                    <a16:creationId xmlns:a16="http://schemas.microsoft.com/office/drawing/2014/main" id="{6E0D5C54-9FEC-44ED-8A61-00725E4E78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13193" y="3211572"/>
                <a:ext cx="1034206" cy="18078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6CD9608D-1C2B-4A79-9E37-6F8B167FEC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81932" y="4628236"/>
                <a:ext cx="2576593" cy="1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C24B7912-C57E-4BAC-ADE4-FC75497AA8C6}"/>
                </a:ext>
              </a:extLst>
            </p:cNvPr>
            <p:cNvGrpSpPr/>
            <p:nvPr/>
          </p:nvGrpSpPr>
          <p:grpSpPr>
            <a:xfrm>
              <a:off x="4429807" y="3689271"/>
              <a:ext cx="423448" cy="828962"/>
              <a:chOff x="4437543" y="3456671"/>
              <a:chExt cx="423448" cy="828962"/>
            </a:xfrm>
          </p:grpSpPr>
          <p:pic>
            <p:nvPicPr>
              <p:cNvPr id="67" name="Picture 6" descr="white arrowì ëí ì´ë¯¸ì§ ê²ìê²°ê³¼">
                <a:extLst>
                  <a:ext uri="{FF2B5EF4-FFF2-40B4-BE49-F238E27FC236}">
                    <a16:creationId xmlns:a16="http://schemas.microsoft.com/office/drawing/2014/main" id="{42F4033E-32DD-4EA0-B8B6-9FDBCAFE5E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>
                <a:off x="4437544" y="3456671"/>
                <a:ext cx="423447" cy="423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8" name="Picture 8" descr="white arrowì ëí ì´ë¯¸ì§ ê²ìê²°ê³¼">
                <a:extLst>
                  <a:ext uri="{FF2B5EF4-FFF2-40B4-BE49-F238E27FC236}">
                    <a16:creationId xmlns:a16="http://schemas.microsoft.com/office/drawing/2014/main" id="{D4A218E6-1CBE-4834-B8A3-5D1653EFCD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37543" y="3862185"/>
                <a:ext cx="423448" cy="4234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3C75D86-456C-40F9-8DD5-C0EA33A6DFA9}"/>
                </a:ext>
              </a:extLst>
            </p:cNvPr>
            <p:cNvSpPr/>
            <p:nvPr/>
          </p:nvSpPr>
          <p:spPr>
            <a:xfrm>
              <a:off x="5039025" y="2869844"/>
              <a:ext cx="1224136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1050" b="1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전체 사이트</a:t>
              </a:r>
              <a:endPara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E7F3C013-B344-4F51-9EF0-D4AB977EE137}"/>
                </a:ext>
              </a:extLst>
            </p:cNvPr>
            <p:cNvSpPr/>
            <p:nvPr/>
          </p:nvSpPr>
          <p:spPr>
            <a:xfrm>
              <a:off x="7689610" y="2292713"/>
              <a:ext cx="360040" cy="360040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</p:grpSp>
      <p:sp>
        <p:nvSpPr>
          <p:cNvPr id="65" name="타원형 설명선 226">
            <a:extLst>
              <a:ext uri="{FF2B5EF4-FFF2-40B4-BE49-F238E27FC236}">
                <a16:creationId xmlns:a16="http://schemas.microsoft.com/office/drawing/2014/main" id="{E6364402-B9C9-4774-AC1A-8F0AF7DDE5DF}"/>
              </a:ext>
            </a:extLst>
          </p:cNvPr>
          <p:cNvSpPr/>
          <p:nvPr/>
        </p:nvSpPr>
        <p:spPr>
          <a:xfrm>
            <a:off x="821567" y="253556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타원형 설명선 243">
            <a:extLst>
              <a:ext uri="{FF2B5EF4-FFF2-40B4-BE49-F238E27FC236}">
                <a16:creationId xmlns:a16="http://schemas.microsoft.com/office/drawing/2014/main" id="{FCE95DD2-4E01-492B-902D-83E7026632FE}"/>
              </a:ext>
            </a:extLst>
          </p:cNvPr>
          <p:cNvSpPr/>
          <p:nvPr/>
        </p:nvSpPr>
        <p:spPr>
          <a:xfrm>
            <a:off x="4534795" y="251294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타원형 설명선 244">
            <a:extLst>
              <a:ext uri="{FF2B5EF4-FFF2-40B4-BE49-F238E27FC236}">
                <a16:creationId xmlns:a16="http://schemas.microsoft.com/office/drawing/2014/main" id="{91058315-74C2-486F-8984-82AB121E428B}"/>
              </a:ext>
            </a:extLst>
          </p:cNvPr>
          <p:cNvSpPr/>
          <p:nvPr/>
        </p:nvSpPr>
        <p:spPr>
          <a:xfrm>
            <a:off x="4050843" y="310500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타원형 설명선 225">
            <a:extLst>
              <a:ext uri="{FF2B5EF4-FFF2-40B4-BE49-F238E27FC236}">
                <a16:creationId xmlns:a16="http://schemas.microsoft.com/office/drawing/2014/main" id="{35E4A3D9-45FF-41AE-820A-D77D49757B6C}"/>
              </a:ext>
            </a:extLst>
          </p:cNvPr>
          <p:cNvSpPr/>
          <p:nvPr/>
        </p:nvSpPr>
        <p:spPr>
          <a:xfrm>
            <a:off x="805806" y="1952209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타원형 설명선 243">
            <a:extLst>
              <a:ext uri="{FF2B5EF4-FFF2-40B4-BE49-F238E27FC236}">
                <a16:creationId xmlns:a16="http://schemas.microsoft.com/office/drawing/2014/main" id="{730E1177-1AD4-42A1-8276-7C8454308CFA}"/>
              </a:ext>
            </a:extLst>
          </p:cNvPr>
          <p:cNvSpPr/>
          <p:nvPr/>
        </p:nvSpPr>
        <p:spPr>
          <a:xfrm>
            <a:off x="2758034" y="490579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타원형 설명선 243">
            <a:extLst>
              <a:ext uri="{FF2B5EF4-FFF2-40B4-BE49-F238E27FC236}">
                <a16:creationId xmlns:a16="http://schemas.microsoft.com/office/drawing/2014/main" id="{A9CB9123-EEAE-445F-8EA3-E8E4F482A895}"/>
              </a:ext>
            </a:extLst>
          </p:cNvPr>
          <p:cNvSpPr/>
          <p:nvPr/>
        </p:nvSpPr>
        <p:spPr>
          <a:xfrm>
            <a:off x="4153076" y="4907202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20970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57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관리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관리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787588"/>
              </p:ext>
            </p:extLst>
          </p:nvPr>
        </p:nvGraphicFramePr>
        <p:xfrm>
          <a:off x="8469313" y="276225"/>
          <a:ext cx="1404000" cy="377376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사용자 리스트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현재 등록된 사용자 리스트를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사용자 정보 항목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ID,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권한등급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그룹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설명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등록일자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설정 버튼을 클릭하면 수정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삭제 메뉴가 팝업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수정을 선택하면 인라인 편집이 가능하도록 처리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삭제를 선택하면 해당 사용자 항목을 삭제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사용자 추가하기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사용자 추가 팝업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별도의 팝업이 아닌 이전 페이지의 사이트 리스트에서 바로 추가가 가능한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UI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검토 필요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적용하고 팝업을 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취소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적용하지 않고 팝업을 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ewpsp_scr_039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14E8AEF-8EA8-4944-AE52-FF98A1FB7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72" y="762442"/>
            <a:ext cx="8208912" cy="504055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6FBB0165-03FF-4BBD-A158-8DEF923C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762442"/>
            <a:ext cx="8184220" cy="34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7D07777-30AA-4506-9C18-6F3B4C7D943C}"/>
              </a:ext>
            </a:extLst>
          </p:cNvPr>
          <p:cNvCxnSpPr>
            <a:cxnSpLocks/>
          </p:cNvCxnSpPr>
          <p:nvPr/>
        </p:nvCxnSpPr>
        <p:spPr>
          <a:xfrm>
            <a:off x="128463" y="1124744"/>
            <a:ext cx="8184221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84417E-CAA5-4FD3-BBB9-7CD5570EF571}"/>
              </a:ext>
            </a:extLst>
          </p:cNvPr>
          <p:cNvSpPr/>
          <p:nvPr/>
        </p:nvSpPr>
        <p:spPr>
          <a:xfrm>
            <a:off x="216314" y="1324228"/>
            <a:ext cx="2216405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  <a:r>
              <a:rPr lang="en-US" altLang="ko-KR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– </a:t>
            </a: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사용자 관리</a:t>
            </a:r>
          </a:p>
        </p:txBody>
      </p:sp>
      <p:pic>
        <p:nvPicPr>
          <p:cNvPr id="4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0A888AD-844A-4544-B02A-A77BC3397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865" y="844086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30D1016A-13FB-4513-A8E9-706EE203BB52}"/>
              </a:ext>
            </a:extLst>
          </p:cNvPr>
          <p:cNvGrpSpPr/>
          <p:nvPr/>
        </p:nvGrpSpPr>
        <p:grpSpPr>
          <a:xfrm>
            <a:off x="3039178" y="5121796"/>
            <a:ext cx="2494046" cy="323428"/>
            <a:chOff x="3791228" y="5284908"/>
            <a:chExt cx="2630919" cy="360040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7726E8D3-148F-4164-832A-268A34EC9F35}"/>
                </a:ext>
              </a:extLst>
            </p:cNvPr>
            <p:cNvSpPr/>
            <p:nvPr/>
          </p:nvSpPr>
          <p:spPr>
            <a:xfrm>
              <a:off x="3791228" y="5284908"/>
              <a:ext cx="1224136" cy="360040"/>
            </a:xfrm>
            <a:prstGeom prst="rect">
              <a:avLst/>
            </a:prstGeom>
            <a:solidFill>
              <a:srgbClr val="0099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3D9A0764-2FF1-44DF-A947-222307667FC1}"/>
                </a:ext>
              </a:extLst>
            </p:cNvPr>
            <p:cNvSpPr/>
            <p:nvPr/>
          </p:nvSpPr>
          <p:spPr>
            <a:xfrm>
              <a:off x="5198011" y="5284908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244994E-9DC4-4C8E-BAB1-FB940836456B}"/>
              </a:ext>
            </a:extLst>
          </p:cNvPr>
          <p:cNvCxnSpPr>
            <a:cxnSpLocks/>
          </p:cNvCxnSpPr>
          <p:nvPr/>
        </p:nvCxnSpPr>
        <p:spPr>
          <a:xfrm>
            <a:off x="344488" y="1823405"/>
            <a:ext cx="774804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37040FB-D1F6-4C80-9404-B6B73FD626E9}"/>
              </a:ext>
            </a:extLst>
          </p:cNvPr>
          <p:cNvCxnSpPr>
            <a:cxnSpLocks/>
          </p:cNvCxnSpPr>
          <p:nvPr/>
        </p:nvCxnSpPr>
        <p:spPr>
          <a:xfrm>
            <a:off x="344488" y="2017812"/>
            <a:ext cx="774804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43706B7-151F-426F-94A7-B5C9422A4791}"/>
              </a:ext>
            </a:extLst>
          </p:cNvPr>
          <p:cNvCxnSpPr>
            <a:cxnSpLocks/>
          </p:cNvCxnSpPr>
          <p:nvPr/>
        </p:nvCxnSpPr>
        <p:spPr>
          <a:xfrm>
            <a:off x="344488" y="2341722"/>
            <a:ext cx="774804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38C65EC-8028-4C78-BC7C-0CFBA7F4F8EA}"/>
              </a:ext>
            </a:extLst>
          </p:cNvPr>
          <p:cNvCxnSpPr>
            <a:cxnSpLocks/>
          </p:cNvCxnSpPr>
          <p:nvPr/>
        </p:nvCxnSpPr>
        <p:spPr>
          <a:xfrm>
            <a:off x="344488" y="2680146"/>
            <a:ext cx="774804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6EF59E6-F8A7-405D-9763-885CB369B059}"/>
              </a:ext>
            </a:extLst>
          </p:cNvPr>
          <p:cNvCxnSpPr>
            <a:cxnSpLocks/>
          </p:cNvCxnSpPr>
          <p:nvPr/>
        </p:nvCxnSpPr>
        <p:spPr>
          <a:xfrm>
            <a:off x="344488" y="3018569"/>
            <a:ext cx="774804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89B82EC-2354-4A77-AEEC-50D7FCE6BF8E}"/>
              </a:ext>
            </a:extLst>
          </p:cNvPr>
          <p:cNvCxnSpPr>
            <a:cxnSpLocks/>
          </p:cNvCxnSpPr>
          <p:nvPr/>
        </p:nvCxnSpPr>
        <p:spPr>
          <a:xfrm>
            <a:off x="344488" y="3356992"/>
            <a:ext cx="774804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5C4DD5B-D5F4-4A33-8986-C3052201C826}"/>
              </a:ext>
            </a:extLst>
          </p:cNvPr>
          <p:cNvGrpSpPr/>
          <p:nvPr/>
        </p:nvGrpSpPr>
        <p:grpSpPr>
          <a:xfrm>
            <a:off x="7765285" y="2000582"/>
            <a:ext cx="844330" cy="1356407"/>
            <a:chOff x="8242960" y="2282537"/>
            <a:chExt cx="866992" cy="1143702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EBDD9E68-207E-4E7D-9B96-88A09E82655C}"/>
                </a:ext>
              </a:extLst>
            </p:cNvPr>
            <p:cNvSpPr/>
            <p:nvPr/>
          </p:nvSpPr>
          <p:spPr>
            <a:xfrm>
              <a:off x="8579077" y="2289300"/>
              <a:ext cx="164131" cy="11369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51" name="Picture 4" descr="ê´ë ¨ ì´ë¯¸ì§">
              <a:extLst>
                <a:ext uri="{FF2B5EF4-FFF2-40B4-BE49-F238E27FC236}">
                  <a16:creationId xmlns:a16="http://schemas.microsoft.com/office/drawing/2014/main" id="{3870CD28-AFE4-47E3-BFB1-EEBA57B7B2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2960" y="2282537"/>
              <a:ext cx="866992" cy="1143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C7A48CF-65DC-47FF-BD6D-11B210F2860A}"/>
              </a:ext>
            </a:extLst>
          </p:cNvPr>
          <p:cNvSpPr txBox="1"/>
          <p:nvPr/>
        </p:nvSpPr>
        <p:spPr>
          <a:xfrm>
            <a:off x="1817823" y="1832180"/>
            <a:ext cx="614897" cy="200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 등급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59850E-23A4-42D0-9D60-D3BD84EEDD47}"/>
              </a:ext>
            </a:extLst>
          </p:cNvPr>
          <p:cNvSpPr txBox="1"/>
          <p:nvPr/>
        </p:nvSpPr>
        <p:spPr>
          <a:xfrm>
            <a:off x="2936776" y="1832181"/>
            <a:ext cx="747163" cy="200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그룹</a:t>
            </a:r>
            <a:endParaRPr lang="ko-KR" altLang="en-US" sz="7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A2807B-12AC-4E44-89C6-D168BB7709C8}"/>
              </a:ext>
            </a:extLst>
          </p:cNvPr>
          <p:cNvSpPr txBox="1"/>
          <p:nvPr/>
        </p:nvSpPr>
        <p:spPr>
          <a:xfrm>
            <a:off x="4520952" y="1832181"/>
            <a:ext cx="907942" cy="200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설명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DBC8A4-93E2-40FB-BEBE-16AFD5B072C3}"/>
              </a:ext>
            </a:extLst>
          </p:cNvPr>
          <p:cNvSpPr txBox="1"/>
          <p:nvPr/>
        </p:nvSpPr>
        <p:spPr>
          <a:xfrm>
            <a:off x="6701575" y="1832181"/>
            <a:ext cx="771705" cy="200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등록일자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B23EAC81-7ABE-4961-855A-66F755910C84}"/>
              </a:ext>
            </a:extLst>
          </p:cNvPr>
          <p:cNvCxnSpPr>
            <a:cxnSpLocks/>
          </p:cNvCxnSpPr>
          <p:nvPr/>
        </p:nvCxnSpPr>
        <p:spPr>
          <a:xfrm>
            <a:off x="3944888" y="2014709"/>
            <a:ext cx="0" cy="13356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A67AF43-AF3D-4E27-B1A9-93F51BDC0F8F}"/>
              </a:ext>
            </a:extLst>
          </p:cNvPr>
          <p:cNvCxnSpPr>
            <a:cxnSpLocks/>
          </p:cNvCxnSpPr>
          <p:nvPr/>
        </p:nvCxnSpPr>
        <p:spPr>
          <a:xfrm>
            <a:off x="6115516" y="2022881"/>
            <a:ext cx="0" cy="13356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3EA1BBD3-2087-42E1-B2BA-B990D3E06B0A}"/>
              </a:ext>
            </a:extLst>
          </p:cNvPr>
          <p:cNvCxnSpPr>
            <a:cxnSpLocks/>
          </p:cNvCxnSpPr>
          <p:nvPr/>
        </p:nvCxnSpPr>
        <p:spPr>
          <a:xfrm>
            <a:off x="2720752" y="2025469"/>
            <a:ext cx="0" cy="13356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E383FC1-FE85-4DAB-B980-059EE0D909EF}"/>
              </a:ext>
            </a:extLst>
          </p:cNvPr>
          <p:cNvSpPr txBox="1"/>
          <p:nvPr/>
        </p:nvSpPr>
        <p:spPr>
          <a:xfrm>
            <a:off x="593687" y="1836008"/>
            <a:ext cx="614897" cy="200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7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1C94B1DC-413E-4253-9F1B-5D37E943B82A}"/>
              </a:ext>
            </a:extLst>
          </p:cNvPr>
          <p:cNvCxnSpPr>
            <a:cxnSpLocks/>
          </p:cNvCxnSpPr>
          <p:nvPr/>
        </p:nvCxnSpPr>
        <p:spPr>
          <a:xfrm>
            <a:off x="1496616" y="2021639"/>
            <a:ext cx="0" cy="133535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72067C2-6D4A-4018-95F0-369D495BEDEF}"/>
              </a:ext>
            </a:extLst>
          </p:cNvPr>
          <p:cNvSpPr txBox="1"/>
          <p:nvPr/>
        </p:nvSpPr>
        <p:spPr>
          <a:xfrm>
            <a:off x="7149244" y="3429000"/>
            <a:ext cx="972108" cy="2154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추가하기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7BC9E13-93AC-441B-A0FB-FE6ADED1A1E3}"/>
              </a:ext>
            </a:extLst>
          </p:cNvPr>
          <p:cNvSpPr/>
          <p:nvPr/>
        </p:nvSpPr>
        <p:spPr>
          <a:xfrm>
            <a:off x="3650506" y="2045322"/>
            <a:ext cx="288032" cy="28800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EC51708-934F-4DB2-8365-9D59CB4BE3EF}"/>
              </a:ext>
            </a:extLst>
          </p:cNvPr>
          <p:cNvSpPr/>
          <p:nvPr/>
        </p:nvSpPr>
        <p:spPr>
          <a:xfrm>
            <a:off x="3656856" y="2368206"/>
            <a:ext cx="288032" cy="28800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8FF7EF4-6E99-4645-8839-3EA44F19C55F}"/>
              </a:ext>
            </a:extLst>
          </p:cNvPr>
          <p:cNvSpPr/>
          <p:nvPr/>
        </p:nvSpPr>
        <p:spPr>
          <a:xfrm>
            <a:off x="3650506" y="2705790"/>
            <a:ext cx="288032" cy="28800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2056" name="Picture 8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BE0D4D5A-ABDD-4688-9968-8AF6B6BA2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727" y="2045362"/>
            <a:ext cx="269804" cy="26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8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51412CC5-A10E-42CB-964A-69876C495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727" y="2372636"/>
            <a:ext cx="269804" cy="26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8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A63E7002-8352-47DD-B5F7-071C63F5A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727" y="2714448"/>
            <a:ext cx="269804" cy="26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7" name="그룹 66">
            <a:extLst>
              <a:ext uri="{FF2B5EF4-FFF2-40B4-BE49-F238E27FC236}">
                <a16:creationId xmlns:a16="http://schemas.microsoft.com/office/drawing/2014/main" id="{6E2737C2-DC00-4E69-85EC-A32C38E71325}"/>
              </a:ext>
            </a:extLst>
          </p:cNvPr>
          <p:cNvGrpSpPr/>
          <p:nvPr/>
        </p:nvGrpSpPr>
        <p:grpSpPr>
          <a:xfrm>
            <a:off x="7212121" y="2749860"/>
            <a:ext cx="648067" cy="457306"/>
            <a:chOff x="5986543" y="6211595"/>
            <a:chExt cx="1044000" cy="457306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DDD092FB-D2AD-414E-8F57-B96A407D65FB}"/>
                </a:ext>
              </a:extLst>
            </p:cNvPr>
            <p:cNvSpPr/>
            <p:nvPr/>
          </p:nvSpPr>
          <p:spPr>
            <a:xfrm>
              <a:off x="6052050" y="6211595"/>
              <a:ext cx="912986" cy="45730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D286AD7-FF48-4607-8F99-0586D283033D}"/>
                </a:ext>
              </a:extLst>
            </p:cNvPr>
            <p:cNvSpPr txBox="1"/>
            <p:nvPr/>
          </p:nvSpPr>
          <p:spPr>
            <a:xfrm>
              <a:off x="5986543" y="6226906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D9F289FC-ED7C-460C-900F-3DF1E50235ED}"/>
                </a:ext>
              </a:extLst>
            </p:cNvPr>
            <p:cNvCxnSpPr/>
            <p:nvPr/>
          </p:nvCxnSpPr>
          <p:spPr>
            <a:xfrm>
              <a:off x="6184543" y="6440859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CB4FF64-2278-4D16-B635-026147189773}"/>
                </a:ext>
              </a:extLst>
            </p:cNvPr>
            <p:cNvSpPr txBox="1"/>
            <p:nvPr/>
          </p:nvSpPr>
          <p:spPr>
            <a:xfrm>
              <a:off x="5986543" y="6438069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</a:p>
          </p:txBody>
        </p:sp>
      </p:grpSp>
      <p:sp>
        <p:nvSpPr>
          <p:cNvPr id="76" name="타원형 설명선 226">
            <a:extLst>
              <a:ext uri="{FF2B5EF4-FFF2-40B4-BE49-F238E27FC236}">
                <a16:creationId xmlns:a16="http://schemas.microsoft.com/office/drawing/2014/main" id="{4173E212-4B95-4F9E-80EB-802C09DC7394}"/>
              </a:ext>
            </a:extLst>
          </p:cNvPr>
          <p:cNvSpPr/>
          <p:nvPr/>
        </p:nvSpPr>
        <p:spPr>
          <a:xfrm>
            <a:off x="6804953" y="329568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타원형 설명선 243">
            <a:extLst>
              <a:ext uri="{FF2B5EF4-FFF2-40B4-BE49-F238E27FC236}">
                <a16:creationId xmlns:a16="http://schemas.microsoft.com/office/drawing/2014/main" id="{A22BF49E-2915-44C1-B533-2B277FA66797}"/>
              </a:ext>
            </a:extLst>
          </p:cNvPr>
          <p:cNvSpPr/>
          <p:nvPr/>
        </p:nvSpPr>
        <p:spPr>
          <a:xfrm>
            <a:off x="4156773" y="490579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타원형 설명선 244">
            <a:extLst>
              <a:ext uri="{FF2B5EF4-FFF2-40B4-BE49-F238E27FC236}">
                <a16:creationId xmlns:a16="http://schemas.microsoft.com/office/drawing/2014/main" id="{96459B74-89C9-4F29-99F3-9C7F4405341B}"/>
              </a:ext>
            </a:extLst>
          </p:cNvPr>
          <p:cNvSpPr/>
          <p:nvPr/>
        </p:nvSpPr>
        <p:spPr>
          <a:xfrm>
            <a:off x="2798486" y="4905796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타원형 설명선 225">
            <a:extLst>
              <a:ext uri="{FF2B5EF4-FFF2-40B4-BE49-F238E27FC236}">
                <a16:creationId xmlns:a16="http://schemas.microsoft.com/office/drawing/2014/main" id="{758FEDBF-E01D-4D76-AA2F-8CE28E20F1F0}"/>
              </a:ext>
            </a:extLst>
          </p:cNvPr>
          <p:cNvSpPr/>
          <p:nvPr/>
        </p:nvSpPr>
        <p:spPr>
          <a:xfrm>
            <a:off x="233659" y="1684155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16601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A9FCF855-5391-4BAF-BEC3-0614AD2EFDDA}"/>
              </a:ext>
            </a:extLst>
          </p:cNvPr>
          <p:cNvSpPr/>
          <p:nvPr/>
        </p:nvSpPr>
        <p:spPr>
          <a:xfrm>
            <a:off x="1712640" y="1052736"/>
            <a:ext cx="5208058" cy="403244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200000"/>
              </a:lnSpc>
            </a:pPr>
            <a:endParaRPr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04309" y="6645875"/>
            <a:ext cx="140029" cy="138499"/>
          </a:xfrm>
        </p:spPr>
        <p:txBody>
          <a:bodyPr/>
          <a:lstStyle/>
          <a:p>
            <a:pPr>
              <a:defRPr/>
            </a:pPr>
            <a:fld id="{9E41B634-5682-4388-99E7-FE44DCFD254B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58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군관리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 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관리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추가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6023595" y="44624"/>
            <a:ext cx="1233661" cy="196974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추가</a:t>
            </a:r>
          </a:p>
        </p:txBody>
      </p:sp>
      <p:graphicFrame>
        <p:nvGraphicFramePr>
          <p:cNvPr id="10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587914"/>
              </p:ext>
            </p:extLst>
          </p:nvPr>
        </p:nvGraphicFramePr>
        <p:xfrm>
          <a:off x="8469313" y="276225"/>
          <a:ext cx="1404000" cy="4354368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02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Description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1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사용자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ID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사용자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ID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입력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2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비밀번호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비밀번호 입력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862645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3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비밀번호 확인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비밀번호 재입력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4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그룹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사용자 소속 그룹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선택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사이트 그룹관리에서 추가된 그룹 중 선택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5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사용자 권한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1)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서비스 포털 내 사용자 권한 설정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2)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사용자 권한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포털 관리자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그룹 관리자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사이트 관리자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,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사이트 이용자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*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권한 관련 추가 검토 필요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605959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6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설명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사용자 추가 정보 입력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5890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7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확인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적용하고 팝업을 종료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29937"/>
                  </a:ext>
                </a:extLst>
              </a:tr>
              <a:tr h="1130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8</a:t>
                      </a:r>
                    </a:p>
                  </a:txBody>
                  <a:tcPr marL="18000" marR="18000" marT="36000" marB="36000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취소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  <a:sym typeface="Gill Sans"/>
                        </a:rPr>
                        <a:t>모든 변경사항을 적용하지 않고 팝업을 종료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  <a:sym typeface="Gill Sans"/>
                      </a:endParaRPr>
                    </a:p>
                  </a:txBody>
                  <a:tcPr marL="18000" marR="18000" marT="36000" marB="36000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158452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121707" y="21349"/>
            <a:ext cx="567597" cy="230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lang="en-US" altLang="ko-KR" sz="9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90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304" y="43659"/>
            <a:ext cx="7920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 pitchFamily="50" charset="-127"/>
                <a:ea typeface="맑은 고딕" pitchFamily="50" charset="-127"/>
              </a:rPr>
              <a:t>ewpsp_scr_040</a:t>
            </a:r>
            <a:endParaRPr lang="ko-KR" altLang="en-US" sz="70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30D1016A-13FB-4513-A8E9-706EE203BB52}"/>
              </a:ext>
            </a:extLst>
          </p:cNvPr>
          <p:cNvGrpSpPr/>
          <p:nvPr/>
        </p:nvGrpSpPr>
        <p:grpSpPr>
          <a:xfrm>
            <a:off x="3186625" y="4401716"/>
            <a:ext cx="2494046" cy="323428"/>
            <a:chOff x="3791228" y="5284908"/>
            <a:chExt cx="2630919" cy="360040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7726E8D3-148F-4164-832A-268A34EC9F35}"/>
                </a:ext>
              </a:extLst>
            </p:cNvPr>
            <p:cNvSpPr/>
            <p:nvPr/>
          </p:nvSpPr>
          <p:spPr>
            <a:xfrm>
              <a:off x="3791228" y="5284908"/>
              <a:ext cx="1224136" cy="360040"/>
            </a:xfrm>
            <a:prstGeom prst="rect">
              <a:avLst/>
            </a:prstGeom>
            <a:solidFill>
              <a:srgbClr val="0099FF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3D9A0764-2FF1-44DF-A947-222307667FC1}"/>
                </a:ext>
              </a:extLst>
            </p:cNvPr>
            <p:cNvSpPr/>
            <p:nvPr/>
          </p:nvSpPr>
          <p:spPr>
            <a:xfrm>
              <a:off x="5198011" y="5284908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51507A6-6DC2-4700-8A8B-608C9D16AA26}"/>
              </a:ext>
            </a:extLst>
          </p:cNvPr>
          <p:cNvSpPr/>
          <p:nvPr/>
        </p:nvSpPr>
        <p:spPr>
          <a:xfrm>
            <a:off x="1887584" y="1700808"/>
            <a:ext cx="1272225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비밀번호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EE22907-23EF-4DC4-A448-E6C8457692DF}"/>
              </a:ext>
            </a:extLst>
          </p:cNvPr>
          <p:cNvSpPr/>
          <p:nvPr/>
        </p:nvSpPr>
        <p:spPr>
          <a:xfrm>
            <a:off x="2936777" y="1700808"/>
            <a:ext cx="3810560" cy="32397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E9911D3-ABA6-41CD-9FB7-70E779FC86E1}"/>
              </a:ext>
            </a:extLst>
          </p:cNvPr>
          <p:cNvSpPr/>
          <p:nvPr/>
        </p:nvSpPr>
        <p:spPr>
          <a:xfrm>
            <a:off x="1887584" y="2107026"/>
            <a:ext cx="1331997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비밀번호 확인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F62D155-370B-419A-A2E2-419E0E082F3A}"/>
              </a:ext>
            </a:extLst>
          </p:cNvPr>
          <p:cNvSpPr/>
          <p:nvPr/>
        </p:nvSpPr>
        <p:spPr>
          <a:xfrm>
            <a:off x="2936777" y="2107026"/>
            <a:ext cx="3809566" cy="3227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E4278D7-28A4-4B2E-9690-AB9657D28A5C}"/>
              </a:ext>
            </a:extLst>
          </p:cNvPr>
          <p:cNvSpPr/>
          <p:nvPr/>
        </p:nvSpPr>
        <p:spPr>
          <a:xfrm>
            <a:off x="1892811" y="2523898"/>
            <a:ext cx="1331997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그룹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511C39C-3CAC-4013-97A0-60A8DF2F4296}"/>
              </a:ext>
            </a:extLst>
          </p:cNvPr>
          <p:cNvSpPr/>
          <p:nvPr/>
        </p:nvSpPr>
        <p:spPr>
          <a:xfrm>
            <a:off x="2936776" y="2523898"/>
            <a:ext cx="3480989" cy="32397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0B6EF87-EA6E-4F5C-B1B3-9DB4681DC8D1}"/>
              </a:ext>
            </a:extLst>
          </p:cNvPr>
          <p:cNvSpPr/>
          <p:nvPr/>
        </p:nvSpPr>
        <p:spPr>
          <a:xfrm>
            <a:off x="6417767" y="2522548"/>
            <a:ext cx="334796" cy="323974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50000"/>
              </a:lnSpc>
            </a:pP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2D92F3-254C-4F5F-98CD-CD819E569D5B}"/>
              </a:ext>
            </a:extLst>
          </p:cNvPr>
          <p:cNvSpPr txBox="1"/>
          <p:nvPr/>
        </p:nvSpPr>
        <p:spPr>
          <a:xfrm>
            <a:off x="6484366" y="2540024"/>
            <a:ext cx="2160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▽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CA39E0C-E3DF-45A7-BD5F-8CB06F477AA7}"/>
              </a:ext>
            </a:extLst>
          </p:cNvPr>
          <p:cNvSpPr/>
          <p:nvPr/>
        </p:nvSpPr>
        <p:spPr>
          <a:xfrm>
            <a:off x="1892811" y="1283446"/>
            <a:ext cx="1272225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사용자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0C94030-0B57-4E93-8E10-5F0B567B5730}"/>
              </a:ext>
            </a:extLst>
          </p:cNvPr>
          <p:cNvSpPr/>
          <p:nvPr/>
        </p:nvSpPr>
        <p:spPr>
          <a:xfrm>
            <a:off x="2936776" y="1283446"/>
            <a:ext cx="3804190" cy="32397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타원형 설명선 226">
            <a:extLst>
              <a:ext uri="{FF2B5EF4-FFF2-40B4-BE49-F238E27FC236}">
                <a16:creationId xmlns:a16="http://schemas.microsoft.com/office/drawing/2014/main" id="{34B59F5B-8DC5-4D74-B1E8-1BF50C26B402}"/>
              </a:ext>
            </a:extLst>
          </p:cNvPr>
          <p:cNvSpPr/>
          <p:nvPr/>
        </p:nvSpPr>
        <p:spPr>
          <a:xfrm>
            <a:off x="1704761" y="162072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타원형 설명선 243">
            <a:extLst>
              <a:ext uri="{FF2B5EF4-FFF2-40B4-BE49-F238E27FC236}">
                <a16:creationId xmlns:a16="http://schemas.microsoft.com/office/drawing/2014/main" id="{38184039-0DF7-4FF1-9A1B-F342A9F48197}"/>
              </a:ext>
            </a:extLst>
          </p:cNvPr>
          <p:cNvSpPr/>
          <p:nvPr/>
        </p:nvSpPr>
        <p:spPr>
          <a:xfrm>
            <a:off x="1704761" y="2420888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타원형 설명선 244">
            <a:extLst>
              <a:ext uri="{FF2B5EF4-FFF2-40B4-BE49-F238E27FC236}">
                <a16:creationId xmlns:a16="http://schemas.microsoft.com/office/drawing/2014/main" id="{235C11D5-30A1-4075-81FB-E3B0E2A17222}"/>
              </a:ext>
            </a:extLst>
          </p:cNvPr>
          <p:cNvSpPr/>
          <p:nvPr/>
        </p:nvSpPr>
        <p:spPr>
          <a:xfrm>
            <a:off x="1704761" y="1988840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타원형 설명선 225">
            <a:extLst>
              <a:ext uri="{FF2B5EF4-FFF2-40B4-BE49-F238E27FC236}">
                <a16:creationId xmlns:a16="http://schemas.microsoft.com/office/drawing/2014/main" id="{83E09703-1120-4626-A6DE-1385C07B2CB5}"/>
              </a:ext>
            </a:extLst>
          </p:cNvPr>
          <p:cNvSpPr/>
          <p:nvPr/>
        </p:nvSpPr>
        <p:spPr>
          <a:xfrm>
            <a:off x="1704761" y="1189001"/>
            <a:ext cx="216000" cy="216000"/>
          </a:xfrm>
          <a:prstGeom prst="wedgeEllipseCallout">
            <a:avLst>
              <a:gd name="adj1" fmla="val 87905"/>
              <a:gd name="adj2" fmla="val 356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타원형 설명선 243">
            <a:extLst>
              <a:ext uri="{FF2B5EF4-FFF2-40B4-BE49-F238E27FC236}">
                <a16:creationId xmlns:a16="http://schemas.microsoft.com/office/drawing/2014/main" id="{63F19BDD-2F51-4095-B68F-533E33F75C1E}"/>
              </a:ext>
            </a:extLst>
          </p:cNvPr>
          <p:cNvSpPr/>
          <p:nvPr/>
        </p:nvSpPr>
        <p:spPr>
          <a:xfrm>
            <a:off x="4258052" y="421107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타원형 설명선 243">
            <a:extLst>
              <a:ext uri="{FF2B5EF4-FFF2-40B4-BE49-F238E27FC236}">
                <a16:creationId xmlns:a16="http://schemas.microsoft.com/office/drawing/2014/main" id="{BCFDF6D4-918E-487F-B6B8-9C86D9818E87}"/>
              </a:ext>
            </a:extLst>
          </p:cNvPr>
          <p:cNvSpPr/>
          <p:nvPr/>
        </p:nvSpPr>
        <p:spPr>
          <a:xfrm>
            <a:off x="2942149" y="4211079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8652590-981F-4185-BA14-0E8C58869DE2}"/>
              </a:ext>
            </a:extLst>
          </p:cNvPr>
          <p:cNvSpPr/>
          <p:nvPr/>
        </p:nvSpPr>
        <p:spPr>
          <a:xfrm>
            <a:off x="1886590" y="2967211"/>
            <a:ext cx="1272225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권한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99A5725-00E3-4EA2-BD95-302D4D30DD16}"/>
              </a:ext>
            </a:extLst>
          </p:cNvPr>
          <p:cNvSpPr/>
          <p:nvPr/>
        </p:nvSpPr>
        <p:spPr>
          <a:xfrm>
            <a:off x="2935783" y="2967211"/>
            <a:ext cx="3475764" cy="32397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EFE9A9C-32FE-46D1-A0EB-5864252E40CC}"/>
              </a:ext>
            </a:extLst>
          </p:cNvPr>
          <p:cNvSpPr/>
          <p:nvPr/>
        </p:nvSpPr>
        <p:spPr>
          <a:xfrm>
            <a:off x="6411547" y="2972211"/>
            <a:ext cx="334796" cy="323974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50000"/>
              </a:lnSpc>
            </a:pP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C9686F-140A-4791-9DE3-D81F13D913E1}"/>
              </a:ext>
            </a:extLst>
          </p:cNvPr>
          <p:cNvSpPr txBox="1"/>
          <p:nvPr/>
        </p:nvSpPr>
        <p:spPr>
          <a:xfrm>
            <a:off x="6478146" y="2989687"/>
            <a:ext cx="2160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▽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EC698EB-3D6A-4572-8A9C-934AA63827E1}"/>
              </a:ext>
            </a:extLst>
          </p:cNvPr>
          <p:cNvSpPr/>
          <p:nvPr/>
        </p:nvSpPr>
        <p:spPr>
          <a:xfrm>
            <a:off x="1886590" y="3387122"/>
            <a:ext cx="1272225" cy="32397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설명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935AC88-7E30-4037-AAF6-4924D3C11452}"/>
              </a:ext>
            </a:extLst>
          </p:cNvPr>
          <p:cNvSpPr/>
          <p:nvPr/>
        </p:nvSpPr>
        <p:spPr>
          <a:xfrm>
            <a:off x="2935783" y="3387122"/>
            <a:ext cx="3811554" cy="76195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타원형 설명선 243">
            <a:extLst>
              <a:ext uri="{FF2B5EF4-FFF2-40B4-BE49-F238E27FC236}">
                <a16:creationId xmlns:a16="http://schemas.microsoft.com/office/drawing/2014/main" id="{08CC2643-3552-4C08-A9E6-149BA9DE724B}"/>
              </a:ext>
            </a:extLst>
          </p:cNvPr>
          <p:cNvSpPr/>
          <p:nvPr/>
        </p:nvSpPr>
        <p:spPr>
          <a:xfrm>
            <a:off x="1704761" y="2899213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타원형 설명선 243">
            <a:extLst>
              <a:ext uri="{FF2B5EF4-FFF2-40B4-BE49-F238E27FC236}">
                <a16:creationId xmlns:a16="http://schemas.microsoft.com/office/drawing/2014/main" id="{07677392-B131-49B5-A6FB-57570E3EF7E7}"/>
              </a:ext>
            </a:extLst>
          </p:cNvPr>
          <p:cNvSpPr/>
          <p:nvPr/>
        </p:nvSpPr>
        <p:spPr>
          <a:xfrm>
            <a:off x="1704761" y="3302524"/>
            <a:ext cx="216000" cy="216000"/>
          </a:xfrm>
          <a:prstGeom prst="wedgeEllipseCallout">
            <a:avLst>
              <a:gd name="adj1" fmla="val 83253"/>
              <a:gd name="adj2" fmla="val 495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29853F6-C7F0-4A0A-BCE5-057AF1F2C06F}"/>
              </a:ext>
            </a:extLst>
          </p:cNvPr>
          <p:cNvSpPr txBox="1"/>
          <p:nvPr/>
        </p:nvSpPr>
        <p:spPr>
          <a:xfrm>
            <a:off x="378210" y="407514"/>
            <a:ext cx="2414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사용차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추가 팝업</a:t>
            </a:r>
          </a:p>
        </p:txBody>
      </p:sp>
    </p:spTree>
    <p:extLst>
      <p:ext uri="{BB962C8B-B14F-4D97-AF65-F5344CB8AC3E}">
        <p14:creationId xmlns:p14="http://schemas.microsoft.com/office/powerpoint/2010/main" val="1909768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필수">
  <a:themeElements>
    <a:clrScheme name="필수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필수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필수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12013</TotalTime>
  <Words>15815</Words>
  <Application>Microsoft Office PowerPoint</Application>
  <PresentationFormat>A4 용지(210x297mm)</PresentationFormat>
  <Paragraphs>5154</Paragraphs>
  <Slides>58</Slides>
  <Notes>58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8" baseType="lpstr">
      <vt:lpstr>Gill Sans</vt:lpstr>
      <vt:lpstr>HY견고딕</vt:lpstr>
      <vt:lpstr>굴림</vt:lpstr>
      <vt:lpstr>돋움</vt:lpstr>
      <vt:lpstr>맑은 고딕</vt:lpstr>
      <vt:lpstr>Arial</vt:lpstr>
      <vt:lpstr>Arial Black</vt:lpstr>
      <vt:lpstr>Times New Roman</vt:lpstr>
      <vt:lpstr>Wingdings</vt:lpstr>
      <vt:lpstr>필수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inlab17</dc:creator>
  <cp:lastModifiedBy>Kim Lein</cp:lastModifiedBy>
  <cp:revision>679</cp:revision>
  <cp:lastPrinted>2013-09-25T02:48:14Z</cp:lastPrinted>
  <dcterms:created xsi:type="dcterms:W3CDTF">2013-09-25T02:46:15Z</dcterms:created>
  <dcterms:modified xsi:type="dcterms:W3CDTF">2018-08-23T09:04:03Z</dcterms:modified>
</cp:coreProperties>
</file>
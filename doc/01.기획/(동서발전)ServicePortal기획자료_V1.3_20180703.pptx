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2"/>
    <p:sldId id="459" r:id="rId3"/>
    <p:sldId id="469" r:id="rId4"/>
    <p:sldId id="460" r:id="rId5"/>
    <p:sldId id="471" r:id="rId6"/>
    <p:sldId id="470" r:id="rId7"/>
    <p:sldId id="472" r:id="rId8"/>
    <p:sldId id="452" r:id="rId9"/>
    <p:sldId id="473" r:id="rId10"/>
    <p:sldId id="450" r:id="rId11"/>
    <p:sldId id="456" r:id="rId12"/>
    <p:sldId id="451" r:id="rId13"/>
    <p:sldId id="464" r:id="rId14"/>
    <p:sldId id="463" r:id="rId15"/>
    <p:sldId id="465" r:id="rId16"/>
    <p:sldId id="457" r:id="rId17"/>
    <p:sldId id="475" r:id="rId18"/>
    <p:sldId id="455" r:id="rId19"/>
    <p:sldId id="461" r:id="rId20"/>
    <p:sldId id="462" r:id="rId21"/>
    <p:sldId id="476" r:id="rId22"/>
    <p:sldId id="477" r:id="rId23"/>
    <p:sldId id="453" r:id="rId24"/>
    <p:sldId id="454" r:id="rId25"/>
    <p:sldId id="466" r:id="rId26"/>
    <p:sldId id="467" r:id="rId27"/>
    <p:sldId id="434" r:id="rId28"/>
    <p:sldId id="343" r:id="rId29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54"/>
    <a:srgbClr val="B266F0"/>
    <a:srgbClr val="BA63EF"/>
    <a:srgbClr val="242541"/>
    <a:srgbClr val="333359"/>
    <a:srgbClr val="2F2F52"/>
    <a:srgbClr val="2A2A4A"/>
    <a:srgbClr val="4A4A6E"/>
    <a:srgbClr val="464766"/>
    <a:srgbClr val="424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87" autoAdjust="0"/>
    <p:restoredTop sz="90924" autoAdjust="0"/>
  </p:normalViewPr>
  <p:slideViewPr>
    <p:cSldViewPr>
      <p:cViewPr varScale="1">
        <p:scale>
          <a:sx n="141" d="100"/>
          <a:sy n="141" d="100"/>
        </p:scale>
        <p:origin x="120" y="6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588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2D26B3C9-9A17-46C0-9B1D-406C344E724A}" type="datetimeFigureOut">
              <a:rPr lang="ko-KR" altLang="en-US" smtClean="0"/>
              <a:t>2018-07-03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E8427E8-CDF4-48B0-B63E-B48A0364E1C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638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A2CD87C2-35A0-4795-A3A0-55DB84929E8E}" type="datetimeFigureOut">
              <a:rPr lang="ko-KR" altLang="en-US" smtClean="0"/>
              <a:t>2018-07-03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2" tIns="45660" rIns="91322" bIns="4566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322" tIns="45660" rIns="91322" bIns="4566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22FA440-8160-4005-8BD9-DCE672FDC07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758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148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552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812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544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201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23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999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7003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071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263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448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91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251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488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96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3933056"/>
            <a:ext cx="9144000" cy="2924943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54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45213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2000" dirty="0">
              <a:solidFill>
                <a:srgbClr val="257CBB"/>
              </a:solidFill>
              <a:latin typeface="+mn-ea"/>
            </a:endParaRPr>
          </a:p>
          <a:p>
            <a:pPr algn="ctr"/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 </a:t>
            </a:r>
            <a:r>
              <a:rPr lang="ko-KR" altLang="en-US" sz="2000" dirty="0">
                <a:solidFill>
                  <a:srgbClr val="257CBB"/>
                </a:solidFill>
                <a:latin typeface="+mn-ea"/>
              </a:rPr>
              <a:t>감사합니다 </a:t>
            </a:r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</a:t>
            </a:r>
            <a:endParaRPr lang="ko-KR" altLang="en-US" sz="2000" dirty="0">
              <a:solidFill>
                <a:srgbClr val="257CBB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1649D6-9D65-4BCC-A31F-106C80607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429" y="3150304"/>
            <a:ext cx="1714500" cy="1714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207362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257CBB"/>
                </a:solidFill>
                <a:latin typeface="+mn-ea"/>
              </a:rPr>
              <a:t>Q &amp; A</a:t>
            </a:r>
            <a:endParaRPr lang="ko-KR" altLang="en-US" sz="5400" b="1" dirty="0">
              <a:solidFill>
                <a:srgbClr val="257CBB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78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4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170080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90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05" y="6579035"/>
            <a:ext cx="1656184" cy="22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8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35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08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D6BE4A-4DE6-452D-B5AD-4C317B342E84}"/>
              </a:ext>
            </a:extLst>
          </p:cNvPr>
          <p:cNvSpPr/>
          <p:nvPr userDrawn="1"/>
        </p:nvSpPr>
        <p:spPr>
          <a:xfrm>
            <a:off x="0" y="1700808"/>
            <a:ext cx="9144000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77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385192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9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6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99992" y="0"/>
            <a:ext cx="4644008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74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404664"/>
            <a:ext cx="9144000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9144000" cy="404664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7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59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1AF20-7F75-4E08-A0D2-FB887DF31B1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0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49" r:id="rId3"/>
    <p:sldLayoutId id="2147483650" r:id="rId4"/>
    <p:sldLayoutId id="2147483657" r:id="rId5"/>
    <p:sldLayoutId id="2147483654" r:id="rId6"/>
    <p:sldLayoutId id="2147483652" r:id="rId7"/>
    <p:sldLayoutId id="2147483659" r:id="rId8"/>
    <p:sldLayoutId id="2147483653" r:id="rId9"/>
    <p:sldLayoutId id="2147483655" r:id="rId10"/>
    <p:sldLayoutId id="214748365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9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9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79715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2018. </a:t>
            </a:r>
            <a:r>
              <a:rPr lang="en-US" altLang="ko-KR" sz="2000" b="1">
                <a:solidFill>
                  <a:schemeClr val="bg1"/>
                </a:solidFill>
                <a:latin typeface="+mn-ea"/>
              </a:rPr>
              <a:t>07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9099AD-FC6A-4E78-A90F-E9E3AEFCD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72836"/>
            <a:ext cx="1299721" cy="28814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404664"/>
            <a:ext cx="2409825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2299896"/>
            <a:ext cx="9144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2"/>
                </a:solidFill>
                <a:latin typeface="+mn-ea"/>
              </a:rPr>
              <a:t>EWP Services Portal</a:t>
            </a:r>
          </a:p>
          <a:p>
            <a:pPr algn="ctr"/>
            <a:r>
              <a:rPr lang="ko-KR" altLang="en-US" sz="4000" b="1" dirty="0" err="1">
                <a:solidFill>
                  <a:schemeClr val="tx2"/>
                </a:solidFill>
                <a:latin typeface="+mn-ea"/>
              </a:rPr>
              <a:t>기획案</a:t>
            </a:r>
            <a:r>
              <a:rPr lang="ko-KR" altLang="en-US" sz="4000" b="1" dirty="0">
                <a:solidFill>
                  <a:schemeClr val="tx2"/>
                </a:solidFill>
                <a:latin typeface="+mn-ea"/>
              </a:rPr>
              <a:t> </a:t>
            </a:r>
            <a:endParaRPr lang="ko-KR" altLang="en-US" sz="3200" b="1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143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4926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0. Service Portal Menu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구성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3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주요 메뉴 구조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0529" y="4060209"/>
            <a:ext cx="1008511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Start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21086" y="4060209"/>
            <a:ext cx="141711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대시보드</a:t>
            </a:r>
            <a:endParaRPr lang="ko-KR" altLang="en-US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87221" y="4060209"/>
            <a:ext cx="161302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에너지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975739" y="4060209"/>
            <a:ext cx="1430384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452320" y="4060209"/>
            <a:ext cx="1221082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80529" y="2348880"/>
            <a:ext cx="1008511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 이용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소개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/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FAQ</a:t>
            </a: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780871" y="1628800"/>
            <a:ext cx="1690283" cy="1854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에너지 모니터링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누적 사용량 비교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사용량 관리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예측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5) ESS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충방전량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6) PV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발전량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7) DR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수요반응 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구성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341118" y="4974030"/>
            <a:ext cx="1690283" cy="1335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설비 모니터링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Meter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PCS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BMS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cxnSp>
        <p:nvCxnSpPr>
          <p:cNvPr id="41" name="직선 화살표 연결선 40"/>
          <p:cNvCxnSpPr>
            <a:stCxn id="2" idx="0"/>
            <a:endCxn id="3" idx="2"/>
          </p:cNvCxnSpPr>
          <p:nvPr/>
        </p:nvCxnSpPr>
        <p:spPr>
          <a:xfrm flipV="1">
            <a:off x="784785" y="3501008"/>
            <a:ext cx="0" cy="559201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5971751" y="1628800"/>
            <a:ext cx="1413412" cy="1872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en-US" altLang="ko-KR" sz="1050" b="1" u="sng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iSmart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수익분석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ESS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DR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34" name="꺾인 연결선 1033"/>
          <p:cNvCxnSpPr>
            <a:stCxn id="14" idx="2"/>
            <a:endCxn id="78" idx="0"/>
          </p:cNvCxnSpPr>
          <p:nvPr/>
        </p:nvCxnSpPr>
        <p:spPr>
          <a:xfrm rot="5400000">
            <a:off x="7825126" y="4729944"/>
            <a:ext cx="475471" cy="12700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7452320" y="4967680"/>
            <a:ext cx="1221082" cy="756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설정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꺾인 연결선 23"/>
          <p:cNvCxnSpPr>
            <a:stCxn id="11" idx="0"/>
            <a:endCxn id="25" idx="2"/>
          </p:cNvCxnSpPr>
          <p:nvPr/>
        </p:nvCxnSpPr>
        <p:spPr>
          <a:xfrm rot="5400000" flipH="1" flipV="1">
            <a:off x="3321294" y="3755491"/>
            <a:ext cx="577160" cy="322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858840" y="3791101"/>
            <a:ext cx="15622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Energy Monitoring</a:t>
            </a:r>
            <a:endParaRPr lang="ko-KR" altLang="en-US" sz="1200" dirty="0"/>
          </a:p>
        </p:txBody>
      </p:sp>
      <p:sp>
        <p:nvSpPr>
          <p:cNvPr id="32" name="직사각형 31"/>
          <p:cNvSpPr/>
          <p:nvPr/>
        </p:nvSpPr>
        <p:spPr>
          <a:xfrm>
            <a:off x="7806571" y="3791101"/>
            <a:ext cx="604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Setup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1399100" y="4967681"/>
            <a:ext cx="1265313" cy="863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Main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관제화면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군관리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꺾인 연결선 37"/>
          <p:cNvCxnSpPr>
            <a:stCxn id="58" idx="2"/>
            <a:endCxn id="33" idx="0"/>
          </p:cNvCxnSpPr>
          <p:nvPr/>
        </p:nvCxnSpPr>
        <p:spPr>
          <a:xfrm rot="5400000">
            <a:off x="4946218" y="4732252"/>
            <a:ext cx="481821" cy="1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3" idx="0"/>
            <a:endCxn id="61" idx="2"/>
          </p:cNvCxnSpPr>
          <p:nvPr/>
        </p:nvCxnSpPr>
        <p:spPr>
          <a:xfrm rot="16200000" flipV="1">
            <a:off x="6405094" y="3774372"/>
            <a:ext cx="559201" cy="1247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446447" y="4060209"/>
            <a:ext cx="1483095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장치 모니터링</a:t>
            </a:r>
          </a:p>
        </p:txBody>
      </p:sp>
      <p:cxnSp>
        <p:nvCxnSpPr>
          <p:cNvPr id="93" name="꺾인 연결선 92"/>
          <p:cNvCxnSpPr>
            <a:stCxn id="9" idx="2"/>
            <a:endCxn id="34" idx="0"/>
          </p:cNvCxnSpPr>
          <p:nvPr/>
        </p:nvCxnSpPr>
        <p:spPr>
          <a:xfrm rot="16200000" flipH="1">
            <a:off x="1792965" y="4728889"/>
            <a:ext cx="475472" cy="211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1542765" y="3792338"/>
            <a:ext cx="9755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Dashboard</a:t>
            </a:r>
            <a:endParaRPr lang="ko-KR" altLang="en-US" sz="1200" dirty="0"/>
          </a:p>
        </p:txBody>
      </p:sp>
      <p:sp>
        <p:nvSpPr>
          <p:cNvPr id="118" name="직사각형 117"/>
          <p:cNvSpPr/>
          <p:nvPr/>
        </p:nvSpPr>
        <p:spPr>
          <a:xfrm>
            <a:off x="6001025" y="3791101"/>
            <a:ext cx="1324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Billing/Revenue</a:t>
            </a:r>
            <a:endParaRPr lang="ko-KR" altLang="en-US" sz="1200" dirty="0"/>
          </a:p>
        </p:txBody>
      </p:sp>
      <p:sp>
        <p:nvSpPr>
          <p:cNvPr id="35" name="직사각형 34"/>
          <p:cNvSpPr/>
          <p:nvPr/>
        </p:nvSpPr>
        <p:spPr>
          <a:xfrm>
            <a:off x="4716016" y="3781680"/>
            <a:ext cx="974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Equipment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4159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3DBBDF-6FD2-48CF-ADFF-696F8591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6" y="883898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C02C7-0A85-47A8-B096-742AA4003440}"/>
              </a:ext>
            </a:extLst>
          </p:cNvPr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7791-8265-4445-AB87-7443FFF53752}"/>
              </a:ext>
            </a:extLst>
          </p:cNvPr>
          <p:cNvSpPr txBox="1"/>
          <p:nvPr/>
        </p:nvSpPr>
        <p:spPr>
          <a:xfrm>
            <a:off x="4591499" y="360598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군관리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AE8D1E-3860-4535-80C9-DB5C02ED6459}"/>
              </a:ext>
            </a:extLst>
          </p:cNvPr>
          <p:cNvSpPr/>
          <p:nvPr/>
        </p:nvSpPr>
        <p:spPr>
          <a:xfrm>
            <a:off x="225512" y="5805264"/>
            <a:ext cx="8712968" cy="75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1일(오늘)(기본), 1주(7일), 1개월(30일), 기간설정으로 조회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사이트 명, 사용량,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발전량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     - 기간설정 버튼 클릭하면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캘린터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UI에서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시작, 종료 날짜 선택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지역별 선택하면 해당 지역 정보로 이동 (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drop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down에서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선택)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08BC2F-C037-44D5-8528-2FD0783A407E}"/>
              </a:ext>
            </a:extLst>
          </p:cNvPr>
          <p:cNvGrpSpPr/>
          <p:nvPr/>
        </p:nvGrpSpPr>
        <p:grpSpPr>
          <a:xfrm>
            <a:off x="5279734" y="1916832"/>
            <a:ext cx="479135" cy="2799246"/>
            <a:chOff x="5279734" y="1916832"/>
            <a:chExt cx="479135" cy="279924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E20D5A-B2E6-4014-89E6-83C726015C44}"/>
                </a:ext>
              </a:extLst>
            </p:cNvPr>
            <p:cNvSpPr/>
            <p:nvPr/>
          </p:nvSpPr>
          <p:spPr>
            <a:xfrm>
              <a:off x="5292080" y="1916832"/>
              <a:ext cx="412550" cy="225091"/>
            </a:xfrm>
            <a:prstGeom prst="rect">
              <a:avLst/>
            </a:prstGeom>
            <a:solidFill>
              <a:srgbClr val="2425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8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DFDA029D-F2E2-47A8-B8D7-6337DAE30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734" y="19168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09C491-DC4F-4447-A64B-5A46F6DE1498}"/>
                </a:ext>
              </a:extLst>
            </p:cNvPr>
            <p:cNvSpPr txBox="1"/>
            <p:nvPr/>
          </p:nvSpPr>
          <p:spPr>
            <a:xfrm>
              <a:off x="5398829" y="19168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69E99C-05D6-42F9-A111-A5A61E71DC0D}"/>
                </a:ext>
              </a:extLst>
            </p:cNvPr>
            <p:cNvSpPr/>
            <p:nvPr/>
          </p:nvSpPr>
          <p:spPr>
            <a:xfrm>
              <a:off x="5390120" y="3737357"/>
              <a:ext cx="279418" cy="216024"/>
            </a:xfrm>
            <a:prstGeom prst="rect">
              <a:avLst/>
            </a:prstGeom>
            <a:solidFill>
              <a:srgbClr val="4647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2C767B-BBF5-42AD-B3A8-B89DA65997F6}"/>
                </a:ext>
              </a:extLst>
            </p:cNvPr>
            <p:cNvSpPr/>
            <p:nvPr/>
          </p:nvSpPr>
          <p:spPr>
            <a:xfrm>
              <a:off x="5376064" y="2290343"/>
              <a:ext cx="279418" cy="216024"/>
            </a:xfrm>
            <a:prstGeom prst="rect">
              <a:avLst/>
            </a:prstGeom>
            <a:solidFill>
              <a:srgbClr val="3D3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5F557E-FDC8-4EF2-92CE-6D31EEA94A83}"/>
                </a:ext>
              </a:extLst>
            </p:cNvPr>
            <p:cNvSpPr/>
            <p:nvPr/>
          </p:nvSpPr>
          <p:spPr>
            <a:xfrm>
              <a:off x="5416247" y="3026420"/>
              <a:ext cx="279418" cy="216024"/>
            </a:xfrm>
            <a:prstGeom prst="rect">
              <a:avLst/>
            </a:prstGeom>
            <a:solidFill>
              <a:srgbClr val="4241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A5491A6-AABE-4C58-8A97-ADC8CA4FA7D4}"/>
                </a:ext>
              </a:extLst>
            </p:cNvPr>
            <p:cNvSpPr/>
            <p:nvPr/>
          </p:nvSpPr>
          <p:spPr>
            <a:xfrm>
              <a:off x="5416247" y="4500054"/>
              <a:ext cx="279418" cy="216024"/>
            </a:xfrm>
            <a:prstGeom prst="rect">
              <a:avLst/>
            </a:prstGeom>
            <a:solidFill>
              <a:srgbClr val="4A4A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00FBD3A-675B-467B-9A2D-6FF5C471EC20}"/>
                </a:ext>
              </a:extLst>
            </p:cNvPr>
            <p:cNvSpPr/>
            <p:nvPr/>
          </p:nvSpPr>
          <p:spPr>
            <a:xfrm>
              <a:off x="5416247" y="2651365"/>
              <a:ext cx="279418" cy="216024"/>
            </a:xfrm>
            <a:prstGeom prst="rect">
              <a:avLst/>
            </a:prstGeom>
            <a:solidFill>
              <a:srgbClr val="2A2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296644A-1936-45E2-84FE-BD623F9EFCAB}"/>
                </a:ext>
              </a:extLst>
            </p:cNvPr>
            <p:cNvSpPr/>
            <p:nvPr/>
          </p:nvSpPr>
          <p:spPr>
            <a:xfrm>
              <a:off x="5442630" y="3351726"/>
              <a:ext cx="279418" cy="216024"/>
            </a:xfrm>
            <a:prstGeom prst="rect">
              <a:avLst/>
            </a:prstGeom>
            <a:solidFill>
              <a:srgbClr val="2F2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21C7FAC-5B34-4110-8838-96DC8193A1FA}"/>
                </a:ext>
              </a:extLst>
            </p:cNvPr>
            <p:cNvSpPr/>
            <p:nvPr/>
          </p:nvSpPr>
          <p:spPr>
            <a:xfrm>
              <a:off x="5442630" y="4121070"/>
              <a:ext cx="279418" cy="216024"/>
            </a:xfrm>
            <a:prstGeom prst="rect">
              <a:avLst/>
            </a:prstGeom>
            <a:solidFill>
              <a:srgbClr val="3333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FD09AC-0064-4C59-AEF0-F308DE437E57}"/>
                </a:ext>
              </a:extLst>
            </p:cNvPr>
            <p:cNvSpPr txBox="1"/>
            <p:nvPr/>
          </p:nvSpPr>
          <p:spPr>
            <a:xfrm>
              <a:off x="5296706" y="3022345"/>
              <a:ext cx="4024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</a:rPr>
                <a:t>200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552298-956A-4ED0-897E-E6DCDDD10F6F}"/>
                </a:ext>
              </a:extLst>
            </p:cNvPr>
            <p:cNvSpPr txBox="1"/>
            <p:nvPr/>
          </p:nvSpPr>
          <p:spPr>
            <a:xfrm>
              <a:off x="5296706" y="2287366"/>
              <a:ext cx="4024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</a:rPr>
                <a:t>200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6D9DCA-DDF0-448E-A7A1-320BDD4334A1}"/>
                </a:ext>
              </a:extLst>
            </p:cNvPr>
            <p:cNvSpPr txBox="1"/>
            <p:nvPr/>
          </p:nvSpPr>
          <p:spPr>
            <a:xfrm>
              <a:off x="5296706" y="3753839"/>
              <a:ext cx="4024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</a:rPr>
                <a:t>200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15CA8A-2E03-448D-B30B-E747FF038C21}"/>
                </a:ext>
              </a:extLst>
            </p:cNvPr>
            <p:cNvSpPr txBox="1"/>
            <p:nvPr/>
          </p:nvSpPr>
          <p:spPr>
            <a:xfrm>
              <a:off x="5296706" y="4486452"/>
              <a:ext cx="4024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</a:rPr>
                <a:t>200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F148C7-C0F0-4E33-B32D-4D5B05C11D45}"/>
                </a:ext>
              </a:extLst>
            </p:cNvPr>
            <p:cNvSpPr txBox="1"/>
            <p:nvPr/>
          </p:nvSpPr>
          <p:spPr>
            <a:xfrm>
              <a:off x="5296706" y="2655992"/>
              <a:ext cx="4024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</a:rPr>
                <a:t>200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CCBEBE-DB01-4826-89C2-EB0440498D72}"/>
                </a:ext>
              </a:extLst>
            </p:cNvPr>
            <p:cNvSpPr txBox="1"/>
            <p:nvPr/>
          </p:nvSpPr>
          <p:spPr>
            <a:xfrm>
              <a:off x="5296706" y="3388187"/>
              <a:ext cx="4024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</a:rPr>
                <a:t>200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1A567D-4C63-4769-B503-4B96DFE1752A}"/>
                </a:ext>
              </a:extLst>
            </p:cNvPr>
            <p:cNvSpPr txBox="1"/>
            <p:nvPr/>
          </p:nvSpPr>
          <p:spPr>
            <a:xfrm>
              <a:off x="5296706" y="4118492"/>
              <a:ext cx="4024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</a:rPr>
                <a:t>200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C90550E-2021-4C6D-B066-18F457DC6CB3}"/>
              </a:ext>
            </a:extLst>
          </p:cNvPr>
          <p:cNvGrpSpPr/>
          <p:nvPr/>
        </p:nvGrpSpPr>
        <p:grpSpPr>
          <a:xfrm>
            <a:off x="8316416" y="1400132"/>
            <a:ext cx="479135" cy="228668"/>
            <a:chOff x="8316416" y="1400132"/>
            <a:chExt cx="479135" cy="22866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F94256-F21A-4324-96E3-733F7F1B8C3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82F637F-6C93-42D1-AEFB-31611FF403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6887E4-4D84-4CDF-8D62-ADFB60AE2924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</p:grpSp>
      <p:pic>
        <p:nvPicPr>
          <p:cNvPr id="38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F40ED9ED-01A8-404C-BCB7-2464C590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011859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3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35" y="1124744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5A18DA-DBE2-4FDA-AD7E-5162F43FF9C5}"/>
              </a:ext>
            </a:extLst>
          </p:cNvPr>
          <p:cNvGrpSpPr/>
          <p:nvPr/>
        </p:nvGrpSpPr>
        <p:grpSpPr>
          <a:xfrm>
            <a:off x="4683126" y="1899414"/>
            <a:ext cx="504056" cy="323212"/>
            <a:chOff x="4211960" y="171222"/>
            <a:chExt cx="504056" cy="32321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E74E72-B174-46D5-AE8E-CB2A842B2297}"/>
                </a:ext>
              </a:extLst>
            </p:cNvPr>
            <p:cNvSpPr/>
            <p:nvPr/>
          </p:nvSpPr>
          <p:spPr>
            <a:xfrm>
              <a:off x="4211960" y="196523"/>
              <a:ext cx="504056" cy="29457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C13D16B-2D56-4DF1-B0A3-6470764DD59C}"/>
                </a:ext>
              </a:extLst>
            </p:cNvPr>
            <p:cNvCxnSpPr/>
            <p:nvPr/>
          </p:nvCxnSpPr>
          <p:spPr>
            <a:xfrm>
              <a:off x="4283968" y="343812"/>
              <a:ext cx="36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4FEA4F8-0951-4465-AD97-CFD155E70187}"/>
                </a:ext>
              </a:extLst>
            </p:cNvPr>
            <p:cNvGrpSpPr/>
            <p:nvPr/>
          </p:nvGrpSpPr>
          <p:grpSpPr>
            <a:xfrm>
              <a:off x="4211960" y="171222"/>
              <a:ext cx="504056" cy="323212"/>
              <a:chOff x="3635856" y="225205"/>
              <a:chExt cx="504056" cy="32321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E42E2B-7164-4573-9BA4-6F85EE7E2DC3}"/>
                  </a:ext>
                </a:extLst>
              </p:cNvPr>
              <p:cNvSpPr txBox="1"/>
              <p:nvPr/>
            </p:nvSpPr>
            <p:spPr>
              <a:xfrm>
                <a:off x="3635856" y="225205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지역별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19462-9D7C-4189-955A-3F90E917C1BB}"/>
                  </a:ext>
                </a:extLst>
              </p:cNvPr>
              <p:cNvSpPr txBox="1"/>
              <p:nvPr/>
            </p:nvSpPr>
            <p:spPr>
              <a:xfrm>
                <a:off x="3635856" y="363751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그룹별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551315" y="3861048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38B161-CF3A-41CE-AC37-D46FB430F4DA}"/>
              </a:ext>
            </a:extLst>
          </p:cNvPr>
          <p:cNvGrpSpPr/>
          <p:nvPr/>
        </p:nvGrpSpPr>
        <p:grpSpPr>
          <a:xfrm>
            <a:off x="8388424" y="1640390"/>
            <a:ext cx="479135" cy="228668"/>
            <a:chOff x="8316416" y="1400132"/>
            <a:chExt cx="479135" cy="22866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8E172E-0073-41B3-88B7-E2E066414C2C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D8A40A7-3CCC-4652-88CA-2067D27F8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143CC-FB8A-45C6-A97B-009C73308F7D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</p:grpSp>
      <p:pic>
        <p:nvPicPr>
          <p:cNvPr id="2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A4064AC-4834-40BA-941C-42599C83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784" y="1252327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2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35" y="1124744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551315" y="3861048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B1151-E136-43B2-A520-5E67A7F5AA83}"/>
              </a:ext>
            </a:extLst>
          </p:cNvPr>
          <p:cNvSpPr txBox="1"/>
          <p:nvPr/>
        </p:nvSpPr>
        <p:spPr>
          <a:xfrm>
            <a:off x="4744479" y="1772816"/>
            <a:ext cx="216024" cy="126000"/>
          </a:xfrm>
          <a:prstGeom prst="rect">
            <a:avLst/>
          </a:prstGeom>
          <a:solidFill>
            <a:srgbClr val="242541"/>
          </a:solidFill>
        </p:spPr>
        <p:txBody>
          <a:bodyPr wrap="square" rtlCol="0">
            <a:spAutoFit/>
          </a:bodyPr>
          <a:lstStyle/>
          <a:p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A98C9-C14F-4A5C-913E-31DACB2F7CF0}"/>
              </a:ext>
            </a:extLst>
          </p:cNvPr>
          <p:cNvSpPr txBox="1"/>
          <p:nvPr/>
        </p:nvSpPr>
        <p:spPr>
          <a:xfrm>
            <a:off x="4709902" y="1734774"/>
            <a:ext cx="5040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그룹별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C71F0-F582-420C-A5E7-D4AA62D7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80" y="2099368"/>
            <a:ext cx="2052000" cy="11801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3B75B9-2A65-47F6-8D18-7133C28F9158}"/>
              </a:ext>
            </a:extLst>
          </p:cNvPr>
          <p:cNvGrpSpPr/>
          <p:nvPr/>
        </p:nvGrpSpPr>
        <p:grpSpPr>
          <a:xfrm>
            <a:off x="8388424" y="1655741"/>
            <a:ext cx="479135" cy="228668"/>
            <a:chOff x="8316416" y="1400132"/>
            <a:chExt cx="479135" cy="22866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620595A-7954-4D63-9DA4-F4C2553D247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59998A71-229C-4FA1-B3A6-56B26D4FC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72F7B8-F750-4F60-9468-C6F6EEEE453A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</p:grpSp>
      <p:pic>
        <p:nvPicPr>
          <p:cNvPr id="2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7D158F0-6BF5-4CCD-B66C-372F0FB2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784" y="124127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26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C51AFB-6275-4F06-9C19-9300EC84DED6}"/>
              </a:ext>
            </a:extLst>
          </p:cNvPr>
          <p:cNvGrpSpPr/>
          <p:nvPr/>
        </p:nvGrpSpPr>
        <p:grpSpPr>
          <a:xfrm>
            <a:off x="6177167" y="1700808"/>
            <a:ext cx="1926022" cy="721431"/>
            <a:chOff x="5692418" y="1753651"/>
            <a:chExt cx="3074464" cy="72143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8B7615B-8FB8-42CC-B02C-7B6133C88D7F}"/>
                </a:ext>
              </a:extLst>
            </p:cNvPr>
            <p:cNvSpPr/>
            <p:nvPr/>
          </p:nvSpPr>
          <p:spPr>
            <a:xfrm>
              <a:off x="5822353" y="2045047"/>
              <a:ext cx="2880000" cy="7200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2DFBEA81-503E-4D87-B1F2-23C64BE615BF}"/>
                </a:ext>
              </a:extLst>
            </p:cNvPr>
            <p:cNvSpPr/>
            <p:nvPr/>
          </p:nvSpPr>
          <p:spPr>
            <a:xfrm>
              <a:off x="5822353" y="2403074"/>
              <a:ext cx="2880000" cy="7200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76F78F-ECD7-4F76-B78F-D0039EFD85F6}"/>
                </a:ext>
              </a:extLst>
            </p:cNvPr>
            <p:cNvSpPr txBox="1"/>
            <p:nvPr/>
          </p:nvSpPr>
          <p:spPr>
            <a:xfrm>
              <a:off x="5692418" y="1843641"/>
              <a:ext cx="112440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충전량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E0E53A4-3C68-49BF-89F5-3C3B6190242E}"/>
                </a:ext>
              </a:extLst>
            </p:cNvPr>
            <p:cNvSpPr txBox="1"/>
            <p:nvPr/>
          </p:nvSpPr>
          <p:spPr>
            <a:xfrm>
              <a:off x="5692418" y="2201668"/>
              <a:ext cx="11349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방전량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E679431-6117-4443-89A7-FCC25732B376}"/>
                </a:ext>
              </a:extLst>
            </p:cNvPr>
            <p:cNvSpPr txBox="1"/>
            <p:nvPr/>
          </p:nvSpPr>
          <p:spPr>
            <a:xfrm>
              <a:off x="7270746" y="1753651"/>
              <a:ext cx="14961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1,350.5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66D3B8F-8FE4-4265-9146-55D17D57A666}"/>
                </a:ext>
              </a:extLst>
            </p:cNvPr>
            <p:cNvSpPr txBox="1"/>
            <p:nvPr/>
          </p:nvSpPr>
          <p:spPr>
            <a:xfrm>
              <a:off x="7419971" y="2115095"/>
              <a:ext cx="13469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48414"/>
              </p:ext>
            </p:extLst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9DAF780-D8CE-4BFB-8530-8E01FDAB46EA}"/>
              </a:ext>
            </a:extLst>
          </p:cNvPr>
          <p:cNvGrpSpPr/>
          <p:nvPr/>
        </p:nvGrpSpPr>
        <p:grpSpPr>
          <a:xfrm>
            <a:off x="8123038" y="1772816"/>
            <a:ext cx="582819" cy="762997"/>
            <a:chOff x="8066098" y="1891729"/>
            <a:chExt cx="639759" cy="762997"/>
          </a:xfrm>
        </p:grpSpPr>
        <p:pic>
          <p:nvPicPr>
            <p:cNvPr id="1030" name="Picture 6" descr="batteryì ëí ì´ë¯¸ì§ ê²ìê²°ê³¼">
              <a:extLst>
                <a:ext uri="{FF2B5EF4-FFF2-40B4-BE49-F238E27FC236}">
                  <a16:creationId xmlns:a16="http://schemas.microsoft.com/office/drawing/2014/main" id="{CC4F744F-F3B3-485E-8365-75D4A5510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4661" y="2092093"/>
              <a:ext cx="562633" cy="56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F9E8319-76FD-483E-A8DE-0A24EA344155}"/>
                </a:ext>
              </a:extLst>
            </p:cNvPr>
            <p:cNvSpPr txBox="1"/>
            <p:nvPr/>
          </p:nvSpPr>
          <p:spPr>
            <a:xfrm>
              <a:off x="8087885" y="1891729"/>
              <a:ext cx="5961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SOC(</a:t>
              </a:r>
              <a:r>
                <a: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잔량</a:t>
              </a:r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6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6409813-82A2-477A-891E-83BB61D4C3B4}"/>
                </a:ext>
              </a:extLst>
            </p:cNvPr>
            <p:cNvSpPr txBox="1"/>
            <p:nvPr/>
          </p:nvSpPr>
          <p:spPr>
            <a:xfrm>
              <a:off x="8066098" y="2016579"/>
              <a:ext cx="6397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85.5</a:t>
              </a:r>
              <a:r>
                <a:rPr lang="en-US" altLang="ko-KR" sz="6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%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908869"/>
              </p:ext>
            </p:extLst>
          </p:nvPr>
        </p:nvGraphicFramePr>
        <p:xfrm>
          <a:off x="6258566" y="2649564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72E2B794-8BB5-44D3-A079-A484D6282D9D}"/>
              </a:ext>
            </a:extLst>
          </p:cNvPr>
          <p:cNvCxnSpPr>
            <a:cxnSpLocks/>
          </p:cNvCxnSpPr>
          <p:nvPr/>
        </p:nvCxnSpPr>
        <p:spPr>
          <a:xfrm>
            <a:off x="6271321" y="2865564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87377C2-2E31-401D-8893-10CBFE062397}"/>
              </a:ext>
            </a:extLst>
          </p:cNvPr>
          <p:cNvGrpSpPr/>
          <p:nvPr/>
        </p:nvGrpSpPr>
        <p:grpSpPr>
          <a:xfrm>
            <a:off x="6516215" y="3525512"/>
            <a:ext cx="1900112" cy="400916"/>
            <a:chOff x="6298167" y="3578954"/>
            <a:chExt cx="2086494" cy="400916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064F9DAA-C26B-4B97-B020-A8C4E7117672}"/>
                </a:ext>
              </a:extLst>
            </p:cNvPr>
            <p:cNvSpPr/>
            <p:nvPr/>
          </p:nvSpPr>
          <p:spPr>
            <a:xfrm flipH="1">
              <a:off x="8165012" y="3936681"/>
              <a:ext cx="25599" cy="4318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8B369B08-010C-47B7-AEF2-0CA9AAD9778B}"/>
                </a:ext>
              </a:extLst>
            </p:cNvPr>
            <p:cNvSpPr/>
            <p:nvPr/>
          </p:nvSpPr>
          <p:spPr>
            <a:xfrm flipH="1">
              <a:off x="7294535" y="3578954"/>
              <a:ext cx="25599" cy="40091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078B64C-0C86-4376-A736-4D876275F7E0}"/>
                </a:ext>
              </a:extLst>
            </p:cNvPr>
            <p:cNvSpPr/>
            <p:nvPr/>
          </p:nvSpPr>
          <p:spPr>
            <a:xfrm flipH="1">
              <a:off x="7405364" y="3599670"/>
              <a:ext cx="25599" cy="380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3CD0DB28-A5B7-419C-92CE-4B0F30BC08A1}"/>
                </a:ext>
              </a:extLst>
            </p:cNvPr>
            <p:cNvSpPr/>
            <p:nvPr/>
          </p:nvSpPr>
          <p:spPr>
            <a:xfrm flipH="1">
              <a:off x="7515924" y="3642328"/>
              <a:ext cx="25599" cy="33754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A2EEB97D-EDC1-46E4-B83C-357572071FB7}"/>
                </a:ext>
              </a:extLst>
            </p:cNvPr>
            <p:cNvSpPr/>
            <p:nvPr/>
          </p:nvSpPr>
          <p:spPr>
            <a:xfrm flipH="1">
              <a:off x="7627364" y="3748261"/>
              <a:ext cx="25599" cy="2316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D25908EF-2A07-43DB-82EB-213FE0568E54}"/>
                </a:ext>
              </a:extLst>
            </p:cNvPr>
            <p:cNvSpPr/>
            <p:nvPr/>
          </p:nvSpPr>
          <p:spPr>
            <a:xfrm flipH="1">
              <a:off x="7721613" y="3779209"/>
              <a:ext cx="25599" cy="20066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F264B22E-0B6D-46D0-B73A-7A2C4A56736D}"/>
                </a:ext>
              </a:extLst>
            </p:cNvPr>
            <p:cNvSpPr/>
            <p:nvPr/>
          </p:nvSpPr>
          <p:spPr>
            <a:xfrm flipH="1">
              <a:off x="7832182" y="3816173"/>
              <a:ext cx="25599" cy="16369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BFE017F1-DC82-411E-8D5F-08F4112CA2B4}"/>
                </a:ext>
              </a:extLst>
            </p:cNvPr>
            <p:cNvSpPr/>
            <p:nvPr/>
          </p:nvSpPr>
          <p:spPr>
            <a:xfrm flipH="1">
              <a:off x="7943803" y="3832449"/>
              <a:ext cx="25599" cy="1474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CDA0A8FC-52A3-43D6-95DC-99B91FBFBBEA}"/>
                </a:ext>
              </a:extLst>
            </p:cNvPr>
            <p:cNvSpPr/>
            <p:nvPr/>
          </p:nvSpPr>
          <p:spPr>
            <a:xfrm flipH="1">
              <a:off x="8062603" y="3890100"/>
              <a:ext cx="25599" cy="8977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44D6EB47-1A63-4119-98A8-B2CF1E17657C}"/>
                </a:ext>
              </a:extLst>
            </p:cNvPr>
            <p:cNvSpPr/>
            <p:nvPr/>
          </p:nvSpPr>
          <p:spPr>
            <a:xfrm>
              <a:off x="6298167" y="3934317"/>
              <a:ext cx="24000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8E48E2BA-E7D7-45B8-939A-0258798B4214}"/>
                </a:ext>
              </a:extLst>
            </p:cNvPr>
            <p:cNvSpPr/>
            <p:nvPr/>
          </p:nvSpPr>
          <p:spPr>
            <a:xfrm>
              <a:off x="7010353" y="3634014"/>
              <a:ext cx="24000" cy="34585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38B6B327-9771-4F5C-BC9C-418C2B22EA63}"/>
                </a:ext>
              </a:extLst>
            </p:cNvPr>
            <p:cNvSpPr/>
            <p:nvPr/>
          </p:nvSpPr>
          <p:spPr>
            <a:xfrm>
              <a:off x="6906701" y="3697438"/>
              <a:ext cx="24000" cy="2824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99F1887D-40CE-4575-8783-EDD71320761C}"/>
                </a:ext>
              </a:extLst>
            </p:cNvPr>
            <p:cNvSpPr/>
            <p:nvPr/>
          </p:nvSpPr>
          <p:spPr>
            <a:xfrm>
              <a:off x="6802223" y="3742992"/>
              <a:ext cx="24000" cy="23687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35E7C913-FBBC-4073-864F-4142F5E02599}"/>
                </a:ext>
              </a:extLst>
            </p:cNvPr>
            <p:cNvSpPr/>
            <p:nvPr/>
          </p:nvSpPr>
          <p:spPr>
            <a:xfrm>
              <a:off x="6713863" y="3780069"/>
              <a:ext cx="24000" cy="19980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84DE5CAF-400B-487F-AA0A-E1568B5C33FF}"/>
                </a:ext>
              </a:extLst>
            </p:cNvPr>
            <p:cNvSpPr/>
            <p:nvPr/>
          </p:nvSpPr>
          <p:spPr>
            <a:xfrm>
              <a:off x="6610202" y="3824989"/>
              <a:ext cx="24000" cy="1548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185482A-BFFA-4862-8201-3F41AC73C5C2}"/>
                </a:ext>
              </a:extLst>
            </p:cNvPr>
            <p:cNvSpPr/>
            <p:nvPr/>
          </p:nvSpPr>
          <p:spPr>
            <a:xfrm>
              <a:off x="6505555" y="3870542"/>
              <a:ext cx="24000" cy="1093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ACC3F0D-E4B2-4F19-B004-2AB700E4F7EC}"/>
                </a:ext>
              </a:extLst>
            </p:cNvPr>
            <p:cNvSpPr/>
            <p:nvPr/>
          </p:nvSpPr>
          <p:spPr>
            <a:xfrm>
              <a:off x="6394178" y="3888763"/>
              <a:ext cx="24000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E86EABBB-2F84-4AD5-9644-0E97776117CD}"/>
                </a:ext>
              </a:extLst>
            </p:cNvPr>
            <p:cNvSpPr/>
            <p:nvPr/>
          </p:nvSpPr>
          <p:spPr>
            <a:xfrm>
              <a:off x="7114258" y="3578954"/>
              <a:ext cx="24000" cy="40091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EBCB32F4-DC20-499B-827C-4365BE801D42}"/>
                </a:ext>
              </a:extLst>
            </p:cNvPr>
            <p:cNvSpPr/>
            <p:nvPr/>
          </p:nvSpPr>
          <p:spPr>
            <a:xfrm>
              <a:off x="8266737" y="3934317"/>
              <a:ext cx="23583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7FE038FE-87FC-49FB-9EE1-0D21D6BD5003}"/>
                </a:ext>
              </a:extLst>
            </p:cNvPr>
            <p:cNvSpPr/>
            <p:nvPr/>
          </p:nvSpPr>
          <p:spPr>
            <a:xfrm>
              <a:off x="8361078" y="3888763"/>
              <a:ext cx="23583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2E05A0CE-DFA1-43CC-A26C-17B987E8A0E2}"/>
              </a:ext>
            </a:extLst>
          </p:cNvPr>
          <p:cNvCxnSpPr>
            <a:cxnSpLocks/>
          </p:cNvCxnSpPr>
          <p:nvPr/>
        </p:nvCxnSpPr>
        <p:spPr>
          <a:xfrm>
            <a:off x="6263707" y="3327302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2440053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시간대 별 발전량</a:t>
            </a: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3" y="4176376"/>
            <a:ext cx="2474453" cy="177287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38426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212065"/>
            <a:ext cx="7090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오늘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kWh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254A66D-7020-4D6E-9F1B-A18A63F6A41E}"/>
              </a:ext>
            </a:extLst>
          </p:cNvPr>
          <p:cNvGrpSpPr/>
          <p:nvPr/>
        </p:nvGrpSpPr>
        <p:grpSpPr>
          <a:xfrm>
            <a:off x="6632423" y="4384269"/>
            <a:ext cx="418353" cy="417836"/>
            <a:chOff x="6331547" y="4800436"/>
            <a:chExt cx="418353" cy="417836"/>
          </a:xfrm>
        </p:grpSpPr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7E394EF-B90A-44C5-955A-B941F6E3DB4B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655BE92-5434-4F0A-94A1-1F3F4AEF4E00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D2331B0-6169-4AC8-AD90-A4840103E5E9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D858EED-D900-4D53-8BEA-ACB3F502EC84}"/>
              </a:ext>
            </a:extLst>
          </p:cNvPr>
          <p:cNvGrpSpPr/>
          <p:nvPr/>
        </p:nvGrpSpPr>
        <p:grpSpPr>
          <a:xfrm>
            <a:off x="7409660" y="4384269"/>
            <a:ext cx="546716" cy="417836"/>
            <a:chOff x="6331547" y="4800436"/>
            <a:chExt cx="418353" cy="417836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7049415-21D6-4609-87E2-E79B72C5683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1,350.5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8E4AD24-A210-4985-8EE7-053CFFA8DDC4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E576F084-45EA-485C-97B5-6C2F0125754E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-500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FE918BA-67BA-4D64-992F-9BD0F7510396}"/>
              </a:ext>
            </a:extLst>
          </p:cNvPr>
          <p:cNvGrpSpPr/>
          <p:nvPr/>
        </p:nvGrpSpPr>
        <p:grpSpPr>
          <a:xfrm>
            <a:off x="8197832" y="4384269"/>
            <a:ext cx="418353" cy="417836"/>
            <a:chOff x="6331547" y="4800436"/>
            <a:chExt cx="418353" cy="417836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5B47FA78-E0EF-427F-A152-BC555E8C0DC6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8.6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870C875D-E4A6-4140-9FD9-4B846FF65827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10.7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E28C3C86-4139-48BE-AB80-48254B51755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496445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479225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>
                <a:solidFill>
                  <a:schemeClr val="bg1"/>
                </a:solidFill>
              </a:rPr>
              <a:t>이번달</a:t>
            </a:r>
            <a:r>
              <a:rPr lang="ko-KR" altLang="en-US" sz="600" dirty="0">
                <a:solidFill>
                  <a:schemeClr val="bg1"/>
                </a:solidFill>
              </a:rPr>
              <a:t>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9A3192E6-AE7A-4784-8F58-91EBF75AD032}"/>
              </a:ext>
            </a:extLst>
          </p:cNvPr>
          <p:cNvGrpSpPr/>
          <p:nvPr/>
        </p:nvGrpSpPr>
        <p:grpSpPr>
          <a:xfrm>
            <a:off x="6632423" y="4964458"/>
            <a:ext cx="418353" cy="417836"/>
            <a:chOff x="6331547" y="4800436"/>
            <a:chExt cx="418353" cy="417836"/>
          </a:xfrm>
        </p:grpSpPr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FA70A35B-A937-484D-9B15-0D951245E315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03B20DCE-F895-4A9A-94AE-4107D018A1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11D5A325-CEB5-4CBF-A4F3-C2481F307B1C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039118F4-B073-4193-99B1-E4EDBFC8E3B2}"/>
              </a:ext>
            </a:extLst>
          </p:cNvPr>
          <p:cNvGrpSpPr/>
          <p:nvPr/>
        </p:nvGrpSpPr>
        <p:grpSpPr>
          <a:xfrm>
            <a:off x="7409660" y="4964458"/>
            <a:ext cx="546716" cy="417836"/>
            <a:chOff x="6331547" y="4800436"/>
            <a:chExt cx="418353" cy="417836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55099726-B1E8-423B-B8E4-0A6A4054F228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00692847-ED87-43F2-9099-A7112BE8153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DCE81FA-FE99-4529-8C4E-84ED2CDDCB51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96194F93-B5D0-4646-BED4-F32C4C997E5A}"/>
              </a:ext>
            </a:extLst>
          </p:cNvPr>
          <p:cNvGrpSpPr/>
          <p:nvPr/>
        </p:nvGrpSpPr>
        <p:grpSpPr>
          <a:xfrm>
            <a:off x="8197832" y="4964458"/>
            <a:ext cx="418353" cy="417836"/>
            <a:chOff x="6331547" y="4800436"/>
            <a:chExt cx="418353" cy="417836"/>
          </a:xfrm>
        </p:grpSpPr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5876CE20-F1E5-462A-8707-55F696E945E0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F74AE4E-DB28-4AB8-8735-FC478C1C82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3627A6BA-3454-4146-B93F-05CA68066CA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53527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36307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올해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73539193-9ACF-43D1-B0CF-65160A07C524}"/>
              </a:ext>
            </a:extLst>
          </p:cNvPr>
          <p:cNvGrpSpPr/>
          <p:nvPr/>
        </p:nvGrpSpPr>
        <p:grpSpPr>
          <a:xfrm>
            <a:off x="6606991" y="5535278"/>
            <a:ext cx="418353" cy="417836"/>
            <a:chOff x="6331547" y="4800436"/>
            <a:chExt cx="418353" cy="417836"/>
          </a:xfrm>
        </p:grpSpPr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396FD45-AFCE-45A7-88EF-403916F405B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0AC63B0E-AA68-4053-A9A2-333CC5690AFD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E58744F1-9E58-4589-BE81-BC5AE3AC3796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DF723356-AFB7-4B50-8085-5F4EF795A4BF}"/>
              </a:ext>
            </a:extLst>
          </p:cNvPr>
          <p:cNvGrpSpPr/>
          <p:nvPr/>
        </p:nvGrpSpPr>
        <p:grpSpPr>
          <a:xfrm>
            <a:off x="7384228" y="5535278"/>
            <a:ext cx="546716" cy="417836"/>
            <a:chOff x="6331547" y="4800436"/>
            <a:chExt cx="418353" cy="417836"/>
          </a:xfrm>
        </p:grpSpPr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235F8015-21AB-44C6-B2A8-237119610DED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58.9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A5DB8234-93C5-443F-9D35-ED84CD68B68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192.1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8105C910-CB9F-4E3B-9866-6E5CA47478B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9C5F358-0616-4BB2-BF6A-0C0BFAF2C4FB}"/>
              </a:ext>
            </a:extLst>
          </p:cNvPr>
          <p:cNvGrpSpPr/>
          <p:nvPr/>
        </p:nvGrpSpPr>
        <p:grpSpPr>
          <a:xfrm>
            <a:off x="8172400" y="5535278"/>
            <a:ext cx="418353" cy="417836"/>
            <a:chOff x="6331547" y="4800436"/>
            <a:chExt cx="418353" cy="417836"/>
          </a:xfrm>
        </p:grpSpPr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2265B189-9E37-46E0-A690-039CBCC3D9DC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3B9AE02A-2406-4604-A614-0F10B719F393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F3B2C65-8CAA-40CD-96CB-3DEFFE1ED3A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464.9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326C0E9F-B729-49BB-BB61-B6DE399D0AFA}"/>
              </a:ext>
            </a:extLst>
          </p:cNvPr>
          <p:cNvSpPr/>
          <p:nvPr/>
        </p:nvSpPr>
        <p:spPr>
          <a:xfrm>
            <a:off x="7703543" y="1990090"/>
            <a:ext cx="36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50E4392-BDD3-4354-ACB8-CD2465050FA5}"/>
              </a:ext>
            </a:extLst>
          </p:cNvPr>
          <p:cNvSpPr/>
          <p:nvPr/>
        </p:nvSpPr>
        <p:spPr>
          <a:xfrm>
            <a:off x="7524536" y="2351662"/>
            <a:ext cx="54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63CE122-8C92-484F-840B-451103E33A68}"/>
              </a:ext>
            </a:extLst>
          </p:cNvPr>
          <p:cNvGrpSpPr/>
          <p:nvPr/>
        </p:nvGrpSpPr>
        <p:grpSpPr>
          <a:xfrm>
            <a:off x="3303152" y="5238832"/>
            <a:ext cx="2629878" cy="714282"/>
            <a:chOff x="3315964" y="3933056"/>
            <a:chExt cx="2629878" cy="714282"/>
          </a:xfrm>
        </p:grpSpPr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E6DE84EA-F53C-406B-A1A4-648AD8127AD8}"/>
                </a:ext>
              </a:extLst>
            </p:cNvPr>
            <p:cNvSpPr txBox="1"/>
            <p:nvPr/>
          </p:nvSpPr>
          <p:spPr>
            <a:xfrm>
              <a:off x="3315964" y="3933056"/>
              <a:ext cx="98607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IOE </a:t>
              </a:r>
              <a:r>
                <a:rPr lang="ko-KR" altLang="en-US" sz="800" dirty="0">
                  <a:solidFill>
                    <a:schemeClr val="bg1"/>
                  </a:solidFill>
                </a:rPr>
                <a:t>통신상태</a:t>
              </a:r>
              <a:r>
                <a:rPr lang="en-US" altLang="ko-KR" sz="800" dirty="0">
                  <a:solidFill>
                    <a:schemeClr val="bg1"/>
                  </a:solidFill>
                </a:rPr>
                <a:t> 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5373FABF-B4DA-4DB8-9684-A2B94EE23F93}"/>
                </a:ext>
              </a:extLst>
            </p:cNvPr>
            <p:cNvCxnSpPr>
              <a:cxnSpLocks/>
            </p:cNvCxnSpPr>
            <p:nvPr/>
          </p:nvCxnSpPr>
          <p:spPr>
            <a:xfrm>
              <a:off x="3427007" y="4151328"/>
              <a:ext cx="2518835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7D49EC40-CC5E-4F92-8EBD-E723BC7A9405}"/>
                </a:ext>
              </a:extLst>
            </p:cNvPr>
            <p:cNvSpPr txBox="1"/>
            <p:nvPr/>
          </p:nvSpPr>
          <p:spPr>
            <a:xfrm>
              <a:off x="3599827" y="41697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4E554107-81CE-461D-859C-8BE986564061}"/>
                </a:ext>
              </a:extLst>
            </p:cNvPr>
            <p:cNvSpPr txBox="1"/>
            <p:nvPr/>
          </p:nvSpPr>
          <p:spPr>
            <a:xfrm>
              <a:off x="3599827" y="431023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96E4CC65-4FA4-4F03-8A6F-12D4159C277B}"/>
                </a:ext>
              </a:extLst>
            </p:cNvPr>
            <p:cNvSpPr txBox="1"/>
            <p:nvPr/>
          </p:nvSpPr>
          <p:spPr>
            <a:xfrm>
              <a:off x="3599827" y="446267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grpSp>
          <p:nvGrpSpPr>
            <p:cNvPr id="361" name="그룹 360">
              <a:extLst>
                <a:ext uri="{FF2B5EF4-FFF2-40B4-BE49-F238E27FC236}">
                  <a16:creationId xmlns:a16="http://schemas.microsoft.com/office/drawing/2014/main" id="{B0C53CCA-68F2-418F-B37A-3C2D7CBB54D9}"/>
                </a:ext>
              </a:extLst>
            </p:cNvPr>
            <p:cNvGrpSpPr/>
            <p:nvPr/>
          </p:nvGrpSpPr>
          <p:grpSpPr>
            <a:xfrm>
              <a:off x="4902913" y="4163766"/>
              <a:ext cx="1031096" cy="479666"/>
              <a:chOff x="6331547" y="4770556"/>
              <a:chExt cx="418353" cy="479666"/>
            </a:xfrm>
          </p:grpSpPr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8DEA0415-47C0-4D83-B11C-D1898BE12A7B}"/>
                  </a:ext>
                </a:extLst>
              </p:cNvPr>
              <p:cNvSpPr txBox="1"/>
              <p:nvPr/>
            </p:nvSpPr>
            <p:spPr>
              <a:xfrm>
                <a:off x="6331547" y="4770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C6B6E684-753E-4D45-A08F-F729A066CF35}"/>
                  </a:ext>
                </a:extLst>
              </p:cNvPr>
              <p:cNvSpPr txBox="1"/>
              <p:nvPr/>
            </p:nvSpPr>
            <p:spPr>
              <a:xfrm>
                <a:off x="6331547" y="4917021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64FF41AA-B5C9-4634-9099-BB7D2E6E1603}"/>
                  </a:ext>
                </a:extLst>
              </p:cNvPr>
              <p:cNvSpPr txBox="1"/>
              <p:nvPr/>
            </p:nvSpPr>
            <p:spPr>
              <a:xfrm>
                <a:off x="6331547" y="5065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1:12:12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B0D92DED-E5C5-414A-8E1C-45D690327A92}"/>
                </a:ext>
              </a:extLst>
            </p:cNvPr>
            <p:cNvSpPr txBox="1"/>
            <p:nvPr/>
          </p:nvSpPr>
          <p:spPr>
            <a:xfrm>
              <a:off x="4455403" y="3948445"/>
              <a:ext cx="37714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96C6EC84-0AFB-49CA-ABEF-5D5CA87A3085}"/>
                </a:ext>
              </a:extLst>
            </p:cNvPr>
            <p:cNvSpPr txBox="1"/>
            <p:nvPr/>
          </p:nvSpPr>
          <p:spPr>
            <a:xfrm>
              <a:off x="5070358" y="3948445"/>
              <a:ext cx="69620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상태변경 시간</a:t>
              </a:r>
            </a:p>
          </p:txBody>
        </p:sp>
        <p:grpSp>
          <p:nvGrpSpPr>
            <p:cNvPr id="1035" name="그룹 1034">
              <a:extLst>
                <a:ext uri="{FF2B5EF4-FFF2-40B4-BE49-F238E27FC236}">
                  <a16:creationId xmlns:a16="http://schemas.microsoft.com/office/drawing/2014/main" id="{7A602B55-6E2D-420E-8A43-F9743554D03E}"/>
                </a:ext>
              </a:extLst>
            </p:cNvPr>
            <p:cNvGrpSpPr/>
            <p:nvPr/>
          </p:nvGrpSpPr>
          <p:grpSpPr>
            <a:xfrm>
              <a:off x="4355976" y="4500675"/>
              <a:ext cx="576000" cy="119723"/>
              <a:chOff x="3225171" y="4126528"/>
              <a:chExt cx="465374" cy="119723"/>
            </a:xfrm>
          </p:grpSpPr>
          <p:sp>
            <p:nvSpPr>
              <p:cNvPr id="1031" name="사각형: 둥근 모서리 1030">
                <a:extLst>
                  <a:ext uri="{FF2B5EF4-FFF2-40B4-BE49-F238E27FC236}">
                    <a16:creationId xmlns:a16="http://schemas.microsoft.com/office/drawing/2014/main" id="{474E9FE0-1990-4F79-B693-4C241F3D6C8F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36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FF0066"/>
                    </a:solidFill>
                  </a:rPr>
                  <a:t>Disconnected</a:t>
                </a:r>
                <a:endParaRPr lang="ko-KR" altLang="en-US" sz="5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1033" name="타원 1032">
                <a:extLst>
                  <a:ext uri="{FF2B5EF4-FFF2-40B4-BE49-F238E27FC236}">
                    <a16:creationId xmlns:a16="http://schemas.microsoft.com/office/drawing/2014/main" id="{0FE133C8-7FFB-4B72-BCEE-33570C77BC75}"/>
                  </a:ext>
                </a:extLst>
              </p:cNvPr>
              <p:cNvSpPr/>
              <p:nvPr/>
            </p:nvSpPr>
            <p:spPr>
              <a:xfrm>
                <a:off x="3259208" y="4153413"/>
                <a:ext cx="43629" cy="54000"/>
              </a:xfrm>
              <a:prstGeom prst="ellipse">
                <a:avLst/>
              </a:prstGeom>
              <a:solidFill>
                <a:srgbClr val="FF0066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C91BC3BB-82EA-4C85-BE30-A3454D311B0C}"/>
                </a:ext>
              </a:extLst>
            </p:cNvPr>
            <p:cNvGrpSpPr/>
            <p:nvPr/>
          </p:nvGrpSpPr>
          <p:grpSpPr>
            <a:xfrm>
              <a:off x="4355976" y="4349788"/>
              <a:ext cx="576000" cy="119723"/>
              <a:chOff x="3225171" y="4126528"/>
              <a:chExt cx="465374" cy="119723"/>
            </a:xfrm>
          </p:grpSpPr>
          <p:sp>
            <p:nvSpPr>
              <p:cNvPr id="410" name="사각형: 둥근 모서리 409">
                <a:extLst>
                  <a:ext uri="{FF2B5EF4-FFF2-40B4-BE49-F238E27FC236}">
                    <a16:creationId xmlns:a16="http://schemas.microsoft.com/office/drawing/2014/main" id="{7D31AD07-E146-446C-8875-E2C3B52E247B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7E464107-49B0-4C99-98A8-D42716C92609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0AAC3C6D-DAB4-45F2-A51E-F93FD5CDAB3C}"/>
                </a:ext>
              </a:extLst>
            </p:cNvPr>
            <p:cNvGrpSpPr/>
            <p:nvPr/>
          </p:nvGrpSpPr>
          <p:grpSpPr>
            <a:xfrm>
              <a:off x="4355976" y="4198901"/>
              <a:ext cx="576000" cy="119723"/>
              <a:chOff x="3225171" y="4126528"/>
              <a:chExt cx="465374" cy="119723"/>
            </a:xfrm>
          </p:grpSpPr>
          <p:sp>
            <p:nvSpPr>
              <p:cNvPr id="413" name="사각형: 둥근 모서리 412">
                <a:extLst>
                  <a:ext uri="{FF2B5EF4-FFF2-40B4-BE49-F238E27FC236}">
                    <a16:creationId xmlns:a16="http://schemas.microsoft.com/office/drawing/2014/main" id="{5A12A2E8-7E30-4036-910D-EAA5D5F78A66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4" name="타원 413">
                <a:extLst>
                  <a:ext uri="{FF2B5EF4-FFF2-40B4-BE49-F238E27FC236}">
                    <a16:creationId xmlns:a16="http://schemas.microsoft.com/office/drawing/2014/main" id="{B5190FA2-FE58-4F48-B515-4515A47EE31D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507011" y="3740921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465840"/>
              </p:ext>
            </p:extLst>
          </p:nvPr>
        </p:nvGraphicFramePr>
        <p:xfrm>
          <a:off x="545568" y="3964957"/>
          <a:ext cx="255069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1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823612" y="4521214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994969" y="4495006"/>
            <a:ext cx="114467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1160006" y="4565310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1289274" y="4687557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6" name="직사각형 445">
            <a:extLst>
              <a:ext uri="{FF2B5EF4-FFF2-40B4-BE49-F238E27FC236}">
                <a16:creationId xmlns:a16="http://schemas.microsoft.com/office/drawing/2014/main" id="{8CC72A27-D062-4659-A20B-75407950CBB4}"/>
              </a:ext>
            </a:extLst>
          </p:cNvPr>
          <p:cNvSpPr/>
          <p:nvPr/>
        </p:nvSpPr>
        <p:spPr>
          <a:xfrm>
            <a:off x="475933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E3ECF995-9CB8-4F12-83C5-D74A8FB0FC3C}"/>
              </a:ext>
            </a:extLst>
          </p:cNvPr>
          <p:cNvSpPr/>
          <p:nvPr/>
        </p:nvSpPr>
        <p:spPr>
          <a:xfrm>
            <a:off x="753539" y="4915601"/>
            <a:ext cx="60696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8" name="직사각형 447">
            <a:extLst>
              <a:ext uri="{FF2B5EF4-FFF2-40B4-BE49-F238E27FC236}">
                <a16:creationId xmlns:a16="http://schemas.microsoft.com/office/drawing/2014/main" id="{A8D24558-F4AD-4E4F-A0A3-8068DB053CD0}"/>
              </a:ext>
            </a:extLst>
          </p:cNvPr>
          <p:cNvSpPr/>
          <p:nvPr/>
        </p:nvSpPr>
        <p:spPr>
          <a:xfrm>
            <a:off x="1098838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DR</a:t>
            </a:r>
            <a:r>
              <a:rPr lang="ko-KR" altLang="en-US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6EE38BF5-3A72-48E4-8BA9-BF2390F8238C}"/>
              </a:ext>
            </a:extLst>
          </p:cNvPr>
          <p:cNvSpPr/>
          <p:nvPr/>
        </p:nvSpPr>
        <p:spPr>
          <a:xfrm>
            <a:off x="1364833" y="4915601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36966B20-072A-484B-AAA1-2F378CBFE402}"/>
              </a:ext>
            </a:extLst>
          </p:cNvPr>
          <p:cNvSpPr/>
          <p:nvPr/>
        </p:nvSpPr>
        <p:spPr>
          <a:xfrm>
            <a:off x="2134425" y="4934890"/>
            <a:ext cx="825695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 수익</a:t>
            </a:r>
          </a:p>
        </p:txBody>
      </p:sp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FCA66087-7611-49F7-9D41-C19434ED8685}"/>
              </a:ext>
            </a:extLst>
          </p:cNvPr>
          <p:cNvSpPr/>
          <p:nvPr/>
        </p:nvSpPr>
        <p:spPr>
          <a:xfrm>
            <a:off x="2615847" y="4921226"/>
            <a:ext cx="664817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120,000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463526"/>
              </p:ext>
            </p:extLst>
          </p:nvPr>
        </p:nvGraphicFramePr>
        <p:xfrm>
          <a:off x="556780" y="2064211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2989971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1849760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3528551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2139707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1819914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4929" y="3893951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5438" y="3901239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5947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6456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4929" y="4234478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5438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5947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6456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9817" y="3861048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22608" y="3974665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20866" y="4061449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22487" y="3972979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7273" y="4063424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71398" y="3970424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9656" y="4057208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71277" y="3960010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6063" y="4062115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6376" y="387136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13720" y="3861216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70665" y="3861216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9017" y="4204626"/>
            <a:ext cx="869295" cy="376502"/>
            <a:chOff x="4137026" y="5220442"/>
            <a:chExt cx="869295" cy="376502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EA5A1819-6465-4565-9474-D0F3C6A9CDF6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09F97A1F-4F29-4B70-84C0-E6B1CE85AE19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누적 발전량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60455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10964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61473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21724" y="4586716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49F22AB-17D8-4589-AB99-1A2B0B85FDAA}"/>
              </a:ext>
            </a:extLst>
          </p:cNvPr>
          <p:cNvGrpSpPr/>
          <p:nvPr/>
        </p:nvGrpSpPr>
        <p:grpSpPr>
          <a:xfrm>
            <a:off x="3418761" y="4940755"/>
            <a:ext cx="1835844" cy="184666"/>
            <a:chOff x="3535608" y="4989368"/>
            <a:chExt cx="1835844" cy="184666"/>
          </a:xfrm>
        </p:grpSpPr>
        <p:sp>
          <p:nvSpPr>
            <p:cNvPr id="407" name="사각형: 둥근 모서리 406">
              <a:extLst>
                <a:ext uri="{FF2B5EF4-FFF2-40B4-BE49-F238E27FC236}">
                  <a16:creationId xmlns:a16="http://schemas.microsoft.com/office/drawing/2014/main" id="{048E4DE1-D7A8-452E-8463-A0DC0C89AF19}"/>
                </a:ext>
              </a:extLst>
            </p:cNvPr>
            <p:cNvSpPr/>
            <p:nvPr/>
          </p:nvSpPr>
          <p:spPr>
            <a:xfrm>
              <a:off x="3535608" y="5016742"/>
              <a:ext cx="257502" cy="12991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98F989EC-9F16-48B2-BA01-18F6E055AD57}"/>
                </a:ext>
              </a:extLst>
            </p:cNvPr>
            <p:cNvSpPr txBox="1"/>
            <p:nvPr/>
          </p:nvSpPr>
          <p:spPr>
            <a:xfrm>
              <a:off x="369425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PCS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7" name="사각형: 둥근 모서리 416">
              <a:extLst>
                <a:ext uri="{FF2B5EF4-FFF2-40B4-BE49-F238E27FC236}">
                  <a16:creationId xmlns:a16="http://schemas.microsoft.com/office/drawing/2014/main" id="{D1F06681-278F-465D-91AE-A3FFF36AA439}"/>
                </a:ext>
              </a:extLst>
            </p:cNvPr>
            <p:cNvSpPr/>
            <p:nvPr/>
          </p:nvSpPr>
          <p:spPr>
            <a:xfrm>
              <a:off x="4158568" y="5016742"/>
              <a:ext cx="257502" cy="129918"/>
            </a:xfrm>
            <a:prstGeom prst="roundRect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A36FC55C-1AFC-4D4F-AF8E-1879ABC4227B}"/>
                </a:ext>
              </a:extLst>
            </p:cNvPr>
            <p:cNvSpPr txBox="1"/>
            <p:nvPr/>
          </p:nvSpPr>
          <p:spPr>
            <a:xfrm>
              <a:off x="431721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9" name="사각형: 둥근 모서리 418">
              <a:extLst>
                <a:ext uri="{FF2B5EF4-FFF2-40B4-BE49-F238E27FC236}">
                  <a16:creationId xmlns:a16="http://schemas.microsoft.com/office/drawing/2014/main" id="{F6BCCD55-7BC8-4744-BEDE-27F3A2F60D19}"/>
                </a:ext>
              </a:extLst>
            </p:cNvPr>
            <p:cNvSpPr/>
            <p:nvPr/>
          </p:nvSpPr>
          <p:spPr>
            <a:xfrm>
              <a:off x="4794451" y="5016742"/>
              <a:ext cx="257502" cy="129918"/>
            </a:xfrm>
            <a:prstGeom prst="roundRect">
              <a:avLst/>
            </a:prstGeom>
            <a:solidFill>
              <a:srgbClr val="FFC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1BB2E9C6-0B8B-4B8E-91A9-0C6EA163A71A}"/>
                </a:ext>
              </a:extLst>
            </p:cNvPr>
            <p:cNvSpPr txBox="1"/>
            <p:nvPr/>
          </p:nvSpPr>
          <p:spPr>
            <a:xfrm>
              <a:off x="4953099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2C3C8100-F6E5-466E-AA22-4126D1A5B4B8}"/>
              </a:ext>
            </a:extLst>
          </p:cNvPr>
          <p:cNvSpPr/>
          <p:nvPr/>
        </p:nvSpPr>
        <p:spPr>
          <a:xfrm>
            <a:off x="1708458" y="4921854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r>
              <a:rPr lang="ko-KR" altLang="en-US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099ED14-65AD-46EB-A7BA-5B26FEDEDD39}"/>
              </a:ext>
            </a:extLst>
          </p:cNvPr>
          <p:cNvSpPr/>
          <p:nvPr/>
        </p:nvSpPr>
        <p:spPr>
          <a:xfrm>
            <a:off x="1972163" y="4908190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289" y="5262128"/>
            <a:ext cx="2540384" cy="734448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19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6135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C51AFB-6275-4F06-9C19-9300EC84DED6}"/>
              </a:ext>
            </a:extLst>
          </p:cNvPr>
          <p:cNvGrpSpPr/>
          <p:nvPr/>
        </p:nvGrpSpPr>
        <p:grpSpPr>
          <a:xfrm>
            <a:off x="6177167" y="1700808"/>
            <a:ext cx="1926022" cy="721431"/>
            <a:chOff x="5692418" y="1753651"/>
            <a:chExt cx="3074464" cy="72143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8B7615B-8FB8-42CC-B02C-7B6133C88D7F}"/>
                </a:ext>
              </a:extLst>
            </p:cNvPr>
            <p:cNvSpPr/>
            <p:nvPr/>
          </p:nvSpPr>
          <p:spPr>
            <a:xfrm>
              <a:off x="5822353" y="2045047"/>
              <a:ext cx="2880000" cy="7200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2DFBEA81-503E-4D87-B1F2-23C64BE615BF}"/>
                </a:ext>
              </a:extLst>
            </p:cNvPr>
            <p:cNvSpPr/>
            <p:nvPr/>
          </p:nvSpPr>
          <p:spPr>
            <a:xfrm>
              <a:off x="5822353" y="2403074"/>
              <a:ext cx="2880000" cy="7200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76F78F-ECD7-4F76-B78F-D0039EFD85F6}"/>
                </a:ext>
              </a:extLst>
            </p:cNvPr>
            <p:cNvSpPr txBox="1"/>
            <p:nvPr/>
          </p:nvSpPr>
          <p:spPr>
            <a:xfrm>
              <a:off x="5692418" y="1843641"/>
              <a:ext cx="112440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충전량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E0E53A4-3C68-49BF-89F5-3C3B6190242E}"/>
                </a:ext>
              </a:extLst>
            </p:cNvPr>
            <p:cNvSpPr txBox="1"/>
            <p:nvPr/>
          </p:nvSpPr>
          <p:spPr>
            <a:xfrm>
              <a:off x="5692418" y="2201668"/>
              <a:ext cx="11349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방전량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E679431-6117-4443-89A7-FCC25732B376}"/>
                </a:ext>
              </a:extLst>
            </p:cNvPr>
            <p:cNvSpPr txBox="1"/>
            <p:nvPr/>
          </p:nvSpPr>
          <p:spPr>
            <a:xfrm>
              <a:off x="7270746" y="1753651"/>
              <a:ext cx="14961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1,350.5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66D3B8F-8FE4-4265-9146-55D17D57A666}"/>
                </a:ext>
              </a:extLst>
            </p:cNvPr>
            <p:cNvSpPr txBox="1"/>
            <p:nvPr/>
          </p:nvSpPr>
          <p:spPr>
            <a:xfrm>
              <a:off x="7419971" y="2115095"/>
              <a:ext cx="13469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9DAF780-D8CE-4BFB-8530-8E01FDAB46EA}"/>
              </a:ext>
            </a:extLst>
          </p:cNvPr>
          <p:cNvGrpSpPr/>
          <p:nvPr/>
        </p:nvGrpSpPr>
        <p:grpSpPr>
          <a:xfrm>
            <a:off x="8123038" y="1772816"/>
            <a:ext cx="582819" cy="762997"/>
            <a:chOff x="8066098" y="1891729"/>
            <a:chExt cx="639759" cy="762997"/>
          </a:xfrm>
        </p:grpSpPr>
        <p:pic>
          <p:nvPicPr>
            <p:cNvPr id="1030" name="Picture 6" descr="batteryì ëí ì´ë¯¸ì§ ê²ìê²°ê³¼">
              <a:extLst>
                <a:ext uri="{FF2B5EF4-FFF2-40B4-BE49-F238E27FC236}">
                  <a16:creationId xmlns:a16="http://schemas.microsoft.com/office/drawing/2014/main" id="{CC4F744F-F3B3-485E-8365-75D4A5510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4661" y="2092093"/>
              <a:ext cx="562633" cy="56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F9E8319-76FD-483E-A8DE-0A24EA344155}"/>
                </a:ext>
              </a:extLst>
            </p:cNvPr>
            <p:cNvSpPr txBox="1"/>
            <p:nvPr/>
          </p:nvSpPr>
          <p:spPr>
            <a:xfrm>
              <a:off x="8087885" y="1891729"/>
              <a:ext cx="5961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SOC(</a:t>
              </a:r>
              <a:r>
                <a: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잔량</a:t>
              </a:r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6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6409813-82A2-477A-891E-83BB61D4C3B4}"/>
                </a:ext>
              </a:extLst>
            </p:cNvPr>
            <p:cNvSpPr txBox="1"/>
            <p:nvPr/>
          </p:nvSpPr>
          <p:spPr>
            <a:xfrm>
              <a:off x="8066098" y="2016579"/>
              <a:ext cx="6397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85.5</a:t>
              </a:r>
              <a:r>
                <a:rPr lang="en-US" altLang="ko-KR" sz="6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%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6" y="2649564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72E2B794-8BB5-44D3-A079-A484D6282D9D}"/>
              </a:ext>
            </a:extLst>
          </p:cNvPr>
          <p:cNvCxnSpPr>
            <a:cxnSpLocks/>
          </p:cNvCxnSpPr>
          <p:nvPr/>
        </p:nvCxnSpPr>
        <p:spPr>
          <a:xfrm>
            <a:off x="6271321" y="2865564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87377C2-2E31-401D-8893-10CBFE062397}"/>
              </a:ext>
            </a:extLst>
          </p:cNvPr>
          <p:cNvGrpSpPr/>
          <p:nvPr/>
        </p:nvGrpSpPr>
        <p:grpSpPr>
          <a:xfrm>
            <a:off x="6516215" y="3525512"/>
            <a:ext cx="1900112" cy="400916"/>
            <a:chOff x="6298167" y="3578954"/>
            <a:chExt cx="2086494" cy="400916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064F9DAA-C26B-4B97-B020-A8C4E7117672}"/>
                </a:ext>
              </a:extLst>
            </p:cNvPr>
            <p:cNvSpPr/>
            <p:nvPr/>
          </p:nvSpPr>
          <p:spPr>
            <a:xfrm flipH="1">
              <a:off x="8165012" y="3936681"/>
              <a:ext cx="25599" cy="4318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8B369B08-010C-47B7-AEF2-0CA9AAD9778B}"/>
                </a:ext>
              </a:extLst>
            </p:cNvPr>
            <p:cNvSpPr/>
            <p:nvPr/>
          </p:nvSpPr>
          <p:spPr>
            <a:xfrm flipH="1">
              <a:off x="7294535" y="3578954"/>
              <a:ext cx="25599" cy="40091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078B64C-0C86-4376-A736-4D876275F7E0}"/>
                </a:ext>
              </a:extLst>
            </p:cNvPr>
            <p:cNvSpPr/>
            <p:nvPr/>
          </p:nvSpPr>
          <p:spPr>
            <a:xfrm flipH="1">
              <a:off x="7405364" y="3599670"/>
              <a:ext cx="25599" cy="380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3CD0DB28-A5B7-419C-92CE-4B0F30BC08A1}"/>
                </a:ext>
              </a:extLst>
            </p:cNvPr>
            <p:cNvSpPr/>
            <p:nvPr/>
          </p:nvSpPr>
          <p:spPr>
            <a:xfrm flipH="1">
              <a:off x="7515924" y="3642328"/>
              <a:ext cx="25599" cy="33754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A2EEB97D-EDC1-46E4-B83C-357572071FB7}"/>
                </a:ext>
              </a:extLst>
            </p:cNvPr>
            <p:cNvSpPr/>
            <p:nvPr/>
          </p:nvSpPr>
          <p:spPr>
            <a:xfrm flipH="1">
              <a:off x="7627364" y="3748261"/>
              <a:ext cx="25599" cy="2316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D25908EF-2A07-43DB-82EB-213FE0568E54}"/>
                </a:ext>
              </a:extLst>
            </p:cNvPr>
            <p:cNvSpPr/>
            <p:nvPr/>
          </p:nvSpPr>
          <p:spPr>
            <a:xfrm flipH="1">
              <a:off x="7721613" y="3779209"/>
              <a:ext cx="25599" cy="20066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F264B22E-0B6D-46D0-B73A-7A2C4A56736D}"/>
                </a:ext>
              </a:extLst>
            </p:cNvPr>
            <p:cNvSpPr/>
            <p:nvPr/>
          </p:nvSpPr>
          <p:spPr>
            <a:xfrm flipH="1">
              <a:off x="7832182" y="3816173"/>
              <a:ext cx="25599" cy="16369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BFE017F1-DC82-411E-8D5F-08F4112CA2B4}"/>
                </a:ext>
              </a:extLst>
            </p:cNvPr>
            <p:cNvSpPr/>
            <p:nvPr/>
          </p:nvSpPr>
          <p:spPr>
            <a:xfrm flipH="1">
              <a:off x="7943803" y="3832449"/>
              <a:ext cx="25599" cy="1474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CDA0A8FC-52A3-43D6-95DC-99B91FBFBBEA}"/>
                </a:ext>
              </a:extLst>
            </p:cNvPr>
            <p:cNvSpPr/>
            <p:nvPr/>
          </p:nvSpPr>
          <p:spPr>
            <a:xfrm flipH="1">
              <a:off x="8062603" y="3890100"/>
              <a:ext cx="25599" cy="8977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44D6EB47-1A63-4119-98A8-B2CF1E17657C}"/>
                </a:ext>
              </a:extLst>
            </p:cNvPr>
            <p:cNvSpPr/>
            <p:nvPr/>
          </p:nvSpPr>
          <p:spPr>
            <a:xfrm>
              <a:off x="6298167" y="3934317"/>
              <a:ext cx="24000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8E48E2BA-E7D7-45B8-939A-0258798B4214}"/>
                </a:ext>
              </a:extLst>
            </p:cNvPr>
            <p:cNvSpPr/>
            <p:nvPr/>
          </p:nvSpPr>
          <p:spPr>
            <a:xfrm>
              <a:off x="7010353" y="3634014"/>
              <a:ext cx="24000" cy="34585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38B6B327-9771-4F5C-BC9C-418C2B22EA63}"/>
                </a:ext>
              </a:extLst>
            </p:cNvPr>
            <p:cNvSpPr/>
            <p:nvPr/>
          </p:nvSpPr>
          <p:spPr>
            <a:xfrm>
              <a:off x="6906701" y="3697438"/>
              <a:ext cx="24000" cy="2824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99F1887D-40CE-4575-8783-EDD71320761C}"/>
                </a:ext>
              </a:extLst>
            </p:cNvPr>
            <p:cNvSpPr/>
            <p:nvPr/>
          </p:nvSpPr>
          <p:spPr>
            <a:xfrm>
              <a:off x="6802223" y="3742992"/>
              <a:ext cx="24000" cy="23687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35E7C913-FBBC-4073-864F-4142F5E02599}"/>
                </a:ext>
              </a:extLst>
            </p:cNvPr>
            <p:cNvSpPr/>
            <p:nvPr/>
          </p:nvSpPr>
          <p:spPr>
            <a:xfrm>
              <a:off x="6713863" y="3780069"/>
              <a:ext cx="24000" cy="19980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84DE5CAF-400B-487F-AA0A-E1568B5C33FF}"/>
                </a:ext>
              </a:extLst>
            </p:cNvPr>
            <p:cNvSpPr/>
            <p:nvPr/>
          </p:nvSpPr>
          <p:spPr>
            <a:xfrm>
              <a:off x="6610202" y="3824989"/>
              <a:ext cx="24000" cy="1548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185482A-BFFA-4862-8201-3F41AC73C5C2}"/>
                </a:ext>
              </a:extLst>
            </p:cNvPr>
            <p:cNvSpPr/>
            <p:nvPr/>
          </p:nvSpPr>
          <p:spPr>
            <a:xfrm>
              <a:off x="6505555" y="3870542"/>
              <a:ext cx="24000" cy="1093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ACC3F0D-E4B2-4F19-B004-2AB700E4F7EC}"/>
                </a:ext>
              </a:extLst>
            </p:cNvPr>
            <p:cNvSpPr/>
            <p:nvPr/>
          </p:nvSpPr>
          <p:spPr>
            <a:xfrm>
              <a:off x="6394178" y="3888763"/>
              <a:ext cx="24000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E86EABBB-2F84-4AD5-9644-0E97776117CD}"/>
                </a:ext>
              </a:extLst>
            </p:cNvPr>
            <p:cNvSpPr/>
            <p:nvPr/>
          </p:nvSpPr>
          <p:spPr>
            <a:xfrm>
              <a:off x="7114258" y="3578954"/>
              <a:ext cx="24000" cy="40091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EBCB32F4-DC20-499B-827C-4365BE801D42}"/>
                </a:ext>
              </a:extLst>
            </p:cNvPr>
            <p:cNvSpPr/>
            <p:nvPr/>
          </p:nvSpPr>
          <p:spPr>
            <a:xfrm>
              <a:off x="8266737" y="3934317"/>
              <a:ext cx="23583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7FE038FE-87FC-49FB-9EE1-0D21D6BD5003}"/>
                </a:ext>
              </a:extLst>
            </p:cNvPr>
            <p:cNvSpPr/>
            <p:nvPr/>
          </p:nvSpPr>
          <p:spPr>
            <a:xfrm>
              <a:off x="8361078" y="3888763"/>
              <a:ext cx="23583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2E05A0CE-DFA1-43CC-A26C-17B987E8A0E2}"/>
              </a:ext>
            </a:extLst>
          </p:cNvPr>
          <p:cNvCxnSpPr>
            <a:cxnSpLocks/>
          </p:cNvCxnSpPr>
          <p:nvPr/>
        </p:nvCxnSpPr>
        <p:spPr>
          <a:xfrm>
            <a:off x="6263707" y="3327302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2440053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시간대 별 발전량</a:t>
            </a: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3" y="4176376"/>
            <a:ext cx="2474453" cy="177287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38426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212065"/>
            <a:ext cx="7090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오늘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kWh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254A66D-7020-4D6E-9F1B-A18A63F6A41E}"/>
              </a:ext>
            </a:extLst>
          </p:cNvPr>
          <p:cNvGrpSpPr/>
          <p:nvPr/>
        </p:nvGrpSpPr>
        <p:grpSpPr>
          <a:xfrm>
            <a:off x="6632423" y="4384269"/>
            <a:ext cx="418353" cy="417836"/>
            <a:chOff x="6331547" y="4800436"/>
            <a:chExt cx="418353" cy="417836"/>
          </a:xfrm>
        </p:grpSpPr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7E394EF-B90A-44C5-955A-B941F6E3DB4B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655BE92-5434-4F0A-94A1-1F3F4AEF4E00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D2331B0-6169-4AC8-AD90-A4840103E5E9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D858EED-D900-4D53-8BEA-ACB3F502EC84}"/>
              </a:ext>
            </a:extLst>
          </p:cNvPr>
          <p:cNvGrpSpPr/>
          <p:nvPr/>
        </p:nvGrpSpPr>
        <p:grpSpPr>
          <a:xfrm>
            <a:off x="7409660" y="4384269"/>
            <a:ext cx="546716" cy="417836"/>
            <a:chOff x="6331547" y="4800436"/>
            <a:chExt cx="418353" cy="417836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7049415-21D6-4609-87E2-E79B72C5683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1,350.5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8E4AD24-A210-4985-8EE7-053CFFA8DDC4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E576F084-45EA-485C-97B5-6C2F0125754E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-500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FE918BA-67BA-4D64-992F-9BD0F7510396}"/>
              </a:ext>
            </a:extLst>
          </p:cNvPr>
          <p:cNvGrpSpPr/>
          <p:nvPr/>
        </p:nvGrpSpPr>
        <p:grpSpPr>
          <a:xfrm>
            <a:off x="8197832" y="4384269"/>
            <a:ext cx="418353" cy="417836"/>
            <a:chOff x="6331547" y="4800436"/>
            <a:chExt cx="418353" cy="417836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5B47FA78-E0EF-427F-A152-BC555E8C0DC6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8.6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870C875D-E4A6-4140-9FD9-4B846FF65827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10.7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E28C3C86-4139-48BE-AB80-48254B51755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496445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479225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>
                <a:solidFill>
                  <a:schemeClr val="bg1"/>
                </a:solidFill>
              </a:rPr>
              <a:t>이번달</a:t>
            </a:r>
            <a:r>
              <a:rPr lang="ko-KR" altLang="en-US" sz="600" dirty="0">
                <a:solidFill>
                  <a:schemeClr val="bg1"/>
                </a:solidFill>
              </a:rPr>
              <a:t>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9A3192E6-AE7A-4784-8F58-91EBF75AD032}"/>
              </a:ext>
            </a:extLst>
          </p:cNvPr>
          <p:cNvGrpSpPr/>
          <p:nvPr/>
        </p:nvGrpSpPr>
        <p:grpSpPr>
          <a:xfrm>
            <a:off x="6632423" y="4964458"/>
            <a:ext cx="418353" cy="417836"/>
            <a:chOff x="6331547" y="4800436"/>
            <a:chExt cx="418353" cy="417836"/>
          </a:xfrm>
        </p:grpSpPr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FA70A35B-A937-484D-9B15-0D951245E315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03B20DCE-F895-4A9A-94AE-4107D018A1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11D5A325-CEB5-4CBF-A4F3-C2481F307B1C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039118F4-B073-4193-99B1-E4EDBFC8E3B2}"/>
              </a:ext>
            </a:extLst>
          </p:cNvPr>
          <p:cNvGrpSpPr/>
          <p:nvPr/>
        </p:nvGrpSpPr>
        <p:grpSpPr>
          <a:xfrm>
            <a:off x="7409660" y="4964458"/>
            <a:ext cx="546716" cy="417836"/>
            <a:chOff x="6331547" y="4800436"/>
            <a:chExt cx="418353" cy="417836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55099726-B1E8-423B-B8E4-0A6A4054F228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00692847-ED87-43F2-9099-A7112BE8153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DCE81FA-FE99-4529-8C4E-84ED2CDDCB51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96194F93-B5D0-4646-BED4-F32C4C997E5A}"/>
              </a:ext>
            </a:extLst>
          </p:cNvPr>
          <p:cNvGrpSpPr/>
          <p:nvPr/>
        </p:nvGrpSpPr>
        <p:grpSpPr>
          <a:xfrm>
            <a:off x="8197832" y="4964458"/>
            <a:ext cx="418353" cy="417836"/>
            <a:chOff x="6331547" y="4800436"/>
            <a:chExt cx="418353" cy="417836"/>
          </a:xfrm>
        </p:grpSpPr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5876CE20-F1E5-462A-8707-55F696E945E0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F74AE4E-DB28-4AB8-8735-FC478C1C82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3627A6BA-3454-4146-B93F-05CA68066CA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53527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36307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올해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73539193-9ACF-43D1-B0CF-65160A07C524}"/>
              </a:ext>
            </a:extLst>
          </p:cNvPr>
          <p:cNvGrpSpPr/>
          <p:nvPr/>
        </p:nvGrpSpPr>
        <p:grpSpPr>
          <a:xfrm>
            <a:off x="6606991" y="5535278"/>
            <a:ext cx="418353" cy="417836"/>
            <a:chOff x="6331547" y="4800436"/>
            <a:chExt cx="418353" cy="417836"/>
          </a:xfrm>
        </p:grpSpPr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396FD45-AFCE-45A7-88EF-403916F405B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0AC63B0E-AA68-4053-A9A2-333CC5690AFD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E58744F1-9E58-4589-BE81-BC5AE3AC3796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DF723356-AFB7-4B50-8085-5F4EF795A4BF}"/>
              </a:ext>
            </a:extLst>
          </p:cNvPr>
          <p:cNvGrpSpPr/>
          <p:nvPr/>
        </p:nvGrpSpPr>
        <p:grpSpPr>
          <a:xfrm>
            <a:off x="7384228" y="5535278"/>
            <a:ext cx="546716" cy="417836"/>
            <a:chOff x="6331547" y="4800436"/>
            <a:chExt cx="418353" cy="417836"/>
          </a:xfrm>
        </p:grpSpPr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235F8015-21AB-44C6-B2A8-237119610DED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58.9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A5DB8234-93C5-443F-9D35-ED84CD68B68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192.1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8105C910-CB9F-4E3B-9866-6E5CA47478B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9C5F358-0616-4BB2-BF6A-0C0BFAF2C4FB}"/>
              </a:ext>
            </a:extLst>
          </p:cNvPr>
          <p:cNvGrpSpPr/>
          <p:nvPr/>
        </p:nvGrpSpPr>
        <p:grpSpPr>
          <a:xfrm>
            <a:off x="8172400" y="5535278"/>
            <a:ext cx="418353" cy="417836"/>
            <a:chOff x="6331547" y="4800436"/>
            <a:chExt cx="418353" cy="417836"/>
          </a:xfrm>
        </p:grpSpPr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2265B189-9E37-46E0-A690-039CBCC3D9DC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3B9AE02A-2406-4604-A614-0F10B719F393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F3B2C65-8CAA-40CD-96CB-3DEFFE1ED3A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464.9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15" name="그림 314">
            <a:extLst>
              <a:ext uri="{FF2B5EF4-FFF2-40B4-BE49-F238E27FC236}">
                <a16:creationId xmlns:a16="http://schemas.microsoft.com/office/drawing/2014/main" id="{5AB8AD6B-1118-4EC4-898C-CAA2290A9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289" y="5262128"/>
            <a:ext cx="2540384" cy="734448"/>
          </a:xfrm>
          <a:prstGeom prst="rect">
            <a:avLst/>
          </a:prstGeom>
        </p:spPr>
      </p:pic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326C0E9F-B729-49BB-BB61-B6DE399D0AFA}"/>
              </a:ext>
            </a:extLst>
          </p:cNvPr>
          <p:cNvSpPr/>
          <p:nvPr/>
        </p:nvSpPr>
        <p:spPr>
          <a:xfrm>
            <a:off x="7703543" y="1990090"/>
            <a:ext cx="36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50E4392-BDD3-4354-ACB8-CD2465050FA5}"/>
              </a:ext>
            </a:extLst>
          </p:cNvPr>
          <p:cNvSpPr/>
          <p:nvPr/>
        </p:nvSpPr>
        <p:spPr>
          <a:xfrm>
            <a:off x="7524536" y="2351662"/>
            <a:ext cx="54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63CE122-8C92-484F-840B-451103E33A68}"/>
              </a:ext>
            </a:extLst>
          </p:cNvPr>
          <p:cNvGrpSpPr/>
          <p:nvPr/>
        </p:nvGrpSpPr>
        <p:grpSpPr>
          <a:xfrm>
            <a:off x="3303152" y="5238832"/>
            <a:ext cx="2629878" cy="714282"/>
            <a:chOff x="3315964" y="3933056"/>
            <a:chExt cx="2629878" cy="714282"/>
          </a:xfrm>
        </p:grpSpPr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E6DE84EA-F53C-406B-A1A4-648AD8127AD8}"/>
                </a:ext>
              </a:extLst>
            </p:cNvPr>
            <p:cNvSpPr txBox="1"/>
            <p:nvPr/>
          </p:nvSpPr>
          <p:spPr>
            <a:xfrm>
              <a:off x="3315964" y="3933056"/>
              <a:ext cx="98607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IOE </a:t>
              </a:r>
              <a:r>
                <a:rPr lang="ko-KR" altLang="en-US" sz="800" dirty="0">
                  <a:solidFill>
                    <a:schemeClr val="bg1"/>
                  </a:solidFill>
                </a:rPr>
                <a:t>통신상태</a:t>
              </a:r>
              <a:r>
                <a:rPr lang="en-US" altLang="ko-KR" sz="800" dirty="0">
                  <a:solidFill>
                    <a:schemeClr val="bg1"/>
                  </a:solidFill>
                </a:rPr>
                <a:t> 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5373FABF-B4DA-4DB8-9684-A2B94EE23F93}"/>
                </a:ext>
              </a:extLst>
            </p:cNvPr>
            <p:cNvCxnSpPr>
              <a:cxnSpLocks/>
            </p:cNvCxnSpPr>
            <p:nvPr/>
          </p:nvCxnSpPr>
          <p:spPr>
            <a:xfrm>
              <a:off x="3427007" y="4151328"/>
              <a:ext cx="2518835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7D49EC40-CC5E-4F92-8EBD-E723BC7A9405}"/>
                </a:ext>
              </a:extLst>
            </p:cNvPr>
            <p:cNvSpPr txBox="1"/>
            <p:nvPr/>
          </p:nvSpPr>
          <p:spPr>
            <a:xfrm>
              <a:off x="3599827" y="41697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4E554107-81CE-461D-859C-8BE986564061}"/>
                </a:ext>
              </a:extLst>
            </p:cNvPr>
            <p:cNvSpPr txBox="1"/>
            <p:nvPr/>
          </p:nvSpPr>
          <p:spPr>
            <a:xfrm>
              <a:off x="3599827" y="431023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96E4CC65-4FA4-4F03-8A6F-12D4159C277B}"/>
                </a:ext>
              </a:extLst>
            </p:cNvPr>
            <p:cNvSpPr txBox="1"/>
            <p:nvPr/>
          </p:nvSpPr>
          <p:spPr>
            <a:xfrm>
              <a:off x="3599827" y="446267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grpSp>
          <p:nvGrpSpPr>
            <p:cNvPr id="361" name="그룹 360">
              <a:extLst>
                <a:ext uri="{FF2B5EF4-FFF2-40B4-BE49-F238E27FC236}">
                  <a16:creationId xmlns:a16="http://schemas.microsoft.com/office/drawing/2014/main" id="{B0C53CCA-68F2-418F-B37A-3C2D7CBB54D9}"/>
                </a:ext>
              </a:extLst>
            </p:cNvPr>
            <p:cNvGrpSpPr/>
            <p:nvPr/>
          </p:nvGrpSpPr>
          <p:grpSpPr>
            <a:xfrm>
              <a:off x="4902913" y="4163766"/>
              <a:ext cx="1031096" cy="479666"/>
              <a:chOff x="6331547" y="4770556"/>
              <a:chExt cx="418353" cy="479666"/>
            </a:xfrm>
          </p:grpSpPr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8DEA0415-47C0-4D83-B11C-D1898BE12A7B}"/>
                  </a:ext>
                </a:extLst>
              </p:cNvPr>
              <p:cNvSpPr txBox="1"/>
              <p:nvPr/>
            </p:nvSpPr>
            <p:spPr>
              <a:xfrm>
                <a:off x="6331547" y="4770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C6B6E684-753E-4D45-A08F-F729A066CF35}"/>
                  </a:ext>
                </a:extLst>
              </p:cNvPr>
              <p:cNvSpPr txBox="1"/>
              <p:nvPr/>
            </p:nvSpPr>
            <p:spPr>
              <a:xfrm>
                <a:off x="6331547" y="4917021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64FF41AA-B5C9-4634-9099-BB7D2E6E1603}"/>
                  </a:ext>
                </a:extLst>
              </p:cNvPr>
              <p:cNvSpPr txBox="1"/>
              <p:nvPr/>
            </p:nvSpPr>
            <p:spPr>
              <a:xfrm>
                <a:off x="6331547" y="5065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1:12:12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B0D92DED-E5C5-414A-8E1C-45D690327A92}"/>
                </a:ext>
              </a:extLst>
            </p:cNvPr>
            <p:cNvSpPr txBox="1"/>
            <p:nvPr/>
          </p:nvSpPr>
          <p:spPr>
            <a:xfrm>
              <a:off x="4455403" y="3948445"/>
              <a:ext cx="37714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96C6EC84-0AFB-49CA-ABEF-5D5CA87A3085}"/>
                </a:ext>
              </a:extLst>
            </p:cNvPr>
            <p:cNvSpPr txBox="1"/>
            <p:nvPr/>
          </p:nvSpPr>
          <p:spPr>
            <a:xfrm>
              <a:off x="5070358" y="3948445"/>
              <a:ext cx="69620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상태변경 시간</a:t>
              </a:r>
            </a:p>
          </p:txBody>
        </p:sp>
        <p:grpSp>
          <p:nvGrpSpPr>
            <p:cNvPr id="1035" name="그룹 1034">
              <a:extLst>
                <a:ext uri="{FF2B5EF4-FFF2-40B4-BE49-F238E27FC236}">
                  <a16:creationId xmlns:a16="http://schemas.microsoft.com/office/drawing/2014/main" id="{7A602B55-6E2D-420E-8A43-F9743554D03E}"/>
                </a:ext>
              </a:extLst>
            </p:cNvPr>
            <p:cNvGrpSpPr/>
            <p:nvPr/>
          </p:nvGrpSpPr>
          <p:grpSpPr>
            <a:xfrm>
              <a:off x="4355976" y="4500675"/>
              <a:ext cx="576000" cy="119723"/>
              <a:chOff x="3225171" y="4126528"/>
              <a:chExt cx="465374" cy="119723"/>
            </a:xfrm>
          </p:grpSpPr>
          <p:sp>
            <p:nvSpPr>
              <p:cNvPr id="1031" name="사각형: 둥근 모서리 1030">
                <a:extLst>
                  <a:ext uri="{FF2B5EF4-FFF2-40B4-BE49-F238E27FC236}">
                    <a16:creationId xmlns:a16="http://schemas.microsoft.com/office/drawing/2014/main" id="{474E9FE0-1990-4F79-B693-4C241F3D6C8F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36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FF0066"/>
                    </a:solidFill>
                  </a:rPr>
                  <a:t>Disconnected</a:t>
                </a:r>
                <a:endParaRPr lang="ko-KR" altLang="en-US" sz="5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1033" name="타원 1032">
                <a:extLst>
                  <a:ext uri="{FF2B5EF4-FFF2-40B4-BE49-F238E27FC236}">
                    <a16:creationId xmlns:a16="http://schemas.microsoft.com/office/drawing/2014/main" id="{0FE133C8-7FFB-4B72-BCEE-33570C77BC75}"/>
                  </a:ext>
                </a:extLst>
              </p:cNvPr>
              <p:cNvSpPr/>
              <p:nvPr/>
            </p:nvSpPr>
            <p:spPr>
              <a:xfrm>
                <a:off x="3259208" y="4153413"/>
                <a:ext cx="43629" cy="54000"/>
              </a:xfrm>
              <a:prstGeom prst="ellipse">
                <a:avLst/>
              </a:prstGeom>
              <a:solidFill>
                <a:srgbClr val="FF0066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C91BC3BB-82EA-4C85-BE30-A3454D311B0C}"/>
                </a:ext>
              </a:extLst>
            </p:cNvPr>
            <p:cNvGrpSpPr/>
            <p:nvPr/>
          </p:nvGrpSpPr>
          <p:grpSpPr>
            <a:xfrm>
              <a:off x="4355976" y="4349788"/>
              <a:ext cx="576000" cy="119723"/>
              <a:chOff x="3225171" y="4126528"/>
              <a:chExt cx="465374" cy="119723"/>
            </a:xfrm>
          </p:grpSpPr>
          <p:sp>
            <p:nvSpPr>
              <p:cNvPr id="410" name="사각형: 둥근 모서리 409">
                <a:extLst>
                  <a:ext uri="{FF2B5EF4-FFF2-40B4-BE49-F238E27FC236}">
                    <a16:creationId xmlns:a16="http://schemas.microsoft.com/office/drawing/2014/main" id="{7D31AD07-E146-446C-8875-E2C3B52E247B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7E464107-49B0-4C99-98A8-D42716C92609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0AAC3C6D-DAB4-45F2-A51E-F93FD5CDAB3C}"/>
                </a:ext>
              </a:extLst>
            </p:cNvPr>
            <p:cNvGrpSpPr/>
            <p:nvPr/>
          </p:nvGrpSpPr>
          <p:grpSpPr>
            <a:xfrm>
              <a:off x="4355976" y="4198901"/>
              <a:ext cx="576000" cy="119723"/>
              <a:chOff x="3225171" y="4126528"/>
              <a:chExt cx="465374" cy="119723"/>
            </a:xfrm>
          </p:grpSpPr>
          <p:sp>
            <p:nvSpPr>
              <p:cNvPr id="413" name="사각형: 둥근 모서리 412">
                <a:extLst>
                  <a:ext uri="{FF2B5EF4-FFF2-40B4-BE49-F238E27FC236}">
                    <a16:creationId xmlns:a16="http://schemas.microsoft.com/office/drawing/2014/main" id="{5A12A2E8-7E30-4036-910D-EAA5D5F78A66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4" name="타원 413">
                <a:extLst>
                  <a:ext uri="{FF2B5EF4-FFF2-40B4-BE49-F238E27FC236}">
                    <a16:creationId xmlns:a16="http://schemas.microsoft.com/office/drawing/2014/main" id="{B5190FA2-FE58-4F48-B515-4515A47EE31D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507011" y="3740921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5568" y="3964957"/>
          <a:ext cx="255069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1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823612" y="4521214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994969" y="4495006"/>
            <a:ext cx="114467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1160006" y="4565310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1289274" y="4687557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6" name="직사각형 445">
            <a:extLst>
              <a:ext uri="{FF2B5EF4-FFF2-40B4-BE49-F238E27FC236}">
                <a16:creationId xmlns:a16="http://schemas.microsoft.com/office/drawing/2014/main" id="{8CC72A27-D062-4659-A20B-75407950CBB4}"/>
              </a:ext>
            </a:extLst>
          </p:cNvPr>
          <p:cNvSpPr/>
          <p:nvPr/>
        </p:nvSpPr>
        <p:spPr>
          <a:xfrm>
            <a:off x="475933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E3ECF995-9CB8-4F12-83C5-D74A8FB0FC3C}"/>
              </a:ext>
            </a:extLst>
          </p:cNvPr>
          <p:cNvSpPr/>
          <p:nvPr/>
        </p:nvSpPr>
        <p:spPr>
          <a:xfrm>
            <a:off x="753539" y="4915601"/>
            <a:ext cx="60696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8" name="직사각형 447">
            <a:extLst>
              <a:ext uri="{FF2B5EF4-FFF2-40B4-BE49-F238E27FC236}">
                <a16:creationId xmlns:a16="http://schemas.microsoft.com/office/drawing/2014/main" id="{A8D24558-F4AD-4E4F-A0A3-8068DB053CD0}"/>
              </a:ext>
            </a:extLst>
          </p:cNvPr>
          <p:cNvSpPr/>
          <p:nvPr/>
        </p:nvSpPr>
        <p:spPr>
          <a:xfrm>
            <a:off x="1098838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DR</a:t>
            </a:r>
            <a:r>
              <a:rPr lang="ko-KR" altLang="en-US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6EE38BF5-3A72-48E4-8BA9-BF2390F8238C}"/>
              </a:ext>
            </a:extLst>
          </p:cNvPr>
          <p:cNvSpPr/>
          <p:nvPr/>
        </p:nvSpPr>
        <p:spPr>
          <a:xfrm>
            <a:off x="1364833" y="4915601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36966B20-072A-484B-AAA1-2F378CBFE402}"/>
              </a:ext>
            </a:extLst>
          </p:cNvPr>
          <p:cNvSpPr/>
          <p:nvPr/>
        </p:nvSpPr>
        <p:spPr>
          <a:xfrm>
            <a:off x="2134425" y="4934890"/>
            <a:ext cx="825695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 수익</a:t>
            </a:r>
          </a:p>
        </p:txBody>
      </p:sp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FCA66087-7611-49F7-9D41-C19434ED8685}"/>
              </a:ext>
            </a:extLst>
          </p:cNvPr>
          <p:cNvSpPr/>
          <p:nvPr/>
        </p:nvSpPr>
        <p:spPr>
          <a:xfrm>
            <a:off x="2615847" y="4921226"/>
            <a:ext cx="664817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120,000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780" y="2064211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2989971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1849760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3528551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2139707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1819914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4929" y="3893951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5438" y="3901239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5947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6456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4929" y="4234478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5438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5947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6456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9817" y="3861048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22608" y="3974665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20866" y="4061449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22487" y="3972979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7273" y="4063424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71398" y="3970424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9656" y="4057208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71277" y="3960010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6063" y="4062115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6376" y="387136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13720" y="3861216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70665" y="3861216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9017" y="4204626"/>
            <a:ext cx="869295" cy="376502"/>
            <a:chOff x="4137026" y="5220442"/>
            <a:chExt cx="869295" cy="376502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EA5A1819-6465-4565-9474-D0F3C6A9CDF6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09F97A1F-4F29-4B70-84C0-E6B1CE85AE19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누적 발전량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60455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10964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61473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21724" y="4586716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49F22AB-17D8-4589-AB99-1A2B0B85FDAA}"/>
              </a:ext>
            </a:extLst>
          </p:cNvPr>
          <p:cNvGrpSpPr/>
          <p:nvPr/>
        </p:nvGrpSpPr>
        <p:grpSpPr>
          <a:xfrm>
            <a:off x="3418761" y="4940755"/>
            <a:ext cx="1835844" cy="184666"/>
            <a:chOff x="3535608" y="4989368"/>
            <a:chExt cx="1835844" cy="184666"/>
          </a:xfrm>
        </p:grpSpPr>
        <p:sp>
          <p:nvSpPr>
            <p:cNvPr id="407" name="사각형: 둥근 모서리 406">
              <a:extLst>
                <a:ext uri="{FF2B5EF4-FFF2-40B4-BE49-F238E27FC236}">
                  <a16:creationId xmlns:a16="http://schemas.microsoft.com/office/drawing/2014/main" id="{048E4DE1-D7A8-452E-8463-A0DC0C89AF19}"/>
                </a:ext>
              </a:extLst>
            </p:cNvPr>
            <p:cNvSpPr/>
            <p:nvPr/>
          </p:nvSpPr>
          <p:spPr>
            <a:xfrm>
              <a:off x="3535608" y="5016742"/>
              <a:ext cx="257502" cy="12991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98F989EC-9F16-48B2-BA01-18F6E055AD57}"/>
                </a:ext>
              </a:extLst>
            </p:cNvPr>
            <p:cNvSpPr txBox="1"/>
            <p:nvPr/>
          </p:nvSpPr>
          <p:spPr>
            <a:xfrm>
              <a:off x="369425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PCS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7" name="사각형: 둥근 모서리 416">
              <a:extLst>
                <a:ext uri="{FF2B5EF4-FFF2-40B4-BE49-F238E27FC236}">
                  <a16:creationId xmlns:a16="http://schemas.microsoft.com/office/drawing/2014/main" id="{D1F06681-278F-465D-91AE-A3FFF36AA439}"/>
                </a:ext>
              </a:extLst>
            </p:cNvPr>
            <p:cNvSpPr/>
            <p:nvPr/>
          </p:nvSpPr>
          <p:spPr>
            <a:xfrm>
              <a:off x="4158568" y="5016742"/>
              <a:ext cx="257502" cy="129918"/>
            </a:xfrm>
            <a:prstGeom prst="roundRect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A36FC55C-1AFC-4D4F-AF8E-1879ABC4227B}"/>
                </a:ext>
              </a:extLst>
            </p:cNvPr>
            <p:cNvSpPr txBox="1"/>
            <p:nvPr/>
          </p:nvSpPr>
          <p:spPr>
            <a:xfrm>
              <a:off x="431721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9" name="사각형: 둥근 모서리 418">
              <a:extLst>
                <a:ext uri="{FF2B5EF4-FFF2-40B4-BE49-F238E27FC236}">
                  <a16:creationId xmlns:a16="http://schemas.microsoft.com/office/drawing/2014/main" id="{F6BCCD55-7BC8-4744-BEDE-27F3A2F60D19}"/>
                </a:ext>
              </a:extLst>
            </p:cNvPr>
            <p:cNvSpPr/>
            <p:nvPr/>
          </p:nvSpPr>
          <p:spPr>
            <a:xfrm>
              <a:off x="4794451" y="5016742"/>
              <a:ext cx="257502" cy="129918"/>
            </a:xfrm>
            <a:prstGeom prst="roundRect">
              <a:avLst/>
            </a:prstGeom>
            <a:solidFill>
              <a:srgbClr val="FFC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1BB2E9C6-0B8B-4B8E-91A9-0C6EA163A71A}"/>
                </a:ext>
              </a:extLst>
            </p:cNvPr>
            <p:cNvSpPr txBox="1"/>
            <p:nvPr/>
          </p:nvSpPr>
          <p:spPr>
            <a:xfrm>
              <a:off x="4953099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2C3C8100-F6E5-466E-AA22-4126D1A5B4B8}"/>
              </a:ext>
            </a:extLst>
          </p:cNvPr>
          <p:cNvSpPr/>
          <p:nvPr/>
        </p:nvSpPr>
        <p:spPr>
          <a:xfrm>
            <a:off x="1708458" y="4921854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r>
              <a:rPr lang="ko-KR" altLang="en-US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099ED14-65AD-46EB-A7BA-5B26FEDEDD39}"/>
              </a:ext>
            </a:extLst>
          </p:cNvPr>
          <p:cNvSpPr/>
          <p:nvPr/>
        </p:nvSpPr>
        <p:spPr>
          <a:xfrm>
            <a:off x="1972163" y="4908190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892D6E6-A75A-406D-8F5E-9B6B79D25D32}"/>
              </a:ext>
            </a:extLst>
          </p:cNvPr>
          <p:cNvSpPr txBox="1"/>
          <p:nvPr/>
        </p:nvSpPr>
        <p:spPr>
          <a:xfrm>
            <a:off x="5187680" y="6495952"/>
            <a:ext cx="812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그룹별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0C33E3-056E-44A9-A45E-07F59773E5A0}"/>
              </a:ext>
            </a:extLst>
          </p:cNvPr>
          <p:cNvGrpSpPr/>
          <p:nvPr/>
        </p:nvGrpSpPr>
        <p:grpSpPr>
          <a:xfrm>
            <a:off x="1217504" y="1756776"/>
            <a:ext cx="1044000" cy="1446233"/>
            <a:chOff x="4177831" y="6268325"/>
            <a:chExt cx="1044000" cy="1446233"/>
          </a:xfrm>
        </p:grpSpPr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1A3B04C2-D085-4AB5-B6A1-47F04B11DCE0}"/>
                </a:ext>
              </a:extLst>
            </p:cNvPr>
            <p:cNvSpPr/>
            <p:nvPr/>
          </p:nvSpPr>
          <p:spPr>
            <a:xfrm>
              <a:off x="4194936" y="6268325"/>
              <a:ext cx="1009791" cy="1446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7814D0F7-2479-4414-AA78-D37E3207E4F9}"/>
                </a:ext>
              </a:extLst>
            </p:cNvPr>
            <p:cNvCxnSpPr/>
            <p:nvPr/>
          </p:nvCxnSpPr>
          <p:spPr>
            <a:xfrm>
              <a:off x="4375831" y="708825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CF2B50F7-1EC7-4A28-A255-DAFCB3111A05}"/>
                </a:ext>
              </a:extLst>
            </p:cNvPr>
            <p:cNvSpPr txBox="1"/>
            <p:nvPr/>
          </p:nvSpPr>
          <p:spPr>
            <a:xfrm>
              <a:off x="4177831" y="6283637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오늘의 사용량</a:t>
              </a:r>
            </a:p>
          </p:txBody>
        </p:sp>
        <p:cxnSp>
          <p:nvCxnSpPr>
            <p:cNvPr id="270" name="직선 연결선 269">
              <a:extLst>
                <a:ext uri="{FF2B5EF4-FFF2-40B4-BE49-F238E27FC236}">
                  <a16:creationId xmlns:a16="http://schemas.microsoft.com/office/drawing/2014/main" id="{E2407D05-CC23-4EBE-9642-072A240E62E0}"/>
                </a:ext>
              </a:extLst>
            </p:cNvPr>
            <p:cNvCxnSpPr/>
            <p:nvPr/>
          </p:nvCxnSpPr>
          <p:spPr>
            <a:xfrm>
              <a:off x="4375831" y="728514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연결선 270">
              <a:extLst>
                <a:ext uri="{FF2B5EF4-FFF2-40B4-BE49-F238E27FC236}">
                  <a16:creationId xmlns:a16="http://schemas.microsoft.com/office/drawing/2014/main" id="{33327AF8-AD39-4463-B0CF-C821F73C9F48}"/>
                </a:ext>
              </a:extLst>
            </p:cNvPr>
            <p:cNvCxnSpPr/>
            <p:nvPr/>
          </p:nvCxnSpPr>
          <p:spPr>
            <a:xfrm>
              <a:off x="4375831" y="748203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>
              <a:extLst>
                <a:ext uri="{FF2B5EF4-FFF2-40B4-BE49-F238E27FC236}">
                  <a16:creationId xmlns:a16="http://schemas.microsoft.com/office/drawing/2014/main" id="{9A215AB4-7CF8-4628-B203-37BC7E996B5F}"/>
                </a:ext>
              </a:extLst>
            </p:cNvPr>
            <p:cNvCxnSpPr/>
            <p:nvPr/>
          </p:nvCxnSpPr>
          <p:spPr>
            <a:xfrm>
              <a:off x="4375831" y="649759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11905FD9-B88B-42A6-9E88-CF3112D6EFEC}"/>
                </a:ext>
              </a:extLst>
            </p:cNvPr>
            <p:cNvCxnSpPr/>
            <p:nvPr/>
          </p:nvCxnSpPr>
          <p:spPr>
            <a:xfrm>
              <a:off x="4375831" y="669447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B32F1B6C-197E-4B1E-BE4A-4ACE70C210C0}"/>
                </a:ext>
              </a:extLst>
            </p:cNvPr>
            <p:cNvCxnSpPr/>
            <p:nvPr/>
          </p:nvCxnSpPr>
          <p:spPr>
            <a:xfrm>
              <a:off x="4375831" y="689136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88E13508-C4F5-4D4F-B470-D1FD381E53E4}"/>
                </a:ext>
              </a:extLst>
            </p:cNvPr>
            <p:cNvSpPr txBox="1"/>
            <p:nvPr/>
          </p:nvSpPr>
          <p:spPr>
            <a:xfrm>
              <a:off x="4177831" y="649303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피크 관리 현황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2A8436AD-2481-4E11-9DDB-044C427FFE5F}"/>
                </a:ext>
              </a:extLst>
            </p:cNvPr>
            <p:cNvSpPr txBox="1"/>
            <p:nvPr/>
          </p:nvSpPr>
          <p:spPr>
            <a:xfrm>
              <a:off x="4177831" y="668932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계획 사용량 조회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72A553A8-EE77-49EC-B884-DED8D423258E}"/>
                </a:ext>
              </a:extLst>
            </p:cNvPr>
            <p:cNvSpPr txBox="1"/>
            <p:nvPr/>
          </p:nvSpPr>
          <p:spPr>
            <a:xfrm>
              <a:off x="4177831" y="688596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충방전량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조회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307C0FD8-183C-4288-A6E1-0690E43E1C34}"/>
                </a:ext>
              </a:extLst>
            </p:cNvPr>
            <p:cNvSpPr txBox="1"/>
            <p:nvPr/>
          </p:nvSpPr>
          <p:spPr>
            <a:xfrm>
              <a:off x="4177831" y="708225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발전량 조회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87A4602F-3E99-4330-9CBA-EA2ECF62DF05}"/>
                </a:ext>
              </a:extLst>
            </p:cNvPr>
            <p:cNvSpPr txBox="1"/>
            <p:nvPr/>
          </p:nvSpPr>
          <p:spPr>
            <a:xfrm>
              <a:off x="4177831" y="727831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DR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실적 조회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AE782E75-F115-41EC-BC9E-C2366F1B5229}"/>
                </a:ext>
              </a:extLst>
            </p:cNvPr>
            <p:cNvSpPr txBox="1"/>
            <p:nvPr/>
          </p:nvSpPr>
          <p:spPr>
            <a:xfrm>
              <a:off x="4177831" y="749433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사용량 구성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7BA440-E8E0-44F7-A567-0A1F30FEF056}"/>
              </a:ext>
            </a:extLst>
          </p:cNvPr>
          <p:cNvGrpSpPr/>
          <p:nvPr/>
        </p:nvGrpSpPr>
        <p:grpSpPr>
          <a:xfrm>
            <a:off x="2128327" y="1748184"/>
            <a:ext cx="1044000" cy="854335"/>
            <a:chOff x="4299223" y="6353169"/>
            <a:chExt cx="1044000" cy="854335"/>
          </a:xfrm>
        </p:grpSpPr>
        <p:sp>
          <p:nvSpPr>
            <p:cNvPr id="325" name="직사각형 324">
              <a:extLst>
                <a:ext uri="{FF2B5EF4-FFF2-40B4-BE49-F238E27FC236}">
                  <a16:creationId xmlns:a16="http://schemas.microsoft.com/office/drawing/2014/main" id="{DE050138-C398-4932-A1E5-7E6A448CFF19}"/>
                </a:ext>
              </a:extLst>
            </p:cNvPr>
            <p:cNvSpPr/>
            <p:nvPr/>
          </p:nvSpPr>
          <p:spPr>
            <a:xfrm>
              <a:off x="4385547" y="6353169"/>
              <a:ext cx="871352" cy="8543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35AD8C61-6E64-4E84-A9E9-623824C199E1}"/>
                </a:ext>
              </a:extLst>
            </p:cNvPr>
            <p:cNvSpPr txBox="1"/>
            <p:nvPr/>
          </p:nvSpPr>
          <p:spPr>
            <a:xfrm>
              <a:off x="4299223" y="6368481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IOE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통신상태</a:t>
              </a:r>
            </a:p>
          </p:txBody>
        </p:sp>
        <p:cxnSp>
          <p:nvCxnSpPr>
            <p:cNvPr id="340" name="직선 연결선 339">
              <a:extLst>
                <a:ext uri="{FF2B5EF4-FFF2-40B4-BE49-F238E27FC236}">
                  <a16:creationId xmlns:a16="http://schemas.microsoft.com/office/drawing/2014/main" id="{B6EA4026-18CE-44A5-BB64-48160681C52F}"/>
                </a:ext>
              </a:extLst>
            </p:cNvPr>
            <p:cNvCxnSpPr/>
            <p:nvPr/>
          </p:nvCxnSpPr>
          <p:spPr>
            <a:xfrm>
              <a:off x="4497223" y="658243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직선 연결선 340">
              <a:extLst>
                <a:ext uri="{FF2B5EF4-FFF2-40B4-BE49-F238E27FC236}">
                  <a16:creationId xmlns:a16="http://schemas.microsoft.com/office/drawing/2014/main" id="{9A8CC026-06C3-4EA0-AE85-59BBADBE9559}"/>
                </a:ext>
              </a:extLst>
            </p:cNvPr>
            <p:cNvCxnSpPr/>
            <p:nvPr/>
          </p:nvCxnSpPr>
          <p:spPr>
            <a:xfrm>
              <a:off x="4497223" y="6779323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>
              <a:extLst>
                <a:ext uri="{FF2B5EF4-FFF2-40B4-BE49-F238E27FC236}">
                  <a16:creationId xmlns:a16="http://schemas.microsoft.com/office/drawing/2014/main" id="{659D8530-1061-4405-8502-037FACD18438}"/>
                </a:ext>
              </a:extLst>
            </p:cNvPr>
            <p:cNvCxnSpPr/>
            <p:nvPr/>
          </p:nvCxnSpPr>
          <p:spPr>
            <a:xfrm>
              <a:off x="4497223" y="697621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D52B2DCC-186C-4B1D-9FBA-31F5271456D7}"/>
                </a:ext>
              </a:extLst>
            </p:cNvPr>
            <p:cNvSpPr txBox="1"/>
            <p:nvPr/>
          </p:nvSpPr>
          <p:spPr>
            <a:xfrm>
              <a:off x="4299223" y="657787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PCS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6AE33EDF-81E1-4EB5-834A-52BBC717600B}"/>
                </a:ext>
              </a:extLst>
            </p:cNvPr>
            <p:cNvSpPr txBox="1"/>
            <p:nvPr/>
          </p:nvSpPr>
          <p:spPr>
            <a:xfrm>
              <a:off x="4299223" y="677416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BMS </a:t>
              </a:r>
              <a:r>
                <a:rPr lang="ko-KR" altLang="en-US" dirty="0"/>
                <a:t>운전상태</a:t>
              </a: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6794B7C-D354-4207-8467-474B58CC3DC5}"/>
                </a:ext>
              </a:extLst>
            </p:cNvPr>
            <p:cNvSpPr txBox="1"/>
            <p:nvPr/>
          </p:nvSpPr>
          <p:spPr>
            <a:xfrm>
              <a:off x="4299223" y="697080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B65CD59-D82C-48B4-A623-6AD716205AE7}"/>
              </a:ext>
            </a:extLst>
          </p:cNvPr>
          <p:cNvGrpSpPr/>
          <p:nvPr/>
        </p:nvGrpSpPr>
        <p:grpSpPr>
          <a:xfrm>
            <a:off x="3822088" y="1751525"/>
            <a:ext cx="1044000" cy="833083"/>
            <a:chOff x="5986543" y="6211594"/>
            <a:chExt cx="1044000" cy="833083"/>
          </a:xfrm>
        </p:grpSpPr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9639059D-4B19-40F6-B905-A991643E5102}"/>
                </a:ext>
              </a:extLst>
            </p:cNvPr>
            <p:cNvSpPr/>
            <p:nvPr/>
          </p:nvSpPr>
          <p:spPr>
            <a:xfrm>
              <a:off x="6052050" y="6211594"/>
              <a:ext cx="912986" cy="833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FD36F44-D264-4BF3-9B3F-000704336DC9}"/>
                </a:ext>
              </a:extLst>
            </p:cNvPr>
            <p:cNvSpPr txBox="1"/>
            <p:nvPr/>
          </p:nvSpPr>
          <p:spPr>
            <a:xfrm>
              <a:off x="5986543" y="622690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한전 요금 조회</a:t>
              </a:r>
            </a:p>
          </p:txBody>
        </p:sp>
        <p:cxnSp>
          <p:nvCxnSpPr>
            <p:cNvPr id="386" name="직선 연결선 385">
              <a:extLst>
                <a:ext uri="{FF2B5EF4-FFF2-40B4-BE49-F238E27FC236}">
                  <a16:creationId xmlns:a16="http://schemas.microsoft.com/office/drawing/2014/main" id="{75C2371D-79D7-4FD8-9C72-0BD6B8B92459}"/>
                </a:ext>
              </a:extLst>
            </p:cNvPr>
            <p:cNvCxnSpPr/>
            <p:nvPr/>
          </p:nvCxnSpPr>
          <p:spPr>
            <a:xfrm>
              <a:off x="6184543" y="644085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직선 연결선 386">
              <a:extLst>
                <a:ext uri="{FF2B5EF4-FFF2-40B4-BE49-F238E27FC236}">
                  <a16:creationId xmlns:a16="http://schemas.microsoft.com/office/drawing/2014/main" id="{39ED02F7-B53C-4B7E-AEE2-58CFAB0D31F3}"/>
                </a:ext>
              </a:extLst>
            </p:cNvPr>
            <p:cNvCxnSpPr/>
            <p:nvPr/>
          </p:nvCxnSpPr>
          <p:spPr>
            <a:xfrm>
              <a:off x="6184543" y="663774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직선 연결선 387">
              <a:extLst>
                <a:ext uri="{FF2B5EF4-FFF2-40B4-BE49-F238E27FC236}">
                  <a16:creationId xmlns:a16="http://schemas.microsoft.com/office/drawing/2014/main" id="{00781E5B-FA19-4334-93B3-4E8805DC1989}"/>
                </a:ext>
              </a:extLst>
            </p:cNvPr>
            <p:cNvCxnSpPr/>
            <p:nvPr/>
          </p:nvCxnSpPr>
          <p:spPr>
            <a:xfrm>
              <a:off x="6184543" y="683463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83317E25-F199-4672-892B-813A8FCA4A0E}"/>
                </a:ext>
              </a:extLst>
            </p:cNvPr>
            <p:cNvSpPr txBox="1"/>
            <p:nvPr/>
          </p:nvSpPr>
          <p:spPr>
            <a:xfrm>
              <a:off x="5986543" y="643630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D83F1108-BD0B-4520-8FD3-CC6AE1574133}"/>
                </a:ext>
              </a:extLst>
            </p:cNvPr>
            <p:cNvSpPr txBox="1"/>
            <p:nvPr/>
          </p:nvSpPr>
          <p:spPr>
            <a:xfrm>
              <a:off x="5986543" y="663259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DR </a:t>
              </a:r>
              <a:r>
                <a:rPr lang="ko-KR" altLang="en-US" dirty="0"/>
                <a:t>수익 조회</a:t>
              </a: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A2B088CC-30D1-4236-B027-488E807CDB7F}"/>
                </a:ext>
              </a:extLst>
            </p:cNvPr>
            <p:cNvSpPr txBox="1"/>
            <p:nvPr/>
          </p:nvSpPr>
          <p:spPr>
            <a:xfrm>
              <a:off x="5986543" y="682923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</p:grpSp>
      <p:pic>
        <p:nvPicPr>
          <p:cNvPr id="6146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19F40148-481B-482B-9F12-6A6D18F5C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25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cxnSp>
        <p:nvCxnSpPr>
          <p:cNvPr id="96" name="직선 연결선 95"/>
          <p:cNvCxnSpPr/>
          <p:nvPr/>
        </p:nvCxnSpPr>
        <p:spPr>
          <a:xfrm>
            <a:off x="1187624" y="285293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1187624" y="357301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 누적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89240"/>
            <a:ext cx="8646588" cy="79208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누적 사용량과 어제의 누적 사용량을 기준 시간 대로 구분하여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구분된 그래프를 이용하여 누적된 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어제의 사용량을 비교할 수 있음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75391" y="5274233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 누적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991748"/>
              </p:ext>
            </p:extLst>
          </p:nvPr>
        </p:nvGraphicFramePr>
        <p:xfrm>
          <a:off x="467544" y="2182499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6" name="직사각형 55"/>
          <p:cNvSpPr/>
          <p:nvPr/>
        </p:nvSpPr>
        <p:spPr>
          <a:xfrm>
            <a:off x="5921315" y="4797152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누적 사용량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002270" y="4725143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316416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55506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0888C9-5B5A-47CC-A159-33DE17C3D685}"/>
              </a:ext>
            </a:extLst>
          </p:cNvPr>
          <p:cNvGrpSpPr/>
          <p:nvPr/>
        </p:nvGrpSpPr>
        <p:grpSpPr>
          <a:xfrm>
            <a:off x="1403648" y="2780928"/>
            <a:ext cx="2705824" cy="1584176"/>
            <a:chOff x="1403648" y="2780928"/>
            <a:chExt cx="2705824" cy="1584176"/>
          </a:xfrm>
        </p:grpSpPr>
        <p:sp>
          <p:nvSpPr>
            <p:cNvPr id="2" name="직사각형 1"/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40205" y="2998490"/>
              <a:ext cx="72000" cy="13666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229249" y="3249104"/>
              <a:ext cx="72000" cy="111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2915816" y="3429104"/>
              <a:ext cx="72000" cy="93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013928" y="3575612"/>
              <a:ext cx="72000" cy="78949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2650736" y="3575612"/>
              <a:ext cx="72000" cy="78949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2339752" y="3753104"/>
              <a:ext cx="72000" cy="61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2025811" y="3933104"/>
              <a:ext cx="72000" cy="43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789792" y="4059104"/>
              <a:ext cx="72000" cy="30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851920" y="2780928"/>
              <a:ext cx="72000" cy="15841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589200" y="4239906"/>
              <a:ext cx="72000" cy="1236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4037472" y="3215678"/>
              <a:ext cx="72000" cy="1147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3725757" y="3274990"/>
              <a:ext cx="72000" cy="10885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3414801" y="3397128"/>
              <a:ext cx="72000" cy="96643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3101368" y="3700432"/>
              <a:ext cx="72000" cy="66313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836288" y="3789040"/>
              <a:ext cx="72000" cy="57452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2525304" y="3894874"/>
              <a:ext cx="72000" cy="46869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211363" y="3941476"/>
              <a:ext cx="72000" cy="42209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877232" y="4106540"/>
              <a:ext cx="72000" cy="2570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80" name="직선 연결선 79"/>
          <p:cNvCxnSpPr/>
          <p:nvPr/>
        </p:nvCxnSpPr>
        <p:spPr>
          <a:xfrm>
            <a:off x="3995936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45720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5652120" y="2013659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3" name="직사각형 82"/>
          <p:cNvSpPr/>
          <p:nvPr/>
        </p:nvSpPr>
        <p:spPr>
          <a:xfrm>
            <a:off x="6228184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84" name="직선 연결선 83"/>
          <p:cNvCxnSpPr/>
          <p:nvPr/>
        </p:nvCxnSpPr>
        <p:spPr>
          <a:xfrm>
            <a:off x="7380312" y="2013659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직사각형 84"/>
          <p:cNvSpPr/>
          <p:nvPr/>
        </p:nvSpPr>
        <p:spPr>
          <a:xfrm>
            <a:off x="7956376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1437876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지난주 보다 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104515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170215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어제 보다 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3836854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누적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>
            <a:off x="4106044" y="2182499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EC4A8E0-AFED-483A-A9B1-FACB8977330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67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33F5EEE2-3E1F-4CDA-82E0-E72E2FF061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93EB9C2-BE19-4C0C-A68D-0A07D29E6FA6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79A94A9-1AB8-4AAF-95F1-F7CE55243682}"/>
              </a:ext>
            </a:extLst>
          </p:cNvPr>
          <p:cNvSpPr/>
          <p:nvPr/>
        </p:nvSpPr>
        <p:spPr>
          <a:xfrm>
            <a:off x="225294" y="945049"/>
            <a:ext cx="8811201" cy="53642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140230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84" y="1340767"/>
            <a:ext cx="8635704" cy="472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오늘의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346569" y="6069519"/>
            <a:ext cx="8646588" cy="5514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사용량을 시간 별로 구분하여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차원 꺾은 선형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지난 주의 기준 시간대의 사용량을 비교할 수 있도록 함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33" y="5838909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14008" y="580526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17227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567940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4" name="직선 연결선 33"/>
          <p:cNvCxnSpPr/>
          <p:nvPr/>
        </p:nvCxnSpPr>
        <p:spPr>
          <a:xfrm>
            <a:off x="1187624" y="295034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187624" y="397958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1413934" y="3166369"/>
            <a:ext cx="2687266" cy="1248958"/>
            <a:chOff x="1413933" y="2780928"/>
            <a:chExt cx="5030275" cy="1248958"/>
          </a:xfrm>
        </p:grpSpPr>
        <p:sp>
          <p:nvSpPr>
            <p:cNvPr id="11" name="자유형 10"/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자유형 11"/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6" name="직선 연결선 15"/>
          <p:cNvCxnSpPr/>
          <p:nvPr/>
        </p:nvCxnSpPr>
        <p:spPr>
          <a:xfrm>
            <a:off x="3419872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95936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471601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직사각형 47"/>
          <p:cNvSpPr/>
          <p:nvPr/>
        </p:nvSpPr>
        <p:spPr>
          <a:xfrm>
            <a:off x="529208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49" name="직선 연결선 48"/>
          <p:cNvCxnSpPr/>
          <p:nvPr/>
        </p:nvCxnSpPr>
        <p:spPr>
          <a:xfrm>
            <a:off x="6012160" y="2399100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직사각형 49"/>
          <p:cNvSpPr/>
          <p:nvPr/>
        </p:nvSpPr>
        <p:spPr>
          <a:xfrm>
            <a:off x="6588224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696236" y="5254601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350182" y="5182592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316416" y="5254601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88271" y="210412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오늘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4106044" y="2567940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699624-A77E-4414-8D4F-FD12E65B31A0}"/>
              </a:ext>
            </a:extLst>
          </p:cNvPr>
          <p:cNvGrpSpPr/>
          <p:nvPr/>
        </p:nvGrpSpPr>
        <p:grpSpPr>
          <a:xfrm>
            <a:off x="485190" y="5452198"/>
            <a:ext cx="862386" cy="211955"/>
            <a:chOff x="4861742" y="3907374"/>
            <a:chExt cx="862386" cy="211955"/>
          </a:xfrm>
        </p:grpSpPr>
        <p:pic>
          <p:nvPicPr>
            <p:cNvPr id="307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1A45E5E3-1AA0-4F83-A1FA-A9032D70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01B1EF-0970-42CC-A534-2866FAB0E9C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396AAB8-2C95-4630-B9BD-95012B49B630}"/>
              </a:ext>
            </a:extLst>
          </p:cNvPr>
          <p:cNvSpPr/>
          <p:nvPr/>
        </p:nvSpPr>
        <p:spPr>
          <a:xfrm>
            <a:off x="1437876" y="5182592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지난주 보다 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F38803A-62B5-4837-B08F-D928DD80D328}"/>
              </a:ext>
            </a:extLst>
          </p:cNvPr>
          <p:cNvSpPr/>
          <p:nvPr/>
        </p:nvSpPr>
        <p:spPr>
          <a:xfrm>
            <a:off x="2051720" y="5182592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BB4B909-368A-4DD1-BD21-CB02C5881D10}"/>
              </a:ext>
            </a:extLst>
          </p:cNvPr>
          <p:cNvSpPr/>
          <p:nvPr/>
        </p:nvSpPr>
        <p:spPr>
          <a:xfrm>
            <a:off x="2915816" y="5182592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어제 보다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BEC13A7-CF18-4A51-B940-B2C0F403A0F7}"/>
              </a:ext>
            </a:extLst>
          </p:cNvPr>
          <p:cNvSpPr/>
          <p:nvPr/>
        </p:nvSpPr>
        <p:spPr>
          <a:xfrm>
            <a:off x="3470236" y="5182592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BFFD84-CE10-481D-8058-F0C5A5DFCF3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24DEAD-98B5-4B7B-9D4F-7A772D95083B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FC5F7F-3A66-4B86-AC6A-B5FA793ED7D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A75C43-6877-453F-B6B7-6BE0BBBD2A4E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A98987-7C72-4214-9B40-AD056B06C65B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0B695-DE6A-46AB-9C35-5177DD3A5405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0AC323-AFD0-48AD-B8D4-B04597702473}"/>
              </a:ext>
            </a:extLst>
          </p:cNvPr>
          <p:cNvSpPr/>
          <p:nvPr/>
        </p:nvSpPr>
        <p:spPr>
          <a:xfrm>
            <a:off x="1398391" y="1878001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951E9A-917F-46DE-A715-91317564ABC3}"/>
              </a:ext>
            </a:extLst>
          </p:cNvPr>
          <p:cNvGrpSpPr/>
          <p:nvPr/>
        </p:nvGrpSpPr>
        <p:grpSpPr>
          <a:xfrm>
            <a:off x="1338768" y="2113062"/>
            <a:ext cx="1044000" cy="1067081"/>
            <a:chOff x="5207857" y="6250351"/>
            <a:chExt cx="1044000" cy="106708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C10D695-7625-4F99-A1F6-2A0E3CB7E9E9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7A923C-DB1B-4AAF-929A-11D1CE5B2D6D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현재 시간</a:t>
              </a: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6BF527-9A31-42A8-A9EE-3822968F9E83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3AA8579-CD8F-4700-8D2F-81D345E9B5F2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5E4A0BD-8EAE-4E7D-8783-1E140B1CF4FA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EC4B9A-F6B8-42A1-BF95-52A865B398CD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시간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2665C8-E971-409B-BCF7-E327EA627259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일 </a:t>
              </a:r>
              <a:r>
                <a:rPr lang="en-US" altLang="ko-KR" dirty="0"/>
                <a:t>(</a:t>
              </a:r>
              <a:r>
                <a:rPr lang="ko-KR" altLang="en-US" dirty="0"/>
                <a:t>오늘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5D319C-7253-48D6-B3C8-5036CC76A711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년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올해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082D33A-65F0-4CA7-96EE-4D2E4F89BBB8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BE1A2FC-FAD8-45BB-B50E-85D5A0E5DE60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기간 설정</a:t>
              </a:r>
            </a:p>
          </p:txBody>
        </p:sp>
      </p:grpSp>
      <p:sp>
        <p:nvSpPr>
          <p:cNvPr id="70" name="자유형 83">
            <a:extLst>
              <a:ext uri="{FF2B5EF4-FFF2-40B4-BE49-F238E27FC236}">
                <a16:creationId xmlns:a16="http://schemas.microsoft.com/office/drawing/2014/main" id="{CFBF7A0F-8817-4B4A-97D4-1DF5FA9AC123}"/>
              </a:ext>
            </a:extLst>
          </p:cNvPr>
          <p:cNvSpPr/>
          <p:nvPr/>
        </p:nvSpPr>
        <p:spPr>
          <a:xfrm>
            <a:off x="1437877" y="2831156"/>
            <a:ext cx="3422156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자유형 33">
            <a:extLst>
              <a:ext uri="{FF2B5EF4-FFF2-40B4-BE49-F238E27FC236}">
                <a16:creationId xmlns:a16="http://schemas.microsoft.com/office/drawing/2014/main" id="{F8774554-6CAF-4183-82C4-54C7E1DE8CEB}"/>
              </a:ext>
            </a:extLst>
          </p:cNvPr>
          <p:cNvSpPr/>
          <p:nvPr/>
        </p:nvSpPr>
        <p:spPr>
          <a:xfrm flipH="1">
            <a:off x="4815075" y="2825423"/>
            <a:ext cx="3683445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A5F481B-C57D-4C7E-B518-B898BF575B05}"/>
              </a:ext>
            </a:extLst>
          </p:cNvPr>
          <p:cNvCxnSpPr/>
          <p:nvPr/>
        </p:nvCxnSpPr>
        <p:spPr>
          <a:xfrm>
            <a:off x="7308304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0CFB75-16EB-456A-BF92-C0438044E7C5}"/>
              </a:ext>
            </a:extLst>
          </p:cNvPr>
          <p:cNvSpPr/>
          <p:nvPr/>
        </p:nvSpPr>
        <p:spPr>
          <a:xfrm>
            <a:off x="7884368" y="227630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F3D34E5-0AD2-4485-92B0-8F4312167BFF}"/>
              </a:ext>
            </a:extLst>
          </p:cNvPr>
          <p:cNvGrpSpPr/>
          <p:nvPr/>
        </p:nvGrpSpPr>
        <p:grpSpPr>
          <a:xfrm>
            <a:off x="4572000" y="5186415"/>
            <a:ext cx="1980220" cy="549089"/>
            <a:chOff x="4427984" y="4725143"/>
            <a:chExt cx="1980220" cy="549089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2C06206-44BA-4ED1-AEC3-DC146478BD41}"/>
                </a:ext>
              </a:extLst>
            </p:cNvPr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B4175BE-622F-41B5-8B09-CDEBD9970FB0}"/>
                </a:ext>
              </a:extLst>
            </p:cNvPr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950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4B071EB-C9EC-4DF3-8230-402F540A72DF}"/>
                </a:ext>
              </a:extLst>
            </p:cNvPr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78" name="Picture 4" descr="ë¬ë ¥ ì íì ëí ì´ë¯¸ì§ ê²ìê²°ê³¼">
            <a:extLst>
              <a:ext uri="{FF2B5EF4-FFF2-40B4-BE49-F238E27FC236}">
                <a16:creationId xmlns:a16="http://schemas.microsoft.com/office/drawing/2014/main" id="{D3466C31-65C7-4DF1-83BE-820693C2D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067" y="2156991"/>
            <a:ext cx="1554865" cy="135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8AE225B-1849-4D84-ACC2-85F6710F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50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40767"/>
            <a:ext cx="8635704" cy="51845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038006"/>
              </p:ext>
            </p:extLst>
          </p:nvPr>
        </p:nvGraphicFramePr>
        <p:xfrm>
          <a:off x="597006" y="2035764"/>
          <a:ext cx="3343143" cy="1681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7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시간 단위 선택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287B717-4E43-4BA9-B936-22B16360399F}"/>
              </a:ext>
            </a:extLst>
          </p:cNvPr>
          <p:cNvGrpSpPr/>
          <p:nvPr/>
        </p:nvGrpSpPr>
        <p:grpSpPr>
          <a:xfrm>
            <a:off x="611560" y="1560637"/>
            <a:ext cx="3273328" cy="201883"/>
            <a:chOff x="2831858" y="1844824"/>
            <a:chExt cx="5439325" cy="300694"/>
          </a:xfrm>
        </p:grpSpPr>
        <p:sp>
          <p:nvSpPr>
            <p:cNvPr id="32" name="직사각형 31"/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1BFFD84-CE10-481D-8058-F0C5A5DFCF34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824DEAD-98B5-4B7B-9D4F-7A772D95083B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0FC5F7F-3A66-4B86-AC6A-B5FA793ED7DF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5A75C43-6877-453F-B6B7-6BE0BBBD2A4E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AA98987-7C72-4214-9B40-AD056B06C65B}"/>
                </a:ext>
              </a:extLst>
            </p:cNvPr>
            <p:cNvSpPr/>
            <p:nvPr/>
          </p:nvSpPr>
          <p:spPr>
            <a:xfrm>
              <a:off x="7109628" y="1857484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3C0B695-DE6A-46AB-9C35-5177DD3A5405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050AC323-AFD0-48AD-B8D4-B04597702473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500" dirty="0">
                  <a:solidFill>
                    <a:schemeClr val="tx1"/>
                  </a:solidFill>
                </a:rPr>
                <a:t>현재 시간</a:t>
              </a:r>
              <a:r>
                <a:rPr lang="en-US" altLang="ko-KR" sz="500" dirty="0">
                  <a:solidFill>
                    <a:schemeClr val="tx1"/>
                  </a:solidFill>
                </a:rPr>
                <a:t>  </a:t>
              </a:r>
              <a:r>
                <a:rPr lang="ko-KR" altLang="en-US" sz="500" dirty="0">
                  <a:solidFill>
                    <a:schemeClr val="tx1"/>
                  </a:solidFill>
                </a:rPr>
                <a:t>▼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B1FE0B1-EFB0-4DD1-9316-3E1EC3D862A4}"/>
              </a:ext>
            </a:extLst>
          </p:cNvPr>
          <p:cNvGrpSpPr/>
          <p:nvPr/>
        </p:nvGrpSpPr>
        <p:grpSpPr>
          <a:xfrm>
            <a:off x="1074977" y="2230268"/>
            <a:ext cx="2824541" cy="921062"/>
            <a:chOff x="1187624" y="2831156"/>
            <a:chExt cx="7488832" cy="1584171"/>
          </a:xfrm>
        </p:grpSpPr>
        <p:grpSp>
          <p:nvGrpSpPr>
            <p:cNvPr id="2" name="그룹 1"/>
            <p:cNvGrpSpPr/>
            <p:nvPr/>
          </p:nvGrpSpPr>
          <p:grpSpPr>
            <a:xfrm>
              <a:off x="1413934" y="3166369"/>
              <a:ext cx="7262475" cy="1248958"/>
              <a:chOff x="1413933" y="2780928"/>
              <a:chExt cx="13594577" cy="1248958"/>
            </a:xfrm>
          </p:grpSpPr>
          <p:sp>
            <p:nvSpPr>
              <p:cNvPr id="11" name="자유형 10"/>
              <p:cNvSpPr/>
              <p:nvPr/>
            </p:nvSpPr>
            <p:spPr>
              <a:xfrm>
                <a:off x="1413933" y="2780928"/>
                <a:ext cx="13594572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자유형 11"/>
              <p:cNvSpPr/>
              <p:nvPr/>
            </p:nvSpPr>
            <p:spPr>
              <a:xfrm>
                <a:off x="1413933" y="2996952"/>
                <a:ext cx="13594572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" name="자유형 12"/>
              <p:cNvSpPr/>
              <p:nvPr/>
            </p:nvSpPr>
            <p:spPr>
              <a:xfrm>
                <a:off x="1430864" y="3068959"/>
                <a:ext cx="13577646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B9B6902-2CB7-4CE0-BB37-0CB9298D6945}"/>
                </a:ext>
              </a:extLst>
            </p:cNvPr>
            <p:cNvGrpSpPr/>
            <p:nvPr/>
          </p:nvGrpSpPr>
          <p:grpSpPr>
            <a:xfrm>
              <a:off x="1187624" y="2950345"/>
              <a:ext cx="7488832" cy="1138415"/>
              <a:chOff x="1187624" y="2950345"/>
              <a:chExt cx="7488832" cy="1138415"/>
            </a:xfrm>
          </p:grpSpPr>
          <p:cxnSp>
            <p:nvCxnSpPr>
              <p:cNvPr id="34" name="직선 연결선 33"/>
              <p:cNvCxnSpPr/>
              <p:nvPr/>
            </p:nvCxnSpPr>
            <p:spPr>
              <a:xfrm>
                <a:off x="1187624" y="2950345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>
                <a:off x="1187624" y="4088760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자유형 83">
              <a:extLst>
                <a:ext uri="{FF2B5EF4-FFF2-40B4-BE49-F238E27FC236}">
                  <a16:creationId xmlns:a16="http://schemas.microsoft.com/office/drawing/2014/main" id="{CFBF7A0F-8817-4B4A-97D4-1DF5FA9AC123}"/>
                </a:ext>
              </a:extLst>
            </p:cNvPr>
            <p:cNvSpPr/>
            <p:nvPr/>
          </p:nvSpPr>
          <p:spPr>
            <a:xfrm>
              <a:off x="1437878" y="2831156"/>
              <a:ext cx="7238529" cy="1526754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DCC3554-7129-4F7B-9249-FD9D169DFD30}"/>
              </a:ext>
            </a:extLst>
          </p:cNvPr>
          <p:cNvGrpSpPr/>
          <p:nvPr/>
        </p:nvGrpSpPr>
        <p:grpSpPr>
          <a:xfrm>
            <a:off x="821587" y="1776150"/>
            <a:ext cx="3063301" cy="187860"/>
            <a:chOff x="3718905" y="2276303"/>
            <a:chExt cx="5173575" cy="360609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/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47" name="직선 연결선 46"/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8" name="직사각형 47"/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" name="직사각형 49"/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8A5F481B-C57D-4C7E-B518-B898BF575B05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A90CFB75-16EB-456A-BF92-C0438044E7C5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E146DEEF-A1D2-418E-92D4-8F60FDB37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214050"/>
              </p:ext>
            </p:extLst>
          </p:nvPr>
        </p:nvGraphicFramePr>
        <p:xfrm>
          <a:off x="611560" y="4627950"/>
          <a:ext cx="3343151" cy="168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79" name="그룹 78">
            <a:extLst>
              <a:ext uri="{FF2B5EF4-FFF2-40B4-BE49-F238E27FC236}">
                <a16:creationId xmlns:a16="http://schemas.microsoft.com/office/drawing/2014/main" id="{FB5C39A5-E14F-4E17-A046-09B025142449}"/>
              </a:ext>
            </a:extLst>
          </p:cNvPr>
          <p:cNvGrpSpPr/>
          <p:nvPr/>
        </p:nvGrpSpPr>
        <p:grpSpPr>
          <a:xfrm>
            <a:off x="5163587" y="4153043"/>
            <a:ext cx="3273328" cy="201883"/>
            <a:chOff x="2831858" y="1844824"/>
            <a:chExt cx="5439325" cy="300694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B0403C8-F8BF-4380-B3F3-D3E150E43B74}"/>
                </a:ext>
              </a:extLst>
            </p:cNvPr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84A91497-9B96-4FC5-AFEC-D9C87CE1F969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5FF1C9E-5D56-4276-A677-7ACBB5AADF54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74D9568C-165B-4EEA-A9B5-D8F1A3DF925B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FAE4B0B-FEDA-46D4-BDFA-64A0C5C00135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FE861E2-D8FB-44B9-8AAA-EB526D56C473}"/>
                </a:ext>
              </a:extLst>
            </p:cNvPr>
            <p:cNvSpPr/>
            <p:nvPr/>
          </p:nvSpPr>
          <p:spPr>
            <a:xfrm>
              <a:off x="7109628" y="1857484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23A2745-40DD-4EC8-ACEA-5FB20E1C0875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3A4194B9-673E-498D-B5B8-A02DC3ACA8AA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r>
                <a:rPr lang="ko-KR" altLang="en-US" sz="500" dirty="0">
                  <a:solidFill>
                    <a:schemeClr val="tx1"/>
                  </a:solidFill>
                </a:rPr>
                <a:t>년 </a:t>
              </a:r>
              <a:r>
                <a:rPr lang="en-US" altLang="ko-KR" sz="500" dirty="0">
                  <a:solidFill>
                    <a:schemeClr val="tx1"/>
                  </a:solidFill>
                </a:rPr>
                <a:t>(</a:t>
              </a:r>
              <a:r>
                <a:rPr lang="ko-KR" altLang="en-US" sz="500" dirty="0">
                  <a:solidFill>
                    <a:schemeClr val="tx1"/>
                  </a:solidFill>
                </a:rPr>
                <a:t>올해</a:t>
              </a:r>
              <a:r>
                <a:rPr lang="en-US" altLang="ko-KR" sz="500" dirty="0">
                  <a:solidFill>
                    <a:schemeClr val="tx1"/>
                  </a:solidFill>
                </a:rPr>
                <a:t>)</a:t>
              </a:r>
              <a:r>
                <a:rPr lang="ko-KR" altLang="en-US" sz="500" dirty="0">
                  <a:solidFill>
                    <a:schemeClr val="tx1"/>
                  </a:solidFill>
                </a:rPr>
                <a:t>  ▼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B7024BC-6D62-423F-B8BE-4AA001039D53}"/>
              </a:ext>
            </a:extLst>
          </p:cNvPr>
          <p:cNvGrpSpPr/>
          <p:nvPr/>
        </p:nvGrpSpPr>
        <p:grpSpPr>
          <a:xfrm>
            <a:off x="907811" y="4669416"/>
            <a:ext cx="3046900" cy="1478331"/>
            <a:chOff x="1187624" y="2567940"/>
            <a:chExt cx="7488832" cy="2542640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B13738C6-1830-4FBC-AE64-AAE46188BB31}"/>
                </a:ext>
              </a:extLst>
            </p:cNvPr>
            <p:cNvGrpSpPr/>
            <p:nvPr/>
          </p:nvGrpSpPr>
          <p:grpSpPr>
            <a:xfrm>
              <a:off x="1413934" y="3166369"/>
              <a:ext cx="2687266" cy="1248958"/>
              <a:chOff x="1413933" y="2780928"/>
              <a:chExt cx="5030275" cy="1248958"/>
            </a:xfrm>
          </p:grpSpPr>
          <p:sp>
            <p:nvSpPr>
              <p:cNvPr id="96" name="자유형 10">
                <a:extLst>
                  <a:ext uri="{FF2B5EF4-FFF2-40B4-BE49-F238E27FC236}">
                    <a16:creationId xmlns:a16="http://schemas.microsoft.com/office/drawing/2014/main" id="{FD2393B0-8266-4442-9790-E2B1E3A5E8F9}"/>
                  </a:ext>
                </a:extLst>
              </p:cNvPr>
              <p:cNvSpPr/>
              <p:nvPr/>
            </p:nvSpPr>
            <p:spPr>
              <a:xfrm>
                <a:off x="1413933" y="2780928"/>
                <a:ext cx="5030275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7" name="자유형 11">
                <a:extLst>
                  <a:ext uri="{FF2B5EF4-FFF2-40B4-BE49-F238E27FC236}">
                    <a16:creationId xmlns:a16="http://schemas.microsoft.com/office/drawing/2014/main" id="{44A1B651-206F-48EF-A05E-FF12182FB6D1}"/>
                  </a:ext>
                </a:extLst>
              </p:cNvPr>
              <p:cNvSpPr/>
              <p:nvPr/>
            </p:nvSpPr>
            <p:spPr>
              <a:xfrm>
                <a:off x="1413933" y="2996952"/>
                <a:ext cx="5030275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8" name="자유형 12">
                <a:extLst>
                  <a:ext uri="{FF2B5EF4-FFF2-40B4-BE49-F238E27FC236}">
                    <a16:creationId xmlns:a16="http://schemas.microsoft.com/office/drawing/2014/main" id="{652DA28B-8282-4FC2-906B-0E1F6F150C24}"/>
                  </a:ext>
                </a:extLst>
              </p:cNvPr>
              <p:cNvSpPr/>
              <p:nvPr/>
            </p:nvSpPr>
            <p:spPr>
              <a:xfrm>
                <a:off x="1430867" y="3068960"/>
                <a:ext cx="5013341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A4DD7252-C713-430D-B102-914DBEB8671D}"/>
                </a:ext>
              </a:extLst>
            </p:cNvPr>
            <p:cNvGrpSpPr/>
            <p:nvPr/>
          </p:nvGrpSpPr>
          <p:grpSpPr>
            <a:xfrm>
              <a:off x="1187624" y="2567940"/>
              <a:ext cx="7488832" cy="2542640"/>
              <a:chOff x="1187624" y="2567940"/>
              <a:chExt cx="7488832" cy="2542640"/>
            </a:xfrm>
          </p:grpSpPr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1FCCB038-5AC3-4A41-A803-6663D4C06412}"/>
                  </a:ext>
                </a:extLst>
              </p:cNvPr>
              <p:cNvCxnSpPr/>
              <p:nvPr/>
            </p:nvCxnSpPr>
            <p:spPr>
              <a:xfrm>
                <a:off x="1187624" y="2950345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C6331C59-C8EA-4ED9-9AF2-717855580FCB}"/>
                  </a:ext>
                </a:extLst>
              </p:cNvPr>
              <p:cNvCxnSpPr/>
              <p:nvPr/>
            </p:nvCxnSpPr>
            <p:spPr>
              <a:xfrm>
                <a:off x="1187624" y="4088760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E109A531-37E5-446B-BC68-974760638A47}"/>
                  </a:ext>
                </a:extLst>
              </p:cNvPr>
              <p:cNvCxnSpPr/>
              <p:nvPr/>
            </p:nvCxnSpPr>
            <p:spPr>
              <a:xfrm>
                <a:off x="4106044" y="2567940"/>
                <a:ext cx="0" cy="254264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자유형 83">
              <a:extLst>
                <a:ext uri="{FF2B5EF4-FFF2-40B4-BE49-F238E27FC236}">
                  <a16:creationId xmlns:a16="http://schemas.microsoft.com/office/drawing/2014/main" id="{E6F7AEB1-C793-47DE-92B6-6A7134892997}"/>
                </a:ext>
              </a:extLst>
            </p:cNvPr>
            <p:cNvSpPr/>
            <p:nvPr/>
          </p:nvSpPr>
          <p:spPr>
            <a:xfrm>
              <a:off x="1437877" y="2831156"/>
              <a:ext cx="3422156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2" name="자유형 33">
              <a:extLst>
                <a:ext uri="{FF2B5EF4-FFF2-40B4-BE49-F238E27FC236}">
                  <a16:creationId xmlns:a16="http://schemas.microsoft.com/office/drawing/2014/main" id="{57F5A438-07E3-424A-8F3C-E0B7808B3455}"/>
                </a:ext>
              </a:extLst>
            </p:cNvPr>
            <p:cNvSpPr/>
            <p:nvPr/>
          </p:nvSpPr>
          <p:spPr>
            <a:xfrm flipH="1">
              <a:off x="4815075" y="2825423"/>
              <a:ext cx="3683445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935F16B4-8A8B-4D56-B01A-79EC20BF7631}"/>
              </a:ext>
            </a:extLst>
          </p:cNvPr>
          <p:cNvGrpSpPr/>
          <p:nvPr/>
        </p:nvGrpSpPr>
        <p:grpSpPr>
          <a:xfrm>
            <a:off x="836141" y="4368336"/>
            <a:ext cx="3063301" cy="187860"/>
            <a:chOff x="3718905" y="2276303"/>
            <a:chExt cx="5173575" cy="36060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FE6751F6-F8C9-40BF-B592-B23607EB8FE5}"/>
                </a:ext>
              </a:extLst>
            </p:cNvPr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58F22CA-4AE5-4693-B7A8-F9F6B68AA39D}"/>
                </a:ext>
              </a:extLst>
            </p:cNvPr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0458DA44-C241-4EF6-AE0B-B866AC6CF510}"/>
                </a:ext>
              </a:extLst>
            </p:cNvPr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C1559F52-9C30-4DD6-A24E-90317E80D4DB}"/>
                </a:ext>
              </a:extLst>
            </p:cNvPr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86D1A44E-F893-4FBC-9624-A1F361C20313}"/>
                </a:ext>
              </a:extLst>
            </p:cNvPr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DBE4CB1B-6B7A-4995-9AB8-4B17123F7567}"/>
                </a:ext>
              </a:extLst>
            </p:cNvPr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C9701C48-8BCF-478B-A42C-979E4C86B7CB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804673F7-EFEC-46DE-A8C0-EC9533E6C3E9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94515ECD-5B9D-40DA-A09F-AE1040C81173}"/>
              </a:ext>
            </a:extLst>
          </p:cNvPr>
          <p:cNvCxnSpPr>
            <a:cxnSpLocks/>
          </p:cNvCxnSpPr>
          <p:nvPr/>
        </p:nvCxnSpPr>
        <p:spPr>
          <a:xfrm>
            <a:off x="3940149" y="2028991"/>
            <a:ext cx="0" cy="16813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0" name="표 139">
            <a:extLst>
              <a:ext uri="{FF2B5EF4-FFF2-40B4-BE49-F238E27FC236}">
                <a16:creationId xmlns:a16="http://schemas.microsoft.com/office/drawing/2014/main" id="{A55C22AB-5301-49B9-854D-39CDBF137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80546"/>
              </p:ext>
            </p:extLst>
          </p:nvPr>
        </p:nvGraphicFramePr>
        <p:xfrm>
          <a:off x="5149032" y="2035764"/>
          <a:ext cx="3336376" cy="168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45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60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293B6AD6-8D90-46A8-BDC2-52891D45B8C3}"/>
              </a:ext>
            </a:extLst>
          </p:cNvPr>
          <p:cNvGrpSpPr/>
          <p:nvPr/>
        </p:nvGrpSpPr>
        <p:grpSpPr>
          <a:xfrm>
            <a:off x="5163587" y="1560637"/>
            <a:ext cx="3273328" cy="201885"/>
            <a:chOff x="2831858" y="1844824"/>
            <a:chExt cx="5439325" cy="300697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283510F-1764-4760-9E51-CF318DD91CF6}"/>
                </a:ext>
              </a:extLst>
            </p:cNvPr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A7E258D5-2425-43EC-958C-CB719108976C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5239E815-1E52-46F0-B6F9-9EAA85B318A3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DFE759C2-2D3F-486E-9E6C-AFE3416DD5EE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C01AEF2C-668A-4BA6-9005-E3D72C13BC0C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E8CE2B59-CD18-4131-AC06-0927C1352CB6}"/>
                </a:ext>
              </a:extLst>
            </p:cNvPr>
            <p:cNvSpPr/>
            <p:nvPr/>
          </p:nvSpPr>
          <p:spPr>
            <a:xfrm>
              <a:off x="7109629" y="1857487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3E2CAFAB-7AE1-4834-80AF-53818338267A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E8DDE0ED-98BF-45B3-8167-0144214785CB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r>
                <a:rPr lang="ko-KR" altLang="en-US" sz="500" dirty="0">
                  <a:solidFill>
                    <a:schemeClr val="tx1"/>
                  </a:solidFill>
                </a:rPr>
                <a:t>시간 </a:t>
              </a:r>
              <a:r>
                <a:rPr lang="en-US" altLang="ko-KR" sz="500" dirty="0">
                  <a:solidFill>
                    <a:schemeClr val="tx1"/>
                  </a:solidFill>
                </a:rPr>
                <a:t>   </a:t>
              </a:r>
              <a:r>
                <a:rPr lang="ko-KR" altLang="en-US" sz="500" dirty="0">
                  <a:solidFill>
                    <a:schemeClr val="tx1"/>
                  </a:solidFill>
                </a:rPr>
                <a:t>▼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1FF58EA8-687C-489B-BAEB-A157C4C36910}"/>
              </a:ext>
            </a:extLst>
          </p:cNvPr>
          <p:cNvGrpSpPr/>
          <p:nvPr/>
        </p:nvGrpSpPr>
        <p:grpSpPr>
          <a:xfrm>
            <a:off x="5445284" y="2299566"/>
            <a:ext cx="3040124" cy="661892"/>
            <a:chOff x="1187624" y="2950345"/>
            <a:chExt cx="7488832" cy="1138415"/>
          </a:xfrm>
        </p:grpSpPr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7CD567A6-3FF9-4B2B-8C6A-DA91BBDD6B8B}"/>
                </a:ext>
              </a:extLst>
            </p:cNvPr>
            <p:cNvCxnSpPr>
              <a:cxnSpLocks/>
            </p:cNvCxnSpPr>
            <p:nvPr/>
          </p:nvCxnSpPr>
          <p:spPr>
            <a:xfrm>
              <a:off x="1187624" y="29503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7D197766-7AF6-468D-8EBE-F0DA7323AEF0}"/>
                </a:ext>
              </a:extLst>
            </p:cNvPr>
            <p:cNvCxnSpPr>
              <a:cxnSpLocks/>
            </p:cNvCxnSpPr>
            <p:nvPr/>
          </p:nvCxnSpPr>
          <p:spPr>
            <a:xfrm>
              <a:off x="1187624" y="4088760"/>
              <a:ext cx="7369378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BA6A09-8310-428F-A8CF-134CF4ADE3A1}"/>
              </a:ext>
            </a:extLst>
          </p:cNvPr>
          <p:cNvGrpSpPr/>
          <p:nvPr/>
        </p:nvGrpSpPr>
        <p:grpSpPr>
          <a:xfrm>
            <a:off x="5940152" y="2230268"/>
            <a:ext cx="2304256" cy="921062"/>
            <a:chOff x="5940152" y="2230268"/>
            <a:chExt cx="1821851" cy="921062"/>
          </a:xfrm>
        </p:grpSpPr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EC35FAD7-B60B-4685-AB58-C6E0C80EC8F3}"/>
                </a:ext>
              </a:extLst>
            </p:cNvPr>
            <p:cNvGrpSpPr/>
            <p:nvPr/>
          </p:nvGrpSpPr>
          <p:grpSpPr>
            <a:xfrm>
              <a:off x="5940152" y="2425166"/>
              <a:ext cx="1811808" cy="726164"/>
              <a:chOff x="1413933" y="2780928"/>
              <a:chExt cx="5030275" cy="1248958"/>
            </a:xfrm>
          </p:grpSpPr>
          <p:sp>
            <p:nvSpPr>
              <p:cNvPr id="158" name="자유형 10">
                <a:extLst>
                  <a:ext uri="{FF2B5EF4-FFF2-40B4-BE49-F238E27FC236}">
                    <a16:creationId xmlns:a16="http://schemas.microsoft.com/office/drawing/2014/main" id="{4917C71E-D67B-4C86-A626-C2AD40485A99}"/>
                  </a:ext>
                </a:extLst>
              </p:cNvPr>
              <p:cNvSpPr/>
              <p:nvPr/>
            </p:nvSpPr>
            <p:spPr>
              <a:xfrm>
                <a:off x="1413933" y="2780928"/>
                <a:ext cx="5030275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9" name="자유형 11">
                <a:extLst>
                  <a:ext uri="{FF2B5EF4-FFF2-40B4-BE49-F238E27FC236}">
                    <a16:creationId xmlns:a16="http://schemas.microsoft.com/office/drawing/2014/main" id="{348A0133-6FCA-4DE8-B613-3B1B9C355820}"/>
                  </a:ext>
                </a:extLst>
              </p:cNvPr>
              <p:cNvSpPr/>
              <p:nvPr/>
            </p:nvSpPr>
            <p:spPr>
              <a:xfrm>
                <a:off x="1413933" y="2996952"/>
                <a:ext cx="5030275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0" name="자유형 12">
                <a:extLst>
                  <a:ext uri="{FF2B5EF4-FFF2-40B4-BE49-F238E27FC236}">
                    <a16:creationId xmlns:a16="http://schemas.microsoft.com/office/drawing/2014/main" id="{B79EB531-F993-4132-9189-90B8A154C660}"/>
                  </a:ext>
                </a:extLst>
              </p:cNvPr>
              <p:cNvSpPr/>
              <p:nvPr/>
            </p:nvSpPr>
            <p:spPr>
              <a:xfrm>
                <a:off x="1430867" y="3068960"/>
                <a:ext cx="5013341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53" name="자유형 83">
              <a:extLst>
                <a:ext uri="{FF2B5EF4-FFF2-40B4-BE49-F238E27FC236}">
                  <a16:creationId xmlns:a16="http://schemas.microsoft.com/office/drawing/2014/main" id="{05379E80-3BAD-4FBB-A125-611AF50D9E8D}"/>
                </a:ext>
              </a:extLst>
            </p:cNvPr>
            <p:cNvSpPr/>
            <p:nvPr/>
          </p:nvSpPr>
          <p:spPr>
            <a:xfrm>
              <a:off x="5956294" y="2230268"/>
              <a:ext cx="1805709" cy="887679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B75D67DE-04AA-4609-9317-241F3FE45618}"/>
              </a:ext>
            </a:extLst>
          </p:cNvPr>
          <p:cNvGrpSpPr/>
          <p:nvPr/>
        </p:nvGrpSpPr>
        <p:grpSpPr>
          <a:xfrm>
            <a:off x="5373614" y="1776150"/>
            <a:ext cx="3063301" cy="187860"/>
            <a:chOff x="3718905" y="2276303"/>
            <a:chExt cx="5173575" cy="360609"/>
          </a:xfrm>
        </p:grpSpPr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04157A27-4DC4-4279-91BE-0E706FB6522F}"/>
                </a:ext>
              </a:extLst>
            </p:cNvPr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8C6B2C02-C8E8-439B-BA8C-D5B7B302231F}"/>
                </a:ext>
              </a:extLst>
            </p:cNvPr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3717E384-38BC-4D27-B70E-C059D54699D9}"/>
                </a:ext>
              </a:extLst>
            </p:cNvPr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18F27611-B781-4080-A9B1-304BA6F837D2}"/>
                </a:ext>
              </a:extLst>
            </p:cNvPr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1C367401-763E-44EC-B9FA-5888FD91BED8}"/>
                </a:ext>
              </a:extLst>
            </p:cNvPr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7478E175-8223-45FE-B731-51EB5B3D3E5D}"/>
                </a:ext>
              </a:extLst>
            </p:cNvPr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9FCF20EF-6576-4849-BC3D-B0A6E03562F9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E4B59CB8-A362-4FCE-A7CB-B5FF9940A606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DA0CBF1E-AEBA-4C31-97E1-F5BB07C0E4B7}"/>
              </a:ext>
            </a:extLst>
          </p:cNvPr>
          <p:cNvCxnSpPr>
            <a:cxnSpLocks/>
          </p:cNvCxnSpPr>
          <p:nvPr/>
        </p:nvCxnSpPr>
        <p:spPr>
          <a:xfrm>
            <a:off x="8485411" y="2029478"/>
            <a:ext cx="0" cy="16813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C9B064F4-BE38-47CB-B102-2A4DAD0A8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100987"/>
              </p:ext>
            </p:extLst>
          </p:nvPr>
        </p:nvGraphicFramePr>
        <p:xfrm>
          <a:off x="5147719" y="4632526"/>
          <a:ext cx="3343138" cy="1681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7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055AF883-1242-4F66-939E-8780106E844C}"/>
              </a:ext>
            </a:extLst>
          </p:cNvPr>
          <p:cNvGrpSpPr/>
          <p:nvPr/>
        </p:nvGrpSpPr>
        <p:grpSpPr>
          <a:xfrm>
            <a:off x="519207" y="4150388"/>
            <a:ext cx="3273328" cy="201883"/>
            <a:chOff x="2831858" y="1844824"/>
            <a:chExt cx="5439325" cy="300694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36193F87-1C1A-45DD-863D-20E21647AF56}"/>
                </a:ext>
              </a:extLst>
            </p:cNvPr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33490BC5-D625-4020-AA97-7403D540FB4E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2046B05C-C266-4415-904E-2954886A269A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31057372-8703-4AA6-BE1A-DFAC04D35F4B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7FD1B51A-B2BE-46DE-89AD-A4A22E9E9FDB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DC706671-8601-42C0-A4D7-C710FFA4BAA0}"/>
                </a:ext>
              </a:extLst>
            </p:cNvPr>
            <p:cNvSpPr/>
            <p:nvPr/>
          </p:nvSpPr>
          <p:spPr>
            <a:xfrm>
              <a:off x="7109628" y="1857484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DCAFD610-7DE7-45C0-BD64-3405FD5DC1C0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80" name="사각형: 둥근 모서리 179">
              <a:extLst>
                <a:ext uri="{FF2B5EF4-FFF2-40B4-BE49-F238E27FC236}">
                  <a16:creationId xmlns:a16="http://schemas.microsoft.com/office/drawing/2014/main" id="{8C8B5060-2752-43B6-8256-277C319C83C1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r>
                <a:rPr lang="ko-KR" altLang="en-US" sz="500" dirty="0">
                  <a:solidFill>
                    <a:schemeClr val="tx1"/>
                  </a:solidFill>
                </a:rPr>
                <a:t>일 </a:t>
              </a:r>
              <a:r>
                <a:rPr lang="en-US" altLang="ko-KR" sz="500" dirty="0">
                  <a:solidFill>
                    <a:schemeClr val="tx1"/>
                  </a:solidFill>
                </a:rPr>
                <a:t>(</a:t>
              </a:r>
              <a:r>
                <a:rPr lang="ko-KR" altLang="en-US" sz="500" dirty="0">
                  <a:solidFill>
                    <a:schemeClr val="tx1"/>
                  </a:solidFill>
                </a:rPr>
                <a:t>오늘</a:t>
              </a:r>
              <a:r>
                <a:rPr lang="en-US" altLang="ko-KR" sz="500" dirty="0">
                  <a:solidFill>
                    <a:schemeClr val="tx1"/>
                  </a:solidFill>
                </a:rPr>
                <a:t>)  </a:t>
              </a:r>
              <a:r>
                <a:rPr lang="ko-KR" altLang="en-US" sz="500" dirty="0">
                  <a:solidFill>
                    <a:schemeClr val="tx1"/>
                  </a:solidFill>
                </a:rPr>
                <a:t>▼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AD27582-6389-45F7-9F1F-EEA1A1EDD57C}"/>
              </a:ext>
            </a:extLst>
          </p:cNvPr>
          <p:cNvGrpSpPr/>
          <p:nvPr/>
        </p:nvGrpSpPr>
        <p:grpSpPr>
          <a:xfrm>
            <a:off x="5779217" y="4827030"/>
            <a:ext cx="2706191" cy="921062"/>
            <a:chOff x="1187624" y="2831156"/>
            <a:chExt cx="11568574" cy="1584171"/>
          </a:xfrm>
        </p:grpSpPr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77CC30AE-763D-4267-B626-EA2172AE63E9}"/>
                </a:ext>
              </a:extLst>
            </p:cNvPr>
            <p:cNvGrpSpPr/>
            <p:nvPr/>
          </p:nvGrpSpPr>
          <p:grpSpPr>
            <a:xfrm>
              <a:off x="1413934" y="3166369"/>
              <a:ext cx="7262475" cy="1248958"/>
              <a:chOff x="1413933" y="2780928"/>
              <a:chExt cx="13594577" cy="1248958"/>
            </a:xfrm>
          </p:grpSpPr>
          <p:sp>
            <p:nvSpPr>
              <p:cNvPr id="187" name="자유형 10">
                <a:extLst>
                  <a:ext uri="{FF2B5EF4-FFF2-40B4-BE49-F238E27FC236}">
                    <a16:creationId xmlns:a16="http://schemas.microsoft.com/office/drawing/2014/main" id="{FABA8C0B-8447-4B87-A271-7A4FF17A1671}"/>
                  </a:ext>
                </a:extLst>
              </p:cNvPr>
              <p:cNvSpPr/>
              <p:nvPr/>
            </p:nvSpPr>
            <p:spPr>
              <a:xfrm>
                <a:off x="1413933" y="2780928"/>
                <a:ext cx="13594572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8" name="자유형 11">
                <a:extLst>
                  <a:ext uri="{FF2B5EF4-FFF2-40B4-BE49-F238E27FC236}">
                    <a16:creationId xmlns:a16="http://schemas.microsoft.com/office/drawing/2014/main" id="{C2193622-DDB7-42C7-AEDA-51CC9B2A5EF2}"/>
                  </a:ext>
                </a:extLst>
              </p:cNvPr>
              <p:cNvSpPr/>
              <p:nvPr/>
            </p:nvSpPr>
            <p:spPr>
              <a:xfrm>
                <a:off x="1413933" y="2996952"/>
                <a:ext cx="13594572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9" name="자유형 12">
                <a:extLst>
                  <a:ext uri="{FF2B5EF4-FFF2-40B4-BE49-F238E27FC236}">
                    <a16:creationId xmlns:a16="http://schemas.microsoft.com/office/drawing/2014/main" id="{7BA5022E-B889-44CD-B6CA-7F962E597042}"/>
                  </a:ext>
                </a:extLst>
              </p:cNvPr>
              <p:cNvSpPr/>
              <p:nvPr/>
            </p:nvSpPr>
            <p:spPr>
              <a:xfrm>
                <a:off x="1430864" y="3068959"/>
                <a:ext cx="13577646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A424E599-FD1F-4442-912B-E101B503CABA}"/>
                </a:ext>
              </a:extLst>
            </p:cNvPr>
            <p:cNvGrpSpPr/>
            <p:nvPr/>
          </p:nvGrpSpPr>
          <p:grpSpPr>
            <a:xfrm>
              <a:off x="1187624" y="2950345"/>
              <a:ext cx="11568574" cy="1138415"/>
              <a:chOff x="1187624" y="2950345"/>
              <a:chExt cx="11568574" cy="1138415"/>
            </a:xfrm>
          </p:grpSpPr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4855C075-E8F1-4E9E-80D3-212D2CF5E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7624" y="2950345"/>
                <a:ext cx="11568574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2E4E412-14CF-47BC-9656-546E3A4A00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7624" y="4088760"/>
                <a:ext cx="11568574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4" name="자유형 83">
              <a:extLst>
                <a:ext uri="{FF2B5EF4-FFF2-40B4-BE49-F238E27FC236}">
                  <a16:creationId xmlns:a16="http://schemas.microsoft.com/office/drawing/2014/main" id="{CDABBD5B-1C6E-4704-8B19-DA427551002D}"/>
                </a:ext>
              </a:extLst>
            </p:cNvPr>
            <p:cNvSpPr/>
            <p:nvPr/>
          </p:nvSpPr>
          <p:spPr>
            <a:xfrm>
              <a:off x="1437878" y="2831156"/>
              <a:ext cx="11318312" cy="1526754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8CF1380A-46D6-4FE0-BE52-4CAE31743075}"/>
              </a:ext>
            </a:extLst>
          </p:cNvPr>
          <p:cNvGrpSpPr/>
          <p:nvPr/>
        </p:nvGrpSpPr>
        <p:grpSpPr>
          <a:xfrm>
            <a:off x="5372301" y="4372912"/>
            <a:ext cx="3063301" cy="187860"/>
            <a:chOff x="3718905" y="2276303"/>
            <a:chExt cx="5173575" cy="360609"/>
          </a:xfrm>
        </p:grpSpPr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57A46EFC-ACC1-4E81-B340-EA6737C3AD01}"/>
                </a:ext>
              </a:extLst>
            </p:cNvPr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31540C13-9BF7-44E3-820E-C3DE584A1C7D}"/>
                </a:ext>
              </a:extLst>
            </p:cNvPr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5DCD5E6C-1B53-4B4C-B9B9-A0EBD89D7646}"/>
                </a:ext>
              </a:extLst>
            </p:cNvPr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B15D4E8F-C558-4FE9-84D6-323F77365EE2}"/>
                </a:ext>
              </a:extLst>
            </p:cNvPr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2C59DF4-5260-45E0-8B4C-4347DE975355}"/>
                </a:ext>
              </a:extLst>
            </p:cNvPr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118BC13B-96B3-4F2D-B072-C6AB5886806C}"/>
                </a:ext>
              </a:extLst>
            </p:cNvPr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58BF51F2-A653-4159-B793-1F8A6843A57D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65F34563-8263-4A4F-9E92-B8915E7EA703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7EBD836-3E4A-4DC7-8916-D1D2D593720A}"/>
              </a:ext>
            </a:extLst>
          </p:cNvPr>
          <p:cNvCxnSpPr>
            <a:cxnSpLocks/>
          </p:cNvCxnSpPr>
          <p:nvPr/>
        </p:nvCxnSpPr>
        <p:spPr>
          <a:xfrm>
            <a:off x="8490863" y="4625753"/>
            <a:ext cx="0" cy="16813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6736CF45-2F04-4C15-8F5B-EFFBCDE11A0B}"/>
              </a:ext>
            </a:extLst>
          </p:cNvPr>
          <p:cNvCxnSpPr/>
          <p:nvPr/>
        </p:nvCxnSpPr>
        <p:spPr>
          <a:xfrm>
            <a:off x="7476917" y="4676189"/>
            <a:ext cx="0" cy="14783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52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7"/>
            <a:ext cx="8635704" cy="464743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피크 관리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05441"/>
            <a:ext cx="8646588" cy="59191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현황은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단위로 전체 화면 업데이트가 되며 데이터는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주기로 현재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예상 사용량이 업데이트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전력의 기준은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“6.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계약 전력 표시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메뉴에서 설정된다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05927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75391" y="5778952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80269"/>
              </p:ext>
            </p:extLst>
          </p:nvPr>
        </p:nvGraphicFramePr>
        <p:xfrm>
          <a:off x="467543" y="2641523"/>
          <a:ext cx="7416928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5076056" y="2472683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5652120" y="2350455"/>
            <a:ext cx="12061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부하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33150" y="2472683"/>
            <a:ext cx="504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109214" y="235045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부하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4716016" y="5184167"/>
            <a:ext cx="3888432" cy="549089"/>
            <a:chOff x="4860032" y="4725143"/>
            <a:chExt cx="3888432" cy="549089"/>
          </a:xfrm>
        </p:grpSpPr>
        <p:sp>
          <p:nvSpPr>
            <p:cNvPr id="56" name="직사각형 55"/>
            <p:cNvSpPr/>
            <p:nvPr/>
          </p:nvSpPr>
          <p:spPr>
            <a:xfrm>
              <a:off x="6226281" y="4797152"/>
              <a:ext cx="108012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전력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7307236" y="4725143"/>
              <a:ext cx="1242138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838842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</a:t>
              </a:r>
              <a:endPara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4860032" y="4797152"/>
              <a:ext cx="1510265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4" name="직선 연결선 43"/>
          <p:cNvCxnSpPr/>
          <p:nvPr/>
        </p:nvCxnSpPr>
        <p:spPr>
          <a:xfrm>
            <a:off x="1187624" y="3023928"/>
            <a:ext cx="666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187624" y="3794810"/>
            <a:ext cx="666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endCxn id="62" idx="1"/>
          </p:cNvCxnSpPr>
          <p:nvPr/>
        </p:nvCxnSpPr>
        <p:spPr>
          <a:xfrm>
            <a:off x="1187624" y="4030972"/>
            <a:ext cx="666000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884472" y="2897914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884472" y="3668796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7884472" y="3904958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12" name="자유형 11"/>
          <p:cNvSpPr/>
          <p:nvPr/>
        </p:nvSpPr>
        <p:spPr>
          <a:xfrm>
            <a:off x="1456267" y="4463757"/>
            <a:ext cx="3877733" cy="287867"/>
          </a:xfrm>
          <a:custGeom>
            <a:avLst/>
            <a:gdLst>
              <a:gd name="connsiteX0" fmla="*/ 0 w 3877733"/>
              <a:gd name="connsiteY0" fmla="*/ 287867 h 287867"/>
              <a:gd name="connsiteX1" fmla="*/ 406400 w 3877733"/>
              <a:gd name="connsiteY1" fmla="*/ 101600 h 287867"/>
              <a:gd name="connsiteX2" fmla="*/ 863600 w 3877733"/>
              <a:gd name="connsiteY2" fmla="*/ 254000 h 287867"/>
              <a:gd name="connsiteX3" fmla="*/ 1286933 w 3877733"/>
              <a:gd name="connsiteY3" fmla="*/ 0 h 287867"/>
              <a:gd name="connsiteX4" fmla="*/ 1676400 w 3877733"/>
              <a:gd name="connsiteY4" fmla="*/ 67734 h 287867"/>
              <a:gd name="connsiteX5" fmla="*/ 2150533 w 3877733"/>
              <a:gd name="connsiteY5" fmla="*/ 203200 h 287867"/>
              <a:gd name="connsiteX6" fmla="*/ 2607733 w 3877733"/>
              <a:gd name="connsiteY6" fmla="*/ 254000 h 287867"/>
              <a:gd name="connsiteX7" fmla="*/ 2997200 w 3877733"/>
              <a:gd name="connsiteY7" fmla="*/ 254000 h 287867"/>
              <a:gd name="connsiteX8" fmla="*/ 3488266 w 3877733"/>
              <a:gd name="connsiteY8" fmla="*/ 101600 h 287867"/>
              <a:gd name="connsiteX9" fmla="*/ 3877733 w 3877733"/>
              <a:gd name="connsiteY9" fmla="*/ 101600 h 28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77733" h="287867">
                <a:moveTo>
                  <a:pt x="0" y="287867"/>
                </a:moveTo>
                <a:lnTo>
                  <a:pt x="406400" y="101600"/>
                </a:lnTo>
                <a:lnTo>
                  <a:pt x="863600" y="254000"/>
                </a:lnTo>
                <a:lnTo>
                  <a:pt x="1286933" y="0"/>
                </a:lnTo>
                <a:lnTo>
                  <a:pt x="1676400" y="67734"/>
                </a:lnTo>
                <a:lnTo>
                  <a:pt x="2150533" y="203200"/>
                </a:lnTo>
                <a:lnTo>
                  <a:pt x="2607733" y="254000"/>
                </a:lnTo>
                <a:lnTo>
                  <a:pt x="2997200" y="254000"/>
                </a:lnTo>
                <a:lnTo>
                  <a:pt x="3488266" y="101600"/>
                </a:lnTo>
                <a:lnTo>
                  <a:pt x="3877733" y="101600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연결선 62"/>
          <p:cNvCxnSpPr/>
          <p:nvPr/>
        </p:nvCxnSpPr>
        <p:spPr>
          <a:xfrm flipV="1">
            <a:off x="1456267" y="4030972"/>
            <a:ext cx="6284084" cy="7206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Peak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관리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5317480" y="2641523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BB60E-149C-4046-BB6E-BE5CFDE942C2}"/>
              </a:ext>
            </a:extLst>
          </p:cNvPr>
          <p:cNvSpPr/>
          <p:nvPr/>
        </p:nvSpPr>
        <p:spPr>
          <a:xfrm>
            <a:off x="1398391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현재 시간   ▼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2745E5-E38B-43F6-9548-0E376E5A1967}"/>
              </a:ext>
            </a:extLst>
          </p:cNvPr>
          <p:cNvGrpSpPr/>
          <p:nvPr/>
        </p:nvGrpSpPr>
        <p:grpSpPr>
          <a:xfrm>
            <a:off x="485190" y="5453773"/>
            <a:ext cx="862386" cy="211955"/>
            <a:chOff x="4861742" y="3907374"/>
            <a:chExt cx="862386" cy="211955"/>
          </a:xfrm>
        </p:grpSpPr>
        <p:pic>
          <p:nvPicPr>
            <p:cNvPr id="3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0C8E6DEC-B5D7-44F3-B449-0898AA39F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D68F07-B4E1-4539-87A0-56F2A4B47253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48256DFE-1D5E-427A-9832-3EE622BB215F}"/>
              </a:ext>
            </a:extLst>
          </p:cNvPr>
          <p:cNvSpPr/>
          <p:nvPr/>
        </p:nvSpPr>
        <p:spPr>
          <a:xfrm>
            <a:off x="2627784" y="3833620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A8820C-B086-41B6-8A3C-575734825F0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3D2C1-E378-48E0-A255-E441EA6AA9C5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51FCE7C-90DF-43AC-A7DE-AC80C62E35F4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9109CA-4A61-425A-AC6D-3D5B5F3E91E6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D97D2-1022-45D7-8B95-DF9554323A60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2BCDC-45AE-4BE1-A713-46F670110CFD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7AE0FAD0-AB54-4186-9D96-48813029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28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계획 사용량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60566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매일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시에 명일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24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 동안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예측 사용량에 대한 데이터가 화면에 조회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사용량도 현재 시간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까지의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데이터를 예측 사용량과 같이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7417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실제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0701"/>
              </p:ext>
            </p:extLst>
          </p:nvPr>
        </p:nvGraphicFramePr>
        <p:xfrm>
          <a:off x="467544" y="2711960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5940152" y="2543116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6516216" y="24208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8" name="직선 연결선 77"/>
          <p:cNvCxnSpPr/>
          <p:nvPr/>
        </p:nvCxnSpPr>
        <p:spPr>
          <a:xfrm>
            <a:off x="7452320" y="2543116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8028384" y="24208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84720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3094361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882012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자유형 2047"/>
          <p:cNvSpPr/>
          <p:nvPr/>
        </p:nvSpPr>
        <p:spPr>
          <a:xfrm>
            <a:off x="1859385" y="3322365"/>
            <a:ext cx="2352576" cy="1100161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414867">
                <a:moveTo>
                  <a:pt x="0" y="389467"/>
                </a:moveTo>
                <a:lnTo>
                  <a:pt x="270933" y="321733"/>
                </a:lnTo>
                <a:lnTo>
                  <a:pt x="575733" y="414867"/>
                </a:lnTo>
                <a:lnTo>
                  <a:pt x="880533" y="355600"/>
                </a:lnTo>
                <a:lnTo>
                  <a:pt x="1134533" y="203200"/>
                </a:lnTo>
                <a:lnTo>
                  <a:pt x="1456266" y="313267"/>
                </a:lnTo>
                <a:lnTo>
                  <a:pt x="1727200" y="254000"/>
                </a:lnTo>
                <a:lnTo>
                  <a:pt x="1998133" y="135467"/>
                </a:lnTo>
                <a:lnTo>
                  <a:pt x="2353733" y="287867"/>
                </a:lnTo>
                <a:lnTo>
                  <a:pt x="2607733" y="169333"/>
                </a:lnTo>
                <a:lnTo>
                  <a:pt x="2946400" y="211667"/>
                </a:lnTo>
                <a:lnTo>
                  <a:pt x="3234266" y="203200"/>
                </a:lnTo>
                <a:lnTo>
                  <a:pt x="3505200" y="0"/>
                </a:lnTo>
                <a:lnTo>
                  <a:pt x="3810000" y="135467"/>
                </a:lnTo>
                <a:lnTo>
                  <a:pt x="4097866" y="42333"/>
                </a:lnTo>
                <a:lnTo>
                  <a:pt x="4368800" y="118533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자유형 83"/>
          <p:cNvSpPr/>
          <p:nvPr/>
        </p:nvSpPr>
        <p:spPr>
          <a:xfrm>
            <a:off x="1883023" y="2831156"/>
            <a:ext cx="2977009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627784" y="5254600"/>
            <a:ext cx="3634501" cy="549089"/>
            <a:chOff x="2773703" y="4725143"/>
            <a:chExt cx="3634501" cy="549089"/>
          </a:xfrm>
        </p:grpSpPr>
        <p:sp>
          <p:nvSpPr>
            <p:cNvPr id="85" name="직사각형 84"/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2773703" y="4797152"/>
              <a:ext cx="1510265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계획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자유형 33"/>
          <p:cNvSpPr/>
          <p:nvPr/>
        </p:nvSpPr>
        <p:spPr>
          <a:xfrm flipH="1">
            <a:off x="4815076" y="2825423"/>
            <a:ext cx="2849311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4211960" y="2711956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/>
          <p:cNvGrpSpPr/>
          <p:nvPr/>
        </p:nvGrpSpPr>
        <p:grpSpPr>
          <a:xfrm>
            <a:off x="6732242" y="5233050"/>
            <a:ext cx="1980220" cy="549089"/>
            <a:chOff x="4427984" y="4725143"/>
            <a:chExt cx="1980220" cy="549089"/>
          </a:xfrm>
        </p:grpSpPr>
        <p:sp>
          <p:nvSpPr>
            <p:cNvPr id="37" name="직사각형 36"/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950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D655022-A41E-42EE-B2AA-6A8A9A73F907}"/>
              </a:ext>
            </a:extLst>
          </p:cNvPr>
          <p:cNvSpPr/>
          <p:nvPr/>
        </p:nvSpPr>
        <p:spPr>
          <a:xfrm>
            <a:off x="2123728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 ▼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1C13462-7306-4950-B9EE-400EA329A5C1}"/>
              </a:ext>
            </a:extLst>
          </p:cNvPr>
          <p:cNvGrpSpPr/>
          <p:nvPr/>
        </p:nvGrpSpPr>
        <p:grpSpPr>
          <a:xfrm>
            <a:off x="485190" y="5524206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FE721A-92F8-4872-9588-80DF4FE827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184F66-92B3-4BA7-815A-6DB216630D80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B73CC0-80CB-4679-9402-B93E40FDB87B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6AC6EF-8510-4958-BA6B-5324FBBC54EA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FFD270-9DB3-4D94-B471-F0673B8C8875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9E970F3-8232-45B5-B277-FC4B5084FA1A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4B97366-7606-4A92-A1BC-8F94AA9D7EAD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3C884AE-871D-4C73-A104-02195EE34E37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E3CF2F6-C438-4760-976E-CA2A7109ABFC}"/>
              </a:ext>
            </a:extLst>
          </p:cNvPr>
          <p:cNvSpPr/>
          <p:nvPr/>
        </p:nvSpPr>
        <p:spPr>
          <a:xfrm>
            <a:off x="225294" y="945049"/>
            <a:ext cx="8811201" cy="53642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314893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ESS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54038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매 시간 단위로 실제 충전 및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방전량에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조회기간 동안의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충전량과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충방전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7417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5)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충방전량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발전량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7968"/>
              </p:ext>
            </p:extLst>
          </p:nvPr>
        </p:nvGraphicFramePr>
        <p:xfrm>
          <a:off x="467544" y="2577566"/>
          <a:ext cx="8208914" cy="2673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828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9" name="직선 연결선 28"/>
          <p:cNvCxnSpPr/>
          <p:nvPr/>
        </p:nvCxnSpPr>
        <p:spPr>
          <a:xfrm>
            <a:off x="314888" y="583912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187624" y="2949541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187624" y="3935861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3995936" y="5328184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충전량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96053" y="5256175"/>
            <a:ext cx="1180103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1,500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48164" y="5328184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6469" y="215767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>
            <a:off x="7740352" y="2636912"/>
            <a:ext cx="0" cy="24347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/>
          <p:cNvGrpSpPr/>
          <p:nvPr/>
        </p:nvGrpSpPr>
        <p:grpSpPr>
          <a:xfrm flipH="1" flipV="1">
            <a:off x="4357435" y="3939476"/>
            <a:ext cx="2688227" cy="652703"/>
            <a:chOff x="1501760" y="2998490"/>
            <a:chExt cx="2520272" cy="1366614"/>
          </a:xfrm>
        </p:grpSpPr>
        <p:sp>
          <p:nvSpPr>
            <p:cNvPr id="41" name="직사각형 40"/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013928" y="3575612"/>
              <a:ext cx="72000" cy="78949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789792" y="4059104"/>
              <a:ext cx="72000" cy="30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403648" y="3249056"/>
            <a:ext cx="2520272" cy="684000"/>
            <a:chOff x="1403648" y="2780928"/>
            <a:chExt cx="2520272" cy="1584176"/>
          </a:xfrm>
        </p:grpSpPr>
        <p:sp>
          <p:nvSpPr>
            <p:cNvPr id="51" name="직사각형 50"/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540205" y="2998490"/>
              <a:ext cx="72000" cy="13666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229249" y="3249104"/>
              <a:ext cx="72000" cy="111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915816" y="3429104"/>
              <a:ext cx="72000" cy="93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650736" y="3575612"/>
              <a:ext cx="72000" cy="78949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339752" y="3753104"/>
              <a:ext cx="72000" cy="61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025811" y="3933104"/>
              <a:ext cx="72000" cy="43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851920" y="2780928"/>
              <a:ext cx="72000" cy="15841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60" name="직선 연결선 59"/>
          <p:cNvCxnSpPr/>
          <p:nvPr/>
        </p:nvCxnSpPr>
        <p:spPr>
          <a:xfrm>
            <a:off x="3923928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4499992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507605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직사각형 62"/>
          <p:cNvSpPr/>
          <p:nvPr/>
        </p:nvSpPr>
        <p:spPr>
          <a:xfrm>
            <a:off x="565212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</a:t>
            </a:r>
          </a:p>
        </p:txBody>
      </p:sp>
      <p:grpSp>
        <p:nvGrpSpPr>
          <p:cNvPr id="64" name="그룹 63"/>
          <p:cNvGrpSpPr/>
          <p:nvPr/>
        </p:nvGrpSpPr>
        <p:grpSpPr>
          <a:xfrm>
            <a:off x="7308297" y="3782267"/>
            <a:ext cx="353772" cy="155437"/>
            <a:chOff x="1403648" y="4005104"/>
            <a:chExt cx="360032" cy="360000"/>
          </a:xfrm>
        </p:grpSpPr>
        <p:sp>
          <p:nvSpPr>
            <p:cNvPr id="65" name="직사각형 64"/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7" name="직사각형 66"/>
          <p:cNvSpPr/>
          <p:nvPr/>
        </p:nvSpPr>
        <p:spPr>
          <a:xfrm>
            <a:off x="6437566" y="5309709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방전량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91512" y="5237700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244408" y="5309709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1DCB666-6B8A-45DB-9BDE-7FDD0DFCF498}"/>
              </a:ext>
            </a:extLst>
          </p:cNvPr>
          <p:cNvSpPr/>
          <p:nvPr/>
        </p:nvSpPr>
        <p:spPr>
          <a:xfrm>
            <a:off x="1470399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 ▼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0495306-191F-480E-8765-ED0683634DBC}"/>
              </a:ext>
            </a:extLst>
          </p:cNvPr>
          <p:cNvGrpSpPr/>
          <p:nvPr/>
        </p:nvGrpSpPr>
        <p:grpSpPr>
          <a:xfrm>
            <a:off x="485190" y="5525781"/>
            <a:ext cx="862386" cy="211955"/>
            <a:chOff x="4861742" y="3907374"/>
            <a:chExt cx="862386" cy="211955"/>
          </a:xfrm>
        </p:grpSpPr>
        <p:pic>
          <p:nvPicPr>
            <p:cNvPr id="7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B0914773-4DED-4C2F-BA20-14DB74B0A6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5AB4F4-A23E-4144-A78F-11E9CD9C88E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9C4075A-BE40-4398-A5FE-0A3C0CBD8AD2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29A1956-AE71-4BB0-A381-16E5570AA5C4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08DC5F7-0737-4488-9070-6D81DD6A19D7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7A78496-FAC4-4EF3-9419-AC1777C2ABD3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F03BF6-C889-4146-8E74-EC8F52B2C7EF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9369C3C-553F-4D3C-965E-4F98B38580FE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F604382-27A2-41C5-B180-4EA274D6B155}"/>
              </a:ext>
            </a:extLst>
          </p:cNvPr>
          <p:cNvCxnSpPr/>
          <p:nvPr/>
        </p:nvCxnSpPr>
        <p:spPr>
          <a:xfrm>
            <a:off x="1180851" y="4410020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7227A7-9C8E-492B-912D-1EE03F12F639}"/>
              </a:ext>
            </a:extLst>
          </p:cNvPr>
          <p:cNvCxnSpPr/>
          <p:nvPr/>
        </p:nvCxnSpPr>
        <p:spPr>
          <a:xfrm>
            <a:off x="1180851" y="3429000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67EE48B-155E-4306-B792-D328580E18B1}"/>
              </a:ext>
            </a:extLst>
          </p:cNvPr>
          <p:cNvCxnSpPr/>
          <p:nvPr/>
        </p:nvCxnSpPr>
        <p:spPr>
          <a:xfrm>
            <a:off x="1180851" y="4875933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33">
            <a:extLst>
              <a:ext uri="{FF2B5EF4-FFF2-40B4-BE49-F238E27FC236}">
                <a16:creationId xmlns:a16="http://schemas.microsoft.com/office/drawing/2014/main" id="{B304737F-2A23-49A1-8C19-687DA2A9778C}"/>
              </a:ext>
            </a:extLst>
          </p:cNvPr>
          <p:cNvSpPr/>
          <p:nvPr/>
        </p:nvSpPr>
        <p:spPr>
          <a:xfrm flipH="1" flipV="1">
            <a:off x="4353593" y="3937702"/>
            <a:ext cx="2689623" cy="684001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79F430B-E5C3-4D12-AC96-959F23F509D6}"/>
              </a:ext>
            </a:extLst>
          </p:cNvPr>
          <p:cNvCxnSpPr/>
          <p:nvPr/>
        </p:nvCxnSpPr>
        <p:spPr>
          <a:xfrm>
            <a:off x="7450394" y="2392691"/>
            <a:ext cx="504056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D81F6F3-4F0D-4E83-B79E-2CD34099FEB6}"/>
              </a:ext>
            </a:extLst>
          </p:cNvPr>
          <p:cNvSpPr/>
          <p:nvPr/>
        </p:nvSpPr>
        <p:spPr>
          <a:xfrm>
            <a:off x="8026458" y="227046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 계획</a:t>
            </a:r>
          </a:p>
        </p:txBody>
      </p:sp>
      <p:sp>
        <p:nvSpPr>
          <p:cNvPr id="87" name="자유형 83">
            <a:extLst>
              <a:ext uri="{FF2B5EF4-FFF2-40B4-BE49-F238E27FC236}">
                <a16:creationId xmlns:a16="http://schemas.microsoft.com/office/drawing/2014/main" id="{705F4A6F-AA69-4984-8409-0C9BE17B9DE0}"/>
              </a:ext>
            </a:extLst>
          </p:cNvPr>
          <p:cNvSpPr/>
          <p:nvPr/>
        </p:nvSpPr>
        <p:spPr>
          <a:xfrm>
            <a:off x="1397086" y="3160835"/>
            <a:ext cx="2742866" cy="770368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54D3F0D-6FAD-4255-A3C5-ECEAEA6255D7}"/>
              </a:ext>
            </a:extLst>
          </p:cNvPr>
          <p:cNvCxnSpPr/>
          <p:nvPr/>
        </p:nvCxnSpPr>
        <p:spPr>
          <a:xfrm>
            <a:off x="6156176" y="2396462"/>
            <a:ext cx="50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F83AB37-9B3E-4FE3-A4AB-35631B3CB450}"/>
              </a:ext>
            </a:extLst>
          </p:cNvPr>
          <p:cNvSpPr/>
          <p:nvPr/>
        </p:nvSpPr>
        <p:spPr>
          <a:xfrm>
            <a:off x="6732240" y="227423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 계획</a:t>
            </a:r>
          </a:p>
        </p:txBody>
      </p:sp>
      <p:pic>
        <p:nvPicPr>
          <p:cNvPr id="9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5D34ED3E-4770-4F4F-8757-68574888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84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 시간 단위로 실제 발전량에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조회기간 동안의 누적 발전량을 발전현황으로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충전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방전량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781771"/>
              </p:ext>
            </p:extLst>
          </p:nvPr>
        </p:nvGraphicFramePr>
        <p:xfrm>
          <a:off x="467543" y="2182503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4182005389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80" name="직선 연결선 79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cxnSpLocks/>
          </p:cNvCxnSpPr>
          <p:nvPr/>
        </p:nvCxnSpPr>
        <p:spPr>
          <a:xfrm>
            <a:off x="1187624" y="2571677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cxnSpLocks/>
          </p:cNvCxnSpPr>
          <p:nvPr/>
        </p:nvCxnSpPr>
        <p:spPr>
          <a:xfrm>
            <a:off x="1187624" y="3332236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4573903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발전량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6012160" y="2182499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 flipH="1">
            <a:off x="4044013" y="4005064"/>
            <a:ext cx="1857235" cy="360038"/>
            <a:chOff x="2123923" y="3645757"/>
            <a:chExt cx="1898109" cy="719347"/>
          </a:xfrm>
          <a:solidFill>
            <a:srgbClr val="FFFF00"/>
          </a:solidFill>
        </p:grpSpPr>
        <p:sp>
          <p:nvSpPr>
            <p:cNvPr id="29" name="직사각형 28"/>
            <p:cNvSpPr/>
            <p:nvPr/>
          </p:nvSpPr>
          <p:spPr>
            <a:xfrm>
              <a:off x="3950032" y="4077364"/>
              <a:ext cx="72000" cy="287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38317" y="3915766"/>
              <a:ext cx="72000" cy="44933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27361" y="3807101"/>
              <a:ext cx="72000" cy="5580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13929" y="3645757"/>
              <a:ext cx="72000" cy="7193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9" name="직선 연결선 58"/>
          <p:cNvCxnSpPr/>
          <p:nvPr/>
        </p:nvCxnSpPr>
        <p:spPr>
          <a:xfrm>
            <a:off x="4644008" y="2013659"/>
            <a:ext cx="504056" cy="0"/>
          </a:xfrm>
          <a:prstGeom prst="lin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직사각형 59"/>
          <p:cNvSpPr/>
          <p:nvPr/>
        </p:nvSpPr>
        <p:spPr>
          <a:xfrm>
            <a:off x="529208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437566" y="4778677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누적 발전량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091512" y="4706668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244408" y="4778677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FFFF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851919" y="3521399"/>
            <a:ext cx="2952329" cy="965184"/>
            <a:chOff x="1883023" y="2295966"/>
            <a:chExt cx="5781364" cy="1532488"/>
          </a:xfrm>
        </p:grpSpPr>
        <p:sp>
          <p:nvSpPr>
            <p:cNvPr id="82" name="자유형 81"/>
            <p:cNvSpPr/>
            <p:nvPr/>
          </p:nvSpPr>
          <p:spPr>
            <a:xfrm>
              <a:off x="1883023" y="2301699"/>
              <a:ext cx="2977009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자유형 88"/>
            <p:cNvSpPr/>
            <p:nvPr/>
          </p:nvSpPr>
          <p:spPr>
            <a:xfrm flipH="1">
              <a:off x="4815076" y="2295966"/>
              <a:ext cx="2849311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90" name="직선 연결선 89"/>
          <p:cNvCxnSpPr/>
          <p:nvPr/>
        </p:nvCxnSpPr>
        <p:spPr>
          <a:xfrm>
            <a:off x="6228184" y="2013659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6804248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D8FB336-45E6-4A8B-9654-204B641FA235}"/>
              </a:ext>
            </a:extLst>
          </p:cNvPr>
          <p:cNvSpPr/>
          <p:nvPr/>
        </p:nvSpPr>
        <p:spPr>
          <a:xfrm>
            <a:off x="1763688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시간 간격  ▼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4E819B4-336C-4B30-952E-BD57ED058A1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919D0A24-4A6A-42FB-87E1-83B879763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59EBDA-7CCA-4A6B-A55B-0AEFEE8962DD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DEBBE3D-C285-414C-A003-48231675E429}"/>
              </a:ext>
            </a:extLst>
          </p:cNvPr>
          <p:cNvCxnSpPr/>
          <p:nvPr/>
        </p:nvCxnSpPr>
        <p:spPr>
          <a:xfrm>
            <a:off x="7740352" y="2024340"/>
            <a:ext cx="504056" cy="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E04713A-7192-4B45-8B93-C03C3336FC3B}"/>
              </a:ext>
            </a:extLst>
          </p:cNvPr>
          <p:cNvSpPr/>
          <p:nvPr/>
        </p:nvSpPr>
        <p:spPr>
          <a:xfrm>
            <a:off x="8316416" y="1881793"/>
            <a:ext cx="64807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온도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3517143-FCD2-4D72-9D91-BDDEAAC207F2}"/>
              </a:ext>
            </a:extLst>
          </p:cNvPr>
          <p:cNvCxnSpPr>
            <a:cxnSpLocks/>
          </p:cNvCxnSpPr>
          <p:nvPr/>
        </p:nvCxnSpPr>
        <p:spPr>
          <a:xfrm flipV="1">
            <a:off x="3944893" y="3570189"/>
            <a:ext cx="599995" cy="12672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F2850EA-4617-49D0-9D3E-F8715017140E}"/>
              </a:ext>
            </a:extLst>
          </p:cNvPr>
          <p:cNvCxnSpPr>
            <a:cxnSpLocks/>
          </p:cNvCxnSpPr>
          <p:nvPr/>
        </p:nvCxnSpPr>
        <p:spPr>
          <a:xfrm flipV="1">
            <a:off x="4540169" y="3248512"/>
            <a:ext cx="714387" cy="32167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DBDE5F2-7F1B-4281-9FC9-613A14E65A19}"/>
              </a:ext>
            </a:extLst>
          </p:cNvPr>
          <p:cNvCxnSpPr>
            <a:cxnSpLocks/>
          </p:cNvCxnSpPr>
          <p:nvPr/>
        </p:nvCxnSpPr>
        <p:spPr>
          <a:xfrm>
            <a:off x="5247783" y="3248512"/>
            <a:ext cx="695023" cy="7344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C8BC1EB-5994-4FC7-8910-3EC78FDE4E2B}"/>
              </a:ext>
            </a:extLst>
          </p:cNvPr>
          <p:cNvCxnSpPr>
            <a:cxnSpLocks/>
          </p:cNvCxnSpPr>
          <p:nvPr/>
        </p:nvCxnSpPr>
        <p:spPr>
          <a:xfrm>
            <a:off x="5925145" y="3318756"/>
            <a:ext cx="745594" cy="84762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8F9494-255C-4F8F-B5F0-47339B17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95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DR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실적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 시간 단위로 실제 발전량에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조회기간 동안의 누적 발전량을 발전현황으로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7)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수요반응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(DR)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수요반응 실적 </a:t>
            </a: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578370"/>
              </p:ext>
            </p:extLst>
          </p:nvPr>
        </p:nvGraphicFramePr>
        <p:xfrm>
          <a:off x="467544" y="2254512"/>
          <a:ext cx="8208910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6" name="직선 연결선 45"/>
          <p:cNvCxnSpPr/>
          <p:nvPr/>
        </p:nvCxnSpPr>
        <p:spPr>
          <a:xfrm>
            <a:off x="1187624" y="3140968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3" name="직선 연결선 52"/>
          <p:cNvCxnSpPr/>
          <p:nvPr/>
        </p:nvCxnSpPr>
        <p:spPr>
          <a:xfrm>
            <a:off x="1187624" y="2636912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616492"/>
              </p:ext>
            </p:extLst>
          </p:nvPr>
        </p:nvGraphicFramePr>
        <p:xfrm>
          <a:off x="467544" y="4077072"/>
          <a:ext cx="8208916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20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감축횟수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감축시간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감축인정용량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280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이행용량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감축이행용량합계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260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1378744" y="3320999"/>
            <a:ext cx="288032" cy="4870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1378744" y="3275281"/>
            <a:ext cx="288032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1907704" y="3188569"/>
            <a:ext cx="288032" cy="6194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4" name="그룹 73"/>
          <p:cNvGrpSpPr/>
          <p:nvPr/>
        </p:nvGrpSpPr>
        <p:grpSpPr>
          <a:xfrm>
            <a:off x="2483768" y="3318007"/>
            <a:ext cx="288032" cy="490004"/>
            <a:chOff x="1907704" y="3275281"/>
            <a:chExt cx="288032" cy="535432"/>
          </a:xfrm>
        </p:grpSpPr>
        <p:sp>
          <p:nvSpPr>
            <p:cNvPr id="78" name="직사각형 77"/>
            <p:cNvSpPr/>
            <p:nvPr/>
          </p:nvSpPr>
          <p:spPr>
            <a:xfrm>
              <a:off x="1907704" y="3321000"/>
              <a:ext cx="288032" cy="48971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3" name="직사각형 92"/>
          <p:cNvSpPr/>
          <p:nvPr/>
        </p:nvSpPr>
        <p:spPr>
          <a:xfrm>
            <a:off x="2987824" y="3543075"/>
            <a:ext cx="288032" cy="2649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75C866-1790-46F2-ADC7-7A15DF651C34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3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5B689A64-1672-4ADD-8792-2FDA4961A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7C417C-60CC-4360-99C3-8D5BC3632E3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2A656252-0AA4-4E87-92EC-B17B61B0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586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680460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 구성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현재 사용량에서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인한 사용량의 효율을 나타낸다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 기준으로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사용량의 데이터가 업데이트 되면 해당 영역만큼의 효율성을 나타낼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예를 들어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03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~ 08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사용될 때 실제 사용량은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사용량을 포함하는 만큼의 사용이 되지만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인해 주황색 영역과 같이 실제 사용량은 줄어 들게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40834"/>
              </p:ext>
            </p:extLst>
          </p:nvPr>
        </p:nvGraphicFramePr>
        <p:xfrm>
          <a:off x="467544" y="2182503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4283968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60032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5796136" y="2013659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63722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256490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35255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6840252" y="4797152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494198" y="4725143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5607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3727733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3699510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683000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7230793" y="2013659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7806857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8) ESS/PV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구성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719462-0A2F-4E3A-A1F1-ECC933A6E225}"/>
              </a:ext>
            </a:extLst>
          </p:cNvPr>
          <p:cNvSpPr/>
          <p:nvPr/>
        </p:nvSpPr>
        <p:spPr>
          <a:xfrm>
            <a:off x="1475656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시간 간격  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170933-7C13-47C7-BC16-FF7DEB480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78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680460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각 에너지 모니터링 화면에 해당 되는 데이터를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182503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4283968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60032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5796136" y="2013659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63722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256490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35255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6840252" y="4797152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494198" y="4725143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5607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3727733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3699510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683000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7230793" y="2013659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7806857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719462-0A2F-4E3A-A1F1-ECC933A6E225}"/>
              </a:ext>
            </a:extLst>
          </p:cNvPr>
          <p:cNvSpPr/>
          <p:nvPr/>
        </p:nvSpPr>
        <p:spPr>
          <a:xfrm>
            <a:off x="1475656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시간 간격  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98D26457-FB49-4D54-83A0-CEF240DD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8FD42D9-2798-4EE8-8AAF-C2F503514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469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11" y="1297543"/>
            <a:ext cx="8635704" cy="4210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IOE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통신상태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Meter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25543"/>
              </p:ext>
            </p:extLst>
          </p:nvPr>
        </p:nvGraphicFramePr>
        <p:xfrm>
          <a:off x="755576" y="2515908"/>
          <a:ext cx="7776864" cy="112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1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IOE(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총량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ESS(</a:t>
                      </a: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충방전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소내전력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DISCONNECTED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9E6F799-42AB-46BB-BA51-8EF5CEAD5B56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5E55E36-DABA-4D6B-A080-59D4BBE2A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11B015-87EE-4216-8E76-FD4D2D8A4D35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2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ED0A2A96-A5A1-4587-9B6D-850D352F6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41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PCS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5298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</a:t>
                      </a:r>
                      <a:r>
                        <a:rPr lang="ko-KR" altLang="en-US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Staus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 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over current </a:t>
                      </a:r>
                    </a:p>
                    <a:p>
                      <a:pPr algn="ctr" latinLnBrk="1"/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R-Phase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ACEDA02-978A-43F6-AB55-428EDA30056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FAE8784-6F18-40BF-B01A-46F90CCCE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8A6DE0-F30C-4F6C-89D8-E767DF02570B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1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C076B0B-C13D-4D97-B5B8-F14F0BEA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574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BMS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02811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cell Voltage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6D4F635-0EA7-45AE-AF11-F97AF686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4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4885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6F8EFCF-15F1-4417-B90B-008393014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262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3382E72E-3E05-4CE8-AB49-084226037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168206-8495-4919-9026-707F9731FF0B}"/>
              </a:ext>
            </a:extLst>
          </p:cNvPr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전체 장비의 모니터링 정보를 한번에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- IOE, PCS, BMS, PV</a:t>
            </a:r>
          </a:p>
        </p:txBody>
      </p:sp>
      <p:pic>
        <p:nvPicPr>
          <p:cNvPr id="3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9A5BCFC-D6C6-4047-9E46-B67185996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08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조회는 시간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 별 조회가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 조건에 따라 기간 설정은 일별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 별로 세부 조회가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하단 영역을 통해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사용요금에 대한 예측과 실적 확인이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67899"/>
              </p:ext>
            </p:extLst>
          </p:nvPr>
        </p:nvGraphicFramePr>
        <p:xfrm>
          <a:off x="467544" y="2197864"/>
          <a:ext cx="8275642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75300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12,000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84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YYYY-MM-DD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YYYY-MM-DD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835696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조건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2555776" y="1844823"/>
            <a:ext cx="1695460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시간대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일별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기간별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251236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80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45318"/>
              </p:ext>
            </p:extLst>
          </p:nvPr>
        </p:nvGraphicFramePr>
        <p:xfrm>
          <a:off x="467544" y="4038718"/>
          <a:ext cx="8275646" cy="785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(kWh)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실제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(kWh)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차이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chemeClr val="bg1"/>
                          </a:solidFill>
                        </a:rPr>
                        <a:t>kHh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),%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 요금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실제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 요금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차이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),%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-5(5%)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9,500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-500(5%)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+10(10%)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+1,000(10%)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0" name="직선 연결선 59"/>
          <p:cNvCxnSpPr/>
          <p:nvPr/>
        </p:nvCxnSpPr>
        <p:spPr>
          <a:xfrm>
            <a:off x="375391" y="523189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1329359" y="3552400"/>
            <a:ext cx="36000" cy="25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직사각형 69"/>
          <p:cNvSpPr/>
          <p:nvPr/>
        </p:nvSpPr>
        <p:spPr>
          <a:xfrm>
            <a:off x="1585767" y="3444360"/>
            <a:ext cx="36000" cy="3600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직사각형 70"/>
          <p:cNvSpPr/>
          <p:nvPr/>
        </p:nvSpPr>
        <p:spPr>
          <a:xfrm>
            <a:off x="1835695" y="3516368"/>
            <a:ext cx="36000" cy="2880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직사각형 71"/>
          <p:cNvSpPr/>
          <p:nvPr/>
        </p:nvSpPr>
        <p:spPr>
          <a:xfrm>
            <a:off x="2123726" y="3389284"/>
            <a:ext cx="36000" cy="4151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직사각형 72"/>
          <p:cNvSpPr/>
          <p:nvPr/>
        </p:nvSpPr>
        <p:spPr>
          <a:xfrm>
            <a:off x="2393932" y="3321552"/>
            <a:ext cx="36000" cy="48284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2667385" y="3373410"/>
            <a:ext cx="36000" cy="4309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2915815" y="3373410"/>
            <a:ext cx="36000" cy="4309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직사각형 81"/>
          <p:cNvSpPr/>
          <p:nvPr/>
        </p:nvSpPr>
        <p:spPr>
          <a:xfrm>
            <a:off x="3194129" y="3228419"/>
            <a:ext cx="36000" cy="57598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3477666" y="3321552"/>
            <a:ext cx="36000" cy="48284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요금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1187624" y="2496810"/>
            <a:ext cx="2687266" cy="1248958"/>
            <a:chOff x="1413933" y="2780928"/>
            <a:chExt cx="5030275" cy="1248958"/>
          </a:xfrm>
        </p:grpSpPr>
        <p:sp>
          <p:nvSpPr>
            <p:cNvPr id="50" name="자유형 49"/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자유형 51"/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자유형 60"/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62" name="직선 연결선 61"/>
          <p:cNvCxnSpPr/>
          <p:nvPr/>
        </p:nvCxnSpPr>
        <p:spPr>
          <a:xfrm>
            <a:off x="3995936" y="2364237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572000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5652120" y="2364237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직사각형 75"/>
          <p:cNvSpPr/>
          <p:nvPr/>
        </p:nvSpPr>
        <p:spPr>
          <a:xfrm>
            <a:off x="6228184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77" name="직선 연결선 76"/>
          <p:cNvCxnSpPr/>
          <p:nvPr/>
        </p:nvCxnSpPr>
        <p:spPr>
          <a:xfrm>
            <a:off x="7380312" y="2364237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직사각형 77"/>
          <p:cNvSpPr/>
          <p:nvPr/>
        </p:nvSpPr>
        <p:spPr>
          <a:xfrm>
            <a:off x="7956376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전년동일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4DE772C-B244-4DA4-AA22-C39F9484258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0B12C33-C18F-4B62-9FD7-91A6501D00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D6FA4C-A124-4BF0-B396-130ECA1A101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43CAC09-ADAD-4EA8-9216-FF726F8DBA06}"/>
              </a:ext>
            </a:extLst>
          </p:cNvPr>
          <p:cNvSpPr/>
          <p:nvPr/>
        </p:nvSpPr>
        <p:spPr>
          <a:xfrm>
            <a:off x="225294" y="945049"/>
            <a:ext cx="8811201" cy="53642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4038068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797016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50924"/>
              </p:ext>
            </p:extLst>
          </p:nvPr>
        </p:nvGraphicFramePr>
        <p:xfrm>
          <a:off x="467544" y="2135576"/>
          <a:ext cx="8208910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22032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79701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79701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17976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942971"/>
              </p:ext>
            </p:extLst>
          </p:nvPr>
        </p:nvGraphicFramePr>
        <p:xfrm>
          <a:off x="467544" y="3955032"/>
          <a:ext cx="8208912" cy="99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역률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전기요금합계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전력산업기반기금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부가세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청구금액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60" name="직선 연결선 59"/>
          <p:cNvCxnSpPr/>
          <p:nvPr/>
        </p:nvCxnSpPr>
        <p:spPr>
          <a:xfrm>
            <a:off x="375391" y="523189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1378744" y="3454080"/>
            <a:ext cx="288032" cy="2058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직사각형 49"/>
          <p:cNvSpPr/>
          <p:nvPr/>
        </p:nvSpPr>
        <p:spPr>
          <a:xfrm>
            <a:off x="1378744" y="3382080"/>
            <a:ext cx="288032" cy="72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1378744" y="3310072"/>
            <a:ext cx="288032" cy="7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/>
          <p:cNvSpPr/>
          <p:nvPr/>
        </p:nvSpPr>
        <p:spPr>
          <a:xfrm>
            <a:off x="1378744" y="3202064"/>
            <a:ext cx="288032" cy="10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1378744" y="3156345"/>
            <a:ext cx="288032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1378744" y="3053435"/>
            <a:ext cx="288032" cy="10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1907704" y="2878016"/>
            <a:ext cx="288032" cy="781883"/>
            <a:chOff x="1907704" y="3172371"/>
            <a:chExt cx="288032" cy="606464"/>
          </a:xfrm>
        </p:grpSpPr>
        <p:sp>
          <p:nvSpPr>
            <p:cNvPr id="69" name="직사각형 68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2483768" y="3104890"/>
            <a:ext cx="288032" cy="555009"/>
            <a:chOff x="1907704" y="3172371"/>
            <a:chExt cx="288032" cy="606464"/>
          </a:xfrm>
        </p:grpSpPr>
        <p:sp>
          <p:nvSpPr>
            <p:cNvPr id="84" name="직사각형 83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2987824" y="3240909"/>
            <a:ext cx="288032" cy="418990"/>
            <a:chOff x="1907704" y="3172371"/>
            <a:chExt cx="288032" cy="606464"/>
          </a:xfrm>
        </p:grpSpPr>
        <p:sp>
          <p:nvSpPr>
            <p:cNvPr id="92" name="직사각형 91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한전 요금 조회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70D2C55-772C-4865-BCC5-17289A20F84D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C5035341-A4D4-4F29-858B-7EADCFE89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ADAB36-ECAF-4140-8741-0C90B4E743B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CB535F5-7C7F-41B8-A8AB-7F34FA4F6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749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92849"/>
              </p:ext>
            </p:extLst>
          </p:nvPr>
        </p:nvGraphicFramePr>
        <p:xfrm>
          <a:off x="467544" y="3530888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평일 일수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(d)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경부하충전량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최대부하방전량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90826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3051791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2811476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9659133-3722-4614-A46B-72BF740408F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60FE1802-FB5B-43D3-8879-97A1A1957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6738A80-6F83-4B73-BA64-C226045A8A92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D45A54F-D6C2-4169-8CAF-C254A6A3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253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DR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51122"/>
              </p:ext>
            </p:extLst>
          </p:nvPr>
        </p:nvGraphicFramePr>
        <p:xfrm>
          <a:off x="467544" y="3561184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 횟수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감축인정용량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용량정산금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162799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792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계약 및 전력관리 정보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39552" y="148478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755576" y="181942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건물 요금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2123728" y="181942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일반용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 –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고압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A: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선택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II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8028384" y="181942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755576" y="239548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계약 전력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2123728" y="2395487"/>
            <a:ext cx="5760640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2,000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7524328" y="2395487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55576" y="2971551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검침일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2123728" y="2971551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8028384" y="2971551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755576" y="361962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2123728" y="3619623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2018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4575630" y="361962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5076056" y="3619623"/>
            <a:ext cx="2808312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500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7524329" y="361962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755576" y="426769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2123728" y="4267695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450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7524329" y="4267695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41" name="그룹 1040"/>
          <p:cNvGrpSpPr/>
          <p:nvPr/>
        </p:nvGrpSpPr>
        <p:grpSpPr>
          <a:xfrm>
            <a:off x="3620210" y="4869160"/>
            <a:ext cx="2630920" cy="360040"/>
            <a:chOff x="4029312" y="4869160"/>
            <a:chExt cx="2630920" cy="360040"/>
          </a:xfrm>
        </p:grpSpPr>
        <p:sp>
          <p:nvSpPr>
            <p:cNvPr id="104" name="직사각형 103"/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107" name="직사각형 106"/>
          <p:cNvSpPr/>
          <p:nvPr/>
        </p:nvSpPr>
        <p:spPr>
          <a:xfrm>
            <a:off x="539552" y="5589240"/>
            <a:ext cx="8203656" cy="79208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구축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사이트별로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한전 계약요금을 관리하기 위한 정보를 입력합니다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90%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수준으로 기본값이 설정됩니다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사이트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883516" y="4279726"/>
            <a:ext cx="100085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071574" y="427904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178064" y="4285207"/>
            <a:ext cx="155417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요금적용전력대비</a:t>
            </a:r>
          </a:p>
        </p:txBody>
      </p:sp>
    </p:spTree>
    <p:extLst>
      <p:ext uri="{BB962C8B-B14F-4D97-AF65-F5344CB8AC3E}">
        <p14:creationId xmlns:p14="http://schemas.microsoft.com/office/powerpoint/2010/main" val="2000502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83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19840</TotalTime>
  <Words>3111</Words>
  <Application>Microsoft Office PowerPoint</Application>
  <PresentationFormat>화면 슬라이드 쇼(4:3)</PresentationFormat>
  <Paragraphs>1726</Paragraphs>
  <Slides>28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박준호</dc:creator>
  <cp:lastModifiedBy>Kim Lein</cp:lastModifiedBy>
  <cp:revision>1021</cp:revision>
  <cp:lastPrinted>2018-01-26T02:17:04Z</cp:lastPrinted>
  <dcterms:created xsi:type="dcterms:W3CDTF">2015-05-21T08:47:43Z</dcterms:created>
  <dcterms:modified xsi:type="dcterms:W3CDTF">2018-07-03T17:21:28Z</dcterms:modified>
</cp:coreProperties>
</file>